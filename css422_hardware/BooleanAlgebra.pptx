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44"/>
  </p:notesMasterIdLst>
  <p:sldIdLst>
    <p:sldId id="256" r:id="rId2"/>
    <p:sldId id="282" r:id="rId3"/>
    <p:sldId id="283" r:id="rId4"/>
    <p:sldId id="281" r:id="rId5"/>
    <p:sldId id="329" r:id="rId6"/>
    <p:sldId id="259" r:id="rId7"/>
    <p:sldId id="328" r:id="rId8"/>
    <p:sldId id="302" r:id="rId9"/>
    <p:sldId id="298" r:id="rId10"/>
    <p:sldId id="324" r:id="rId11"/>
    <p:sldId id="299" r:id="rId12"/>
    <p:sldId id="300" r:id="rId13"/>
    <p:sldId id="285" r:id="rId14"/>
    <p:sldId id="288" r:id="rId15"/>
    <p:sldId id="289" r:id="rId16"/>
    <p:sldId id="290" r:id="rId17"/>
    <p:sldId id="291" r:id="rId18"/>
    <p:sldId id="292" r:id="rId19"/>
    <p:sldId id="296" r:id="rId20"/>
    <p:sldId id="297" r:id="rId21"/>
    <p:sldId id="301" r:id="rId22"/>
    <p:sldId id="325" r:id="rId23"/>
    <p:sldId id="295" r:id="rId24"/>
    <p:sldId id="314" r:id="rId25"/>
    <p:sldId id="312" r:id="rId26"/>
    <p:sldId id="320" r:id="rId27"/>
    <p:sldId id="321" r:id="rId28"/>
    <p:sldId id="322" r:id="rId29"/>
    <p:sldId id="311" r:id="rId30"/>
    <p:sldId id="313" r:id="rId31"/>
    <p:sldId id="305" r:id="rId32"/>
    <p:sldId id="326" r:id="rId33"/>
    <p:sldId id="327" r:id="rId34"/>
    <p:sldId id="303" r:id="rId35"/>
    <p:sldId id="306" r:id="rId36"/>
    <p:sldId id="307" r:id="rId37"/>
    <p:sldId id="294" r:id="rId38"/>
    <p:sldId id="293" r:id="rId39"/>
    <p:sldId id="304" r:id="rId40"/>
    <p:sldId id="319" r:id="rId41"/>
    <p:sldId id="330" r:id="rId42"/>
    <p:sldId id="318" r:id="rId43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94" autoAdjust="0"/>
  </p:normalViewPr>
  <p:slideViewPr>
    <p:cSldViewPr>
      <p:cViewPr>
        <p:scale>
          <a:sx n="100" d="100"/>
          <a:sy n="100" d="100"/>
        </p:scale>
        <p:origin x="-320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gs" Target="tags/tag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5DE68-E667-404B-8728-5B26A0A61A8E}" type="datetimeFigureOut">
              <a:rPr lang="en-US" smtClean="0"/>
              <a:t>10/2/18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9D30F-8514-1141-B655-A1F2FCEFF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7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A: addition.  0</a:t>
            </a:r>
            <a:r>
              <a:rPr lang="en-US" baseline="0" dirty="0" smtClean="0"/>
              <a:t> + 1 is?  0 + 0 is? 1+1 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98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A: Doubt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2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that the circuits are stateless or memory-less here.  Note the use of Stacks and Venn</a:t>
            </a:r>
            <a:r>
              <a:rPr lang="en-US" baseline="0" dirty="0" smtClean="0"/>
              <a:t> Diagrams </a:t>
            </a:r>
            <a:r>
              <a:rPr lang="mr-IN" baseline="0" dirty="0" smtClean="0"/>
              <a:t>–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google</a:t>
            </a:r>
            <a:r>
              <a:rPr lang="en-US" baseline="0" dirty="0" smtClean="0"/>
              <a:t> anything you don</a:t>
            </a:r>
            <a:r>
              <a:rPr lang="mr-IN" baseline="0" dirty="0" smtClean="0"/>
              <a:t>’</a:t>
            </a:r>
            <a:r>
              <a:rPr lang="en-US" baseline="0" dirty="0" smtClean="0"/>
              <a:t>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1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that the circuits are stateless or memory-less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16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Different than</a:t>
            </a:r>
            <a:r>
              <a:rPr lang="en-US" baseline="0" dirty="0" smtClean="0"/>
              <a:t> Micro-</a:t>
            </a:r>
            <a:r>
              <a:rPr lang="en-US" baseline="0" dirty="0" err="1" smtClean="0"/>
              <a:t>OpCodes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48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Different than</a:t>
            </a:r>
            <a:r>
              <a:rPr lang="en-US" baseline="0" dirty="0" smtClean="0"/>
              <a:t> Micro-</a:t>
            </a:r>
            <a:r>
              <a:rPr lang="en-US" baseline="0" dirty="0" err="1" smtClean="0"/>
              <a:t>OpCodes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4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16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Have these laws memorized, please.  I’ll prove some compound equalities now to show you some moves, and start you with some easier BE</a:t>
            </a:r>
            <a:r>
              <a:rPr lang="en-US" baseline="0" dirty="0" smtClean="0"/>
              <a:t>s to simplify.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49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that I’ve given the laws names rather than first law, second law,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A1: Yes</a:t>
            </a:r>
          </a:p>
          <a:p>
            <a:r>
              <a:rPr lang="en-US" dirty="0" smtClean="0"/>
              <a:t>A2: 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A1:</a:t>
            </a:r>
            <a:r>
              <a:rPr lang="en-US" baseline="0" dirty="0" smtClean="0"/>
              <a:t> No, since </a:t>
            </a:r>
            <a:r>
              <a:rPr lang="en-US" dirty="0" smtClean="0"/>
              <a:t>A * B + A * C != C+A</a:t>
            </a:r>
            <a:r>
              <a:rPr lang="en-US" baseline="0" dirty="0" smtClean="0"/>
              <a:t> * C+B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C+A</a:t>
            </a:r>
            <a:r>
              <a:rPr lang="en-US" baseline="0" dirty="0" smtClean="0"/>
              <a:t> * C+B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A’s overlap with the whole universe equals</a:t>
            </a:r>
            <a:r>
              <a:rPr lang="en-US" baseline="0" dirty="0" smtClean="0"/>
              <a:t> A</a:t>
            </a:r>
          </a:p>
          <a:p>
            <a:r>
              <a:rPr lang="en-US" baseline="0" dirty="0" smtClean="0"/>
              <a:t>A’s overlap with null is void (*double points for author ref)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A*(A+B)</a:t>
            </a:r>
            <a:r>
              <a:rPr lang="en-US" baseline="0" dirty="0" smtClean="0"/>
              <a:t>   -&gt; (A*A)+A*B -&gt;A+AB -&gt; A(1+B) -&gt;A(1) -&gt; A</a:t>
            </a:r>
            <a:endParaRPr lang="en-US" dirty="0" smtClean="0"/>
          </a:p>
          <a:p>
            <a:r>
              <a:rPr lang="en-US" dirty="0" smtClean="0"/>
              <a:t>C+A</a:t>
            </a:r>
            <a:r>
              <a:rPr lang="en-US" baseline="0" dirty="0" smtClean="0"/>
              <a:t> * C+B -&gt;  C+(A*B)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 A OR NOT ( A + B</a:t>
            </a:r>
            <a:r>
              <a:rPr lang="en-US" baseline="0" dirty="0" smtClean="0"/>
              <a:t> )</a:t>
            </a:r>
          </a:p>
          <a:p>
            <a:r>
              <a:rPr lang="en-US" baseline="0" dirty="0" smtClean="0"/>
              <a:t>NOT A OR (NOT A AND NOT B)  //use which theorem here?  X + (X * Y) ==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16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Expand</a:t>
            </a:r>
            <a:r>
              <a:rPr lang="en-US" baseline="0" dirty="0" smtClean="0"/>
              <a:t> to reduce: 3 steps forward and 2 steps back is still forward progress; sometimes you must get up to get down.</a:t>
            </a:r>
          </a:p>
          <a:p>
            <a:r>
              <a:rPr lang="en-US" baseline="0" dirty="0" smtClean="0"/>
              <a:t>Knowing when to apply which law or trick is not so straightforward and requires experience &amp;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96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Soln1A) Just use Identity</a:t>
            </a:r>
          </a:p>
          <a:p>
            <a:r>
              <a:rPr lang="en-US" dirty="0" smtClean="0"/>
              <a:t>Soln1B) Use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distribitutive</a:t>
            </a:r>
            <a:r>
              <a:rPr lang="en-US" baseline="0" dirty="0" smtClean="0"/>
              <a:t> then identity</a:t>
            </a:r>
          </a:p>
          <a:p>
            <a:r>
              <a:rPr lang="en-US" baseline="0" dirty="0" smtClean="0"/>
              <a:t>Soln1C) Use </a:t>
            </a:r>
            <a:r>
              <a:rPr lang="en-US" baseline="0" dirty="0" err="1" smtClean="0"/>
              <a:t>DeMorgans</a:t>
            </a:r>
            <a:r>
              <a:rPr lang="en-US" baseline="0" dirty="0" smtClean="0"/>
              <a:t>, distributive, then </a:t>
            </a:r>
            <a:r>
              <a:rPr lang="en-US" baseline="0" dirty="0" err="1" smtClean="0"/>
              <a:t>DeMorgans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37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Answer</a:t>
            </a:r>
            <a:r>
              <a:rPr lang="en-US" baseline="0" dirty="0" smtClean="0"/>
              <a:t> =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17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dirty="0" smtClean="0"/>
              <a:t>Distributive</a:t>
            </a:r>
          </a:p>
          <a:p>
            <a:pPr marL="228600" indent="-228600">
              <a:buAutoNum type="arabicParenBoth"/>
            </a:pPr>
            <a:r>
              <a:rPr lang="en-US" dirty="0" smtClean="0"/>
              <a:t>Inverse</a:t>
            </a:r>
          </a:p>
          <a:p>
            <a:pPr marL="228600" indent="-228600">
              <a:buAutoNum type="arabicParenBoth"/>
            </a:pPr>
            <a:r>
              <a:rPr lang="en-US" dirty="0" smtClean="0"/>
              <a:t>Identity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02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79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89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=y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20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Short Path:</a:t>
            </a:r>
            <a:r>
              <a:rPr lang="en-US" baseline="0" dirty="0" smtClean="0"/>
              <a:t> Laws of least obvious</a:t>
            </a:r>
            <a:endParaRPr lang="en-US" dirty="0" smtClean="0"/>
          </a:p>
          <a:p>
            <a:r>
              <a:rPr lang="en-US" dirty="0" smtClean="0"/>
              <a:t>=x+!</a:t>
            </a:r>
            <a:r>
              <a:rPr lang="en-US" dirty="0" err="1" smtClean="0"/>
              <a:t>xy</a:t>
            </a:r>
            <a:r>
              <a:rPr lang="en-US" baseline="0" dirty="0" smtClean="0"/>
              <a:t>  //use absorption here</a:t>
            </a:r>
          </a:p>
          <a:p>
            <a:r>
              <a:rPr lang="en-US" baseline="0" dirty="0" smtClean="0"/>
              <a:t>=x +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282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r-IN" dirty="0" smtClean="0"/>
              <a:t>…</a:t>
            </a:r>
            <a:r>
              <a:rPr lang="en-US" dirty="0" smtClean="0"/>
              <a:t>some stink worse than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98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A: We introduced redundancy to build a unique key, but this is certainly not the least number of gates!</a:t>
            </a:r>
          </a:p>
          <a:p>
            <a:r>
              <a:rPr lang="en-US" dirty="0" smtClean="0"/>
              <a:t>A: SOP has many more ANDs</a:t>
            </a:r>
            <a:r>
              <a:rPr lang="en-US" baseline="0" dirty="0" smtClean="0"/>
              <a:t> than or operations, POS has many more OR than 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60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69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5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Some people are good programmers, and some are super programmers -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56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Have these laws memorized, please.  I’ll prove some compound equalities now to show you some moves, and start you with some easier BE</a:t>
            </a:r>
            <a:r>
              <a:rPr lang="en-US" baseline="0" dirty="0" smtClean="0"/>
              <a:t>s to simplify.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9D30F-8514-1141-B655-A1F2FCEFF8D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4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124200"/>
            <a:ext cx="6477000" cy="1914144"/>
          </a:xfrm>
        </p:spPr>
        <p:txBody>
          <a:bodyPr vert="horz" lIns="45720" tIns="0" rIns="4572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5056632"/>
            <a:ext cx="6477000" cy="1174088"/>
          </a:xfrm>
        </p:spPr>
        <p:txBody>
          <a:bodyPr vert="horz" lIns="91440" tIns="0" rIns="45720" bIns="0" rtlCol="0">
            <a:norm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0"/>
              </a:spcBef>
              <a:buSzPct val="90000"/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00216"/>
            <a:ext cx="1984248" cy="274320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352" y="6300216"/>
            <a:ext cx="3813048" cy="274320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300216"/>
            <a:ext cx="685800" cy="27432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fld id="{B9D2C864-9362-43C7-A136-D9C41D93A9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Watermar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22215" y="3200400"/>
            <a:ext cx="8021782" cy="2209800"/>
          </a:xfrm>
        </p:spPr>
        <p:txBody>
          <a:bodyPr wrap="none" lIns="0" tIns="0" rIns="0" bIns="0" anchor="ctr" anchorCtr="0">
            <a:noAutofit/>
          </a:bodyPr>
          <a:lstStyle>
            <a:lvl1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  <a:lvl2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2pPr>
            <a:lvl3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3pPr>
            <a:lvl4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4pPr>
            <a:lvl5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0813" y="3833095"/>
            <a:ext cx="4724400" cy="1209964"/>
          </a:xfrm>
        </p:spPr>
        <p:txBody>
          <a:bodyPr lIns="45720" tIns="0" rIns="45720" bIns="0" anchor="b" anchorCtr="0">
            <a:noAutofit/>
          </a:bodyPr>
          <a:lstStyle>
            <a:lvl1pPr algn="l">
              <a:lnSpc>
                <a:spcPts val="5000"/>
              </a:lnSpc>
              <a:defRPr sz="4600"/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0813" y="5056909"/>
            <a:ext cx="4724400" cy="1156586"/>
          </a:xfrm>
        </p:spPr>
        <p:txBody>
          <a:bodyPr lIns="91440" tIns="0" rIns="45720" bIns="0">
            <a:normAutofit/>
          </a:bodyPr>
          <a:lstStyle>
            <a:lvl1pPr marL="0" indent="0" algn="l">
              <a:lnSpc>
                <a:spcPts val="2600"/>
              </a:lnSpc>
              <a:spcBef>
                <a:spcPct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98744"/>
            <a:ext cx="1981200" cy="273050"/>
          </a:xfrm>
        </p:spPr>
        <p:txBody>
          <a:bodyPr/>
          <a:lstStyle>
            <a:lvl1pPr algn="l">
              <a:defRPr sz="1100">
                <a:latin typeface="Rockwell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400" y="6298744"/>
            <a:ext cx="3810000" cy="27305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4856" y="6312392"/>
            <a:ext cx="685800" cy="265089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0"/>
            <a:ext cx="7772400" cy="1362075"/>
          </a:xfrm>
        </p:spPr>
        <p:txBody>
          <a:bodyPr vert="horz" lIns="45720" tIns="0" rIns="4572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46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57016"/>
            <a:ext cx="7772400" cy="987552"/>
          </a:xfrm>
        </p:spPr>
        <p:txBody>
          <a:bodyPr vert="horz" lIns="91440" tIns="0" rIns="45720" bIns="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SzPct val="90000"/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Watermar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12693" y="1689847"/>
            <a:ext cx="8431303" cy="2209800"/>
          </a:xfrm>
        </p:spPr>
        <p:txBody>
          <a:bodyPr wrap="none"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  <a:lvl2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2pPr>
            <a:lvl3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3pPr>
            <a:lvl4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4pPr>
            <a:lvl5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196353"/>
            <a:ext cx="5334000" cy="1362075"/>
          </a:xfrm>
        </p:spPr>
        <p:txBody>
          <a:bodyPr lIns="45720" tIns="0" rIns="45720" bIns="0" anchor="b" anchorCtr="0"/>
          <a:lstStyle>
            <a:lvl1pPr algn="l">
              <a:lnSpc>
                <a:spcPts val="5000"/>
              </a:lnSpc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60618"/>
            <a:ext cx="5334000" cy="983087"/>
          </a:xfrm>
        </p:spPr>
        <p:txBody>
          <a:bodyPr tIns="0" rIns="45720" bIns="0" anchor="t" anchorCtr="0"/>
          <a:lstStyle>
            <a:lvl1pPr marL="0" indent="0">
              <a:spcBef>
                <a:spcPct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2775" y="4069804"/>
            <a:ext cx="5538788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3" name="Group 8"/>
          <p:cNvGrpSpPr/>
          <p:nvPr/>
        </p:nvGrpSpPr>
        <p:grpSpPr>
          <a:xfrm rot="21240000">
            <a:off x="654352" y="445180"/>
            <a:ext cx="5416247" cy="3630168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Picture Placeholder 9"/>
          <p:cNvSpPr>
            <a:spLocks noGrp="1"/>
          </p:cNvSpPr>
          <p:nvPr>
            <p:ph type="pic" sz="quarter" idx="15"/>
          </p:nvPr>
        </p:nvSpPr>
        <p:spPr>
          <a:xfrm rot="21240000">
            <a:off x="857677" y="632632"/>
            <a:ext cx="5009597" cy="32552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58117" y="5230906"/>
            <a:ext cx="5532958" cy="865093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326" y="1419366"/>
            <a:ext cx="3200400" cy="584035"/>
          </a:xfrm>
        </p:spPr>
        <p:txBody>
          <a:bodyPr anchor="b"/>
          <a:lstStyle>
            <a:lvl1pPr marL="0" indent="0" algn="ctr">
              <a:spcBef>
                <a:spcPct val="0"/>
              </a:spcBef>
              <a:buNone/>
              <a:defRPr sz="2200" b="0">
                <a:solidFill>
                  <a:schemeClr val="tx2">
                    <a:lumMod val="60000"/>
                    <a:lumOff val="40000"/>
                  </a:schemeClr>
                </a:solidFill>
                <a:latin typeface="Impac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7367" y="2174875"/>
            <a:ext cx="3566160" cy="3616325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290763" indent="-344488"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0247" y="1419366"/>
            <a:ext cx="3200400" cy="584035"/>
          </a:xfrm>
        </p:spPr>
        <p:txBody>
          <a:bodyPr anchor="b"/>
          <a:lstStyle>
            <a:lvl1pPr marL="0" indent="0" algn="ctr">
              <a:spcBef>
                <a:spcPct val="0"/>
              </a:spcBef>
              <a:buNone/>
              <a:defRPr sz="2200" b="0">
                <a:solidFill>
                  <a:schemeClr val="tx2">
                    <a:lumMod val="60000"/>
                    <a:lumOff val="40000"/>
                  </a:schemeClr>
                </a:solidFill>
                <a:latin typeface="Impac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514" y="2174875"/>
            <a:ext cx="3566160" cy="3616325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290763" indent="-344488"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39" y="1897040"/>
            <a:ext cx="3228975" cy="142875"/>
          </a:xfrm>
          <a:prstGeom prst="rect">
            <a:avLst/>
          </a:prstGeom>
        </p:spPr>
      </p:pic>
      <p:pic>
        <p:nvPicPr>
          <p:cNvPr id="13" name="Picture 12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0" y="1897040"/>
            <a:ext cx="3228975" cy="142875"/>
          </a:xfrm>
          <a:prstGeom prst="rect">
            <a:avLst/>
          </a:prstGeom>
        </p:spPr>
      </p:pic>
      <p:pic>
        <p:nvPicPr>
          <p:cNvPr id="12" name="Picture 11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39" y="1897040"/>
            <a:ext cx="3228975" cy="142875"/>
          </a:xfrm>
          <a:prstGeom prst="rect">
            <a:avLst/>
          </a:prstGeom>
        </p:spPr>
      </p:pic>
      <p:pic>
        <p:nvPicPr>
          <p:cNvPr id="14" name="Picture 13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0" y="1897040"/>
            <a:ext cx="3228975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8"/>
            <a:ext cx="731520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914400" y="3870960"/>
            <a:ext cx="731520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645152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tabLst/>
              <a:defRPr sz="1800"/>
            </a:lvl6pPr>
            <a:lvl7pPr marL="2290763" indent="-344488">
              <a:tabLst/>
              <a:defRPr sz="1800"/>
            </a:lvl7pPr>
            <a:lvl8pPr marL="2290763" indent="-344488">
              <a:tabLst/>
              <a:defRPr sz="1800"/>
            </a:lvl8pPr>
            <a:lvl9pPr marL="2290763" indent="-344488">
              <a:tabLst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645152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914400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645152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645152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0048"/>
            <a:ext cx="3563938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0" y="368490"/>
            <a:ext cx="3566160" cy="562749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 marL="2290763" indent="-344488">
              <a:defRPr sz="2000"/>
            </a:lvl7pPr>
            <a:lvl8pPr marL="2290763" indent="-344488">
              <a:defRPr sz="2000"/>
            </a:lvl8pPr>
            <a:lvl9pPr marL="2290763" indent="-344488"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398" y="2866030"/>
            <a:ext cx="3563938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546" y="1524000"/>
            <a:ext cx="356616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7544" y="2699982"/>
            <a:ext cx="3566160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7"/>
          <p:cNvGrpSpPr/>
          <p:nvPr/>
        </p:nvGrpSpPr>
        <p:grpSpPr>
          <a:xfrm rot="21421631">
            <a:off x="629028" y="505650"/>
            <a:ext cx="3850925" cy="5516274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 rot="21421631">
            <a:off x="808793" y="667560"/>
            <a:ext cx="3468664" cy="512472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"/>
          <p:cNvGrpSpPr/>
          <p:nvPr/>
        </p:nvGrpSpPr>
        <p:grpSpPr>
          <a:xfrm rot="21214351">
            <a:off x="313409" y="3520798"/>
            <a:ext cx="4088024" cy="3026020"/>
            <a:chOff x="1524000" y="381000"/>
            <a:chExt cx="3657600" cy="473797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Picture Placeholder 9"/>
          <p:cNvSpPr>
            <a:spLocks noGrp="1"/>
          </p:cNvSpPr>
          <p:nvPr>
            <p:ph type="pic" sz="quarter" idx="16"/>
          </p:nvPr>
        </p:nvSpPr>
        <p:spPr>
          <a:xfrm rot="21214351">
            <a:off x="491057" y="3682579"/>
            <a:ext cx="3704109" cy="26970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grpSp>
        <p:nvGrpSpPr>
          <p:cNvPr id="8" name="Group 9"/>
          <p:cNvGrpSpPr/>
          <p:nvPr/>
        </p:nvGrpSpPr>
        <p:grpSpPr>
          <a:xfrm rot="232774">
            <a:off x="169481" y="241256"/>
            <a:ext cx="4088024" cy="3026020"/>
            <a:chOff x="1524000" y="381000"/>
            <a:chExt cx="3657600" cy="473797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 rot="232774">
            <a:off x="347129" y="403037"/>
            <a:ext cx="3704109" cy="26970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434" y="1524000"/>
            <a:ext cx="356616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3432" y="2699982"/>
            <a:ext cx="3566160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3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3" name="Group 8"/>
          <p:cNvGrpSpPr/>
          <p:nvPr/>
        </p:nvGrpSpPr>
        <p:grpSpPr>
          <a:xfrm rot="232774">
            <a:off x="2059282" y="379100"/>
            <a:ext cx="5031327" cy="3443312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928736"/>
            <a:ext cx="7315200" cy="987970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5"/>
          </p:nvPr>
        </p:nvSpPr>
        <p:spPr>
          <a:xfrm rot="232774">
            <a:off x="2248157" y="564564"/>
            <a:ext cx="4653577" cy="307238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3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3" name="Group 13"/>
          <p:cNvGrpSpPr/>
          <p:nvPr/>
        </p:nvGrpSpPr>
        <p:grpSpPr>
          <a:xfrm rot="21420000">
            <a:off x="113687" y="116368"/>
            <a:ext cx="3969060" cy="3705360"/>
            <a:chOff x="1524000" y="381000"/>
            <a:chExt cx="3657600" cy="473797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Picture Placeholder 9"/>
          <p:cNvSpPr>
            <a:spLocks noGrp="1"/>
          </p:cNvSpPr>
          <p:nvPr>
            <p:ph type="pic" sz="quarter" idx="17"/>
          </p:nvPr>
        </p:nvSpPr>
        <p:spPr>
          <a:xfrm rot="21420000">
            <a:off x="299151" y="304998"/>
            <a:ext cx="3598455" cy="3334235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grpSp>
        <p:nvGrpSpPr>
          <p:cNvPr id="8" name="Group 9"/>
          <p:cNvGrpSpPr/>
          <p:nvPr/>
        </p:nvGrpSpPr>
        <p:grpSpPr>
          <a:xfrm rot="360000">
            <a:off x="4165479" y="323141"/>
            <a:ext cx="4792693" cy="3443312"/>
            <a:chOff x="1524000" y="381000"/>
            <a:chExt cx="3657600" cy="473797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Picture Placeholder 9"/>
          <p:cNvSpPr>
            <a:spLocks noGrp="1"/>
          </p:cNvSpPr>
          <p:nvPr>
            <p:ph type="pic" sz="quarter" idx="16"/>
          </p:nvPr>
        </p:nvSpPr>
        <p:spPr>
          <a:xfrm rot="360000">
            <a:off x="4336486" y="507668"/>
            <a:ext cx="4432860" cy="307238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926106"/>
            <a:ext cx="7315200" cy="990600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51682" y="450851"/>
            <a:ext cx="846083" cy="535781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50851"/>
            <a:ext cx="5943600" cy="5357812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6.png"/><Relationship Id="rId23" Type="http://schemas.openxmlformats.org/officeDocument/2006/relationships/image" Target="../media/image7.png"/><Relationship Id="rId24" Type="http://schemas.openxmlformats.org/officeDocument/2006/relationships/image" Target="../media/image8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3550" indent="-463550" algn="l" defTabSz="914400" rtl="0" eaLnBrk="1" latinLnBrk="0" hangingPunct="1">
        <a:spcBef>
          <a:spcPts val="2000"/>
        </a:spcBef>
        <a:buSzPct val="90000"/>
        <a:buFontTx/>
        <a:buBlip>
          <a:blip r:embed="rId22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SzPct val="90000"/>
        <a:buFontTx/>
        <a:buBlip>
          <a:blip r:embed="rId23"/>
        </a:buBlip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7025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38338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ct val="20000"/>
        </a:spcBef>
        <a:buSzPct val="90000"/>
        <a:buFontTx/>
        <a:buBlip>
          <a:blip r:embed="rId22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ct val="20000"/>
        </a:spcBef>
        <a:buSzPct val="90000"/>
        <a:buFontTx/>
        <a:buBlip>
          <a:blip r:embed="rId24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ct val="20000"/>
        </a:spcBef>
        <a:buSzPct val="90000"/>
        <a:buFontTx/>
        <a:buBlip>
          <a:blip r:embed="rId22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ct val="20000"/>
        </a:spcBef>
        <a:buSzPct val="90000"/>
        <a:buFontTx/>
        <a:buBlip>
          <a:blip r:embed="rId23"/>
        </a:buBlip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Relationship Id="rId7" Type="http://schemas.openxmlformats.org/officeDocument/2006/relationships/image" Target="../media/image12.png"/><Relationship Id="rId1" Type="http://schemas.openxmlformats.org/officeDocument/2006/relationships/tags" Target="../tags/tag2.xml"/><Relationship Id="rId2" Type="http://schemas.openxmlformats.org/officeDocument/2006/relationships/tags" Target="../tags/tag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7" Type="http://schemas.openxmlformats.org/officeDocument/2006/relationships/image" Target="../media/image2.jpeg"/><Relationship Id="rId1" Type="http://schemas.openxmlformats.org/officeDocument/2006/relationships/tags" Target="../tags/tag6.xml"/><Relationship Id="rId2" Type="http://schemas.openxmlformats.org/officeDocument/2006/relationships/tags" Target="../tags/tag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2.png"/><Relationship Id="rId8" Type="http://schemas.openxmlformats.org/officeDocument/2006/relationships/image" Target="../media/image2.jpeg"/><Relationship Id="rId1" Type="http://schemas.openxmlformats.org/officeDocument/2006/relationships/tags" Target="../tags/tag10.xml"/><Relationship Id="rId2" Type="http://schemas.openxmlformats.org/officeDocument/2006/relationships/tags" Target="../tags/tag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7" Type="http://schemas.openxmlformats.org/officeDocument/2006/relationships/image" Target="../media/image2.jpeg"/><Relationship Id="rId8" Type="http://schemas.openxmlformats.org/officeDocument/2006/relationships/image" Target="../media/image12.png"/><Relationship Id="rId1" Type="http://schemas.openxmlformats.org/officeDocument/2006/relationships/tags" Target="../tags/tag14.xml"/><Relationship Id="rId2" Type="http://schemas.openxmlformats.org/officeDocument/2006/relationships/tags" Target="../tags/tag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76400" y="381000"/>
            <a:ext cx="5715000" cy="868362"/>
          </a:xfrm>
        </p:spPr>
        <p:txBody>
          <a:bodyPr/>
          <a:lstStyle/>
          <a:p>
            <a:r>
              <a:rPr lang="en-US" dirty="0" smtClean="0"/>
              <a:t>Boolean Algebra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447800"/>
            <a:ext cx="84582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Slides by Rob Nash, Senior Lecturer</a:t>
            </a:r>
          </a:p>
          <a:p>
            <a:pPr lvl="1"/>
            <a:r>
              <a:rPr lang="en-US" dirty="0" smtClean="0"/>
              <a:t>With excerpts from Arnie Berger, </a:t>
            </a:r>
            <a:r>
              <a:rPr lang="en-US" dirty="0" err="1" smtClean="0"/>
              <a:t>Wooyoung</a:t>
            </a:r>
            <a:r>
              <a:rPr lang="en-US" dirty="0" smtClean="0"/>
              <a:t> Kim, Linda Null</a:t>
            </a:r>
          </a:p>
          <a:p>
            <a:r>
              <a:rPr lang="en-US" dirty="0" smtClean="0"/>
              <a:t>Readings: See schedule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“The Analytical Engine weaves algebraically patterns just as the Jacquard Loom weaves flowers and leaves.” – Ada</a:t>
            </a:r>
          </a:p>
          <a:p>
            <a:r>
              <a:rPr lang="en-US" dirty="0" smtClean="0"/>
              <a:t>“2x + 6x =&gt; 8x” //less symbols, more compact, </a:t>
            </a:r>
            <a:r>
              <a:rPr lang="en-US" i="1" dirty="0" smtClean="0"/>
              <a:t>reduced</a:t>
            </a:r>
            <a:endParaRPr lang="en-US" dirty="0" smtClean="0"/>
          </a:p>
          <a:p>
            <a:r>
              <a:rPr lang="en-US" dirty="0" smtClean="0"/>
              <a:t>Hardware Artifact: AND, OR, and NOT DIPPs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902689"/>
            <a:ext cx="1066800" cy="8382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Circuit</a:t>
            </a:r>
            <a:endParaRPr lang="en-US" dirty="0"/>
          </a:p>
        </p:txBody>
      </p:sp>
      <p:sp>
        <p:nvSpPr>
          <p:cNvPr id="7" name="Curved Right Arrow 6"/>
          <p:cNvSpPr/>
          <p:nvPr/>
        </p:nvSpPr>
        <p:spPr>
          <a:xfrm rot="16200000">
            <a:off x="7065901" y="3075788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67200" y="2902689"/>
            <a:ext cx="1066800" cy="838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Truth Table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19800" y="2902689"/>
            <a:ext cx="1066800" cy="838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Boolean Function</a:t>
            </a:r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 rot="5400000">
            <a:off x="5451847" y="2237588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Right Arrow 10"/>
          <p:cNvSpPr/>
          <p:nvPr/>
        </p:nvSpPr>
        <p:spPr>
          <a:xfrm rot="16200000">
            <a:off x="5590392" y="3151991"/>
            <a:ext cx="373907" cy="12469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Right Arrow 11"/>
          <p:cNvSpPr/>
          <p:nvPr/>
        </p:nvSpPr>
        <p:spPr>
          <a:xfrm rot="5400000">
            <a:off x="7038192" y="2237588"/>
            <a:ext cx="373907" cy="1246909"/>
          </a:xfrm>
          <a:prstGeom prst="curved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Curved Right Arrow 12"/>
          <p:cNvSpPr/>
          <p:nvPr/>
        </p:nvSpPr>
        <p:spPr>
          <a:xfrm rot="5400000">
            <a:off x="6099547" y="1139452"/>
            <a:ext cx="526306" cy="3276600"/>
          </a:xfrm>
          <a:prstGeom prst="curved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Curved Right Arrow 13"/>
          <p:cNvSpPr/>
          <p:nvPr/>
        </p:nvSpPr>
        <p:spPr>
          <a:xfrm rot="16200000">
            <a:off x="6386945" y="2272145"/>
            <a:ext cx="609600" cy="30757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4114800" y="3200400"/>
            <a:ext cx="304800" cy="304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791200" y="3200400"/>
            <a:ext cx="304800" cy="304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7620000" y="3200400"/>
            <a:ext cx="304800" cy="304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Tables </a:t>
            </a:r>
            <a:r>
              <a:rPr lang="mr-IN" dirty="0" smtClean="0"/>
              <a:t>–</a:t>
            </a:r>
            <a:r>
              <a:rPr lang="en-US" dirty="0" smtClean="0"/>
              <a:t> AND in ROM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24000"/>
            <a:ext cx="7313613" cy="4056062"/>
          </a:xfrm>
        </p:spPr>
        <p:txBody>
          <a:bodyPr/>
          <a:lstStyle/>
          <a:p>
            <a:r>
              <a:rPr lang="en-US" dirty="0" smtClean="0"/>
              <a:t>Useful representations for logical relationships</a:t>
            </a:r>
          </a:p>
          <a:p>
            <a:r>
              <a:rPr lang="en-US" dirty="0" smtClean="0"/>
              <a:t>Can be stored easily in ROM</a:t>
            </a:r>
          </a:p>
          <a:p>
            <a:pPr lvl="1"/>
            <a:r>
              <a:rPr lang="en-US" dirty="0"/>
              <a:t>Memory as Data O.K., but </a:t>
            </a:r>
            <a:r>
              <a:rPr lang="en-US" b="1" dirty="0"/>
              <a:t>Memory as Logic?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779528"/>
              </p:ext>
            </p:extLst>
          </p:nvPr>
        </p:nvGraphicFramePr>
        <p:xfrm>
          <a:off x="762000" y="3124200"/>
          <a:ext cx="6096000" cy="18542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 AND 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02744"/>
              </p:ext>
            </p:extLst>
          </p:nvPr>
        </p:nvGraphicFramePr>
        <p:xfrm>
          <a:off x="2286000" y="4851400"/>
          <a:ext cx="6096000" cy="18542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Stored Bit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62669" y="3496270"/>
            <a:ext cx="2005131" cy="9233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Memorized, yes?</a:t>
            </a:r>
          </a:p>
          <a:p>
            <a:r>
              <a:rPr lang="en-US" dirty="0" smtClean="0"/>
              <a:t>So, you stored a TT in your memory?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226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Truth Tables </a:t>
            </a:r>
            <a:r>
              <a:rPr lang="mr-IN" dirty="0" smtClean="0"/>
              <a:t>–</a:t>
            </a:r>
            <a:r>
              <a:rPr lang="en-US" dirty="0" smtClean="0"/>
              <a:t> OR in ROM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Useful representations for logical relationships</a:t>
            </a:r>
          </a:p>
          <a:p>
            <a:r>
              <a:rPr lang="en-US" dirty="0" smtClean="0"/>
              <a:t>Can be stored easily in a ROM </a:t>
            </a:r>
          </a:p>
          <a:p>
            <a:pPr lvl="1"/>
            <a:r>
              <a:rPr lang="en-US" dirty="0" smtClean="0"/>
              <a:t>Memory as Data O.K., but</a:t>
            </a:r>
            <a:r>
              <a:rPr lang="en-US" b="1" dirty="0" smtClean="0"/>
              <a:t> Memory</a:t>
            </a:r>
            <a:r>
              <a:rPr lang="en-US" b="1" i="1" dirty="0" smtClean="0"/>
              <a:t> </a:t>
            </a:r>
            <a:r>
              <a:rPr lang="en-US" b="1" dirty="0" smtClean="0"/>
              <a:t>as</a:t>
            </a:r>
            <a:r>
              <a:rPr lang="en-US" b="1" i="1" dirty="0" smtClean="0"/>
              <a:t> </a:t>
            </a:r>
            <a:r>
              <a:rPr lang="en-US" b="1" dirty="0" smtClean="0"/>
              <a:t>Logic?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223828"/>
              </p:ext>
            </p:extLst>
          </p:nvPr>
        </p:nvGraphicFramePr>
        <p:xfrm>
          <a:off x="914400" y="3327400"/>
          <a:ext cx="6096000" cy="18542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 OR 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716636"/>
              </p:ext>
            </p:extLst>
          </p:nvPr>
        </p:nvGraphicFramePr>
        <p:xfrm>
          <a:off x="2514600" y="4953000"/>
          <a:ext cx="6096000" cy="18542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ROM</a:t>
                      </a:r>
                      <a:r>
                        <a:rPr lang="en-US" baseline="0" dirty="0" smtClean="0"/>
                        <a:t>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62800" y="3724870"/>
            <a:ext cx="2005131" cy="9233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Memorized, yes?</a:t>
            </a:r>
          </a:p>
          <a:p>
            <a:r>
              <a:rPr lang="en-US" dirty="0" smtClean="0"/>
              <a:t>How much memory did it cost you?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854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XOR Truth Tables &amp; ROM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35138"/>
            <a:ext cx="8991600" cy="4056062"/>
          </a:xfrm>
        </p:spPr>
        <p:txBody>
          <a:bodyPr/>
          <a:lstStyle/>
          <a:p>
            <a:r>
              <a:rPr lang="en-US" dirty="0" smtClean="0"/>
              <a:t>Useful representations for logical relationships</a:t>
            </a:r>
          </a:p>
          <a:p>
            <a:pPr lvl="1"/>
            <a:r>
              <a:rPr lang="en-US" dirty="0" smtClean="0"/>
              <a:t>Which one here?</a:t>
            </a:r>
          </a:p>
          <a:p>
            <a:r>
              <a:rPr lang="en-US" dirty="0" smtClean="0"/>
              <a:t>Can be stored easily in ROM – 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can you build this TT &amp; Circuit?</a:t>
            </a:r>
          </a:p>
          <a:p>
            <a:r>
              <a:rPr lang="en-US" dirty="0" smtClean="0"/>
              <a:t>Did you know equality is XOR with negation?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But </a:t>
            </a:r>
            <a:r>
              <a:rPr lang="en-US" dirty="0"/>
              <a:t>what </a:t>
            </a:r>
            <a:r>
              <a:rPr lang="en-US" dirty="0" smtClean="0"/>
              <a:t>else does XOR do for us, on its own?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366647"/>
              </p:ext>
            </p:extLst>
          </p:nvPr>
        </p:nvGraphicFramePr>
        <p:xfrm>
          <a:off x="1066800" y="4546600"/>
          <a:ext cx="6096000" cy="18542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 XOR B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451100" y="3444849"/>
            <a:ext cx="3721100" cy="377851"/>
          </a:xfrm>
          <a:prstGeom prst="roundRect">
            <a:avLst/>
          </a:prstGeom>
          <a:blipFill dpi="0" rotWithShape="1">
            <a:blip r:embed="rId3">
              <a:alphaModFix amt="14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870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228600" y="4000500"/>
            <a:ext cx="8458200" cy="609600"/>
          </a:xfrm>
          <a:prstGeom prst="roundRect">
            <a:avLst/>
          </a:prstGeom>
          <a:solidFill>
            <a:schemeClr val="lt1">
              <a:alpha val="51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dirty="0"/>
          </a:p>
          <a:p>
            <a:pPr algn="r"/>
            <a:r>
              <a:rPr lang="en-US" dirty="0" smtClean="0"/>
              <a:t>Combinational Circuits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228600" y="2971800"/>
            <a:ext cx="8458200" cy="990600"/>
          </a:xfrm>
          <a:prstGeom prst="roundRect">
            <a:avLst/>
          </a:prstGeom>
          <a:solidFill>
            <a:schemeClr val="lt1">
              <a:alpha val="5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en-US" dirty="0" smtClean="0"/>
              <a:t>Boolean Algebra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TODO: Consider XOR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35138"/>
            <a:ext cx="8229600" cy="405606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/* This is our first, non-atomic, combinational circuit */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Build the TT now for only two inputs {A,B} and one output X.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Then, the Function F(A,B) is just the OR of the rows with ones in the output column X.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Now, a circuit? Build this from either spec (1) or (2)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715000" y="4655290"/>
            <a:ext cx="1066800" cy="8382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Circuit</a:t>
            </a:r>
            <a:endParaRPr lang="en-US" dirty="0"/>
          </a:p>
        </p:txBody>
      </p:sp>
      <p:sp>
        <p:nvSpPr>
          <p:cNvPr id="5" name="Curved Right Arrow 4"/>
          <p:cNvSpPr/>
          <p:nvPr/>
        </p:nvSpPr>
        <p:spPr>
          <a:xfrm rot="16200000">
            <a:off x="5008501" y="4828389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655290"/>
            <a:ext cx="1066800" cy="838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Truth Table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62400" y="4655290"/>
            <a:ext cx="1066800" cy="838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Boolean Function</a:t>
            </a:r>
            <a:endParaRPr lang="en-US" dirty="0"/>
          </a:p>
        </p:txBody>
      </p:sp>
      <p:sp>
        <p:nvSpPr>
          <p:cNvPr id="9" name="Curved Right Arrow 8"/>
          <p:cNvSpPr/>
          <p:nvPr/>
        </p:nvSpPr>
        <p:spPr>
          <a:xfrm rot="16200000">
            <a:off x="3532992" y="4904592"/>
            <a:ext cx="373907" cy="12469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057400" y="4953001"/>
            <a:ext cx="304800" cy="304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733800" y="4953001"/>
            <a:ext cx="304800" cy="304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562600" y="4953001"/>
            <a:ext cx="304800" cy="304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267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4" grpId="0" animBg="1"/>
      <p:bldP spid="5" grpId="0" animBg="1"/>
      <p:bldP spid="7" grpId="0" animBg="1"/>
      <p:bldP spid="9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03238"/>
            <a:ext cx="8382000" cy="868362"/>
          </a:xfrm>
        </p:spPr>
        <p:txBody>
          <a:bodyPr/>
          <a:lstStyle/>
          <a:p>
            <a:r>
              <a:rPr lang="en-US" dirty="0" smtClean="0"/>
              <a:t>Introduction to </a:t>
            </a:r>
            <a:r>
              <a:rPr lang="en-US" b="1" dirty="0" smtClean="0">
                <a:solidFill>
                  <a:srgbClr val="3366FF"/>
                </a:solidFill>
              </a:rPr>
              <a:t>Boolean Algebra </a:t>
            </a:r>
            <a:endParaRPr lang="en-US" b="1" dirty="0">
              <a:solidFill>
                <a:srgbClr val="3366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This is binary algebra, or logical algebra</a:t>
            </a:r>
          </a:p>
          <a:p>
            <a:pPr lvl="1"/>
            <a:r>
              <a:rPr lang="en-US" dirty="0" smtClean="0"/>
              <a:t>We’re all good at math, right?  How hard can two values be?</a:t>
            </a:r>
          </a:p>
          <a:p>
            <a:pPr lvl="2"/>
            <a:r>
              <a:rPr lang="en-US" dirty="0" smtClean="0"/>
              <a:t>We have a 50% chance of getting the “answer” right, yes?</a:t>
            </a:r>
          </a:p>
          <a:p>
            <a:pPr lvl="3"/>
            <a:r>
              <a:rPr lang="en-US" dirty="0"/>
              <a:t>Algebra for dummies?  </a:t>
            </a:r>
            <a:endParaRPr lang="en-US" dirty="0" smtClean="0"/>
          </a:p>
          <a:p>
            <a:r>
              <a:rPr lang="en-US" dirty="0" smtClean="0"/>
              <a:t>Rather than a spectrum of values [0, 32563] just 0 and 1</a:t>
            </a:r>
          </a:p>
          <a:p>
            <a:pPr lvl="1"/>
            <a:r>
              <a:rPr lang="en-US" dirty="0" smtClean="0"/>
              <a:t>Algebra for switches,  transistors, machines!</a:t>
            </a:r>
          </a:p>
          <a:p>
            <a:pPr lvl="2"/>
            <a:r>
              <a:rPr lang="en-US" dirty="0" smtClean="0"/>
              <a:t>At one point, the algebra of the future.  </a:t>
            </a:r>
          </a:p>
          <a:p>
            <a:pPr lvl="2"/>
            <a:r>
              <a:rPr lang="en-US" dirty="0" smtClean="0"/>
              <a:t>A Mathematical language for programming (</a:t>
            </a:r>
            <a:r>
              <a:rPr lang="en-US" dirty="0" err="1" smtClean="0"/>
              <a:t>ProLog</a:t>
            </a:r>
            <a:r>
              <a:rPr lang="en-US" dirty="0" smtClean="0"/>
              <a:t>, etc.)</a:t>
            </a:r>
          </a:p>
          <a:p>
            <a:pPr lvl="3"/>
            <a:r>
              <a:rPr lang="en-US" dirty="0" smtClean="0"/>
              <a:t>For us, it is the algebra of life presently in this class.</a:t>
            </a:r>
          </a:p>
          <a:p>
            <a:pPr lvl="4"/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At another point, the algebra of the past? </a:t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02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868362"/>
          </a:xfrm>
        </p:spPr>
        <p:txBody>
          <a:bodyPr/>
          <a:lstStyle/>
          <a:p>
            <a:pPr algn="l"/>
            <a:r>
              <a:rPr lang="en-US" dirty="0" smtClean="0"/>
              <a:t>Boolean Definitions (Cheat Sheet)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0" y="5493489"/>
            <a:ext cx="1066800" cy="8382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Circuit</a:t>
            </a:r>
            <a:endParaRPr lang="en-US" dirty="0"/>
          </a:p>
        </p:txBody>
      </p:sp>
      <p:sp>
        <p:nvSpPr>
          <p:cNvPr id="6" name="Curved Right Arrow 5"/>
          <p:cNvSpPr/>
          <p:nvPr/>
        </p:nvSpPr>
        <p:spPr>
          <a:xfrm rot="16200000">
            <a:off x="3103501" y="5666588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5493489"/>
            <a:ext cx="1066800" cy="838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Truth Table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057400" y="5493489"/>
            <a:ext cx="1066800" cy="838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Boolean Function</a:t>
            </a:r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 rot="5400000">
            <a:off x="1489447" y="4828388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Right Arrow 10"/>
          <p:cNvSpPr/>
          <p:nvPr/>
        </p:nvSpPr>
        <p:spPr>
          <a:xfrm rot="16200000">
            <a:off x="1627992" y="5742791"/>
            <a:ext cx="373907" cy="12469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Right Arrow 6"/>
          <p:cNvSpPr/>
          <p:nvPr/>
        </p:nvSpPr>
        <p:spPr>
          <a:xfrm rot="5400000">
            <a:off x="3075792" y="4828388"/>
            <a:ext cx="373907" cy="1246909"/>
          </a:xfrm>
          <a:prstGeom prst="curved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2" name="Curved Right Arrow 11"/>
          <p:cNvSpPr/>
          <p:nvPr/>
        </p:nvSpPr>
        <p:spPr>
          <a:xfrm rot="5400000">
            <a:off x="2137147" y="3730252"/>
            <a:ext cx="526306" cy="3276600"/>
          </a:xfrm>
          <a:prstGeom prst="curved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Curved Right Arrow 13"/>
          <p:cNvSpPr/>
          <p:nvPr/>
        </p:nvSpPr>
        <p:spPr>
          <a:xfrm rot="16200000">
            <a:off x="2376055" y="4862945"/>
            <a:ext cx="609600" cy="30757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6255"/>
              </p:ext>
            </p:extLst>
          </p:nvPr>
        </p:nvGraphicFramePr>
        <p:xfrm>
          <a:off x="76200" y="1143000"/>
          <a:ext cx="89916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010"/>
                <a:gridCol w="61235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Concept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Definition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Boolean Operators (BO?)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AND, OR, and NOT (same</a:t>
                      </a:r>
                      <a:r>
                        <a:rPr lang="en-US" baseline="0" dirty="0" smtClean="0"/>
                        <a:t> as in CS1 or Phy101)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Boolean Expression (BE)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Combination of Boolean Variables and Operators</a:t>
                      </a:r>
                      <a:r>
                        <a:rPr lang="en-US" baseline="0" dirty="0" smtClean="0"/>
                        <a:t>, e.g. “A + B”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Truth Table (TT)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Tabular, exhaustive mapping of </a:t>
                      </a:r>
                      <a:r>
                        <a:rPr lang="en-US" b="1" dirty="0" smtClean="0"/>
                        <a:t>inputs</a:t>
                      </a:r>
                      <a:r>
                        <a:rPr lang="en-US" baseline="0" dirty="0" smtClean="0"/>
                        <a:t> and </a:t>
                      </a:r>
                      <a:r>
                        <a:rPr lang="en-US" b="1" baseline="0" dirty="0" smtClean="0"/>
                        <a:t>outputs </a:t>
                      </a:r>
                      <a:r>
                        <a:rPr lang="en-US" b="0" baseline="0" dirty="0" smtClean="0"/>
                        <a:t>to describe some simple operation (an </a:t>
                      </a:r>
                      <a:r>
                        <a:rPr lang="en-US" b="1" baseline="0" dirty="0" smtClean="0"/>
                        <a:t>operator</a:t>
                      </a:r>
                      <a:r>
                        <a:rPr lang="en-US" b="0" baseline="0" dirty="0" smtClean="0"/>
                        <a:t>, also any </a:t>
                      </a:r>
                      <a:r>
                        <a:rPr lang="en-US" b="1" baseline="0" dirty="0" smtClean="0"/>
                        <a:t>algorithm</a:t>
                      </a:r>
                      <a:r>
                        <a:rPr lang="en-US" b="0" baseline="0" dirty="0" smtClean="0"/>
                        <a:t>)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Combinational Circuit</a:t>
                      </a:r>
                      <a:r>
                        <a:rPr lang="en-US" baseline="0" dirty="0" smtClean="0"/>
                        <a:t> (CC)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Circuit schematic defining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smtClean="0"/>
                        <a:t>outputs</a:t>
                      </a:r>
                      <a:r>
                        <a:rPr lang="en-US" baseline="0" dirty="0" smtClean="0"/>
                        <a:t> in terms of </a:t>
                      </a:r>
                      <a:r>
                        <a:rPr lang="en-US" b="1" baseline="0" dirty="0" smtClean="0"/>
                        <a:t>inputs</a:t>
                      </a:r>
                      <a:r>
                        <a:rPr lang="en-US" baseline="0" dirty="0" smtClean="0"/>
                        <a:t> and some combination of atomic circuits elements (mirrors BOs)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Boolean Function (BF)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Outputs</a:t>
                      </a:r>
                      <a:r>
                        <a:rPr lang="en-US" baseline="0" dirty="0" smtClean="0"/>
                        <a:t> defined via </a:t>
                      </a:r>
                      <a:r>
                        <a:rPr lang="en-US" b="1" baseline="0" dirty="0" smtClean="0"/>
                        <a:t>inputs</a:t>
                      </a:r>
                      <a:r>
                        <a:rPr lang="en-US" baseline="0" dirty="0" smtClean="0"/>
                        <a:t> and either a {BE, TT, CC}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Boolean Laws or Identities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Govern the transformation and simplification</a:t>
                      </a:r>
                      <a:r>
                        <a:rPr lang="en-US" baseline="0" dirty="0" smtClean="0"/>
                        <a:t> of BE/BFs &amp; CCs, whereas TTs are complete, possibly redundant, never simplified)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Precedence, Order of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NEGATION,</a:t>
                      </a:r>
                      <a:r>
                        <a:rPr lang="en-US" baseline="0" dirty="0" smtClean="0"/>
                        <a:t> AND, OR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953485" y="5354635"/>
            <a:ext cx="2493818" cy="4258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Boolean Function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5964382" y="5777345"/>
            <a:ext cx="2493818" cy="62345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Boolean Equation</a:t>
            </a:r>
          </a:p>
          <a:p>
            <a:pPr algn="ctr"/>
            <a:r>
              <a:rPr lang="en-US" b="1" dirty="0" smtClean="0"/>
              <a:t>(variables &amp; operators)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3352800" y="1676400"/>
            <a:ext cx="3048000" cy="3124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Truth Tables </a:t>
            </a:r>
          </a:p>
          <a:p>
            <a:pPr algn="ctr"/>
            <a:r>
              <a:rPr lang="en-US" dirty="0" smtClean="0"/>
              <a:t>(Maps of all IO Combinations)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4267200" y="3657600"/>
            <a:ext cx="1219200" cy="1066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</a:t>
            </a:r>
          </a:p>
          <a:p>
            <a:pPr algn="ctr"/>
            <a:r>
              <a:rPr lang="en-US" dirty="0" smtClean="0"/>
              <a:t>{AND, OR, NOT}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989223" y="1752600"/>
            <a:ext cx="1801977" cy="10668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Arbitrary Algorithm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86417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924800" cy="868362"/>
          </a:xfrm>
        </p:spPr>
        <p:txBody>
          <a:bodyPr/>
          <a:lstStyle/>
          <a:p>
            <a:pPr algn="l"/>
            <a:r>
              <a:rPr lang="en-US" dirty="0" smtClean="0"/>
              <a:t>Boolean Definitions Explained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0000FF"/>
                </a:solidFill>
              </a:rPr>
              <a:t>Boolean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0000FF"/>
                </a:solidFill>
              </a:rPr>
              <a:t>Expression</a:t>
            </a:r>
            <a:r>
              <a:rPr lang="en-US" dirty="0" smtClean="0"/>
              <a:t>: A combination of variables and operations over those variables {AND, OR, NOT}</a:t>
            </a:r>
          </a:p>
          <a:p>
            <a:pPr lvl="1"/>
            <a:r>
              <a:rPr lang="en-US" dirty="0" smtClean="0"/>
              <a:t>There exists a unique and standardized form for all equations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0000FF"/>
                </a:solidFill>
              </a:rPr>
              <a:t>Boolean Function</a:t>
            </a:r>
            <a:r>
              <a:rPr lang="en-US" dirty="0" smtClean="0"/>
              <a:t>: F(</a:t>
            </a:r>
            <a:r>
              <a:rPr lang="en-US" dirty="0" err="1" smtClean="0"/>
              <a:t>a,b,c</a:t>
            </a:r>
            <a:r>
              <a:rPr lang="en-US" dirty="0" smtClean="0"/>
              <a:t>) = output{</a:t>
            </a:r>
            <a:r>
              <a:rPr lang="en-US" dirty="0" err="1" smtClean="0"/>
              <a:t>x,y,z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An expression in terms of one or more inputs (</a:t>
            </a:r>
            <a:r>
              <a:rPr lang="en-US" dirty="0" err="1" smtClean="0"/>
              <a:t>a,b,c</a:t>
            </a:r>
            <a:r>
              <a:rPr lang="en-US" dirty="0" smtClean="0"/>
              <a:t>) that produces some output {</a:t>
            </a:r>
            <a:r>
              <a:rPr lang="en-US" dirty="0" err="1" smtClean="0"/>
              <a:t>x,y,z</a:t>
            </a:r>
            <a:r>
              <a:rPr lang="en-US" dirty="0" smtClean="0"/>
              <a:t>} </a:t>
            </a:r>
            <a:r>
              <a:rPr lang="en-US" b="1" dirty="0" smtClean="0"/>
              <a:t>based on the inputs</a:t>
            </a:r>
          </a:p>
          <a:p>
            <a:pPr lvl="2"/>
            <a:r>
              <a:rPr lang="en-US" dirty="0" smtClean="0"/>
              <a:t>The definition of a </a:t>
            </a:r>
            <a:r>
              <a:rPr lang="en-US" b="1" dirty="0" smtClean="0">
                <a:solidFill>
                  <a:srgbClr val="0000FF"/>
                </a:solidFill>
              </a:rPr>
              <a:t>combinational circuit </a:t>
            </a:r>
            <a:r>
              <a:rPr lang="en-US" dirty="0" smtClean="0"/>
              <a:t>is just this</a:t>
            </a:r>
          </a:p>
          <a:p>
            <a:pPr lvl="3"/>
            <a:r>
              <a:rPr lang="en-US" dirty="0" smtClean="0"/>
              <a:t>Whereas a </a:t>
            </a:r>
            <a:r>
              <a:rPr lang="en-US" b="1" dirty="0" smtClean="0">
                <a:solidFill>
                  <a:srgbClr val="FF0000"/>
                </a:solidFill>
              </a:rPr>
              <a:t>sequential circuit</a:t>
            </a:r>
            <a:r>
              <a:rPr lang="en-US" b="1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chooses an output based on its inputs and some </a:t>
            </a:r>
            <a:r>
              <a:rPr lang="en-US" b="1" dirty="0" smtClean="0"/>
              <a:t>sequence of (saved) states </a:t>
            </a:r>
            <a:r>
              <a:rPr lang="en-US" dirty="0" smtClean="0"/>
              <a:t>(</a:t>
            </a:r>
            <a:r>
              <a:rPr lang="en-US" dirty="0" err="1" smtClean="0"/>
              <a:t>ie</a:t>
            </a:r>
            <a:r>
              <a:rPr lang="en-US" dirty="0" smtClean="0"/>
              <a:t>, memory)</a:t>
            </a:r>
          </a:p>
          <a:p>
            <a:r>
              <a:rPr lang="en-US" dirty="0" smtClean="0"/>
              <a:t>AND(A,B) = AB, </a:t>
            </a:r>
            <a:r>
              <a:rPr lang="en-US" b="1" i="1" dirty="0" smtClean="0"/>
              <a:t>or</a:t>
            </a:r>
            <a:r>
              <a:rPr lang="en-US" i="1" dirty="0" smtClean="0"/>
              <a:t> </a:t>
            </a:r>
            <a:r>
              <a:rPr lang="en-US" dirty="0" smtClean="0"/>
              <a:t>we could view this function/mapping as a Truth Table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0000FF"/>
                </a:solidFill>
              </a:rPr>
              <a:t>Truth Table </a:t>
            </a:r>
            <a:r>
              <a:rPr lang="en-US" dirty="0" smtClean="0"/>
              <a:t>is just a </a:t>
            </a:r>
            <a:r>
              <a:rPr lang="en-US" b="1" dirty="0" smtClean="0">
                <a:solidFill>
                  <a:srgbClr val="0000FF"/>
                </a:solidFill>
              </a:rPr>
              <a:t>brute force enumeration</a:t>
            </a:r>
            <a:r>
              <a:rPr lang="en-US" i="1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that exhaustively shows the relationship between the input value set and the output results for all possible input configurations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477000" y="5645890"/>
            <a:ext cx="1066800" cy="8382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Circuit</a:t>
            </a:r>
            <a:endParaRPr lang="en-US" dirty="0"/>
          </a:p>
        </p:txBody>
      </p:sp>
      <p:sp>
        <p:nvSpPr>
          <p:cNvPr id="6" name="Curved Right Arrow 5"/>
          <p:cNvSpPr/>
          <p:nvPr/>
        </p:nvSpPr>
        <p:spPr>
          <a:xfrm rot="16200000">
            <a:off x="5770501" y="5818989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71800" y="5645890"/>
            <a:ext cx="1066800" cy="838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Truth Table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24400" y="5645890"/>
            <a:ext cx="1066800" cy="838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Boolean Function</a:t>
            </a:r>
            <a:endParaRPr lang="en-US" dirty="0"/>
          </a:p>
        </p:txBody>
      </p:sp>
      <p:sp>
        <p:nvSpPr>
          <p:cNvPr id="10" name="Curved Right Arrow 9"/>
          <p:cNvSpPr/>
          <p:nvPr/>
        </p:nvSpPr>
        <p:spPr>
          <a:xfrm rot="5400000">
            <a:off x="4156447" y="4980789"/>
            <a:ext cx="373907" cy="1246909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Right Arrow 10"/>
          <p:cNvSpPr/>
          <p:nvPr/>
        </p:nvSpPr>
        <p:spPr>
          <a:xfrm rot="16200000">
            <a:off x="4294992" y="5895192"/>
            <a:ext cx="373907" cy="12469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Right Arrow 6"/>
          <p:cNvSpPr/>
          <p:nvPr/>
        </p:nvSpPr>
        <p:spPr>
          <a:xfrm rot="5400000">
            <a:off x="5742792" y="4980789"/>
            <a:ext cx="373907" cy="1246909"/>
          </a:xfrm>
          <a:prstGeom prst="curved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2" name="Curved Right Arrow 11"/>
          <p:cNvSpPr/>
          <p:nvPr/>
        </p:nvSpPr>
        <p:spPr>
          <a:xfrm rot="5400000">
            <a:off x="4804147" y="3882653"/>
            <a:ext cx="526306" cy="3276600"/>
          </a:xfrm>
          <a:prstGeom prst="curved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Curved Right Arrow 13"/>
          <p:cNvSpPr/>
          <p:nvPr/>
        </p:nvSpPr>
        <p:spPr>
          <a:xfrm rot="16200000">
            <a:off x="5091545" y="5015346"/>
            <a:ext cx="609600" cy="3075709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2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934200" y="975431"/>
            <a:ext cx="1066800" cy="8382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Circuit</a:t>
            </a:r>
          </a:p>
          <a:p>
            <a:pPr algn="ctr"/>
            <a:r>
              <a:rPr lang="en-US" dirty="0" smtClean="0"/>
              <a:t>ROM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676400" y="975431"/>
            <a:ext cx="1066800" cy="838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Truth Table</a:t>
            </a:r>
            <a:endParaRPr lang="en-US" dirty="0"/>
          </a:p>
        </p:txBody>
      </p:sp>
      <p:sp>
        <p:nvSpPr>
          <p:cNvPr id="13" name="Curved Right Arrow 12"/>
          <p:cNvSpPr/>
          <p:nvPr/>
        </p:nvSpPr>
        <p:spPr>
          <a:xfrm rot="5400000">
            <a:off x="4198092" y="-2003461"/>
            <a:ext cx="1052616" cy="5181600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Curved Right Arrow 13"/>
          <p:cNvSpPr/>
          <p:nvPr/>
        </p:nvSpPr>
        <p:spPr>
          <a:xfrm rot="16200000">
            <a:off x="4462038" y="-605262"/>
            <a:ext cx="892516" cy="5448807"/>
          </a:xfrm>
          <a:prstGeom prst="curv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11869"/>
            <a:ext cx="7696200" cy="868362"/>
          </a:xfrm>
        </p:spPr>
        <p:txBody>
          <a:bodyPr/>
          <a:lstStyle/>
          <a:p>
            <a:r>
              <a:rPr lang="en-US" dirty="0" smtClean="0"/>
              <a:t>Expanding on Truth Tables:</a:t>
            </a:r>
            <a:br>
              <a:rPr lang="en-US" dirty="0" smtClean="0"/>
            </a:br>
            <a:r>
              <a:rPr lang="en-US" dirty="0" smtClean="0"/>
              <a:t>ROM or Gates?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686800" cy="47418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is the difference between a circuit and a truth table?</a:t>
            </a:r>
          </a:p>
          <a:p>
            <a:pPr lvl="1"/>
            <a:r>
              <a:rPr lang="en-US" dirty="0" smtClean="0"/>
              <a:t>Are they equivalent </a:t>
            </a:r>
            <a:r>
              <a:rPr lang="en-US" dirty="0"/>
              <a:t>l</a:t>
            </a:r>
            <a:r>
              <a:rPr lang="en-US" dirty="0" smtClean="0"/>
              <a:t>ogically?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is the difference then, between a truth table stored in one format versus another?</a:t>
            </a:r>
          </a:p>
          <a:p>
            <a:pPr lvl="1"/>
            <a:r>
              <a:rPr lang="en-US" dirty="0" smtClean="0"/>
              <a:t>Circuits realize </a:t>
            </a:r>
            <a:r>
              <a:rPr lang="en-US" dirty="0"/>
              <a:t>B</a:t>
            </a:r>
            <a:r>
              <a:rPr lang="en-US" dirty="0" smtClean="0"/>
              <a:t>oolean logic directly as hardware</a:t>
            </a:r>
          </a:p>
          <a:p>
            <a:pPr lvl="1"/>
            <a:r>
              <a:rPr lang="en-US" dirty="0" smtClean="0"/>
              <a:t>Circuits realize Memory (ROM)</a:t>
            </a:r>
          </a:p>
          <a:p>
            <a:pPr lvl="1"/>
            <a:r>
              <a:rPr lang="en-US" dirty="0" smtClean="0"/>
              <a:t>ROM can encode </a:t>
            </a:r>
            <a:r>
              <a:rPr lang="en-US" dirty="0"/>
              <a:t>B</a:t>
            </a:r>
            <a:r>
              <a:rPr lang="en-US" dirty="0" smtClean="0"/>
              <a:t>oolean logic via one level of indirection (an address)</a:t>
            </a:r>
          </a:p>
          <a:p>
            <a:pPr lvl="2"/>
            <a:r>
              <a:rPr lang="en-US" dirty="0" smtClean="0"/>
              <a:t>The address to a rom could be the input values for two wires, A and B</a:t>
            </a:r>
          </a:p>
          <a:p>
            <a:pPr lvl="3"/>
            <a:r>
              <a:rPr lang="en-US" dirty="0" smtClean="0"/>
              <a:t>A = Addr0, B = Addr1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34665"/>
              </p:ext>
            </p:extLst>
          </p:nvPr>
        </p:nvGraphicFramePr>
        <p:xfrm>
          <a:off x="6553200" y="4927600"/>
          <a:ext cx="2514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49"/>
                <a:gridCol w="263007"/>
                <a:gridCol w="19701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Stored ROM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 //with carry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096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3238"/>
            <a:ext cx="7696200" cy="868362"/>
          </a:xfrm>
        </p:spPr>
        <p:txBody>
          <a:bodyPr/>
          <a:lstStyle/>
          <a:p>
            <a:r>
              <a:rPr lang="en-US" dirty="0" smtClean="0"/>
              <a:t>Big Idea: ROM (</a:t>
            </a:r>
            <a:r>
              <a:rPr lang="en-US" dirty="0"/>
              <a:t>A</a:t>
            </a:r>
            <a:r>
              <a:rPr lang="en-US" dirty="0" smtClean="0"/>
              <a:t>cts) as Gates?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686800" cy="4741862"/>
          </a:xfrm>
        </p:spPr>
        <p:txBody>
          <a:bodyPr>
            <a:normAutofit/>
          </a:bodyPr>
          <a:lstStyle/>
          <a:p>
            <a:r>
              <a:rPr lang="en-US" dirty="0" smtClean="0"/>
              <a:t>Concept: Memory can “remember” how a circuit behaves and act in it’s place (emulate)</a:t>
            </a:r>
          </a:p>
          <a:p>
            <a:pPr lvl="1"/>
            <a:r>
              <a:rPr lang="en-US" dirty="0" smtClean="0"/>
              <a:t>Just ask the memory rather than implement the hardware!</a:t>
            </a:r>
          </a:p>
          <a:p>
            <a:pPr lvl="1"/>
            <a:r>
              <a:rPr lang="en-US" dirty="0" smtClean="0"/>
              <a:t>Analogy: HAL versus HEL</a:t>
            </a:r>
          </a:p>
          <a:p>
            <a:pPr lvl="1"/>
            <a:r>
              <a:rPr lang="en-US" dirty="0" smtClean="0"/>
              <a:t>Analogy: Caching sine/cosine rather than calculating on the fly </a:t>
            </a:r>
          </a:p>
          <a:p>
            <a:pPr lvl="2"/>
            <a:r>
              <a:rPr lang="en-US" dirty="0" smtClean="0"/>
              <a:t>This uses the hardware once (expensive, long) and caches results in RAM (cheap, quick lookup)</a:t>
            </a:r>
          </a:p>
          <a:p>
            <a:r>
              <a:rPr lang="en-US" dirty="0" smtClean="0"/>
              <a:t>Now before you think we’ve moved all gated hardware into some other format like “code”, I ask you</a:t>
            </a:r>
            <a:r>
              <a:rPr lang="mr-IN" dirty="0" smtClean="0"/>
              <a:t>…</a:t>
            </a:r>
            <a:r>
              <a:rPr lang="en-US" dirty="0" smtClean="0"/>
              <a:t> 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do you think memory is made of? </a:t>
            </a:r>
          </a:p>
          <a:p>
            <a:pPr lvl="1"/>
            <a:r>
              <a:rPr lang="en-US" dirty="0" smtClean="0"/>
              <a:t>Both </a:t>
            </a:r>
            <a:r>
              <a:rPr lang="en-US" dirty="0"/>
              <a:t>c</a:t>
            </a:r>
            <a:r>
              <a:rPr lang="en-US" dirty="0" smtClean="0"/>
              <a:t>ircuits and memory are </a:t>
            </a:r>
            <a:r>
              <a:rPr lang="en-US" b="1" dirty="0" smtClean="0"/>
              <a:t>just gates</a:t>
            </a:r>
            <a:r>
              <a:rPr lang="en-US" dirty="0" smtClean="0"/>
              <a:t>; two sides of the same coin.</a:t>
            </a:r>
          </a:p>
          <a:p>
            <a:pPr lvl="1"/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384300" y="5867400"/>
            <a:ext cx="4406900" cy="292100"/>
          </a:xfrm>
          <a:prstGeom prst="roundRect">
            <a:avLst/>
          </a:prstGeom>
          <a:blipFill dpi="0" rotWithShape="1">
            <a:blip r:embed="rId3">
              <a:alphaModFix amt="4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5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03238"/>
            <a:ext cx="7313613" cy="868362"/>
          </a:xfrm>
        </p:spPr>
        <p:txBody>
          <a:bodyPr/>
          <a:lstStyle/>
          <a:p>
            <a:r>
              <a:rPr lang="en-US" dirty="0" smtClean="0"/>
              <a:t>Positive Logic AND &lt;-&gt; Negative Logic 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8938"/>
            <a:ext cx="8001000" cy="4056062"/>
          </a:xfrm>
        </p:spPr>
        <p:txBody>
          <a:bodyPr/>
          <a:lstStyle/>
          <a:p>
            <a:r>
              <a:rPr lang="en-US" dirty="0" smtClean="0"/>
              <a:t>We can make an AND from an OR simply by reversing the logic scheme….wait a sec, like using a NOT?</a:t>
            </a:r>
          </a:p>
          <a:p>
            <a:pPr lvl="1"/>
            <a:r>
              <a:rPr lang="en-US" dirty="0" smtClean="0"/>
              <a:t>Also, now we see why NAND looks like AND in </a:t>
            </a:r>
            <a:r>
              <a:rPr lang="en-US" dirty="0" err="1" smtClean="0"/>
              <a:t>pos</a:t>
            </a:r>
            <a:r>
              <a:rPr lang="en-US" dirty="0" smtClean="0"/>
              <a:t>/</a:t>
            </a:r>
            <a:r>
              <a:rPr lang="en-US" dirty="0" err="1" smtClean="0"/>
              <a:t>neg</a:t>
            </a:r>
            <a:r>
              <a:rPr lang="en-US" dirty="0" smtClean="0"/>
              <a:t> logic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656066"/>
              </p:ext>
            </p:extLst>
          </p:nvPr>
        </p:nvGraphicFramePr>
        <p:xfrm>
          <a:off x="152400" y="3124200"/>
          <a:ext cx="6096000" cy="18542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“A AND B”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0F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435859"/>
              </p:ext>
            </p:extLst>
          </p:nvPr>
        </p:nvGraphicFramePr>
        <p:xfrm>
          <a:off x="2590800" y="4927600"/>
          <a:ext cx="6096000" cy="18542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“A OR B”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1F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1F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0T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1F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1F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1F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72200" y="45836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Positive Logic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66800" y="52197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Negative Logic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6119336"/>
            <a:ext cx="2514600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So </a:t>
            </a:r>
            <a:r>
              <a:rPr lang="en-US" sz="1400" dirty="0"/>
              <a:t>if you’re on an island and all you have is AND and NOT, you have all you need to get to </a:t>
            </a:r>
            <a:r>
              <a:rPr lang="en-US" sz="1400" dirty="0" smtClean="0"/>
              <a:t>OR</a:t>
            </a:r>
            <a:endParaRPr lang="en-US" sz="1400" dirty="0"/>
          </a:p>
        </p:txBody>
      </p:sp>
      <p:sp>
        <p:nvSpPr>
          <p:cNvPr id="9" name="Bent Arrow 8"/>
          <p:cNvSpPr/>
          <p:nvPr/>
        </p:nvSpPr>
        <p:spPr>
          <a:xfrm flipH="1">
            <a:off x="6250886" y="3532556"/>
            <a:ext cx="378514" cy="1115644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Bent Arrow 9"/>
          <p:cNvSpPr/>
          <p:nvPr/>
        </p:nvSpPr>
        <p:spPr>
          <a:xfrm rot="10800000" flipH="1">
            <a:off x="1371600" y="5589671"/>
            <a:ext cx="1187940" cy="430129"/>
          </a:xfrm>
          <a:prstGeom prst="ben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2971800"/>
            <a:ext cx="32004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“” because the 0,1 currents remain the same, the </a:t>
            </a:r>
            <a:r>
              <a:rPr lang="en-US" dirty="0" smtClean="0"/>
              <a:t>circuit </a:t>
            </a:r>
            <a:r>
              <a:rPr lang="en-US" dirty="0"/>
              <a:t>stays the same but the </a:t>
            </a:r>
            <a:r>
              <a:rPr lang="en-US" i="1" dirty="0">
                <a:solidFill>
                  <a:srgbClr val="3366FF"/>
                </a:solidFill>
              </a:rPr>
              <a:t>meaning</a:t>
            </a:r>
            <a:r>
              <a:rPr lang="en-US" i="1" dirty="0"/>
              <a:t> (</a:t>
            </a:r>
            <a:r>
              <a:rPr lang="en-US" i="1" dirty="0">
                <a:solidFill>
                  <a:srgbClr val="3366FF"/>
                </a:solidFill>
              </a:rPr>
              <a:t>interpretation</a:t>
            </a:r>
            <a:r>
              <a:rPr lang="en-US" i="1" dirty="0"/>
              <a:t>)</a:t>
            </a:r>
            <a:r>
              <a:rPr lang="en-US" dirty="0"/>
              <a:t> </a:t>
            </a:r>
            <a:r>
              <a:rPr lang="en-US" dirty="0" smtClean="0"/>
              <a:t>of the bits are flipped so AND behaves like OR </a:t>
            </a:r>
            <a:r>
              <a:rPr lang="en-US" dirty="0"/>
              <a:t>when flipping from positive to negative </a:t>
            </a:r>
            <a:r>
              <a:rPr lang="en-US" dirty="0" smtClean="0"/>
              <a:t>logic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05600" y="228600"/>
            <a:ext cx="2400300" cy="12209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“Do you draw power from </a:t>
            </a:r>
            <a:r>
              <a:rPr lang="en-US" i="1" dirty="0"/>
              <a:t>abilities</a:t>
            </a:r>
            <a:r>
              <a:rPr lang="en-US" b="1" dirty="0"/>
              <a:t>, </a:t>
            </a:r>
            <a:r>
              <a:rPr lang="en-US" dirty="0"/>
              <a:t>or voltage on a wire (electro </a:t>
            </a:r>
            <a:r>
              <a:rPr lang="en-US" dirty="0" err="1"/>
              <a:t>v.s</a:t>
            </a:r>
            <a:r>
              <a:rPr lang="en-US" dirty="0"/>
              <a:t>. </a:t>
            </a:r>
            <a:r>
              <a:rPr lang="en-US" dirty="0" err="1" smtClean="0"/>
              <a:t>learningGuy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240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313613" cy="868362"/>
          </a:xfrm>
        </p:spPr>
        <p:txBody>
          <a:bodyPr/>
          <a:lstStyle/>
          <a:p>
            <a:r>
              <a:rPr lang="en-US" dirty="0" smtClean="0"/>
              <a:t>Summary of Boolean Laws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247806"/>
              </p:ext>
            </p:extLst>
          </p:nvPr>
        </p:nvGraphicFramePr>
        <p:xfrm>
          <a:off x="76200" y="701040"/>
          <a:ext cx="868680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914"/>
                <a:gridCol w="3517984"/>
                <a:gridCol w="342690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Law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Identity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Idempotent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          </a:t>
                      </a:r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//</a:t>
                      </a:r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grow or shrink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Inverse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Domination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  </a:t>
                      </a:r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//Null calls this</a:t>
                      </a:r>
                      <a:r>
                        <a:rPr lang="en-US" baseline="0" dirty="0" smtClean="0">
                          <a:solidFill>
                            <a:srgbClr val="008000"/>
                          </a:solidFill>
                        </a:rPr>
                        <a:t> “Null”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 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olidFill>
                            <a:srgbClr val="008000"/>
                          </a:solidFill>
                        </a:rPr>
                        <a:t>//drives to 1 or 0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Commutative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* A </a:t>
                      </a:r>
                      <a:r>
                        <a:rPr lang="en-US" baseline="0" dirty="0" smtClean="0"/>
                        <a:t>            </a:t>
                      </a:r>
                      <a:r>
                        <a:rPr lang="en-US" baseline="0" dirty="0" smtClean="0">
                          <a:solidFill>
                            <a:srgbClr val="008000"/>
                          </a:solidFill>
                        </a:rPr>
                        <a:t>//move </a:t>
                      </a:r>
                      <a:r>
                        <a:rPr lang="en-US" baseline="0" dirty="0" err="1" smtClean="0">
                          <a:solidFill>
                            <a:srgbClr val="008000"/>
                          </a:solidFill>
                        </a:rPr>
                        <a:t>vars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Distributive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Associativity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DeMorgan’s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   </a:t>
                      </a:r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//math girls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334826"/>
              </p:ext>
            </p:extLst>
          </p:nvPr>
        </p:nvGraphicFramePr>
        <p:xfrm>
          <a:off x="63500" y="4114800"/>
          <a:ext cx="8915400" cy="2392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0200"/>
                <a:gridCol w="34290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Compound</a:t>
                      </a:r>
                    </a:p>
                    <a:p>
                      <a:r>
                        <a:rPr lang="en-US" dirty="0" smtClean="0"/>
                        <a:t>Equalities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Combination</a:t>
                      </a:r>
                      <a:r>
                        <a:rPr lang="en-US" baseline="0" dirty="0" smtClean="0"/>
                        <a:t> of Laws #1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</a:p>
                    <a:p>
                      <a:r>
                        <a:rPr lang="en-US" dirty="0" smtClean="0"/>
                        <a:t>//must</a:t>
                      </a:r>
                      <a:r>
                        <a:rPr lang="en-US" baseline="0" dirty="0" smtClean="0"/>
                        <a:t> derive this first, then cite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  <a:p>
                      <a:r>
                        <a:rPr lang="en-US" dirty="0" smtClean="0"/>
                        <a:t>//cannot cite without</a:t>
                      </a:r>
                      <a:r>
                        <a:rPr lang="en-US" baseline="0" dirty="0" smtClean="0"/>
                        <a:t> derivation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Combi</a:t>
                      </a:r>
                      <a:r>
                        <a:rPr lang="en-US" dirty="0" smtClean="0"/>
                        <a:t> Laws #2</a:t>
                      </a:r>
                      <a:endParaRPr lang="en-US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A*(~A+B)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~AB = A + B    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//We’ll prove this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/>
                        <a:t>Combi</a:t>
                      </a:r>
                      <a:r>
                        <a:rPr lang="en-US" b="0" baseline="0" dirty="0" smtClean="0"/>
                        <a:t> Laws #3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(A*B) + (~A</a:t>
                      </a:r>
                      <a:r>
                        <a:rPr lang="en-US" baseline="0" dirty="0" smtClean="0"/>
                        <a:t> * B)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(A</a:t>
                      </a:r>
                      <a:r>
                        <a:rPr lang="en-US" baseline="0" dirty="0" smtClean="0"/>
                        <a:t> + B) * (~A + B) = B 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//and this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Absorption</a:t>
                      </a:r>
                      <a:endParaRPr lang="en-US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A*(A+B) = B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//this proves OR too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A+(AB)</a:t>
                      </a:r>
                      <a:r>
                        <a:rPr lang="en-US" baseline="0" dirty="0" smtClean="0"/>
                        <a:t> = A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Left Arrow 4"/>
          <p:cNvSpPr/>
          <p:nvPr/>
        </p:nvSpPr>
        <p:spPr>
          <a:xfrm>
            <a:off x="8077200" y="3810000"/>
            <a:ext cx="990600" cy="1717505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213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Complementation</a:t>
            </a:r>
            <a:br>
              <a:rPr lang="en-US" dirty="0" smtClean="0"/>
            </a:br>
            <a:r>
              <a:rPr lang="en-US" sz="2000" dirty="0" smtClean="0"/>
              <a:t>(Laws of Inverse or Negation)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214256"/>
              </p:ext>
            </p:extLst>
          </p:nvPr>
        </p:nvGraphicFramePr>
        <p:xfrm>
          <a:off x="1371600" y="1752600"/>
          <a:ext cx="60960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smtClean="0"/>
                        <a:t>1) Complement Definition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 smtClean="0"/>
                        <a:t>   </a:t>
                      </a:r>
                      <a:r>
                        <a:rPr lang="en-US" sz="1200" i="1" dirty="0" smtClean="0"/>
                        <a:t>(Not TRUE</a:t>
                      </a:r>
                      <a:r>
                        <a:rPr lang="en-US" sz="1200" i="1" baseline="0" dirty="0" smtClean="0"/>
                        <a:t> is FALSE)</a:t>
                      </a:r>
                      <a:endParaRPr lang="en-US" sz="1200" i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</a:t>
                      </a:r>
                      <a:r>
                        <a:rPr lang="en-US" baseline="0" dirty="0" smtClean="0"/>
                        <a:t> A = 1 then !A = 0</a:t>
                      </a:r>
                    </a:p>
                    <a:p>
                      <a:r>
                        <a:rPr lang="en-US" baseline="0" dirty="0" smtClean="0"/>
                        <a:t>If A = 0 then !A =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2) 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AND Complement of A</a:t>
                      </a:r>
                    </a:p>
                    <a:p>
                      <a:r>
                        <a:rPr lang="en-US" dirty="0" smtClean="0"/>
                        <a:t>    </a:t>
                      </a:r>
                      <a:r>
                        <a:rPr lang="en-US" sz="1200" dirty="0" smtClean="0"/>
                        <a:t>(a &amp; !a)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!A = 0</a:t>
                      </a:r>
                    </a:p>
                    <a:p>
                      <a:r>
                        <a:rPr lang="en-US" sz="1400" dirty="0" smtClean="0"/>
                        <a:t>(related identity: A * 1 = A)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3) A OR Complement of A</a:t>
                      </a:r>
                    </a:p>
                    <a:p>
                      <a:r>
                        <a:rPr lang="en-US" sz="1800" dirty="0" smtClean="0"/>
                        <a:t>   </a:t>
                      </a:r>
                      <a:r>
                        <a:rPr lang="en-US" sz="1200" dirty="0" smtClean="0"/>
                        <a:t>(a | !a)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</a:t>
                      </a:r>
                      <a:r>
                        <a:rPr lang="en-US" baseline="0" dirty="0" smtClean="0"/>
                        <a:t> !A = 1</a:t>
                      </a:r>
                    </a:p>
                    <a:p>
                      <a:r>
                        <a:rPr lang="en-US" sz="1400" baseline="0" dirty="0" smtClean="0"/>
                        <a:t>(related domination: A + 1 =1)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4) Double Negative</a:t>
                      </a:r>
                    </a:p>
                    <a:p>
                      <a:r>
                        <a:rPr lang="en-US" dirty="0" smtClean="0"/>
                        <a:t>    </a:t>
                      </a:r>
                      <a:r>
                        <a:rPr lang="en-US" sz="1200" dirty="0" smtClean="0"/>
                        <a:t>(!(!a)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!</a:t>
                      </a:r>
                      <a:r>
                        <a:rPr lang="en-US" sz="1800" baseline="0" dirty="0" smtClean="0"/>
                        <a:t>(!A) = A</a:t>
                      </a:r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33600" y="5029200"/>
            <a:ext cx="4724400" cy="17543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Examples</a:t>
            </a:r>
          </a:p>
          <a:p>
            <a:endParaRPr lang="en-US" dirty="0" smtClean="0"/>
          </a:p>
          <a:p>
            <a:r>
              <a:rPr lang="en-US" dirty="0" smtClean="0"/>
              <a:t>!!!!X == X</a:t>
            </a:r>
          </a:p>
          <a:p>
            <a:r>
              <a:rPr lang="en-US" dirty="0" smtClean="0"/>
              <a:t>(Y * X* !Y) = (Y * !Y * X) = (0 * X ) == 0</a:t>
            </a:r>
          </a:p>
          <a:p>
            <a:r>
              <a:rPr lang="en-US" dirty="0" smtClean="0"/>
              <a:t>(Q + R + !Q) ==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244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Commutation</a:t>
            </a:r>
            <a:br>
              <a:rPr lang="en-US" dirty="0" smtClean="0"/>
            </a:br>
            <a:r>
              <a:rPr lang="en-US" sz="2000" dirty="0" smtClean="0"/>
              <a:t>(Laws of Commuting Variables with </a:t>
            </a:r>
            <a:r>
              <a:rPr lang="en-US" sz="2000" dirty="0"/>
              <a:t>L</a:t>
            </a:r>
            <a:r>
              <a:rPr lang="en-US" sz="2000" dirty="0" smtClean="0"/>
              <a:t>ike </a:t>
            </a:r>
            <a:r>
              <a:rPr lang="en-US" sz="2000" dirty="0"/>
              <a:t>S</a:t>
            </a:r>
            <a:r>
              <a:rPr lang="en-US" sz="2000" dirty="0" smtClean="0"/>
              <a:t>igns)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154576"/>
              </p:ext>
            </p:extLst>
          </p:nvPr>
        </p:nvGraphicFramePr>
        <p:xfrm>
          <a:off x="1371600" y="2336801"/>
          <a:ext cx="60960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Commuting with AND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* 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Commuting with 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52600" y="4419600"/>
            <a:ext cx="51816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Q1:</a:t>
            </a:r>
            <a:r>
              <a:rPr lang="en-US" dirty="0" smtClean="0"/>
              <a:t> Consider: </a:t>
            </a:r>
            <a:r>
              <a:rPr lang="en-US" dirty="0"/>
              <a:t>A* B* C = A*C*B = C*B*A = …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Legal</a:t>
            </a:r>
            <a:r>
              <a:rPr lang="en-US" dirty="0"/>
              <a:t>? 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Q2:</a:t>
            </a:r>
            <a:r>
              <a:rPr lang="en-US" dirty="0" smtClean="0"/>
              <a:t> A*B+C = A*C+B = C*B+A = …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Legal?</a:t>
            </a:r>
          </a:p>
          <a:p>
            <a:pPr algn="ctr"/>
            <a:r>
              <a:rPr lang="en-US" dirty="0" smtClean="0"/>
              <a:t>(Summary: Watch your Signs)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3258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Associativity</a:t>
            </a:r>
            <a:br>
              <a:rPr lang="en-US" dirty="0" smtClean="0"/>
            </a:br>
            <a:r>
              <a:rPr lang="en-US" sz="2000" dirty="0" smtClean="0"/>
              <a:t>(Laws of Associating Parenthesis)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91487"/>
              </p:ext>
            </p:extLst>
          </p:nvPr>
        </p:nvGraphicFramePr>
        <p:xfrm>
          <a:off x="1371600" y="2336801"/>
          <a:ext cx="609600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Associativity with AND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 = (A * B)</a:t>
                      </a:r>
                      <a:r>
                        <a:rPr lang="en-US" baseline="0" dirty="0" smtClean="0"/>
                        <a:t> * C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Associativity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with 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(A + B) + C = A</a:t>
                      </a:r>
                      <a:r>
                        <a:rPr lang="en-US" baseline="0" dirty="0" smtClean="0"/>
                        <a:t> + (B + C)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52600" y="4495800"/>
            <a:ext cx="50292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Q1</a:t>
            </a:r>
            <a:r>
              <a:rPr lang="en-US" dirty="0" smtClean="0"/>
              <a:t>: Consider: A * (B + C) = (A * B) + C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Legal?  </a:t>
            </a:r>
            <a:endParaRPr lang="en-US" dirty="0" smtClean="0"/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Try distributing on both sides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We need a distributive law!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49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Distribution</a:t>
            </a:r>
            <a:br>
              <a:rPr lang="en-US" dirty="0" smtClean="0"/>
            </a:br>
            <a:r>
              <a:rPr lang="en-US" sz="2000" dirty="0" smtClean="0"/>
              <a:t>(Laws of “Multiplying Out”)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03215"/>
              </p:ext>
            </p:extLst>
          </p:nvPr>
        </p:nvGraphicFramePr>
        <p:xfrm>
          <a:off x="1371600" y="2387796"/>
          <a:ext cx="6172200" cy="12465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86100"/>
                <a:gridCol w="3086100"/>
              </a:tblGrid>
              <a:tr h="326707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326707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Distribution with AND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+ C) = (A * B)</a:t>
                      </a:r>
                      <a:r>
                        <a:rPr lang="en-US" baseline="0" dirty="0" smtClean="0"/>
                        <a:t> + (A * C)</a:t>
                      </a:r>
                      <a:endParaRPr lang="en-US" sz="1400" dirty="0"/>
                    </a:p>
                  </a:txBody>
                  <a:tcPr/>
                </a:tc>
              </a:tr>
              <a:tr h="51498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Distribution with OR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 + (B * C) = (A + B)</a:t>
                      </a:r>
                      <a:r>
                        <a:rPr lang="en-US" sz="1800" baseline="0" dirty="0" smtClean="0"/>
                        <a:t> * (A + C)</a:t>
                      </a:r>
                      <a:endParaRPr lang="en-US" sz="18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52600" y="4495800"/>
            <a:ext cx="62484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Consider:  (A * B) + C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What do you get if you distribute out?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Can you move the first term (X = (A*B) )around?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Try commuting the </a:t>
            </a:r>
            <a:r>
              <a:rPr lang="en-US" dirty="0"/>
              <a:t>B</a:t>
            </a:r>
            <a:r>
              <a:rPr lang="en-US" dirty="0" smtClean="0"/>
              <a:t>oolean variables X and C</a:t>
            </a:r>
          </a:p>
          <a:p>
            <a:pPr marL="1657350" lvl="3" indent="-285750">
              <a:buFont typeface="Arial"/>
              <a:buChar char="•"/>
            </a:pPr>
            <a:r>
              <a:rPr lang="en-US" dirty="0" smtClean="0"/>
              <a:t>Then distribute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85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Tautology</a:t>
            </a:r>
            <a:br>
              <a:rPr lang="en-US" dirty="0" smtClean="0"/>
            </a:br>
            <a:r>
              <a:rPr lang="en-US" sz="2000" dirty="0" smtClean="0"/>
              <a:t>(Laws of Growing, Shrinking, &amp; Obvious)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522"/>
              </p:ext>
            </p:extLst>
          </p:nvPr>
        </p:nvGraphicFramePr>
        <p:xfrm>
          <a:off x="1371600" y="2336801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smtClean="0"/>
                        <a:t>1) Anything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AND itself is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  //grow or shrink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2) Anything OR itself is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</a:t>
                      </a:r>
                      <a:r>
                        <a:rPr lang="en-US" baseline="0" dirty="0" smtClean="0"/>
                        <a:t> A  //either direction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3) A AND 1</a:t>
                      </a:r>
                      <a:r>
                        <a:rPr lang="en-US" baseline="0" dirty="0" smtClean="0"/>
                        <a:t> is  simply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1 = 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4) A</a:t>
                      </a:r>
                      <a:r>
                        <a:rPr lang="en-US" baseline="0" dirty="0" smtClean="0"/>
                        <a:t> AND 0 is simply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* 0 = 0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5) A OR 1 is simply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+ 1 = 1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6) A OR 0 is simply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+ 0 = A</a:t>
                      </a:r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00200" y="5257800"/>
            <a:ext cx="60198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More Examples</a:t>
            </a:r>
          </a:p>
          <a:p>
            <a:r>
              <a:rPr lang="en-US" dirty="0" smtClean="0"/>
              <a:t>(A*A*A*A)+A = (A) + A == A</a:t>
            </a:r>
          </a:p>
          <a:p>
            <a:r>
              <a:rPr lang="en-US" dirty="0" smtClean="0"/>
              <a:t>A * (1 + 0) = A</a:t>
            </a:r>
          </a:p>
          <a:p>
            <a:r>
              <a:rPr lang="en-US" dirty="0" smtClean="0"/>
              <a:t>(A*!A) + A = A</a:t>
            </a:r>
          </a:p>
          <a:p>
            <a:r>
              <a:rPr lang="en-US" dirty="0" smtClean="0"/>
              <a:t>A = A*1 = A*(B + !B) = AB + A!B //growing a term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8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Tautology</a:t>
            </a:r>
            <a:br>
              <a:rPr lang="en-US" dirty="0" smtClean="0"/>
            </a:br>
            <a:r>
              <a:rPr lang="en-US" sz="2000" dirty="0" smtClean="0"/>
              <a:t>(Laws of Obvious)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894592"/>
              </p:ext>
            </p:extLst>
          </p:nvPr>
        </p:nvGraphicFramePr>
        <p:xfrm>
          <a:off x="1371600" y="2336801"/>
          <a:ext cx="6096000" cy="264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4165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smtClean="0"/>
                        <a:t>1) Anything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AND itself is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2) Anything OR itself is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</a:t>
                      </a:r>
                      <a:r>
                        <a:rPr lang="en-US" baseline="0" dirty="0" smtClean="0"/>
                        <a:t> 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3) A AND 1</a:t>
                      </a:r>
                      <a:r>
                        <a:rPr lang="en-US" baseline="0" dirty="0" smtClean="0"/>
                        <a:t> is  simply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1 = A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4) A</a:t>
                      </a:r>
                      <a:r>
                        <a:rPr lang="en-US" baseline="0" dirty="0" smtClean="0"/>
                        <a:t> AND 0 is simply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* 0 = 0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5) A OR 1 is simply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+ 1 = 1</a:t>
                      </a:r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6) A OR 0 is simply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+ 0 = A</a:t>
                      </a:r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4267200" y="2667000"/>
            <a:ext cx="4876800" cy="838200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AND and OR act the same here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267200" y="3505200"/>
            <a:ext cx="4876800" cy="1524000"/>
          </a:xfrm>
          <a:prstGeom prst="roundRect">
            <a:avLst/>
          </a:prstGeom>
          <a:blipFill dpi="0" rotWithShape="1">
            <a:blip r:embed="rId4">
              <a:alphaModFix amt="26000"/>
              <a:duotone>
                <a:schemeClr val="accent4">
                  <a:shade val="30000"/>
                </a:schemeClr>
                <a:schemeClr val="accent4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FF"/>
                </a:solidFill>
              </a:rPr>
              <a:t>AND and OR act differently here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5296409"/>
            <a:ext cx="8305800" cy="6937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“AND </a:t>
            </a:r>
            <a:r>
              <a:rPr lang="en-US" dirty="0"/>
              <a:t>and OR have a </a:t>
            </a:r>
            <a:r>
              <a:rPr lang="en-US" dirty="0" smtClean="0"/>
              <a:t>lovely, interrelated relationship.</a:t>
            </a:r>
            <a:endParaRPr lang="en-US" dirty="0"/>
          </a:p>
          <a:p>
            <a:r>
              <a:rPr lang="en-US" dirty="0"/>
              <a:t>AND can ground you to </a:t>
            </a:r>
            <a:r>
              <a:rPr lang="en-US" dirty="0" smtClean="0"/>
              <a:t>earth/0 </a:t>
            </a:r>
            <a:r>
              <a:rPr lang="en-US" dirty="0"/>
              <a:t>while OR can lift you up to the </a:t>
            </a:r>
            <a:r>
              <a:rPr lang="en-US" dirty="0" smtClean="0"/>
              <a:t>universe” </a:t>
            </a:r>
            <a:r>
              <a:rPr lang="mr-IN" dirty="0" smtClean="0"/>
              <a:t>–</a:t>
            </a:r>
            <a:r>
              <a:rPr lang="en-US" dirty="0" smtClean="0"/>
              <a:t> Poetic Nash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6088088"/>
            <a:ext cx="8305800" cy="6937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“Given a set, what might you do with it?  Determine if they’re all the same?  Determine if just one is different? This is what AND-OR provides.” </a:t>
            </a:r>
            <a:r>
              <a:rPr lang="mr-IN" dirty="0" smtClean="0"/>
              <a:t>–</a:t>
            </a:r>
            <a:r>
              <a:rPr lang="en-US" dirty="0" smtClean="0"/>
              <a:t> Math Nash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377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313613" cy="868362"/>
          </a:xfrm>
        </p:spPr>
        <p:txBody>
          <a:bodyPr/>
          <a:lstStyle/>
          <a:p>
            <a:r>
              <a:rPr lang="en-US" dirty="0" smtClean="0"/>
              <a:t>Laws of Absorption</a:t>
            </a:r>
            <a:br>
              <a:rPr lang="en-US" dirty="0" smtClean="0"/>
            </a:br>
            <a:r>
              <a:rPr lang="en-US" sz="2000" dirty="0" smtClean="0"/>
              <a:t>(Laws of “Least Obvious”)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2380"/>
              </p:ext>
            </p:extLst>
          </p:nvPr>
        </p:nvGraphicFramePr>
        <p:xfrm>
          <a:off x="228600" y="1554480"/>
          <a:ext cx="8534400" cy="2473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44800"/>
                <a:gridCol w="2844800"/>
                <a:gridCol w="2844800"/>
              </a:tblGrid>
              <a:tr h="46736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English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81788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Absorption with  AND Distribution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Plug in 1 for A, notice</a:t>
                      </a:r>
                      <a:r>
                        <a:rPr lang="en-US" baseline="0" dirty="0" smtClean="0"/>
                        <a:t> the output is 1.  Plug in 0 for A, notice the output is 0.  The output is tied to the input A.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(A + B) = A</a:t>
                      </a:r>
                    </a:p>
                    <a:p>
                      <a:r>
                        <a:rPr lang="en-US" sz="1400" b="1" dirty="0" smtClean="0">
                          <a:solidFill>
                            <a:srgbClr val="FF0000"/>
                          </a:solidFill>
                        </a:rPr>
                        <a:t>//lets prove this and we’ll prove</a:t>
                      </a:r>
                    </a:p>
                    <a:p>
                      <a:r>
                        <a:rPr lang="en-US" sz="1400" b="1" dirty="0" smtClean="0">
                          <a:solidFill>
                            <a:srgbClr val="FF0000"/>
                          </a:solidFill>
                        </a:rPr>
                        <a:t>//below at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</a:rPr>
                        <a:t> the same time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1788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Absorption </a:t>
                      </a:r>
                      <a:r>
                        <a:rPr lang="en-US" sz="1800" dirty="0" smtClean="0"/>
                        <a:t>with OR Distribution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Same description as above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 + (A</a:t>
                      </a:r>
                      <a:r>
                        <a:rPr lang="en-US" sz="1800" baseline="0" dirty="0" smtClean="0"/>
                        <a:t> * B) = A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00200" y="4876800"/>
            <a:ext cx="48768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Q1:</a:t>
            </a:r>
            <a:r>
              <a:rPr lang="en-US" dirty="0" smtClean="0"/>
              <a:t> Consider:  A * ( A + B 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What does this distribution give you?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Q2:</a:t>
            </a:r>
            <a:r>
              <a:rPr lang="en-US" dirty="0" smtClean="0"/>
              <a:t> Consider: C+A * C+B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Reduce it?  Sure: C + (A * B)</a:t>
            </a:r>
          </a:p>
        </p:txBody>
      </p:sp>
    </p:spTree>
    <p:extLst>
      <p:ext uri="{BB962C8B-B14F-4D97-AF65-F5344CB8AC3E}">
        <p14:creationId xmlns:p14="http://schemas.microsoft.com/office/powerpoint/2010/main" val="3767970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001000" cy="868362"/>
          </a:xfrm>
        </p:spPr>
        <p:txBody>
          <a:bodyPr/>
          <a:lstStyle/>
          <a:p>
            <a:r>
              <a:rPr lang="en-US" dirty="0" smtClean="0"/>
              <a:t>Laws of </a:t>
            </a:r>
            <a:r>
              <a:rPr lang="en-US" dirty="0" err="1" smtClean="0"/>
              <a:t>DeMorgan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(De Morgan’s Theorems, or “Laws” of “Math” For Men and Women)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308840"/>
              </p:ext>
            </p:extLst>
          </p:nvPr>
        </p:nvGraphicFramePr>
        <p:xfrm>
          <a:off x="228600" y="1524000"/>
          <a:ext cx="7696200" cy="21996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8100"/>
                <a:gridCol w="3848100"/>
              </a:tblGrid>
              <a:tr h="46736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</a:tr>
              <a:tr h="81788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Compound Negation with AND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(A * B) = A + B</a:t>
                      </a:r>
                      <a:endParaRPr lang="en-US" sz="1400" dirty="0"/>
                    </a:p>
                  </a:txBody>
                  <a:tcPr/>
                </a:tc>
              </a:tr>
              <a:tr h="81788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Compound Negation with OR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(A + B) = A * B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52600" y="4495800"/>
            <a:ext cx="62484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			Examples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Consider:  A * ( A + B 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Simplify it and prove this is equal to A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Show all work and cite all theorems using any name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165600" y="232410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165600" y="312420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008373" y="2349500"/>
            <a:ext cx="160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376673" y="2349500"/>
            <a:ext cx="160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041900" y="3162300"/>
            <a:ext cx="160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10200" y="3162300"/>
            <a:ext cx="160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124200" y="4800600"/>
            <a:ext cx="1143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867400" y="5130800"/>
            <a:ext cx="160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661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304800"/>
            <a:ext cx="9639300" cy="868362"/>
          </a:xfrm>
        </p:spPr>
        <p:txBody>
          <a:bodyPr/>
          <a:lstStyle/>
          <a:p>
            <a:r>
              <a:rPr lang="en-US" dirty="0" smtClean="0"/>
              <a:t>“How To” Work With Binary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5138"/>
            <a:ext cx="8382000" cy="436086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i="1" dirty="0" smtClean="0">
                <a:solidFill>
                  <a:srgbClr val="3366FF"/>
                </a:solidFill>
              </a:rPr>
              <a:t>Have the laws </a:t>
            </a:r>
            <a:r>
              <a:rPr lang="en-US" dirty="0" smtClean="0"/>
              <a:t>by your side in a table (in these slides, text, etc.)</a:t>
            </a:r>
          </a:p>
          <a:p>
            <a:pPr>
              <a:buFont typeface="+mj-lt"/>
              <a:buAutoNum type="arabicPeriod"/>
            </a:pPr>
            <a:r>
              <a:rPr lang="en-US" b="1" i="1" dirty="0" smtClean="0">
                <a:solidFill>
                  <a:srgbClr val="3366FF"/>
                </a:solidFill>
              </a:rPr>
              <a:t>Practice</a:t>
            </a:r>
            <a:r>
              <a:rPr lang="en-US" b="1" dirty="0" smtClean="0">
                <a:solidFill>
                  <a:srgbClr val="3366FF"/>
                </a:solidFill>
              </a:rPr>
              <a:t> </a:t>
            </a:r>
            <a:r>
              <a:rPr lang="en-US" b="1" i="1" dirty="0" smtClean="0">
                <a:solidFill>
                  <a:srgbClr val="3366FF"/>
                </a:solidFill>
              </a:rPr>
              <a:t>applications</a:t>
            </a:r>
            <a:r>
              <a:rPr lang="en-US" b="1" dirty="0" smtClean="0">
                <a:solidFill>
                  <a:srgbClr val="3366FF"/>
                </a:solidFill>
              </a:rPr>
              <a:t> </a:t>
            </a:r>
            <a:r>
              <a:rPr lang="en-US" dirty="0" smtClean="0"/>
              <a:t>of a law to a </a:t>
            </a:r>
            <a:r>
              <a:rPr lang="en-US" dirty="0" err="1" smtClean="0"/>
              <a:t>boolean</a:t>
            </a:r>
            <a:r>
              <a:rPr lang="en-US" dirty="0" smtClean="0"/>
              <a:t> expression</a:t>
            </a:r>
          </a:p>
          <a:p>
            <a:pPr lvl="1">
              <a:buFont typeface="Arial"/>
              <a:buChar char="•"/>
            </a:pPr>
            <a:r>
              <a:rPr lang="en-US" dirty="0"/>
              <a:t>I</a:t>
            </a:r>
            <a:r>
              <a:rPr lang="en-US" dirty="0" smtClean="0"/>
              <a:t>f things don’t improve, try another law; in general, laws:</a:t>
            </a:r>
          </a:p>
          <a:p>
            <a:pPr marL="1371600" lvl="2" indent="-457200">
              <a:buFont typeface="+mj-lt"/>
              <a:buAutoNum type="alphaUcPeriod"/>
            </a:pPr>
            <a:r>
              <a:rPr lang="en-US" b="1" dirty="0" smtClean="0">
                <a:solidFill>
                  <a:srgbClr val="008000"/>
                </a:solidFill>
              </a:rPr>
              <a:t>Shrink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/>
              <a:t>a more complex expression into a simpler version</a:t>
            </a:r>
          </a:p>
          <a:p>
            <a:pPr lvl="3">
              <a:buFont typeface="Arial"/>
              <a:buChar char="•"/>
            </a:pPr>
            <a:r>
              <a:rPr lang="en-US" dirty="0" smtClean="0"/>
              <a:t>Reduction trick: Consider more complex expressions as Boolean variables themselves!  </a:t>
            </a:r>
          </a:p>
          <a:p>
            <a:pPr lvl="4">
              <a:buFont typeface="Arial"/>
              <a:buChar char="•"/>
            </a:pPr>
            <a:r>
              <a:rPr lang="en-US" dirty="0" smtClean="0"/>
              <a:t>Example: XY + XY is just A + A which reduces to A which is XY</a:t>
            </a:r>
          </a:p>
          <a:p>
            <a:pPr marL="1371600" lvl="2" indent="-457200">
              <a:buFont typeface="+mj-lt"/>
              <a:buAutoNum type="alphaUcPeriod"/>
            </a:pPr>
            <a:r>
              <a:rPr lang="en-US" b="1" dirty="0" smtClean="0">
                <a:solidFill>
                  <a:srgbClr val="008000"/>
                </a:solidFill>
              </a:rPr>
              <a:t>Grow </a:t>
            </a:r>
            <a:r>
              <a:rPr lang="en-US" dirty="0" smtClean="0"/>
              <a:t>an expression to introduce variables in order to apply a different law and reduce further</a:t>
            </a:r>
          </a:p>
          <a:p>
            <a:pPr lvl="3">
              <a:buFont typeface="Arial"/>
              <a:buChar char="•"/>
            </a:pPr>
            <a:r>
              <a:rPr lang="en-US" dirty="0" smtClean="0"/>
              <a:t>Expansion trick: Introduce new terms based on the inverse law</a:t>
            </a:r>
          </a:p>
          <a:p>
            <a:pPr lvl="4">
              <a:buFont typeface="Arial"/>
              <a:buChar char="•"/>
            </a:pPr>
            <a:r>
              <a:rPr lang="en-US" dirty="0" smtClean="0"/>
              <a:t>Example:  X == X * 1 == X * (A+ A) == XA +XA</a:t>
            </a:r>
          </a:p>
          <a:p>
            <a:pPr>
              <a:buFont typeface="Arial"/>
              <a:buChar char="•"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>
              <a:buFont typeface="+mj-lt"/>
              <a:buAutoNum type="arabicPeriod"/>
            </a:pPr>
            <a:endParaRPr lang="en-US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461486" y="5689600"/>
            <a:ext cx="156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629278" y="5689600"/>
            <a:ext cx="142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381991" y="3241649"/>
            <a:ext cx="1246909" cy="377851"/>
          </a:xfrm>
          <a:prstGeom prst="roundRect">
            <a:avLst/>
          </a:prstGeom>
          <a:blipFill dpi="0" rotWithShape="1">
            <a:blip r:embed="rId3">
              <a:alphaModFix amt="16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447800" y="4575149"/>
            <a:ext cx="1030504" cy="377851"/>
          </a:xfrm>
          <a:prstGeom prst="roundRect">
            <a:avLst/>
          </a:prstGeom>
          <a:blipFill dpi="0" rotWithShape="1">
            <a:blip r:embed="rId3">
              <a:alphaModFix amt="16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590800" y="6183868"/>
            <a:ext cx="3886200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ProTip: Look for Duplicates and Toggles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08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Grow</a:t>
            </a:r>
            <a:r>
              <a:rPr lang="en-US" dirty="0" smtClean="0"/>
              <a:t>? Make </a:t>
            </a:r>
            <a:r>
              <a:rPr lang="en-US" dirty="0"/>
              <a:t>T</a:t>
            </a:r>
            <a:r>
              <a:rPr lang="en-US" dirty="0" smtClean="0"/>
              <a:t>hings Bigger?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35138"/>
            <a:ext cx="8534400" cy="4056062"/>
          </a:xfrm>
        </p:spPr>
        <p:txBody>
          <a:bodyPr/>
          <a:lstStyle/>
          <a:p>
            <a:r>
              <a:rPr lang="en-US" dirty="0" smtClean="0"/>
              <a:t>Yes, we grow locally (temporarily) to reduce globally (eventually).</a:t>
            </a:r>
          </a:p>
          <a:p>
            <a:pPr lvl="1"/>
            <a:r>
              <a:rPr lang="en-US" dirty="0" smtClean="0"/>
              <a:t>3 </a:t>
            </a:r>
            <a:r>
              <a:rPr lang="en-US" dirty="0"/>
              <a:t>steps forward and 2 steps back is still forward </a:t>
            </a:r>
            <a:r>
              <a:rPr lang="en-US" dirty="0" smtClean="0"/>
              <a:t>progress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ometimes </a:t>
            </a:r>
            <a:r>
              <a:rPr lang="en-US" dirty="0"/>
              <a:t>you must get up to get down.</a:t>
            </a:r>
          </a:p>
          <a:p>
            <a:r>
              <a:rPr lang="en-US" dirty="0"/>
              <a:t>Knowing when to apply which law or trick is not so straightforward and requires experience &amp; </a:t>
            </a:r>
            <a:r>
              <a:rPr lang="en-US" dirty="0" smtClean="0"/>
              <a:t>practice</a:t>
            </a:r>
          </a:p>
          <a:p>
            <a:r>
              <a:rPr lang="en-US" dirty="0" smtClean="0"/>
              <a:t>So lets </a:t>
            </a:r>
            <a:r>
              <a:rPr lang="en-US" b="1" dirty="0" smtClean="0">
                <a:solidFill>
                  <a:srgbClr val="0000FF"/>
                </a:solidFill>
              </a:rPr>
              <a:t>practice our brains out</a:t>
            </a:r>
            <a:r>
              <a:rPr lang="en-US" dirty="0" smtClean="0"/>
              <a:t>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Exercise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F(X,Y) = XY + XY</a:t>
            </a:r>
          </a:p>
          <a:p>
            <a:pPr lvl="1"/>
            <a:r>
              <a:rPr lang="en-US" dirty="0" smtClean="0"/>
              <a:t>Show this is just XY by applying laws </a:t>
            </a:r>
          </a:p>
          <a:p>
            <a:pPr lvl="2"/>
            <a:r>
              <a:rPr lang="en-US" dirty="0" smtClean="0"/>
              <a:t>Show each step and cite the law you use</a:t>
            </a:r>
          </a:p>
          <a:p>
            <a:endParaRPr lang="en-US" dirty="0"/>
          </a:p>
          <a:p>
            <a:r>
              <a:rPr lang="en-US" dirty="0" smtClean="0"/>
              <a:t>Can you prove this using a different set of steps?</a:t>
            </a:r>
          </a:p>
          <a:p>
            <a:pPr lvl="1"/>
            <a:r>
              <a:rPr lang="en-US" dirty="0" smtClean="0"/>
              <a:t>How many different ways?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055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934128"/>
              </p:ext>
            </p:extLst>
          </p:nvPr>
        </p:nvGraphicFramePr>
        <p:xfrm>
          <a:off x="761999" y="1905000"/>
          <a:ext cx="75438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810"/>
                <a:gridCol w="2903072"/>
                <a:gridCol w="3115919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Law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Identity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More Identity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Inverse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Domination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Commutative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Distributive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Associativity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DeMorgan’s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Combinations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914400" y="152400"/>
            <a:ext cx="7313613" cy="868362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  <a:ea typeface="MS PGothic" charset="0"/>
              </a:rPr>
              <a:t>#2:  F(</a:t>
            </a:r>
            <a:r>
              <a:rPr lang="en-US" dirty="0">
                <a:latin typeface="Calibri" charset="0"/>
                <a:ea typeface="MS PGothic" charset="0"/>
              </a:rPr>
              <a:t>X</a:t>
            </a:r>
            <a:r>
              <a:rPr lang="en-US" dirty="0" smtClean="0">
                <a:latin typeface="Calibri" charset="0"/>
                <a:ea typeface="MS PGothic" charset="0"/>
              </a:rPr>
              <a:t>,</a:t>
            </a:r>
            <a:r>
              <a:rPr lang="en-US" dirty="0">
                <a:latin typeface="Calibri" charset="0"/>
                <a:ea typeface="MS PGothic" charset="0"/>
              </a:rPr>
              <a:t>Y</a:t>
            </a:r>
            <a:r>
              <a:rPr lang="en-US" dirty="0" smtClean="0">
                <a:latin typeface="Calibri" charset="0"/>
                <a:ea typeface="MS PGothic" charset="0"/>
              </a:rPr>
              <a:t>) = XY + !XY = ? 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4" name="TPResponseCounter" hidden="1"/>
          <p:cNvSpPr/>
          <p:nvPr>
            <p:custDataLst>
              <p:tags r:id="rId2"/>
            </p:custDataLst>
          </p:nvPr>
        </p:nvSpPr>
        <p:spPr>
          <a:xfrm>
            <a:off x="127000" y="5715000"/>
            <a:ext cx="2159000" cy="1016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00000"/>
              </a:solidFill>
            </a:endParaRPr>
          </a:p>
        </p:txBody>
      </p:sp>
      <p:pic>
        <p:nvPicPr>
          <p:cNvPr id="5" name="TPGrid" descr="pp_response.png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5029200"/>
            <a:ext cx="927100" cy="1168400"/>
          </a:xfrm>
          <a:prstGeom prst="rect">
            <a:avLst/>
          </a:prstGeom>
        </p:spPr>
      </p:pic>
      <p:grpSp>
        <p:nvGrpSpPr>
          <p:cNvPr id="9" name="TPCountdown" hidden="1"/>
          <p:cNvGrpSpPr/>
          <p:nvPr>
            <p:custDataLst>
              <p:tags r:id="rId4"/>
            </p:custDataLst>
          </p:nvPr>
        </p:nvGrpSpPr>
        <p:grpSpPr>
          <a:xfrm>
            <a:off x="3048000" y="2590800"/>
            <a:ext cx="1270000" cy="635000"/>
            <a:chOff x="7683500" y="5842000"/>
            <a:chExt cx="1270000" cy="635000"/>
          </a:xfrm>
        </p:grpSpPr>
        <p:sp>
          <p:nvSpPr>
            <p:cNvPr id="6" name="CountdownShape" hidden="1"/>
            <p:cNvSpPr/>
            <p:nvPr/>
          </p:nvSpPr>
          <p:spPr>
            <a:xfrm>
              <a:off x="7683500" y="5842000"/>
              <a:ext cx="1270000" cy="635000"/>
            </a:xfrm>
            <a:prstGeom prst="cube">
              <a:avLst/>
            </a:prstGeom>
            <a:solidFill>
              <a:srgbClr val="3333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untdownText" hidden="1"/>
            <p:cNvSpPr txBox="1"/>
            <p:nvPr/>
          </p:nvSpPr>
          <p:spPr>
            <a:xfrm>
              <a:off x="7785100" y="6045200"/>
              <a:ext cx="889000" cy="3810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vert="horz" rtlCol="0" anchor="ctr" anchorCtr="1">
              <a:noAutofit/>
            </a:bodyPr>
            <a:lstStyle/>
            <a:p>
              <a:pPr algn="r"/>
              <a:r>
                <a:rPr lang="en-US" b="1" smtClean="0">
                  <a:solidFill>
                    <a:srgbClr val="FF0000"/>
                  </a:solidFill>
                  <a:latin typeface="Tahoma"/>
                </a:rPr>
                <a:t>:294</a:t>
              </a:r>
              <a:endParaRPr lang="en-US" b="1">
                <a:solidFill>
                  <a:srgbClr val="FF0000"/>
                </a:solidFill>
                <a:latin typeface="Tahoma"/>
              </a:endParaRPr>
            </a:p>
          </p:txBody>
        </p:sp>
        <p:cxnSp>
          <p:nvCxnSpPr>
            <p:cNvPr id="8" name="CountdownLine" hidden="1"/>
            <p:cNvCxnSpPr/>
            <p:nvPr/>
          </p:nvCxnSpPr>
          <p:spPr>
            <a:xfrm>
              <a:off x="8001000" y="5943600"/>
              <a:ext cx="508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7086600" y="304800"/>
            <a:ext cx="457200" cy="5847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 smtClean="0"/>
              <a:t>Y</a:t>
            </a:r>
            <a:endParaRPr lang="en-US" sz="3200" dirty="0"/>
          </a:p>
        </p:txBody>
      </p:sp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Exercise #3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xyz + xyz + </a:t>
            </a:r>
            <a:r>
              <a:rPr lang="en-US" dirty="0" err="1" smtClean="0"/>
              <a:t>xz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2572995" y="1905000"/>
            <a:ext cx="142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241598" y="1905000"/>
            <a:ext cx="142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495598" y="1905000"/>
            <a:ext cx="142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6029273"/>
              </p:ext>
            </p:extLst>
          </p:nvPr>
        </p:nvGraphicFramePr>
        <p:xfrm>
          <a:off x="761999" y="2590800"/>
          <a:ext cx="75438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810"/>
                <a:gridCol w="2903072"/>
                <a:gridCol w="3115919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Law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Identity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More Identity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Inverse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Domination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Commutative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Distributive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Associativity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DeMorgan’s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Combinations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653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1013954"/>
              </p:ext>
            </p:extLst>
          </p:nvPr>
        </p:nvGraphicFramePr>
        <p:xfrm>
          <a:off x="3352799" y="1569723"/>
          <a:ext cx="57150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452"/>
                <a:gridCol w="2958549"/>
              </a:tblGrid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</a:t>
                      </a:r>
                      <a:endParaRPr lang="en-US" dirty="0"/>
                    </a:p>
                  </a:txBody>
                  <a:tcPr/>
                </a:tc>
              </a:tr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 </a:t>
                      </a:r>
                      <a:r>
                        <a:rPr lang="en-US" dirty="0" smtClean="0">
                          <a:solidFill>
                            <a:srgbClr val="F13535"/>
                          </a:solidFill>
                        </a:rPr>
                        <a:t>//shrinks </a:t>
                      </a:r>
                      <a:r>
                        <a:rPr lang="en-US" baseline="0" dirty="0" smtClean="0">
                          <a:solidFill>
                            <a:srgbClr val="F13535"/>
                          </a:solidFill>
                        </a:rPr>
                        <a:t>terms</a:t>
                      </a:r>
                      <a:endParaRPr lang="en-US" dirty="0">
                        <a:solidFill>
                          <a:srgbClr val="F13535"/>
                        </a:solidFill>
                      </a:endParaRPr>
                    </a:p>
                  </a:txBody>
                  <a:tcPr/>
                </a:tc>
              </a:tr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9795"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45837"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45837"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45837"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914400" y="228600"/>
            <a:ext cx="7313613" cy="868362"/>
          </a:xfrm>
        </p:spPr>
        <p:txBody>
          <a:bodyPr/>
          <a:lstStyle/>
          <a:p>
            <a:r>
              <a:rPr lang="en-US" dirty="0" smtClean="0"/>
              <a:t>Answer for #3: </a:t>
            </a:r>
            <a:br>
              <a:rPr lang="en-US" dirty="0" smtClean="0"/>
            </a:br>
            <a:r>
              <a:rPr lang="en-US" dirty="0" smtClean="0"/>
              <a:t>F(</a:t>
            </a:r>
            <a:r>
              <a:rPr lang="en-US" dirty="0" err="1"/>
              <a:t>x,y,z</a:t>
            </a:r>
            <a:r>
              <a:rPr lang="en-US" dirty="0"/>
              <a:t>) = !xyz + !</a:t>
            </a:r>
            <a:r>
              <a:rPr lang="en-US" dirty="0" err="1"/>
              <a:t>xy!z</a:t>
            </a:r>
            <a:r>
              <a:rPr lang="en-US" dirty="0"/>
              <a:t> + </a:t>
            </a:r>
            <a:r>
              <a:rPr lang="en-US" dirty="0" err="1" smtClean="0"/>
              <a:t>xz</a:t>
            </a:r>
            <a:r>
              <a:rPr lang="en-US" dirty="0" smtClean="0"/>
              <a:t>  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!</a:t>
            </a:r>
            <a:r>
              <a:rPr lang="en-US" dirty="0" err="1">
                <a:latin typeface="Calibri" charset="0"/>
                <a:ea typeface="MS PGothic" charset="0"/>
              </a:rPr>
              <a:t>xy</a:t>
            </a:r>
            <a:endParaRPr lang="en-US" dirty="0">
              <a:latin typeface="Calibri" charset="0"/>
              <a:ea typeface="MS PGothic" charset="0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True</a:t>
            </a:r>
          </a:p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!x(y (z +!z)) + </a:t>
            </a:r>
            <a:r>
              <a:rPr lang="en-US" dirty="0" err="1">
                <a:latin typeface="Calibri" charset="0"/>
                <a:ea typeface="MS PGothic" charset="0"/>
              </a:rPr>
              <a:t>xz</a:t>
            </a:r>
            <a:endParaRPr lang="en-US" dirty="0">
              <a:latin typeface="Calibri" charset="0"/>
              <a:ea typeface="MS PGothic" charset="0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!</a:t>
            </a:r>
            <a:r>
              <a:rPr lang="en-US" dirty="0" err="1">
                <a:latin typeface="Calibri" charset="0"/>
                <a:ea typeface="MS PGothic" charset="0"/>
              </a:rPr>
              <a:t>xy</a:t>
            </a:r>
            <a:r>
              <a:rPr lang="en-US" dirty="0">
                <a:latin typeface="Calibri" charset="0"/>
                <a:ea typeface="MS PGothic" charset="0"/>
              </a:rPr>
              <a:t> + </a:t>
            </a:r>
            <a:r>
              <a:rPr lang="en-US" dirty="0" err="1">
                <a:latin typeface="Calibri" charset="0"/>
                <a:ea typeface="MS PGothic" charset="0"/>
              </a:rPr>
              <a:t>xz</a:t>
            </a:r>
            <a:endParaRPr lang="en-US" dirty="0">
              <a:latin typeface="Calibri" charset="0"/>
              <a:ea typeface="MS PGothic" charset="0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False</a:t>
            </a:r>
          </a:p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x</a:t>
            </a:r>
          </a:p>
        </p:txBody>
      </p:sp>
      <p:sp>
        <p:nvSpPr>
          <p:cNvPr id="7" name="CAI1"/>
          <p:cNvSpPr/>
          <p:nvPr>
            <p:custDataLst>
              <p:tags r:id="rId3"/>
            </p:custDataLst>
          </p:nvPr>
        </p:nvSpPr>
        <p:spPr>
          <a:xfrm>
            <a:off x="223520" y="3517900"/>
            <a:ext cx="292100" cy="292100"/>
          </a:xfrm>
          <a:prstGeom prst="rightArrow">
            <a:avLst>
              <a:gd name="adj1" fmla="val 49190"/>
              <a:gd name="adj2" fmla="val 2801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lin ang="10800000" scaled="1"/>
            <a:tileRect/>
          </a:gradFill>
          <a:ln w="12700" cap="flat" cmpd="sng" algn="ctr">
            <a:noFill/>
            <a:prstDash val="solid"/>
          </a:ln>
          <a:effectLst>
            <a:outerShdw blurRad="101600" dist="38100" dir="5400000" rotWithShape="0">
              <a:srgbClr val="000000">
                <a:alpha val="75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TPGrid" descr="pp_response.png" hidden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4419600"/>
            <a:ext cx="927100" cy="1168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2717922"/>
            <a:ext cx="3124200" cy="355478"/>
          </a:xfrm>
          <a:prstGeom prst="roundRect">
            <a:avLst/>
          </a:prstGeom>
          <a:blipFill dpi="0" rotWithShape="1">
            <a:blip r:embed="rId7">
              <a:alphaModFix amt="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charset="0"/>
                <a:ea typeface="MS PGothic" charset="0"/>
              </a:rPr>
              <a:t>#4: F</a:t>
            </a:r>
            <a:r>
              <a:rPr lang="en-US" dirty="0">
                <a:latin typeface="Calibri" charset="0"/>
                <a:ea typeface="MS PGothic" charset="0"/>
              </a:rPr>
              <a:t>(</a:t>
            </a:r>
            <a:r>
              <a:rPr lang="en-US" dirty="0" err="1">
                <a:latin typeface="Calibri" charset="0"/>
                <a:ea typeface="MS PGothic" charset="0"/>
              </a:rPr>
              <a:t>x,y</a:t>
            </a:r>
            <a:r>
              <a:rPr lang="en-US" dirty="0">
                <a:latin typeface="Calibri" charset="0"/>
                <a:ea typeface="MS PGothic" charset="0"/>
              </a:rPr>
              <a:t>) = y + !</a:t>
            </a:r>
            <a:r>
              <a:rPr lang="en-US" dirty="0" err="1">
                <a:latin typeface="Calibri" charset="0"/>
                <a:ea typeface="MS PGothic" charset="0"/>
              </a:rPr>
              <a:t>x!y</a:t>
            </a:r>
            <a:r>
              <a:rPr lang="en-US" dirty="0">
                <a:latin typeface="Calibri" charset="0"/>
                <a:ea typeface="MS PGothic" charset="0"/>
              </a:rPr>
              <a:t> </a:t>
            </a: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marL="514350" indent="-514350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y + !x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x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y</a:t>
            </a:r>
            <a:endParaRPr lang="en-US" dirty="0" smtClean="0">
              <a:latin typeface="Calibri" charset="0"/>
              <a:ea typeface="MS PGothic" charset="0"/>
            </a:endParaRP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y</a:t>
            </a:r>
            <a:r>
              <a:rPr lang="en-US" dirty="0" smtClean="0">
                <a:latin typeface="Calibri" charset="0"/>
                <a:ea typeface="MS PGothic" charset="0"/>
              </a:rPr>
              <a:t> + x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!y+ x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!y + !x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7" name="CAI1"/>
          <p:cNvSpPr/>
          <p:nvPr>
            <p:custDataLst>
              <p:tags r:id="rId3"/>
            </p:custDataLst>
          </p:nvPr>
        </p:nvSpPr>
        <p:spPr>
          <a:xfrm>
            <a:off x="223520" y="1743287"/>
            <a:ext cx="292100" cy="292100"/>
          </a:xfrm>
          <a:prstGeom prst="smileyFace">
            <a:avLst/>
          </a:prstGeom>
          <a:solidFill>
            <a:srgbClr val="FFFF00"/>
          </a:solidFill>
          <a:ln w="25400"/>
          <a:effectLst>
            <a:prstShdw prst="shdw14" dist="35921" dir="2700000">
              <a:scrgbClr r="0" g="0" b="0">
                <a:alpha val="50000"/>
              </a:scrgbClr>
            </a:prst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TPGrid" descr="pp_response.png" hidden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4419600"/>
            <a:ext cx="927100" cy="1168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81600" y="152400"/>
            <a:ext cx="3886200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ProTip: Look for Duplicates and Toggles</a:t>
            </a:r>
            <a:endParaRPr lang="en-US" dirty="0"/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8949336"/>
              </p:ext>
            </p:extLst>
          </p:nvPr>
        </p:nvGraphicFramePr>
        <p:xfrm>
          <a:off x="2133600" y="1905000"/>
          <a:ext cx="69342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383"/>
                <a:gridCol w="2871739"/>
                <a:gridCol w="3432079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Law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    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//makes copies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  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//makes toggles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5638800" y="2641600"/>
            <a:ext cx="3124200" cy="762000"/>
          </a:xfrm>
          <a:prstGeom prst="roundRect">
            <a:avLst/>
          </a:prstGeom>
          <a:blipFill dpi="0" rotWithShape="1">
            <a:blip r:embed="rId8">
              <a:alphaModFix amt="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PQuestion"/>
          <p:cNvSpPr>
            <a:spLocks noGrp="1"/>
          </p:cNvSpPr>
          <p:nvPr>
            <p:ph type="title"/>
          </p:nvPr>
        </p:nvSpPr>
        <p:spPr>
          <a:xfrm>
            <a:off x="609600" y="503238"/>
            <a:ext cx="7618413" cy="868362"/>
          </a:xfrm>
        </p:spPr>
        <p:txBody>
          <a:bodyPr/>
          <a:lstStyle/>
          <a:p>
            <a:r>
              <a:rPr lang="en-US" dirty="0" smtClean="0"/>
              <a:t>#5: F</a:t>
            </a:r>
            <a:r>
              <a:rPr lang="en-US" dirty="0"/>
              <a:t>(</a:t>
            </a:r>
            <a:r>
              <a:rPr lang="en-US" dirty="0" err="1"/>
              <a:t>x,</a:t>
            </a:r>
            <a:r>
              <a:rPr lang="en-US" dirty="0" err="1" smtClean="0"/>
              <a:t>y</a:t>
            </a:r>
            <a:r>
              <a:rPr lang="en-US" dirty="0" smtClean="0"/>
              <a:t>) </a:t>
            </a:r>
            <a:r>
              <a:rPr lang="en-US" dirty="0"/>
              <a:t>= !</a:t>
            </a:r>
            <a:r>
              <a:rPr lang="en-US" dirty="0" err="1"/>
              <a:t>x!y</a:t>
            </a:r>
            <a:r>
              <a:rPr lang="en-US" dirty="0"/>
              <a:t> (!x + y) (!y + y)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2051" name="TPAnswers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2953386"/>
            <a:ext cx="4114800" cy="3740465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z</a:t>
            </a:r>
            <a:endParaRPr lang="en-US" dirty="0" smtClean="0">
              <a:latin typeface="Calibri" charset="0"/>
              <a:ea typeface="MS PGothic" charset="0"/>
            </a:endParaRP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>
                <a:latin typeface="Calibri" charset="0"/>
                <a:ea typeface="MS PGothic" charset="0"/>
              </a:rPr>
              <a:t>1</a:t>
            </a:r>
            <a:endParaRPr lang="en-US" dirty="0" smtClean="0">
              <a:latin typeface="Calibri" charset="0"/>
              <a:ea typeface="MS PGothic" charset="0"/>
            </a:endParaRP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!</a:t>
            </a:r>
            <a:r>
              <a:rPr lang="en-US" dirty="0" err="1" smtClean="0">
                <a:latin typeface="Calibri" charset="0"/>
                <a:ea typeface="MS PGothic" charset="0"/>
              </a:rPr>
              <a:t>y!x</a:t>
            </a:r>
            <a:endParaRPr lang="en-US" dirty="0" smtClean="0">
              <a:latin typeface="Calibri" charset="0"/>
              <a:ea typeface="MS PGothic" charset="0"/>
            </a:endParaRP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0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!</a:t>
            </a:r>
            <a:r>
              <a:rPr lang="en-US" dirty="0" err="1" smtClean="0">
                <a:latin typeface="Calibri" charset="0"/>
                <a:ea typeface="MS PGothic" charset="0"/>
              </a:rPr>
              <a:t>x!y!x</a:t>
            </a:r>
            <a:r>
              <a:rPr lang="en-US" dirty="0" smtClean="0">
                <a:latin typeface="Calibri" charset="0"/>
                <a:ea typeface="MS PGothic" charset="0"/>
              </a:rPr>
              <a:t> + !x*!y</a:t>
            </a:r>
            <a:r>
              <a:rPr lang="en-US" dirty="0">
                <a:latin typeface="Calibri" charset="0"/>
                <a:ea typeface="MS PGothic" charset="0"/>
              </a:rPr>
              <a:t>*</a:t>
            </a:r>
            <a:r>
              <a:rPr lang="en-US" dirty="0" smtClean="0">
                <a:latin typeface="Calibri" charset="0"/>
                <a:ea typeface="MS PGothic" charset="0"/>
              </a:rPr>
              <a:t>y</a:t>
            </a:r>
          </a:p>
          <a:p>
            <a:pPr marL="514350" indent="-514350" eaLnBrk="1" hangingPunct="1">
              <a:buFont typeface="Arial" charset="0"/>
              <a:buAutoNum type="alphaUcPeriod"/>
            </a:pPr>
            <a:r>
              <a:rPr lang="en-US" dirty="0" smtClean="0">
                <a:latin typeface="Calibri" charset="0"/>
                <a:ea typeface="MS PGothic" charset="0"/>
              </a:rPr>
              <a:t>!</a:t>
            </a:r>
            <a:r>
              <a:rPr lang="en-US" dirty="0" smtClean="0">
                <a:latin typeface="Calibri" charset="0"/>
                <a:ea typeface="MS PGothic" charset="0"/>
              </a:rPr>
              <a:t>(</a:t>
            </a:r>
            <a:r>
              <a:rPr lang="en-US" dirty="0" err="1" smtClean="0">
                <a:latin typeface="Calibri" charset="0"/>
                <a:ea typeface="MS PGothic" charset="0"/>
              </a:rPr>
              <a:t>x+y</a:t>
            </a:r>
            <a:r>
              <a:rPr lang="en-US" dirty="0">
                <a:latin typeface="Calibri" charset="0"/>
                <a:ea typeface="MS PGothic" charset="0"/>
              </a:rPr>
              <a:t>)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6" name="CAI1"/>
          <p:cNvSpPr/>
          <p:nvPr>
            <p:custDataLst>
              <p:tags r:id="rId3"/>
            </p:custDataLst>
          </p:nvPr>
        </p:nvSpPr>
        <p:spPr>
          <a:xfrm>
            <a:off x="1037590" y="4112260"/>
            <a:ext cx="562818" cy="619760"/>
          </a:xfrm>
          <a:prstGeom prst="roundRect">
            <a:avLst/>
          </a:prstGeom>
          <a:noFill/>
          <a:ln w="25400" cap="flat" cmpd="sng" algn="ctr">
            <a:solidFill>
              <a:schemeClr val="folHlink"/>
            </a:solidFill>
            <a:prstDash val="solid"/>
          </a:ln>
          <a:effectLst>
            <a:outerShdw blurRad="101600" dist="38100" dir="5400000" rotWithShape="0">
              <a:srgbClr val="000000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blipFill rotWithShape="1">
                  <a:blip r:embed="rId7">
                    <a:duotone>
                      <a:schemeClr val="accent1">
                        <a:shade val="30000"/>
                        <a:satMod val="150000"/>
                      </a:schemeClr>
                      <a:schemeClr val="accent1">
                        <a:alpha val="10000"/>
                        <a:satMod val="120000"/>
                      </a:schemeClr>
                    </a:duotone>
                  </a:blip>
                  <a:stretch/>
                </a:blip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2"/>
          <p:cNvSpPr/>
          <p:nvPr>
            <p:custDataLst>
              <p:tags r:id="rId4"/>
            </p:custDataLst>
          </p:nvPr>
        </p:nvSpPr>
        <p:spPr>
          <a:xfrm>
            <a:off x="1037590" y="5971540"/>
            <a:ext cx="791210" cy="619760"/>
          </a:xfrm>
          <a:prstGeom prst="roundRect">
            <a:avLst/>
          </a:prstGeom>
          <a:noFill/>
          <a:ln w="25400" cap="flat" cmpd="sng" algn="ctr">
            <a:solidFill>
              <a:schemeClr val="folHlink"/>
            </a:solidFill>
            <a:prstDash val="solid"/>
          </a:ln>
          <a:effectLst>
            <a:outerShdw blurRad="101600" dist="38100" dir="5400000" rotWithShape="0">
              <a:srgbClr val="000000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blipFill rotWithShape="1">
                  <a:blip r:embed="rId7">
                    <a:duotone>
                      <a:schemeClr val="accent1">
                        <a:shade val="30000"/>
                        <a:satMod val="150000"/>
                      </a:schemeClr>
                      <a:schemeClr val="accent1">
                        <a:alpha val="10000"/>
                        <a:satMod val="120000"/>
                      </a:schemeClr>
                    </a:duotone>
                  </a:blip>
                  <a:stretch/>
                </a:blip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TPGrid" descr="pp_response.png" hidden="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4419600"/>
            <a:ext cx="927100" cy="116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05400" y="76200"/>
            <a:ext cx="24384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ProTip: L-to-R or R-to-L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3299263"/>
              </p:ext>
            </p:extLst>
          </p:nvPr>
        </p:nvGraphicFramePr>
        <p:xfrm>
          <a:off x="2895600" y="1676400"/>
          <a:ext cx="62484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83"/>
                <a:gridCol w="2836917"/>
                <a:gridCol w="3124201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  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Exercise #</a:t>
            </a:r>
            <a:r>
              <a:rPr lang="en-US" dirty="0"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4056062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en and paper first (exam practice), then on board together</a:t>
            </a:r>
          </a:p>
          <a:p>
            <a:r>
              <a:rPr lang="en-US" dirty="0" smtClean="0"/>
              <a:t>F(</a:t>
            </a:r>
            <a:r>
              <a:rPr lang="en-US" dirty="0" err="1" smtClean="0"/>
              <a:t>x,y</a:t>
            </a:r>
            <a:r>
              <a:rPr lang="en-US" dirty="0" smtClean="0"/>
              <a:t>) = y + !(</a:t>
            </a:r>
            <a:r>
              <a:rPr lang="en-US" dirty="0" err="1" smtClean="0"/>
              <a:t>xy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4473507"/>
              </p:ext>
            </p:extLst>
          </p:nvPr>
        </p:nvGraphicFramePr>
        <p:xfrm>
          <a:off x="2895600" y="2819400"/>
          <a:ext cx="62484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83"/>
                <a:gridCol w="2836917"/>
                <a:gridCol w="3124201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  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05400" y="164068"/>
            <a:ext cx="24384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ProTip: L-to-R or R-to-L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9116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387" y="228600"/>
            <a:ext cx="7313613" cy="868362"/>
          </a:xfrm>
        </p:spPr>
        <p:txBody>
          <a:bodyPr/>
          <a:lstStyle/>
          <a:p>
            <a:r>
              <a:rPr lang="en-US" dirty="0" smtClean="0"/>
              <a:t>Boolean Exercise #7 (3.7)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87" y="1295400"/>
            <a:ext cx="7694613" cy="405606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This next exercise can be reduced in more than one way! </a:t>
            </a:r>
          </a:p>
          <a:p>
            <a:pPr lvl="1"/>
            <a:r>
              <a:rPr lang="en-US" dirty="0" smtClean="0"/>
              <a:t>Complement first?</a:t>
            </a:r>
          </a:p>
          <a:p>
            <a:pPr lvl="1"/>
            <a:r>
              <a:rPr lang="en-US" dirty="0" smtClean="0"/>
              <a:t>Or Distribute?</a:t>
            </a:r>
          </a:p>
          <a:p>
            <a:pPr lvl="1"/>
            <a:r>
              <a:rPr lang="en-US" dirty="0" smtClean="0"/>
              <a:t>Or Witty Law?</a:t>
            </a:r>
          </a:p>
          <a:p>
            <a:pPr lvl="1"/>
            <a:r>
              <a:rPr lang="en-US" dirty="0" smtClean="0"/>
              <a:t>Infinite ways?</a:t>
            </a:r>
          </a:p>
          <a:p>
            <a:pPr lvl="2"/>
            <a:r>
              <a:rPr lang="en-US" dirty="0" smtClean="0"/>
              <a:t>Help! Tools!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F(</a:t>
            </a:r>
            <a:r>
              <a:rPr lang="en-US" dirty="0" err="1" smtClean="0"/>
              <a:t>x,y</a:t>
            </a:r>
            <a:r>
              <a:rPr lang="en-US" dirty="0" smtClean="0"/>
              <a:t>) = (</a:t>
            </a:r>
            <a:r>
              <a:rPr lang="en-US" dirty="0" err="1" smtClean="0"/>
              <a:t>x+y</a:t>
            </a:r>
            <a:r>
              <a:rPr lang="en-US" dirty="0" smtClean="0"/>
              <a:t>)(!</a:t>
            </a:r>
            <a:r>
              <a:rPr lang="en-US" dirty="0" err="1" smtClean="0"/>
              <a:t>x+y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6031458"/>
              </p:ext>
            </p:extLst>
          </p:nvPr>
        </p:nvGraphicFramePr>
        <p:xfrm>
          <a:off x="2895599" y="2286000"/>
          <a:ext cx="62484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83"/>
                <a:gridCol w="2836917"/>
                <a:gridCol w="3124201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  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556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Exercise #8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7313613" cy="4056062"/>
          </a:xfrm>
        </p:spPr>
        <p:txBody>
          <a:bodyPr/>
          <a:lstStyle/>
          <a:p>
            <a:r>
              <a:rPr lang="en-US" dirty="0" smtClean="0"/>
              <a:t>Pen and paper (D&amp;D style), then on board.</a:t>
            </a:r>
          </a:p>
          <a:p>
            <a:r>
              <a:rPr lang="en-US" dirty="0" smtClean="0"/>
              <a:t>F(</a:t>
            </a:r>
            <a:r>
              <a:rPr lang="en-US" dirty="0" err="1" smtClean="0"/>
              <a:t>x,y</a:t>
            </a:r>
            <a:r>
              <a:rPr lang="en-US" dirty="0" smtClean="0"/>
              <a:t>) = !x*(</a:t>
            </a:r>
            <a:r>
              <a:rPr lang="en-US" dirty="0" err="1" smtClean="0"/>
              <a:t>x+y</a:t>
            </a:r>
            <a:r>
              <a:rPr lang="en-US" dirty="0" smtClean="0"/>
              <a:t>) + (</a:t>
            </a:r>
            <a:r>
              <a:rPr lang="en-US" dirty="0" err="1" smtClean="0"/>
              <a:t>y+x</a:t>
            </a:r>
            <a:r>
              <a:rPr lang="en-US" dirty="0" smtClean="0"/>
              <a:t>)(x+!y)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5013695"/>
              </p:ext>
            </p:extLst>
          </p:nvPr>
        </p:nvGraphicFramePr>
        <p:xfrm>
          <a:off x="2895600" y="2743200"/>
          <a:ext cx="624840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83"/>
                <a:gridCol w="2836917"/>
                <a:gridCol w="3124201"/>
              </a:tblGrid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  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 *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265659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  <a:tr h="330088"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51200" y="2020136"/>
            <a:ext cx="5715000" cy="430129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6">
                  <a:shade val="30000"/>
                </a:schemeClr>
                <a:schemeClr val="accent6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0000"/>
                </a:solidFill>
              </a:rPr>
              <a:t>Q:</a:t>
            </a:r>
            <a:r>
              <a:rPr lang="en-US" b="1" dirty="0" smtClean="0">
                <a:solidFill>
                  <a:srgbClr val="3366FF"/>
                </a:solidFill>
              </a:rPr>
              <a:t> Short Path or </a:t>
            </a:r>
            <a:r>
              <a:rPr lang="en-US" b="1" dirty="0" smtClean="0">
                <a:solidFill>
                  <a:srgbClr val="FF0000"/>
                </a:solidFill>
              </a:rPr>
              <a:t>Long</a:t>
            </a:r>
            <a:r>
              <a:rPr lang="en-US" b="1" dirty="0" smtClean="0">
                <a:solidFill>
                  <a:srgbClr val="3366FF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Path</a:t>
            </a:r>
            <a:r>
              <a:rPr lang="en-US" b="1" dirty="0" smtClean="0">
                <a:solidFill>
                  <a:srgbClr val="3366FF"/>
                </a:solidFill>
              </a:rPr>
              <a:t>?</a:t>
            </a:r>
            <a:endParaRPr lang="en-US" b="1" dirty="0">
              <a:solidFill>
                <a:srgbClr val="3366F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6668" y="6019800"/>
            <a:ext cx="8367332" cy="430129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6">
                  <a:shade val="30000"/>
                </a:schemeClr>
                <a:schemeClr val="accent6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3366FF"/>
                </a:solidFill>
              </a:rPr>
              <a:t>Short Path</a:t>
            </a:r>
            <a:endParaRPr lang="en-US" b="1" dirty="0">
              <a:solidFill>
                <a:srgbClr val="3366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6668" y="4903871"/>
            <a:ext cx="8367332" cy="430129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6">
                  <a:shade val="30000"/>
                </a:schemeClr>
                <a:schemeClr val="accent6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rgbClr val="FF0000"/>
                </a:solidFill>
              </a:rPr>
              <a:t>Long Path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05400" y="164068"/>
            <a:ext cx="24384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ProTip: L-to-R or R-to-L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79624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Practice - Go!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Exercises</a:t>
            </a:r>
          </a:p>
          <a:p>
            <a:r>
              <a:rPr lang="en-US" dirty="0" smtClean="0"/>
              <a:t>Use End of Section questions</a:t>
            </a:r>
          </a:p>
          <a:p>
            <a:r>
              <a:rPr lang="en-US" dirty="0" smtClean="0"/>
              <a:t>Use End of Chapter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316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313613" cy="1398506"/>
          </a:xfrm>
        </p:spPr>
        <p:txBody>
          <a:bodyPr/>
          <a:lstStyle/>
          <a:p>
            <a:r>
              <a:rPr lang="en-US" dirty="0" smtClean="0"/>
              <a:t>Aside: What’s in a name?</a:t>
            </a:r>
            <a:br>
              <a:rPr lang="en-US" dirty="0" smtClean="0"/>
            </a:br>
            <a:r>
              <a:rPr lang="en-US" dirty="0" smtClean="0"/>
              <a:t>XNOR?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313613" cy="4056062"/>
          </a:xfrm>
        </p:spPr>
        <p:txBody>
          <a:bodyPr/>
          <a:lstStyle/>
          <a:p>
            <a:r>
              <a:rPr lang="en-US" dirty="0" smtClean="0"/>
              <a:t>And then Not == NAND</a:t>
            </a:r>
          </a:p>
          <a:p>
            <a:r>
              <a:rPr lang="en-US" dirty="0" smtClean="0"/>
              <a:t>Or then Not == NOR</a:t>
            </a:r>
          </a:p>
          <a:p>
            <a:r>
              <a:rPr lang="en-US" dirty="0" smtClean="0"/>
              <a:t>XOR then NOT == ?          //why?</a:t>
            </a:r>
          </a:p>
          <a:p>
            <a:pPr lvl="1"/>
            <a:r>
              <a:rPr lang="en-US" dirty="0" smtClean="0"/>
              <a:t>So if you see any NXORs in my slides, a reaper </a:t>
            </a:r>
          </a:p>
          <a:p>
            <a:pPr lvl="2"/>
            <a:r>
              <a:rPr lang="en-US" dirty="0" smtClean="0"/>
              <a:t>If you see any </a:t>
            </a:r>
            <a:r>
              <a:rPr lang="en-US" dirty="0" err="1" smtClean="0"/>
              <a:t>nx</a:t>
            </a:r>
            <a:r>
              <a:rPr lang="en-US" dirty="0" smtClean="0"/>
              <a:t> starships, also a reaper   </a:t>
            </a:r>
          </a:p>
          <a:p>
            <a:pPr lvl="3"/>
            <a:r>
              <a:rPr lang="en-US" dirty="0" smtClean="0"/>
              <a:t>I’m not a robot</a:t>
            </a:r>
          </a:p>
          <a:p>
            <a:pPr lvl="4"/>
            <a:r>
              <a:rPr lang="en-US" dirty="0" smtClean="0"/>
              <a:t>Click on all NX class starships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4400"/>
            <a:ext cx="3810000" cy="2133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1" y="4724400"/>
            <a:ext cx="138246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63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Infinite </a:t>
            </a:r>
            <a:r>
              <a:rPr lang="en-US" sz="600" dirty="0" smtClean="0"/>
              <a:t>Diversity In Infinite</a:t>
            </a:r>
            <a:r>
              <a:rPr lang="en-US" dirty="0" smtClean="0"/>
              <a:t> Combinations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35138"/>
            <a:ext cx="9144000" cy="405606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single circuit has infinite realizations that are logically correct.</a:t>
            </a:r>
          </a:p>
          <a:p>
            <a:pPr lvl="1"/>
            <a:r>
              <a:rPr lang="en-US" dirty="0" smtClean="0"/>
              <a:t>But just like fish in the sea</a:t>
            </a:r>
            <a:r>
              <a:rPr lang="mr-IN" dirty="0" smtClean="0"/>
              <a:t>…</a:t>
            </a:r>
            <a:endParaRPr lang="en-US" dirty="0" smtClean="0"/>
          </a:p>
          <a:p>
            <a:r>
              <a:rPr lang="en-US" dirty="0" smtClean="0"/>
              <a:t>We will build a logically equivalent XNOR in multiple ways</a:t>
            </a:r>
          </a:p>
          <a:p>
            <a:pPr lvl="1"/>
            <a:r>
              <a:rPr lang="en-US" dirty="0" smtClean="0"/>
              <a:t>Actually, there exists infinite ways, but most are redundant and wasteful</a:t>
            </a:r>
          </a:p>
          <a:p>
            <a:r>
              <a:rPr lang="en-US" dirty="0" smtClean="0"/>
              <a:t>And, given code that is O(n) for c=10, k=1, we know c=11, k=1 as well</a:t>
            </a:r>
          </a:p>
          <a:p>
            <a:pPr lvl="1"/>
            <a:r>
              <a:rPr lang="en-US" dirty="0" smtClean="0"/>
              <a:t>There exists infinite witnesses, although not all are as “tightly bound” or succinct</a:t>
            </a:r>
          </a:p>
          <a:p>
            <a:r>
              <a:rPr lang="en-US" dirty="0" smtClean="0"/>
              <a:t>F(X) = X    ==    X * 1   ==  X * X * 1  ==   X * X * (Y + Y)  == …</a:t>
            </a:r>
          </a:p>
          <a:p>
            <a:pPr lvl="1"/>
            <a:r>
              <a:rPr lang="en-US" dirty="0" smtClean="0"/>
              <a:t>But as you can see, not all solutions would be simple or cost effective </a:t>
            </a:r>
            <a:r>
              <a:rPr lang="en-US" dirty="0" err="1" smtClean="0"/>
              <a:t>w.r.t</a:t>
            </a:r>
            <a:r>
              <a:rPr lang="en-US" dirty="0" smtClean="0"/>
              <a:t>. gates, just like the above solutions aren’t all optimal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497417" y="4800600"/>
            <a:ext cx="2081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4520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2238"/>
            <a:ext cx="7313613" cy="868362"/>
          </a:xfrm>
        </p:spPr>
        <p:txBody>
          <a:bodyPr/>
          <a:lstStyle/>
          <a:p>
            <a:r>
              <a:rPr lang="en-US" dirty="0" smtClean="0"/>
              <a:t>Canonical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6019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We would like a unique representation of any Boolean expression</a:t>
            </a:r>
          </a:p>
          <a:p>
            <a:pPr lvl="1"/>
            <a:r>
              <a:rPr lang="en-US" dirty="0" smtClean="0"/>
              <a:t>This will allow us to compare two expressions and see directly if they are logically equivalent</a:t>
            </a:r>
          </a:p>
          <a:p>
            <a:pPr lvl="1"/>
            <a:r>
              <a:rPr lang="en-US" dirty="0" smtClean="0"/>
              <a:t>Also provides a standardized form to routinely process these equations</a:t>
            </a:r>
          </a:p>
          <a:p>
            <a:pPr lvl="2"/>
            <a:r>
              <a:rPr lang="en-US" dirty="0" smtClean="0"/>
              <a:t>Q: Why might we want this?</a:t>
            </a:r>
          </a:p>
          <a:p>
            <a:pPr lvl="3"/>
            <a:r>
              <a:rPr lang="en-US" dirty="0" smtClean="0"/>
              <a:t>Same Q: What is a solver? A 3SAT?</a:t>
            </a:r>
          </a:p>
          <a:p>
            <a:pPr lvl="4"/>
            <a:r>
              <a:rPr lang="en-US" dirty="0" smtClean="0"/>
              <a:t>A: As complexity increases, we need tools to uniformly process our designs and remove redundancies (we’ll do K-Maps by hand)</a:t>
            </a:r>
          </a:p>
          <a:p>
            <a:r>
              <a:rPr lang="en-US" dirty="0"/>
              <a:t>Just as DBs like PKs </a:t>
            </a:r>
          </a:p>
          <a:p>
            <a:pPr lvl="1"/>
            <a:r>
              <a:rPr lang="en-US" dirty="0"/>
              <a:t>MS likes GUIDS</a:t>
            </a:r>
          </a:p>
          <a:p>
            <a:pPr lvl="2"/>
            <a:r>
              <a:rPr lang="en-US" dirty="0"/>
              <a:t>ISTs for Compilers want distinct parse </a:t>
            </a:r>
            <a:r>
              <a:rPr lang="en-US" dirty="0" smtClean="0"/>
              <a:t>trees</a:t>
            </a:r>
          </a:p>
          <a:p>
            <a:r>
              <a:rPr lang="en-US" dirty="0" smtClean="0"/>
              <a:t>There are a number of ways to produce a standardized form, and designers use different notations (get used to this type of complexity)</a:t>
            </a:r>
          </a:p>
          <a:p>
            <a:pPr lvl="1"/>
            <a:r>
              <a:rPr lang="en-US" dirty="0" smtClean="0"/>
              <a:t>Sum-of-Products: A bunch of terms </a:t>
            </a:r>
            <a:r>
              <a:rPr lang="en-US" dirty="0" err="1" smtClean="0"/>
              <a:t>ORed</a:t>
            </a:r>
            <a:r>
              <a:rPr lang="en-US" dirty="0" smtClean="0"/>
              <a:t> together</a:t>
            </a:r>
          </a:p>
          <a:p>
            <a:pPr lvl="2"/>
            <a:r>
              <a:rPr lang="en-US" dirty="0" smtClean="0"/>
              <a:t>F(</a:t>
            </a:r>
            <a:r>
              <a:rPr lang="en-US" dirty="0" err="1" smtClean="0"/>
              <a:t>x,y,z</a:t>
            </a:r>
            <a:r>
              <a:rPr lang="en-US" dirty="0" smtClean="0"/>
              <a:t>) = z + </a:t>
            </a:r>
            <a:r>
              <a:rPr lang="en-US" dirty="0" err="1" smtClean="0"/>
              <a:t>x!y!z</a:t>
            </a:r>
            <a:r>
              <a:rPr lang="en-US" dirty="0" smtClean="0"/>
              <a:t>      == !</a:t>
            </a:r>
            <a:r>
              <a:rPr lang="en-US" dirty="0" err="1" smtClean="0"/>
              <a:t>x!yz</a:t>
            </a:r>
            <a:r>
              <a:rPr lang="en-US" dirty="0" smtClean="0"/>
              <a:t> + !xyz + </a:t>
            </a:r>
            <a:r>
              <a:rPr lang="en-US" dirty="0" err="1" smtClean="0"/>
              <a:t>x!y!z</a:t>
            </a:r>
            <a:r>
              <a:rPr lang="en-US" dirty="0" smtClean="0"/>
              <a:t> + </a:t>
            </a:r>
            <a:r>
              <a:rPr lang="en-US" dirty="0" err="1" smtClean="0"/>
              <a:t>x!yz</a:t>
            </a:r>
            <a:r>
              <a:rPr lang="en-US" dirty="0" smtClean="0"/>
              <a:t> + xyz</a:t>
            </a:r>
          </a:p>
          <a:p>
            <a:pPr lvl="1"/>
            <a:r>
              <a:rPr lang="en-US" dirty="0" smtClean="0"/>
              <a:t>Product-of-Sums: A bunch of terms </a:t>
            </a:r>
            <a:r>
              <a:rPr lang="en-US" dirty="0" err="1" smtClean="0"/>
              <a:t>ANDed</a:t>
            </a:r>
            <a:r>
              <a:rPr lang="en-US" dirty="0" smtClean="0"/>
              <a:t> together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3581400" y="6019800"/>
            <a:ext cx="4648200" cy="304800"/>
          </a:xfrm>
          <a:prstGeom prst="roundRect">
            <a:avLst/>
          </a:prstGeom>
          <a:blipFill dpi="0" rotWithShape="1">
            <a:blip r:embed="rId3">
              <a:alphaModFix amt="16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                                             S.O.P.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76400" y="3505200"/>
            <a:ext cx="739140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Simplest form rarely implies standard form and vice versa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When using SOP or POS, you must still eventually reduce – why?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SOP and POS are amenable to NAND and NOR gates – which and why?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" y="4419600"/>
            <a:ext cx="88392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A:</a:t>
            </a:r>
            <a:r>
              <a:rPr lang="en-US" dirty="0"/>
              <a:t> We introduced redundancy to build a unique key, but this is </a:t>
            </a:r>
            <a:r>
              <a:rPr lang="en-US" dirty="0" smtClean="0"/>
              <a:t>not </a:t>
            </a:r>
            <a:r>
              <a:rPr lang="en-US" dirty="0"/>
              <a:t>the least number of gates!</a:t>
            </a:r>
          </a:p>
          <a:p>
            <a:r>
              <a:rPr lang="en-US" dirty="0">
                <a:solidFill>
                  <a:srgbClr val="3366FF"/>
                </a:solidFill>
              </a:rPr>
              <a:t>A:</a:t>
            </a:r>
            <a:r>
              <a:rPr lang="en-US" dirty="0"/>
              <a:t> SOP has many more ANDs than or operations, POS has many more </a:t>
            </a:r>
            <a:r>
              <a:rPr lang="en-US" dirty="0" smtClean="0"/>
              <a:t>ORs </a:t>
            </a:r>
            <a:r>
              <a:rPr lang="en-US" dirty="0"/>
              <a:t>than </a:t>
            </a:r>
            <a:r>
              <a:rPr lang="en-US" dirty="0" smtClean="0"/>
              <a:t>ands.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26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68362"/>
          </a:xfrm>
        </p:spPr>
        <p:txBody>
          <a:bodyPr/>
          <a:lstStyle/>
          <a:p>
            <a:r>
              <a:rPr lang="en-US" dirty="0" smtClean="0"/>
              <a:t>S.O.P Example: Majority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3613" cy="51054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To generate a SOP expression, just </a:t>
            </a:r>
            <a:r>
              <a:rPr lang="en-US" b="1" dirty="0" smtClean="0"/>
              <a:t>OR</a:t>
            </a:r>
            <a:r>
              <a:rPr lang="en-US" dirty="0" smtClean="0"/>
              <a:t> together all of the rows of the TT where the output (“</a:t>
            </a:r>
            <a:r>
              <a:rPr lang="en-US" dirty="0" err="1" smtClean="0"/>
              <a:t>X</a:t>
            </a:r>
            <a:r>
              <a:rPr lang="en-US" baseline="-25000" dirty="0" err="1" smtClean="0"/>
              <a:t>out</a:t>
            </a:r>
            <a:r>
              <a:rPr lang="en-US" dirty="0" smtClean="0"/>
              <a:t>”) is equal to 1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X</a:t>
            </a:r>
            <a:r>
              <a:rPr lang="en-US" baseline="-25000" dirty="0" err="1" smtClean="0"/>
              <a:t>out</a:t>
            </a:r>
            <a:r>
              <a:rPr lang="en-US" dirty="0" smtClean="0"/>
              <a:t>(</a:t>
            </a:r>
            <a:r>
              <a:rPr lang="en-US" dirty="0" err="1" smtClean="0"/>
              <a:t>x,y,z</a:t>
            </a:r>
            <a:r>
              <a:rPr lang="en-US" dirty="0" smtClean="0"/>
              <a:t>) = ?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907167"/>
              </p:ext>
            </p:extLst>
          </p:nvPr>
        </p:nvGraphicFramePr>
        <p:xfrm>
          <a:off x="1524000" y="2209800"/>
          <a:ext cx="6172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/>
                <a:gridCol w="1543050"/>
                <a:gridCol w="1543050"/>
                <a:gridCol w="1543050"/>
              </a:tblGrid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</a:t>
                      </a:r>
                      <a:r>
                        <a:rPr lang="en-US" baseline="-25000" dirty="0" err="1" smtClean="0"/>
                        <a:t>out</a:t>
                      </a:r>
                      <a:endParaRPr lang="en-US" baseline="-25000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365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95600" y="5715000"/>
            <a:ext cx="59436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Q: </a:t>
            </a:r>
            <a:r>
              <a:rPr lang="en-US" dirty="0" smtClean="0"/>
              <a:t>What is a Majority Function?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>
                <a:solidFill>
                  <a:srgbClr val="3366FF"/>
                </a:solidFill>
              </a:rPr>
              <a:t>A:</a:t>
            </a:r>
            <a:r>
              <a:rPr lang="en-US" dirty="0" smtClean="0"/>
              <a:t> One of the commonly built combinational circuits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95600" y="6400800"/>
            <a:ext cx="3429000" cy="401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X</a:t>
            </a:r>
            <a:r>
              <a:rPr lang="en-US" baseline="-25000" dirty="0" err="1" smtClean="0"/>
              <a:t>out</a:t>
            </a:r>
            <a:r>
              <a:rPr lang="en-US" dirty="0" smtClean="0"/>
              <a:t>(</a:t>
            </a:r>
            <a:r>
              <a:rPr lang="en-US" dirty="0" err="1"/>
              <a:t>x,y,z</a:t>
            </a:r>
            <a:r>
              <a:rPr lang="en-US" dirty="0"/>
              <a:t>) = !xyz + </a:t>
            </a:r>
            <a:r>
              <a:rPr lang="en-US" dirty="0" err="1"/>
              <a:t>x!yz</a:t>
            </a:r>
            <a:r>
              <a:rPr lang="en-US" dirty="0"/>
              <a:t> + </a:t>
            </a:r>
            <a:r>
              <a:rPr lang="en-US" dirty="0" err="1"/>
              <a:t>xy!z</a:t>
            </a:r>
            <a:r>
              <a:rPr lang="en-US" dirty="0"/>
              <a:t> + xyz</a:t>
            </a:r>
          </a:p>
          <a:p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781800" y="3690662"/>
            <a:ext cx="304800" cy="314876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781800" y="4419600"/>
            <a:ext cx="304800" cy="314876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781800" y="4800600"/>
            <a:ext cx="304800" cy="314876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781800" y="5156200"/>
            <a:ext cx="304800" cy="314876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7137400" y="1790700"/>
            <a:ext cx="304800" cy="314876"/>
          </a:xfrm>
          <a:prstGeom prst="roundRect">
            <a:avLst/>
          </a:prstGeom>
          <a:blipFill dpi="0" rotWithShape="1">
            <a:blip r:embed="rId3">
              <a:alphaModFix amt="17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191000" y="3848100"/>
            <a:ext cx="2590800" cy="2705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1"/>
          </p:cNvCxnSpPr>
          <p:nvPr/>
        </p:nvCxnSpPr>
        <p:spPr>
          <a:xfrm flipH="1">
            <a:off x="4724401" y="4577038"/>
            <a:ext cx="2057399" cy="19761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1"/>
          </p:cNvCxnSpPr>
          <p:nvPr/>
        </p:nvCxnSpPr>
        <p:spPr>
          <a:xfrm flipH="1">
            <a:off x="5257800" y="4958038"/>
            <a:ext cx="1524000" cy="15951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1"/>
          </p:cNvCxnSpPr>
          <p:nvPr/>
        </p:nvCxnSpPr>
        <p:spPr>
          <a:xfrm flipH="1">
            <a:off x="5791200" y="5313638"/>
            <a:ext cx="990600" cy="12395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7971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3200" y="431800"/>
            <a:ext cx="9525000" cy="868362"/>
          </a:xfrm>
        </p:spPr>
        <p:txBody>
          <a:bodyPr/>
          <a:lstStyle/>
          <a:p>
            <a:r>
              <a:rPr lang="en-US" dirty="0" smtClean="0"/>
              <a:t>Aside: Hardware Makes the Hero Super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Star Lord</a:t>
            </a:r>
          </a:p>
          <a:p>
            <a:r>
              <a:rPr lang="en-US" dirty="0" smtClean="0"/>
              <a:t>Batman</a:t>
            </a:r>
          </a:p>
          <a:p>
            <a:r>
              <a:rPr lang="en-US" dirty="0" smtClean="0"/>
              <a:t>Iron Man</a:t>
            </a:r>
          </a:p>
          <a:p>
            <a:r>
              <a:rPr lang="en-US" dirty="0" err="1" smtClean="0"/>
              <a:t>RoboCop</a:t>
            </a:r>
            <a:endParaRPr lang="en-US" dirty="0" smtClean="0"/>
          </a:p>
          <a:p>
            <a:r>
              <a:rPr lang="en-US" dirty="0" smtClean="0"/>
              <a:t>Mr</a:t>
            </a:r>
            <a:r>
              <a:rPr lang="en-US" dirty="0"/>
              <a:t>.</a:t>
            </a:r>
            <a:r>
              <a:rPr lang="en-US" dirty="0" smtClean="0"/>
              <a:t> Gadget</a:t>
            </a:r>
          </a:p>
          <a:p>
            <a:r>
              <a:rPr lang="en-US" dirty="0" smtClean="0"/>
              <a:t>Who else?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95400" y="2268538"/>
            <a:ext cx="7770813" cy="4056062"/>
          </a:xfrm>
          <a:prstGeom prst="rect">
            <a:avLst/>
          </a:prstGeom>
          <a:solidFill>
            <a:schemeClr val="accent2">
              <a:alpha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463550" indent="-463550" algn="l" defTabSz="914400" rtl="0" eaLnBrk="1" latinLnBrk="0" hangingPunct="1">
              <a:spcBef>
                <a:spcPts val="2000"/>
              </a:spcBef>
              <a:buSzPct val="90000"/>
              <a:buFontTx/>
              <a:buBlip>
                <a:blip r:embed="rId3"/>
              </a:buBlip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SzPct val="90000"/>
              <a:buFontTx/>
              <a:buBlip>
                <a:blip r:embed="rId4"/>
              </a:buBlip>
              <a:defRPr sz="2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55713" indent="-341313" algn="l" defTabSz="914400" rtl="0" eaLnBrk="1" latinLnBrk="0" hangingPunct="1">
              <a:spcBef>
                <a:spcPts val="600"/>
              </a:spcBef>
              <a:buSzPct val="90000"/>
              <a:buFontTx/>
              <a:buBlip>
                <a:blip r:embed="rId5"/>
              </a:buBlip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97025" indent="-341313" algn="l" defTabSz="914400" rtl="0" eaLnBrk="1" latinLnBrk="0" hangingPunct="1">
              <a:spcBef>
                <a:spcPts val="600"/>
              </a:spcBef>
              <a:buSzPct val="90000"/>
              <a:buFontTx/>
              <a:buBlip>
                <a:blip r:embed="rId5"/>
              </a:buBlip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938338" indent="-341313" algn="l" defTabSz="914400" rtl="0" eaLnBrk="1" latinLnBrk="0" hangingPunct="1">
              <a:spcBef>
                <a:spcPts val="600"/>
              </a:spcBef>
              <a:buSzPct val="90000"/>
              <a:buFontTx/>
              <a:buBlip>
                <a:blip r:embed="rId5"/>
              </a:buBlip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ct val="20000"/>
              </a:spcBef>
              <a:buSzPct val="90000"/>
              <a:buFontTx/>
              <a:buBlip>
                <a:blip r:embed="rId3"/>
              </a:buBlip>
              <a:defRPr lang="en-US" sz="18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ct val="20000"/>
              </a:spcBef>
              <a:buSzPct val="90000"/>
              <a:buFontTx/>
              <a:buBlip>
                <a:blip r:embed="rId5"/>
              </a:buBlip>
              <a:defRPr lang="en-US" sz="18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ct val="20000"/>
              </a:spcBef>
              <a:buSzPct val="90000"/>
              <a:buFontTx/>
              <a:buBlip>
                <a:blip r:embed="rId3"/>
              </a:buBlip>
              <a:defRPr lang="en-US" sz="18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ct val="20000"/>
              </a:spcBef>
              <a:buSzPct val="90000"/>
              <a:buFontTx/>
              <a:buBlip>
                <a:blip r:embed="rId4"/>
              </a:buBlip>
              <a:defRPr lang="en-US" sz="18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FFFFFF"/>
                </a:solidFill>
              </a:rPr>
              <a:t>Some people are good programmers, yet others are super!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I wonder what could make such a difference?</a:t>
            </a:r>
          </a:p>
          <a:p>
            <a:pPr lvl="2"/>
            <a:r>
              <a:rPr lang="en-US" dirty="0" smtClean="0">
                <a:solidFill>
                  <a:srgbClr val="FFFFFF"/>
                </a:solidFill>
              </a:rPr>
              <a:t>10k hours? This could help.</a:t>
            </a:r>
          </a:p>
          <a:p>
            <a:pPr lvl="3"/>
            <a:r>
              <a:rPr lang="en-US" dirty="0" smtClean="0">
                <a:solidFill>
                  <a:srgbClr val="FFFFFF"/>
                </a:solidFill>
              </a:rPr>
              <a:t>Q: Will 10k hours with C help you write more efficient code for a specific platform?</a:t>
            </a:r>
          </a:p>
          <a:p>
            <a:pPr lvl="2"/>
            <a:r>
              <a:rPr lang="en-US" dirty="0" smtClean="0">
                <a:solidFill>
                  <a:srgbClr val="FFFFFF"/>
                </a:solidFill>
              </a:rPr>
              <a:t>Rupture-and-Repair?  Helps you reframe failure into success.</a:t>
            </a:r>
          </a:p>
          <a:p>
            <a:pPr lvl="2"/>
            <a:r>
              <a:rPr lang="en-US" dirty="0" smtClean="0">
                <a:solidFill>
                  <a:srgbClr val="FFFFFF"/>
                </a:solidFill>
              </a:rPr>
              <a:t>Repeated “failures” often lead to success, like breaking a rock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43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3200" y="431800"/>
            <a:ext cx="9525000" cy="868362"/>
          </a:xfrm>
        </p:spPr>
        <p:txBody>
          <a:bodyPr/>
          <a:lstStyle/>
          <a:p>
            <a:r>
              <a:rPr lang="en-US" dirty="0" smtClean="0"/>
              <a:t>Aside: Hardware Makes the Hero Super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Star Lord</a:t>
            </a:r>
          </a:p>
          <a:p>
            <a:r>
              <a:rPr lang="en-US" dirty="0" smtClean="0"/>
              <a:t>Batman</a:t>
            </a:r>
          </a:p>
          <a:p>
            <a:r>
              <a:rPr lang="en-US" dirty="0" smtClean="0"/>
              <a:t>Iron Man</a:t>
            </a:r>
          </a:p>
          <a:p>
            <a:r>
              <a:rPr lang="en-US" dirty="0" err="1" smtClean="0"/>
              <a:t>RoboCop</a:t>
            </a:r>
            <a:endParaRPr lang="en-US" dirty="0" smtClean="0"/>
          </a:p>
          <a:p>
            <a:r>
              <a:rPr lang="en-US" dirty="0" smtClean="0"/>
              <a:t>Mr</a:t>
            </a:r>
            <a:r>
              <a:rPr lang="en-US" dirty="0"/>
              <a:t>.</a:t>
            </a:r>
            <a:r>
              <a:rPr lang="en-US" dirty="0" smtClean="0"/>
              <a:t> Gadget</a:t>
            </a:r>
          </a:p>
          <a:p>
            <a:r>
              <a:rPr lang="en-US" dirty="0" smtClean="0"/>
              <a:t>Who else?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07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Aside: Hardware Optimality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</a:t>
            </a:r>
            <a:r>
              <a:rPr lang="en-US" dirty="0" err="1" smtClean="0"/>
              <a:t>PrinceOfHardware.pptx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58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858000" y="3647725"/>
            <a:ext cx="914400" cy="400751"/>
          </a:xfrm>
          <a:prstGeom prst="roundRect">
            <a:avLst/>
          </a:prstGeom>
          <a:blipFill dpi="0" rotWithShape="1">
            <a:blip r:embed="rId2">
              <a:alphaModFix amt="88000"/>
              <a:duotone>
                <a:schemeClr val="accent6">
                  <a:shade val="30000"/>
                </a:schemeClr>
                <a:schemeClr val="accent6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Problem Solving</a:t>
            </a:r>
            <a:br>
              <a:rPr lang="en-US" dirty="0" smtClean="0"/>
            </a:br>
            <a:r>
              <a:rPr lang="en-US" dirty="0" smtClean="0"/>
              <a:t> “How To”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1735138"/>
            <a:ext cx="7313613" cy="405606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Read the problem and determine inputs, outputs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Build the corresponding </a:t>
            </a:r>
            <a:r>
              <a:rPr lang="en-US" b="1" dirty="0">
                <a:solidFill>
                  <a:srgbClr val="3366FF"/>
                </a:solidFill>
              </a:rPr>
              <a:t>T</a:t>
            </a:r>
            <a:r>
              <a:rPr lang="en-US" b="1" dirty="0" smtClean="0">
                <a:solidFill>
                  <a:srgbClr val="3366FF"/>
                </a:solidFill>
              </a:rPr>
              <a:t>ruth </a:t>
            </a:r>
            <a:r>
              <a:rPr lang="en-US" b="1" dirty="0">
                <a:solidFill>
                  <a:srgbClr val="3366FF"/>
                </a:solidFill>
              </a:rPr>
              <a:t>T</a:t>
            </a:r>
            <a:r>
              <a:rPr lang="en-US" b="1" dirty="0" smtClean="0">
                <a:solidFill>
                  <a:srgbClr val="3366FF"/>
                </a:solidFill>
              </a:rPr>
              <a:t>able</a:t>
            </a:r>
            <a:r>
              <a:rPr lang="en-US" dirty="0" smtClean="0"/>
              <a:t> enumeration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Build a </a:t>
            </a:r>
            <a:r>
              <a:rPr lang="en-US" b="1" dirty="0" smtClean="0">
                <a:solidFill>
                  <a:srgbClr val="3366FF"/>
                </a:solidFill>
              </a:rPr>
              <a:t>Boolean Equation </a:t>
            </a:r>
            <a:r>
              <a:rPr lang="en-US" dirty="0" smtClean="0"/>
              <a:t>from the truth table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Reduce the </a:t>
            </a:r>
            <a:r>
              <a:rPr lang="en-US" b="1" dirty="0" smtClean="0">
                <a:solidFill>
                  <a:srgbClr val="3366FF"/>
                </a:solidFill>
              </a:rPr>
              <a:t>Boolean Equation</a:t>
            </a:r>
            <a:r>
              <a:rPr lang="en-US" dirty="0" smtClean="0"/>
              <a:t> using Laws or K-maps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Build the optimal </a:t>
            </a:r>
            <a:r>
              <a:rPr lang="en-US" b="1" dirty="0">
                <a:solidFill>
                  <a:srgbClr val="3366FF"/>
                </a:solidFill>
              </a:rPr>
              <a:t>C</a:t>
            </a:r>
            <a:r>
              <a:rPr lang="en-US" b="1" dirty="0" smtClean="0">
                <a:solidFill>
                  <a:srgbClr val="3366FF"/>
                </a:solidFill>
              </a:rPr>
              <a:t>ircuit</a:t>
            </a:r>
            <a:r>
              <a:rPr lang="en-US" dirty="0" smtClean="0"/>
              <a:t> in simulator and test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Send this specification off to be pressed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80416" y="2209800"/>
            <a:ext cx="8482584" cy="2632364"/>
          </a:xfrm>
          <a:prstGeom prst="roundRect">
            <a:avLst/>
          </a:prstGeom>
          <a:blipFill dpi="0" rotWithShape="1">
            <a:blip r:embed="rId3">
              <a:alphaModFix amt="4000"/>
              <a:duotone>
                <a:schemeClr val="accent1">
                  <a:shade val="30000"/>
                  <a:satMod val="150000"/>
                </a:schemeClr>
                <a:schemeClr val="accent1">
                  <a:alpha val="10000"/>
                  <a:satMod val="120000"/>
                </a:schemeClr>
              </a:duotone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03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313613" cy="868362"/>
          </a:xfrm>
        </p:spPr>
        <p:txBody>
          <a:bodyPr/>
          <a:lstStyle/>
          <a:p>
            <a:r>
              <a:rPr lang="en-US" dirty="0" smtClean="0"/>
              <a:t>Summary of Boolean Laws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667105"/>
              </p:ext>
            </p:extLst>
          </p:nvPr>
        </p:nvGraphicFramePr>
        <p:xfrm>
          <a:off x="76200" y="701040"/>
          <a:ext cx="868680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914"/>
                <a:gridCol w="3517984"/>
                <a:gridCol w="342690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Law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 *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 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Identity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* A</a:t>
                      </a:r>
                      <a:r>
                        <a:rPr lang="en-US" baseline="0" dirty="0" smtClean="0"/>
                        <a:t> =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 + A</a:t>
                      </a:r>
                      <a:r>
                        <a:rPr lang="en-US" baseline="0" dirty="0" smtClean="0"/>
                        <a:t> = </a:t>
                      </a:r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Idempotent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A = A          </a:t>
                      </a:r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//</a:t>
                      </a:r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grow or shrink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A =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Inverse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~A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~A =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Domination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</a:t>
                      </a:r>
                      <a:r>
                        <a:rPr lang="en-US" baseline="0" dirty="0" smtClean="0"/>
                        <a:t> 0 = 0   </a:t>
                      </a:r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//Null calls this</a:t>
                      </a:r>
                      <a:r>
                        <a:rPr lang="en-US" baseline="0" dirty="0" smtClean="0">
                          <a:solidFill>
                            <a:srgbClr val="008000"/>
                          </a:solidFill>
                        </a:rPr>
                        <a:t> “Null”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+ 1 = 1 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olidFill>
                            <a:srgbClr val="008000"/>
                          </a:solidFill>
                        </a:rPr>
                        <a:t>//drives to 1 or 0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Commutative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B = B * A </a:t>
                      </a:r>
                      <a:r>
                        <a:rPr lang="en-US" baseline="0" dirty="0" smtClean="0"/>
                        <a:t>            </a:t>
                      </a:r>
                      <a:r>
                        <a:rPr lang="en-US" baseline="0" dirty="0" smtClean="0">
                          <a:solidFill>
                            <a:srgbClr val="008000"/>
                          </a:solidFill>
                        </a:rPr>
                        <a:t>//move </a:t>
                      </a:r>
                      <a:r>
                        <a:rPr lang="en-US" baseline="0" dirty="0" err="1" smtClean="0">
                          <a:solidFill>
                            <a:srgbClr val="008000"/>
                          </a:solidFill>
                        </a:rPr>
                        <a:t>vars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B = B +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Distributive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</a:t>
                      </a:r>
                      <a:r>
                        <a:rPr lang="en-US" baseline="0" dirty="0" smtClean="0"/>
                        <a:t> + C) = A * B + A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+ (B * C) = A + B * A +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Associativity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* (B * C)</a:t>
                      </a:r>
                      <a:r>
                        <a:rPr lang="en-US" baseline="0" dirty="0" smtClean="0"/>
                        <a:t> = (A * B) *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(B + C)</a:t>
                      </a:r>
                      <a:r>
                        <a:rPr lang="en-US" baseline="0" dirty="0" smtClean="0"/>
                        <a:t> = (A + B) + C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DeMorgan’s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~(A * B) = ~A + ~B   </a:t>
                      </a:r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//math girls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~(A + B) = ~A * ~B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711478"/>
              </p:ext>
            </p:extLst>
          </p:nvPr>
        </p:nvGraphicFramePr>
        <p:xfrm>
          <a:off x="63500" y="4114800"/>
          <a:ext cx="8915400" cy="2392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0200"/>
                <a:gridCol w="34290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Compound</a:t>
                      </a:r>
                    </a:p>
                    <a:p>
                      <a:r>
                        <a:rPr lang="en-US" dirty="0" smtClean="0"/>
                        <a:t>Equalities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Combination</a:t>
                      </a:r>
                      <a:r>
                        <a:rPr lang="en-US" baseline="0" dirty="0" smtClean="0"/>
                        <a:t> of Laws #1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A*B + ~A*B = (A+~A)B = B</a:t>
                      </a:r>
                    </a:p>
                    <a:p>
                      <a:r>
                        <a:rPr lang="en-US" dirty="0" smtClean="0"/>
                        <a:t>//must</a:t>
                      </a:r>
                      <a:r>
                        <a:rPr lang="en-US" baseline="0" dirty="0" smtClean="0"/>
                        <a:t> derive this first, then cite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A+B * ~A+B = (A*~A)+B = B</a:t>
                      </a:r>
                    </a:p>
                    <a:p>
                      <a:r>
                        <a:rPr lang="en-US" dirty="0" smtClean="0"/>
                        <a:t>//cannot cite without</a:t>
                      </a:r>
                      <a:r>
                        <a:rPr lang="en-US" baseline="0" dirty="0" smtClean="0"/>
                        <a:t> derivation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Combi</a:t>
                      </a:r>
                      <a:r>
                        <a:rPr lang="en-US" dirty="0" smtClean="0"/>
                        <a:t> Laws #2</a:t>
                      </a:r>
                      <a:endParaRPr lang="en-US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A*(~A+B) = A *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 + ~AB = A + B     </a:t>
                      </a:r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//We’ll prove this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/>
                        <a:t>Combi</a:t>
                      </a:r>
                      <a:r>
                        <a:rPr lang="en-US" b="0" baseline="0" dirty="0" smtClean="0"/>
                        <a:t> Laws #3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(A*B) + (~A</a:t>
                      </a:r>
                      <a:r>
                        <a:rPr lang="en-US" baseline="0" dirty="0" smtClean="0"/>
                        <a:t> * B)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(A</a:t>
                      </a:r>
                      <a:r>
                        <a:rPr lang="en-US" baseline="0" dirty="0" smtClean="0"/>
                        <a:t> + B) * (~A + B) = B  </a:t>
                      </a:r>
                      <a:r>
                        <a:rPr lang="en-US" b="1" baseline="0" dirty="0" smtClean="0">
                          <a:solidFill>
                            <a:srgbClr val="FF0000"/>
                          </a:solidFill>
                        </a:rPr>
                        <a:t>//and this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Absorption</a:t>
                      </a:r>
                      <a:endParaRPr lang="en-US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A*(A+B) =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A+(AB)</a:t>
                      </a:r>
                      <a:r>
                        <a:rPr lang="en-US" baseline="0" dirty="0" smtClean="0"/>
                        <a:t> = A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Left Arrow 4"/>
          <p:cNvSpPr/>
          <p:nvPr/>
        </p:nvSpPr>
        <p:spPr>
          <a:xfrm>
            <a:off x="8077200" y="3810000"/>
            <a:ext cx="990600" cy="1717505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608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Ahead: </a:t>
            </a:r>
            <a:br>
              <a:rPr lang="en-US" dirty="0" smtClean="0"/>
            </a:br>
            <a:r>
              <a:rPr lang="en-US" dirty="0" smtClean="0"/>
              <a:t>K-Maps to the Rescue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35138"/>
            <a:ext cx="8534400" cy="4056062"/>
          </a:xfrm>
        </p:spPr>
        <p:txBody>
          <a:bodyPr/>
          <a:lstStyle/>
          <a:p>
            <a:r>
              <a:rPr lang="en-US" dirty="0" smtClean="0"/>
              <a:t>Ever get stumped during a proof?</a:t>
            </a:r>
          </a:p>
          <a:p>
            <a:pPr lvl="1"/>
            <a:r>
              <a:rPr lang="en-US" dirty="0" smtClean="0"/>
              <a:t>Don’t know whether to reduce or expand?</a:t>
            </a:r>
          </a:p>
          <a:p>
            <a:r>
              <a:rPr lang="en-US" dirty="0" smtClean="0"/>
              <a:t>The iterative application of these laws is cumbersome and not intuitive</a:t>
            </a:r>
          </a:p>
          <a:p>
            <a:pPr lvl="1"/>
            <a:r>
              <a:rPr lang="en-US" dirty="0" smtClean="0"/>
              <a:t>K-maps can help provide a repeatable process to determine the most efficient circuit for 2,3,4 variables</a:t>
            </a:r>
          </a:p>
          <a:p>
            <a:pPr lvl="2"/>
            <a:r>
              <a:rPr lang="en-US" dirty="0" smtClean="0"/>
              <a:t>5 or more variables can still benefit from K-maps, but they’re rarely made by hand</a:t>
            </a:r>
          </a:p>
          <a:p>
            <a:pPr lvl="3"/>
            <a:r>
              <a:rPr lang="en-US" dirty="0" smtClean="0"/>
              <a:t>A tool to build K-maps, where a K-map is a tool to simplify BE.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23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05030.17.01"/>
  <p:tag name="PPTVERSION" val="14"/>
  <p:tag name="TPOS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BC9E8E3C8A7F4A1FA4ABE81DF7273CF1"/>
  <p:tag name="AUTOOPENPOLL" val="False"/>
  <p:tag name="TYPE" val="TrueFalse"/>
  <p:tag name="TPSLIDEBULLETSTYLE" val="2"/>
  <p:tag name="TPQUESTIONXML" val="&lt;?xml version=&quot;1.0&quot; encoding=&quot;UTF-8&quot; standalone=&quot;yes&quot;?&gt;&lt;questionlist&gt;&lt;properties&gt;&lt;guid&gt;BA8A14918C7A4C96B3CC4F8097C65413&lt;/guid&gt;&lt;date&gt;4/4/2016 05:21:36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BC9E8E3C8A7F4A1FA4ABE81DF7273CF1&lt;/guid&gt;&lt;repollguid&gt;958512D42A05491CBDB1B5ACA1E63E82&lt;/repollguid&gt;&lt;sourceid&gt;51EAEA261D7841E4AD8F83F1F03C5013&lt;/sourceid&gt;&lt;questiontext&gt;F(X,Y) = XY + !XY = Y&lt;/questiontext&gt;&lt;showresults&gt;True&lt;/showresults&gt;&lt;responsegrid&gt;2&lt;/responsegrid&gt;&lt;countdowntimer&gt;True&lt;/countdowntimer&gt;&lt;countdowntime&gt;300&lt;/countdowntime&gt;&lt;correctvalue&gt;1&lt;/correctvalue&gt;&lt;incorrectvalue&gt;0&lt;/incorrectvalue&gt;&lt;responselimit&gt;1&lt;/responselimit&gt;&lt;bulletstyle&gt;2&lt;/bulletstyle&gt;&lt;truefalse&gt;True&lt;/truefalse&gt;&lt;answers&gt;&lt;answer&gt;&lt;guid&gt;637C09F507D344DCA8838257A913BC84&lt;/guid&gt;&lt;answertext&gt;True&lt;/answertext&gt;&lt;valuetype&gt;0&lt;/valuetype&gt;&lt;/answer&gt;&lt;answer&gt;&lt;guid&gt;4C176F6D73A34D56BE72D83536B02748&lt;/guid&gt;&lt;answertext&gt;False&lt;/answertext&gt;&lt;valuetype&gt;0&lt;/valuetype&gt;&lt;/answer&gt;&lt;/answers&gt;&lt;/multichoice&gt;&lt;/questions&gt;&lt;/questionlist&gt;"/>
  <p:tag name="LIVECHARTING" val="False"/>
  <p:tag name="CHARTTYPE" val="0"/>
  <p:tag name="CHARTDEFINEDCOLORS" val="3,6,10,45,32,50,13,4,9,55,1"/>
  <p:tag name="HASRESULTS" val="True"/>
  <p:tag name="RESULTS" val="F(X,Y) = XY + !XY = Y[;crlf;]1[;]11[;]1[;]False[;]0[;][;crlf;]1[;]1[;]0[;]0[;crlf;]1[;]0[;]True1[;]True[;][;crlf;]0[;]0[;]False2[;]False[;][;crlf;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COUNTDOWNSECONDS" val="300"/>
  <p:tag name="TYPE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50C2C77641B548FCB7DBF2E859FDCD7E"/>
  <p:tag name="AUTOOPENPOLL" val="False"/>
  <p:tag name="TYPE" val="MultiChoiceSlide"/>
  <p:tag name="TPSLIDEBULLETSTYLE" val="2"/>
  <p:tag name="TPQUESTIONXML" val="&lt;?xml version=&quot;1.0&quot; encoding=&quot;UTF-8&quot; standalone=&quot;yes&quot;?&gt;&lt;questionlist&gt;&lt;properties&gt;&lt;guid&gt;570E0628643642E8AC61DD9FB7C33C6B&lt;/guid&gt;&lt;date&gt;4/4/2016 05:21:36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50C2C77641B548FCB7DBF2E859FDCD7E&lt;/guid&gt;&lt;repollguid&gt;4C64C201C5D1406C843662C254A1074E&lt;/repollguid&gt;&lt;sourceid&gt;075AF8E831A645BA8BF2B7D8CF62F477&lt;/sourceid&gt;&lt;questiontext&gt;F(x,y,z) = !xyz + !xy!z + xz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correctanswerindicator&gt;True&lt;/correctanswerindicator&gt;&lt;answers&gt;&lt;answer&gt;&lt;guid&gt;064CB13983954EABA39761B6131CE59E&lt;/guid&gt;&lt;answertext&gt;!xy&lt;/answertext&gt;&lt;valuetype&gt;-1&lt;/valuetype&gt;&lt;/answer&gt;&lt;answer&gt;&lt;guid&gt;AB5E974D26B145FB8AE1770784E997B8&lt;/guid&gt;&lt;answertext&gt;True&lt;/answertext&gt;&lt;valuetype&gt;-1&lt;/valuetype&gt;&lt;/answer&gt;&lt;answer&gt;&lt;guid&gt;31F4624568D8450ABFF8FB38EA1BF451&lt;/guid&gt;&lt;answertext&gt;!x(y (z +!z)) + xz&lt;/answertext&gt;&lt;valuetype&gt;-1&lt;/valuetype&gt;&lt;/answer&gt;&lt;answer&gt;&lt;guid&gt;89956DFCFB21470E9D5690541F897FF8&lt;/guid&gt;&lt;answertext&gt;!xy + xz&lt;/answertext&gt;&lt;valuetype&gt;1&lt;/valuetype&gt;&lt;/answer&gt;&lt;answer&gt;&lt;guid&gt;1C00F40F79F745BCA86F5501D3F1E029&lt;/guid&gt;&lt;answertext&gt;False&lt;/answertext&gt;&lt;valuetype&gt;-1&lt;/valuetype&gt;&lt;/answer&gt;&lt;answer&gt;&lt;guid&gt;2E670F07E0F0448B90B27614852DA3C2&lt;/guid&gt;&lt;answertext&gt;x&lt;/answertext&gt;&lt;valuetype&gt;-1&lt;/valuetype&gt;&lt;/answer&gt;&lt;/answers&gt;&lt;/multichoice&gt;&lt;/questions&gt;&lt;/questionlist&gt;"/>
  <p:tag name="LIVECHARTING" val="False"/>
  <p:tag name="CHARTTYPE" val="0"/>
  <p:tag name="CHARTDEFINEDCOLORS" val="3,6,10,45,32,50,13,4,9,55,1"/>
  <p:tag name="HASRESULTS" val="True"/>
  <p:tag name="RESULTS" val="F(x,y,z) = !xyz + !xy!z + xz[;crlf;]1[;]11[;]1[;]False[;]0[;][;crlf;]1[;]1[;]0[;]0[;crlf;]1[;]-1[;]!xy1[;]!xy[;][;crlf;]0[;]-1[;]True2[;]True[;][;crlf;]0[;]-1[;]!x(y (z +!z)) + xz3[;]!x(y (z +!z)) + xz[;][;crlf;]0[;]1[;]!xy + xz4[;]!xy + xz[;][;crlf;]0[;]-1[;]False5[;]False[;][;crlf;]0[;]-1[;]x6[;]x[;][;crlf;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C6447E1713914775A191CCD706A1CBE2"/>
  <p:tag name="AUTOOPENPOLL" val="False"/>
  <p:tag name="TYPE" val="MultiChoiceSlide"/>
  <p:tag name="TPSLIDEBULLETSTYLE" val="2"/>
  <p:tag name="TPQUESTIONXML" val="&lt;?xml version=&quot;1.0&quot; encoding=&quot;UTF-8&quot; standalone=&quot;yes&quot;?&gt;&lt;questionlist&gt;&lt;properties&gt;&lt;guid&gt;A6E8383239724F7AAB42B5D9983016B7&lt;/guid&gt;&lt;date&gt;4/4/2016 05:21:36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C6447E1713914775A191CCD706A1CBE2&lt;/guid&gt;&lt;repollguid&gt;2A759A7188004F5F8723C8E06B52DE69&lt;/repollguid&gt;&lt;sourceid&gt;E7052F8C574E4E229FCF632766361EDB&lt;/sourceid&gt;&lt;questiontext&gt;F(x,y) = y + !x!y = ?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correctanswerindicator&gt;True&lt;/correctanswerindicator&gt;&lt;answers&gt;&lt;answer&gt;&lt;guid&gt;6AE5C412597648EB814A2EDCB8AF2369&lt;/guid&gt;&lt;answertext&gt;y + !x&lt;/answertext&gt;&lt;valuetype&gt;1&lt;/valuetype&gt;&lt;/answer&gt;&lt;answer&gt;&lt;guid&gt;8A0157D0A38048D7B99D2552DE5AE24E&lt;/guid&gt;&lt;answertext&gt;x&lt;/answertext&gt;&lt;valuetype&gt;-1&lt;/valuetype&gt;&lt;/answer&gt;&lt;answer&gt;&lt;guid&gt;7209EC486605458E9C70FBCA6DBC62B8&lt;/guid&gt;&lt;answertext&gt;y&lt;/answertext&gt;&lt;valuetype&gt;-1&lt;/valuetype&gt;&lt;/answer&gt;&lt;answer&gt;&lt;guid&gt;A1CA75A9BDD94275B9DB7B90AA60A81E&lt;/guid&gt;&lt;answertext&gt;y + x&lt;/answertext&gt;&lt;valuetype&gt;-1&lt;/valuetype&gt;&lt;/answer&gt;&lt;answer&gt;&lt;guid&gt;8FC16EE0FC1B41AB941C4F002ABCDBC2&lt;/guid&gt;&lt;answertext&gt;!y+ x&lt;/answertext&gt;&lt;valuetype&gt;-1&lt;/valuetype&gt;&lt;/answer&gt;&lt;answer&gt;&lt;guid&gt;336ECE532FBC4217BB1E1F5A446CFE47&lt;/guid&gt;&lt;answertext&gt;!y + !x&lt;/answertext&gt;&lt;valuetype&gt;-1&lt;/valuetype&gt;&lt;/answer&gt;&lt;/answers&gt;&lt;/multichoice&gt;&lt;/questions&gt;&lt;/questionlist&gt;"/>
  <p:tag name="LIVECHARTING" val="False"/>
  <p:tag name="CHARTTYPE" val="0"/>
  <p:tag name="CHARTDEFINEDCOLORS" val="3,6,10,45,32,50,13,4,9,55,1"/>
  <p:tag name="HASRESULTS" val="True"/>
  <p:tag name="RESULTS" val="F(x,y) = y + !x!y = ?[;crlf;]1[;]11[;]1[;]False[;]0[;][;crlf;]3[;]3[;]0[;]0[;crlf;]0[;]1[;]y + !x1[;]y + !x[;][;crlf;]0[;]-1[;]x2[;]x[;][;crlf;]1[;]-1[;]y3[;]y[;][;crlf;]0[;]-1[;]y + x4[;]y + x[;][;crlf;]0[;]-1[;]!y+ x5[;]!y+ x[;][;crlf;]0[;]-1[;]!y + !x6[;]!y + !x[;][;crlf;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3D8396925E9A41AD990D116EC642E285"/>
  <p:tag name="AUTOOPENPOLL" val="False"/>
  <p:tag name="TYPE" val="MultiChoiceSlide"/>
  <p:tag name="TPSLIDEBULLETSTYLE" val="2"/>
  <p:tag name="TPQUESTIONXML" val="&lt;?xml version=&quot;1.0&quot; encoding=&quot;UTF-8&quot; standalone=&quot;yes&quot;?&gt;&lt;questionlist&gt;&lt;properties&gt;&lt;guid&gt;9F2864669A65437A9A605CBAA70AF4DE&lt;/guid&gt;&lt;date&gt;4/4/2016 05:21:36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3D8396925E9A41AD990D116EC642E285&lt;/guid&gt;&lt;repollguid&gt;57DBE9229F684C6A8042D97944433AA3&lt;/repollguid&gt;&lt;sourceid&gt;570A68F3FA5E4D6783F7E889DADDF6DA&lt;/sourceid&gt;&lt;questiontext&gt;F(x,y,z) = !x!y (!x + y) (!y + y)&lt;/questiontext&gt;&lt;showresults&gt;True&lt;/showresults&gt;&lt;responsegrid&gt;2&lt;/responsegrid&gt;&lt;countdowntime&gt;30&lt;/countdowntime&gt;&lt;correctvalue&gt;1&lt;/correctvalue&gt;&lt;incorrectvalue&gt;0&lt;/incorrectvalue&gt;&lt;responselimit&gt;1&lt;/responselimit&gt;&lt;bulletstyle&gt;2&lt;/bulletstyle&gt;&lt;correctanswerindicator&gt;True&lt;/correctanswerindicator&gt;&lt;answers&gt;&lt;answer&gt;&lt;guid&gt;6B2F9441F6EA482C8DC7B56AE3A75E13&lt;/guid&gt;&lt;answertext&gt;z&lt;/answertext&gt;&lt;valuetype&gt;-1&lt;/valuetype&gt;&lt;/answer&gt;&lt;answer&gt;&lt;guid&gt;77D2F65F90684E87B4EAF0E4EFE330DE&lt;/guid&gt;&lt;answertext&gt;1&lt;/answertext&gt;&lt;valuetype&gt;-1&lt;/valuetype&gt;&lt;/answer&gt;&lt;answer&gt;&lt;guid&gt;63A9D3E4727D4F49B255732D992B45AE&lt;/guid&gt;&lt;answertext&gt;!y!x&lt;/answertext&gt;&lt;valuetype&gt;1&lt;/valuetype&gt;&lt;/answer&gt;&lt;answer&gt;&lt;guid&gt;7341D53C5C7C4E73A00CB68D06D7CAC4&lt;/guid&gt;&lt;answertext&gt;0&lt;/answertext&gt;&lt;valuetype&gt;-1&lt;/valuetype&gt;&lt;/answer&gt;&lt;answer&gt;&lt;guid&gt;4E09C05ADBD04FD7B21229D80FA4128D&lt;/guid&gt;&lt;answertext&gt;!x!y!x + !x*!y*y&lt;/answertext&gt;&lt;valuetype&gt;-1&lt;/valuetype&gt;&lt;/answer&gt;&lt;answer&gt;&lt;guid&gt;05CD7E7F9D6449378B487DF6C914A54E&lt;/guid&gt;&lt;answertext&gt;!x!y&lt;/answertext&gt;&lt;valuetype&gt;1&lt;/valuetype&gt;&lt;/answer&gt;&lt;/answers&gt;&lt;/multichoice&gt;&lt;/questions&gt;&lt;/questionlist&gt;"/>
  <p:tag name="LIVECHARTING" val="False"/>
  <p:tag name="CHARTTYPE" val="0"/>
  <p:tag name="CHARTDEFINEDCOLORS" val="3,6,10,45,32,50,13,4,9,55,1"/>
  <p:tag name="HASRESULTS" val="True"/>
  <p:tag name="RESULTS" val="F(x,y,z) = !x!y (!x + y) (!y + y)[;crlf;]1[;]11[;]1[;]False[;]1[;][;crlf;]3[;]3[;]0[;]0[;crlf;]0[;]-1[;]z1[;]z[;][;crlf;]0[;]-1[;]12[;]1[;][;crlf;]1[;]1[;]!y!x3[;]!y!x[;][;crlf;]0[;]-1[;]04[;]0[;][;crlf;]0[;]-1[;]!x!y!x + !x*!y*y5[;]!x!y!x + !x*!y*y[;][;crlf;]0[;]1[;]!x!y6[;]!x!y[;][;crlf;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CAI" val="True"/>
  <p:tag name="TYP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</p:tagLst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kwell">
  <a:themeElements>
    <a:clrScheme name="Inkwell">
      <a:dk1>
        <a:sysClr val="windowText" lastClr="000000"/>
      </a:dk1>
      <a:lt1>
        <a:sysClr val="window" lastClr="FFFFFF"/>
      </a:lt1>
      <a:dk2>
        <a:srgbClr val="584D2E"/>
      </a:dk2>
      <a:lt2>
        <a:srgbClr val="EFE7C3"/>
      </a:lt2>
      <a:accent1>
        <a:srgbClr val="860908"/>
      </a:accent1>
      <a:accent2>
        <a:srgbClr val="4A0505"/>
      </a:accent2>
      <a:accent3>
        <a:srgbClr val="7A500A"/>
      </a:accent3>
      <a:accent4>
        <a:srgbClr val="C47810"/>
      </a:accent4>
      <a:accent5>
        <a:srgbClr val="827752"/>
      </a:accent5>
      <a:accent6>
        <a:srgbClr val="B5BB83"/>
      </a:accent6>
      <a:hlink>
        <a:srgbClr val="C47810"/>
      </a:hlink>
      <a:folHlink>
        <a:srgbClr val="F0A43A"/>
      </a:folHlink>
    </a:clrScheme>
    <a:fontScheme name="Inkwell">
      <a:majorFont>
        <a:latin typeface="Goudy Old Style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Goudy Old Style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Inkwel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</a:schemeClr>
              <a:schemeClr val="phClr">
                <a:alpha val="10000"/>
                <a:satMod val="12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150000"/>
              </a:schemeClr>
              <a:schemeClr val="phClr">
                <a:alpha val="10000"/>
                <a:satMod val="12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101600" dist="381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  <a:softEdge rad="25400"/>
          </a:effectLst>
        </a:effectStyle>
      </a:effectStyleLst>
      <a:bgFillStyleLst>
        <a:blipFill rotWithShape="1">
          <a:blip xmlns:r="http://schemas.openxmlformats.org/officeDocument/2006/relationships" r:embed="rId3"/>
          <a:stretch/>
        </a:blipFill>
        <a:blipFill rotWithShape="1">
          <a:blip xmlns:r="http://schemas.openxmlformats.org/officeDocument/2006/relationships" r:embed="rId4"/>
          <a:stretch/>
        </a:blipFill>
        <a:blipFill rotWithShape="1">
          <a:blip xmlns:r="http://schemas.openxmlformats.org/officeDocument/2006/relationships" r:embed="rId5"/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Inkwell.thmx</Template>
  <TotalTime>15364</TotalTime>
  <Words>6299</Words>
  <Application>Microsoft Macintosh PowerPoint</Application>
  <PresentationFormat>On-screen Show (4:3)</PresentationFormat>
  <Paragraphs>964</Paragraphs>
  <Slides>42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Inkwell</vt:lpstr>
      <vt:lpstr>Boolean Algebra</vt:lpstr>
      <vt:lpstr>Truth Tables – AND in ROM</vt:lpstr>
      <vt:lpstr>Truth Tables – OR in ROM</vt:lpstr>
      <vt:lpstr>XOR Truth Tables &amp; ROM</vt:lpstr>
      <vt:lpstr>TODO: Consider XOR</vt:lpstr>
      <vt:lpstr>Introduction to Boolean Algebra </vt:lpstr>
      <vt:lpstr>Boolean Definitions (Cheat Sheet)</vt:lpstr>
      <vt:lpstr>Boolean Definitions Explained</vt:lpstr>
      <vt:lpstr>Expanding on Truth Tables: ROM or Gates?</vt:lpstr>
      <vt:lpstr>Big Idea: ROM (Acts) as Gates?</vt:lpstr>
      <vt:lpstr>Positive Logic AND &lt;-&gt; Negative Logic OR</vt:lpstr>
      <vt:lpstr>Summary of Boolean Laws</vt:lpstr>
      <vt:lpstr>Laws of Complementation (Laws of Inverse or Negation)</vt:lpstr>
      <vt:lpstr>Laws of Commutation (Laws of Commuting Variables with Like Signs)</vt:lpstr>
      <vt:lpstr>Laws of Associativity (Laws of Associating Parenthesis)</vt:lpstr>
      <vt:lpstr>Laws of Distribution (Laws of “Multiplying Out”)</vt:lpstr>
      <vt:lpstr>Laws of Tautology (Laws of Growing, Shrinking, &amp; Obvious)</vt:lpstr>
      <vt:lpstr>Laws of Tautology (Laws of Obvious)</vt:lpstr>
      <vt:lpstr>Laws of Absorption (Laws of “Least Obvious”)</vt:lpstr>
      <vt:lpstr>Laws of DeMorgan (De Morgan’s Theorems, or “Laws” of “Math” For Men and Women)</vt:lpstr>
      <vt:lpstr>“How To” Work With Binary Algebra</vt:lpstr>
      <vt:lpstr>Grow? Make Things Bigger?</vt:lpstr>
      <vt:lpstr>Boolean Exercise #1</vt:lpstr>
      <vt:lpstr>#2:  F(X,Y) = XY + !XY = ? </vt:lpstr>
      <vt:lpstr>Boolean Exercise #3</vt:lpstr>
      <vt:lpstr>Answer for #3:  F(x,y,z) = !xyz + !xy!z + xz  </vt:lpstr>
      <vt:lpstr>#4: F(x,y) = y + !x!y </vt:lpstr>
      <vt:lpstr>#5: F(x,y) = !x!y (!x + y) (!y + y)</vt:lpstr>
      <vt:lpstr>Boolean Exercise #6</vt:lpstr>
      <vt:lpstr>Boolean Exercise #7 (3.7)</vt:lpstr>
      <vt:lpstr>Boolean Exercise #8</vt:lpstr>
      <vt:lpstr>More Practice - Go!</vt:lpstr>
      <vt:lpstr>Aside: What’s in a name? XNOR?</vt:lpstr>
      <vt:lpstr>Infinite Diversity In Infinite Combinations</vt:lpstr>
      <vt:lpstr>Canonical Form</vt:lpstr>
      <vt:lpstr>S.O.P Example: Majority Function</vt:lpstr>
      <vt:lpstr>Aside: Hardware Makes the Hero Super</vt:lpstr>
      <vt:lpstr>Aside: Hardware Makes the Hero Super</vt:lpstr>
      <vt:lpstr>Aside: Hardware Optimality</vt:lpstr>
      <vt:lpstr>Hardware Problem Solving  “How To”</vt:lpstr>
      <vt:lpstr>Summary of Boolean Laws</vt:lpstr>
      <vt:lpstr>Looking Ahead:  K-Maps to the Rescue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ArrayLists</dc:title>
  <dc:creator>ThinBlade</dc:creator>
  <cp:lastModifiedBy>Rob Nash</cp:lastModifiedBy>
  <cp:revision>881</cp:revision>
  <dcterms:created xsi:type="dcterms:W3CDTF">2006-08-16T00:00:00Z</dcterms:created>
  <dcterms:modified xsi:type="dcterms:W3CDTF">2018-10-03T23:12:05Z</dcterms:modified>
</cp:coreProperties>
</file>