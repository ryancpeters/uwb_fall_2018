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1"/>
  </p:notesMasterIdLst>
  <p:sldIdLst>
    <p:sldId id="256" r:id="rId2"/>
    <p:sldId id="282" r:id="rId3"/>
    <p:sldId id="291" r:id="rId4"/>
    <p:sldId id="283" r:id="rId5"/>
    <p:sldId id="259" r:id="rId6"/>
    <p:sldId id="258" r:id="rId7"/>
    <p:sldId id="296" r:id="rId8"/>
    <p:sldId id="257" r:id="rId9"/>
    <p:sldId id="260" r:id="rId10"/>
    <p:sldId id="262" r:id="rId11"/>
    <p:sldId id="261" r:id="rId12"/>
    <p:sldId id="269" r:id="rId13"/>
    <p:sldId id="263" r:id="rId14"/>
    <p:sldId id="264" r:id="rId15"/>
    <p:sldId id="298" r:id="rId16"/>
    <p:sldId id="267" r:id="rId17"/>
    <p:sldId id="265" r:id="rId18"/>
    <p:sldId id="266" r:id="rId19"/>
    <p:sldId id="268" r:id="rId20"/>
    <p:sldId id="272" r:id="rId21"/>
    <p:sldId id="292" r:id="rId22"/>
    <p:sldId id="299" r:id="rId23"/>
    <p:sldId id="279" r:id="rId24"/>
    <p:sldId id="280" r:id="rId25"/>
    <p:sldId id="293" r:id="rId26"/>
    <p:sldId id="294" r:id="rId27"/>
    <p:sldId id="295" r:id="rId28"/>
    <p:sldId id="276" r:id="rId29"/>
    <p:sldId id="277" r:id="rId30"/>
    <p:sldId id="275" r:id="rId31"/>
    <p:sldId id="281" r:id="rId32"/>
    <p:sldId id="273" r:id="rId33"/>
    <p:sldId id="274" r:id="rId34"/>
    <p:sldId id="287" r:id="rId35"/>
    <p:sldId id="289" r:id="rId36"/>
    <p:sldId id="286" r:id="rId37"/>
    <p:sldId id="290" r:id="rId38"/>
    <p:sldId id="297" r:id="rId39"/>
    <p:sldId id="284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733" autoAdjust="0"/>
  </p:normalViewPr>
  <p:slideViewPr>
    <p:cSldViewPr>
      <p:cViewPr varScale="1">
        <p:scale>
          <a:sx n="104" d="100"/>
          <a:sy n="104" d="100"/>
        </p:scale>
        <p:origin x="-80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interSettings" Target="printerSettings/printerSettings1.bin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269E8-9AB2-1C46-9195-006B18848728}" type="datetimeFigureOut">
              <a:rPr lang="en-US" smtClean="0"/>
              <a:t>10/1/18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C1DAA9-83BA-F14B-BDFF-2F1A7E70D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233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C1DAA9-83BA-F14B-BDFF-2F1A7E70DAD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876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 before today you really liked 10 for random reasons.  </a:t>
            </a:r>
          </a:p>
          <a:p>
            <a:r>
              <a:rPr lang="en-US" dirty="0" smtClean="0"/>
              <a:t>But</a:t>
            </a:r>
            <a:r>
              <a:rPr lang="en-US" baseline="0" dirty="0" smtClean="0"/>
              <a:t> now, you live and breath these binary stars.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C1DAA9-83BA-F14B-BDFF-2F1A7E70DAD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84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 before today you really liked 10 for random reasons.  </a:t>
            </a:r>
          </a:p>
          <a:p>
            <a:r>
              <a:rPr lang="en-US" dirty="0" smtClean="0"/>
              <a:t>But</a:t>
            </a:r>
            <a:r>
              <a:rPr lang="en-US" baseline="0" dirty="0" smtClean="0"/>
              <a:t> now, you live and breath these </a:t>
            </a:r>
            <a:r>
              <a:rPr lang="en-US" baseline="0" smtClean="0"/>
              <a:t>binary stars.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C1DAA9-83BA-F14B-BDFF-2F1A7E70DAD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84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A:Overflow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C1DAA9-83BA-F14B-BDFF-2F1A7E70DAD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80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C1DAA9-83BA-F14B-BDFF-2F1A7E70DAD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866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As</a:t>
            </a:r>
            <a:r>
              <a:rPr lang="en-US" baseline="0" dirty="0" smtClean="0"/>
              <a:t> division is merely the inverse of multiplication, so to can you invert this operation to arrive at the original value – do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C1DAA9-83BA-F14B-BDFF-2F1A7E70DAD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2119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(714)</a:t>
            </a:r>
            <a:r>
              <a:rPr lang="en-US" baseline="-25000" dirty="0" smtClean="0"/>
              <a:t>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C1DAA9-83BA-F14B-BDFF-2F1A7E70DAD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25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C1DAA9-83BA-F14B-BDFF-2F1A7E70DAD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712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Q______|</a:t>
            </a:r>
            <a:r>
              <a:rPr lang="en-US" baseline="0" dirty="0" smtClean="0"/>
              <a:t> Remainder</a:t>
            </a:r>
            <a:endParaRPr lang="en-US" dirty="0" smtClean="0"/>
          </a:p>
          <a:p>
            <a:r>
              <a:rPr lang="en-US" dirty="0" smtClean="0"/>
              <a:t>98231    | 6</a:t>
            </a:r>
          </a:p>
          <a:p>
            <a:r>
              <a:rPr lang="en-US" dirty="0" smtClean="0"/>
              <a:t>3929	   | 4</a:t>
            </a:r>
          </a:p>
          <a:p>
            <a:r>
              <a:rPr lang="en-US" dirty="0" smtClean="0"/>
              <a:t>157        |7</a:t>
            </a:r>
          </a:p>
          <a:p>
            <a:r>
              <a:rPr lang="en-US" dirty="0" smtClean="0"/>
              <a:t>6           |6</a:t>
            </a:r>
          </a:p>
          <a:p>
            <a:r>
              <a:rPr lang="en-US" dirty="0" smtClean="0"/>
              <a:t>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C1DAA9-83BA-F14B-BDFF-2F1A7E70DAD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99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Q______|</a:t>
            </a:r>
            <a:r>
              <a:rPr lang="en-US" baseline="0" dirty="0" smtClean="0"/>
              <a:t> Remainder</a:t>
            </a:r>
            <a:endParaRPr lang="en-US" dirty="0" smtClean="0"/>
          </a:p>
          <a:p>
            <a:r>
              <a:rPr lang="en-US" dirty="0" smtClean="0"/>
              <a:t>98231    | 6</a:t>
            </a:r>
          </a:p>
          <a:p>
            <a:r>
              <a:rPr lang="en-US" dirty="0" smtClean="0"/>
              <a:t>3929	   | 4</a:t>
            </a:r>
          </a:p>
          <a:p>
            <a:r>
              <a:rPr lang="en-US" dirty="0" smtClean="0"/>
              <a:t>157        |7</a:t>
            </a:r>
          </a:p>
          <a:p>
            <a:r>
              <a:rPr lang="en-US" dirty="0" smtClean="0"/>
              <a:t>6           |6</a:t>
            </a:r>
          </a:p>
          <a:p>
            <a:r>
              <a:rPr lang="en-US" dirty="0" smtClean="0"/>
              <a:t>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C1DAA9-83BA-F14B-BDFF-2F1A7E70DAD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991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Q______|</a:t>
            </a:r>
            <a:r>
              <a:rPr lang="en-US" baseline="0" dirty="0" smtClean="0"/>
              <a:t> Remainder</a:t>
            </a:r>
            <a:endParaRPr lang="en-US" dirty="0" smtClean="0"/>
          </a:p>
          <a:p>
            <a:r>
              <a:rPr lang="en-US" dirty="0" smtClean="0"/>
              <a:t>98231    | 6</a:t>
            </a:r>
          </a:p>
          <a:p>
            <a:r>
              <a:rPr lang="en-US" dirty="0" smtClean="0"/>
              <a:t>3929	   | 4</a:t>
            </a:r>
          </a:p>
          <a:p>
            <a:r>
              <a:rPr lang="en-US" dirty="0" smtClean="0"/>
              <a:t>157        |7</a:t>
            </a:r>
          </a:p>
          <a:p>
            <a:r>
              <a:rPr lang="en-US" dirty="0" smtClean="0"/>
              <a:t>6           |6</a:t>
            </a:r>
          </a:p>
          <a:p>
            <a:r>
              <a:rPr lang="en-US" dirty="0" smtClean="0"/>
              <a:t>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C1DAA9-83BA-F14B-BDFF-2F1A7E70DAD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991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Q______|</a:t>
            </a:r>
            <a:r>
              <a:rPr lang="en-US" baseline="0" dirty="0" smtClean="0"/>
              <a:t> Remainder</a:t>
            </a:r>
            <a:endParaRPr lang="en-US" dirty="0" smtClean="0"/>
          </a:p>
          <a:p>
            <a:r>
              <a:rPr lang="en-US" dirty="0" smtClean="0"/>
              <a:t>98231    | 6</a:t>
            </a:r>
          </a:p>
          <a:p>
            <a:r>
              <a:rPr lang="en-US" dirty="0" smtClean="0"/>
              <a:t>3929	   | 4</a:t>
            </a:r>
          </a:p>
          <a:p>
            <a:r>
              <a:rPr lang="en-US" dirty="0" smtClean="0"/>
              <a:t>157        |7</a:t>
            </a:r>
          </a:p>
          <a:p>
            <a:r>
              <a:rPr lang="en-US" dirty="0" smtClean="0"/>
              <a:t>6           |6</a:t>
            </a:r>
          </a:p>
          <a:p>
            <a:r>
              <a:rPr lang="en-US" dirty="0" smtClean="0"/>
              <a:t>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C1DAA9-83BA-F14B-BDFF-2F1A7E70DAD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991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Course covered - Well, now you know ALL about hardware!</a:t>
            </a:r>
          </a:p>
          <a:p>
            <a:r>
              <a:rPr lang="en-US" dirty="0" smtClean="0"/>
              <a:t>Can we reorganize our circuit</a:t>
            </a:r>
            <a:r>
              <a:rPr lang="en-US" baseline="0" dirty="0" smtClean="0"/>
              <a:t> components</a:t>
            </a:r>
            <a:r>
              <a:rPr lang="en-US" dirty="0" smtClean="0"/>
              <a:t>, or our process here, to gain efficiency?</a:t>
            </a:r>
          </a:p>
          <a:p>
            <a:r>
              <a:rPr lang="en-US" dirty="0" smtClean="0"/>
              <a:t>We’ll </a:t>
            </a:r>
            <a:r>
              <a:rPr lang="en-US" dirty="0" err="1" smtClean="0"/>
              <a:t>cannonify</a:t>
            </a:r>
            <a:r>
              <a:rPr lang="en-US" dirty="0" smtClean="0"/>
              <a:t> some of these design tradeoffs into</a:t>
            </a:r>
            <a:r>
              <a:rPr lang="en-US" baseline="0" dirty="0" smtClean="0"/>
              <a:t> Hardware Design principles,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C1DAA9-83BA-F14B-BDFF-2F1A7E70DAD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6927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Did you memorize the Hex numbers like</a:t>
            </a:r>
            <a:r>
              <a:rPr lang="en-US" baseline="0" dirty="0" smtClean="0"/>
              <a:t> I asked you to?</a:t>
            </a:r>
          </a:p>
          <a:p>
            <a:r>
              <a:rPr lang="en-US" baseline="0" dirty="0" smtClean="0"/>
              <a:t>For this set of problems, you can double check your memory using this reference – no such luck for </a:t>
            </a:r>
            <a:r>
              <a:rPr lang="en-US" baseline="0" smtClean="0"/>
              <a:t>the exam.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C1DAA9-83BA-F14B-BDFF-2F1A7E70DAD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4965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Note the </a:t>
            </a:r>
            <a:r>
              <a:rPr lang="en-US" dirty="0" err="1" smtClean="0"/>
              <a:t>flipflop</a:t>
            </a:r>
            <a:r>
              <a:rPr lang="en-US" dirty="0" smtClean="0"/>
              <a:t> for MSD and LSD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C1DAA9-83BA-F14B-BDFF-2F1A7E70DAD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166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Note the </a:t>
            </a:r>
            <a:r>
              <a:rPr lang="en-US" dirty="0" err="1" smtClean="0"/>
              <a:t>flipflop</a:t>
            </a:r>
            <a:r>
              <a:rPr lang="en-US" dirty="0" smtClean="0"/>
              <a:t> for MSD and LSD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C1DAA9-83BA-F14B-BDFF-2F1A7E70DAD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166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C1DAA9-83BA-F14B-BDFF-2F1A7E70DAD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166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C1DAA9-83BA-F14B-BDFF-2F1A7E70DAD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16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01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3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52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01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40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67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12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16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74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9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4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112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 Bases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Instructor: Rob Nash</a:t>
            </a:r>
          </a:p>
          <a:p>
            <a:r>
              <a:rPr lang="en-US" dirty="0" smtClean="0"/>
              <a:t>Readings: See Schedule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“Any set of symbols from any chosen radix can be converted into another set of symbols from a different radix that is equivalent in value”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“All Your Base”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7800" y="5943600"/>
            <a:ext cx="1676400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Summary: </a:t>
            </a:r>
            <a:r>
              <a:rPr lang="en-US" dirty="0" smtClean="0">
                <a:solidFill>
                  <a:schemeClr val="bg1"/>
                </a:solidFill>
              </a:rPr>
              <a:t>* &amp; /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Positional Numbering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89037"/>
            <a:ext cx="91440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rgbClr val="E46C0A"/>
                </a:solidFill>
              </a:rPr>
              <a:t>6</a:t>
            </a:r>
            <a:r>
              <a:rPr lang="en-US" dirty="0" smtClean="0"/>
              <a:t>5</a:t>
            </a:r>
            <a:r>
              <a:rPr lang="en-US" dirty="0" smtClean="0">
                <a:solidFill>
                  <a:srgbClr val="B3A2C7"/>
                </a:solidFill>
              </a:rPr>
              <a:t>4</a:t>
            </a:r>
            <a:r>
              <a:rPr lang="en-US" dirty="0" smtClean="0"/>
              <a:t> =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600</a:t>
            </a:r>
            <a:r>
              <a:rPr lang="en-US" dirty="0" smtClean="0"/>
              <a:t> +50 + </a:t>
            </a:r>
            <a:r>
              <a:rPr lang="en-US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4</a:t>
            </a:r>
            <a:r>
              <a:rPr lang="en-US" dirty="0" smtClean="0"/>
              <a:t>    //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MSD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B3A2C7"/>
                </a:solidFill>
              </a:rPr>
              <a:t>LSD </a:t>
            </a:r>
            <a:r>
              <a:rPr lang="en-US" dirty="0" smtClean="0"/>
              <a:t>from L-to-R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dirty="0" smtClean="0"/>
              <a:t>4</a:t>
            </a:r>
            <a:r>
              <a:rPr lang="en-US" dirty="0" smtClean="0">
                <a:solidFill>
                  <a:srgbClr val="B3A2C7"/>
                </a:solidFill>
              </a:rPr>
              <a:t>3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E46C0A"/>
                </a:solidFill>
              </a:rPr>
              <a:t>200</a:t>
            </a:r>
            <a:r>
              <a:rPr lang="en-US" dirty="0" smtClean="0"/>
              <a:t>      + 40          + </a:t>
            </a:r>
            <a:r>
              <a:rPr lang="en-US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3</a:t>
            </a:r>
          </a:p>
          <a:p>
            <a:pPr marL="457200" lvl="1" indent="0">
              <a:buNone/>
            </a:pPr>
            <a:r>
              <a:rPr lang="en-US" dirty="0" smtClean="0"/>
              <a:t>       =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2 * 100</a:t>
            </a:r>
            <a:r>
              <a:rPr lang="en-US" dirty="0" smtClean="0"/>
              <a:t>   + 4 * 10</a:t>
            </a:r>
            <a:r>
              <a:rPr lang="en-US" baseline="30000" dirty="0" smtClean="0"/>
              <a:t>1</a:t>
            </a:r>
            <a:r>
              <a:rPr lang="en-US" dirty="0" smtClean="0"/>
              <a:t>     + </a:t>
            </a:r>
            <a:r>
              <a:rPr lang="en-US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3 * 1</a:t>
            </a:r>
            <a:r>
              <a:rPr lang="en-US" dirty="0" smtClean="0"/>
              <a:t> </a:t>
            </a:r>
          </a:p>
          <a:p>
            <a:pPr marL="457200" lvl="1" indent="0">
              <a:buNone/>
            </a:pPr>
            <a:r>
              <a:rPr lang="en-US" dirty="0" smtClean="0"/>
              <a:t>	 = </a:t>
            </a:r>
            <a:r>
              <a:rPr lang="en-US" dirty="0" smtClean="0">
                <a:solidFill>
                  <a:srgbClr val="E46C0A"/>
                </a:solidFill>
              </a:rPr>
              <a:t>2 * 10</a:t>
            </a:r>
            <a:r>
              <a:rPr lang="en-US" baseline="30000" dirty="0" smtClean="0">
                <a:solidFill>
                  <a:srgbClr val="E46C0A"/>
                </a:solidFill>
              </a:rPr>
              <a:t>2</a:t>
            </a:r>
            <a:r>
              <a:rPr lang="en-US" dirty="0" smtClean="0">
                <a:solidFill>
                  <a:srgbClr val="E46C0A"/>
                </a:solidFill>
              </a:rPr>
              <a:t> </a:t>
            </a:r>
            <a:r>
              <a:rPr lang="en-US" dirty="0" smtClean="0"/>
              <a:t>   + 4 * 10</a:t>
            </a:r>
            <a:r>
              <a:rPr lang="en-US" baseline="30000" dirty="0" smtClean="0"/>
              <a:t>1</a:t>
            </a:r>
            <a:r>
              <a:rPr lang="en-US" dirty="0" smtClean="0"/>
              <a:t>     + </a:t>
            </a:r>
            <a:r>
              <a:rPr lang="en-US" dirty="0" smtClean="0">
                <a:solidFill>
                  <a:srgbClr val="B3A2C7"/>
                </a:solidFill>
              </a:rPr>
              <a:t>3 * 10</a:t>
            </a:r>
            <a:r>
              <a:rPr lang="en-US" baseline="30000" dirty="0" smtClean="0">
                <a:solidFill>
                  <a:srgbClr val="B3A2C7"/>
                </a:solidFill>
              </a:rPr>
              <a:t>0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Moving </a:t>
            </a:r>
            <a:r>
              <a:rPr lang="en-US" dirty="0" smtClean="0">
                <a:solidFill>
                  <a:srgbClr val="E46C0A"/>
                </a:solidFill>
              </a:rPr>
              <a:t>left</a:t>
            </a:r>
            <a:r>
              <a:rPr lang="en-US" dirty="0" smtClean="0"/>
              <a:t> increases the powers of the </a:t>
            </a:r>
            <a:r>
              <a:rPr lang="en-US" dirty="0" smtClean="0"/>
              <a:t>base(</a:t>
            </a:r>
            <a:r>
              <a:rPr lang="en-US" i="1" dirty="0" smtClean="0"/>
              <a:t>radix</a:t>
            </a:r>
            <a:r>
              <a:rPr lang="en-US" dirty="0" smtClean="0"/>
              <a:t>)</a:t>
            </a:r>
            <a:endParaRPr lang="en-US" dirty="0" smtClean="0"/>
          </a:p>
          <a:p>
            <a:pPr lvl="1"/>
            <a:r>
              <a:rPr lang="en-US" dirty="0" smtClean="0"/>
              <a:t>From </a:t>
            </a:r>
            <a:r>
              <a:rPr lang="en-US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least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E46C0A"/>
                </a:solidFill>
              </a:rPr>
              <a:t>most</a:t>
            </a:r>
            <a:r>
              <a:rPr lang="en-US" dirty="0" smtClean="0"/>
              <a:t> significant digits</a:t>
            </a:r>
          </a:p>
          <a:p>
            <a:pPr lvl="1"/>
            <a:r>
              <a:rPr lang="en-US" dirty="0" smtClean="0"/>
              <a:t>Position (and color above) indicates weight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079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smtClean="0"/>
              <a:t>Positional Numbering 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89037"/>
            <a:ext cx="91440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[eventually] “Europe embraced the decimal numbering system that the Arabs and Hindus had been using for nearly a millennium”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dirty="0" smtClean="0"/>
              <a:t>4</a:t>
            </a:r>
            <a:r>
              <a:rPr lang="en-US" dirty="0" smtClean="0">
                <a:solidFill>
                  <a:srgbClr val="B3A2C7"/>
                </a:solidFill>
              </a:rPr>
              <a:t>3</a:t>
            </a:r>
            <a:r>
              <a:rPr lang="en-US" dirty="0" smtClean="0"/>
              <a:t> = 200 + 40 + 3   //automatic for us</a:t>
            </a:r>
          </a:p>
          <a:p>
            <a:pPr lvl="1"/>
            <a:r>
              <a:rPr lang="en-US" dirty="0" smtClean="0"/>
              <a:t>2 * 10^2 + 4 * 10^1 + 3 * 10^0</a:t>
            </a:r>
          </a:p>
          <a:p>
            <a:r>
              <a:rPr lang="en-US" dirty="0" smtClean="0"/>
              <a:t>Moving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left</a:t>
            </a:r>
            <a:r>
              <a:rPr lang="en-US" dirty="0" smtClean="0"/>
              <a:t> increases the powers of the radix </a:t>
            </a:r>
          </a:p>
          <a:p>
            <a:pPr lvl="1"/>
            <a:r>
              <a:rPr lang="en-US" dirty="0" smtClean="0"/>
              <a:t>From </a:t>
            </a:r>
            <a:r>
              <a:rPr lang="en-US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LSD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E46C0A"/>
                </a:solidFill>
              </a:rPr>
              <a:t>MSD</a:t>
            </a:r>
          </a:p>
          <a:p>
            <a:pPr lvl="2"/>
            <a:r>
              <a:rPr lang="en-US" dirty="0" smtClean="0"/>
              <a:t>So these symbols are </a:t>
            </a:r>
            <a:r>
              <a:rPr lang="en-US" i="1" dirty="0" smtClean="0"/>
              <a:t>weighted</a:t>
            </a:r>
            <a:r>
              <a:rPr lang="en-US" dirty="0" smtClean="0"/>
              <a:t> based on their relative </a:t>
            </a:r>
            <a:r>
              <a:rPr lang="en-US" i="1" dirty="0" smtClean="0"/>
              <a:t>position</a:t>
            </a:r>
            <a:r>
              <a:rPr lang="en-US" dirty="0" smtClean="0"/>
              <a:t> to one another.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5638800"/>
            <a:ext cx="86106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For evolutionary reasons: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H</a:t>
            </a:r>
            <a:r>
              <a:rPr lang="en-US" dirty="0" smtClean="0"/>
              <a:t>umans prefer base 10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Computers prefer base 2 (currently)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Base 8 and 16 makes parsing binary approachable and scalable for human readers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27861" y="30576"/>
            <a:ext cx="2209800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1101</a:t>
            </a:r>
            <a:r>
              <a:rPr lang="en-US" baseline="-25000" dirty="0" smtClean="0"/>
              <a:t>2</a:t>
            </a:r>
            <a:r>
              <a:rPr lang="en-US" dirty="0" smtClean="0"/>
              <a:t> = ???</a:t>
            </a:r>
            <a:r>
              <a:rPr lang="en-US" baseline="-25000" dirty="0" smtClean="0"/>
              <a:t>10</a:t>
            </a:r>
            <a:r>
              <a:rPr lang="en-US" dirty="0" smtClean="0"/>
              <a:t> = D</a:t>
            </a:r>
            <a:r>
              <a:rPr lang="en-US" baseline="-25000" dirty="0" smtClean="0"/>
              <a:t>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27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Word On Words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4488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accent5"/>
                </a:solidFill>
              </a:rPr>
              <a:t>b</a:t>
            </a:r>
            <a:r>
              <a:rPr lang="en-US" dirty="0" smtClean="0">
                <a:solidFill>
                  <a:schemeClr val="accent5"/>
                </a:solidFill>
              </a:rPr>
              <a:t>it</a:t>
            </a:r>
            <a:r>
              <a:rPr lang="en-US" dirty="0" smtClean="0"/>
              <a:t> – </a:t>
            </a:r>
            <a:r>
              <a:rPr lang="en-US" b="1" i="1" dirty="0" err="1" smtClean="0"/>
              <a:t>bigit</a:t>
            </a:r>
            <a:r>
              <a:rPr lang="en-US" b="1" i="1" dirty="0" smtClean="0"/>
              <a:t>(?)</a:t>
            </a:r>
            <a:r>
              <a:rPr lang="en-US" dirty="0" smtClean="0"/>
              <a:t>, binary digit, </a:t>
            </a:r>
            <a:r>
              <a:rPr lang="en-US" i="1" dirty="0" smtClean="0">
                <a:solidFill>
                  <a:schemeClr val="accent5"/>
                </a:solidFill>
              </a:rPr>
              <a:t>always lowercase b</a:t>
            </a:r>
          </a:p>
          <a:p>
            <a:r>
              <a:rPr lang="en-US" dirty="0" smtClean="0">
                <a:solidFill>
                  <a:schemeClr val="accent6"/>
                </a:solidFill>
              </a:rPr>
              <a:t>Byte</a:t>
            </a:r>
            <a:r>
              <a:rPr lang="en-US" dirty="0" smtClean="0"/>
              <a:t> – IBM 360 grouped 8 bits into a logical package</a:t>
            </a:r>
          </a:p>
          <a:p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Word</a:t>
            </a:r>
            <a:r>
              <a:rPr lang="en-US" dirty="0" smtClean="0"/>
              <a:t> – 2 or more Bytes that are logically related</a:t>
            </a:r>
          </a:p>
          <a:p>
            <a:pPr lvl="1"/>
            <a:r>
              <a:rPr lang="en-US" dirty="0" smtClean="0"/>
              <a:t>Sentence, </a:t>
            </a:r>
            <a:r>
              <a:rPr lang="en-US" dirty="0" err="1" smtClean="0"/>
              <a:t>ByteStream</a:t>
            </a:r>
            <a:r>
              <a:rPr lang="en-US" dirty="0" smtClean="0"/>
              <a:t>, instruction – 2 or more Bytes</a:t>
            </a:r>
          </a:p>
          <a:p>
            <a:r>
              <a:rPr lang="en-US" dirty="0" smtClean="0">
                <a:solidFill>
                  <a:schemeClr val="accent3"/>
                </a:solidFill>
              </a:rPr>
              <a:t>Long</a:t>
            </a:r>
            <a:r>
              <a:rPr lang="en-US" dirty="0" smtClean="0"/>
              <a:t>: a.k.a. Long Word, twice the size of a word</a:t>
            </a:r>
          </a:p>
          <a:p>
            <a:r>
              <a:rPr lang="en-US" dirty="0" smtClean="0">
                <a:solidFill>
                  <a:schemeClr val="accent5"/>
                </a:solidFill>
              </a:rPr>
              <a:t>N </a:t>
            </a:r>
            <a:r>
              <a:rPr lang="en-US" dirty="0">
                <a:solidFill>
                  <a:schemeClr val="accent5"/>
                </a:solidFill>
              </a:rPr>
              <a:t>b</a:t>
            </a:r>
            <a:r>
              <a:rPr lang="en-US" dirty="0" smtClean="0">
                <a:solidFill>
                  <a:schemeClr val="accent5"/>
                </a:solidFill>
              </a:rPr>
              <a:t>its </a:t>
            </a:r>
            <a:r>
              <a:rPr lang="en-US" dirty="0" smtClean="0"/>
              <a:t>stores 2</a:t>
            </a:r>
            <a:r>
              <a:rPr lang="en-US" baseline="30000" dirty="0" smtClean="0"/>
              <a:t>N</a:t>
            </a:r>
            <a:r>
              <a:rPr lang="en-US" dirty="0" smtClean="0"/>
              <a:t> values, so 4 bits can distinctly express? </a:t>
            </a:r>
          </a:p>
          <a:p>
            <a:pPr lvl="1"/>
            <a:r>
              <a:rPr lang="en-US" dirty="0" smtClean="0"/>
              <a:t>[0,15]</a:t>
            </a:r>
          </a:p>
          <a:p>
            <a:pPr lvl="1"/>
            <a:r>
              <a:rPr lang="en-US" dirty="0" smtClean="0"/>
              <a:t>[0, 2</a:t>
            </a:r>
            <a:r>
              <a:rPr lang="en-US" baseline="30000" dirty="0" smtClean="0"/>
              <a:t>N</a:t>
            </a:r>
            <a:r>
              <a:rPr lang="en-US" dirty="0" smtClean="0"/>
              <a:t>-1]  //more generally</a:t>
            </a: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You try to store a value larger than 15 in 4 bits – what happens?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893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Base Conversions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Common transformations include</a:t>
            </a:r>
          </a:p>
          <a:p>
            <a:pPr lvl="1"/>
            <a:r>
              <a:rPr lang="en-US" dirty="0" smtClean="0">
                <a:solidFill>
                  <a:schemeClr val="accent4"/>
                </a:solidFill>
              </a:rPr>
              <a:t>Hex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4BACC6"/>
                </a:solidFill>
              </a:rPr>
              <a:t>binary</a:t>
            </a:r>
          </a:p>
          <a:p>
            <a:pPr lvl="1"/>
            <a:r>
              <a:rPr lang="en-US" dirty="0" smtClean="0">
                <a:solidFill>
                  <a:srgbClr val="8064A2"/>
                </a:solidFill>
              </a:rPr>
              <a:t>Octal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4BACC6"/>
                </a:solidFill>
              </a:rPr>
              <a:t>binary</a:t>
            </a:r>
          </a:p>
          <a:p>
            <a:pPr lvl="1"/>
            <a:r>
              <a:rPr lang="en-US" dirty="0" smtClean="0">
                <a:solidFill>
                  <a:srgbClr val="4BACC6"/>
                </a:solidFill>
              </a:rPr>
              <a:t>Binary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chemeClr val="accent6"/>
                </a:solidFill>
              </a:rPr>
              <a:t>decimal </a:t>
            </a:r>
          </a:p>
          <a:p>
            <a:pPr lvl="1"/>
            <a:r>
              <a:rPr lang="en-US" dirty="0" smtClean="0">
                <a:solidFill>
                  <a:srgbClr val="F79646"/>
                </a:solidFill>
              </a:rPr>
              <a:t>Decimal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4BACC6"/>
                </a:solidFill>
              </a:rPr>
              <a:t>binary</a:t>
            </a:r>
          </a:p>
          <a:p>
            <a:pPr lvl="1"/>
            <a:r>
              <a:rPr lang="en-US" dirty="0" smtClean="0"/>
              <a:t>In general, Base X to Base Y </a:t>
            </a:r>
            <a:r>
              <a:rPr lang="en-US" dirty="0" smtClean="0"/>
              <a:t>via an intermediary</a:t>
            </a:r>
            <a:endParaRPr lang="en-US" dirty="0" smtClean="0"/>
          </a:p>
          <a:p>
            <a:pPr lvl="2"/>
            <a:r>
              <a:rPr lang="en-US" dirty="0" smtClean="0"/>
              <a:t>Base X to </a:t>
            </a:r>
            <a:r>
              <a:rPr lang="en-US" dirty="0" smtClean="0">
                <a:solidFill>
                  <a:srgbClr val="F79646"/>
                </a:solidFill>
              </a:rPr>
              <a:t>Base 10</a:t>
            </a:r>
          </a:p>
          <a:p>
            <a:pPr lvl="2"/>
            <a:r>
              <a:rPr lang="en-US" dirty="0" smtClean="0">
                <a:solidFill>
                  <a:srgbClr val="F79646"/>
                </a:solidFill>
              </a:rPr>
              <a:t>Base 10 </a:t>
            </a:r>
            <a:r>
              <a:rPr lang="en-US" dirty="0" smtClean="0"/>
              <a:t>to Base Y</a:t>
            </a:r>
          </a:p>
          <a:p>
            <a:pPr lvl="3"/>
            <a:r>
              <a:rPr lang="en-US" dirty="0" smtClean="0"/>
              <a:t>Sometimes, we can take shortcuts; ex: </a:t>
            </a:r>
            <a:r>
              <a:rPr lang="en-US" dirty="0">
                <a:solidFill>
                  <a:srgbClr val="8064A2"/>
                </a:solidFill>
              </a:rPr>
              <a:t>h</a:t>
            </a:r>
            <a:r>
              <a:rPr lang="en-US" dirty="0" smtClean="0">
                <a:solidFill>
                  <a:srgbClr val="8064A2"/>
                </a:solidFill>
              </a:rPr>
              <a:t>ex</a:t>
            </a:r>
            <a:r>
              <a:rPr lang="en-US" dirty="0" smtClean="0"/>
              <a:t>-to-</a:t>
            </a:r>
            <a:r>
              <a:rPr lang="en-US" dirty="0" smtClean="0">
                <a:solidFill>
                  <a:srgbClr val="4BACC6"/>
                </a:solidFill>
              </a:rPr>
              <a:t>binary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53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Base B Expansion (to Decimal)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76400"/>
            <a:ext cx="9144000" cy="37338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i="1" dirty="0" smtClean="0"/>
          </a:p>
          <a:p>
            <a:pPr marL="0" indent="0">
              <a:buNone/>
            </a:pPr>
            <a:r>
              <a:rPr lang="en-US" dirty="0" smtClean="0"/>
              <a:t> X</a:t>
            </a:r>
            <a:r>
              <a:rPr lang="en-US" baseline="-25000" dirty="0" smtClean="0"/>
              <a:t>10</a:t>
            </a:r>
            <a:r>
              <a:rPr lang="en-US" dirty="0" smtClean="0"/>
              <a:t> = A</a:t>
            </a:r>
            <a:r>
              <a:rPr lang="en-US" baseline="-25000" dirty="0" smtClean="0"/>
              <a:t>n-1 </a:t>
            </a:r>
            <a:r>
              <a:rPr lang="en-US" dirty="0" smtClean="0"/>
              <a:t>* B</a:t>
            </a:r>
            <a:r>
              <a:rPr lang="en-US" baseline="30000" dirty="0" smtClean="0"/>
              <a:t>n-1</a:t>
            </a:r>
            <a:r>
              <a:rPr lang="en-US" dirty="0" smtClean="0"/>
              <a:t> + </a:t>
            </a:r>
            <a:r>
              <a:rPr lang="en-US" dirty="0"/>
              <a:t>A</a:t>
            </a:r>
            <a:r>
              <a:rPr lang="en-US" baseline="-25000" dirty="0"/>
              <a:t>n</a:t>
            </a:r>
            <a:r>
              <a:rPr lang="en-US" baseline="-25000" dirty="0" smtClean="0"/>
              <a:t>-2 </a:t>
            </a:r>
            <a:r>
              <a:rPr lang="en-US" dirty="0"/>
              <a:t>* B</a:t>
            </a:r>
            <a:r>
              <a:rPr lang="en-US" baseline="30000" dirty="0"/>
              <a:t>n</a:t>
            </a:r>
            <a:r>
              <a:rPr lang="en-US" baseline="30000" dirty="0" smtClean="0"/>
              <a:t>-2</a:t>
            </a:r>
            <a:r>
              <a:rPr lang="en-US" dirty="0" smtClean="0"/>
              <a:t> + … + A</a:t>
            </a:r>
            <a:r>
              <a:rPr lang="en-US" baseline="-25000" dirty="0"/>
              <a:t>2</a:t>
            </a:r>
            <a:r>
              <a:rPr lang="en-US" baseline="-25000" dirty="0" smtClean="0"/>
              <a:t> </a:t>
            </a:r>
            <a:r>
              <a:rPr lang="en-US" dirty="0"/>
              <a:t>* </a:t>
            </a:r>
            <a:r>
              <a:rPr lang="en-US" dirty="0" smtClean="0"/>
              <a:t>B</a:t>
            </a:r>
            <a:r>
              <a:rPr lang="en-US" baseline="30000" dirty="0" smtClean="0"/>
              <a:t>2 </a:t>
            </a:r>
            <a:r>
              <a:rPr lang="en-US" dirty="0" smtClean="0"/>
              <a:t>+ </a:t>
            </a:r>
            <a:r>
              <a:rPr lang="en-US" dirty="0"/>
              <a:t>* </a:t>
            </a:r>
            <a:r>
              <a:rPr lang="en-US" dirty="0" smtClean="0"/>
              <a:t>A</a:t>
            </a:r>
            <a:r>
              <a:rPr lang="en-US" baseline="-25000" dirty="0" smtClean="0"/>
              <a:t>1 </a:t>
            </a:r>
            <a:r>
              <a:rPr lang="en-US" dirty="0"/>
              <a:t>* </a:t>
            </a:r>
            <a:r>
              <a:rPr lang="en-US" dirty="0" smtClean="0"/>
              <a:t>B</a:t>
            </a:r>
            <a:r>
              <a:rPr lang="en-US" baseline="30000" dirty="0" smtClean="0"/>
              <a:t>  </a:t>
            </a:r>
            <a:r>
              <a:rPr lang="en-US" dirty="0" smtClean="0"/>
              <a:t>+ A</a:t>
            </a:r>
            <a:r>
              <a:rPr lang="en-US" baseline="-25000" dirty="0" smtClean="0"/>
              <a:t>0</a:t>
            </a:r>
          </a:p>
          <a:p>
            <a:pPr lvl="1"/>
            <a:r>
              <a:rPr lang="en-US" sz="2200" dirty="0" smtClean="0"/>
              <a:t>Where A</a:t>
            </a:r>
            <a:r>
              <a:rPr lang="en-US" sz="2200" baseline="-25000" dirty="0" smtClean="0"/>
              <a:t>i </a:t>
            </a:r>
            <a:r>
              <a:rPr lang="en-US" sz="2200" dirty="0" smtClean="0"/>
              <a:t>corresponds to the </a:t>
            </a:r>
            <a:r>
              <a:rPr lang="en-US" sz="2200" dirty="0" err="1" smtClean="0"/>
              <a:t>i-th</a:t>
            </a:r>
            <a:r>
              <a:rPr lang="en-US" sz="2200" dirty="0" smtClean="0"/>
              <a:t> symbol in the source.</a:t>
            </a:r>
          </a:p>
          <a:p>
            <a:pPr lvl="1"/>
            <a:endParaRPr lang="en-US" sz="2200" i="1" dirty="0"/>
          </a:p>
          <a:p>
            <a:pPr marL="457200" lvl="1" indent="0">
              <a:buNone/>
            </a:pPr>
            <a:endParaRPr lang="en-US" sz="3200" i="1" dirty="0" smtClean="0"/>
          </a:p>
          <a:p>
            <a:pPr marL="457200" lvl="1" indent="0">
              <a:buNone/>
            </a:pPr>
            <a:r>
              <a:rPr lang="en-US" sz="3200" i="1" dirty="0"/>
              <a:t>(</a:t>
            </a:r>
            <a:r>
              <a:rPr lang="en-US" sz="3200" i="1" dirty="0" smtClean="0"/>
              <a:t>For </a:t>
            </a:r>
            <a:r>
              <a:rPr lang="en-US" sz="3200" i="1" dirty="0"/>
              <a:t>any number with N symbols and a given base </a:t>
            </a:r>
            <a:r>
              <a:rPr lang="en-US" sz="3200" i="1" dirty="0" smtClean="0"/>
              <a:t>B)</a:t>
            </a:r>
            <a:endParaRPr lang="en-US" sz="3200" i="1" dirty="0"/>
          </a:p>
          <a:p>
            <a:pPr marL="457200" lvl="1" indent="0">
              <a:buNone/>
            </a:pPr>
            <a:endParaRPr lang="en-US" sz="2200" dirty="0" smtClean="0"/>
          </a:p>
          <a:p>
            <a:pPr marL="457200" lvl="1" indent="0">
              <a:buNone/>
            </a:pPr>
            <a:endParaRPr lang="en-US" dirty="0"/>
          </a:p>
          <a:p>
            <a:r>
              <a:rPr lang="en-US" sz="2000" dirty="0" smtClean="0"/>
              <a:t>This is a translation step to a common base</a:t>
            </a:r>
          </a:p>
          <a:p>
            <a:pPr lvl="1"/>
            <a:r>
              <a:rPr lang="en-US" sz="1800" dirty="0" smtClean="0"/>
              <a:t>Frequently, the first step in a 2 step process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050670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Base B Expansion (to Decimal)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10058400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 smtClean="0"/>
              <a:t>For any number with N symbols and a given base B:</a:t>
            </a:r>
          </a:p>
          <a:p>
            <a:pPr marL="0" indent="0">
              <a:buNone/>
            </a:pPr>
            <a:r>
              <a:rPr lang="en-US" dirty="0" smtClean="0"/>
              <a:t> X</a:t>
            </a:r>
            <a:r>
              <a:rPr lang="en-US" baseline="-25000" dirty="0" smtClean="0"/>
              <a:t>10</a:t>
            </a:r>
            <a:r>
              <a:rPr lang="en-US" dirty="0" smtClean="0"/>
              <a:t> = A</a:t>
            </a:r>
            <a:r>
              <a:rPr lang="en-US" baseline="-25000" dirty="0" smtClean="0"/>
              <a:t>n-1 </a:t>
            </a:r>
            <a:r>
              <a:rPr lang="en-US" dirty="0" smtClean="0"/>
              <a:t>* B</a:t>
            </a:r>
            <a:r>
              <a:rPr lang="en-US" baseline="30000" dirty="0" smtClean="0"/>
              <a:t>n-1</a:t>
            </a:r>
            <a:r>
              <a:rPr lang="en-US" dirty="0" smtClean="0"/>
              <a:t> + </a:t>
            </a:r>
            <a:r>
              <a:rPr lang="en-US" dirty="0"/>
              <a:t>A</a:t>
            </a:r>
            <a:r>
              <a:rPr lang="en-US" baseline="-25000" dirty="0"/>
              <a:t>n</a:t>
            </a:r>
            <a:r>
              <a:rPr lang="en-US" baseline="-25000" dirty="0" smtClean="0"/>
              <a:t>-2 </a:t>
            </a:r>
            <a:r>
              <a:rPr lang="en-US" dirty="0"/>
              <a:t>* B</a:t>
            </a:r>
            <a:r>
              <a:rPr lang="en-US" baseline="30000" dirty="0"/>
              <a:t>n</a:t>
            </a:r>
            <a:r>
              <a:rPr lang="en-US" baseline="30000" dirty="0" smtClean="0"/>
              <a:t>-2</a:t>
            </a:r>
            <a:r>
              <a:rPr lang="en-US" dirty="0" smtClean="0"/>
              <a:t> + … + A</a:t>
            </a:r>
            <a:r>
              <a:rPr lang="en-US" baseline="-25000" dirty="0"/>
              <a:t>2</a:t>
            </a:r>
            <a:r>
              <a:rPr lang="en-US" baseline="-25000" dirty="0" smtClean="0"/>
              <a:t> </a:t>
            </a:r>
            <a:r>
              <a:rPr lang="en-US" dirty="0"/>
              <a:t>* </a:t>
            </a:r>
            <a:r>
              <a:rPr lang="en-US" dirty="0" smtClean="0"/>
              <a:t>B</a:t>
            </a:r>
            <a:r>
              <a:rPr lang="en-US" baseline="30000" dirty="0" smtClean="0"/>
              <a:t>2 </a:t>
            </a:r>
            <a:r>
              <a:rPr lang="en-US" dirty="0" smtClean="0"/>
              <a:t>+ </a:t>
            </a:r>
            <a:r>
              <a:rPr lang="en-US" dirty="0"/>
              <a:t>* </a:t>
            </a:r>
            <a:r>
              <a:rPr lang="en-US" dirty="0" smtClean="0"/>
              <a:t>A</a:t>
            </a:r>
            <a:r>
              <a:rPr lang="en-US" baseline="-25000" dirty="0" smtClean="0"/>
              <a:t>1 </a:t>
            </a:r>
            <a:r>
              <a:rPr lang="en-US" dirty="0"/>
              <a:t>* </a:t>
            </a:r>
            <a:r>
              <a:rPr lang="en-US" dirty="0" smtClean="0"/>
              <a:t>B</a:t>
            </a:r>
            <a:r>
              <a:rPr lang="en-US" baseline="30000" dirty="0" smtClean="0"/>
              <a:t>  </a:t>
            </a:r>
            <a:r>
              <a:rPr lang="en-US" dirty="0" smtClean="0"/>
              <a:t>+ A</a:t>
            </a:r>
            <a:r>
              <a:rPr lang="en-US" baseline="-25000" dirty="0" smtClean="0"/>
              <a:t>0</a:t>
            </a:r>
          </a:p>
          <a:p>
            <a:pPr lvl="1"/>
            <a:r>
              <a:rPr lang="en-US" dirty="0" smtClean="0"/>
              <a:t>Where A</a:t>
            </a:r>
            <a:r>
              <a:rPr lang="en-US" baseline="-25000" dirty="0" smtClean="0"/>
              <a:t>i </a:t>
            </a:r>
            <a:r>
              <a:rPr lang="en-US" dirty="0" smtClean="0"/>
              <a:t>corresponds to the </a:t>
            </a:r>
            <a:r>
              <a:rPr lang="en-US" dirty="0" err="1" smtClean="0"/>
              <a:t>i-th</a:t>
            </a:r>
            <a:r>
              <a:rPr lang="en-US" dirty="0" smtClean="0"/>
              <a:t> symbol in the source.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Given 101101</a:t>
            </a:r>
            <a:r>
              <a:rPr lang="en-US" baseline="-25000" dirty="0" smtClean="0"/>
              <a:t>2</a:t>
            </a:r>
            <a:r>
              <a:rPr lang="en-US" dirty="0" smtClean="0"/>
              <a:t>, produce the decimal expansion:</a:t>
            </a:r>
          </a:p>
          <a:p>
            <a:r>
              <a:rPr lang="en-US" dirty="0" smtClean="0">
                <a:solidFill>
                  <a:srgbClr val="3366FF"/>
                </a:solidFill>
              </a:rPr>
              <a:t>A:</a:t>
            </a:r>
            <a:r>
              <a:rPr lang="en-US" dirty="0" smtClean="0"/>
              <a:t> 1*2</a:t>
            </a:r>
            <a:r>
              <a:rPr lang="en-US" baseline="30000" dirty="0" smtClean="0"/>
              <a:t>5</a:t>
            </a:r>
            <a:r>
              <a:rPr lang="en-US" dirty="0" smtClean="0"/>
              <a:t> + 0*2</a:t>
            </a:r>
            <a:r>
              <a:rPr lang="en-US" baseline="30000" dirty="0" smtClean="0"/>
              <a:t>4</a:t>
            </a:r>
            <a:r>
              <a:rPr lang="en-US" dirty="0" smtClean="0"/>
              <a:t> + 1*2</a:t>
            </a:r>
            <a:r>
              <a:rPr lang="en-US" baseline="30000" dirty="0" smtClean="0"/>
              <a:t>3</a:t>
            </a:r>
            <a:r>
              <a:rPr lang="en-US" dirty="0" smtClean="0"/>
              <a:t> + 1*2</a:t>
            </a:r>
            <a:r>
              <a:rPr lang="en-US" baseline="30000" dirty="0" smtClean="0"/>
              <a:t>2 </a:t>
            </a:r>
            <a:r>
              <a:rPr lang="en-US" dirty="0" smtClean="0"/>
              <a:t>+ 0*2</a:t>
            </a:r>
            <a:r>
              <a:rPr lang="en-US" baseline="30000" dirty="0" smtClean="0"/>
              <a:t>1 </a:t>
            </a:r>
            <a:r>
              <a:rPr lang="en-US" dirty="0" smtClean="0"/>
              <a:t>+ 1*2</a:t>
            </a:r>
            <a:r>
              <a:rPr lang="en-US" baseline="30000" dirty="0" smtClean="0"/>
              <a:t>0</a:t>
            </a:r>
            <a:r>
              <a:rPr lang="en-US" dirty="0"/>
              <a:t> </a:t>
            </a:r>
            <a:r>
              <a:rPr lang="en-US" dirty="0" smtClean="0"/>
              <a:t>= 45</a:t>
            </a:r>
            <a:r>
              <a:rPr lang="en-US" baseline="-25000" dirty="0" smtClean="0"/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9031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A</a:t>
            </a:r>
            <a:r>
              <a:rPr lang="en-US" b="1" baseline="-2500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n</a:t>
            </a:r>
            <a:r>
              <a:rPr lang="en-US" b="1" baseline="-25000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-1 </a:t>
            </a:r>
            <a:r>
              <a:rPr lang="en-US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* B</a:t>
            </a:r>
            <a:r>
              <a:rPr lang="en-US" b="1" baseline="30000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n-1</a:t>
            </a:r>
            <a:r>
              <a:rPr lang="en-US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 </a:t>
            </a:r>
            <a:r>
              <a:rPr lang="en-US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+ </a:t>
            </a:r>
            <a:r>
              <a:rPr lang="en-US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… + A</a:t>
            </a:r>
            <a:r>
              <a:rPr lang="en-US" b="1" baseline="-25000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2 </a:t>
            </a:r>
            <a:r>
              <a:rPr lang="en-US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* B</a:t>
            </a:r>
            <a:r>
              <a:rPr lang="en-US" b="1" baseline="30000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2 </a:t>
            </a:r>
            <a:r>
              <a:rPr lang="en-US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+ * A</a:t>
            </a:r>
            <a:r>
              <a:rPr lang="en-US" b="1" baseline="-25000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1 </a:t>
            </a:r>
            <a:r>
              <a:rPr lang="en-US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* B</a:t>
            </a:r>
            <a:r>
              <a:rPr lang="en-US" b="1" baseline="30000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  </a:t>
            </a:r>
            <a:r>
              <a:rPr lang="en-US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+ A</a:t>
            </a:r>
            <a:r>
              <a:rPr lang="en-US" b="1" baseline="-25000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Given: 0101011111</a:t>
            </a:r>
            <a:r>
              <a:rPr lang="en-US" baseline="-25000" dirty="0" smtClean="0"/>
              <a:t>2</a:t>
            </a:r>
            <a:endParaRPr lang="en-US" dirty="0" smtClean="0"/>
          </a:p>
          <a:p>
            <a:pPr lvl="1"/>
            <a:r>
              <a:rPr lang="en-US" dirty="0" smtClean="0"/>
              <a:t>Write out the expansion and notice its </a:t>
            </a:r>
            <a:r>
              <a:rPr lang="en-US" i="1" dirty="0" smtClean="0"/>
              <a:t>long</a:t>
            </a:r>
            <a:r>
              <a:rPr lang="mr-IN" dirty="0" smtClean="0"/>
              <a:t>…</a:t>
            </a:r>
            <a:endParaRPr lang="en-US" dirty="0" smtClean="0"/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What terms contribute to the final value?</a:t>
            </a: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What terms can be skipped?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Any shortcuts here for base 2?</a:t>
            </a:r>
          </a:p>
          <a:p>
            <a:endParaRPr lang="en-US" dirty="0"/>
          </a:p>
          <a:p>
            <a:r>
              <a:rPr lang="en-US" dirty="0" smtClean="0"/>
              <a:t>Try again: 1101 0001</a:t>
            </a:r>
          </a:p>
          <a:p>
            <a:pPr lvl="1"/>
            <a:r>
              <a:rPr lang="en-US" dirty="0" smtClean="0"/>
              <a:t>Write out the expansion</a:t>
            </a: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What does it mean when the last bit is asserted?</a:t>
            </a:r>
          </a:p>
          <a:p>
            <a:pPr lvl="3"/>
            <a:r>
              <a:rPr lang="en-US" dirty="0" smtClean="0"/>
              <a:t>You’ve just designed x % 2 == 0 in a single peek operation. O(1)</a:t>
            </a: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What does it mean when the first bit is asserted?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200" y="6088088"/>
            <a:ext cx="89916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366FF"/>
                </a:solidFill>
              </a:rPr>
              <a:t>A:</a:t>
            </a:r>
            <a:r>
              <a:rPr lang="en-US" dirty="0"/>
              <a:t> You can “count” the powers of </a:t>
            </a:r>
            <a:r>
              <a:rPr lang="en-US" dirty="0" smtClean="0"/>
              <a:t>2 and sum only </a:t>
            </a:r>
            <a:r>
              <a:rPr lang="en-US" dirty="0"/>
              <a:t>those powers </a:t>
            </a:r>
            <a:r>
              <a:rPr lang="en-US" dirty="0" smtClean="0"/>
              <a:t>that </a:t>
            </a:r>
            <a:r>
              <a:rPr lang="en-US" dirty="0"/>
              <a:t>have a one </a:t>
            </a:r>
            <a:r>
              <a:rPr lang="en-US" dirty="0" smtClean="0"/>
              <a:t>in that spot.</a:t>
            </a:r>
            <a:endParaRPr lang="en-US" dirty="0"/>
          </a:p>
          <a:p>
            <a:r>
              <a:rPr lang="en-US" dirty="0">
                <a:solidFill>
                  <a:srgbClr val="3366FF"/>
                </a:solidFill>
              </a:rPr>
              <a:t>A:</a:t>
            </a:r>
            <a:r>
              <a:rPr lang="en-US" dirty="0"/>
              <a:t> Last bit is even or odd (even bases only), and later the first bit will indicate signage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0601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010400" cy="4525963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What is 121</a:t>
            </a:r>
            <a:r>
              <a:rPr lang="en-US" baseline="-25000" dirty="0" smtClean="0"/>
              <a:t>3</a:t>
            </a:r>
            <a:r>
              <a:rPr lang="en-US" dirty="0" smtClean="0"/>
              <a:t> in base 10?</a:t>
            </a:r>
          </a:p>
          <a:p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A</a:t>
            </a:r>
            <a:r>
              <a:rPr lang="en-US" b="1" baseline="-2500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n</a:t>
            </a:r>
            <a:r>
              <a:rPr lang="en-US" b="1" baseline="-25000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-1 </a:t>
            </a:r>
            <a:r>
              <a:rPr lang="en-US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* B</a:t>
            </a:r>
            <a:r>
              <a:rPr lang="en-US" b="1" baseline="30000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n-1</a:t>
            </a:r>
            <a:r>
              <a:rPr lang="en-US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 </a:t>
            </a:r>
            <a:r>
              <a:rPr lang="en-US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+ </a:t>
            </a:r>
            <a:r>
              <a:rPr lang="en-US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… + A</a:t>
            </a:r>
            <a:r>
              <a:rPr lang="en-US" b="1" baseline="-25000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2 </a:t>
            </a:r>
            <a:r>
              <a:rPr lang="en-US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* B</a:t>
            </a:r>
            <a:r>
              <a:rPr lang="en-US" b="1" baseline="30000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2 </a:t>
            </a:r>
            <a:r>
              <a:rPr lang="en-US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+ * A</a:t>
            </a:r>
            <a:r>
              <a:rPr lang="en-US" b="1" baseline="-25000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1 </a:t>
            </a:r>
            <a:r>
              <a:rPr lang="en-US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* B</a:t>
            </a:r>
            <a:r>
              <a:rPr lang="en-US" b="1" baseline="30000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  </a:t>
            </a:r>
            <a:r>
              <a:rPr lang="en-US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+ A</a:t>
            </a:r>
            <a:r>
              <a:rPr lang="en-US" b="1" baseline="-25000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2532061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991600" cy="4525963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121</a:t>
            </a:r>
            <a:r>
              <a:rPr lang="en-US" baseline="-25000" dirty="0" smtClean="0"/>
              <a:t>3</a:t>
            </a:r>
            <a:r>
              <a:rPr lang="en-US" dirty="0" smtClean="0"/>
              <a:t> is what in base 10?</a:t>
            </a:r>
          </a:p>
          <a:p>
            <a:endParaRPr lang="en-US" dirty="0"/>
          </a:p>
          <a:p>
            <a:r>
              <a:rPr lang="en-US" dirty="0" smtClean="0"/>
              <a:t>X = 1 * 3</a:t>
            </a:r>
            <a:r>
              <a:rPr lang="en-US" baseline="30000" dirty="0" smtClean="0"/>
              <a:t>2 </a:t>
            </a:r>
            <a:r>
              <a:rPr lang="en-US" dirty="0" smtClean="0"/>
              <a:t>+ 2 * 3</a:t>
            </a:r>
            <a:r>
              <a:rPr lang="en-US" baseline="30000" dirty="0" smtClean="0"/>
              <a:t>1 </a:t>
            </a:r>
            <a:r>
              <a:rPr lang="en-US" dirty="0" smtClean="0"/>
              <a:t>+ 1 * 3</a:t>
            </a:r>
            <a:r>
              <a:rPr lang="en-US" baseline="30000" dirty="0" smtClean="0"/>
              <a:t>0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A</a:t>
            </a:r>
            <a:r>
              <a:rPr lang="en-US" b="1" baseline="-2500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n-1 </a:t>
            </a:r>
            <a:r>
              <a:rPr lang="en-US" b="1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* B</a:t>
            </a:r>
            <a:r>
              <a:rPr lang="en-US" b="1" baseline="3000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n-1</a:t>
            </a:r>
            <a:r>
              <a:rPr lang="en-US" b="1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 + … + A</a:t>
            </a:r>
            <a:r>
              <a:rPr lang="en-US" b="1" baseline="-2500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2 </a:t>
            </a:r>
            <a:r>
              <a:rPr lang="en-US" b="1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* B</a:t>
            </a:r>
            <a:r>
              <a:rPr lang="en-US" b="1" baseline="3000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2 </a:t>
            </a:r>
            <a:r>
              <a:rPr lang="en-US" b="1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+ * A</a:t>
            </a:r>
            <a:r>
              <a:rPr lang="en-US" b="1" baseline="-2500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1 </a:t>
            </a:r>
            <a:r>
              <a:rPr lang="en-US" b="1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* B</a:t>
            </a:r>
            <a:r>
              <a:rPr lang="en-US" b="1" baseline="3000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  </a:t>
            </a:r>
            <a:r>
              <a:rPr lang="en-US" b="1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+ A</a:t>
            </a:r>
            <a:r>
              <a:rPr lang="en-US" b="1" baseline="-2500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0</a:t>
            </a:r>
            <a:endParaRPr lang="en-US" b="1" baseline="-2500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5383384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991600" cy="4525963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121</a:t>
            </a:r>
            <a:r>
              <a:rPr lang="en-US" baseline="-25000" dirty="0" smtClean="0"/>
              <a:t>3</a:t>
            </a:r>
            <a:r>
              <a:rPr lang="en-US" dirty="0" smtClean="0"/>
              <a:t> is what in base 10?</a:t>
            </a:r>
          </a:p>
          <a:p>
            <a:endParaRPr lang="en-US" dirty="0"/>
          </a:p>
          <a:p>
            <a:r>
              <a:rPr lang="en-US" dirty="0" smtClean="0"/>
              <a:t>X = 1 * 3</a:t>
            </a:r>
            <a:r>
              <a:rPr lang="en-US" baseline="30000" dirty="0" smtClean="0"/>
              <a:t>2 </a:t>
            </a:r>
            <a:r>
              <a:rPr lang="en-US" dirty="0" smtClean="0"/>
              <a:t>+ 2 * 3</a:t>
            </a:r>
            <a:r>
              <a:rPr lang="en-US" baseline="30000" dirty="0" smtClean="0"/>
              <a:t>1 </a:t>
            </a:r>
            <a:r>
              <a:rPr lang="en-US" dirty="0" smtClean="0"/>
              <a:t>+ 1 * 3</a:t>
            </a:r>
            <a:r>
              <a:rPr lang="en-US" baseline="30000" dirty="0" smtClean="0"/>
              <a:t>0</a:t>
            </a:r>
          </a:p>
          <a:p>
            <a:r>
              <a:rPr lang="en-US" dirty="0" smtClean="0"/>
              <a:t>X = 1*9 + 2 *3 + 1*1 = 9 + 6 + 1 = 16</a:t>
            </a:r>
            <a:r>
              <a:rPr lang="en-US" baseline="-25000" dirty="0" smtClean="0"/>
              <a:t>10</a:t>
            </a:r>
            <a:endParaRPr lang="en-US" dirty="0" smtClean="0"/>
          </a:p>
          <a:p>
            <a:endParaRPr lang="en-US" dirty="0"/>
          </a:p>
          <a:p>
            <a:pPr lvl="1"/>
            <a:r>
              <a:rPr lang="en-US" dirty="0" smtClean="0"/>
              <a:t>Q: What does a 1 in the </a:t>
            </a:r>
            <a:r>
              <a:rPr lang="en-US" dirty="0" err="1" smtClean="0"/>
              <a:t>lsb</a:t>
            </a:r>
            <a:r>
              <a:rPr lang="en-US" dirty="0" smtClean="0"/>
              <a:t> mean in any even base?</a:t>
            </a:r>
          </a:p>
          <a:p>
            <a:pPr lvl="1"/>
            <a:r>
              <a:rPr lang="en-US" dirty="0" smtClean="0"/>
              <a:t>Q: Is this the same for an odd base?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A</a:t>
            </a:r>
            <a:r>
              <a:rPr lang="en-US" b="1" baseline="-2500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n-1 </a:t>
            </a:r>
            <a:r>
              <a:rPr lang="en-US" b="1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* B</a:t>
            </a:r>
            <a:r>
              <a:rPr lang="en-US" b="1" baseline="3000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n-1</a:t>
            </a:r>
            <a:r>
              <a:rPr lang="en-US" b="1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 + … + A</a:t>
            </a:r>
            <a:r>
              <a:rPr lang="en-US" b="1" baseline="-2500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2 </a:t>
            </a:r>
            <a:r>
              <a:rPr lang="en-US" b="1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* B</a:t>
            </a:r>
            <a:r>
              <a:rPr lang="en-US" b="1" baseline="3000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2 </a:t>
            </a:r>
            <a:r>
              <a:rPr lang="en-US" b="1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+ * A</a:t>
            </a:r>
            <a:r>
              <a:rPr lang="en-US" b="1" baseline="-2500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1 </a:t>
            </a:r>
            <a:r>
              <a:rPr lang="en-US" b="1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* B</a:t>
            </a:r>
            <a:r>
              <a:rPr lang="en-US" b="1" baseline="3000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  </a:t>
            </a:r>
            <a:r>
              <a:rPr lang="en-US" b="1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+ A</a:t>
            </a:r>
            <a:r>
              <a:rPr lang="en-US" b="1" baseline="-2500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0</a:t>
            </a:r>
            <a:endParaRPr lang="en-US" b="1" baseline="-2500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4591909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trike="sngStrike" dirty="0" smtClean="0"/>
              <a:t>Clicker Question Here</a:t>
            </a:r>
            <a:endParaRPr lang="en-US" strike="sngStrik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RIP Clickers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5212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Other Direction: Base 10 to Base 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50014" y="1600200"/>
            <a:ext cx="9296400" cy="4525963"/>
          </a:xfrm>
        </p:spPr>
        <p:txBody>
          <a:bodyPr/>
          <a:lstStyle/>
          <a:p>
            <a:r>
              <a:rPr lang="en-US" dirty="0" smtClean="0"/>
              <a:t>If we used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multiplication</a:t>
            </a:r>
            <a:r>
              <a:rPr lang="en-US" dirty="0" smtClean="0"/>
              <a:t> to realize the first process?</a:t>
            </a:r>
          </a:p>
          <a:p>
            <a:pPr lvl="1"/>
            <a:r>
              <a:rPr lang="en-US" dirty="0" smtClean="0"/>
              <a:t>Lets try </a:t>
            </a:r>
            <a:r>
              <a:rPr lang="en-US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division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for the inverse operation.</a:t>
            </a:r>
          </a:p>
          <a:p>
            <a:r>
              <a:rPr lang="en-US" dirty="0" smtClean="0"/>
              <a:t>To convert a number from decimal to base B</a:t>
            </a:r>
          </a:p>
          <a:p>
            <a:pPr lvl="1"/>
            <a:r>
              <a:rPr lang="en-US" b="1" dirty="0">
                <a:solidFill>
                  <a:srgbClr val="B3A2C7"/>
                </a:solidFill>
              </a:rPr>
              <a:t>D</a:t>
            </a:r>
            <a:r>
              <a:rPr lang="en-US" b="1" dirty="0" smtClean="0">
                <a:solidFill>
                  <a:srgbClr val="B3A2C7"/>
                </a:solidFill>
              </a:rPr>
              <a:t>ivide</a:t>
            </a:r>
            <a:r>
              <a:rPr lang="en-US" dirty="0" smtClean="0">
                <a:solidFill>
                  <a:srgbClr val="B3A2C7"/>
                </a:solidFill>
              </a:rPr>
              <a:t> </a:t>
            </a:r>
            <a:r>
              <a:rPr lang="en-US" dirty="0" smtClean="0"/>
              <a:t>the number by the base, producing q, r</a:t>
            </a:r>
          </a:p>
          <a:p>
            <a:pPr lvl="1"/>
            <a:r>
              <a:rPr lang="en-US" dirty="0" smtClean="0"/>
              <a:t>Continue to divide the q value by the base until q = 0</a:t>
            </a:r>
          </a:p>
          <a:p>
            <a:pPr lvl="1"/>
            <a:r>
              <a:rPr lang="en-US" dirty="0" smtClean="0"/>
              <a:t>Concatenate the remainders for your new value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275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Decimal to Base 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153</a:t>
            </a:r>
            <a:r>
              <a:rPr lang="en-US" baseline="-25000" dirty="0" smtClean="0"/>
              <a:t>10 </a:t>
            </a:r>
            <a:r>
              <a:rPr lang="en-US" dirty="0" smtClean="0"/>
              <a:t>= VALUE</a:t>
            </a:r>
            <a:r>
              <a:rPr lang="en-US" baseline="-25000" dirty="0" smtClean="0"/>
              <a:t>7 </a:t>
            </a:r>
            <a:endParaRPr lang="en-US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r>
              <a:rPr lang="en-US" dirty="0"/>
              <a:t>153</a:t>
            </a:r>
            <a:r>
              <a:rPr lang="en-US" baseline="-25000" dirty="0"/>
              <a:t>10 </a:t>
            </a:r>
            <a:r>
              <a:rPr lang="en-US" dirty="0"/>
              <a:t>= </a:t>
            </a:r>
            <a:r>
              <a:rPr lang="en-US" dirty="0" smtClean="0"/>
              <a:t>(XX</a:t>
            </a:r>
            <a:r>
              <a:rPr lang="en-US" b="1" dirty="0" smtClean="0">
                <a:solidFill>
                  <a:srgbClr val="8064A2"/>
                </a:solidFill>
              </a:rPr>
              <a:t>6</a:t>
            </a:r>
            <a:r>
              <a:rPr lang="en-US" dirty="0" smtClean="0"/>
              <a:t>)</a:t>
            </a:r>
            <a:r>
              <a:rPr lang="en-US" baseline="-25000" dirty="0" smtClean="0"/>
              <a:t>7</a:t>
            </a:r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 smtClean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786337"/>
              </p:ext>
            </p:extLst>
          </p:nvPr>
        </p:nvGraphicFramePr>
        <p:xfrm>
          <a:off x="1143000" y="3048000"/>
          <a:ext cx="670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600"/>
                <a:gridCol w="1117600"/>
                <a:gridCol w="2374900"/>
                <a:gridCol w="698500"/>
                <a:gridCol w="1397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 (= Number/7)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Significance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21, as 21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* 7 = 147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8064A2"/>
                          </a:solidFill>
                        </a:rPr>
                        <a:t>6</a:t>
                      </a:r>
                      <a:endParaRPr lang="en-US" b="1" dirty="0">
                        <a:solidFill>
                          <a:srgbClr val="8064A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LSD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(none)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Curved Down Arrow 4"/>
          <p:cNvSpPr/>
          <p:nvPr/>
        </p:nvSpPr>
        <p:spPr>
          <a:xfrm rot="9527990">
            <a:off x="2584772" y="3939674"/>
            <a:ext cx="1055772" cy="242796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6170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Decimal to Base 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153</a:t>
            </a:r>
            <a:r>
              <a:rPr lang="en-US" baseline="-25000" dirty="0" smtClean="0"/>
              <a:t>10 </a:t>
            </a:r>
            <a:r>
              <a:rPr lang="en-US" dirty="0" smtClean="0"/>
              <a:t>= VALUE</a:t>
            </a:r>
            <a:r>
              <a:rPr lang="en-US" baseline="-25000" dirty="0" smtClean="0"/>
              <a:t>7</a:t>
            </a:r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r>
              <a:rPr lang="en-US" dirty="0"/>
              <a:t>153</a:t>
            </a:r>
            <a:r>
              <a:rPr lang="en-US" baseline="-25000" dirty="0"/>
              <a:t>10 </a:t>
            </a:r>
            <a:r>
              <a:rPr lang="en-US" dirty="0"/>
              <a:t>= </a:t>
            </a:r>
            <a:r>
              <a:rPr lang="en-US" dirty="0">
                <a:solidFill>
                  <a:srgbClr val="E46C0A"/>
                </a:solidFill>
              </a:rPr>
              <a:t>?</a:t>
            </a:r>
            <a:r>
              <a:rPr lang="en-US" b="1" dirty="0" smtClean="0">
                <a:solidFill>
                  <a:srgbClr val="008000"/>
                </a:solidFill>
              </a:rPr>
              <a:t>0</a:t>
            </a:r>
            <a:r>
              <a:rPr lang="en-US" b="1" dirty="0" smtClean="0">
                <a:solidFill>
                  <a:srgbClr val="8064A2"/>
                </a:solidFill>
              </a:rPr>
              <a:t>6</a:t>
            </a:r>
            <a:r>
              <a:rPr lang="en-US" baseline="-25000" dirty="0" smtClean="0"/>
              <a:t>7</a:t>
            </a:r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 smtClean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24595"/>
              </p:ext>
            </p:extLst>
          </p:nvPr>
        </p:nvGraphicFramePr>
        <p:xfrm>
          <a:off x="1143000" y="3048000"/>
          <a:ext cx="670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600"/>
                <a:gridCol w="1117600"/>
                <a:gridCol w="2374900"/>
                <a:gridCol w="698500"/>
                <a:gridCol w="1397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 (= Number/7)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Significance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21, as 21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* 7 = 147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8064A2"/>
                          </a:solidFill>
                        </a:rPr>
                        <a:t>6</a:t>
                      </a:r>
                      <a:endParaRPr lang="en-US" b="1" dirty="0">
                        <a:solidFill>
                          <a:srgbClr val="8064A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LSD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3, as 3 * 7 = 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8000"/>
                          </a:solidFill>
                        </a:rPr>
                        <a:t>0</a:t>
                      </a:r>
                      <a:endParaRPr lang="en-US" b="1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(none)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E46C0A"/>
                          </a:solidFill>
                        </a:rPr>
                        <a:t>?</a:t>
                      </a:r>
                      <a:endParaRPr lang="en-US" b="1" dirty="0">
                        <a:solidFill>
                          <a:srgbClr val="E46C0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MSD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Curved Down Arrow 4"/>
          <p:cNvSpPr/>
          <p:nvPr/>
        </p:nvSpPr>
        <p:spPr>
          <a:xfrm rot="9792873">
            <a:off x="2522775" y="4262076"/>
            <a:ext cx="1055772" cy="242796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9283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Decimal to Base 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153</a:t>
            </a:r>
            <a:r>
              <a:rPr lang="en-US" baseline="-25000" dirty="0" smtClean="0"/>
              <a:t>10 </a:t>
            </a:r>
            <a:r>
              <a:rPr lang="en-US" dirty="0" smtClean="0"/>
              <a:t>= VALUE</a:t>
            </a:r>
            <a:r>
              <a:rPr lang="en-US" baseline="-25000" dirty="0" smtClean="0"/>
              <a:t>7</a:t>
            </a:r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r>
              <a:rPr lang="en-US" dirty="0"/>
              <a:t>153</a:t>
            </a:r>
            <a:r>
              <a:rPr lang="en-US" baseline="-25000" dirty="0"/>
              <a:t>10 </a:t>
            </a:r>
            <a:r>
              <a:rPr lang="en-US" dirty="0"/>
              <a:t>= </a:t>
            </a:r>
            <a:r>
              <a:rPr lang="en-US" dirty="0" smtClean="0">
                <a:solidFill>
                  <a:srgbClr val="E46C0A"/>
                </a:solidFill>
              </a:rPr>
              <a:t>3</a:t>
            </a:r>
            <a:r>
              <a:rPr lang="en-US" b="1" dirty="0" smtClean="0">
                <a:solidFill>
                  <a:srgbClr val="008000"/>
                </a:solidFill>
              </a:rPr>
              <a:t>0</a:t>
            </a:r>
            <a:r>
              <a:rPr lang="en-US" b="1" dirty="0" smtClean="0">
                <a:solidFill>
                  <a:srgbClr val="8064A2"/>
                </a:solidFill>
              </a:rPr>
              <a:t>6</a:t>
            </a:r>
            <a:r>
              <a:rPr lang="en-US" baseline="-25000" dirty="0" smtClean="0"/>
              <a:t>7</a:t>
            </a:r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 smtClean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42384"/>
              </p:ext>
            </p:extLst>
          </p:nvPr>
        </p:nvGraphicFramePr>
        <p:xfrm>
          <a:off x="1143000" y="3048000"/>
          <a:ext cx="670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600"/>
                <a:gridCol w="1117600"/>
                <a:gridCol w="2374900"/>
                <a:gridCol w="698500"/>
                <a:gridCol w="1397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 (= Number/7)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Significance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21, as 21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* 7 = 147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8064A2"/>
                          </a:solidFill>
                        </a:rPr>
                        <a:t>6</a:t>
                      </a:r>
                      <a:endParaRPr lang="en-US" b="1" dirty="0">
                        <a:solidFill>
                          <a:srgbClr val="8064A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LSD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3, as 3 * 7 = 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8000"/>
                          </a:solidFill>
                        </a:rPr>
                        <a:t>0</a:t>
                      </a:r>
                      <a:endParaRPr lang="en-US" b="1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(none)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E46C0A"/>
                          </a:solidFill>
                        </a:rPr>
                        <a:t>3</a:t>
                      </a:r>
                      <a:endParaRPr lang="en-US" b="1" dirty="0">
                        <a:solidFill>
                          <a:srgbClr val="E46C0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MSD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95065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Verify</a:t>
            </a:r>
            <a:r>
              <a:rPr lang="en-US" dirty="0" smtClean="0"/>
              <a:t> </a:t>
            </a:r>
            <a:r>
              <a:rPr lang="en-US" dirty="0"/>
              <a:t>153</a:t>
            </a:r>
            <a:r>
              <a:rPr lang="en-US" baseline="-25000" dirty="0"/>
              <a:t>10 </a:t>
            </a:r>
            <a:r>
              <a:rPr lang="en-US" dirty="0"/>
              <a:t>= </a:t>
            </a:r>
            <a:r>
              <a:rPr lang="en-US" dirty="0" smtClean="0"/>
              <a:t>306</a:t>
            </a:r>
            <a:r>
              <a:rPr lang="en-US" baseline="-25000" dirty="0" smtClean="0"/>
              <a:t>7</a:t>
            </a:r>
            <a:r>
              <a:rPr lang="en-US" dirty="0" smtClean="0"/>
              <a:t> Using Expansion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-25000" dirty="0"/>
              <a:t>n-1 </a:t>
            </a:r>
            <a:r>
              <a:rPr lang="en-US" dirty="0"/>
              <a:t>* B</a:t>
            </a:r>
            <a:r>
              <a:rPr lang="en-US" baseline="30000" dirty="0"/>
              <a:t>n-1</a:t>
            </a:r>
            <a:r>
              <a:rPr lang="en-US" dirty="0"/>
              <a:t> + … + A</a:t>
            </a:r>
            <a:r>
              <a:rPr lang="en-US" baseline="-25000" dirty="0"/>
              <a:t>2 </a:t>
            </a:r>
            <a:r>
              <a:rPr lang="en-US" dirty="0"/>
              <a:t>* B</a:t>
            </a:r>
            <a:r>
              <a:rPr lang="en-US" baseline="30000" dirty="0"/>
              <a:t>2 </a:t>
            </a:r>
            <a:r>
              <a:rPr lang="en-US" dirty="0"/>
              <a:t>+ * A</a:t>
            </a:r>
            <a:r>
              <a:rPr lang="en-US" baseline="-25000" dirty="0"/>
              <a:t>1 </a:t>
            </a:r>
            <a:r>
              <a:rPr lang="en-US" dirty="0"/>
              <a:t>* B</a:t>
            </a:r>
            <a:r>
              <a:rPr lang="en-US" baseline="30000" dirty="0"/>
              <a:t>  </a:t>
            </a:r>
            <a:r>
              <a:rPr lang="en-US" dirty="0"/>
              <a:t>+ </a:t>
            </a:r>
            <a:r>
              <a:rPr lang="en-US" dirty="0" smtClean="0"/>
              <a:t>A</a:t>
            </a:r>
            <a:r>
              <a:rPr lang="en-US" baseline="-25000" dirty="0" smtClean="0"/>
              <a:t>0</a:t>
            </a:r>
          </a:p>
          <a:p>
            <a:endParaRPr lang="en-US" baseline="-25000" dirty="0"/>
          </a:p>
          <a:p>
            <a:r>
              <a:rPr lang="en-US" dirty="0" smtClean="0"/>
              <a:t>B is what?</a:t>
            </a:r>
          </a:p>
          <a:p>
            <a:r>
              <a:rPr lang="en-US" dirty="0" smtClean="0"/>
              <a:t>A</a:t>
            </a:r>
            <a:r>
              <a:rPr lang="en-US" baseline="-25000" dirty="0" smtClean="0"/>
              <a:t>3</a:t>
            </a:r>
            <a:r>
              <a:rPr lang="en-US" dirty="0"/>
              <a:t> </a:t>
            </a:r>
            <a:r>
              <a:rPr lang="en-US" dirty="0" smtClean="0"/>
              <a:t>is what? A</a:t>
            </a:r>
            <a:r>
              <a:rPr lang="en-US" baseline="-25000" dirty="0" smtClean="0"/>
              <a:t>2</a:t>
            </a:r>
            <a:r>
              <a:rPr lang="en-US" dirty="0" smtClean="0"/>
              <a:t> and A</a:t>
            </a:r>
            <a:r>
              <a:rPr lang="en-US" baseline="-25000" dirty="0" smtClean="0"/>
              <a:t>1</a:t>
            </a:r>
            <a:r>
              <a:rPr lang="en-US" dirty="0" smtClean="0"/>
              <a:t>?</a:t>
            </a:r>
          </a:p>
          <a:p>
            <a:r>
              <a:rPr lang="en-US" dirty="0" smtClean="0"/>
              <a:t>Write out the expansion and sum up.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6720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Verify</a:t>
            </a:r>
            <a:r>
              <a:rPr lang="en-US" dirty="0" smtClean="0"/>
              <a:t> </a:t>
            </a:r>
            <a:r>
              <a:rPr lang="en-US" dirty="0"/>
              <a:t>153</a:t>
            </a:r>
            <a:r>
              <a:rPr lang="en-US" baseline="-25000" dirty="0"/>
              <a:t>10 </a:t>
            </a:r>
            <a:r>
              <a:rPr lang="en-US" dirty="0"/>
              <a:t>= </a:t>
            </a:r>
            <a:r>
              <a:rPr lang="en-US" dirty="0" smtClean="0"/>
              <a:t>306</a:t>
            </a:r>
            <a:r>
              <a:rPr lang="en-US" baseline="-25000" dirty="0" smtClean="0"/>
              <a:t>7</a:t>
            </a:r>
            <a:r>
              <a:rPr lang="en-US" dirty="0" smtClean="0"/>
              <a:t> Using Expansion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= 3 * 7</a:t>
            </a:r>
            <a:r>
              <a:rPr lang="en-US" baseline="30000" dirty="0" smtClean="0"/>
              <a:t>2 </a:t>
            </a:r>
            <a:r>
              <a:rPr lang="en-US" dirty="0" smtClean="0"/>
              <a:t>+ 0 * 7</a:t>
            </a:r>
            <a:r>
              <a:rPr lang="en-US" baseline="30000" dirty="0" smtClean="0"/>
              <a:t>1</a:t>
            </a:r>
            <a:r>
              <a:rPr lang="en-US" dirty="0" smtClean="0"/>
              <a:t> + 6 * 7</a:t>
            </a:r>
            <a:r>
              <a:rPr lang="en-US" baseline="30000" dirty="0" smtClean="0"/>
              <a:t>0</a:t>
            </a:r>
          </a:p>
          <a:p>
            <a:r>
              <a:rPr lang="en-US" dirty="0" smtClean="0"/>
              <a:t>= 147    +     0     +    6     = 153</a:t>
            </a:r>
            <a:r>
              <a:rPr lang="en-US" baseline="-25000" dirty="0" smtClean="0"/>
              <a:t>10</a:t>
            </a:r>
          </a:p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1295400" y="1143000"/>
            <a:ext cx="2590800" cy="609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2590800" y="1143000"/>
            <a:ext cx="1600200" cy="609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3962400" y="1143000"/>
            <a:ext cx="457200" cy="609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Left Brace 17"/>
          <p:cNvSpPr/>
          <p:nvPr/>
        </p:nvSpPr>
        <p:spPr>
          <a:xfrm rot="16200000">
            <a:off x="1469083" y="1746825"/>
            <a:ext cx="260228" cy="912801"/>
          </a:xfrm>
          <a:prstGeom prst="lef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Brace 18"/>
          <p:cNvSpPr/>
          <p:nvPr/>
        </p:nvSpPr>
        <p:spPr>
          <a:xfrm rot="16200000">
            <a:off x="4065730" y="1772605"/>
            <a:ext cx="260228" cy="829819"/>
          </a:xfrm>
          <a:prstGeom prst="lef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Left Brace 19"/>
          <p:cNvSpPr/>
          <p:nvPr/>
        </p:nvSpPr>
        <p:spPr>
          <a:xfrm rot="16200000">
            <a:off x="2799396" y="1772605"/>
            <a:ext cx="260228" cy="829819"/>
          </a:xfrm>
          <a:prstGeom prst="lef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7212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Another Example: Decimal to Base 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1024</a:t>
            </a:r>
            <a:r>
              <a:rPr lang="en-US" baseline="-25000" dirty="0" smtClean="0"/>
              <a:t>10 </a:t>
            </a:r>
            <a:r>
              <a:rPr lang="en-US" dirty="0" smtClean="0"/>
              <a:t>= X</a:t>
            </a:r>
            <a:r>
              <a:rPr lang="en-US" baseline="-25000" dirty="0" smtClean="0"/>
              <a:t>17</a:t>
            </a:r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r>
              <a:rPr lang="en-US" dirty="0"/>
              <a:t>1024</a:t>
            </a:r>
            <a:r>
              <a:rPr lang="en-US" baseline="-25000" dirty="0"/>
              <a:t>10 </a:t>
            </a:r>
            <a:r>
              <a:rPr lang="en-US" dirty="0"/>
              <a:t>= </a:t>
            </a:r>
            <a:r>
              <a:rPr lang="en-US" dirty="0" smtClean="0"/>
              <a:t>X</a:t>
            </a:r>
            <a:r>
              <a:rPr lang="en-US" baseline="-25000" dirty="0" smtClean="0"/>
              <a:t>12</a:t>
            </a:r>
            <a:r>
              <a:rPr lang="en-US" dirty="0" smtClean="0"/>
              <a:t>?</a:t>
            </a:r>
            <a:endParaRPr lang="en-US" baseline="-25000" dirty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 smtClean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340364"/>
              </p:ext>
            </p:extLst>
          </p:nvPr>
        </p:nvGraphicFramePr>
        <p:xfrm>
          <a:off x="1143000" y="3048000"/>
          <a:ext cx="670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600"/>
                <a:gridCol w="1117600"/>
                <a:gridCol w="2374900"/>
                <a:gridCol w="698500"/>
                <a:gridCol w="1397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 (= Number/17)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Significance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LSD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MSD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95065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Another Example: Decimal to Base 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1024</a:t>
            </a:r>
            <a:r>
              <a:rPr lang="en-US" baseline="-25000" dirty="0" smtClean="0"/>
              <a:t>10 </a:t>
            </a:r>
            <a:r>
              <a:rPr lang="en-US" dirty="0" smtClean="0"/>
              <a:t>= X</a:t>
            </a:r>
            <a:r>
              <a:rPr lang="en-US" baseline="-25000" dirty="0" smtClean="0"/>
              <a:t>17</a:t>
            </a:r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r>
              <a:rPr lang="en-US" dirty="0"/>
              <a:t>1024</a:t>
            </a:r>
            <a:r>
              <a:rPr lang="en-US" baseline="-25000" dirty="0"/>
              <a:t>10 </a:t>
            </a:r>
            <a:r>
              <a:rPr lang="en-US" dirty="0"/>
              <a:t>= </a:t>
            </a:r>
            <a:r>
              <a:rPr lang="en-US" b="1" dirty="0" smtClean="0">
                <a:solidFill>
                  <a:srgbClr val="E46C0A"/>
                </a:solidFill>
              </a:rPr>
              <a:t>_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008000"/>
                </a:solidFill>
              </a:rPr>
              <a:t>_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8064A2"/>
                </a:solidFill>
              </a:rPr>
              <a:t>4</a:t>
            </a:r>
            <a:r>
              <a:rPr lang="en-US" baseline="-25000" dirty="0" smtClean="0"/>
              <a:t>17</a:t>
            </a:r>
            <a:endParaRPr lang="en-US" baseline="-25000" dirty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 smtClean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861236"/>
              </p:ext>
            </p:extLst>
          </p:nvPr>
        </p:nvGraphicFramePr>
        <p:xfrm>
          <a:off x="1143000" y="3048000"/>
          <a:ext cx="670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600"/>
                <a:gridCol w="1117600"/>
                <a:gridCol w="2374900"/>
                <a:gridCol w="698500"/>
                <a:gridCol w="1397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 (= Number/17)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Significance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60,</a:t>
                      </a:r>
                      <a:r>
                        <a:rPr lang="en-US" baseline="0" dirty="0" smtClean="0"/>
                        <a:t> as 60*17 = 1020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8064A2"/>
                          </a:solidFill>
                        </a:rPr>
                        <a:t>4</a:t>
                      </a:r>
                      <a:endParaRPr lang="en-US" b="1" dirty="0">
                        <a:solidFill>
                          <a:srgbClr val="8064A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LSD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8000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8000"/>
                          </a:solidFill>
                        </a:rPr>
                        <a:t>?</a:t>
                      </a:r>
                      <a:endParaRPr lang="en-US" b="1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E46C0A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E46C0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E46C0A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E46C0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?</a:t>
                      </a:r>
                      <a:endPara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MSD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Curved Down Arrow 5"/>
          <p:cNvSpPr/>
          <p:nvPr/>
        </p:nvSpPr>
        <p:spPr>
          <a:xfrm rot="9792873">
            <a:off x="2589261" y="3881076"/>
            <a:ext cx="1055772" cy="242796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6317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Another Example: Decimal to Base 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1024</a:t>
            </a:r>
            <a:r>
              <a:rPr lang="en-US" baseline="-25000" dirty="0" smtClean="0"/>
              <a:t>10 </a:t>
            </a:r>
            <a:r>
              <a:rPr lang="en-US" dirty="0" smtClean="0"/>
              <a:t>= X</a:t>
            </a:r>
            <a:r>
              <a:rPr lang="en-US" baseline="-25000" dirty="0" smtClean="0"/>
              <a:t>17</a:t>
            </a:r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r>
              <a:rPr lang="en-US" dirty="0"/>
              <a:t>1024</a:t>
            </a:r>
            <a:r>
              <a:rPr lang="en-US" baseline="-25000" dirty="0"/>
              <a:t>10 </a:t>
            </a:r>
            <a:r>
              <a:rPr lang="en-US" dirty="0"/>
              <a:t>= </a:t>
            </a:r>
            <a:r>
              <a:rPr lang="en-US" dirty="0">
                <a:solidFill>
                  <a:srgbClr val="E46C0A"/>
                </a:solidFill>
              </a:rPr>
              <a:t>?</a:t>
            </a:r>
            <a:r>
              <a:rPr lang="en-US" dirty="0" smtClean="0">
                <a:solidFill>
                  <a:srgbClr val="008000"/>
                </a:solidFill>
              </a:rPr>
              <a:t>9</a:t>
            </a:r>
            <a:r>
              <a:rPr lang="en-US" dirty="0" smtClean="0">
                <a:solidFill>
                  <a:srgbClr val="8064A2"/>
                </a:solidFill>
              </a:rPr>
              <a:t>4</a:t>
            </a:r>
            <a:r>
              <a:rPr lang="en-US" baseline="-25000" dirty="0" smtClean="0"/>
              <a:t>17</a:t>
            </a:r>
            <a:endParaRPr lang="en-US" baseline="-25000" dirty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 smtClean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80824"/>
              </p:ext>
            </p:extLst>
          </p:nvPr>
        </p:nvGraphicFramePr>
        <p:xfrm>
          <a:off x="1143000" y="3048000"/>
          <a:ext cx="670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600"/>
                <a:gridCol w="1117600"/>
                <a:gridCol w="2374900"/>
                <a:gridCol w="698500"/>
                <a:gridCol w="1397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 (= Number/17)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Significance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60,</a:t>
                      </a:r>
                      <a:r>
                        <a:rPr lang="en-US" baseline="0" dirty="0" smtClean="0"/>
                        <a:t> as 60*17 = 1020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8064A2"/>
                          </a:solidFill>
                        </a:rPr>
                        <a:t>4</a:t>
                      </a:r>
                      <a:endParaRPr lang="en-US" b="1" dirty="0">
                        <a:solidFill>
                          <a:srgbClr val="8064A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LSD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3,</a:t>
                      </a:r>
                      <a:r>
                        <a:rPr lang="en-US" baseline="0" dirty="0" smtClean="0"/>
                        <a:t> as 3*17 = 51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8000"/>
                          </a:solidFill>
                        </a:rPr>
                        <a:t>9</a:t>
                      </a:r>
                      <a:endParaRPr lang="en-US" b="1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?</a:t>
                      </a:r>
                      <a:endPara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MSD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Curved Down Arrow 4"/>
          <p:cNvSpPr/>
          <p:nvPr/>
        </p:nvSpPr>
        <p:spPr>
          <a:xfrm rot="9792873">
            <a:off x="2513061" y="4262178"/>
            <a:ext cx="1055772" cy="242796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23070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Another Example: Decimal to Base 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1024</a:t>
            </a:r>
            <a:r>
              <a:rPr lang="en-US" baseline="-25000" dirty="0" smtClean="0"/>
              <a:t>10 </a:t>
            </a:r>
            <a:r>
              <a:rPr lang="en-US" dirty="0" smtClean="0"/>
              <a:t>= X</a:t>
            </a:r>
            <a:r>
              <a:rPr lang="en-US" baseline="-25000" dirty="0" smtClean="0"/>
              <a:t>17</a:t>
            </a:r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r>
              <a:rPr lang="en-US" dirty="0"/>
              <a:t>1024</a:t>
            </a:r>
            <a:r>
              <a:rPr lang="en-US" baseline="-25000" dirty="0"/>
              <a:t>10 </a:t>
            </a:r>
            <a:r>
              <a:rPr lang="en-US" dirty="0"/>
              <a:t>= </a:t>
            </a:r>
            <a:r>
              <a:rPr lang="en-US" dirty="0" smtClean="0">
                <a:solidFill>
                  <a:srgbClr val="E46C0A"/>
                </a:solidFill>
              </a:rPr>
              <a:t>3</a:t>
            </a:r>
            <a:r>
              <a:rPr lang="en-US" dirty="0" smtClean="0">
                <a:solidFill>
                  <a:srgbClr val="008000"/>
                </a:solidFill>
              </a:rPr>
              <a:t>9</a:t>
            </a:r>
            <a:r>
              <a:rPr lang="en-US" dirty="0" smtClean="0">
                <a:solidFill>
                  <a:srgbClr val="8064A2"/>
                </a:solidFill>
              </a:rPr>
              <a:t>4</a:t>
            </a:r>
            <a:r>
              <a:rPr lang="en-US" baseline="-25000" dirty="0" smtClean="0"/>
              <a:t>17</a:t>
            </a:r>
            <a:endParaRPr lang="en-US" baseline="-25000" dirty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 smtClean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607339"/>
              </p:ext>
            </p:extLst>
          </p:nvPr>
        </p:nvGraphicFramePr>
        <p:xfrm>
          <a:off x="1143000" y="3048000"/>
          <a:ext cx="670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600"/>
                <a:gridCol w="1117600"/>
                <a:gridCol w="2374900"/>
                <a:gridCol w="698500"/>
                <a:gridCol w="1397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 (= Number/17)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Significance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60,</a:t>
                      </a:r>
                      <a:r>
                        <a:rPr lang="en-US" baseline="0" dirty="0" smtClean="0"/>
                        <a:t> as 60*17 = 1020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8064A2"/>
                          </a:solidFill>
                        </a:rPr>
                        <a:t>4</a:t>
                      </a:r>
                      <a:endParaRPr lang="en-US" b="1" dirty="0">
                        <a:solidFill>
                          <a:srgbClr val="8064A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LSD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3,</a:t>
                      </a:r>
                      <a:r>
                        <a:rPr lang="en-US" baseline="0" dirty="0" smtClean="0"/>
                        <a:t> as 3*17 = 51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8000"/>
                          </a:solidFill>
                        </a:rPr>
                        <a:t>9</a:t>
                      </a:r>
                      <a:endParaRPr lang="en-US" b="1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MSD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Curved Down Arrow 4"/>
          <p:cNvSpPr/>
          <p:nvPr/>
        </p:nvSpPr>
        <p:spPr>
          <a:xfrm rot="9792873">
            <a:off x="2513061" y="4262178"/>
            <a:ext cx="1055772" cy="242796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3399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More Division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98,231 = ????</a:t>
            </a:r>
            <a:r>
              <a:rPr lang="en-US" b="1" dirty="0" smtClean="0">
                <a:solidFill>
                  <a:srgbClr val="8064A2"/>
                </a:solidFill>
              </a:rPr>
              <a:t>7</a:t>
            </a:r>
            <a:r>
              <a:rPr lang="en-US" baseline="-25000" dirty="0" smtClean="0"/>
              <a:t>16</a:t>
            </a:r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r>
              <a:rPr lang="en-US" dirty="0"/>
              <a:t>98,231 = </a:t>
            </a:r>
            <a:r>
              <a:rPr lang="en-US" dirty="0" smtClean="0"/>
              <a:t>?</a:t>
            </a:r>
            <a:r>
              <a:rPr lang="en-US" baseline="-25000" dirty="0" smtClean="0"/>
              <a:t>25</a:t>
            </a:r>
            <a:endParaRPr lang="en-US" baseline="-25000" dirty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 smtClean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729026"/>
              </p:ext>
            </p:extLst>
          </p:nvPr>
        </p:nvGraphicFramePr>
        <p:xfrm>
          <a:off x="1143000" y="2590800"/>
          <a:ext cx="670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600"/>
                <a:gridCol w="1117600"/>
                <a:gridCol w="2374900"/>
                <a:gridCol w="698500"/>
                <a:gridCol w="1397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 (= Number/16)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Significance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98231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6139</a:t>
                      </a:r>
                      <a:r>
                        <a:rPr lang="en-US" baseline="0" dirty="0" smtClean="0"/>
                        <a:t> * 16 = 98224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8064A2"/>
                          </a:solidFill>
                        </a:rPr>
                        <a:t>7</a:t>
                      </a:r>
                      <a:endParaRPr lang="en-US" b="1" dirty="0">
                        <a:solidFill>
                          <a:srgbClr val="8064A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LSD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MSD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Curved Down Arrow 4"/>
          <p:cNvSpPr/>
          <p:nvPr/>
        </p:nvSpPr>
        <p:spPr>
          <a:xfrm rot="9792873">
            <a:off x="2603367" y="3423876"/>
            <a:ext cx="1055772" cy="242796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7269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Last Division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98,231 = </a:t>
            </a:r>
            <a:r>
              <a:rPr lang="en-US" dirty="0" smtClean="0">
                <a:solidFill>
                  <a:srgbClr val="E46C0A"/>
                </a:solidFill>
              </a:rPr>
              <a:t>_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8000"/>
                </a:solidFill>
              </a:rPr>
              <a:t>_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_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4F81BD"/>
                </a:solidFill>
              </a:rPr>
              <a:t>B</a:t>
            </a:r>
            <a:r>
              <a:rPr lang="en-US" dirty="0" smtClean="0">
                <a:solidFill>
                  <a:srgbClr val="8064A2"/>
                </a:solidFill>
              </a:rPr>
              <a:t>7</a:t>
            </a:r>
            <a:r>
              <a:rPr lang="en-US" baseline="-25000" dirty="0" smtClean="0"/>
              <a:t>16</a:t>
            </a:r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 smtClean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404554"/>
              </p:ext>
            </p:extLst>
          </p:nvPr>
        </p:nvGraphicFramePr>
        <p:xfrm>
          <a:off x="1143000" y="2590800"/>
          <a:ext cx="670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600"/>
                <a:gridCol w="1117600"/>
                <a:gridCol w="2374900"/>
                <a:gridCol w="698500"/>
                <a:gridCol w="1397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 (= Number/16)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Significance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98231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6139</a:t>
                      </a:r>
                      <a:r>
                        <a:rPr lang="en-US" baseline="0" dirty="0" smtClean="0"/>
                        <a:t> * 16 = 98224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8064A2"/>
                          </a:solidFill>
                        </a:rPr>
                        <a:t>7</a:t>
                      </a:r>
                      <a:endParaRPr lang="en-US" b="1" dirty="0">
                        <a:solidFill>
                          <a:srgbClr val="8064A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LSD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6139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383*16=6128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4F81BD"/>
                          </a:solidFill>
                        </a:rPr>
                        <a:t>B</a:t>
                      </a:r>
                      <a:endParaRPr lang="en-US" b="1" dirty="0">
                        <a:solidFill>
                          <a:srgbClr val="4F81B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383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8000"/>
                          </a:solidFill>
                        </a:rPr>
                        <a:t>?</a:t>
                      </a:r>
                      <a:endParaRPr lang="en-US" b="1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?</a:t>
                      </a:r>
                      <a:endPara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MSD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Curved Down Arrow 4"/>
          <p:cNvSpPr/>
          <p:nvPr/>
        </p:nvSpPr>
        <p:spPr>
          <a:xfrm rot="9792873">
            <a:off x="2517672" y="3848268"/>
            <a:ext cx="1161349" cy="242796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5393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Last Division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98,231 = </a:t>
            </a:r>
            <a:r>
              <a:rPr lang="en-US" b="1" dirty="0">
                <a:solidFill>
                  <a:srgbClr val="E46C0A"/>
                </a:solidFill>
              </a:rPr>
              <a:t>1</a:t>
            </a:r>
            <a:r>
              <a:rPr lang="en-US" b="1" dirty="0">
                <a:solidFill>
                  <a:srgbClr val="008000"/>
                </a:solidFill>
              </a:rPr>
              <a:t>7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dirty="0">
                <a:solidFill>
                  <a:schemeClr val="accent1"/>
                </a:solidFill>
              </a:rPr>
              <a:t>B</a:t>
            </a:r>
            <a:r>
              <a:rPr lang="en-US" dirty="0">
                <a:solidFill>
                  <a:srgbClr val="8064A2"/>
                </a:solidFill>
              </a:rPr>
              <a:t>7</a:t>
            </a:r>
            <a:r>
              <a:rPr lang="en-US" baseline="-25000" dirty="0"/>
              <a:t>16</a:t>
            </a:r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r>
              <a:rPr lang="en-US" dirty="0"/>
              <a:t>98,231 = </a:t>
            </a:r>
            <a:r>
              <a:rPr lang="en-US" dirty="0" smtClean="0"/>
              <a:t>????</a:t>
            </a:r>
            <a:r>
              <a:rPr lang="en-US" baseline="-25000" dirty="0" smtClean="0"/>
              <a:t>25</a:t>
            </a:r>
            <a:endParaRPr lang="en-US" baseline="-25000" dirty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 smtClean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838829"/>
              </p:ext>
            </p:extLst>
          </p:nvPr>
        </p:nvGraphicFramePr>
        <p:xfrm>
          <a:off x="1143000" y="2590800"/>
          <a:ext cx="670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600"/>
                <a:gridCol w="1117600"/>
                <a:gridCol w="2374900"/>
                <a:gridCol w="698500"/>
                <a:gridCol w="1397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 (= Number/16)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Significance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98231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6139</a:t>
                      </a:r>
                      <a:r>
                        <a:rPr lang="en-US" baseline="0" dirty="0" smtClean="0"/>
                        <a:t> * 16 = 98224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8064A2"/>
                          </a:solidFill>
                        </a:rPr>
                        <a:t>7</a:t>
                      </a:r>
                      <a:endParaRPr lang="en-US" b="1" dirty="0">
                        <a:solidFill>
                          <a:srgbClr val="8064A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LSD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6139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383*16=6128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4F81BD"/>
                          </a:solidFill>
                        </a:rPr>
                        <a:t>B</a:t>
                      </a:r>
                      <a:endParaRPr lang="en-US" b="1" dirty="0">
                        <a:solidFill>
                          <a:srgbClr val="4F81B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383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23*16=368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1*16=16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8000"/>
                          </a:solidFill>
                        </a:rPr>
                        <a:t>7</a:t>
                      </a:r>
                      <a:endParaRPr lang="en-US" b="1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MSD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6077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Last Division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98,231 = 17FB7</a:t>
            </a:r>
            <a:r>
              <a:rPr lang="en-US" baseline="-25000" dirty="0" smtClean="0"/>
              <a:t>16      </a:t>
            </a:r>
            <a:r>
              <a:rPr lang="en-US" dirty="0" smtClean="0"/>
              <a:t>//Base 16, Done</a:t>
            </a:r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98,231 </a:t>
            </a:r>
            <a:r>
              <a:rPr lang="en-US" dirty="0"/>
              <a:t>=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_ </a:t>
            </a:r>
            <a:r>
              <a:rPr lang="en-US" dirty="0" smtClean="0">
                <a:solidFill>
                  <a:srgbClr val="008000"/>
                </a:solidFill>
              </a:rPr>
              <a:t>_ </a:t>
            </a:r>
            <a:r>
              <a:rPr lang="en-US" dirty="0" smtClean="0">
                <a:solidFill>
                  <a:srgbClr val="FF0000"/>
                </a:solidFill>
              </a:rPr>
              <a:t>_ </a:t>
            </a:r>
            <a:r>
              <a:rPr lang="en-US" b="1" dirty="0" smtClean="0">
                <a:solidFill>
                  <a:srgbClr val="8064A2"/>
                </a:solidFill>
              </a:rPr>
              <a:t>6</a:t>
            </a:r>
            <a:r>
              <a:rPr lang="en-US" baseline="-25000" dirty="0" smtClean="0"/>
              <a:t>25      </a:t>
            </a:r>
            <a:r>
              <a:rPr lang="en-US" dirty="0" smtClean="0"/>
              <a:t>//Now, Base 25?</a:t>
            </a:r>
            <a:endParaRPr lang="en-US" dirty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 smtClean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494160"/>
              </p:ext>
            </p:extLst>
          </p:nvPr>
        </p:nvGraphicFramePr>
        <p:xfrm>
          <a:off x="1143000" y="2590800"/>
          <a:ext cx="670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600"/>
                <a:gridCol w="1117600"/>
                <a:gridCol w="2374900"/>
                <a:gridCol w="698500"/>
                <a:gridCol w="1397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 (= Number/16)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Significance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98231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3929 * 25 = 98225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accent4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accent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LSD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8000"/>
                          </a:solidFill>
                        </a:rPr>
                        <a:t>?</a:t>
                      </a:r>
                      <a:endParaRPr lang="en-US" b="1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?</a:t>
                      </a:r>
                      <a:endPara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MSD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0702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Last Division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98,231 = </a:t>
            </a:r>
            <a:r>
              <a:rPr lang="en-US" dirty="0"/>
              <a:t>17FB7</a:t>
            </a:r>
            <a:r>
              <a:rPr lang="en-US" baseline="-25000" dirty="0"/>
              <a:t>16</a:t>
            </a:r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r>
              <a:rPr lang="en-US" dirty="0"/>
              <a:t>98,231 =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6</a:t>
            </a:r>
            <a:r>
              <a:rPr lang="en-US" b="1" dirty="0" smtClean="0">
                <a:solidFill>
                  <a:srgbClr val="008000"/>
                </a:solidFill>
              </a:rPr>
              <a:t>7</a:t>
            </a:r>
            <a:r>
              <a:rPr lang="en-US" b="1" dirty="0" smtClean="0">
                <a:solidFill>
                  <a:srgbClr val="FF0000"/>
                </a:solidFill>
              </a:rPr>
              <a:t>4</a:t>
            </a:r>
            <a:r>
              <a:rPr lang="en-US" b="1" dirty="0" smtClean="0">
                <a:solidFill>
                  <a:srgbClr val="8064A2"/>
                </a:solidFill>
              </a:rPr>
              <a:t>6</a:t>
            </a:r>
            <a:r>
              <a:rPr lang="en-US" baseline="-25000" dirty="0" smtClean="0"/>
              <a:t>25</a:t>
            </a:r>
            <a:endParaRPr lang="en-US" baseline="-25000" dirty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/>
          </a:p>
          <a:p>
            <a:endParaRPr lang="en-US" baseline="-25000" dirty="0" smtClean="0"/>
          </a:p>
          <a:p>
            <a:endParaRPr lang="en-US" baseline="-25000" dirty="0" smtClean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075869"/>
              </p:ext>
            </p:extLst>
          </p:nvPr>
        </p:nvGraphicFramePr>
        <p:xfrm>
          <a:off x="1143000" y="2590800"/>
          <a:ext cx="670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600"/>
                <a:gridCol w="1117600"/>
                <a:gridCol w="2374900"/>
                <a:gridCol w="698500"/>
                <a:gridCol w="1397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 (= Number/16)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Significance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98231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3929 * 25 = 98225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8064A2"/>
                          </a:solidFill>
                        </a:rPr>
                        <a:t>6</a:t>
                      </a:r>
                      <a:endParaRPr lang="en-US" b="1" dirty="0">
                        <a:solidFill>
                          <a:srgbClr val="8064A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LSD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3929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157*25=3925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157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6*25=150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8000"/>
                          </a:solidFill>
                        </a:rPr>
                        <a:t>7</a:t>
                      </a:r>
                      <a:endParaRPr lang="en-US" b="1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0*25=0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E46C0A"/>
                          </a:solidFill>
                        </a:rPr>
                        <a:t>6</a:t>
                      </a:r>
                      <a:endParaRPr lang="en-US" b="1" dirty="0">
                        <a:solidFill>
                          <a:srgbClr val="E46C0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MSD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6771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Octal-To-Binary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4559374"/>
              </p:ext>
            </p:extLst>
          </p:nvPr>
        </p:nvGraphicFramePr>
        <p:xfrm>
          <a:off x="457200" y="1600200"/>
          <a:ext cx="8229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Octal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Binary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011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2655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Decimal-To-Binary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3311218"/>
              </p:ext>
            </p:extLst>
          </p:nvPr>
        </p:nvGraphicFramePr>
        <p:xfrm>
          <a:off x="457200" y="1600200"/>
          <a:ext cx="82296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Octal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Binary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011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8</a:t>
                      </a:r>
                      <a:endParaRPr lang="en-US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1000</a:t>
                      </a:r>
                      <a:endParaRPr lang="en-US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9</a:t>
                      </a:r>
                      <a:endParaRPr lang="en-US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1001</a:t>
                      </a:r>
                      <a:endParaRPr lang="en-US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48412" y="6015711"/>
            <a:ext cx="8666988" cy="686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Q:</a:t>
            </a:r>
            <a:r>
              <a:rPr lang="en-US" sz="2400" dirty="0" smtClean="0"/>
              <a:t> What’s different (wrong?) with the last two rows in orange?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833803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4400" y="274638"/>
            <a:ext cx="3962400" cy="1143000"/>
          </a:xfrm>
        </p:spPr>
        <p:txBody>
          <a:bodyPr/>
          <a:lstStyle/>
          <a:p>
            <a:r>
              <a:rPr lang="en-US" dirty="0" smtClean="0"/>
              <a:t>Hex-To-X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7953205"/>
              </p:ext>
            </p:extLst>
          </p:nvPr>
        </p:nvGraphicFramePr>
        <p:xfrm>
          <a:off x="152400" y="106680"/>
          <a:ext cx="4114800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Hex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Binary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0011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0100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0101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0110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0111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1011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1101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1111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0x10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1 0000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648201" y="2713672"/>
            <a:ext cx="4343399" cy="175432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In Binary (and then in Hex shorthand):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Number of bits required to store [0,15] unique symbols?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Number of bits required to store one more symbol [0,16</a:t>
            </a:r>
            <a:r>
              <a:rPr lang="en-US" dirty="0"/>
              <a:t>]</a:t>
            </a:r>
            <a:r>
              <a:rPr lang="en-US" dirty="0" smtClean="0"/>
              <a:t>?</a:t>
            </a:r>
          </a:p>
          <a:p>
            <a:r>
              <a:rPr lang="en-US" dirty="0"/>
              <a:t>	</a:t>
            </a:r>
            <a:r>
              <a:rPr lang="en-US" dirty="0" smtClean="0">
                <a:solidFill>
                  <a:srgbClr val="FF0000"/>
                </a:solidFill>
              </a:rPr>
              <a:t>Q:</a:t>
            </a:r>
            <a:r>
              <a:rPr lang="en-US" dirty="0" smtClean="0"/>
              <a:t> What happened to our nibble?</a:t>
            </a:r>
          </a:p>
        </p:txBody>
      </p:sp>
    </p:spTree>
    <p:extLst>
      <p:ext uri="{BB962C8B-B14F-4D97-AF65-F5344CB8AC3E}">
        <p14:creationId xmlns:p14="http://schemas.microsoft.com/office/powerpoint/2010/main" val="5174229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Checkpoint: Basic Course Covered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2964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Lets apply our “unification &amp; organization” pattern</a:t>
            </a:r>
          </a:p>
          <a:p>
            <a:pPr lvl="1"/>
            <a:r>
              <a:rPr lang="en-US" dirty="0" smtClean="0"/>
              <a:t>Consider the basic element first (bin-to-</a:t>
            </a:r>
            <a:r>
              <a:rPr lang="en-US" dirty="0" err="1" smtClean="0"/>
              <a:t>dec</a:t>
            </a:r>
            <a:r>
              <a:rPr lang="en-US" dirty="0" smtClean="0"/>
              <a:t>, </a:t>
            </a:r>
            <a:r>
              <a:rPr lang="en-US" dirty="0" err="1" smtClean="0"/>
              <a:t>dec</a:t>
            </a:r>
            <a:r>
              <a:rPr lang="en-US" dirty="0" smtClean="0"/>
              <a:t>-to-hex)</a:t>
            </a:r>
          </a:p>
          <a:p>
            <a:pPr lvl="1"/>
            <a:r>
              <a:rPr lang="en-US" dirty="0" smtClean="0"/>
              <a:t>Next, modify our original design, in order to</a:t>
            </a:r>
          </a:p>
          <a:p>
            <a:pPr lvl="2"/>
            <a:r>
              <a:rPr lang="en-US" dirty="0" smtClean="0"/>
              <a:t>Take our basic design and improve upon it, </a:t>
            </a:r>
            <a:r>
              <a:rPr lang="en-US" dirty="0" err="1" smtClean="0"/>
              <a:t>w.r.t</a:t>
            </a:r>
            <a:r>
              <a:rPr lang="en-US" dirty="0" smtClean="0"/>
              <a:t>.</a:t>
            </a:r>
          </a:p>
          <a:p>
            <a:pPr lvl="3"/>
            <a:r>
              <a:rPr lang="en-US" dirty="0" smtClean="0"/>
              <a:t>Efficiency (speed, as measured in seconds)</a:t>
            </a:r>
          </a:p>
          <a:p>
            <a:pPr lvl="3"/>
            <a:r>
              <a:rPr lang="en-US" dirty="0" smtClean="0"/>
              <a:t>Power consumption</a:t>
            </a:r>
          </a:p>
          <a:p>
            <a:pPr lvl="3"/>
            <a:r>
              <a:rPr lang="en-US" dirty="0" smtClean="0"/>
              <a:t>Cost of die</a:t>
            </a:r>
          </a:p>
          <a:p>
            <a:pPr lvl="4"/>
            <a:r>
              <a:rPr lang="en-US" dirty="0" smtClean="0"/>
              <a:t>In terms of gate/transistor count, size, power draw</a:t>
            </a:r>
          </a:p>
          <a:p>
            <a:pPr lvl="2"/>
            <a:r>
              <a:rPr lang="en-US" dirty="0" smtClean="0"/>
              <a:t>Consider interesting design tradeoffs</a:t>
            </a:r>
          </a:p>
          <a:p>
            <a:pPr lvl="3"/>
            <a:r>
              <a:rPr lang="en-US" dirty="0" smtClean="0"/>
              <a:t>Speed versus price</a:t>
            </a:r>
          </a:p>
          <a:p>
            <a:pPr lvl="3"/>
            <a:r>
              <a:rPr lang="en-US" dirty="0" smtClean="0"/>
              <a:t>Speed versus size</a:t>
            </a:r>
          </a:p>
          <a:p>
            <a:pPr lvl="3"/>
            <a:r>
              <a:rPr lang="en-US" dirty="0" smtClean="0"/>
              <a:t>Size versus power consumption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694906" y="1660910"/>
            <a:ext cx="4360718" cy="4572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tint val="50000"/>
                  <a:satMod val="300000"/>
                  <a:alpha val="46000"/>
                </a:schemeClr>
              </a:gs>
              <a:gs pos="35000">
                <a:schemeClr val="accent6">
                  <a:tint val="37000"/>
                  <a:satMod val="300000"/>
                  <a:alpha val="46000"/>
                </a:schemeClr>
              </a:gs>
              <a:gs pos="100000">
                <a:schemeClr val="accent6">
                  <a:tint val="15000"/>
                  <a:satMod val="350000"/>
                  <a:alpha val="46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655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46482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More Advanced:</a:t>
            </a:r>
            <a:br>
              <a:rPr lang="en-US" dirty="0" smtClean="0"/>
            </a:br>
            <a:r>
              <a:rPr lang="en-US" dirty="0" smtClean="0"/>
              <a:t> Skip the Middle Step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AF025</a:t>
            </a:r>
            <a:r>
              <a:rPr lang="en-US" baseline="-25000" dirty="0" smtClean="0"/>
              <a:t>16</a:t>
            </a:r>
            <a:r>
              <a:rPr lang="en-US" dirty="0" smtClean="0"/>
              <a:t> to Binary:</a:t>
            </a:r>
          </a:p>
          <a:p>
            <a:endParaRPr lang="en-US" dirty="0"/>
          </a:p>
          <a:p>
            <a:r>
              <a:rPr lang="en-US" dirty="0" smtClean="0"/>
              <a:t>375</a:t>
            </a:r>
            <a:r>
              <a:rPr lang="en-US" baseline="-25000" dirty="0" smtClean="0"/>
              <a:t>8</a:t>
            </a:r>
            <a:r>
              <a:rPr lang="en-US" dirty="0" smtClean="0"/>
              <a:t> to Binary:</a:t>
            </a:r>
          </a:p>
          <a:p>
            <a:endParaRPr lang="en-US" dirty="0"/>
          </a:p>
          <a:p>
            <a:r>
              <a:rPr lang="en-US" dirty="0" smtClean="0"/>
              <a:t>1021231</a:t>
            </a:r>
            <a:r>
              <a:rPr lang="en-US" baseline="-25000" dirty="0" smtClean="0"/>
              <a:t>4 </a:t>
            </a:r>
            <a:r>
              <a:rPr lang="en-US" dirty="0" smtClean="0"/>
              <a:t>to Binary:</a:t>
            </a:r>
            <a:endParaRPr lang="en-US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5621130"/>
              </p:ext>
            </p:extLst>
          </p:nvPr>
        </p:nvGraphicFramePr>
        <p:xfrm>
          <a:off x="4876800" y="0"/>
          <a:ext cx="4114800" cy="630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Hex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Binary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0011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0100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0101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0110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0111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1011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1101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1111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9923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Skipping the Middle Step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1011 1110 1111 0001 0101 to Hex:</a:t>
            </a:r>
          </a:p>
          <a:p>
            <a:endParaRPr lang="en-US" dirty="0"/>
          </a:p>
          <a:p>
            <a:r>
              <a:rPr lang="en-US" dirty="0" smtClean="0"/>
              <a:t>101 111 000 010 011 to Octal:</a:t>
            </a:r>
          </a:p>
          <a:p>
            <a:endParaRPr lang="en-US" dirty="0"/>
          </a:p>
          <a:p>
            <a:r>
              <a:rPr lang="en-US" dirty="0" smtClean="0"/>
              <a:t>11 00 01 10 to Base 4: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3249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“Advanced” Base Conversions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8991600" cy="4525963"/>
          </a:xfrm>
        </p:spPr>
        <p:txBody>
          <a:bodyPr/>
          <a:lstStyle/>
          <a:p>
            <a:r>
              <a:rPr lang="en-US" dirty="0" smtClean="0"/>
              <a:t>Key: recognize multiplication &amp; division as inverses</a:t>
            </a:r>
          </a:p>
          <a:p>
            <a:r>
              <a:rPr lang="en-US" dirty="0" smtClean="0"/>
              <a:t>Convert .4304</a:t>
            </a:r>
            <a:r>
              <a:rPr lang="en-US" baseline="-25000" dirty="0" smtClean="0"/>
              <a:t>10</a:t>
            </a:r>
            <a:r>
              <a:rPr lang="en-US" dirty="0" smtClean="0"/>
              <a:t> to base 5</a:t>
            </a:r>
          </a:p>
          <a:p>
            <a:pPr lvl="1"/>
            <a:r>
              <a:rPr lang="en-US" dirty="0" smtClean="0"/>
              <a:t>Rather than repeatedly divide, lets</a:t>
            </a:r>
          </a:p>
          <a:p>
            <a:pPr lvl="2"/>
            <a:r>
              <a:rPr lang="en-US" dirty="0" smtClean="0"/>
              <a:t>Multiply out and track the digits to the right of the mantissa</a:t>
            </a:r>
          </a:p>
          <a:p>
            <a:pPr lvl="2"/>
            <a:r>
              <a:rPr lang="en-US" dirty="0" smtClean="0"/>
              <a:t>Stop when there is a 0 in the fractional component</a:t>
            </a:r>
          </a:p>
          <a:p>
            <a:pPr lvl="3"/>
            <a:r>
              <a:rPr lang="en-US" dirty="0" smtClean="0"/>
              <a:t>To the right of the mantissa is all zeroes</a:t>
            </a:r>
          </a:p>
          <a:p>
            <a:pPr marL="914400" lvl="2" indent="0">
              <a:buNone/>
            </a:pP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433729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2237"/>
            <a:ext cx="8991600" cy="4525963"/>
          </a:xfrm>
        </p:spPr>
        <p:txBody>
          <a:bodyPr/>
          <a:lstStyle/>
          <a:p>
            <a:r>
              <a:rPr lang="en-US" dirty="0" smtClean="0"/>
              <a:t>Key: recognize </a:t>
            </a:r>
            <a:r>
              <a:rPr lang="en-US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multiplication</a:t>
            </a:r>
            <a:r>
              <a:rPr lang="en-US" dirty="0" smtClean="0"/>
              <a:t> &amp;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division</a:t>
            </a:r>
            <a:r>
              <a:rPr lang="en-US" dirty="0" smtClean="0"/>
              <a:t> as inverses</a:t>
            </a:r>
          </a:p>
          <a:p>
            <a:r>
              <a:rPr lang="en-US" dirty="0" smtClean="0"/>
              <a:t>Convert .4304</a:t>
            </a:r>
            <a:r>
              <a:rPr lang="en-US" baseline="-25000" dirty="0" smtClean="0"/>
              <a:t>10</a:t>
            </a:r>
            <a:r>
              <a:rPr lang="en-US" dirty="0" smtClean="0"/>
              <a:t> to base 5</a:t>
            </a:r>
          </a:p>
          <a:p>
            <a:pPr lvl="1"/>
            <a:r>
              <a:rPr lang="en-US" dirty="0" smtClean="0"/>
              <a:t>Rather than repeatedly divide, lets</a:t>
            </a:r>
          </a:p>
          <a:p>
            <a:pPr lvl="2"/>
            <a:r>
              <a:rPr lang="en-US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Multiply</a:t>
            </a:r>
            <a:r>
              <a:rPr lang="en-US" dirty="0" smtClean="0"/>
              <a:t> out and track the digits to the right of the mantissa</a:t>
            </a:r>
          </a:p>
          <a:p>
            <a:pPr lvl="2"/>
            <a:r>
              <a:rPr lang="en-US" dirty="0" smtClean="0"/>
              <a:t>Stop when there is a 0 in the fractional component (R)</a:t>
            </a:r>
          </a:p>
          <a:p>
            <a:pPr lvl="3"/>
            <a:r>
              <a:rPr lang="en-US" dirty="0" smtClean="0"/>
              <a:t>To the right of the mantissa is all zeroes</a:t>
            </a:r>
          </a:p>
          <a:p>
            <a:pPr lvl="3"/>
            <a:r>
              <a:rPr lang="en-US" dirty="0" smtClean="0"/>
              <a:t>Note the flip-flop for MSD and LSD</a:t>
            </a:r>
          </a:p>
          <a:p>
            <a:pPr marL="914400" lvl="2" indent="0">
              <a:buNone/>
            </a:pPr>
            <a:endParaRPr lang="en-US" dirty="0" smtClean="0"/>
          </a:p>
          <a:p>
            <a:endParaRPr lang="en-US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3374"/>
              </p:ext>
            </p:extLst>
          </p:nvPr>
        </p:nvGraphicFramePr>
        <p:xfrm>
          <a:off x="1143000" y="3352800"/>
          <a:ext cx="6629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0813"/>
                <a:gridCol w="1710813"/>
                <a:gridCol w="1069258"/>
                <a:gridCol w="2138516"/>
              </a:tblGrid>
              <a:tr h="364030">
                <a:tc>
                  <a:txBody>
                    <a:bodyPr/>
                    <a:lstStyle/>
                    <a:p>
                      <a:r>
                        <a:rPr lang="en-US" dirty="0" smtClean="0"/>
                        <a:t>Step1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Significance</a:t>
                      </a:r>
                      <a:endParaRPr lang="en-US" dirty="0"/>
                    </a:p>
                  </a:txBody>
                  <a:tcPr/>
                </a:tc>
              </a:tr>
              <a:tr h="116689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.825</a:t>
                      </a:r>
                    </a:p>
                    <a:p>
                      <a:r>
                        <a:rPr lang="en-US" dirty="0" smtClean="0"/>
                        <a:t>    *5</a:t>
                      </a:r>
                    </a:p>
                    <a:p>
                      <a:r>
                        <a:rPr lang="en-US" dirty="0" smtClean="0"/>
                        <a:t>--------</a:t>
                      </a:r>
                    </a:p>
                    <a:p>
                      <a:r>
                        <a:rPr lang="en-US" dirty="0" smtClean="0"/>
                        <a:t>6.375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.375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MSD</a:t>
                      </a:r>
                      <a:endPara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6403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.375</a:t>
                      </a:r>
                    </a:p>
                    <a:p>
                      <a:r>
                        <a:rPr lang="en-US" dirty="0" smtClean="0"/>
                        <a:t>    *5</a:t>
                      </a:r>
                    </a:p>
                    <a:p>
                      <a:r>
                        <a:rPr lang="en-US" dirty="0" smtClean="0"/>
                        <a:t>---------</a:t>
                      </a:r>
                    </a:p>
                    <a:p>
                      <a:r>
                        <a:rPr lang="en-US" dirty="0" smtClean="0"/>
                        <a:t>1.875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rgbClr val="FF0000"/>
                          </a:solidFill>
                        </a:rPr>
                        <a:t>1.</a:t>
                      </a:r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875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4030">
                <a:tc>
                  <a:txBody>
                    <a:bodyPr/>
                    <a:lstStyle/>
                    <a:p>
                      <a:r>
                        <a:rPr lang="mr-IN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…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403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.5 * 5 =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6600"/>
                          </a:solidFill>
                        </a:rPr>
                        <a:t>4</a:t>
                      </a:r>
                      <a:r>
                        <a:rPr lang="en-US" dirty="0" smtClean="0"/>
                        <a:t>.</a:t>
                      </a:r>
                      <a:r>
                        <a:rPr lang="en-US" b="1" dirty="0" smtClean="0">
                          <a:solidFill>
                            <a:srgbClr val="000000"/>
                          </a:solidFill>
                        </a:rPr>
                        <a:t>00</a:t>
                      </a:r>
                      <a:endParaRPr lang="en-US" b="1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LSD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 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//End 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at R== .0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 flipH="1">
            <a:off x="3429000" y="4038600"/>
            <a:ext cx="1524000" cy="1066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3429000" y="5257800"/>
            <a:ext cx="1524000" cy="1066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3201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Now You Try It!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999767"/>
              </p:ext>
            </p:extLst>
          </p:nvPr>
        </p:nvGraphicFramePr>
        <p:xfrm>
          <a:off x="1447800" y="1524000"/>
          <a:ext cx="6629400" cy="4389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0813"/>
                <a:gridCol w="1710813"/>
                <a:gridCol w="1069258"/>
                <a:gridCol w="2138516"/>
              </a:tblGrid>
              <a:tr h="364030">
                <a:tc>
                  <a:txBody>
                    <a:bodyPr/>
                    <a:lstStyle/>
                    <a:p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Significance</a:t>
                      </a:r>
                      <a:endParaRPr lang="en-US" dirty="0"/>
                    </a:p>
                  </a:txBody>
                  <a:tcPr/>
                </a:tc>
              </a:tr>
              <a:tr h="116689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.4304</a:t>
                      </a:r>
                    </a:p>
                    <a:p>
                      <a:r>
                        <a:rPr lang="en-US" dirty="0" smtClean="0"/>
                        <a:t>     *5</a:t>
                      </a:r>
                    </a:p>
                    <a:p>
                      <a:r>
                        <a:rPr lang="en-US" dirty="0" smtClean="0"/>
                        <a:t>--------</a:t>
                      </a:r>
                    </a:p>
                    <a:p>
                      <a:r>
                        <a:rPr lang="en-US" dirty="0" smtClean="0"/>
                        <a:t>2.152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.152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MSD</a:t>
                      </a:r>
                      <a:endPara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6403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.</a:t>
                      </a:r>
                      <a:r>
                        <a:rPr lang="en-US" b="1" dirty="0" smtClean="0"/>
                        <a:t>152</a:t>
                      </a:r>
                    </a:p>
                    <a:p>
                      <a:r>
                        <a:rPr lang="en-US" dirty="0" smtClean="0"/>
                        <a:t>   *5</a:t>
                      </a:r>
                    </a:p>
                    <a:p>
                      <a:r>
                        <a:rPr lang="en-US" dirty="0" smtClean="0"/>
                        <a:t>---------</a:t>
                      </a:r>
                    </a:p>
                    <a:p>
                      <a:r>
                        <a:rPr lang="en-US" dirty="0" smtClean="0"/>
                        <a:t>0.76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dirty="0" smtClean="0"/>
                        <a:t>.</a:t>
                      </a:r>
                      <a:r>
                        <a:rPr lang="en-US" b="1" dirty="0" smtClean="0"/>
                        <a:t>76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403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.</a:t>
                      </a:r>
                      <a:r>
                        <a:rPr lang="en-US" b="1" dirty="0" smtClean="0"/>
                        <a:t>76</a:t>
                      </a:r>
                    </a:p>
                    <a:p>
                      <a:r>
                        <a:rPr lang="en-US" dirty="0" smtClean="0"/>
                        <a:t>*?</a:t>
                      </a:r>
                    </a:p>
                    <a:p>
                      <a:r>
                        <a:rPr lang="en-US" dirty="0" smtClean="0"/>
                        <a:t>---------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403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403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LSD</a:t>
                      </a:r>
                      <a:endParaRPr lang="en-US" b="1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6477000"/>
            <a:ext cx="34227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 the </a:t>
            </a:r>
            <a:r>
              <a:rPr lang="en-US" dirty="0" smtClean="0"/>
              <a:t>flip-flop </a:t>
            </a:r>
            <a:r>
              <a:rPr lang="en-US" dirty="0"/>
              <a:t>for MSD and LSD</a:t>
            </a:r>
          </a:p>
          <a:p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3733800" y="2209800"/>
            <a:ext cx="1524000" cy="1066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3581400" y="3429000"/>
            <a:ext cx="1676400" cy="1066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2475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.</a:t>
            </a:r>
            <a:r>
              <a:rPr lang="en-US" dirty="0" smtClean="0">
                <a:solidFill>
                  <a:srgbClr val="E46C0A"/>
                </a:solidFill>
              </a:rPr>
              <a:t>2</a:t>
            </a:r>
            <a:r>
              <a:rPr lang="en-US" dirty="0" smtClean="0">
                <a:solidFill>
                  <a:srgbClr val="008000"/>
                </a:solidFill>
              </a:rPr>
              <a:t>0</a:t>
            </a:r>
            <a:r>
              <a:rPr lang="en-US" dirty="0" smtClean="0">
                <a:solidFill>
                  <a:srgbClr val="FF0000"/>
                </a:solidFill>
              </a:rPr>
              <a:t>3</a:t>
            </a:r>
            <a:r>
              <a:rPr lang="en-US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4</a:t>
            </a:r>
            <a:r>
              <a:rPr lang="en-US" baseline="-25000" dirty="0" smtClean="0"/>
              <a:t>5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044119"/>
              </p:ext>
            </p:extLst>
          </p:nvPr>
        </p:nvGraphicFramePr>
        <p:xfrm>
          <a:off x="1447800" y="1219200"/>
          <a:ext cx="66294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0813"/>
                <a:gridCol w="1710813"/>
                <a:gridCol w="1069258"/>
                <a:gridCol w="2138516"/>
              </a:tblGrid>
              <a:tr h="364030">
                <a:tc>
                  <a:txBody>
                    <a:bodyPr/>
                    <a:lstStyle/>
                    <a:p>
                      <a:r>
                        <a:rPr lang="en-US" dirty="0" smtClean="0"/>
                        <a:t>Step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Significance</a:t>
                      </a:r>
                      <a:endParaRPr lang="en-US" dirty="0"/>
                    </a:p>
                  </a:txBody>
                  <a:tcPr/>
                </a:tc>
              </a:tr>
              <a:tr h="116689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.4304</a:t>
                      </a:r>
                    </a:p>
                    <a:p>
                      <a:r>
                        <a:rPr lang="en-US" dirty="0" smtClean="0"/>
                        <a:t>     *5</a:t>
                      </a:r>
                    </a:p>
                    <a:p>
                      <a:r>
                        <a:rPr lang="en-US" dirty="0" smtClean="0"/>
                        <a:t>--------</a:t>
                      </a:r>
                    </a:p>
                    <a:p>
                      <a:r>
                        <a:rPr lang="en-US" dirty="0" smtClean="0"/>
                        <a:t>2.152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E46C0A"/>
                          </a:solidFill>
                        </a:rPr>
                        <a:t>2</a:t>
                      </a:r>
                      <a:r>
                        <a:rPr lang="en-US" b="1" dirty="0" smtClean="0">
                          <a:solidFill>
                            <a:schemeClr val="bg1"/>
                          </a:solidFill>
                        </a:rPr>
                        <a:t>.152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E46C0A"/>
                          </a:solidFill>
                        </a:rPr>
                        <a:t>MSD</a:t>
                      </a:r>
                      <a:endParaRPr lang="en-US" b="1" dirty="0">
                        <a:solidFill>
                          <a:srgbClr val="E46C0A"/>
                        </a:solidFill>
                      </a:endParaRPr>
                    </a:p>
                  </a:txBody>
                  <a:tcPr/>
                </a:tc>
              </a:tr>
              <a:tr h="36403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.</a:t>
                      </a:r>
                      <a:r>
                        <a:rPr lang="en-US" b="1" dirty="0" smtClean="0"/>
                        <a:t>152</a:t>
                      </a:r>
                    </a:p>
                    <a:p>
                      <a:r>
                        <a:rPr lang="en-US" dirty="0" smtClean="0"/>
                        <a:t>   *5</a:t>
                      </a:r>
                    </a:p>
                    <a:p>
                      <a:r>
                        <a:rPr lang="en-US" dirty="0" smtClean="0"/>
                        <a:t>---------</a:t>
                      </a:r>
                    </a:p>
                    <a:p>
                      <a:r>
                        <a:rPr lang="en-US" dirty="0" smtClean="0"/>
                        <a:t>0.76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008000"/>
                          </a:solidFill>
                        </a:rPr>
                        <a:t>0</a:t>
                      </a:r>
                      <a:r>
                        <a:rPr lang="en-US" dirty="0" smtClean="0"/>
                        <a:t>.</a:t>
                      </a:r>
                      <a:r>
                        <a:rPr lang="en-US" b="1" dirty="0" smtClean="0"/>
                        <a:t>76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403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.</a:t>
                      </a:r>
                      <a:r>
                        <a:rPr lang="en-US" b="1" dirty="0" smtClean="0"/>
                        <a:t>76</a:t>
                      </a:r>
                    </a:p>
                    <a:p>
                      <a:r>
                        <a:rPr lang="en-US" dirty="0" smtClean="0"/>
                        <a:t>*5</a:t>
                      </a:r>
                    </a:p>
                    <a:p>
                      <a:r>
                        <a:rPr lang="en-US" dirty="0" smtClean="0"/>
                        <a:t>---------</a:t>
                      </a:r>
                    </a:p>
                    <a:p>
                      <a:r>
                        <a:rPr lang="en-US" dirty="0" smtClean="0"/>
                        <a:t>3.8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en-US" dirty="0" smtClean="0"/>
                        <a:t>.8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403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.8</a:t>
                      </a:r>
                    </a:p>
                    <a:p>
                      <a:r>
                        <a:rPr lang="en-US" dirty="0" smtClean="0"/>
                        <a:t>*5</a:t>
                      </a:r>
                    </a:p>
                    <a:p>
                      <a:r>
                        <a:rPr lang="en-US" dirty="0" smtClean="0"/>
                        <a:t>---------</a:t>
                      </a:r>
                    </a:p>
                    <a:p>
                      <a:r>
                        <a:rPr lang="en-US" dirty="0" smtClean="0"/>
                        <a:t>4.</a:t>
                      </a:r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r>
                        <a:rPr lang="en-US" dirty="0" smtClean="0"/>
                        <a:t>.</a:t>
                      </a:r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Stop when these</a:t>
                      </a:r>
                      <a:r>
                        <a:rPr lang="en-US" baseline="0" dirty="0" smtClean="0"/>
                        <a:t> digits are zeroes</a:t>
                      </a:r>
                    </a:p>
                    <a:p>
                      <a:r>
                        <a:rPr lang="en-US" b="1" baseline="0" dirty="0" smtClean="0">
                          <a:solidFill>
                            <a:srgbClr val="B3A2C7"/>
                          </a:solidFill>
                        </a:rPr>
                        <a:t>LSD</a:t>
                      </a:r>
                      <a:endParaRPr lang="en-US" b="1" dirty="0">
                        <a:solidFill>
                          <a:srgbClr val="B3A2C7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6477000"/>
            <a:ext cx="34227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 the </a:t>
            </a:r>
            <a:r>
              <a:rPr lang="en-US" dirty="0" smtClean="0"/>
              <a:t>flip-flop </a:t>
            </a:r>
            <a:r>
              <a:rPr lang="en-US" dirty="0"/>
              <a:t>for MSD and LSD</a:t>
            </a:r>
          </a:p>
          <a:p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3733800" y="1905000"/>
            <a:ext cx="1524000" cy="1066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3581400" y="3124200"/>
            <a:ext cx="1676400" cy="1066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5334000" y="5334000"/>
            <a:ext cx="7620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5978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Emergent Patterns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105400"/>
          </a:xfrm>
        </p:spPr>
        <p:txBody>
          <a:bodyPr/>
          <a:lstStyle/>
          <a:p>
            <a:r>
              <a:rPr lang="en-US" dirty="0" smtClean="0">
                <a:solidFill>
                  <a:srgbClr val="3366FF"/>
                </a:solidFill>
              </a:rPr>
              <a:t>For Whole </a:t>
            </a:r>
            <a:r>
              <a:rPr lang="en-US" dirty="0">
                <a:solidFill>
                  <a:srgbClr val="3366FF"/>
                </a:solidFill>
              </a:rPr>
              <a:t>N</a:t>
            </a:r>
            <a:r>
              <a:rPr lang="en-US" dirty="0" smtClean="0">
                <a:solidFill>
                  <a:srgbClr val="3366FF"/>
                </a:solidFill>
              </a:rPr>
              <a:t>umbers</a:t>
            </a:r>
            <a:r>
              <a:rPr lang="mr-IN" dirty="0" smtClean="0"/>
              <a:t>…</a:t>
            </a:r>
            <a:endParaRPr lang="en-US" dirty="0" smtClean="0"/>
          </a:p>
          <a:p>
            <a:pPr lvl="1"/>
            <a:r>
              <a:rPr lang="en-US" dirty="0" smtClean="0"/>
              <a:t>A # in a bigger base B</a:t>
            </a:r>
            <a:r>
              <a:rPr lang="en-US" baseline="-25000" dirty="0" smtClean="0"/>
              <a:t>2</a:t>
            </a:r>
            <a:r>
              <a:rPr lang="en-US" dirty="0" smtClean="0"/>
              <a:t> becomes a larger # in a smaller base B</a:t>
            </a:r>
            <a:r>
              <a:rPr lang="en-US" baseline="-25000" dirty="0" smtClean="0"/>
              <a:t>1</a:t>
            </a:r>
            <a:r>
              <a:rPr lang="en-US" dirty="0" smtClean="0"/>
              <a:t> </a:t>
            </a:r>
          </a:p>
          <a:p>
            <a:pPr lvl="2"/>
            <a:r>
              <a:rPr lang="en-US" dirty="0" smtClean="0"/>
              <a:t>This smaller base has less symbols and so “counts up” more quickly</a:t>
            </a:r>
          </a:p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For Fractions</a:t>
            </a:r>
            <a:r>
              <a:rPr lang="mr-IN" dirty="0" smtClean="0"/>
              <a:t>…</a:t>
            </a:r>
            <a:endParaRPr lang="en-US" dirty="0" smtClean="0"/>
          </a:p>
          <a:p>
            <a:pPr lvl="1"/>
            <a:r>
              <a:rPr lang="en-US" dirty="0" smtClean="0"/>
              <a:t>A fraction in a bigger base B</a:t>
            </a:r>
            <a:r>
              <a:rPr lang="en-US" baseline="-25000" dirty="0" smtClean="0"/>
              <a:t>2</a:t>
            </a:r>
            <a:r>
              <a:rPr lang="en-US" dirty="0" smtClean="0"/>
              <a:t> versus the </a:t>
            </a:r>
            <a:r>
              <a:rPr lang="en-US" smtClean="0"/>
              <a:t>same fraction </a:t>
            </a:r>
            <a:r>
              <a:rPr lang="en-US" dirty="0" smtClean="0"/>
              <a:t>in a smaller </a:t>
            </a:r>
            <a:r>
              <a:rPr lang="en-US" smtClean="0"/>
              <a:t>base B</a:t>
            </a:r>
            <a:r>
              <a:rPr lang="en-US" baseline="-25000" smtClean="0"/>
              <a:t>1</a:t>
            </a:r>
            <a:r>
              <a:rPr lang="en-US" smtClean="0"/>
              <a:t>:</a:t>
            </a:r>
            <a:endParaRPr lang="en-US" dirty="0" smtClean="0"/>
          </a:p>
          <a:p>
            <a:pPr lvl="2"/>
            <a:r>
              <a:rPr lang="en-US" dirty="0" smtClean="0"/>
              <a:t>.5</a:t>
            </a:r>
            <a:r>
              <a:rPr lang="en-US" baseline="-25000" dirty="0" smtClean="0"/>
              <a:t>10</a:t>
            </a:r>
            <a:r>
              <a:rPr lang="en-US" dirty="0" smtClean="0"/>
              <a:t> = 5 * 10</a:t>
            </a:r>
            <a:r>
              <a:rPr lang="en-US" baseline="30000" dirty="0" smtClean="0"/>
              <a:t>-1</a:t>
            </a:r>
            <a:r>
              <a:rPr lang="en-US" dirty="0" smtClean="0"/>
              <a:t> = 5 * 1/10 = 5/10 = ½ = .5</a:t>
            </a:r>
            <a:r>
              <a:rPr lang="en-US" baseline="-25000" dirty="0" smtClean="0"/>
              <a:t>10</a:t>
            </a:r>
            <a:endParaRPr lang="en-US" dirty="0" smtClean="0"/>
          </a:p>
          <a:p>
            <a:pPr lvl="2"/>
            <a:r>
              <a:rPr lang="en-US" dirty="0" smtClean="0"/>
              <a:t>.5</a:t>
            </a:r>
            <a:r>
              <a:rPr lang="en-US" baseline="-25000" dirty="0" smtClean="0"/>
              <a:t>6</a:t>
            </a:r>
            <a:r>
              <a:rPr lang="en-US" dirty="0" smtClean="0"/>
              <a:t>  = 5 * 6</a:t>
            </a:r>
            <a:r>
              <a:rPr lang="en-US" baseline="30000" dirty="0" smtClean="0"/>
              <a:t>-1</a:t>
            </a:r>
            <a:r>
              <a:rPr lang="en-US" dirty="0" smtClean="0"/>
              <a:t> = 5 * 1/6 = 5/6 = .83</a:t>
            </a:r>
            <a:r>
              <a:rPr lang="en-US" baseline="-25000" dirty="0" smtClean="0"/>
              <a:t>10</a:t>
            </a:r>
            <a:endParaRPr lang="en-US" dirty="0" smtClean="0"/>
          </a:p>
          <a:p>
            <a:pPr lvl="2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2222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the Exercises!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Exercise 1, and the first part of HW1</a:t>
            </a:r>
          </a:p>
          <a:p>
            <a:pPr lvl="1"/>
            <a:r>
              <a:rPr lang="en-US" dirty="0" smtClean="0"/>
              <a:t>Do the Exercises to keep pace</a:t>
            </a:r>
          </a:p>
          <a:p>
            <a:pPr lvl="1"/>
            <a:r>
              <a:rPr lang="en-US" dirty="0" smtClean="0"/>
              <a:t>And</a:t>
            </a:r>
            <a:r>
              <a:rPr lang="en-US" smtClean="0"/>
              <a:t>, the alternate </a:t>
            </a:r>
            <a:r>
              <a:rPr lang="en-US" dirty="0" smtClean="0"/>
              <a:t>exercises </a:t>
            </a:r>
            <a:r>
              <a:rPr lang="en-US" dirty="0" err="1" smtClean="0"/>
              <a:t>ftw</a:t>
            </a:r>
            <a:r>
              <a:rPr lang="en-US" dirty="0" smtClean="0"/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4385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Blac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 Black .thmx</Template>
  <TotalTime>9122</TotalTime>
  <Words>2668</Words>
  <Application>Microsoft Macintosh PowerPoint</Application>
  <PresentationFormat>On-screen Show (4:3)</PresentationFormat>
  <Paragraphs>985</Paragraphs>
  <Slides>39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Black</vt:lpstr>
      <vt:lpstr>Number Bases</vt:lpstr>
      <vt:lpstr>Positional Numbering Examples</vt:lpstr>
      <vt:lpstr>Positional Numbering Motivation</vt:lpstr>
      <vt:lpstr>A Word On Words</vt:lpstr>
      <vt:lpstr>Base Conversions</vt:lpstr>
      <vt:lpstr>Base B Expansion (to Decimal)</vt:lpstr>
      <vt:lpstr>Base B Expansion (to Decimal)</vt:lpstr>
      <vt:lpstr>An-1 * Bn-1 + … + A2 * B2 + * A1 * B  + A0</vt:lpstr>
      <vt:lpstr>An-1 * Bn-1 + … + A2 * B2 + * A1 * B  + A0</vt:lpstr>
      <vt:lpstr>PowerPoint Presentation</vt:lpstr>
      <vt:lpstr>PowerPoint Presentation</vt:lpstr>
      <vt:lpstr>Clicker Question Here</vt:lpstr>
      <vt:lpstr>The Other Direction: Base 10 to Base B</vt:lpstr>
      <vt:lpstr>Example: Decimal to Base B</vt:lpstr>
      <vt:lpstr>Example: Decimal to Base B</vt:lpstr>
      <vt:lpstr>Example: Decimal to Base B</vt:lpstr>
      <vt:lpstr>Verify 15310 = 3067 Using Expansion </vt:lpstr>
      <vt:lpstr>Verify 15310 = 3067 Using Expansion </vt:lpstr>
      <vt:lpstr>Another Example: Decimal to Base B</vt:lpstr>
      <vt:lpstr>Another Example: Decimal to Base B</vt:lpstr>
      <vt:lpstr>Another Example: Decimal to Base B</vt:lpstr>
      <vt:lpstr>Another Example: Decimal to Base B</vt:lpstr>
      <vt:lpstr>More Division Examples</vt:lpstr>
      <vt:lpstr>Last Division Example</vt:lpstr>
      <vt:lpstr>Last Division Example</vt:lpstr>
      <vt:lpstr>Last Division Example</vt:lpstr>
      <vt:lpstr>Last Division Example</vt:lpstr>
      <vt:lpstr>Octal-To-Binary</vt:lpstr>
      <vt:lpstr>Decimal-To-Binary</vt:lpstr>
      <vt:lpstr>Hex-To-X</vt:lpstr>
      <vt:lpstr>Checkpoint: Basic Course Covered</vt:lpstr>
      <vt:lpstr>More Advanced:  Skip the Middle Step</vt:lpstr>
      <vt:lpstr>Skipping the Middle Step</vt:lpstr>
      <vt:lpstr>“Advanced” Base Conversions</vt:lpstr>
      <vt:lpstr>PowerPoint Presentation</vt:lpstr>
      <vt:lpstr>Now You Try It!</vt:lpstr>
      <vt:lpstr>.20345</vt:lpstr>
      <vt:lpstr>Emergent Patterns</vt:lpstr>
      <vt:lpstr>Do the Exercises!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ArrayLists</dc:title>
  <dc:creator>ThinBlade</dc:creator>
  <cp:lastModifiedBy>Rob Nash</cp:lastModifiedBy>
  <cp:revision>450</cp:revision>
  <dcterms:created xsi:type="dcterms:W3CDTF">2006-08-16T00:00:00Z</dcterms:created>
  <dcterms:modified xsi:type="dcterms:W3CDTF">2018-10-02T00:37:12Z</dcterms:modified>
</cp:coreProperties>
</file>