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emf" ContentType="image/x-emf"/>
  <Default Extension="vml" ContentType="application/vnd.openxmlformats-officedocument.vmlDrawing"/>
  <Default Extension="docx" ContentType="application/vnd.openxmlformats-officedocument.wordprocessingml.document"/>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8.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23.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09"/>
  </p:notesMasterIdLst>
  <p:sldIdLst>
    <p:sldId id="256" r:id="rId2"/>
    <p:sldId id="358" r:id="rId3"/>
    <p:sldId id="342" r:id="rId4"/>
    <p:sldId id="373" r:id="rId5"/>
    <p:sldId id="368" r:id="rId6"/>
    <p:sldId id="369" r:id="rId7"/>
    <p:sldId id="371" r:id="rId8"/>
    <p:sldId id="365" r:id="rId9"/>
    <p:sldId id="367" r:id="rId10"/>
    <p:sldId id="366" r:id="rId11"/>
    <p:sldId id="317" r:id="rId12"/>
    <p:sldId id="318" r:id="rId13"/>
    <p:sldId id="396" r:id="rId14"/>
    <p:sldId id="332" r:id="rId15"/>
    <p:sldId id="295" r:id="rId16"/>
    <p:sldId id="296" r:id="rId17"/>
    <p:sldId id="360" r:id="rId18"/>
    <p:sldId id="339" r:id="rId19"/>
    <p:sldId id="302" r:id="rId20"/>
    <p:sldId id="282" r:id="rId21"/>
    <p:sldId id="283" r:id="rId22"/>
    <p:sldId id="284" r:id="rId23"/>
    <p:sldId id="310" r:id="rId24"/>
    <p:sldId id="319" r:id="rId25"/>
    <p:sldId id="401" r:id="rId26"/>
    <p:sldId id="321" r:id="rId27"/>
    <p:sldId id="402" r:id="rId28"/>
    <p:sldId id="257" r:id="rId29"/>
    <p:sldId id="258" r:id="rId30"/>
    <p:sldId id="294" r:id="rId31"/>
    <p:sldId id="333" r:id="rId32"/>
    <p:sldId id="334" r:id="rId33"/>
    <p:sldId id="259" r:id="rId34"/>
    <p:sldId id="337" r:id="rId35"/>
    <p:sldId id="393" r:id="rId36"/>
    <p:sldId id="405" r:id="rId37"/>
    <p:sldId id="406" r:id="rId38"/>
    <p:sldId id="372" r:id="rId39"/>
    <p:sldId id="314" r:id="rId40"/>
    <p:sldId id="341" r:id="rId41"/>
    <p:sldId id="288" r:id="rId42"/>
    <p:sldId id="303" r:id="rId43"/>
    <p:sldId id="304" r:id="rId44"/>
    <p:sldId id="289" r:id="rId45"/>
    <p:sldId id="290" r:id="rId46"/>
    <p:sldId id="291" r:id="rId47"/>
    <p:sldId id="315" r:id="rId48"/>
    <p:sldId id="305" r:id="rId49"/>
    <p:sldId id="306" r:id="rId50"/>
    <p:sldId id="376" r:id="rId51"/>
    <p:sldId id="308" r:id="rId52"/>
    <p:sldId id="307" r:id="rId53"/>
    <p:sldId id="395" r:id="rId54"/>
    <p:sldId id="309" r:id="rId55"/>
    <p:sldId id="293" r:id="rId56"/>
    <p:sldId id="353" r:id="rId57"/>
    <p:sldId id="275" r:id="rId58"/>
    <p:sldId id="260" r:id="rId59"/>
    <p:sldId id="346" r:id="rId60"/>
    <p:sldId id="280" r:id="rId61"/>
    <p:sldId id="347" r:id="rId62"/>
    <p:sldId id="261" r:id="rId63"/>
    <p:sldId id="262" r:id="rId64"/>
    <p:sldId id="404" r:id="rId65"/>
    <p:sldId id="397" r:id="rId66"/>
    <p:sldId id="403" r:id="rId67"/>
    <p:sldId id="328" r:id="rId68"/>
    <p:sldId id="263" r:id="rId69"/>
    <p:sldId id="354" r:id="rId70"/>
    <p:sldId id="378" r:id="rId71"/>
    <p:sldId id="379" r:id="rId72"/>
    <p:sldId id="380" r:id="rId73"/>
    <p:sldId id="381" r:id="rId74"/>
    <p:sldId id="382" r:id="rId75"/>
    <p:sldId id="383" r:id="rId76"/>
    <p:sldId id="384" r:id="rId77"/>
    <p:sldId id="264" r:id="rId78"/>
    <p:sldId id="399" r:id="rId79"/>
    <p:sldId id="385" r:id="rId80"/>
    <p:sldId id="387" r:id="rId81"/>
    <p:sldId id="386" r:id="rId82"/>
    <p:sldId id="391" r:id="rId83"/>
    <p:sldId id="276" r:id="rId84"/>
    <p:sldId id="388" r:id="rId85"/>
    <p:sldId id="265" r:id="rId86"/>
    <p:sldId id="350" r:id="rId87"/>
    <p:sldId id="389" r:id="rId88"/>
    <p:sldId id="351" r:id="rId89"/>
    <p:sldId id="400" r:id="rId90"/>
    <p:sldId id="363" r:id="rId91"/>
    <p:sldId id="278" r:id="rId92"/>
    <p:sldId id="311" r:id="rId93"/>
    <p:sldId id="312" r:id="rId94"/>
    <p:sldId id="316" r:id="rId95"/>
    <p:sldId id="313" r:id="rId96"/>
    <p:sldId id="336" r:id="rId97"/>
    <p:sldId id="343" r:id="rId98"/>
    <p:sldId id="407" r:id="rId99"/>
    <p:sldId id="279" r:id="rId100"/>
    <p:sldId id="331" r:id="rId101"/>
    <p:sldId id="352" r:id="rId102"/>
    <p:sldId id="355" r:id="rId103"/>
    <p:sldId id="356" r:id="rId104"/>
    <p:sldId id="394" r:id="rId105"/>
    <p:sldId id="357" r:id="rId106"/>
    <p:sldId id="377" r:id="rId107"/>
    <p:sldId id="398" r:id="rId108"/>
  </p:sldIdLst>
  <p:sldSz cx="9144000" cy="6858000" type="screen4x3"/>
  <p:notesSz cx="6858000" cy="9144000"/>
  <p:custDataLst>
    <p:tags r:id="rId1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9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28" autoAdjust="0"/>
  </p:normalViewPr>
  <p:slideViewPr>
    <p:cSldViewPr>
      <p:cViewPr>
        <p:scale>
          <a:sx n="100" d="100"/>
          <a:sy n="100" d="100"/>
        </p:scale>
        <p:origin x="-1048"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8" Type="http://schemas.openxmlformats.org/officeDocument/2006/relationships/slide" Target="slides/slide107.xml"/><Relationship Id="rId109" Type="http://schemas.openxmlformats.org/officeDocument/2006/relationships/notesMaster" Target="notesMasters/notes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10" Type="http://schemas.openxmlformats.org/officeDocument/2006/relationships/printerSettings" Target="printerSettings/printerSettings1.bin"/><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11" Type="http://schemas.openxmlformats.org/officeDocument/2006/relationships/tags" Target="tags/tag1.xml"/><Relationship Id="rId112" Type="http://schemas.openxmlformats.org/officeDocument/2006/relationships/presProps" Target="presProps.xml"/><Relationship Id="rId113" Type="http://schemas.openxmlformats.org/officeDocument/2006/relationships/viewProps" Target="viewProps.xml"/><Relationship Id="rId114" Type="http://schemas.openxmlformats.org/officeDocument/2006/relationships/theme" Target="theme/theme1.xml"/><Relationship Id="rId115"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00" Type="http://schemas.openxmlformats.org/officeDocument/2006/relationships/slide" Target="slides/slide99.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E3A21E-83F8-EE44-81F9-10C5709DB7A8}" type="datetimeFigureOut">
              <a:rPr lang="en-US" smtClean="0"/>
              <a:t>10/10/18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D88A107-C767-904F-BD4E-B3CFA410BF38}" type="slidenum">
              <a:rPr lang="en-US" smtClean="0"/>
              <a:t>‹#›</a:t>
            </a:fld>
            <a:endParaRPr lang="en-US"/>
          </a:p>
        </p:txBody>
      </p:sp>
    </p:spTree>
    <p:extLst>
      <p:ext uri="{BB962C8B-B14F-4D97-AF65-F5344CB8AC3E}">
        <p14:creationId xmlns:p14="http://schemas.microsoft.com/office/powerpoint/2010/main" val="3083706896"/>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ROB!!</a:t>
            </a:r>
          </a:p>
          <a:p>
            <a:r>
              <a:rPr lang="en-US" dirty="0" smtClean="0"/>
              <a:t>Need</a:t>
            </a:r>
            <a:r>
              <a:rPr lang="en-US" baseline="0" dirty="0" smtClean="0"/>
              <a:t> to finish combinational circuits like Mux, half-adder, adder, ALU (see </a:t>
            </a:r>
            <a:r>
              <a:rPr lang="en-US" baseline="0" dirty="0" err="1" smtClean="0"/>
              <a:t>bergers</a:t>
            </a:r>
            <a:r>
              <a:rPr lang="en-US" baseline="0" dirty="0" smtClean="0"/>
              <a:t> slides </a:t>
            </a:r>
            <a:r>
              <a:rPr lang="en-US" baseline="0" smtClean="0"/>
              <a:t>for reference)</a:t>
            </a:r>
            <a:endParaRPr lang="en-US" smtClean="0"/>
          </a:p>
        </p:txBody>
      </p:sp>
      <p:sp>
        <p:nvSpPr>
          <p:cNvPr id="4" name="Slide Number Placeholder 3"/>
          <p:cNvSpPr>
            <a:spLocks noGrp="1"/>
          </p:cNvSpPr>
          <p:nvPr>
            <p:ph type="sldNum" sz="quarter" idx="10"/>
          </p:nvPr>
        </p:nvSpPr>
        <p:spPr/>
        <p:txBody>
          <a:bodyPr/>
          <a:lstStyle/>
          <a:p>
            <a:fld id="{4D88A107-C767-904F-BD4E-B3CFA410BF38}" type="slidenum">
              <a:rPr lang="en-US" smtClean="0"/>
              <a:t>1</a:t>
            </a:fld>
            <a:endParaRPr lang="en-US"/>
          </a:p>
        </p:txBody>
      </p:sp>
    </p:spTree>
    <p:extLst>
      <p:ext uri="{BB962C8B-B14F-4D97-AF65-F5344CB8AC3E}">
        <p14:creationId xmlns:p14="http://schemas.microsoft.com/office/powerpoint/2010/main" val="1235999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Gates</a:t>
            </a:r>
            <a:r>
              <a:rPr lang="en-US" baseline="0" dirty="0" smtClean="0"/>
              <a:t> Foundation?  And what level are you?</a:t>
            </a:r>
          </a:p>
          <a:p>
            <a:r>
              <a:rPr lang="en-US" baseline="0" dirty="0" smtClean="0"/>
              <a:t>L0) Yesterday</a:t>
            </a:r>
          </a:p>
          <a:p>
            <a:r>
              <a:rPr lang="en-US" baseline="0" dirty="0" smtClean="0"/>
              <a:t>L1) Today</a:t>
            </a:r>
          </a:p>
          <a:p>
            <a:r>
              <a:rPr lang="en-US" baseline="0" dirty="0" smtClean="0"/>
              <a:t>L2) Tomorrow</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4</a:t>
            </a:fld>
            <a:endParaRPr lang="en-US"/>
          </a:p>
        </p:txBody>
      </p:sp>
    </p:spTree>
    <p:extLst>
      <p:ext uri="{BB962C8B-B14F-4D97-AF65-F5344CB8AC3E}">
        <p14:creationId xmlns:p14="http://schemas.microsoft.com/office/powerpoint/2010/main" val="2104800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Gates</a:t>
            </a:r>
            <a:r>
              <a:rPr lang="en-US" baseline="0" dirty="0" smtClean="0"/>
              <a:t> Foundation?</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5</a:t>
            </a:fld>
            <a:endParaRPr lang="en-US"/>
          </a:p>
        </p:txBody>
      </p:sp>
    </p:spTree>
    <p:extLst>
      <p:ext uri="{BB962C8B-B14F-4D97-AF65-F5344CB8AC3E}">
        <p14:creationId xmlns:p14="http://schemas.microsoft.com/office/powerpoint/2010/main" val="2104800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New</a:t>
            </a:r>
            <a:r>
              <a:rPr lang="en-US" baseline="0" dirty="0" smtClean="0"/>
              <a:t> teams of 2!</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6</a:t>
            </a:fld>
            <a:endParaRPr lang="en-US"/>
          </a:p>
        </p:txBody>
      </p:sp>
    </p:spTree>
    <p:extLst>
      <p:ext uri="{BB962C8B-B14F-4D97-AF65-F5344CB8AC3E}">
        <p14:creationId xmlns:p14="http://schemas.microsoft.com/office/powerpoint/2010/main" val="210480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Using the layered/black box</a:t>
            </a:r>
            <a:r>
              <a:rPr lang="en-US" baseline="0" dirty="0" smtClean="0"/>
              <a:t> approach, we could just borrow the XOR from the previous layer and add a NOT</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7</a:t>
            </a:fld>
            <a:endParaRPr lang="en-US"/>
          </a:p>
        </p:txBody>
      </p:sp>
    </p:spTree>
    <p:extLst>
      <p:ext uri="{BB962C8B-B14F-4D97-AF65-F5344CB8AC3E}">
        <p14:creationId xmlns:p14="http://schemas.microsoft.com/office/powerpoint/2010/main" val="210480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Source: Arnie Berger’s digital logic slides</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8</a:t>
            </a:fld>
            <a:endParaRPr lang="en-US"/>
          </a:p>
        </p:txBody>
      </p:sp>
    </p:spTree>
    <p:extLst>
      <p:ext uri="{BB962C8B-B14F-4D97-AF65-F5344CB8AC3E}">
        <p14:creationId xmlns:p14="http://schemas.microsoft.com/office/powerpoint/2010/main" val="3549009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CMOS is just one of the logic families that can realize</a:t>
            </a:r>
            <a:r>
              <a:rPr lang="en-US" baseline="0" dirty="0" smtClean="0"/>
              <a:t> our gate </a:t>
            </a:r>
            <a:r>
              <a:rPr lang="en-US" baseline="0" dirty="0" err="1" smtClean="0"/>
              <a:t>behaviours</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9</a:t>
            </a:fld>
            <a:endParaRPr lang="en-US"/>
          </a:p>
        </p:txBody>
      </p:sp>
    </p:spTree>
    <p:extLst>
      <p:ext uri="{BB962C8B-B14F-4D97-AF65-F5344CB8AC3E}">
        <p14:creationId xmlns:p14="http://schemas.microsoft.com/office/powerpoint/2010/main" val="1718828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DIP, dual</a:t>
            </a:r>
            <a:r>
              <a:rPr lang="en-US" baseline="0" dirty="0" smtClean="0"/>
              <a:t> inline plastics/pin</a:t>
            </a:r>
          </a:p>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Source: Arnie Berger’s digital logic slides</a:t>
            </a:r>
          </a:p>
          <a:p>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10</a:t>
            </a:fld>
            <a:endParaRPr lang="en-US"/>
          </a:p>
        </p:txBody>
      </p:sp>
    </p:spTree>
    <p:extLst>
      <p:ext uri="{BB962C8B-B14F-4D97-AF65-F5344CB8AC3E}">
        <p14:creationId xmlns:p14="http://schemas.microsoft.com/office/powerpoint/2010/main" val="3451725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Highlighted terms you should be either</a:t>
            </a:r>
            <a:r>
              <a:rPr lang="en-US" baseline="0" dirty="0" smtClean="0"/>
              <a:t> completely familiar with, or becoming familiar with</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14</a:t>
            </a:fld>
            <a:endParaRPr lang="en-US"/>
          </a:p>
        </p:txBody>
      </p:sp>
    </p:spTree>
    <p:extLst>
      <p:ext uri="{BB962C8B-B14F-4D97-AF65-F5344CB8AC3E}">
        <p14:creationId xmlns:p14="http://schemas.microsoft.com/office/powerpoint/2010/main" val="2000170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may discuss Server details, but we’ll focus on on specific</a:t>
            </a:r>
            <a:r>
              <a:rPr lang="en-US" baseline="0" dirty="0" smtClean="0"/>
              <a:t> chip 68K for the bulk of our exploration</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15</a:t>
            </a:fld>
            <a:endParaRPr lang="en-US"/>
          </a:p>
        </p:txBody>
      </p:sp>
    </p:spTree>
    <p:extLst>
      <p:ext uri="{BB962C8B-B14F-4D97-AF65-F5344CB8AC3E}">
        <p14:creationId xmlns:p14="http://schemas.microsoft.com/office/powerpoint/2010/main" val="476799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a:t>
            </a:r>
            <a:r>
              <a:rPr lang="en-US" baseline="0" dirty="0" smtClean="0"/>
              <a:t> can go down the list or up the layered stack – same recipe of layers upon layers</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16</a:t>
            </a:fld>
            <a:endParaRPr lang="en-US"/>
          </a:p>
        </p:txBody>
      </p:sp>
    </p:spTree>
    <p:extLst>
      <p:ext uri="{BB962C8B-B14F-4D97-AF65-F5344CB8AC3E}">
        <p14:creationId xmlns:p14="http://schemas.microsoft.com/office/powerpoint/2010/main" val="38291176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17</a:t>
            </a:fld>
            <a:endParaRPr lang="en-US"/>
          </a:p>
        </p:txBody>
      </p:sp>
    </p:spTree>
    <p:extLst>
      <p:ext uri="{BB962C8B-B14F-4D97-AF65-F5344CB8AC3E}">
        <p14:creationId xmlns:p14="http://schemas.microsoft.com/office/powerpoint/2010/main" val="1771490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What’s highlighted is our future, with Multiplexors and Decoders next</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18</a:t>
            </a:fld>
            <a:endParaRPr lang="en-US"/>
          </a:p>
        </p:txBody>
      </p:sp>
    </p:spTree>
    <p:extLst>
      <p:ext uri="{BB962C8B-B14F-4D97-AF65-F5344CB8AC3E}">
        <p14:creationId xmlns:p14="http://schemas.microsoft.com/office/powerpoint/2010/main" val="1771490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They use different representations,</a:t>
            </a:r>
            <a:r>
              <a:rPr lang="en-US" baseline="0" dirty="0" smtClean="0"/>
              <a:t> but can solve the same problems.</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22</a:t>
            </a:fld>
            <a:endParaRPr lang="en-US"/>
          </a:p>
        </p:txBody>
      </p:sp>
    </p:spTree>
    <p:extLst>
      <p:ext uri="{BB962C8B-B14F-4D97-AF65-F5344CB8AC3E}">
        <p14:creationId xmlns:p14="http://schemas.microsoft.com/office/powerpoint/2010/main" val="391538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on the left doesn’t map to AND</a:t>
            </a:r>
            <a:r>
              <a:rPr lang="en-US" baseline="0" dirty="0" smtClean="0"/>
              <a:t> or OR on the right!</a:t>
            </a:r>
            <a:endParaRPr lang="en-US" dirty="0" smtClean="0"/>
          </a:p>
          <a:p>
            <a:r>
              <a:rPr lang="en-US" dirty="0" smtClean="0"/>
              <a:t>AND</a:t>
            </a:r>
            <a:r>
              <a:rPr lang="en-US" baseline="0" dirty="0" smtClean="0"/>
              <a:t> and OR are different with Positive and Negative Logic</a:t>
            </a:r>
          </a:p>
          <a:p>
            <a:r>
              <a:rPr lang="en-US" baseline="0" dirty="0" smtClean="0"/>
              <a:t>See readings on the message board</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24</a:t>
            </a:fld>
            <a:endParaRPr lang="en-US"/>
          </a:p>
        </p:txBody>
      </p:sp>
    </p:spTree>
    <p:extLst>
      <p:ext uri="{BB962C8B-B14F-4D97-AF65-F5344CB8AC3E}">
        <p14:creationId xmlns:p14="http://schemas.microsoft.com/office/powerpoint/2010/main" val="4039758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Positive</a:t>
            </a:r>
            <a:r>
              <a:rPr lang="en-US" baseline="0" dirty="0" smtClean="0"/>
              <a:t> AND is Negative OR and vice versa</a:t>
            </a:r>
            <a:endParaRPr lang="en-US" dirty="0" smtClean="0"/>
          </a:p>
          <a:p>
            <a:r>
              <a:rPr lang="en-US" dirty="0" smtClean="0"/>
              <a:t>Positive</a:t>
            </a:r>
            <a:r>
              <a:rPr lang="en-US" baseline="0" dirty="0" smtClean="0"/>
              <a:t> AND and negative NOR: </a:t>
            </a:r>
            <a:r>
              <a:rPr lang="en-US" dirty="0" smtClean="0"/>
              <a:t>These columns have</a:t>
            </a:r>
            <a:r>
              <a:rPr lang="en-US" baseline="0" dirty="0" smtClean="0"/>
              <a:t> the same binary, but not the same T/F meanings – this is the definition of Positive and Negative logic.</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25</a:t>
            </a:fld>
            <a:endParaRPr lang="en-US"/>
          </a:p>
        </p:txBody>
      </p:sp>
    </p:spTree>
    <p:extLst>
      <p:ext uri="{BB962C8B-B14F-4D97-AF65-F5344CB8AC3E}">
        <p14:creationId xmlns:p14="http://schemas.microsoft.com/office/powerpoint/2010/main" val="16837918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Positive</a:t>
            </a:r>
            <a:r>
              <a:rPr lang="en-US" baseline="0" dirty="0" smtClean="0"/>
              <a:t> AND is Negative OR and vice versa</a:t>
            </a:r>
            <a:endParaRPr lang="en-US" dirty="0" smtClean="0"/>
          </a:p>
          <a:p>
            <a:r>
              <a:rPr lang="en-US" dirty="0" smtClean="0"/>
              <a:t>Positive</a:t>
            </a:r>
            <a:r>
              <a:rPr lang="en-US" baseline="0" dirty="0" smtClean="0"/>
              <a:t> AND and negative NOR: </a:t>
            </a:r>
            <a:r>
              <a:rPr lang="en-US" dirty="0" smtClean="0"/>
              <a:t>These columns have</a:t>
            </a:r>
            <a:r>
              <a:rPr lang="en-US" baseline="0" dirty="0" smtClean="0"/>
              <a:t> the same binary, but not the same T/F meanings – this is the definition of Positive and Negative logic.</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26</a:t>
            </a:fld>
            <a:endParaRPr lang="en-US"/>
          </a:p>
        </p:txBody>
      </p:sp>
    </p:spTree>
    <p:extLst>
      <p:ext uri="{BB962C8B-B14F-4D97-AF65-F5344CB8AC3E}">
        <p14:creationId xmlns:p14="http://schemas.microsoft.com/office/powerpoint/2010/main" val="1683791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Gates</a:t>
            </a:r>
            <a:r>
              <a:rPr lang="en-US" baseline="0" dirty="0" smtClean="0"/>
              <a:t> Foundation?  And what level are you?</a:t>
            </a:r>
          </a:p>
          <a:p>
            <a:r>
              <a:rPr lang="en-US" baseline="0" dirty="0" smtClean="0"/>
              <a:t>L0) Yesterday</a:t>
            </a:r>
          </a:p>
          <a:p>
            <a:r>
              <a:rPr lang="en-US" baseline="0" dirty="0" smtClean="0"/>
              <a:t>L1) Today</a:t>
            </a:r>
          </a:p>
          <a:p>
            <a:r>
              <a:rPr lang="en-US" baseline="0" dirty="0" smtClean="0"/>
              <a:t>L2) Tomorrow</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27</a:t>
            </a:fld>
            <a:endParaRPr lang="en-US"/>
          </a:p>
        </p:txBody>
      </p:sp>
    </p:spTree>
    <p:extLst>
      <p:ext uri="{BB962C8B-B14F-4D97-AF65-F5344CB8AC3E}">
        <p14:creationId xmlns:p14="http://schemas.microsoft.com/office/powerpoint/2010/main" val="21048006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We’ve mastered the operation of these</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29</a:t>
            </a:fld>
            <a:endParaRPr lang="en-US"/>
          </a:p>
        </p:txBody>
      </p:sp>
    </p:spTree>
    <p:extLst>
      <p:ext uri="{BB962C8B-B14F-4D97-AF65-F5344CB8AC3E}">
        <p14:creationId xmlns:p14="http://schemas.microsoft.com/office/powerpoint/2010/main" val="30411186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Gates</a:t>
            </a:r>
            <a:r>
              <a:rPr lang="en-US" baseline="0" dirty="0" smtClean="0"/>
              <a:t> Foundation?</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31</a:t>
            </a:fld>
            <a:endParaRPr lang="en-US"/>
          </a:p>
        </p:txBody>
      </p:sp>
    </p:spTree>
    <p:extLst>
      <p:ext uri="{BB962C8B-B14F-4D97-AF65-F5344CB8AC3E}">
        <p14:creationId xmlns:p14="http://schemas.microsoft.com/office/powerpoint/2010/main" val="21048006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New</a:t>
            </a:r>
            <a:r>
              <a:rPr lang="en-US" baseline="0" dirty="0" smtClean="0"/>
              <a:t> teams of 2!</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32</a:t>
            </a:fld>
            <a:endParaRPr lang="en-US"/>
          </a:p>
        </p:txBody>
      </p:sp>
    </p:spTree>
    <p:extLst>
      <p:ext uri="{BB962C8B-B14F-4D97-AF65-F5344CB8AC3E}">
        <p14:creationId xmlns:p14="http://schemas.microsoft.com/office/powerpoint/2010/main" val="21048006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Using the layered/black box</a:t>
            </a:r>
            <a:r>
              <a:rPr lang="en-US" baseline="0" dirty="0" smtClean="0"/>
              <a:t> approach, we could just borrow the XOR from the previous layer and add a NOT</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34</a:t>
            </a:fld>
            <a:endParaRPr lang="en-US"/>
          </a:p>
        </p:txBody>
      </p:sp>
    </p:spTree>
    <p:extLst>
      <p:ext uri="{BB962C8B-B14F-4D97-AF65-F5344CB8AC3E}">
        <p14:creationId xmlns:p14="http://schemas.microsoft.com/office/powerpoint/2010/main" val="21048006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Gates</a:t>
            </a:r>
            <a:r>
              <a:rPr lang="en-US" baseline="0" dirty="0" smtClean="0"/>
              <a:t> Foundation?  And what level are you?</a:t>
            </a:r>
          </a:p>
          <a:p>
            <a:r>
              <a:rPr lang="en-US" baseline="0" dirty="0" smtClean="0"/>
              <a:t>L0) Yesterday</a:t>
            </a:r>
          </a:p>
          <a:p>
            <a:r>
              <a:rPr lang="en-US" baseline="0" dirty="0" smtClean="0"/>
              <a:t>L1) Today</a:t>
            </a:r>
          </a:p>
          <a:p>
            <a:r>
              <a:rPr lang="en-US" baseline="0" dirty="0" smtClean="0"/>
              <a:t>L2) Tomorrow</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38</a:t>
            </a:fld>
            <a:endParaRPr lang="en-US"/>
          </a:p>
        </p:txBody>
      </p:sp>
    </p:spTree>
    <p:extLst>
      <p:ext uri="{BB962C8B-B14F-4D97-AF65-F5344CB8AC3E}">
        <p14:creationId xmlns:p14="http://schemas.microsoft.com/office/powerpoint/2010/main" val="21048006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41</a:t>
            </a:fld>
            <a:endParaRPr lang="en-US"/>
          </a:p>
        </p:txBody>
      </p:sp>
    </p:spTree>
    <p:extLst>
      <p:ext uri="{BB962C8B-B14F-4D97-AF65-F5344CB8AC3E}">
        <p14:creationId xmlns:p14="http://schemas.microsoft.com/office/powerpoint/2010/main" val="2995242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fld id="{9987D769-B508-4860-B392-E8CEEB47D862}" type="slidenum">
              <a:rPr lang="en-US" smtClean="0">
                <a:latin typeface="Arial" charset="0"/>
                <a:ea typeface="굴림" pitchFamily="50" charset="-127"/>
              </a:rPr>
              <a:pPr/>
              <a:t>44</a:t>
            </a:fld>
            <a:endParaRPr lang="en-US" smtClean="0">
              <a:latin typeface="Arial" charset="0"/>
              <a:ea typeface="굴림" pitchFamily="50" charset="-127"/>
            </a:endParaRPr>
          </a:p>
        </p:txBody>
      </p:sp>
      <p:sp>
        <p:nvSpPr>
          <p:cNvPr id="66563" name="Rectangle 2"/>
          <p:cNvSpPr>
            <a:spLocks noGrp="1" noRot="1" noChangeAspect="1" noChangeArrowheads="1" noTextEdit="1"/>
          </p:cNvSpPr>
          <p:nvPr>
            <p:ph type="sldImg"/>
          </p:nvPr>
        </p:nvSpPr>
        <p:spPr>
          <a:ln w="12700" cap="flat">
            <a:solidFill>
              <a:schemeClr val="tx1"/>
            </a:solidFill>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4450" rIns="92075" bIns="44450"/>
          <a:lstStyle/>
          <a:p>
            <a:endParaRPr lang="en-US" smtClean="0"/>
          </a:p>
        </p:txBody>
      </p:sp>
    </p:spTree>
    <p:extLst>
      <p:ext uri="{BB962C8B-B14F-4D97-AF65-F5344CB8AC3E}">
        <p14:creationId xmlns:p14="http://schemas.microsoft.com/office/powerpoint/2010/main" val="21355399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These tradeoffs will be common hardware</a:t>
            </a:r>
            <a:r>
              <a:rPr lang="en-US" baseline="0" dirty="0" smtClean="0"/>
              <a:t> design decisions in this class</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45</a:t>
            </a:fld>
            <a:endParaRPr lang="en-US"/>
          </a:p>
        </p:txBody>
      </p:sp>
    </p:spTree>
    <p:extLst>
      <p:ext uri="{BB962C8B-B14F-4D97-AF65-F5344CB8AC3E}">
        <p14:creationId xmlns:p14="http://schemas.microsoft.com/office/powerpoint/2010/main" val="8291180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fld id="{9987D769-B508-4860-B392-E8CEEB47D862}" type="slidenum">
              <a:rPr lang="en-US" smtClean="0">
                <a:latin typeface="Arial" charset="0"/>
                <a:ea typeface="굴림" pitchFamily="50" charset="-127"/>
              </a:rPr>
              <a:pPr/>
              <a:t>46</a:t>
            </a:fld>
            <a:endParaRPr lang="en-US" smtClean="0">
              <a:latin typeface="Arial" charset="0"/>
              <a:ea typeface="굴림" pitchFamily="50" charset="-127"/>
            </a:endParaRPr>
          </a:p>
        </p:txBody>
      </p:sp>
      <p:sp>
        <p:nvSpPr>
          <p:cNvPr id="66563" name="Rectangle 2"/>
          <p:cNvSpPr>
            <a:spLocks noGrp="1" noRot="1" noChangeAspect="1" noChangeArrowheads="1" noTextEdit="1"/>
          </p:cNvSpPr>
          <p:nvPr>
            <p:ph type="sldImg"/>
          </p:nvPr>
        </p:nvSpPr>
        <p:spPr>
          <a:ln w="12700" cap="flat">
            <a:solidFill>
              <a:schemeClr val="tx1"/>
            </a:solidFill>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4450" rIns="92075" bIns="44450"/>
          <a:lstStyle/>
          <a:p>
            <a:r>
              <a:rPr lang="en-US" dirty="0" smtClean="0"/>
              <a:t>Things</a:t>
            </a:r>
            <a:r>
              <a:rPr lang="en-US" baseline="0" dirty="0" smtClean="0"/>
              <a:t> are getting complex, and if we want to reduce or optimize, we need a regular process for this (K-Maps)</a:t>
            </a:r>
            <a:endParaRPr lang="en-US" dirty="0" smtClean="0"/>
          </a:p>
        </p:txBody>
      </p:sp>
    </p:spTree>
    <p:extLst>
      <p:ext uri="{BB962C8B-B14F-4D97-AF65-F5344CB8AC3E}">
        <p14:creationId xmlns:p14="http://schemas.microsoft.com/office/powerpoint/2010/main" val="21355399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47</a:t>
            </a:fld>
            <a:endParaRPr lang="en-US"/>
          </a:p>
        </p:txBody>
      </p:sp>
    </p:spTree>
    <p:extLst>
      <p:ext uri="{BB962C8B-B14F-4D97-AF65-F5344CB8AC3E}">
        <p14:creationId xmlns:p14="http://schemas.microsoft.com/office/powerpoint/2010/main" val="13169937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You’ve already built this black box, so we don’t need to do it again here</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57</a:t>
            </a:fld>
            <a:endParaRPr lang="en-US"/>
          </a:p>
        </p:txBody>
      </p:sp>
    </p:spTree>
    <p:extLst>
      <p:ext uri="{BB962C8B-B14F-4D97-AF65-F5344CB8AC3E}">
        <p14:creationId xmlns:p14="http://schemas.microsoft.com/office/powerpoint/2010/main" val="6176740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61</a:t>
            </a:fld>
            <a:endParaRPr lang="en-US"/>
          </a:p>
        </p:txBody>
      </p:sp>
    </p:spTree>
    <p:extLst>
      <p:ext uri="{BB962C8B-B14F-4D97-AF65-F5344CB8AC3E}">
        <p14:creationId xmlns:p14="http://schemas.microsoft.com/office/powerpoint/2010/main" val="20624810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EnA</a:t>
            </a:r>
            <a:r>
              <a:rPr lang="en-US" dirty="0" smtClean="0"/>
              <a:t>, </a:t>
            </a:r>
            <a:r>
              <a:rPr lang="en-US" dirty="0" err="1" smtClean="0"/>
              <a:t>EnB</a:t>
            </a:r>
            <a:r>
              <a:rPr lang="en-US" dirty="0" smtClean="0"/>
              <a:t> does what?  Useful</a:t>
            </a:r>
            <a:r>
              <a:rPr lang="en-US" baseline="0" dirty="0" smtClean="0"/>
              <a:t> for? A: If we had more inputs than A, B, we could pick amongst the inputs using a multiplexor tied to ENA, ENB?</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64</a:t>
            </a:fld>
            <a:endParaRPr lang="en-US"/>
          </a:p>
        </p:txBody>
      </p:sp>
    </p:spTree>
    <p:extLst>
      <p:ext uri="{BB962C8B-B14F-4D97-AF65-F5344CB8AC3E}">
        <p14:creationId xmlns:p14="http://schemas.microsoft.com/office/powerpoint/2010/main" val="12812378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Using the Adder</a:t>
            </a:r>
            <a:r>
              <a:rPr lang="en-US" baseline="0" dirty="0" smtClean="0"/>
              <a:t> from the previous slide</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67</a:t>
            </a:fld>
            <a:endParaRPr lang="en-US"/>
          </a:p>
        </p:txBody>
      </p:sp>
    </p:spTree>
    <p:extLst>
      <p:ext uri="{BB962C8B-B14F-4D97-AF65-F5344CB8AC3E}">
        <p14:creationId xmlns:p14="http://schemas.microsoft.com/office/powerpoint/2010/main" val="19709424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Priority encoder: Larger number of inputs to a smaller number of outputs, priority here</a:t>
            </a:r>
            <a:r>
              <a:rPr lang="en-US" baseline="0" dirty="0" smtClean="0"/>
              <a:t> is the distance from zero to the lead bit</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77</a:t>
            </a:fld>
            <a:endParaRPr lang="en-US"/>
          </a:p>
        </p:txBody>
      </p:sp>
    </p:spTree>
    <p:extLst>
      <p:ext uri="{BB962C8B-B14F-4D97-AF65-F5344CB8AC3E}">
        <p14:creationId xmlns:p14="http://schemas.microsoft.com/office/powerpoint/2010/main" val="17167530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92150"/>
            <a:ext cx="4552950" cy="3416300"/>
          </a:xfrm>
        </p:spPr>
      </p:sp>
      <p:sp>
        <p:nvSpPr>
          <p:cNvPr id="3" name="Notes Placeholder 2"/>
          <p:cNvSpPr>
            <a:spLocks noGrp="1"/>
          </p:cNvSpPr>
          <p:nvPr>
            <p:ph type="body" idx="1"/>
          </p:nvPr>
        </p:nvSpPr>
        <p:spPr/>
        <p:txBody>
          <a:bodyPr>
            <a:normAutofit/>
          </a:bodyPr>
          <a:lstStyle/>
          <a:p>
            <a:r>
              <a:rPr lang="en-US" dirty="0">
                <a:latin typeface="Times New Roman" pitchFamily="-1" charset="0"/>
                <a:cs typeface="+mn-cs"/>
              </a:rPr>
              <a:t>Combinational circuits are often referred to as “memoryless” circuits, because their output depends only on their current input and no history of prior inputs is retained. However, there is one sort of memory that is implemented with combinational circuits, namely </a:t>
            </a:r>
            <a:r>
              <a:rPr lang="en-US" b="1" dirty="0">
                <a:latin typeface="Times New Roman" pitchFamily="-1" charset="0"/>
                <a:cs typeface="+mn-cs"/>
              </a:rPr>
              <a:t>read-only memory (ROM). </a:t>
            </a:r>
            <a:endParaRPr lang="en-US" dirty="0" smtClean="0"/>
          </a:p>
          <a:p>
            <a:endParaRPr lang="en-US" dirty="0">
              <a:latin typeface="Times New Roman" pitchFamily="-1" charset="0"/>
              <a:cs typeface="+mn-cs"/>
            </a:endParaRPr>
          </a:p>
          <a:p>
            <a:r>
              <a:rPr lang="en-US" dirty="0">
                <a:latin typeface="Times New Roman" pitchFamily="-1" charset="0"/>
                <a:cs typeface="+mn-cs"/>
              </a:rPr>
              <a:t>Recall that a ROM is a memory unit that performs only the read operation. This implies that the binary information stored in a ROM is permanent and was created during the fabrication process. Thus, a given input to the ROM (address lines) always produces the same output (data lines). Because the outputs are a function only of the present inputs, the ROM is in fact a combinational circuit. </a:t>
            </a:r>
            <a:endParaRPr lang="en-US" dirty="0" smtClean="0"/>
          </a:p>
          <a:p>
            <a:endParaRPr lang="en-US" dirty="0"/>
          </a:p>
        </p:txBody>
      </p:sp>
    </p:spTree>
    <p:extLst>
      <p:ext uri="{BB962C8B-B14F-4D97-AF65-F5344CB8AC3E}">
        <p14:creationId xmlns:p14="http://schemas.microsoft.com/office/powerpoint/2010/main" val="39692460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92150"/>
            <a:ext cx="4552950" cy="341630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9131167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A:4x3 Memory</a:t>
            </a:r>
            <a:r>
              <a:rPr lang="en-US" baseline="0" dirty="0" smtClean="0"/>
              <a:t> with</a:t>
            </a:r>
            <a:r>
              <a:rPr lang="en-US" dirty="0" smtClean="0"/>
              <a:t> 4 input bits corresponding to 3 valid mappable addresses and 3 </a:t>
            </a:r>
            <a:r>
              <a:rPr lang="en-US" baseline="0" dirty="0" smtClean="0"/>
              <a:t>control bits for the three LED lights.</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82</a:t>
            </a:fld>
            <a:endParaRPr lang="en-US"/>
          </a:p>
        </p:txBody>
      </p:sp>
    </p:spTree>
    <p:extLst>
      <p:ext uri="{BB962C8B-B14F-4D97-AF65-F5344CB8AC3E}">
        <p14:creationId xmlns:p14="http://schemas.microsoft.com/office/powerpoint/2010/main" val="37810737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85</a:t>
            </a:fld>
            <a:endParaRPr lang="en-US"/>
          </a:p>
        </p:txBody>
      </p:sp>
    </p:spTree>
    <p:extLst>
      <p:ext uri="{BB962C8B-B14F-4D97-AF65-F5344CB8AC3E}">
        <p14:creationId xmlns:p14="http://schemas.microsoft.com/office/powerpoint/2010/main" val="15080581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Majority function is</a:t>
            </a:r>
            <a:r>
              <a:rPr lang="en-US" baseline="0" dirty="0" smtClean="0"/>
              <a:t> 1 if half or more bits are 1</a:t>
            </a:r>
            <a:endParaRPr lang="en-US" dirty="0"/>
          </a:p>
        </p:txBody>
      </p:sp>
      <p:sp>
        <p:nvSpPr>
          <p:cNvPr id="4" name="Slide Number Placeholder 3"/>
          <p:cNvSpPr>
            <a:spLocks noGrp="1"/>
          </p:cNvSpPr>
          <p:nvPr>
            <p:ph type="sldNum" sz="quarter" idx="10"/>
          </p:nvPr>
        </p:nvSpPr>
        <p:spPr/>
        <p:txBody>
          <a:bodyPr/>
          <a:lstStyle/>
          <a:p>
            <a:pPr>
              <a:defRPr/>
            </a:pPr>
            <a:fld id="{4A94D960-74BE-4620-A5B1-123E61DB28FC}" type="slidenum">
              <a:rPr lang="ko-KR" altLang="en-US" smtClean="0"/>
              <a:pPr>
                <a:defRPr/>
              </a:pPr>
              <a:t>87</a:t>
            </a:fld>
            <a:endParaRPr lang="en-US" altLang="ko-KR"/>
          </a:p>
        </p:txBody>
      </p:sp>
    </p:spTree>
    <p:extLst>
      <p:ext uri="{BB962C8B-B14F-4D97-AF65-F5344CB8AC3E}">
        <p14:creationId xmlns:p14="http://schemas.microsoft.com/office/powerpoint/2010/main" val="8986186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also</a:t>
            </a:r>
            <a:r>
              <a:rPr lang="en-US" baseline="0" dirty="0" smtClean="0"/>
              <a:t> use shift registers to accomplish this P-to-S and S-to-P</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88</a:t>
            </a:fld>
            <a:endParaRPr lang="en-US"/>
          </a:p>
        </p:txBody>
      </p:sp>
    </p:spTree>
    <p:extLst>
      <p:ext uri="{BB962C8B-B14F-4D97-AF65-F5344CB8AC3E}">
        <p14:creationId xmlns:p14="http://schemas.microsoft.com/office/powerpoint/2010/main" val="40939166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are 8 bits here, but we shift only 1b</a:t>
            </a:r>
            <a:r>
              <a:rPr lang="en-US" baseline="0" dirty="0" smtClean="0"/>
              <a:t> at a time</a:t>
            </a:r>
          </a:p>
        </p:txBody>
      </p:sp>
      <p:sp>
        <p:nvSpPr>
          <p:cNvPr id="4" name="Slide Number Placeholder 3"/>
          <p:cNvSpPr>
            <a:spLocks noGrp="1"/>
          </p:cNvSpPr>
          <p:nvPr>
            <p:ph type="sldNum" sz="quarter" idx="10"/>
          </p:nvPr>
        </p:nvSpPr>
        <p:spPr/>
        <p:txBody>
          <a:bodyPr/>
          <a:lstStyle/>
          <a:p>
            <a:fld id="{4D88A107-C767-904F-BD4E-B3CFA410BF38}" type="slidenum">
              <a:rPr lang="en-US" smtClean="0"/>
              <a:t>91</a:t>
            </a:fld>
            <a:endParaRPr lang="en-US"/>
          </a:p>
        </p:txBody>
      </p:sp>
    </p:spTree>
    <p:extLst>
      <p:ext uri="{BB962C8B-B14F-4D97-AF65-F5344CB8AC3E}">
        <p14:creationId xmlns:p14="http://schemas.microsoft.com/office/powerpoint/2010/main" val="13380713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 we say circuit,</a:t>
            </a:r>
            <a:r>
              <a:rPr lang="en-US" baseline="0" dirty="0" smtClean="0"/>
              <a:t> we mean an integrated circuit as either a combinational or sequential circuit</a:t>
            </a:r>
            <a:endParaRPr lang="en-US" dirty="0" smtClean="0"/>
          </a:p>
          <a:p>
            <a:r>
              <a:rPr lang="en-US" dirty="0" smtClean="0"/>
              <a:t>Note that the order of 2,3 and 4 can be swapped</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94</a:t>
            </a:fld>
            <a:endParaRPr lang="en-US"/>
          </a:p>
        </p:txBody>
      </p:sp>
    </p:spTree>
    <p:extLst>
      <p:ext uri="{BB962C8B-B14F-4D97-AF65-F5344CB8AC3E}">
        <p14:creationId xmlns:p14="http://schemas.microsoft.com/office/powerpoint/2010/main" val="7305726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Answer: You want a chooser here, but which?</a:t>
            </a:r>
          </a:p>
          <a:p>
            <a:r>
              <a:rPr lang="en-US" dirty="0" smtClean="0"/>
              <a:t>Multiplexers choose one input from many to place on a line, while</a:t>
            </a:r>
            <a:r>
              <a:rPr lang="en-US" baseline="0" dirty="0" smtClean="0"/>
              <a:t> a </a:t>
            </a:r>
            <a:r>
              <a:rPr lang="en-US" dirty="0" smtClean="0"/>
              <a:t>Decoder would simply enable one phone line out of many (but not map it</a:t>
            </a:r>
            <a:r>
              <a:rPr lang="en-US" baseline="0" dirty="0" smtClean="0"/>
              <a:t> to an output line)</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95</a:t>
            </a:fld>
            <a:endParaRPr lang="en-US"/>
          </a:p>
        </p:txBody>
      </p:sp>
    </p:spTree>
    <p:extLst>
      <p:ext uri="{BB962C8B-B14F-4D97-AF65-F5344CB8AC3E}">
        <p14:creationId xmlns:p14="http://schemas.microsoft.com/office/powerpoint/2010/main" val="35675766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output lines seem to want to be the input lines for the next “transition”</a:t>
            </a:r>
          </a:p>
          <a:p>
            <a:r>
              <a:rPr lang="en-US" dirty="0" smtClean="0"/>
              <a:t>Current State -&gt; Next State</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96</a:t>
            </a:fld>
            <a:endParaRPr lang="en-US"/>
          </a:p>
        </p:txBody>
      </p:sp>
    </p:spTree>
    <p:extLst>
      <p:ext uri="{BB962C8B-B14F-4D97-AF65-F5344CB8AC3E}">
        <p14:creationId xmlns:p14="http://schemas.microsoft.com/office/powerpoint/2010/main" val="16720437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EnA</a:t>
            </a:r>
            <a:r>
              <a:rPr lang="en-US" dirty="0" smtClean="0"/>
              <a:t>, </a:t>
            </a:r>
            <a:r>
              <a:rPr lang="en-US" dirty="0" err="1" smtClean="0"/>
              <a:t>EnB</a:t>
            </a:r>
            <a:r>
              <a:rPr lang="en-US" dirty="0" smtClean="0"/>
              <a:t> does what?  Useful</a:t>
            </a:r>
            <a:r>
              <a:rPr lang="en-US" baseline="0" dirty="0" smtClean="0"/>
              <a:t> for? A: If we had more inputs than A, B, we could pick amongst the inputs using a multiplexor tied to ENA, ENB?</a:t>
            </a:r>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100</a:t>
            </a:fld>
            <a:endParaRPr lang="en-US"/>
          </a:p>
        </p:txBody>
      </p:sp>
    </p:spTree>
    <p:extLst>
      <p:ext uri="{BB962C8B-B14F-4D97-AF65-F5344CB8AC3E}">
        <p14:creationId xmlns:p14="http://schemas.microsoft.com/office/powerpoint/2010/main" val="12812378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88A107-C767-904F-BD4E-B3CFA410BF38}" type="slidenum">
              <a:rPr lang="en-US" smtClean="0"/>
              <a:t>102</a:t>
            </a:fld>
            <a:endParaRPr lang="en-US"/>
          </a:p>
        </p:txBody>
      </p:sp>
    </p:spTree>
    <p:extLst>
      <p:ext uri="{BB962C8B-B14F-4D97-AF65-F5344CB8AC3E}">
        <p14:creationId xmlns:p14="http://schemas.microsoft.com/office/powerpoint/2010/main" val="1670621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10/10/18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pPr/>
              <a:t>10/10/18</a:t>
            </a:fld>
            <a:endParaRPr lang="en-US"/>
          </a:p>
        </p:txBody>
      </p:sp>
      <p:sp>
        <p:nvSpPr>
          <p:cNvPr id="9" name="Slide Number Placeholder 8"/>
          <p:cNvSpPr>
            <a:spLocks noGrp="1"/>
          </p:cNvSpPr>
          <p:nvPr>
            <p:ph type="sldNum" sz="quarter" idx="11"/>
          </p:nvPr>
        </p:nvSpPr>
        <p:spPr/>
        <p:txBody>
          <a:bodyPr/>
          <a:lstStyle/>
          <a:p>
            <a:fld id="{B6F15528-21DE-4FAA-801E-634DDDAF4B2B}" type="slidenum">
              <a:rPr lang="en-US" smtClean="0"/>
              <a:pPr/>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47000"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04800" y="1295400"/>
            <a:ext cx="4013200" cy="41719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470400" y="1295400"/>
            <a:ext cx="4013200" cy="41719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ftr" sz="quarter" idx="10"/>
          </p:nvPr>
        </p:nvSpPr>
        <p:spPr>
          <a:xfrm>
            <a:off x="1077913" y="6232525"/>
            <a:ext cx="6269037" cy="457200"/>
          </a:xfrm>
          <a:prstGeom prst="rect">
            <a:avLst/>
          </a:prstGeom>
        </p:spPr>
        <p:txBody>
          <a:bodyPr vert="horz" wrap="square" lIns="91440" tIns="45720" rIns="91440" bIns="45720" numCol="1" anchor="t" anchorCtr="0" compatLnSpc="1">
            <a:prstTxWarp prst="textNoShape">
              <a:avLst/>
            </a:prstTxWarp>
          </a:bodyPr>
          <a:lstStyle>
            <a:lvl1pPr>
              <a:defRPr sz="1800" smtClean="0"/>
            </a:lvl1pPr>
          </a:lstStyle>
          <a:p>
            <a:pPr>
              <a:defRPr/>
            </a:pPr>
            <a:endParaRPr lang="en-US"/>
          </a:p>
        </p:txBody>
      </p:sp>
      <p:sp>
        <p:nvSpPr>
          <p:cNvPr id="6" name="Rectangle 6"/>
          <p:cNvSpPr>
            <a:spLocks noGrp="1" noChangeArrowheads="1"/>
          </p:cNvSpPr>
          <p:nvPr>
            <p:ph type="sldNum" sz="quarter" idx="11"/>
          </p:nvPr>
        </p:nvSpPr>
        <p:spPr/>
        <p:txBody>
          <a:bodyPr/>
          <a:lstStyle>
            <a:lvl1pPr>
              <a:defRPr/>
            </a:lvl1pPr>
          </a:lstStyle>
          <a:p>
            <a:pPr>
              <a:defRPr/>
            </a:pPr>
            <a:fld id="{41175F18-8FAE-4721-BE94-281E3D5C92D9}" type="slidenum">
              <a:rPr lang="en-US"/>
              <a:pPr>
                <a:defRPr/>
              </a:pPr>
              <a:t>‹#›</a:t>
            </a:fld>
            <a:endParaRPr lang="en-US"/>
          </a:p>
        </p:txBody>
      </p:sp>
    </p:spTree>
    <p:extLst>
      <p:ext uri="{BB962C8B-B14F-4D97-AF65-F5344CB8AC3E}">
        <p14:creationId xmlns:p14="http://schemas.microsoft.com/office/powerpoint/2010/main" val="1887117948"/>
      </p:ext>
    </p:extLst>
  </p:cSld>
  <p:clrMapOvr>
    <a:masterClrMapping/>
  </p:clrMapOvr>
  <p:transition xmlns:p14="http://schemas.microsoft.com/office/powerpoint/2010/mai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B6F15528-21DE-4FAA-801E-634DDDAF4B2B}" type="slidenum">
              <a:rPr lang="en-US" smtClean="0"/>
              <a:pPr/>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1D8BD707-D9CF-40AE-B4C6-C98DA3205C09}" type="datetimeFigureOut">
              <a:rPr lang="en-US" smtClean="0"/>
              <a:pPr/>
              <a:t>10/10/18</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3" Type="http://schemas.openxmlformats.org/officeDocument/2006/relationships/tags" Target="../tags/tag4.xml"/><Relationship Id="rId4" Type="http://schemas.openxmlformats.org/officeDocument/2006/relationships/slideLayout" Target="../slideLayouts/slideLayout2.xml"/><Relationship Id="rId5" Type="http://schemas.openxmlformats.org/officeDocument/2006/relationships/image" Target="../media/image6.png"/><Relationship Id="rId1" Type="http://schemas.openxmlformats.org/officeDocument/2006/relationships/tags" Target="../tags/tag2.xml"/><Relationship Id="rId2" Type="http://schemas.openxmlformats.org/officeDocument/2006/relationships/tags" Target="../tags/tag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47.xml.rels><?xml version="1.0" encoding="UTF-8" standalone="yes"?>
<Relationships xmlns="http://schemas.openxmlformats.org/package/2006/relationships"><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slideLayout" Target="../slideLayouts/slideLayout2.xml"/><Relationship Id="rId8" Type="http://schemas.openxmlformats.org/officeDocument/2006/relationships/notesSlide" Target="../notesSlides/notesSlide28.xml"/><Relationship Id="rId9" Type="http://schemas.openxmlformats.org/officeDocument/2006/relationships/image" Target="../media/image10.png"/><Relationship Id="rId10" Type="http://schemas.openxmlformats.org/officeDocument/2006/relationships/image" Target="../media/image11.png"/><Relationship Id="rId1" Type="http://schemas.openxmlformats.org/officeDocument/2006/relationships/tags" Target="../tags/tag5.xml"/><Relationship Id="rId2" Type="http://schemas.openxmlformats.org/officeDocument/2006/relationships/tags" Target="../tags/tag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tags" Target="../tags/tag13.xml"/><Relationship Id="rId4" Type="http://schemas.openxmlformats.org/officeDocument/2006/relationships/tags" Target="../tags/tag14.xml"/><Relationship Id="rId5" Type="http://schemas.openxmlformats.org/officeDocument/2006/relationships/tags" Target="../tags/tag15.xml"/><Relationship Id="rId6" Type="http://schemas.openxmlformats.org/officeDocument/2006/relationships/tags" Target="../tags/tag16.xml"/><Relationship Id="rId7" Type="http://schemas.openxmlformats.org/officeDocument/2006/relationships/tags" Target="../tags/tag17.xml"/><Relationship Id="rId8" Type="http://schemas.openxmlformats.org/officeDocument/2006/relationships/tags" Target="../tags/tag18.xml"/><Relationship Id="rId9" Type="http://schemas.openxmlformats.org/officeDocument/2006/relationships/tags" Target="../tags/tag19.xml"/><Relationship Id="rId10" Type="http://schemas.openxmlformats.org/officeDocument/2006/relationships/slideLayout" Target="../slideLayouts/slideLayout2.xml"/><Relationship Id="rId11" Type="http://schemas.openxmlformats.org/officeDocument/2006/relationships/image" Target="../media/image12.png"/><Relationship Id="rId1" Type="http://schemas.openxmlformats.org/officeDocument/2006/relationships/tags" Target="../tags/tag11.xml"/><Relationship Id="rId2" Type="http://schemas.openxmlformats.org/officeDocument/2006/relationships/tags" Target="../tags/tag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54.xml.rels><?xml version="1.0" encoding="UTF-8" standalone="yes"?>
<Relationships xmlns="http://schemas.openxmlformats.org/package/2006/relationships"><Relationship Id="rId3" Type="http://schemas.openxmlformats.org/officeDocument/2006/relationships/tags" Target="../tags/tag22.xml"/><Relationship Id="rId4" Type="http://schemas.openxmlformats.org/officeDocument/2006/relationships/slideLayout" Target="../slideLayouts/slideLayout2.xml"/><Relationship Id="rId5" Type="http://schemas.openxmlformats.org/officeDocument/2006/relationships/image" Target="../media/image14.png"/><Relationship Id="rId1" Type="http://schemas.openxmlformats.org/officeDocument/2006/relationships/tags" Target="../tags/tag20.xml"/><Relationship Id="rId2" Type="http://schemas.openxmlformats.org/officeDocument/2006/relationships/tags" Target="../tags/tag2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e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e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35.xml"/><Relationship Id="rId4" Type="http://schemas.openxmlformats.org/officeDocument/2006/relationships/package" Target="../embeddings/Microsoft_Word_Document1.docx"/><Relationship Id="rId5" Type="http://schemas.openxmlformats.org/officeDocument/2006/relationships/image" Target="../media/image22.png"/><Relationship Id="rId1" Type="http://schemas.openxmlformats.org/officeDocument/2006/relationships/vmlDrawing" Target="../drawings/vmlDrawing1.vml"/><Relationship Id="rId2"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3.png"/><Relationship Id="rId4" Type="http://schemas.openxmlformats.org/officeDocument/2006/relationships/image" Target="../media/image24.png"/><Relationship Id="rId1" Type="http://schemas.openxmlformats.org/officeDocument/2006/relationships/tags" Target="../tags/tag23.xml"/><Relationship Id="rId2"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86.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28.png"/><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88.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30.png"/><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Combinational Logic </a:t>
            </a:r>
            <a:br>
              <a:rPr lang="en-US" dirty="0" smtClean="0"/>
            </a:br>
            <a:r>
              <a:rPr lang="en-US" dirty="0" smtClean="0"/>
              <a:t>“On Combining Atomic Gates”</a:t>
            </a:r>
            <a:endParaRPr lang="en-US" dirty="0"/>
          </a:p>
        </p:txBody>
      </p:sp>
      <p:sp>
        <p:nvSpPr>
          <p:cNvPr id="5" name="Content Placeholder 4"/>
          <p:cNvSpPr>
            <a:spLocks noGrp="1"/>
          </p:cNvSpPr>
          <p:nvPr>
            <p:ph idx="1"/>
          </p:nvPr>
        </p:nvSpPr>
        <p:spPr/>
        <p:txBody>
          <a:bodyPr/>
          <a:lstStyle/>
          <a:p>
            <a:r>
              <a:rPr lang="en-US" dirty="0" smtClean="0"/>
              <a:t>Rob Nash, Senior Lecturer</a:t>
            </a:r>
          </a:p>
          <a:p>
            <a:r>
              <a:rPr lang="en-US" dirty="0" smtClean="0"/>
              <a:t>Readings: See schedule</a:t>
            </a:r>
          </a:p>
          <a:p>
            <a:r>
              <a:rPr lang="en-US" dirty="0" smtClean="0"/>
              <a:t>Sources: Berger, Null &amp; Lobur, CDA-AQA</a:t>
            </a:r>
          </a:p>
          <a:p>
            <a:endParaRPr lang="en-US" dirty="0"/>
          </a:p>
          <a:p>
            <a:r>
              <a:rPr lang="en-US" dirty="0" smtClean="0"/>
              <a:t>“Were it not for the atomic gates, no more complex features such as addition, comparison, or storage would exist.”</a:t>
            </a:r>
          </a:p>
          <a:p>
            <a:endParaRPr lang="en-US" dirty="0"/>
          </a:p>
          <a:p>
            <a:r>
              <a:rPr lang="en-US" dirty="0" smtClean="0"/>
              <a:t>“The defining feature of the </a:t>
            </a:r>
            <a:r>
              <a:rPr lang="en-US" i="1" dirty="0" smtClean="0"/>
              <a:t>Von Neumann</a:t>
            </a:r>
            <a:r>
              <a:rPr lang="en-US" dirty="0" smtClean="0"/>
              <a:t> architecture is its load-and-store interface to RAM.  All data must be moved locally to be operated on, then moved back when finished.”</a:t>
            </a:r>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Fun Quotes &amp; Reading With Nash</a:t>
            </a:r>
            <a:endParaRPr lang="en-US" dirty="0"/>
          </a:p>
        </p:txBody>
      </p:sp>
      <p:sp>
        <p:nvSpPr>
          <p:cNvPr id="3" name="Content Placeholder 2"/>
          <p:cNvSpPr>
            <a:spLocks noGrp="1"/>
          </p:cNvSpPr>
          <p:nvPr>
            <p:ph idx="1"/>
          </p:nvPr>
        </p:nvSpPr>
        <p:spPr>
          <a:xfrm>
            <a:off x="457200" y="1828800"/>
            <a:ext cx="7620000" cy="4800600"/>
          </a:xfrm>
        </p:spPr>
        <p:txBody>
          <a:bodyPr/>
          <a:lstStyle/>
          <a:p>
            <a:r>
              <a:rPr lang="en-US" dirty="0" smtClean="0"/>
              <a:t>“We bend this metal, to give it structure and meaning…so that the sum(or combination) of its parts might accomplish far greater things than the singular parts themselves” – Nash</a:t>
            </a:r>
          </a:p>
          <a:p>
            <a:endParaRPr lang="en-US" dirty="0"/>
          </a:p>
          <a:p>
            <a:r>
              <a:rPr lang="en-US" dirty="0" smtClean="0"/>
              <a:t>“A soda machine could not be built using only combinational circuits.  To understand how a soda machine works, and ultimately how a computer works, we must study [combinations of circuits that include state/memory]”</a:t>
            </a:r>
          </a:p>
          <a:p>
            <a:pPr lvl="1"/>
            <a:r>
              <a:rPr lang="en-US" dirty="0" smtClean="0"/>
              <a:t>So we start by combining basic circuits, build to greater heights</a:t>
            </a:r>
          </a:p>
          <a:p>
            <a:pPr lvl="2"/>
            <a:r>
              <a:rPr lang="en-US" dirty="0" smtClean="0"/>
              <a:t>Next, we consider circuits that contain memory</a:t>
            </a:r>
            <a:endParaRPr lang="en-US" dirty="0"/>
          </a:p>
        </p:txBody>
      </p:sp>
    </p:spTree>
    <p:extLst>
      <p:ext uri="{BB962C8B-B14F-4D97-AF65-F5344CB8AC3E}">
        <p14:creationId xmlns:p14="http://schemas.microsoft.com/office/powerpoint/2010/main" val="1507283103"/>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Memorize &amp; Practice &amp; Master</a:t>
            </a:r>
            <a:endParaRPr lang="en-US" dirty="0"/>
          </a:p>
        </p:txBody>
      </p:sp>
      <p:sp>
        <p:nvSpPr>
          <p:cNvPr id="3" name="Content Placeholder 2"/>
          <p:cNvSpPr>
            <a:spLocks noGrp="1"/>
          </p:cNvSpPr>
          <p:nvPr>
            <p:ph idx="1"/>
          </p:nvPr>
        </p:nvSpPr>
        <p:spPr/>
        <p:txBody>
          <a:bodyPr>
            <a:normAutofit/>
          </a:bodyPr>
          <a:lstStyle/>
          <a:p>
            <a:r>
              <a:rPr lang="en-US" dirty="0" smtClean="0"/>
              <a:t>New Compound Gates : NAND, NOR, XOR, NXOR</a:t>
            </a:r>
          </a:p>
          <a:p>
            <a:r>
              <a:rPr lang="en-US" dirty="0" smtClean="0"/>
              <a:t>Boolean Algebra Laws and Compound Laws</a:t>
            </a:r>
          </a:p>
          <a:p>
            <a:r>
              <a:rPr lang="en-US" dirty="0" smtClean="0"/>
              <a:t>Engineering Notation 2</a:t>
            </a:r>
            <a:r>
              <a:rPr lang="en-US" baseline="30000" dirty="0" smtClean="0"/>
              <a:t>x </a:t>
            </a:r>
            <a:r>
              <a:rPr lang="en-US" dirty="0" smtClean="0"/>
              <a:t>and 10</a:t>
            </a:r>
            <a:r>
              <a:rPr lang="en-US" baseline="30000" dirty="0" smtClean="0"/>
              <a:t>x</a:t>
            </a:r>
            <a:r>
              <a:rPr lang="en-US" dirty="0" smtClean="0"/>
              <a:t> for Mega, Giga, Pico, …</a:t>
            </a:r>
          </a:p>
          <a:p>
            <a:pPr lvl="1"/>
            <a:r>
              <a:rPr lang="en-US" dirty="0"/>
              <a:t>Soon: K-Map maneuvers</a:t>
            </a:r>
          </a:p>
          <a:p>
            <a:pPr marL="114300" indent="0">
              <a:buNone/>
            </a:pPr>
            <a:endParaRPr lang="en-US" dirty="0" smtClean="0"/>
          </a:p>
          <a:p>
            <a:r>
              <a:rPr lang="en-US" dirty="0" smtClean="0"/>
              <a:t>Also, practice &amp; to commit to memory:</a:t>
            </a:r>
          </a:p>
          <a:p>
            <a:pPr lvl="1"/>
            <a:r>
              <a:rPr lang="en-US" dirty="0" smtClean="0"/>
              <a:t>Build a simple (half and full) adder using XOR</a:t>
            </a:r>
          </a:p>
          <a:p>
            <a:pPr lvl="1"/>
            <a:r>
              <a:rPr lang="en-US" dirty="0" smtClean="0"/>
              <a:t>Build any arbitrary compound circuit </a:t>
            </a:r>
          </a:p>
          <a:p>
            <a:pPr lvl="1"/>
            <a:r>
              <a:rPr lang="en-US" dirty="0" smtClean="0"/>
              <a:t>Wondering how to practice? Use:</a:t>
            </a:r>
          </a:p>
          <a:p>
            <a:pPr lvl="2"/>
            <a:r>
              <a:rPr lang="en-US" dirty="0" smtClean="0"/>
              <a:t> HW1</a:t>
            </a:r>
          </a:p>
          <a:p>
            <a:pPr lvl="2"/>
            <a:r>
              <a:rPr lang="en-US" dirty="0" smtClean="0"/>
              <a:t>Exercises &amp; Alt Exercises</a:t>
            </a:r>
          </a:p>
          <a:p>
            <a:pPr lvl="2"/>
            <a:r>
              <a:rPr lang="en-US" dirty="0" smtClean="0"/>
              <a:t>End of Chapter Book Exercises</a:t>
            </a:r>
            <a:endParaRPr lang="en-US" dirty="0"/>
          </a:p>
        </p:txBody>
      </p:sp>
    </p:spTree>
    <p:extLst>
      <p:ext uri="{BB962C8B-B14F-4D97-AF65-F5344CB8AC3E}">
        <p14:creationId xmlns:p14="http://schemas.microsoft.com/office/powerpoint/2010/main" val="2682976561"/>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Multi-Layer Cake </a:t>
            </a:r>
            <a:r>
              <a:rPr lang="en-US" sz="800" dirty="0" smtClean="0"/>
              <a:t>*Because Stacks are so Last _____   </a:t>
            </a:r>
            <a:r>
              <a:rPr lang="en-US" sz="200" dirty="0" smtClean="0"/>
              <a:t>(in First Out)</a:t>
            </a:r>
            <a:endParaRPr lang="en-US" sz="200" dirty="0"/>
          </a:p>
        </p:txBody>
      </p:sp>
      <p:sp>
        <p:nvSpPr>
          <p:cNvPr id="19" name="Rounded Rectangle 18"/>
          <p:cNvSpPr/>
          <p:nvPr/>
        </p:nvSpPr>
        <p:spPr>
          <a:xfrm>
            <a:off x="0" y="5181600"/>
            <a:ext cx="9144000" cy="11430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800" dirty="0" smtClean="0">
                <a:solidFill>
                  <a:schemeClr val="bg1"/>
                </a:solidFill>
              </a:rPr>
              <a:t>Fundamental, Atomic </a:t>
            </a:r>
            <a:r>
              <a:rPr lang="en-US" sz="2800" dirty="0" smtClean="0">
                <a:solidFill>
                  <a:srgbClr val="FF6600"/>
                </a:solidFill>
                <a:latin typeface="Abadi MT Condensed Extra Bold"/>
                <a:cs typeface="Abadi MT Condensed Extra Bold"/>
              </a:rPr>
              <a:t>Gates</a:t>
            </a:r>
          </a:p>
          <a:p>
            <a:pPr algn="ctr"/>
            <a:r>
              <a:rPr lang="en-US" sz="2800" dirty="0">
                <a:solidFill>
                  <a:schemeClr val="bg1"/>
                </a:solidFill>
              </a:rPr>
              <a:t>(AND, OR, NOT, XOR, NAND, NOR)</a:t>
            </a:r>
            <a:endParaRPr lang="en-US" sz="2800" dirty="0" smtClean="0">
              <a:solidFill>
                <a:srgbClr val="B7AE38"/>
              </a:solidFill>
              <a:latin typeface="+mj-lt"/>
              <a:cs typeface="Abadi MT Condensed Extra Bold"/>
            </a:endParaRPr>
          </a:p>
          <a:p>
            <a:pPr algn="ctr"/>
            <a:endParaRPr lang="en-US" dirty="0">
              <a:solidFill>
                <a:srgbClr val="B7AE38"/>
              </a:solidFill>
              <a:latin typeface="Abadi MT Condensed Extra Bold"/>
              <a:cs typeface="Abadi MT Condensed Extra Bold"/>
            </a:endParaRPr>
          </a:p>
        </p:txBody>
      </p:sp>
      <p:sp>
        <p:nvSpPr>
          <p:cNvPr id="21" name="Rounded Rectangle 20"/>
          <p:cNvSpPr/>
          <p:nvPr/>
        </p:nvSpPr>
        <p:spPr>
          <a:xfrm>
            <a:off x="0" y="4038600"/>
            <a:ext cx="9144000" cy="1143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smtClean="0">
                <a:solidFill>
                  <a:schemeClr val="bg1"/>
                </a:solidFill>
              </a:rPr>
              <a:t>Combining </a:t>
            </a:r>
            <a:r>
              <a:rPr lang="en-US" sz="2800" dirty="0" smtClean="0">
                <a:solidFill>
                  <a:srgbClr val="FF6600"/>
                </a:solidFill>
                <a:latin typeface="Abadi MT Condensed Extra Bold"/>
                <a:cs typeface="Abadi MT Condensed Extra Bold"/>
              </a:rPr>
              <a:t>Gates</a:t>
            </a:r>
            <a:r>
              <a:rPr lang="en-US" sz="2800" dirty="0" smtClean="0">
                <a:solidFill>
                  <a:srgbClr val="B7AE38"/>
                </a:solidFill>
                <a:latin typeface="Abadi MT Condensed Extra Bold"/>
                <a:cs typeface="Abadi MT Condensed Extra Bold"/>
              </a:rPr>
              <a:t> </a:t>
            </a:r>
            <a:r>
              <a:rPr lang="en-US" sz="2800" dirty="0" smtClean="0">
                <a:solidFill>
                  <a:schemeClr val="bg1"/>
                </a:solidFill>
              </a:rPr>
              <a:t>for </a:t>
            </a:r>
            <a:r>
              <a:rPr lang="en-US" sz="2800" b="1" dirty="0" smtClean="0">
                <a:solidFill>
                  <a:srgbClr val="008000"/>
                </a:solidFill>
                <a:latin typeface="Abadi MT Condensed Extra Bold"/>
                <a:cs typeface="Abadi MT Condensed Extra Bold"/>
              </a:rPr>
              <a:t>Combinational Circuits</a:t>
            </a:r>
          </a:p>
          <a:p>
            <a:pPr algn="ctr"/>
            <a:r>
              <a:rPr lang="en-US" sz="2800" dirty="0" smtClean="0">
                <a:solidFill>
                  <a:schemeClr val="bg1"/>
                </a:solidFill>
              </a:rPr>
              <a:t>(half-adders, adders, multiplexors, decoders/encoders,…)</a:t>
            </a:r>
            <a:endParaRPr lang="en-US" dirty="0"/>
          </a:p>
          <a:p>
            <a:pPr algn="ctr"/>
            <a:endParaRPr lang="en-US" dirty="0"/>
          </a:p>
        </p:txBody>
      </p:sp>
      <p:sp>
        <p:nvSpPr>
          <p:cNvPr id="22" name="Rounded Rectangle 21"/>
          <p:cNvSpPr/>
          <p:nvPr/>
        </p:nvSpPr>
        <p:spPr>
          <a:xfrm>
            <a:off x="0" y="2895600"/>
            <a:ext cx="9144000" cy="11430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smtClean="0">
                <a:solidFill>
                  <a:schemeClr val="bg1"/>
                </a:solidFill>
              </a:rPr>
              <a:t>Combining </a:t>
            </a:r>
            <a:r>
              <a:rPr lang="en-US" sz="2800" dirty="0" smtClean="0">
                <a:solidFill>
                  <a:srgbClr val="FF6600"/>
                </a:solidFill>
                <a:latin typeface="Abadi MT Condensed Extra Bold"/>
                <a:cs typeface="Abadi MT Condensed Extra Bold"/>
              </a:rPr>
              <a:t>Gates</a:t>
            </a:r>
            <a:r>
              <a:rPr lang="en-US" sz="2800" dirty="0" smtClean="0">
                <a:solidFill>
                  <a:srgbClr val="B7AE38"/>
                </a:solidFill>
                <a:latin typeface="Abadi MT Condensed Extra Bold"/>
                <a:cs typeface="Abadi MT Condensed Extra Bold"/>
              </a:rPr>
              <a:t> </a:t>
            </a:r>
            <a:r>
              <a:rPr lang="en-US" sz="2800" dirty="0" smtClean="0">
                <a:solidFill>
                  <a:schemeClr val="bg1"/>
                </a:solidFill>
              </a:rPr>
              <a:t>to Make </a:t>
            </a:r>
            <a:r>
              <a:rPr lang="en-US" sz="2800" b="1" dirty="0" smtClean="0">
                <a:solidFill>
                  <a:srgbClr val="0000FF"/>
                </a:solidFill>
                <a:latin typeface="Abadi MT Condensed Extra Bold"/>
                <a:cs typeface="Abadi MT Condensed Extra Bold"/>
              </a:rPr>
              <a:t>Memory</a:t>
            </a:r>
          </a:p>
          <a:p>
            <a:pPr algn="ctr"/>
            <a:r>
              <a:rPr lang="en-US" sz="2800" dirty="0" smtClean="0">
                <a:solidFill>
                  <a:schemeClr val="bg1"/>
                </a:solidFill>
              </a:rPr>
              <a:t>(RAM &amp; ROM as SR Latch, JK FF, DF FF, …)</a:t>
            </a:r>
            <a:endParaRPr lang="en-US" dirty="0"/>
          </a:p>
          <a:p>
            <a:pPr algn="ctr"/>
            <a:endParaRPr lang="en-US" dirty="0"/>
          </a:p>
        </p:txBody>
      </p:sp>
      <p:sp>
        <p:nvSpPr>
          <p:cNvPr id="23" name="Rounded Rectangle 22"/>
          <p:cNvSpPr/>
          <p:nvPr/>
        </p:nvSpPr>
        <p:spPr>
          <a:xfrm>
            <a:off x="25400" y="1447800"/>
            <a:ext cx="9144000" cy="1447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solidFill>
              </a:rPr>
              <a:t> Combining </a:t>
            </a:r>
            <a:r>
              <a:rPr lang="en-US" sz="2800" b="1" dirty="0" smtClean="0">
                <a:solidFill>
                  <a:srgbClr val="0000FF"/>
                </a:solidFill>
                <a:latin typeface="Abadi MT Condensed Extra Bold"/>
                <a:cs typeface="Abadi MT Condensed Extra Bold"/>
              </a:rPr>
              <a:t>Memory </a:t>
            </a:r>
            <a:r>
              <a:rPr lang="en-US" sz="2800" dirty="0" smtClean="0">
                <a:solidFill>
                  <a:schemeClr val="bg1"/>
                </a:solidFill>
              </a:rPr>
              <a:t>and </a:t>
            </a:r>
            <a:r>
              <a:rPr lang="en-US" sz="2800" b="1" dirty="0">
                <a:solidFill>
                  <a:srgbClr val="008000"/>
                </a:solidFill>
                <a:latin typeface="Abadi MT Condensed Extra Bold"/>
                <a:cs typeface="Abadi MT Condensed Extra Bold"/>
              </a:rPr>
              <a:t>Combinational Circuits</a:t>
            </a:r>
          </a:p>
          <a:p>
            <a:pPr algn="ctr"/>
            <a:r>
              <a:rPr lang="en-US" sz="2800" dirty="0" smtClean="0">
                <a:solidFill>
                  <a:schemeClr val="bg1"/>
                </a:solidFill>
              </a:rPr>
              <a:t> to make </a:t>
            </a:r>
            <a:r>
              <a:rPr lang="en-US" sz="2800" b="1" dirty="0" smtClean="0">
                <a:solidFill>
                  <a:srgbClr val="9939D5"/>
                </a:solidFill>
                <a:latin typeface="Abadi MT Condensed Extra Bold"/>
                <a:cs typeface="Abadi MT Condensed Extra Bold"/>
              </a:rPr>
              <a:t>Sequential Circuits </a:t>
            </a:r>
          </a:p>
          <a:p>
            <a:pPr algn="ctr"/>
            <a:r>
              <a:rPr lang="en-US" sz="2800" dirty="0" smtClean="0">
                <a:solidFill>
                  <a:schemeClr val="bg1"/>
                </a:solidFill>
              </a:rPr>
              <a:t>(State Machines)</a:t>
            </a:r>
            <a:endParaRPr lang="en-US" dirty="0"/>
          </a:p>
          <a:p>
            <a:pPr algn="ctr"/>
            <a:endParaRPr lang="en-US" dirty="0"/>
          </a:p>
        </p:txBody>
      </p:sp>
      <p:sp>
        <p:nvSpPr>
          <p:cNvPr id="3" name="TextBox 2"/>
          <p:cNvSpPr txBox="1"/>
          <p:nvPr/>
        </p:nvSpPr>
        <p:spPr>
          <a:xfrm>
            <a:off x="152400" y="2526268"/>
            <a:ext cx="884775" cy="369332"/>
          </a:xfrm>
          <a:prstGeom prst="rect">
            <a:avLst/>
          </a:prstGeom>
          <a:solidFill>
            <a:srgbClr val="9939D5"/>
          </a:solidFill>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dirty="0" smtClean="0"/>
              <a:t>Level 3</a:t>
            </a:r>
            <a:endParaRPr lang="en-US" dirty="0"/>
          </a:p>
        </p:txBody>
      </p:sp>
      <p:sp>
        <p:nvSpPr>
          <p:cNvPr id="8" name="TextBox 7"/>
          <p:cNvSpPr txBox="1"/>
          <p:nvPr/>
        </p:nvSpPr>
        <p:spPr>
          <a:xfrm>
            <a:off x="152400" y="3657600"/>
            <a:ext cx="884775" cy="369332"/>
          </a:xfrm>
          <a:prstGeom prst="rect">
            <a:avLst/>
          </a:prstGeom>
          <a:solidFill>
            <a:srgbClr val="0000FF"/>
          </a:solidFill>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dirty="0" smtClean="0"/>
              <a:t>Level 2</a:t>
            </a:r>
            <a:endParaRPr lang="en-US" dirty="0"/>
          </a:p>
        </p:txBody>
      </p:sp>
      <p:sp>
        <p:nvSpPr>
          <p:cNvPr id="9" name="TextBox 8"/>
          <p:cNvSpPr txBox="1"/>
          <p:nvPr/>
        </p:nvSpPr>
        <p:spPr>
          <a:xfrm>
            <a:off x="152400" y="4864100"/>
            <a:ext cx="884775" cy="335756"/>
          </a:xfrm>
          <a:prstGeom prst="rect">
            <a:avLst/>
          </a:prstGeom>
          <a:solidFill>
            <a:srgbClr val="008000"/>
          </a:solidFill>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dirty="0" smtClean="0"/>
              <a:t>Level 1</a:t>
            </a:r>
            <a:endParaRPr lang="en-US" dirty="0"/>
          </a:p>
        </p:txBody>
      </p:sp>
      <p:sp>
        <p:nvSpPr>
          <p:cNvPr id="4" name="TextBox 3"/>
          <p:cNvSpPr txBox="1"/>
          <p:nvPr/>
        </p:nvSpPr>
        <p:spPr>
          <a:xfrm>
            <a:off x="7543800" y="6629400"/>
            <a:ext cx="914400" cy="184666"/>
          </a:xfrm>
          <a:prstGeom prst="rect">
            <a:avLst/>
          </a:prstGeom>
          <a:noFill/>
        </p:spPr>
        <p:txBody>
          <a:bodyPr wrap="square" rtlCol="0">
            <a:spAutoFit/>
          </a:bodyPr>
          <a:lstStyle/>
          <a:p>
            <a:r>
              <a:rPr lang="en-US" sz="600" dirty="0"/>
              <a:t>Gates Foundation? </a:t>
            </a:r>
          </a:p>
        </p:txBody>
      </p:sp>
      <p:sp>
        <p:nvSpPr>
          <p:cNvPr id="12" name="TextBox 11"/>
          <p:cNvSpPr txBox="1"/>
          <p:nvPr/>
        </p:nvSpPr>
        <p:spPr>
          <a:xfrm>
            <a:off x="152400" y="5988844"/>
            <a:ext cx="884775" cy="369332"/>
          </a:xfrm>
          <a:prstGeom prst="rect">
            <a:avLst/>
          </a:prstGeom>
          <a:solidFill>
            <a:srgbClr val="FF6600"/>
          </a:solidFill>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dirty="0" smtClean="0"/>
              <a:t>Level 0</a:t>
            </a:r>
            <a:endParaRPr lang="en-US" dirty="0"/>
          </a:p>
        </p:txBody>
      </p:sp>
      <p:sp>
        <p:nvSpPr>
          <p:cNvPr id="10" name="TextBox 9"/>
          <p:cNvSpPr txBox="1"/>
          <p:nvPr/>
        </p:nvSpPr>
        <p:spPr>
          <a:xfrm>
            <a:off x="92364" y="5638800"/>
            <a:ext cx="1939636" cy="707886"/>
          </a:xfrm>
          <a:prstGeom prst="rect">
            <a:avLst/>
          </a:prstGeom>
          <a:solidFill>
            <a:srgbClr val="FF6600"/>
          </a:solidFill>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sz="4000" dirty="0" smtClean="0"/>
              <a:t>Build It</a:t>
            </a:r>
            <a:endParaRPr lang="en-US" sz="4000" dirty="0"/>
          </a:p>
        </p:txBody>
      </p:sp>
      <p:sp>
        <p:nvSpPr>
          <p:cNvPr id="5" name="Up Arrow 4"/>
          <p:cNvSpPr/>
          <p:nvPr/>
        </p:nvSpPr>
        <p:spPr>
          <a:xfrm>
            <a:off x="943264" y="4191000"/>
            <a:ext cx="762000" cy="1447800"/>
          </a:xfrm>
          <a:prstGeom prst="upArrow">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Up Arrow 13"/>
          <p:cNvSpPr/>
          <p:nvPr/>
        </p:nvSpPr>
        <p:spPr>
          <a:xfrm>
            <a:off x="939800" y="2743200"/>
            <a:ext cx="762000" cy="1447800"/>
          </a:xfrm>
          <a:prstGeom prst="upArrow">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Up Arrow 14"/>
          <p:cNvSpPr/>
          <p:nvPr/>
        </p:nvSpPr>
        <p:spPr>
          <a:xfrm>
            <a:off x="914400" y="1295400"/>
            <a:ext cx="762000" cy="1447800"/>
          </a:xfrm>
          <a:prstGeom prst="upArrow">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ounded Rectangle 5"/>
          <p:cNvSpPr/>
          <p:nvPr/>
        </p:nvSpPr>
        <p:spPr>
          <a:xfrm>
            <a:off x="0" y="6362700"/>
            <a:ext cx="9144000" cy="4572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3600" b="1" dirty="0" smtClean="0"/>
              <a:t>Lecture Interrupt! First, some </a:t>
            </a:r>
            <a:r>
              <a:rPr lang="en-US" sz="3600" b="1" i="1" dirty="0" smtClean="0"/>
              <a:t>setup</a:t>
            </a:r>
            <a:r>
              <a:rPr lang="en-US" sz="3600" b="1" dirty="0" smtClean="0"/>
              <a:t>? Level -1?</a:t>
            </a:r>
            <a:endParaRPr lang="en-US" sz="3600" b="1" dirty="0"/>
          </a:p>
        </p:txBody>
      </p:sp>
    </p:spTree>
    <p:extLst>
      <p:ext uri="{BB962C8B-B14F-4D97-AF65-F5344CB8AC3E}">
        <p14:creationId xmlns:p14="http://schemas.microsoft.com/office/powerpoint/2010/main" val="115548535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animBg="1"/>
      <p:bldP spid="14" grpId="0" animBg="1"/>
      <p:bldP spid="1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FF0000"/>
                </a:solidFill>
              </a:rPr>
              <a:t>Goal </a:t>
            </a:r>
            <a:r>
              <a:rPr lang="en-US" b="1" dirty="0" smtClean="0">
                <a:solidFill>
                  <a:srgbClr val="FF0000"/>
                </a:solidFill>
              </a:rPr>
              <a:t>is</a:t>
            </a:r>
            <a:r>
              <a:rPr lang="en-US" dirty="0" smtClean="0"/>
              <a:t> Level 0: Atomic Gates</a:t>
            </a:r>
            <a:br>
              <a:rPr lang="en-US" dirty="0" smtClean="0"/>
            </a:br>
            <a:r>
              <a:rPr lang="en-US" dirty="0" smtClean="0"/>
              <a:t>AND, OR, NOT</a:t>
            </a:r>
            <a:endParaRPr lang="en-US" dirty="0"/>
          </a:p>
        </p:txBody>
      </p:sp>
      <p:sp>
        <p:nvSpPr>
          <p:cNvPr id="4" name="Rectangle 3"/>
          <p:cNvSpPr/>
          <p:nvPr/>
        </p:nvSpPr>
        <p:spPr>
          <a:xfrm>
            <a:off x="4724400" y="4495800"/>
            <a:ext cx="8382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AND</a:t>
            </a:r>
            <a:endParaRPr lang="en-US" dirty="0"/>
          </a:p>
        </p:txBody>
      </p:sp>
      <p:sp>
        <p:nvSpPr>
          <p:cNvPr id="5" name="Rectangle 4"/>
          <p:cNvSpPr/>
          <p:nvPr/>
        </p:nvSpPr>
        <p:spPr>
          <a:xfrm>
            <a:off x="5562600" y="4495800"/>
            <a:ext cx="6858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OR</a:t>
            </a:r>
            <a:endParaRPr lang="en-US" dirty="0"/>
          </a:p>
        </p:txBody>
      </p:sp>
      <p:sp>
        <p:nvSpPr>
          <p:cNvPr id="6" name="Rectangle 5"/>
          <p:cNvSpPr/>
          <p:nvPr/>
        </p:nvSpPr>
        <p:spPr>
          <a:xfrm>
            <a:off x="6248400" y="4495800"/>
            <a:ext cx="6858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NOT</a:t>
            </a:r>
            <a:endParaRPr lang="en-US" dirty="0"/>
          </a:p>
        </p:txBody>
      </p:sp>
      <p:sp>
        <p:nvSpPr>
          <p:cNvPr id="19" name="Rounded Rectangle 18"/>
          <p:cNvSpPr/>
          <p:nvPr/>
        </p:nvSpPr>
        <p:spPr>
          <a:xfrm>
            <a:off x="0" y="2590800"/>
            <a:ext cx="9144000" cy="2514600"/>
          </a:xfrm>
          <a:prstGeom prst="roundRect">
            <a:avLst/>
          </a:prstGeom>
          <a:solidFill>
            <a:schemeClr val="accent6">
              <a:alpha val="21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800" dirty="0" smtClean="0">
                <a:solidFill>
                  <a:schemeClr val="tx1"/>
                </a:solidFill>
              </a:rPr>
              <a:t>Fundamental Gates</a:t>
            </a: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a:p>
        </p:txBody>
      </p:sp>
      <p:sp>
        <p:nvSpPr>
          <p:cNvPr id="8" name="TextBox 7"/>
          <p:cNvSpPr txBox="1"/>
          <p:nvPr/>
        </p:nvSpPr>
        <p:spPr>
          <a:xfrm>
            <a:off x="1371600" y="5989905"/>
            <a:ext cx="6629400" cy="401321"/>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dirty="0" smtClean="0"/>
              <a:t>AKA:  Primitives, Building </a:t>
            </a:r>
            <a:r>
              <a:rPr lang="en-US" dirty="0"/>
              <a:t>Blocks, HW Units, “Atomic” HW </a:t>
            </a:r>
            <a:r>
              <a:rPr lang="en-US" dirty="0" smtClean="0"/>
              <a:t>operations</a:t>
            </a:r>
            <a:endParaRPr lang="en-US" dirty="0"/>
          </a:p>
          <a:p>
            <a:endParaRPr lang="en-US" dirty="0"/>
          </a:p>
        </p:txBody>
      </p:sp>
    </p:spTree>
    <p:extLst>
      <p:ext uri="{BB962C8B-B14F-4D97-AF65-F5344CB8AC3E}">
        <p14:creationId xmlns:p14="http://schemas.microsoft.com/office/powerpoint/2010/main" val="1017033168"/>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ounded Rectangle 18"/>
          <p:cNvSpPr/>
          <p:nvPr/>
        </p:nvSpPr>
        <p:spPr>
          <a:xfrm>
            <a:off x="0" y="2590800"/>
            <a:ext cx="9144000" cy="2514600"/>
          </a:xfrm>
          <a:prstGeom prst="roundRect">
            <a:avLst/>
          </a:prstGeom>
          <a:solidFill>
            <a:schemeClr val="accent6">
              <a:alpha val="21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800" dirty="0" smtClean="0">
                <a:solidFill>
                  <a:schemeClr val="tx1"/>
                </a:solidFill>
              </a:rPr>
              <a:t>Fundamental Gates</a:t>
            </a: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a:p>
        </p:txBody>
      </p:sp>
      <p:sp>
        <p:nvSpPr>
          <p:cNvPr id="2" name="Title 1"/>
          <p:cNvSpPr>
            <a:spLocks noGrp="1"/>
          </p:cNvSpPr>
          <p:nvPr>
            <p:ph type="title"/>
          </p:nvPr>
        </p:nvSpPr>
        <p:spPr>
          <a:xfrm>
            <a:off x="304800" y="274638"/>
            <a:ext cx="8305800" cy="1143000"/>
          </a:xfrm>
        </p:spPr>
        <p:txBody>
          <a:bodyPr/>
          <a:lstStyle/>
          <a:p>
            <a:r>
              <a:rPr lang="en-US" dirty="0" smtClean="0"/>
              <a:t>Build Up to NAND, NOR</a:t>
            </a:r>
            <a:endParaRPr lang="en-US" dirty="0"/>
          </a:p>
        </p:txBody>
      </p:sp>
      <p:sp>
        <p:nvSpPr>
          <p:cNvPr id="4" name="Rectangle 3"/>
          <p:cNvSpPr/>
          <p:nvPr/>
        </p:nvSpPr>
        <p:spPr>
          <a:xfrm>
            <a:off x="4724400" y="4495800"/>
            <a:ext cx="8382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AND</a:t>
            </a:r>
            <a:endParaRPr lang="en-US" dirty="0"/>
          </a:p>
        </p:txBody>
      </p:sp>
      <p:sp>
        <p:nvSpPr>
          <p:cNvPr id="5" name="Rectangle 4"/>
          <p:cNvSpPr/>
          <p:nvPr/>
        </p:nvSpPr>
        <p:spPr>
          <a:xfrm>
            <a:off x="5562600" y="4495800"/>
            <a:ext cx="6858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OR</a:t>
            </a:r>
            <a:endParaRPr lang="en-US" dirty="0"/>
          </a:p>
        </p:txBody>
      </p:sp>
      <p:sp>
        <p:nvSpPr>
          <p:cNvPr id="6" name="Rectangle 5"/>
          <p:cNvSpPr/>
          <p:nvPr/>
        </p:nvSpPr>
        <p:spPr>
          <a:xfrm>
            <a:off x="6248400" y="4495800"/>
            <a:ext cx="6858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NOT</a:t>
            </a:r>
            <a:endParaRPr lang="en-US" dirty="0"/>
          </a:p>
        </p:txBody>
      </p:sp>
      <p:sp>
        <p:nvSpPr>
          <p:cNvPr id="8" name="Rectangle 7"/>
          <p:cNvSpPr/>
          <p:nvPr/>
        </p:nvSpPr>
        <p:spPr>
          <a:xfrm>
            <a:off x="4648200" y="3886200"/>
            <a:ext cx="990600" cy="609600"/>
          </a:xfrm>
          <a:prstGeom prst="rect">
            <a:avLst/>
          </a:prstGeom>
          <a:effectLst>
            <a:glow rad="228600">
              <a:schemeClr val="accent5">
                <a:satMod val="175000"/>
                <a:alpha val="40000"/>
              </a:schemeClr>
            </a:glow>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NOR</a:t>
            </a:r>
            <a:endParaRPr lang="en-US" dirty="0"/>
          </a:p>
        </p:txBody>
      </p:sp>
      <p:sp>
        <p:nvSpPr>
          <p:cNvPr id="9" name="Rectangle 8"/>
          <p:cNvSpPr/>
          <p:nvPr/>
        </p:nvSpPr>
        <p:spPr>
          <a:xfrm>
            <a:off x="5638800" y="3886200"/>
            <a:ext cx="2286000" cy="609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XOR</a:t>
            </a:r>
            <a:endParaRPr lang="en-US" dirty="0"/>
          </a:p>
        </p:txBody>
      </p:sp>
      <p:sp>
        <p:nvSpPr>
          <p:cNvPr id="7" name="Rectangle 6"/>
          <p:cNvSpPr/>
          <p:nvPr/>
        </p:nvSpPr>
        <p:spPr>
          <a:xfrm>
            <a:off x="3657600" y="3886200"/>
            <a:ext cx="990600" cy="609600"/>
          </a:xfrm>
          <a:prstGeom prst="rect">
            <a:avLst/>
          </a:prstGeom>
          <a:effectLst>
            <a:glow rad="228600">
              <a:schemeClr val="accent5">
                <a:satMod val="175000"/>
                <a:alpha val="40000"/>
              </a:schemeClr>
            </a:glow>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NAND</a:t>
            </a:r>
            <a:endParaRPr lang="en-US" dirty="0"/>
          </a:p>
        </p:txBody>
      </p:sp>
      <p:sp>
        <p:nvSpPr>
          <p:cNvPr id="10" name="Rounded Rectangle 9"/>
          <p:cNvSpPr/>
          <p:nvPr/>
        </p:nvSpPr>
        <p:spPr>
          <a:xfrm>
            <a:off x="3505200" y="3733800"/>
            <a:ext cx="4572000" cy="1752600"/>
          </a:xfrm>
          <a:prstGeom prst="roundRect">
            <a:avLst/>
          </a:prstGeom>
          <a:solidFill>
            <a:schemeClr val="accent2">
              <a:tint val="55000"/>
              <a:alpha val="29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r>
              <a:rPr lang="en-US" dirty="0"/>
              <a:t> </a:t>
            </a:r>
            <a:r>
              <a:rPr lang="en-US" dirty="0" smtClean="0"/>
              <a:t>                      </a:t>
            </a:r>
            <a:r>
              <a:rPr lang="en-US" b="1" dirty="0" smtClean="0">
                <a:solidFill>
                  <a:srgbClr val="FF0000"/>
                </a:solidFill>
              </a:rPr>
              <a:t>Logisim (Alt) Exercises 0 &amp; 2</a:t>
            </a:r>
            <a:endParaRPr lang="en-US" b="1" dirty="0">
              <a:solidFill>
                <a:srgbClr val="FF0000"/>
              </a:solidFill>
            </a:endParaRPr>
          </a:p>
        </p:txBody>
      </p:sp>
    </p:spTree>
    <p:extLst>
      <p:ext uri="{BB962C8B-B14F-4D97-AF65-F5344CB8AC3E}">
        <p14:creationId xmlns:p14="http://schemas.microsoft.com/office/powerpoint/2010/main" val="74568016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ounded Rectangle 18"/>
          <p:cNvSpPr/>
          <p:nvPr/>
        </p:nvSpPr>
        <p:spPr>
          <a:xfrm>
            <a:off x="0" y="2590800"/>
            <a:ext cx="9144000" cy="2514600"/>
          </a:xfrm>
          <a:prstGeom prst="roundRect">
            <a:avLst/>
          </a:prstGeom>
          <a:solidFill>
            <a:schemeClr val="accent6">
              <a:alpha val="21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800" dirty="0" smtClean="0">
                <a:solidFill>
                  <a:schemeClr val="tx1"/>
                </a:solidFill>
              </a:rPr>
              <a:t>Fundamental Gates </a:t>
            </a:r>
          </a:p>
          <a:p>
            <a:pPr algn="ctr"/>
            <a:r>
              <a:rPr lang="en-US" sz="1200" b="1" dirty="0" smtClean="0">
                <a:solidFill>
                  <a:srgbClr val="FF0000"/>
                </a:solidFill>
              </a:rPr>
              <a:t>(&amp; Alt Exercises 0 &amp; 2</a:t>
            </a:r>
            <a:r>
              <a:rPr lang="en-US" sz="1200" b="1" dirty="0">
                <a:solidFill>
                  <a:srgbClr val="FF0000"/>
                </a:solidFill>
              </a:rPr>
              <a:t>)</a:t>
            </a: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a:p>
        </p:txBody>
      </p:sp>
      <p:sp>
        <p:nvSpPr>
          <p:cNvPr id="2" name="Title 1"/>
          <p:cNvSpPr>
            <a:spLocks noGrp="1"/>
          </p:cNvSpPr>
          <p:nvPr>
            <p:ph type="title"/>
          </p:nvPr>
        </p:nvSpPr>
        <p:spPr>
          <a:xfrm>
            <a:off x="-76200" y="228600"/>
            <a:ext cx="8610600" cy="1143000"/>
          </a:xfrm>
        </p:spPr>
        <p:txBody>
          <a:bodyPr/>
          <a:lstStyle/>
          <a:p>
            <a:r>
              <a:rPr lang="en-US" dirty="0" smtClean="0"/>
              <a:t>Build Further (All) With Universal Gates</a:t>
            </a:r>
            <a:endParaRPr lang="en-US" b="1" i="1" dirty="0"/>
          </a:p>
        </p:txBody>
      </p:sp>
      <p:sp>
        <p:nvSpPr>
          <p:cNvPr id="4" name="Rectangle 3"/>
          <p:cNvSpPr/>
          <p:nvPr/>
        </p:nvSpPr>
        <p:spPr>
          <a:xfrm>
            <a:off x="4724400" y="4495800"/>
            <a:ext cx="8382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AND</a:t>
            </a:r>
            <a:endParaRPr lang="en-US" dirty="0"/>
          </a:p>
        </p:txBody>
      </p:sp>
      <p:sp>
        <p:nvSpPr>
          <p:cNvPr id="5" name="Rectangle 4"/>
          <p:cNvSpPr/>
          <p:nvPr/>
        </p:nvSpPr>
        <p:spPr>
          <a:xfrm>
            <a:off x="5562600" y="4495800"/>
            <a:ext cx="6858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OR</a:t>
            </a:r>
            <a:endParaRPr lang="en-US" dirty="0"/>
          </a:p>
        </p:txBody>
      </p:sp>
      <p:sp>
        <p:nvSpPr>
          <p:cNvPr id="6" name="Rectangle 5"/>
          <p:cNvSpPr/>
          <p:nvPr/>
        </p:nvSpPr>
        <p:spPr>
          <a:xfrm>
            <a:off x="6248400" y="4495800"/>
            <a:ext cx="6858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NOT</a:t>
            </a:r>
            <a:endParaRPr lang="en-US" dirty="0"/>
          </a:p>
        </p:txBody>
      </p:sp>
      <p:sp>
        <p:nvSpPr>
          <p:cNvPr id="7" name="Rectangle 6"/>
          <p:cNvSpPr/>
          <p:nvPr/>
        </p:nvSpPr>
        <p:spPr>
          <a:xfrm>
            <a:off x="3657600" y="3886200"/>
            <a:ext cx="990600" cy="609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NAND</a:t>
            </a:r>
            <a:endParaRPr lang="en-US" dirty="0"/>
          </a:p>
        </p:txBody>
      </p:sp>
      <p:sp>
        <p:nvSpPr>
          <p:cNvPr id="8" name="Rectangle 7"/>
          <p:cNvSpPr/>
          <p:nvPr/>
        </p:nvSpPr>
        <p:spPr>
          <a:xfrm>
            <a:off x="4648200" y="3886200"/>
            <a:ext cx="990600" cy="609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NOR</a:t>
            </a:r>
            <a:endParaRPr lang="en-US" dirty="0"/>
          </a:p>
        </p:txBody>
      </p:sp>
      <p:sp>
        <p:nvSpPr>
          <p:cNvPr id="9" name="Rectangle 8"/>
          <p:cNvSpPr/>
          <p:nvPr/>
        </p:nvSpPr>
        <p:spPr>
          <a:xfrm>
            <a:off x="5638800" y="3886200"/>
            <a:ext cx="2286000" cy="609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XOR</a:t>
            </a:r>
            <a:endParaRPr lang="en-US" dirty="0"/>
          </a:p>
        </p:txBody>
      </p:sp>
      <p:sp>
        <p:nvSpPr>
          <p:cNvPr id="10" name="Rectangle 9"/>
          <p:cNvSpPr/>
          <p:nvPr/>
        </p:nvSpPr>
        <p:spPr>
          <a:xfrm>
            <a:off x="7620000" y="3276600"/>
            <a:ext cx="1524000" cy="6096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NXOR</a:t>
            </a:r>
            <a:endParaRPr lang="en-US" dirty="0"/>
          </a:p>
        </p:txBody>
      </p:sp>
      <p:sp>
        <p:nvSpPr>
          <p:cNvPr id="11" name="Rectangle 10"/>
          <p:cNvSpPr/>
          <p:nvPr/>
        </p:nvSpPr>
        <p:spPr>
          <a:xfrm>
            <a:off x="0" y="3276600"/>
            <a:ext cx="1066800" cy="609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AND with NAND</a:t>
            </a:r>
            <a:endParaRPr lang="en-US" dirty="0"/>
          </a:p>
        </p:txBody>
      </p:sp>
      <p:sp>
        <p:nvSpPr>
          <p:cNvPr id="12" name="Rectangle 11"/>
          <p:cNvSpPr/>
          <p:nvPr/>
        </p:nvSpPr>
        <p:spPr>
          <a:xfrm>
            <a:off x="1066800" y="3276600"/>
            <a:ext cx="1143000" cy="609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AND with NOR</a:t>
            </a:r>
            <a:endParaRPr lang="en-US" dirty="0"/>
          </a:p>
        </p:txBody>
      </p:sp>
      <p:sp>
        <p:nvSpPr>
          <p:cNvPr id="13" name="Rectangle 12"/>
          <p:cNvSpPr/>
          <p:nvPr/>
        </p:nvSpPr>
        <p:spPr>
          <a:xfrm>
            <a:off x="2209800" y="3276600"/>
            <a:ext cx="1066800" cy="609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OR with NAND</a:t>
            </a:r>
            <a:endParaRPr lang="en-US" dirty="0"/>
          </a:p>
        </p:txBody>
      </p:sp>
      <p:sp>
        <p:nvSpPr>
          <p:cNvPr id="14" name="Rectangle 13"/>
          <p:cNvSpPr/>
          <p:nvPr/>
        </p:nvSpPr>
        <p:spPr>
          <a:xfrm>
            <a:off x="3276600" y="3276600"/>
            <a:ext cx="990600" cy="609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OR with NOR</a:t>
            </a:r>
            <a:endParaRPr lang="en-US" dirty="0"/>
          </a:p>
        </p:txBody>
      </p:sp>
      <p:sp>
        <p:nvSpPr>
          <p:cNvPr id="15" name="Rectangle 14"/>
          <p:cNvSpPr/>
          <p:nvPr/>
        </p:nvSpPr>
        <p:spPr>
          <a:xfrm>
            <a:off x="4267200" y="3276600"/>
            <a:ext cx="1066800" cy="609600"/>
          </a:xfrm>
          <a:prstGeom prst="rect">
            <a:avLst/>
          </a:prstGeom>
          <a:effectLst>
            <a:glow rad="228600">
              <a:schemeClr val="accent5">
                <a:satMod val="175000"/>
                <a:alpha val="40000"/>
              </a:schemeClr>
            </a:glo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NOT with NAND</a:t>
            </a:r>
            <a:endParaRPr lang="en-US" dirty="0"/>
          </a:p>
        </p:txBody>
      </p:sp>
      <p:sp>
        <p:nvSpPr>
          <p:cNvPr id="16" name="Rectangle 15"/>
          <p:cNvSpPr/>
          <p:nvPr/>
        </p:nvSpPr>
        <p:spPr>
          <a:xfrm>
            <a:off x="5334000" y="3276600"/>
            <a:ext cx="1143000" cy="609600"/>
          </a:xfrm>
          <a:prstGeom prst="rect">
            <a:avLst/>
          </a:prstGeom>
          <a:effectLst>
            <a:glow rad="228600">
              <a:schemeClr val="accent5">
                <a:satMod val="175000"/>
                <a:alpha val="40000"/>
              </a:schemeClr>
            </a:glo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NOT with NOR</a:t>
            </a:r>
            <a:endParaRPr lang="en-US" dirty="0"/>
          </a:p>
        </p:txBody>
      </p:sp>
      <p:sp>
        <p:nvSpPr>
          <p:cNvPr id="18" name="Rectangle 17"/>
          <p:cNvSpPr/>
          <p:nvPr/>
        </p:nvSpPr>
        <p:spPr>
          <a:xfrm>
            <a:off x="6400800" y="3276600"/>
            <a:ext cx="1295400" cy="609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XOR with NAND/NOR </a:t>
            </a:r>
            <a:endParaRPr lang="en-US" dirty="0"/>
          </a:p>
        </p:txBody>
      </p:sp>
    </p:spTree>
    <p:extLst>
      <p:ext uri="{BB962C8B-B14F-4D97-AF65-F5344CB8AC3E}">
        <p14:creationId xmlns:p14="http://schemas.microsoft.com/office/powerpoint/2010/main" val="733256294"/>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smtClean="0"/>
              <a:t>Integrated Circuits</a:t>
            </a:r>
          </a:p>
        </p:txBody>
      </p:sp>
      <p:pic>
        <p:nvPicPr>
          <p:cNvPr id="2150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771650"/>
            <a:ext cx="823277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08" name="Content Placeholder 1"/>
          <p:cNvSpPr>
            <a:spLocks noGrp="1"/>
          </p:cNvSpPr>
          <p:nvPr>
            <p:ph idx="1"/>
          </p:nvPr>
        </p:nvSpPr>
        <p:spPr>
          <a:xfrm>
            <a:off x="-76200" y="1295400"/>
            <a:ext cx="9067800" cy="4572000"/>
          </a:xfrm>
        </p:spPr>
        <p:txBody>
          <a:bodyPr/>
          <a:lstStyle/>
          <a:p>
            <a:r>
              <a:rPr lang="en-US" sz="2000" dirty="0" smtClean="0"/>
              <a:t>Integrated Circuits (IC) consist of gates</a:t>
            </a:r>
          </a:p>
          <a:p>
            <a:endParaRPr lang="en-US" sz="2000" dirty="0"/>
          </a:p>
          <a:p>
            <a:endParaRPr lang="en-US" sz="2000" dirty="0" smtClean="0"/>
          </a:p>
          <a:p>
            <a:endParaRPr lang="en-US" sz="2000" dirty="0"/>
          </a:p>
          <a:p>
            <a:endParaRPr lang="en-US" sz="2000" dirty="0" smtClean="0"/>
          </a:p>
          <a:p>
            <a:endParaRPr lang="en-US" sz="2000" dirty="0"/>
          </a:p>
          <a:p>
            <a:endParaRPr lang="en-US" sz="2000" dirty="0" smtClean="0"/>
          </a:p>
          <a:p>
            <a:endParaRPr lang="en-US" sz="2000" dirty="0"/>
          </a:p>
          <a:p>
            <a:endParaRPr lang="en-US" sz="2000" dirty="0" smtClean="0"/>
          </a:p>
          <a:p>
            <a:r>
              <a:rPr lang="en-US" sz="2000" dirty="0" smtClean="0"/>
              <a:t>Gate is an electronic circuit: The fundamental building blocks of digital systems. </a:t>
            </a:r>
          </a:p>
          <a:p>
            <a:r>
              <a:rPr lang="en-US" sz="2000" dirty="0" smtClean="0"/>
              <a:t>Simple gates are combined to create more complex functions</a:t>
            </a:r>
          </a:p>
        </p:txBody>
      </p:sp>
    </p:spTree>
    <p:extLst>
      <p:ext uri="{BB962C8B-B14F-4D97-AF65-F5344CB8AC3E}">
        <p14:creationId xmlns:p14="http://schemas.microsoft.com/office/powerpoint/2010/main" val="1961255390"/>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2133600" cy="2849562"/>
          </a:xfrm>
        </p:spPr>
        <p:txBody>
          <a:bodyPr/>
          <a:lstStyle/>
          <a:p>
            <a:r>
              <a:rPr lang="en-US" dirty="0" smtClean="0"/>
              <a:t>NAND Gate </a:t>
            </a:r>
            <a:br>
              <a:rPr lang="en-US" dirty="0" smtClean="0"/>
            </a:br>
            <a:r>
              <a:rPr lang="en-US" dirty="0" smtClean="0"/>
              <a:t>using </a:t>
            </a:r>
            <a:br>
              <a:rPr lang="en-US" dirty="0" smtClean="0"/>
            </a:br>
            <a:r>
              <a:rPr lang="en-US" dirty="0" smtClean="0"/>
              <a:t>CMOS</a:t>
            </a:r>
            <a:br>
              <a:rPr lang="en-US" dirty="0" smtClean="0"/>
            </a:br>
            <a:r>
              <a:rPr lang="en-US" sz="2000" dirty="0" smtClean="0"/>
              <a:t>(lower level)</a:t>
            </a:r>
            <a:endParaRPr lang="en-US" sz="2000" dirty="0"/>
          </a:p>
        </p:txBody>
      </p:sp>
      <p:sp>
        <p:nvSpPr>
          <p:cNvPr id="4" name="Rectangle 3"/>
          <p:cNvSpPr/>
          <p:nvPr/>
        </p:nvSpPr>
        <p:spPr>
          <a:xfrm>
            <a:off x="2133600" y="6428601"/>
            <a:ext cx="5334000" cy="276999"/>
          </a:xfrm>
          <a:prstGeom prst="rect">
            <a:avLst/>
          </a:prstGeom>
        </p:spPr>
        <p:txBody>
          <a:bodyPr wrap="square">
            <a:spAutoFit/>
          </a:bodyPr>
          <a:lstStyle/>
          <a:p>
            <a:r>
              <a:rPr lang="en-US" baseline="30000" dirty="0"/>
              <a:t>Figure 2.16: Schematic diagram of a CMOS, 4-input NAND gate. </a:t>
            </a:r>
            <a:r>
              <a:rPr lang="en-US" i="1" baseline="30000" dirty="0"/>
              <a:t>From Fairchild.4</a:t>
            </a:r>
            <a:endParaRPr lang="en-US" dirty="0"/>
          </a:p>
        </p:txBody>
      </p:sp>
      <p:pic>
        <p:nvPicPr>
          <p:cNvPr id="7" name="Picture 6" descr="Screen Shot 2016-04-05 at 5.08.15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8200" y="0"/>
            <a:ext cx="6121400" cy="6273800"/>
          </a:xfrm>
          <a:prstGeom prst="rect">
            <a:avLst/>
          </a:prstGeom>
        </p:spPr>
      </p:pic>
    </p:spTree>
    <p:extLst>
      <p:ext uri="{BB962C8B-B14F-4D97-AF65-F5344CB8AC3E}">
        <p14:creationId xmlns:p14="http://schemas.microsoft.com/office/powerpoint/2010/main" val="3491408586"/>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dirty="0" smtClean="0"/>
              <a:t>NAND gate</a:t>
            </a:r>
            <a:br>
              <a:rPr lang="en-US" dirty="0" smtClean="0"/>
            </a:br>
            <a:r>
              <a:rPr lang="en-US" sz="2000" dirty="0" smtClean="0"/>
              <a:t>(higher level)</a:t>
            </a:r>
          </a:p>
        </p:txBody>
      </p:sp>
      <p:sp>
        <p:nvSpPr>
          <p:cNvPr id="49156" name="Rectangle 4"/>
          <p:cNvSpPr>
            <a:spLocks noChangeArrowheads="1"/>
          </p:cNvSpPr>
          <p:nvPr/>
        </p:nvSpPr>
        <p:spPr bwMode="auto">
          <a:xfrm>
            <a:off x="1422400" y="4051300"/>
            <a:ext cx="2819400" cy="19367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sz="1400" b="1"/>
          </a:p>
        </p:txBody>
      </p:sp>
      <p:sp>
        <p:nvSpPr>
          <p:cNvPr id="49157" name="Line 6"/>
          <p:cNvSpPr>
            <a:spLocks noChangeShapeType="1"/>
          </p:cNvSpPr>
          <p:nvPr/>
        </p:nvSpPr>
        <p:spPr bwMode="auto">
          <a:xfrm>
            <a:off x="1676400" y="400685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58" name="Line 7"/>
          <p:cNvSpPr>
            <a:spLocks noChangeShapeType="1"/>
          </p:cNvSpPr>
          <p:nvPr/>
        </p:nvSpPr>
        <p:spPr bwMode="auto">
          <a:xfrm>
            <a:off x="2019300" y="400685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59" name="Line 8"/>
          <p:cNvSpPr>
            <a:spLocks noChangeShapeType="1"/>
          </p:cNvSpPr>
          <p:nvPr/>
        </p:nvSpPr>
        <p:spPr bwMode="auto">
          <a:xfrm>
            <a:off x="2400300" y="400050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60" name="Line 9"/>
          <p:cNvSpPr>
            <a:spLocks noChangeShapeType="1"/>
          </p:cNvSpPr>
          <p:nvPr/>
        </p:nvSpPr>
        <p:spPr bwMode="auto">
          <a:xfrm>
            <a:off x="2762250" y="400685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61" name="Line 10"/>
          <p:cNvSpPr>
            <a:spLocks noChangeShapeType="1"/>
          </p:cNvSpPr>
          <p:nvPr/>
        </p:nvSpPr>
        <p:spPr bwMode="auto">
          <a:xfrm>
            <a:off x="3143250" y="400685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62" name="Line 11"/>
          <p:cNvSpPr>
            <a:spLocks noChangeShapeType="1"/>
          </p:cNvSpPr>
          <p:nvPr/>
        </p:nvSpPr>
        <p:spPr bwMode="auto">
          <a:xfrm>
            <a:off x="3486150" y="400685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63" name="Line 12"/>
          <p:cNvSpPr>
            <a:spLocks noChangeShapeType="1"/>
          </p:cNvSpPr>
          <p:nvPr/>
        </p:nvSpPr>
        <p:spPr bwMode="auto">
          <a:xfrm>
            <a:off x="3867150" y="400685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64" name="Line 15"/>
          <p:cNvSpPr>
            <a:spLocks noChangeShapeType="1"/>
          </p:cNvSpPr>
          <p:nvPr/>
        </p:nvSpPr>
        <p:spPr bwMode="auto">
          <a:xfrm>
            <a:off x="1625600" y="603250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65" name="Line 16"/>
          <p:cNvSpPr>
            <a:spLocks noChangeShapeType="1"/>
          </p:cNvSpPr>
          <p:nvPr/>
        </p:nvSpPr>
        <p:spPr bwMode="auto">
          <a:xfrm>
            <a:off x="1968500" y="603250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66" name="Line 17"/>
          <p:cNvSpPr>
            <a:spLocks noChangeShapeType="1"/>
          </p:cNvSpPr>
          <p:nvPr/>
        </p:nvSpPr>
        <p:spPr bwMode="auto">
          <a:xfrm>
            <a:off x="2349500" y="602615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67" name="Line 18"/>
          <p:cNvSpPr>
            <a:spLocks noChangeShapeType="1"/>
          </p:cNvSpPr>
          <p:nvPr/>
        </p:nvSpPr>
        <p:spPr bwMode="auto">
          <a:xfrm>
            <a:off x="2711450" y="603250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68" name="Line 19"/>
          <p:cNvSpPr>
            <a:spLocks noChangeShapeType="1"/>
          </p:cNvSpPr>
          <p:nvPr/>
        </p:nvSpPr>
        <p:spPr bwMode="auto">
          <a:xfrm>
            <a:off x="3092450" y="603250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69" name="Line 20"/>
          <p:cNvSpPr>
            <a:spLocks noChangeShapeType="1"/>
          </p:cNvSpPr>
          <p:nvPr/>
        </p:nvSpPr>
        <p:spPr bwMode="auto">
          <a:xfrm>
            <a:off x="3435350" y="603250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70" name="Line 21"/>
          <p:cNvSpPr>
            <a:spLocks noChangeShapeType="1"/>
          </p:cNvSpPr>
          <p:nvPr/>
        </p:nvSpPr>
        <p:spPr bwMode="auto">
          <a:xfrm>
            <a:off x="3816350" y="6032500"/>
            <a:ext cx="2667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9171" name="AutoShape 24"/>
          <p:cNvSpPr>
            <a:spLocks noChangeArrowheads="1"/>
          </p:cNvSpPr>
          <p:nvPr/>
        </p:nvSpPr>
        <p:spPr bwMode="auto">
          <a:xfrm flipH="1">
            <a:off x="2738438" y="5237163"/>
            <a:ext cx="419100" cy="381000"/>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400" b="1"/>
          </a:p>
        </p:txBody>
      </p:sp>
      <p:sp>
        <p:nvSpPr>
          <p:cNvPr id="49172" name="AutoShape 25"/>
          <p:cNvSpPr>
            <a:spLocks noChangeArrowheads="1"/>
          </p:cNvSpPr>
          <p:nvPr/>
        </p:nvSpPr>
        <p:spPr bwMode="auto">
          <a:xfrm flipH="1">
            <a:off x="3049588" y="4424363"/>
            <a:ext cx="419100" cy="381000"/>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400" b="1"/>
          </a:p>
        </p:txBody>
      </p:sp>
      <p:sp>
        <p:nvSpPr>
          <p:cNvPr id="49173" name="Freeform 27"/>
          <p:cNvSpPr>
            <a:spLocks/>
          </p:cNvSpPr>
          <p:nvPr/>
        </p:nvSpPr>
        <p:spPr bwMode="auto">
          <a:xfrm>
            <a:off x="3454400" y="4013200"/>
            <a:ext cx="546100" cy="685800"/>
          </a:xfrm>
          <a:custGeom>
            <a:avLst/>
            <a:gdLst>
              <a:gd name="T0" fmla="*/ 2147483647 w 344"/>
              <a:gd name="T1" fmla="*/ 0 h 432"/>
              <a:gd name="T2" fmla="*/ 2147483647 w 344"/>
              <a:gd name="T3" fmla="*/ 2147483647 h 432"/>
              <a:gd name="T4" fmla="*/ 0 w 344"/>
              <a:gd name="T5" fmla="*/ 2147483647 h 432"/>
              <a:gd name="T6" fmla="*/ 0 60000 65536"/>
              <a:gd name="T7" fmla="*/ 0 60000 65536"/>
              <a:gd name="T8" fmla="*/ 0 60000 65536"/>
              <a:gd name="T9" fmla="*/ 0 w 344"/>
              <a:gd name="T10" fmla="*/ 0 h 432"/>
              <a:gd name="T11" fmla="*/ 344 w 344"/>
              <a:gd name="T12" fmla="*/ 432 h 432"/>
            </a:gdLst>
            <a:ahLst/>
            <a:cxnLst>
              <a:cxn ang="T6">
                <a:pos x="T0" y="T1"/>
              </a:cxn>
              <a:cxn ang="T7">
                <a:pos x="T2" y="T3"/>
              </a:cxn>
              <a:cxn ang="T8">
                <a:pos x="T4" y="T5"/>
              </a:cxn>
            </a:cxnLst>
            <a:rect l="T9" t="T10" r="T11" b="T12"/>
            <a:pathLst>
              <a:path w="344" h="432">
                <a:moveTo>
                  <a:pt x="344" y="0"/>
                </a:moveTo>
                <a:lnTo>
                  <a:pt x="344" y="432"/>
                </a:lnTo>
                <a:lnTo>
                  <a:pt x="0" y="43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9174" name="Freeform 28"/>
          <p:cNvSpPr>
            <a:spLocks/>
          </p:cNvSpPr>
          <p:nvPr/>
        </p:nvSpPr>
        <p:spPr bwMode="auto">
          <a:xfrm>
            <a:off x="3467100" y="4013200"/>
            <a:ext cx="127000" cy="495300"/>
          </a:xfrm>
          <a:custGeom>
            <a:avLst/>
            <a:gdLst>
              <a:gd name="T0" fmla="*/ 2147483647 w 80"/>
              <a:gd name="T1" fmla="*/ 0 h 312"/>
              <a:gd name="T2" fmla="*/ 2147483647 w 80"/>
              <a:gd name="T3" fmla="*/ 2147483647 h 312"/>
              <a:gd name="T4" fmla="*/ 0 w 80"/>
              <a:gd name="T5" fmla="*/ 2147483647 h 312"/>
              <a:gd name="T6" fmla="*/ 0 60000 65536"/>
              <a:gd name="T7" fmla="*/ 0 60000 65536"/>
              <a:gd name="T8" fmla="*/ 0 60000 65536"/>
              <a:gd name="T9" fmla="*/ 0 w 80"/>
              <a:gd name="T10" fmla="*/ 0 h 312"/>
              <a:gd name="T11" fmla="*/ 80 w 80"/>
              <a:gd name="T12" fmla="*/ 312 h 312"/>
            </a:gdLst>
            <a:ahLst/>
            <a:cxnLst>
              <a:cxn ang="T6">
                <a:pos x="T0" y="T1"/>
              </a:cxn>
              <a:cxn ang="T7">
                <a:pos x="T2" y="T3"/>
              </a:cxn>
              <a:cxn ang="T8">
                <a:pos x="T4" y="T5"/>
              </a:cxn>
            </a:cxnLst>
            <a:rect l="T9" t="T10" r="T11" b="T12"/>
            <a:pathLst>
              <a:path w="80" h="312">
                <a:moveTo>
                  <a:pt x="80" y="0"/>
                </a:moveTo>
                <a:lnTo>
                  <a:pt x="80" y="312"/>
                </a:lnTo>
                <a:lnTo>
                  <a:pt x="0" y="31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9175" name="Freeform 29"/>
          <p:cNvSpPr>
            <a:spLocks/>
          </p:cNvSpPr>
          <p:nvPr/>
        </p:nvSpPr>
        <p:spPr bwMode="auto">
          <a:xfrm>
            <a:off x="2940050" y="4013200"/>
            <a:ext cx="323850" cy="609600"/>
          </a:xfrm>
          <a:custGeom>
            <a:avLst/>
            <a:gdLst>
              <a:gd name="T0" fmla="*/ 2147483647 w 204"/>
              <a:gd name="T1" fmla="*/ 0 h 384"/>
              <a:gd name="T2" fmla="*/ 2147483647 w 204"/>
              <a:gd name="T3" fmla="*/ 2147483647 h 384"/>
              <a:gd name="T4" fmla="*/ 0 w 204"/>
              <a:gd name="T5" fmla="*/ 2147483647 h 384"/>
              <a:gd name="T6" fmla="*/ 0 w 204"/>
              <a:gd name="T7" fmla="*/ 2147483647 h 384"/>
              <a:gd name="T8" fmla="*/ 2147483647 w 204"/>
              <a:gd name="T9" fmla="*/ 2147483647 h 384"/>
              <a:gd name="T10" fmla="*/ 0 60000 65536"/>
              <a:gd name="T11" fmla="*/ 0 60000 65536"/>
              <a:gd name="T12" fmla="*/ 0 60000 65536"/>
              <a:gd name="T13" fmla="*/ 0 60000 65536"/>
              <a:gd name="T14" fmla="*/ 0 60000 65536"/>
              <a:gd name="T15" fmla="*/ 0 w 204"/>
              <a:gd name="T16" fmla="*/ 0 h 384"/>
              <a:gd name="T17" fmla="*/ 204 w 204"/>
              <a:gd name="T18" fmla="*/ 384 h 384"/>
            </a:gdLst>
            <a:ahLst/>
            <a:cxnLst>
              <a:cxn ang="T10">
                <a:pos x="T0" y="T1"/>
              </a:cxn>
              <a:cxn ang="T11">
                <a:pos x="T2" y="T3"/>
              </a:cxn>
              <a:cxn ang="T12">
                <a:pos x="T4" y="T5"/>
              </a:cxn>
              <a:cxn ang="T13">
                <a:pos x="T6" y="T7"/>
              </a:cxn>
              <a:cxn ang="T14">
                <a:pos x="T8" y="T9"/>
              </a:cxn>
            </a:cxnLst>
            <a:rect l="T15" t="T16" r="T17" b="T18"/>
            <a:pathLst>
              <a:path w="204" h="384">
                <a:moveTo>
                  <a:pt x="204" y="0"/>
                </a:moveTo>
                <a:lnTo>
                  <a:pt x="204" y="180"/>
                </a:lnTo>
                <a:lnTo>
                  <a:pt x="0" y="180"/>
                </a:lnTo>
                <a:lnTo>
                  <a:pt x="0" y="384"/>
                </a:lnTo>
                <a:lnTo>
                  <a:pt x="68" y="38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9176" name="Freeform 30"/>
          <p:cNvSpPr>
            <a:spLocks/>
          </p:cNvSpPr>
          <p:nvPr/>
        </p:nvSpPr>
        <p:spPr bwMode="auto">
          <a:xfrm>
            <a:off x="3155950" y="5334000"/>
            <a:ext cx="488950" cy="666750"/>
          </a:xfrm>
          <a:custGeom>
            <a:avLst/>
            <a:gdLst>
              <a:gd name="T0" fmla="*/ 2147483647 w 308"/>
              <a:gd name="T1" fmla="*/ 2147483647 h 420"/>
              <a:gd name="T2" fmla="*/ 2147483647 w 308"/>
              <a:gd name="T3" fmla="*/ 0 h 420"/>
              <a:gd name="T4" fmla="*/ 0 w 308"/>
              <a:gd name="T5" fmla="*/ 0 h 420"/>
              <a:gd name="T6" fmla="*/ 0 60000 65536"/>
              <a:gd name="T7" fmla="*/ 0 60000 65536"/>
              <a:gd name="T8" fmla="*/ 0 60000 65536"/>
              <a:gd name="T9" fmla="*/ 0 w 308"/>
              <a:gd name="T10" fmla="*/ 0 h 420"/>
              <a:gd name="T11" fmla="*/ 308 w 308"/>
              <a:gd name="T12" fmla="*/ 420 h 420"/>
            </a:gdLst>
            <a:ahLst/>
            <a:cxnLst>
              <a:cxn ang="T6">
                <a:pos x="T0" y="T1"/>
              </a:cxn>
              <a:cxn ang="T7">
                <a:pos x="T2" y="T3"/>
              </a:cxn>
              <a:cxn ang="T8">
                <a:pos x="T4" y="T5"/>
              </a:cxn>
            </a:cxnLst>
            <a:rect l="T9" t="T10" r="T11" b="T12"/>
            <a:pathLst>
              <a:path w="308" h="420">
                <a:moveTo>
                  <a:pt x="308" y="420"/>
                </a:moveTo>
                <a:lnTo>
                  <a:pt x="308" y="0"/>
                </a:lnTo>
                <a:lnTo>
                  <a:pt x="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9177" name="Freeform 31"/>
          <p:cNvSpPr>
            <a:spLocks/>
          </p:cNvSpPr>
          <p:nvPr/>
        </p:nvSpPr>
        <p:spPr bwMode="auto">
          <a:xfrm>
            <a:off x="3155950" y="5530850"/>
            <a:ext cx="127000" cy="469900"/>
          </a:xfrm>
          <a:custGeom>
            <a:avLst/>
            <a:gdLst>
              <a:gd name="T0" fmla="*/ 2147483647 w 80"/>
              <a:gd name="T1" fmla="*/ 2147483647 h 296"/>
              <a:gd name="T2" fmla="*/ 2147483647 w 80"/>
              <a:gd name="T3" fmla="*/ 2147483647 h 296"/>
              <a:gd name="T4" fmla="*/ 0 w 80"/>
              <a:gd name="T5" fmla="*/ 0 h 296"/>
              <a:gd name="T6" fmla="*/ 0 60000 65536"/>
              <a:gd name="T7" fmla="*/ 0 60000 65536"/>
              <a:gd name="T8" fmla="*/ 0 60000 65536"/>
              <a:gd name="T9" fmla="*/ 0 w 80"/>
              <a:gd name="T10" fmla="*/ 0 h 296"/>
              <a:gd name="T11" fmla="*/ 80 w 80"/>
              <a:gd name="T12" fmla="*/ 296 h 296"/>
            </a:gdLst>
            <a:ahLst/>
            <a:cxnLst>
              <a:cxn ang="T6">
                <a:pos x="T0" y="T1"/>
              </a:cxn>
              <a:cxn ang="T7">
                <a:pos x="T2" y="T3"/>
              </a:cxn>
              <a:cxn ang="T8">
                <a:pos x="T4" y="T5"/>
              </a:cxn>
            </a:cxnLst>
            <a:rect l="T9" t="T10" r="T11" b="T12"/>
            <a:pathLst>
              <a:path w="80" h="296">
                <a:moveTo>
                  <a:pt x="80" y="296"/>
                </a:moveTo>
                <a:lnTo>
                  <a:pt x="80" y="4"/>
                </a:lnTo>
                <a:lnTo>
                  <a:pt x="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9178" name="Freeform 32"/>
          <p:cNvSpPr>
            <a:spLocks/>
          </p:cNvSpPr>
          <p:nvPr/>
        </p:nvSpPr>
        <p:spPr bwMode="auto">
          <a:xfrm>
            <a:off x="2597150" y="5435600"/>
            <a:ext cx="266700" cy="539750"/>
          </a:xfrm>
          <a:custGeom>
            <a:avLst/>
            <a:gdLst>
              <a:gd name="T0" fmla="*/ 2147483647 w 192"/>
              <a:gd name="T1" fmla="*/ 0 h 360"/>
              <a:gd name="T2" fmla="*/ 0 w 192"/>
              <a:gd name="T3" fmla="*/ 0 h 360"/>
              <a:gd name="T4" fmla="*/ 0 w 192"/>
              <a:gd name="T5" fmla="*/ 2147483647 h 360"/>
              <a:gd name="T6" fmla="*/ 2147483647 w 192"/>
              <a:gd name="T7" fmla="*/ 2147483647 h 360"/>
              <a:gd name="T8" fmla="*/ 2147483647 w 192"/>
              <a:gd name="T9" fmla="*/ 2147483647 h 360"/>
              <a:gd name="T10" fmla="*/ 0 60000 65536"/>
              <a:gd name="T11" fmla="*/ 0 60000 65536"/>
              <a:gd name="T12" fmla="*/ 0 60000 65536"/>
              <a:gd name="T13" fmla="*/ 0 60000 65536"/>
              <a:gd name="T14" fmla="*/ 0 60000 65536"/>
              <a:gd name="T15" fmla="*/ 0 w 192"/>
              <a:gd name="T16" fmla="*/ 0 h 360"/>
              <a:gd name="T17" fmla="*/ 192 w 192"/>
              <a:gd name="T18" fmla="*/ 360 h 360"/>
            </a:gdLst>
            <a:ahLst/>
            <a:cxnLst>
              <a:cxn ang="T10">
                <a:pos x="T0" y="T1"/>
              </a:cxn>
              <a:cxn ang="T11">
                <a:pos x="T2" y="T3"/>
              </a:cxn>
              <a:cxn ang="T12">
                <a:pos x="T4" y="T5"/>
              </a:cxn>
              <a:cxn ang="T13">
                <a:pos x="T6" y="T7"/>
              </a:cxn>
              <a:cxn ang="T14">
                <a:pos x="T8" y="T9"/>
              </a:cxn>
            </a:cxnLst>
            <a:rect l="T15" t="T16" r="T17" b="T18"/>
            <a:pathLst>
              <a:path w="192" h="360">
                <a:moveTo>
                  <a:pt x="96" y="0"/>
                </a:moveTo>
                <a:lnTo>
                  <a:pt x="0" y="0"/>
                </a:lnTo>
                <a:lnTo>
                  <a:pt x="0" y="140"/>
                </a:lnTo>
                <a:lnTo>
                  <a:pt x="192" y="140"/>
                </a:lnTo>
                <a:lnTo>
                  <a:pt x="192" y="36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en-US"/>
          </a:p>
        </p:txBody>
      </p:sp>
      <p:sp>
        <p:nvSpPr>
          <p:cNvPr id="49179" name="AutoShape 33"/>
          <p:cNvSpPr>
            <a:spLocks noChangeArrowheads="1"/>
          </p:cNvSpPr>
          <p:nvPr/>
        </p:nvSpPr>
        <p:spPr bwMode="auto">
          <a:xfrm flipH="1">
            <a:off x="1912938" y="4468813"/>
            <a:ext cx="419100" cy="381000"/>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400" b="1"/>
          </a:p>
        </p:txBody>
      </p:sp>
      <p:sp>
        <p:nvSpPr>
          <p:cNvPr id="49180" name="Freeform 34"/>
          <p:cNvSpPr>
            <a:spLocks/>
          </p:cNvSpPr>
          <p:nvPr/>
        </p:nvSpPr>
        <p:spPr bwMode="auto">
          <a:xfrm>
            <a:off x="2317750" y="4057650"/>
            <a:ext cx="546100" cy="685800"/>
          </a:xfrm>
          <a:custGeom>
            <a:avLst/>
            <a:gdLst>
              <a:gd name="T0" fmla="*/ 2147483647 w 344"/>
              <a:gd name="T1" fmla="*/ 0 h 432"/>
              <a:gd name="T2" fmla="*/ 2147483647 w 344"/>
              <a:gd name="T3" fmla="*/ 2147483647 h 432"/>
              <a:gd name="T4" fmla="*/ 0 w 344"/>
              <a:gd name="T5" fmla="*/ 2147483647 h 432"/>
              <a:gd name="T6" fmla="*/ 0 60000 65536"/>
              <a:gd name="T7" fmla="*/ 0 60000 65536"/>
              <a:gd name="T8" fmla="*/ 0 60000 65536"/>
              <a:gd name="T9" fmla="*/ 0 w 344"/>
              <a:gd name="T10" fmla="*/ 0 h 432"/>
              <a:gd name="T11" fmla="*/ 344 w 344"/>
              <a:gd name="T12" fmla="*/ 432 h 432"/>
            </a:gdLst>
            <a:ahLst/>
            <a:cxnLst>
              <a:cxn ang="T6">
                <a:pos x="T0" y="T1"/>
              </a:cxn>
              <a:cxn ang="T7">
                <a:pos x="T2" y="T3"/>
              </a:cxn>
              <a:cxn ang="T8">
                <a:pos x="T4" y="T5"/>
              </a:cxn>
            </a:cxnLst>
            <a:rect l="T9" t="T10" r="T11" b="T12"/>
            <a:pathLst>
              <a:path w="344" h="432">
                <a:moveTo>
                  <a:pt x="344" y="0"/>
                </a:moveTo>
                <a:lnTo>
                  <a:pt x="344" y="432"/>
                </a:lnTo>
                <a:lnTo>
                  <a:pt x="0" y="43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9181" name="Freeform 35"/>
          <p:cNvSpPr>
            <a:spLocks/>
          </p:cNvSpPr>
          <p:nvPr/>
        </p:nvSpPr>
        <p:spPr bwMode="auto">
          <a:xfrm>
            <a:off x="2330450" y="4057650"/>
            <a:ext cx="127000" cy="495300"/>
          </a:xfrm>
          <a:custGeom>
            <a:avLst/>
            <a:gdLst>
              <a:gd name="T0" fmla="*/ 2147483647 w 80"/>
              <a:gd name="T1" fmla="*/ 0 h 312"/>
              <a:gd name="T2" fmla="*/ 2147483647 w 80"/>
              <a:gd name="T3" fmla="*/ 2147483647 h 312"/>
              <a:gd name="T4" fmla="*/ 0 w 80"/>
              <a:gd name="T5" fmla="*/ 2147483647 h 312"/>
              <a:gd name="T6" fmla="*/ 0 60000 65536"/>
              <a:gd name="T7" fmla="*/ 0 60000 65536"/>
              <a:gd name="T8" fmla="*/ 0 60000 65536"/>
              <a:gd name="T9" fmla="*/ 0 w 80"/>
              <a:gd name="T10" fmla="*/ 0 h 312"/>
              <a:gd name="T11" fmla="*/ 80 w 80"/>
              <a:gd name="T12" fmla="*/ 312 h 312"/>
            </a:gdLst>
            <a:ahLst/>
            <a:cxnLst>
              <a:cxn ang="T6">
                <a:pos x="T0" y="T1"/>
              </a:cxn>
              <a:cxn ang="T7">
                <a:pos x="T2" y="T3"/>
              </a:cxn>
              <a:cxn ang="T8">
                <a:pos x="T4" y="T5"/>
              </a:cxn>
            </a:cxnLst>
            <a:rect l="T9" t="T10" r="T11" b="T12"/>
            <a:pathLst>
              <a:path w="80" h="312">
                <a:moveTo>
                  <a:pt x="80" y="0"/>
                </a:moveTo>
                <a:lnTo>
                  <a:pt x="80" y="312"/>
                </a:lnTo>
                <a:lnTo>
                  <a:pt x="0" y="31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9182" name="Freeform 36"/>
          <p:cNvSpPr>
            <a:spLocks/>
          </p:cNvSpPr>
          <p:nvPr/>
        </p:nvSpPr>
        <p:spPr bwMode="auto">
          <a:xfrm>
            <a:off x="1803400" y="4057650"/>
            <a:ext cx="323850" cy="609600"/>
          </a:xfrm>
          <a:custGeom>
            <a:avLst/>
            <a:gdLst>
              <a:gd name="T0" fmla="*/ 2147483647 w 204"/>
              <a:gd name="T1" fmla="*/ 0 h 384"/>
              <a:gd name="T2" fmla="*/ 2147483647 w 204"/>
              <a:gd name="T3" fmla="*/ 2147483647 h 384"/>
              <a:gd name="T4" fmla="*/ 0 w 204"/>
              <a:gd name="T5" fmla="*/ 2147483647 h 384"/>
              <a:gd name="T6" fmla="*/ 0 w 204"/>
              <a:gd name="T7" fmla="*/ 2147483647 h 384"/>
              <a:gd name="T8" fmla="*/ 2147483647 w 204"/>
              <a:gd name="T9" fmla="*/ 2147483647 h 384"/>
              <a:gd name="T10" fmla="*/ 0 60000 65536"/>
              <a:gd name="T11" fmla="*/ 0 60000 65536"/>
              <a:gd name="T12" fmla="*/ 0 60000 65536"/>
              <a:gd name="T13" fmla="*/ 0 60000 65536"/>
              <a:gd name="T14" fmla="*/ 0 60000 65536"/>
              <a:gd name="T15" fmla="*/ 0 w 204"/>
              <a:gd name="T16" fmla="*/ 0 h 384"/>
              <a:gd name="T17" fmla="*/ 204 w 204"/>
              <a:gd name="T18" fmla="*/ 384 h 384"/>
            </a:gdLst>
            <a:ahLst/>
            <a:cxnLst>
              <a:cxn ang="T10">
                <a:pos x="T0" y="T1"/>
              </a:cxn>
              <a:cxn ang="T11">
                <a:pos x="T2" y="T3"/>
              </a:cxn>
              <a:cxn ang="T12">
                <a:pos x="T4" y="T5"/>
              </a:cxn>
              <a:cxn ang="T13">
                <a:pos x="T6" y="T7"/>
              </a:cxn>
              <a:cxn ang="T14">
                <a:pos x="T8" y="T9"/>
              </a:cxn>
            </a:cxnLst>
            <a:rect l="T15" t="T16" r="T17" b="T18"/>
            <a:pathLst>
              <a:path w="204" h="384">
                <a:moveTo>
                  <a:pt x="204" y="0"/>
                </a:moveTo>
                <a:lnTo>
                  <a:pt x="204" y="180"/>
                </a:lnTo>
                <a:lnTo>
                  <a:pt x="0" y="180"/>
                </a:lnTo>
                <a:lnTo>
                  <a:pt x="0" y="384"/>
                </a:lnTo>
                <a:lnTo>
                  <a:pt x="68" y="38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9183" name="AutoShape 37"/>
          <p:cNvSpPr>
            <a:spLocks noChangeArrowheads="1"/>
          </p:cNvSpPr>
          <p:nvPr/>
        </p:nvSpPr>
        <p:spPr bwMode="auto">
          <a:xfrm flipH="1">
            <a:off x="1627188" y="5205413"/>
            <a:ext cx="419100" cy="381000"/>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400" b="1"/>
          </a:p>
        </p:txBody>
      </p:sp>
      <p:sp>
        <p:nvSpPr>
          <p:cNvPr id="49184" name="Freeform 38"/>
          <p:cNvSpPr>
            <a:spLocks/>
          </p:cNvSpPr>
          <p:nvPr/>
        </p:nvSpPr>
        <p:spPr bwMode="auto">
          <a:xfrm>
            <a:off x="2044700" y="5302250"/>
            <a:ext cx="488950" cy="666750"/>
          </a:xfrm>
          <a:custGeom>
            <a:avLst/>
            <a:gdLst>
              <a:gd name="T0" fmla="*/ 2147483647 w 308"/>
              <a:gd name="T1" fmla="*/ 2147483647 h 420"/>
              <a:gd name="T2" fmla="*/ 2147483647 w 308"/>
              <a:gd name="T3" fmla="*/ 0 h 420"/>
              <a:gd name="T4" fmla="*/ 0 w 308"/>
              <a:gd name="T5" fmla="*/ 0 h 420"/>
              <a:gd name="T6" fmla="*/ 0 60000 65536"/>
              <a:gd name="T7" fmla="*/ 0 60000 65536"/>
              <a:gd name="T8" fmla="*/ 0 60000 65536"/>
              <a:gd name="T9" fmla="*/ 0 w 308"/>
              <a:gd name="T10" fmla="*/ 0 h 420"/>
              <a:gd name="T11" fmla="*/ 308 w 308"/>
              <a:gd name="T12" fmla="*/ 420 h 420"/>
            </a:gdLst>
            <a:ahLst/>
            <a:cxnLst>
              <a:cxn ang="T6">
                <a:pos x="T0" y="T1"/>
              </a:cxn>
              <a:cxn ang="T7">
                <a:pos x="T2" y="T3"/>
              </a:cxn>
              <a:cxn ang="T8">
                <a:pos x="T4" y="T5"/>
              </a:cxn>
            </a:cxnLst>
            <a:rect l="T9" t="T10" r="T11" b="T12"/>
            <a:pathLst>
              <a:path w="308" h="420">
                <a:moveTo>
                  <a:pt x="308" y="420"/>
                </a:moveTo>
                <a:lnTo>
                  <a:pt x="308" y="0"/>
                </a:lnTo>
                <a:lnTo>
                  <a:pt x="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9185" name="Freeform 39"/>
          <p:cNvSpPr>
            <a:spLocks/>
          </p:cNvSpPr>
          <p:nvPr/>
        </p:nvSpPr>
        <p:spPr bwMode="auto">
          <a:xfrm>
            <a:off x="2044700" y="5499100"/>
            <a:ext cx="127000" cy="469900"/>
          </a:xfrm>
          <a:custGeom>
            <a:avLst/>
            <a:gdLst>
              <a:gd name="T0" fmla="*/ 2147483647 w 80"/>
              <a:gd name="T1" fmla="*/ 2147483647 h 296"/>
              <a:gd name="T2" fmla="*/ 2147483647 w 80"/>
              <a:gd name="T3" fmla="*/ 2147483647 h 296"/>
              <a:gd name="T4" fmla="*/ 0 w 80"/>
              <a:gd name="T5" fmla="*/ 0 h 296"/>
              <a:gd name="T6" fmla="*/ 0 60000 65536"/>
              <a:gd name="T7" fmla="*/ 0 60000 65536"/>
              <a:gd name="T8" fmla="*/ 0 60000 65536"/>
              <a:gd name="T9" fmla="*/ 0 w 80"/>
              <a:gd name="T10" fmla="*/ 0 h 296"/>
              <a:gd name="T11" fmla="*/ 80 w 80"/>
              <a:gd name="T12" fmla="*/ 296 h 296"/>
            </a:gdLst>
            <a:ahLst/>
            <a:cxnLst>
              <a:cxn ang="T6">
                <a:pos x="T0" y="T1"/>
              </a:cxn>
              <a:cxn ang="T7">
                <a:pos x="T2" y="T3"/>
              </a:cxn>
              <a:cxn ang="T8">
                <a:pos x="T4" y="T5"/>
              </a:cxn>
            </a:cxnLst>
            <a:rect l="T9" t="T10" r="T11" b="T12"/>
            <a:pathLst>
              <a:path w="80" h="296">
                <a:moveTo>
                  <a:pt x="80" y="296"/>
                </a:moveTo>
                <a:lnTo>
                  <a:pt x="80" y="4"/>
                </a:lnTo>
                <a:lnTo>
                  <a:pt x="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9186" name="Freeform 40"/>
          <p:cNvSpPr>
            <a:spLocks/>
          </p:cNvSpPr>
          <p:nvPr/>
        </p:nvSpPr>
        <p:spPr bwMode="auto">
          <a:xfrm>
            <a:off x="1485900" y="5403850"/>
            <a:ext cx="273050" cy="596900"/>
          </a:xfrm>
          <a:custGeom>
            <a:avLst/>
            <a:gdLst>
              <a:gd name="T0" fmla="*/ 2147483647 w 192"/>
              <a:gd name="T1" fmla="*/ 0 h 360"/>
              <a:gd name="T2" fmla="*/ 0 w 192"/>
              <a:gd name="T3" fmla="*/ 0 h 360"/>
              <a:gd name="T4" fmla="*/ 0 w 192"/>
              <a:gd name="T5" fmla="*/ 2147483647 h 360"/>
              <a:gd name="T6" fmla="*/ 2147483647 w 192"/>
              <a:gd name="T7" fmla="*/ 2147483647 h 360"/>
              <a:gd name="T8" fmla="*/ 2147483647 w 192"/>
              <a:gd name="T9" fmla="*/ 2147483647 h 360"/>
              <a:gd name="T10" fmla="*/ 0 60000 65536"/>
              <a:gd name="T11" fmla="*/ 0 60000 65536"/>
              <a:gd name="T12" fmla="*/ 0 60000 65536"/>
              <a:gd name="T13" fmla="*/ 0 60000 65536"/>
              <a:gd name="T14" fmla="*/ 0 60000 65536"/>
              <a:gd name="T15" fmla="*/ 0 w 192"/>
              <a:gd name="T16" fmla="*/ 0 h 360"/>
              <a:gd name="T17" fmla="*/ 192 w 192"/>
              <a:gd name="T18" fmla="*/ 360 h 360"/>
            </a:gdLst>
            <a:ahLst/>
            <a:cxnLst>
              <a:cxn ang="T10">
                <a:pos x="T0" y="T1"/>
              </a:cxn>
              <a:cxn ang="T11">
                <a:pos x="T2" y="T3"/>
              </a:cxn>
              <a:cxn ang="T12">
                <a:pos x="T4" y="T5"/>
              </a:cxn>
              <a:cxn ang="T13">
                <a:pos x="T6" y="T7"/>
              </a:cxn>
              <a:cxn ang="T14">
                <a:pos x="T8" y="T9"/>
              </a:cxn>
            </a:cxnLst>
            <a:rect l="T15" t="T16" r="T17" b="T18"/>
            <a:pathLst>
              <a:path w="192" h="360">
                <a:moveTo>
                  <a:pt x="96" y="0"/>
                </a:moveTo>
                <a:lnTo>
                  <a:pt x="0" y="0"/>
                </a:lnTo>
                <a:lnTo>
                  <a:pt x="0" y="140"/>
                </a:lnTo>
                <a:lnTo>
                  <a:pt x="192" y="140"/>
                </a:lnTo>
                <a:lnTo>
                  <a:pt x="192" y="36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en-US"/>
          </a:p>
        </p:txBody>
      </p:sp>
      <p:sp>
        <p:nvSpPr>
          <p:cNvPr id="49187" name="Freeform 41"/>
          <p:cNvSpPr>
            <a:spLocks/>
          </p:cNvSpPr>
          <p:nvPr/>
        </p:nvSpPr>
        <p:spPr bwMode="auto">
          <a:xfrm>
            <a:off x="3949700" y="6019800"/>
            <a:ext cx="946150" cy="222250"/>
          </a:xfrm>
          <a:custGeom>
            <a:avLst/>
            <a:gdLst>
              <a:gd name="T0" fmla="*/ 0 w 596"/>
              <a:gd name="T1" fmla="*/ 0 h 140"/>
              <a:gd name="T2" fmla="*/ 0 w 596"/>
              <a:gd name="T3" fmla="*/ 2147483647 h 140"/>
              <a:gd name="T4" fmla="*/ 2147483647 w 596"/>
              <a:gd name="T5" fmla="*/ 2147483647 h 140"/>
              <a:gd name="T6" fmla="*/ 0 60000 65536"/>
              <a:gd name="T7" fmla="*/ 0 60000 65536"/>
              <a:gd name="T8" fmla="*/ 0 60000 65536"/>
              <a:gd name="T9" fmla="*/ 0 w 596"/>
              <a:gd name="T10" fmla="*/ 0 h 140"/>
              <a:gd name="T11" fmla="*/ 596 w 596"/>
              <a:gd name="T12" fmla="*/ 140 h 140"/>
            </a:gdLst>
            <a:ahLst/>
            <a:cxnLst>
              <a:cxn ang="T6">
                <a:pos x="T0" y="T1"/>
              </a:cxn>
              <a:cxn ang="T7">
                <a:pos x="T2" y="T3"/>
              </a:cxn>
              <a:cxn ang="T8">
                <a:pos x="T4" y="T5"/>
              </a:cxn>
            </a:cxnLst>
            <a:rect l="T9" t="T10" r="T11" b="T12"/>
            <a:pathLst>
              <a:path w="596" h="140">
                <a:moveTo>
                  <a:pt x="0" y="0"/>
                </a:moveTo>
                <a:lnTo>
                  <a:pt x="0" y="140"/>
                </a:lnTo>
                <a:lnTo>
                  <a:pt x="596" y="14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9188" name="Text Box 42"/>
          <p:cNvSpPr txBox="1">
            <a:spLocks noChangeArrowheads="1"/>
          </p:cNvSpPr>
          <p:nvPr/>
        </p:nvSpPr>
        <p:spPr bwMode="auto">
          <a:xfrm>
            <a:off x="4930775" y="6089650"/>
            <a:ext cx="1270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eaLnBrk="1" hangingPunct="1"/>
            <a:r>
              <a:rPr lang="en-US" sz="1200" b="1">
                <a:latin typeface="Tahoma" pitchFamily="34" charset="0"/>
              </a:rPr>
              <a:t>To +3.3V (5V)</a:t>
            </a:r>
          </a:p>
        </p:txBody>
      </p:sp>
      <p:sp>
        <p:nvSpPr>
          <p:cNvPr id="49189" name="Freeform 43"/>
          <p:cNvSpPr>
            <a:spLocks/>
          </p:cNvSpPr>
          <p:nvPr/>
        </p:nvSpPr>
        <p:spPr bwMode="auto">
          <a:xfrm>
            <a:off x="1219200" y="3632200"/>
            <a:ext cx="596900" cy="374650"/>
          </a:xfrm>
          <a:custGeom>
            <a:avLst/>
            <a:gdLst>
              <a:gd name="T0" fmla="*/ 2147483647 w 376"/>
              <a:gd name="T1" fmla="*/ 2147483647 h 236"/>
              <a:gd name="T2" fmla="*/ 2147483647 w 376"/>
              <a:gd name="T3" fmla="*/ 0 h 236"/>
              <a:gd name="T4" fmla="*/ 0 w 376"/>
              <a:gd name="T5" fmla="*/ 0 h 236"/>
              <a:gd name="T6" fmla="*/ 0 60000 65536"/>
              <a:gd name="T7" fmla="*/ 0 60000 65536"/>
              <a:gd name="T8" fmla="*/ 0 60000 65536"/>
              <a:gd name="T9" fmla="*/ 0 w 376"/>
              <a:gd name="T10" fmla="*/ 0 h 236"/>
              <a:gd name="T11" fmla="*/ 376 w 376"/>
              <a:gd name="T12" fmla="*/ 236 h 236"/>
            </a:gdLst>
            <a:ahLst/>
            <a:cxnLst>
              <a:cxn ang="T6">
                <a:pos x="T0" y="T1"/>
              </a:cxn>
              <a:cxn ang="T7">
                <a:pos x="T2" y="T3"/>
              </a:cxn>
              <a:cxn ang="T8">
                <a:pos x="T4" y="T5"/>
              </a:cxn>
            </a:cxnLst>
            <a:rect l="T9" t="T10" r="T11" b="T12"/>
            <a:pathLst>
              <a:path w="376" h="236">
                <a:moveTo>
                  <a:pt x="376" y="236"/>
                </a:moveTo>
                <a:lnTo>
                  <a:pt x="376" y="0"/>
                </a:lnTo>
                <a:lnTo>
                  <a:pt x="0"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9190" name="Text Box 44"/>
          <p:cNvSpPr txBox="1">
            <a:spLocks noChangeArrowheads="1"/>
          </p:cNvSpPr>
          <p:nvPr/>
        </p:nvSpPr>
        <p:spPr bwMode="auto">
          <a:xfrm>
            <a:off x="384175" y="3327400"/>
            <a:ext cx="887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latin typeface="Tahoma" pitchFamily="34" charset="0"/>
              </a:rPr>
              <a:t>To 0 V</a:t>
            </a:r>
          </a:p>
          <a:p>
            <a:pPr algn="ctr" eaLnBrk="1" hangingPunct="1"/>
            <a:r>
              <a:rPr lang="en-US" sz="1200" b="1">
                <a:latin typeface="Tahoma" pitchFamily="34" charset="0"/>
              </a:rPr>
              <a:t>(Ground)</a:t>
            </a:r>
          </a:p>
        </p:txBody>
      </p:sp>
      <p:sp>
        <p:nvSpPr>
          <p:cNvPr id="49191" name="Text Box 46"/>
          <p:cNvSpPr txBox="1">
            <a:spLocks noChangeArrowheads="1"/>
          </p:cNvSpPr>
          <p:nvPr/>
        </p:nvSpPr>
        <p:spPr bwMode="auto">
          <a:xfrm>
            <a:off x="3870325" y="3663950"/>
            <a:ext cx="5683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eaLnBrk="1" hangingPunct="1"/>
            <a:r>
              <a:rPr lang="en-US" sz="1200" b="1">
                <a:latin typeface="Tahoma" pitchFamily="34" charset="0"/>
              </a:rPr>
              <a:t>Pin 1</a:t>
            </a:r>
          </a:p>
        </p:txBody>
      </p:sp>
      <p:sp>
        <p:nvSpPr>
          <p:cNvPr id="49192" name="Text Box 47"/>
          <p:cNvSpPr txBox="1">
            <a:spLocks noChangeArrowheads="1"/>
          </p:cNvSpPr>
          <p:nvPr/>
        </p:nvSpPr>
        <p:spPr bwMode="auto">
          <a:xfrm>
            <a:off x="4213225" y="5924550"/>
            <a:ext cx="6651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eaLnBrk="1" hangingPunct="1"/>
            <a:r>
              <a:rPr lang="en-US" sz="1200" b="1">
                <a:latin typeface="Tahoma" pitchFamily="34" charset="0"/>
              </a:rPr>
              <a:t>Pin 14</a:t>
            </a:r>
          </a:p>
        </p:txBody>
      </p:sp>
      <p:sp>
        <p:nvSpPr>
          <p:cNvPr id="49193" name="Text Box 48"/>
          <p:cNvSpPr txBox="1">
            <a:spLocks noChangeArrowheads="1"/>
          </p:cNvSpPr>
          <p:nvPr/>
        </p:nvSpPr>
        <p:spPr bwMode="auto">
          <a:xfrm>
            <a:off x="3184525" y="4476750"/>
            <a:ext cx="2889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eaLnBrk="1" hangingPunct="1"/>
            <a:r>
              <a:rPr lang="en-US" sz="1200" b="1">
                <a:latin typeface="Tahoma" pitchFamily="34" charset="0"/>
              </a:rPr>
              <a:t>A</a:t>
            </a:r>
          </a:p>
        </p:txBody>
      </p:sp>
      <p:sp>
        <p:nvSpPr>
          <p:cNvPr id="49194" name="Text Box 49"/>
          <p:cNvSpPr txBox="1">
            <a:spLocks noChangeArrowheads="1"/>
          </p:cNvSpPr>
          <p:nvPr/>
        </p:nvSpPr>
        <p:spPr bwMode="auto">
          <a:xfrm>
            <a:off x="2054225" y="4527550"/>
            <a:ext cx="2889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eaLnBrk="1" hangingPunct="1"/>
            <a:r>
              <a:rPr lang="en-US" sz="1200" b="1">
                <a:latin typeface="Tahoma" pitchFamily="34" charset="0"/>
              </a:rPr>
              <a:t>B</a:t>
            </a:r>
          </a:p>
        </p:txBody>
      </p:sp>
      <p:sp>
        <p:nvSpPr>
          <p:cNvPr id="49195" name="Text Box 50"/>
          <p:cNvSpPr txBox="1">
            <a:spLocks noChangeArrowheads="1"/>
          </p:cNvSpPr>
          <p:nvPr/>
        </p:nvSpPr>
        <p:spPr bwMode="auto">
          <a:xfrm>
            <a:off x="1762125" y="5264150"/>
            <a:ext cx="2857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eaLnBrk="1" hangingPunct="1"/>
            <a:r>
              <a:rPr lang="en-US" sz="1200" b="1">
                <a:latin typeface="Tahoma" pitchFamily="34" charset="0"/>
              </a:rPr>
              <a:t>C</a:t>
            </a:r>
          </a:p>
        </p:txBody>
      </p:sp>
      <p:sp>
        <p:nvSpPr>
          <p:cNvPr id="49196" name="Text Box 51"/>
          <p:cNvSpPr txBox="1">
            <a:spLocks noChangeArrowheads="1"/>
          </p:cNvSpPr>
          <p:nvPr/>
        </p:nvSpPr>
        <p:spPr bwMode="auto">
          <a:xfrm>
            <a:off x="2867025" y="5289550"/>
            <a:ext cx="3000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eaLnBrk="1" hangingPunct="1"/>
            <a:r>
              <a:rPr lang="en-US" sz="1200" b="1">
                <a:latin typeface="Tahoma" pitchFamily="34" charset="0"/>
              </a:rPr>
              <a:t>D</a:t>
            </a:r>
          </a:p>
        </p:txBody>
      </p:sp>
      <p:sp>
        <p:nvSpPr>
          <p:cNvPr id="49197" name="AutoShape 52"/>
          <p:cNvSpPr>
            <a:spLocks noChangeArrowheads="1"/>
          </p:cNvSpPr>
          <p:nvPr/>
        </p:nvSpPr>
        <p:spPr bwMode="auto">
          <a:xfrm flipH="1">
            <a:off x="3898900" y="4864100"/>
            <a:ext cx="342900" cy="292100"/>
          </a:xfrm>
          <a:prstGeom prst="homePlate">
            <a:avLst>
              <a:gd name="adj" fmla="val 29348"/>
            </a:avLst>
          </a:prstGeom>
          <a:solidFill>
            <a:schemeClr val="tx1"/>
          </a:solidFill>
          <a:ln w="19050">
            <a:solidFill>
              <a:schemeClr val="tx1"/>
            </a:solidFill>
            <a:miter lim="800000"/>
            <a:headEnd/>
            <a:tailEnd/>
          </a:ln>
        </p:spPr>
        <p:txBody>
          <a:bodyPr wrap="none" anchor="ctr">
            <a:spAutoFit/>
          </a:bodyPr>
          <a:lstStyle/>
          <a:p>
            <a:endParaRPr lang="en-US" sz="1400" b="1"/>
          </a:p>
        </p:txBody>
      </p:sp>
      <p:sp>
        <p:nvSpPr>
          <p:cNvPr id="49198" name="Text Box 53"/>
          <p:cNvSpPr txBox="1">
            <a:spLocks noChangeArrowheads="1"/>
          </p:cNvSpPr>
          <p:nvPr/>
        </p:nvSpPr>
        <p:spPr bwMode="auto">
          <a:xfrm>
            <a:off x="936625" y="3803650"/>
            <a:ext cx="5683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eaLnBrk="1" hangingPunct="1"/>
            <a:r>
              <a:rPr lang="en-US" sz="1200" b="1">
                <a:latin typeface="Tahoma" pitchFamily="34" charset="0"/>
              </a:rPr>
              <a:t>Pin 7</a:t>
            </a:r>
          </a:p>
        </p:txBody>
      </p:sp>
      <p:sp>
        <p:nvSpPr>
          <p:cNvPr id="49199" name="Text Box 54"/>
          <p:cNvSpPr txBox="1">
            <a:spLocks noChangeArrowheads="1"/>
          </p:cNvSpPr>
          <p:nvPr/>
        </p:nvSpPr>
        <p:spPr bwMode="auto">
          <a:xfrm>
            <a:off x="936625" y="6038850"/>
            <a:ext cx="5683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eaLnBrk="1" hangingPunct="1"/>
            <a:r>
              <a:rPr lang="en-US" sz="1200" b="1">
                <a:latin typeface="Tahoma" pitchFamily="34" charset="0"/>
              </a:rPr>
              <a:t>Pin 8</a:t>
            </a:r>
          </a:p>
        </p:txBody>
      </p:sp>
      <p:sp>
        <p:nvSpPr>
          <p:cNvPr id="49200" name="Freeform 56"/>
          <p:cNvSpPr>
            <a:spLocks/>
          </p:cNvSpPr>
          <p:nvPr/>
        </p:nvSpPr>
        <p:spPr bwMode="auto">
          <a:xfrm>
            <a:off x="4521200" y="2324100"/>
            <a:ext cx="1346200" cy="1892300"/>
          </a:xfrm>
          <a:custGeom>
            <a:avLst/>
            <a:gdLst>
              <a:gd name="T0" fmla="*/ 2147483647 w 2320"/>
              <a:gd name="T1" fmla="*/ 0 h 1192"/>
              <a:gd name="T2" fmla="*/ 2147483647 w 2320"/>
              <a:gd name="T3" fmla="*/ 2147483647 h 1192"/>
              <a:gd name="T4" fmla="*/ 0 w 2320"/>
              <a:gd name="T5" fmla="*/ 2147483647 h 1192"/>
              <a:gd name="T6" fmla="*/ 0 60000 65536"/>
              <a:gd name="T7" fmla="*/ 0 60000 65536"/>
              <a:gd name="T8" fmla="*/ 0 60000 65536"/>
              <a:gd name="T9" fmla="*/ 0 w 2320"/>
              <a:gd name="T10" fmla="*/ 0 h 1192"/>
              <a:gd name="T11" fmla="*/ 2320 w 2320"/>
              <a:gd name="T12" fmla="*/ 1192 h 1192"/>
            </a:gdLst>
            <a:ahLst/>
            <a:cxnLst>
              <a:cxn ang="T6">
                <a:pos x="T0" y="T1"/>
              </a:cxn>
              <a:cxn ang="T7">
                <a:pos x="T2" y="T3"/>
              </a:cxn>
              <a:cxn ang="T8">
                <a:pos x="T4" y="T5"/>
              </a:cxn>
            </a:cxnLst>
            <a:rect l="T9" t="T10" r="T11" b="T12"/>
            <a:pathLst>
              <a:path w="2320" h="1192">
                <a:moveTo>
                  <a:pt x="2320" y="0"/>
                </a:moveTo>
                <a:lnTo>
                  <a:pt x="2320" y="1192"/>
                </a:lnTo>
                <a:lnTo>
                  <a:pt x="0" y="1192"/>
                </a:lnTo>
              </a:path>
            </a:pathLst>
          </a:custGeom>
          <a:noFill/>
          <a:ln w="2857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square">
            <a:spAutoFit/>
          </a:bodyPr>
          <a:lstStyle/>
          <a:p>
            <a:endParaRPr lang="en-US"/>
          </a:p>
        </p:txBody>
      </p:sp>
      <p:sp>
        <p:nvSpPr>
          <p:cNvPr id="1695789" name="Text Box 45"/>
          <p:cNvSpPr txBox="1">
            <a:spLocks noChangeArrowheads="1"/>
          </p:cNvSpPr>
          <p:nvPr/>
        </p:nvSpPr>
        <p:spPr bwMode="auto">
          <a:xfrm>
            <a:off x="5486400" y="4373562"/>
            <a:ext cx="3457575" cy="1570038"/>
          </a:xfrm>
          <a:prstGeom prst="rect">
            <a:avLst/>
          </a:prstGeom>
          <a:solidFill>
            <a:srgbClr val="FFFFCC"/>
          </a:solidFill>
          <a:ln w="19050">
            <a:noFill/>
            <a:miter lim="800000"/>
            <a:headEnd/>
            <a:tailEnd/>
          </a:ln>
          <a:effectLst>
            <a:outerShdw blurRad="50800" dist="38100" dir="2700000" algn="tl" rotWithShape="0">
              <a:prstClr val="black"/>
            </a:outerShdw>
          </a:effectLst>
        </p:spPr>
        <p:txBody>
          <a:bodyPr wrap="square">
            <a:spAutoFit/>
          </a:bodyPr>
          <a:lstStyle/>
          <a:p>
            <a:pPr>
              <a:defRPr/>
            </a:pPr>
            <a:r>
              <a:rPr lang="en-US" sz="1200" b="1" dirty="0">
                <a:latin typeface="Tahoma" pitchFamily="34" charset="0"/>
              </a:rPr>
              <a:t>Typical NAND gate circuit</a:t>
            </a:r>
          </a:p>
          <a:p>
            <a:pPr>
              <a:defRPr/>
            </a:pPr>
            <a:r>
              <a:rPr lang="en-US" sz="1200" b="1" dirty="0">
                <a:latin typeface="Tahoma" pitchFamily="34" charset="0"/>
              </a:rPr>
              <a:t>Quad, 2-input NAND gate</a:t>
            </a:r>
          </a:p>
          <a:p>
            <a:pPr>
              <a:buFont typeface="Arial" pitchFamily="34" charset="0"/>
              <a:buChar char="•"/>
              <a:defRPr/>
            </a:pPr>
            <a:r>
              <a:rPr lang="en-US" sz="1200" b="1" dirty="0">
                <a:latin typeface="Tahoma" pitchFamily="34" charset="0"/>
              </a:rPr>
              <a:t> 74LS00</a:t>
            </a:r>
          </a:p>
          <a:p>
            <a:pPr>
              <a:buFontTx/>
              <a:buChar char="•"/>
              <a:defRPr/>
            </a:pPr>
            <a:r>
              <a:rPr lang="en-US" sz="1200" b="1" dirty="0">
                <a:latin typeface="Tahoma" pitchFamily="34" charset="0"/>
              </a:rPr>
              <a:t> Cost: ~ $0.10</a:t>
            </a:r>
          </a:p>
          <a:p>
            <a:pPr>
              <a:buFontTx/>
              <a:buChar char="•"/>
              <a:defRPr/>
            </a:pPr>
            <a:r>
              <a:rPr lang="en-US" sz="1200" b="1" dirty="0">
                <a:latin typeface="Tahoma" pitchFamily="34" charset="0"/>
              </a:rPr>
              <a:t> Propagation delay ~ 5 </a:t>
            </a:r>
            <a:r>
              <a:rPr lang="en-US" sz="1200" b="1" dirty="0" err="1">
                <a:latin typeface="Tahoma" pitchFamily="34" charset="0"/>
              </a:rPr>
              <a:t>nsec</a:t>
            </a:r>
            <a:endParaRPr lang="en-US" sz="1200" b="1" dirty="0">
              <a:latin typeface="Tahoma" pitchFamily="34" charset="0"/>
            </a:endParaRPr>
          </a:p>
          <a:p>
            <a:pPr>
              <a:buFontTx/>
              <a:buChar char="•"/>
              <a:defRPr/>
            </a:pPr>
            <a:r>
              <a:rPr lang="en-US" sz="1200" b="1" dirty="0">
                <a:latin typeface="Tahoma" pitchFamily="34" charset="0"/>
              </a:rPr>
              <a:t>14-pin Dual in-line (DIP) package</a:t>
            </a:r>
          </a:p>
          <a:p>
            <a:pPr>
              <a:buFontTx/>
              <a:buChar char="•"/>
              <a:defRPr/>
            </a:pPr>
            <a:r>
              <a:rPr lang="en-US" sz="1200" b="1" dirty="0">
                <a:latin typeface="Tahoma" pitchFamily="34" charset="0"/>
              </a:rPr>
              <a:t> Circuits vary from 8 pin DIP packages</a:t>
            </a:r>
          </a:p>
          <a:p>
            <a:pPr>
              <a:defRPr/>
            </a:pPr>
            <a:r>
              <a:rPr lang="en-US" sz="1200" b="1" dirty="0">
                <a:latin typeface="Tahoma" pitchFamily="34" charset="0"/>
              </a:rPr>
              <a:t>  to over 600 pin high-density packages  </a:t>
            </a:r>
          </a:p>
        </p:txBody>
      </p:sp>
      <p:pic>
        <p:nvPicPr>
          <p:cNvPr id="49202" name="Picture 57" descr="DIP-I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9012" y="1220788"/>
            <a:ext cx="1774825" cy="1028700"/>
          </a:xfrm>
          <a:prstGeom prst="rect">
            <a:avLst/>
          </a:prstGeom>
          <a:noFill/>
          <a:ln>
            <a:noFill/>
          </a:ln>
          <a:effectLst>
            <a:outerShdw dist="107763"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203" name="Text Box 58"/>
          <p:cNvSpPr txBox="1">
            <a:spLocks noChangeArrowheads="1"/>
          </p:cNvSpPr>
          <p:nvPr/>
        </p:nvSpPr>
        <p:spPr bwMode="auto">
          <a:xfrm>
            <a:off x="4840287" y="1965326"/>
            <a:ext cx="439738"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eaLnBrk="1" hangingPunct="1"/>
            <a:r>
              <a:rPr lang="en-US" sz="800" b="1">
                <a:solidFill>
                  <a:srgbClr val="0033CC"/>
                </a:solidFill>
              </a:rPr>
              <a:t>PIN 1</a:t>
            </a:r>
          </a:p>
        </p:txBody>
      </p:sp>
      <p:sp>
        <p:nvSpPr>
          <p:cNvPr id="49204" name="Oval 59"/>
          <p:cNvSpPr>
            <a:spLocks noChangeAspect="1" noChangeArrowheads="1"/>
          </p:cNvSpPr>
          <p:nvPr/>
        </p:nvSpPr>
        <p:spPr bwMode="auto">
          <a:xfrm>
            <a:off x="2686050" y="5403850"/>
            <a:ext cx="55563" cy="55563"/>
          </a:xfrm>
          <a:prstGeom prst="ellipse">
            <a:avLst/>
          </a:prstGeom>
          <a:solidFill>
            <a:schemeClr val="bg1"/>
          </a:solidFill>
          <a:ln w="19050">
            <a:solidFill>
              <a:schemeClr val="tx1"/>
            </a:solidFill>
            <a:round/>
            <a:headEnd/>
            <a:tailEnd/>
          </a:ln>
        </p:spPr>
        <p:txBody>
          <a:bodyPr wrap="none" anchor="ctr">
            <a:spAutoFit/>
          </a:bodyPr>
          <a:lstStyle/>
          <a:p>
            <a:endParaRPr lang="en-US" sz="1400" b="1"/>
          </a:p>
        </p:txBody>
      </p:sp>
      <p:sp>
        <p:nvSpPr>
          <p:cNvPr id="49205" name="Oval 63"/>
          <p:cNvSpPr>
            <a:spLocks noChangeAspect="1" noChangeArrowheads="1"/>
          </p:cNvSpPr>
          <p:nvPr/>
        </p:nvSpPr>
        <p:spPr bwMode="auto">
          <a:xfrm>
            <a:off x="1562100" y="5378450"/>
            <a:ext cx="55563" cy="55563"/>
          </a:xfrm>
          <a:prstGeom prst="ellipse">
            <a:avLst/>
          </a:prstGeom>
          <a:solidFill>
            <a:schemeClr val="bg1"/>
          </a:solidFill>
          <a:ln w="19050">
            <a:solidFill>
              <a:schemeClr val="tx1"/>
            </a:solidFill>
            <a:round/>
            <a:headEnd/>
            <a:tailEnd/>
          </a:ln>
        </p:spPr>
        <p:txBody>
          <a:bodyPr wrap="none" anchor="ctr">
            <a:spAutoFit/>
          </a:bodyPr>
          <a:lstStyle/>
          <a:p>
            <a:endParaRPr lang="en-US" sz="1400" b="1"/>
          </a:p>
        </p:txBody>
      </p:sp>
      <p:sp>
        <p:nvSpPr>
          <p:cNvPr id="49206" name="Oval 64"/>
          <p:cNvSpPr>
            <a:spLocks noChangeAspect="1" noChangeArrowheads="1"/>
          </p:cNvSpPr>
          <p:nvPr/>
        </p:nvSpPr>
        <p:spPr bwMode="auto">
          <a:xfrm>
            <a:off x="2990850" y="4597400"/>
            <a:ext cx="55563" cy="55563"/>
          </a:xfrm>
          <a:prstGeom prst="ellipse">
            <a:avLst/>
          </a:prstGeom>
          <a:solidFill>
            <a:schemeClr val="bg1"/>
          </a:solidFill>
          <a:ln w="19050">
            <a:solidFill>
              <a:schemeClr val="tx1"/>
            </a:solidFill>
            <a:round/>
            <a:headEnd/>
            <a:tailEnd/>
          </a:ln>
        </p:spPr>
        <p:txBody>
          <a:bodyPr wrap="none" anchor="ctr">
            <a:spAutoFit/>
          </a:bodyPr>
          <a:lstStyle/>
          <a:p>
            <a:endParaRPr lang="en-US" sz="1400" b="1"/>
          </a:p>
        </p:txBody>
      </p:sp>
      <p:sp>
        <p:nvSpPr>
          <p:cNvPr id="49207" name="Oval 65"/>
          <p:cNvSpPr>
            <a:spLocks noChangeAspect="1" noChangeArrowheads="1"/>
          </p:cNvSpPr>
          <p:nvPr/>
        </p:nvSpPr>
        <p:spPr bwMode="auto">
          <a:xfrm>
            <a:off x="1854200" y="4641850"/>
            <a:ext cx="55563" cy="55563"/>
          </a:xfrm>
          <a:prstGeom prst="ellipse">
            <a:avLst/>
          </a:prstGeom>
          <a:solidFill>
            <a:schemeClr val="bg1"/>
          </a:solidFill>
          <a:ln w="19050">
            <a:solidFill>
              <a:schemeClr val="tx1"/>
            </a:solidFill>
            <a:round/>
            <a:headEnd/>
            <a:tailEnd/>
          </a:ln>
        </p:spPr>
        <p:txBody>
          <a:bodyPr wrap="none" anchor="ctr">
            <a:spAutoFit/>
          </a:bodyPr>
          <a:lstStyle/>
          <a:p>
            <a:endParaRPr lang="en-US" sz="1400" b="1"/>
          </a:p>
        </p:txBody>
      </p:sp>
      <p:pic>
        <p:nvPicPr>
          <p:cNvPr id="2" name="Picture 1" descr="Screen Shot 2018-10-02 at 6.45.28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 y="1371600"/>
            <a:ext cx="2235200" cy="1879600"/>
          </a:xfrm>
          <a:prstGeom prst="rect">
            <a:avLst/>
          </a:prstGeom>
        </p:spPr>
      </p:pic>
    </p:spTree>
    <p:extLst>
      <p:ext uri="{BB962C8B-B14F-4D97-AF65-F5344CB8AC3E}">
        <p14:creationId xmlns:p14="http://schemas.microsoft.com/office/powerpoint/2010/main" val="3298053412"/>
      </p:ext>
    </p:extLst>
  </p:cSld>
  <p:clrMapOvr>
    <a:masterClrMapping/>
  </p:clrMapOvr>
  <p:transition xmlns:p14="http://schemas.microsoft.com/office/powerpoint/2010/main" spd="slow"/>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305800" cy="1143000"/>
          </a:xfrm>
        </p:spPr>
        <p:txBody>
          <a:bodyPr/>
          <a:lstStyle/>
          <a:p>
            <a:r>
              <a:rPr lang="en-US" dirty="0" smtClean="0"/>
              <a:t>Ramping up to Circuit Design </a:t>
            </a:r>
            <a:r>
              <a:rPr lang="mr-IN" dirty="0" smtClean="0"/>
              <a:t>–</a:t>
            </a:r>
            <a:r>
              <a:rPr lang="en-US" dirty="0" smtClean="0"/>
              <a:t> </a:t>
            </a:r>
            <a:br>
              <a:rPr lang="en-US" dirty="0" smtClean="0"/>
            </a:br>
            <a:r>
              <a:rPr lang="en-US" dirty="0" smtClean="0"/>
              <a:t>Mario Kart</a:t>
            </a:r>
            <a:endParaRPr lang="en-US" dirty="0"/>
          </a:p>
        </p:txBody>
      </p:sp>
      <p:sp>
        <p:nvSpPr>
          <p:cNvPr id="3" name="Content Placeholder 2"/>
          <p:cNvSpPr>
            <a:spLocks noGrp="1"/>
          </p:cNvSpPr>
          <p:nvPr>
            <p:ph idx="1"/>
          </p:nvPr>
        </p:nvSpPr>
        <p:spPr>
          <a:xfrm>
            <a:off x="-152400" y="1600200"/>
            <a:ext cx="8610600" cy="4800600"/>
          </a:xfrm>
        </p:spPr>
        <p:txBody>
          <a:bodyPr>
            <a:normAutofit/>
          </a:bodyPr>
          <a:lstStyle/>
          <a:p>
            <a:r>
              <a:rPr lang="en-US" dirty="0" smtClean="0"/>
              <a:t>When first teaching someone to play this game, it is useful to show the novice a map of the board (or circuit) they’ll be travelling.</a:t>
            </a:r>
          </a:p>
          <a:p>
            <a:endParaRPr lang="en-US" dirty="0" smtClean="0"/>
          </a:p>
          <a:p>
            <a:r>
              <a:rPr lang="en-US" dirty="0" smtClean="0"/>
              <a:t>When preparing for tournament play (industry), however, our approach is different:</a:t>
            </a:r>
          </a:p>
          <a:p>
            <a:pPr lvl="1"/>
            <a:r>
              <a:rPr lang="en-US" dirty="0" smtClean="0"/>
              <a:t>The original board or circuit is well-known </a:t>
            </a:r>
          </a:p>
          <a:p>
            <a:pPr lvl="1"/>
            <a:r>
              <a:rPr lang="en-US" dirty="0"/>
              <a:t>W</a:t>
            </a:r>
            <a:r>
              <a:rPr lang="en-US" dirty="0" smtClean="0"/>
              <a:t>e study instead shortcuts that offer better performance than the standard, well-known paths.</a:t>
            </a:r>
          </a:p>
          <a:p>
            <a:pPr lvl="2"/>
            <a:r>
              <a:rPr lang="en-US" dirty="0" err="1" smtClean="0"/>
              <a:t>Perf</a:t>
            </a:r>
            <a:r>
              <a:rPr lang="en-US" dirty="0" smtClean="0"/>
              <a:t> in terms of seconds for Mario Kart and Integrated </a:t>
            </a:r>
            <a:r>
              <a:rPr lang="en-US" dirty="0" err="1" smtClean="0"/>
              <a:t>Circuitss</a:t>
            </a:r>
            <a:endParaRPr lang="en-US" dirty="0" smtClean="0"/>
          </a:p>
          <a:p>
            <a:pPr lvl="2"/>
            <a:r>
              <a:rPr lang="en-US" dirty="0" err="1" smtClean="0"/>
              <a:t>Perf</a:t>
            </a:r>
            <a:r>
              <a:rPr lang="en-US" dirty="0" smtClean="0"/>
              <a:t> also in terms of # of gates used in our combinational circuits</a:t>
            </a:r>
          </a:p>
          <a:p>
            <a:pPr lvl="2"/>
            <a:endParaRPr lang="en-US" dirty="0"/>
          </a:p>
          <a:p>
            <a:r>
              <a:rPr lang="en-US" dirty="0" smtClean="0"/>
              <a:t>XNOR will demonstrate starting with a basic circuit and</a:t>
            </a:r>
          </a:p>
          <a:p>
            <a:pPr lvl="1"/>
            <a:r>
              <a:rPr lang="en-US" dirty="0" smtClean="0"/>
              <a:t>refining that circuit, reorganizing so we can take shortcuts on the # of gates</a:t>
            </a:r>
          </a:p>
          <a:p>
            <a:pPr lvl="1"/>
            <a:endParaRPr lang="en-US" dirty="0"/>
          </a:p>
        </p:txBody>
      </p:sp>
    </p:spTree>
    <p:extLst>
      <p:ext uri="{BB962C8B-B14F-4D97-AF65-F5344CB8AC3E}">
        <p14:creationId xmlns:p14="http://schemas.microsoft.com/office/powerpoint/2010/main" val="742930457"/>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86800" cy="1325562"/>
          </a:xfrm>
        </p:spPr>
        <p:txBody>
          <a:bodyPr/>
          <a:lstStyle/>
          <a:p>
            <a:r>
              <a:rPr lang="en-US" dirty="0" smtClean="0"/>
              <a:t>On Designing Circuits</a:t>
            </a:r>
            <a:br>
              <a:rPr lang="en-US" dirty="0" smtClean="0"/>
            </a:br>
            <a:r>
              <a:rPr lang="en-US" dirty="0" smtClean="0"/>
              <a:t>for the Common Case</a:t>
            </a:r>
            <a:endParaRPr lang="en-US" dirty="0"/>
          </a:p>
        </p:txBody>
      </p:sp>
      <p:sp>
        <p:nvSpPr>
          <p:cNvPr id="3" name="Content Placeholder 2"/>
          <p:cNvSpPr>
            <a:spLocks noGrp="1"/>
          </p:cNvSpPr>
          <p:nvPr>
            <p:ph idx="1"/>
          </p:nvPr>
        </p:nvSpPr>
        <p:spPr>
          <a:xfrm>
            <a:off x="-76200" y="1600200"/>
            <a:ext cx="8610600" cy="4800600"/>
          </a:xfrm>
        </p:spPr>
        <p:txBody>
          <a:bodyPr/>
          <a:lstStyle/>
          <a:p>
            <a:r>
              <a:rPr lang="en-US" dirty="0" smtClean="0"/>
              <a:t>We’ll discuss Amdahl’s law shortly; investigate it.</a:t>
            </a:r>
          </a:p>
          <a:p>
            <a:endParaRPr lang="en-US" dirty="0"/>
          </a:p>
          <a:p>
            <a:r>
              <a:rPr lang="en-US" dirty="0" smtClean="0"/>
              <a:t>We tend to consider the generic or vanilla case of a logical circuit first</a:t>
            </a:r>
          </a:p>
          <a:p>
            <a:pPr lvl="1"/>
            <a:r>
              <a:rPr lang="en-US" dirty="0" smtClean="0"/>
              <a:t>In practice, there exists tons of modifications a chip consumer might want</a:t>
            </a:r>
          </a:p>
          <a:p>
            <a:pPr lvl="2"/>
            <a:r>
              <a:rPr lang="en-US" dirty="0" smtClean="0"/>
              <a:t>Rising edge transitions, falling edge transitions, DDR3,4,5</a:t>
            </a:r>
          </a:p>
          <a:p>
            <a:pPr lvl="2"/>
            <a:r>
              <a:rPr lang="en-US" dirty="0" smtClean="0"/>
              <a:t>Low power, Positive logic, Negative logic</a:t>
            </a:r>
          </a:p>
          <a:p>
            <a:pPr lvl="2"/>
            <a:r>
              <a:rPr lang="en-US" dirty="0" smtClean="0"/>
              <a:t>2-in,3-in,4-in configurations</a:t>
            </a:r>
          </a:p>
          <a:p>
            <a:pPr lvl="2"/>
            <a:r>
              <a:rPr lang="en-US" dirty="0" smtClean="0"/>
              <a:t>Response time, Temperature range</a:t>
            </a:r>
            <a:endParaRPr lang="en-US" dirty="0"/>
          </a:p>
        </p:txBody>
      </p:sp>
      <p:sp>
        <p:nvSpPr>
          <p:cNvPr id="4" name="Rounded Rectangle 3"/>
          <p:cNvSpPr/>
          <p:nvPr/>
        </p:nvSpPr>
        <p:spPr>
          <a:xfrm>
            <a:off x="1828800" y="1676400"/>
            <a:ext cx="1600200" cy="304800"/>
          </a:xfrm>
          <a:prstGeom prst="roundRect">
            <a:avLst/>
          </a:prstGeom>
          <a:solidFill>
            <a:schemeClr val="accent2">
              <a:alpha val="14000"/>
            </a:schemeClr>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9783125"/>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8686800" cy="1143000"/>
          </a:xfrm>
        </p:spPr>
        <p:txBody>
          <a:bodyPr/>
          <a:lstStyle/>
          <a:p>
            <a:r>
              <a:rPr lang="en-US" dirty="0" smtClean="0"/>
              <a:t>Circuit Design “How To” Summary</a:t>
            </a:r>
            <a:endParaRPr lang="en-US" dirty="0"/>
          </a:p>
        </p:txBody>
      </p:sp>
      <p:sp>
        <p:nvSpPr>
          <p:cNvPr id="3" name="Content Placeholder 2"/>
          <p:cNvSpPr>
            <a:spLocks noGrp="1"/>
          </p:cNvSpPr>
          <p:nvPr>
            <p:ph idx="1"/>
          </p:nvPr>
        </p:nvSpPr>
        <p:spPr>
          <a:xfrm>
            <a:off x="457200" y="1447800"/>
            <a:ext cx="7620000" cy="4800600"/>
          </a:xfrm>
        </p:spPr>
        <p:txBody>
          <a:bodyPr>
            <a:normAutofit fontScale="85000" lnSpcReduction="10000"/>
          </a:bodyPr>
          <a:lstStyle/>
          <a:p>
            <a:pPr marL="571500" indent="-457200">
              <a:buFont typeface="+mj-lt"/>
              <a:buAutoNum type="arabicPeriod"/>
            </a:pPr>
            <a:r>
              <a:rPr lang="en-US" dirty="0" smtClean="0"/>
              <a:t>Capture a description of the system’s requirements</a:t>
            </a:r>
          </a:p>
          <a:p>
            <a:pPr lvl="1"/>
            <a:r>
              <a:rPr lang="en-US" dirty="0" smtClean="0"/>
              <a:t>These could be in terms of output lines, and usually involve timing diagrams.</a:t>
            </a:r>
          </a:p>
          <a:p>
            <a:pPr lvl="2"/>
            <a:r>
              <a:rPr lang="en-US" dirty="0" smtClean="0"/>
              <a:t>Consider a 4-way traffic light situation</a:t>
            </a:r>
          </a:p>
          <a:p>
            <a:pPr lvl="2"/>
            <a:r>
              <a:rPr lang="en-US" dirty="0" smtClean="0"/>
              <a:t>Or an embedded automotive chip to roll up windows</a:t>
            </a:r>
          </a:p>
          <a:p>
            <a:pPr marL="571500" indent="-457200">
              <a:buFont typeface="+mj-lt"/>
              <a:buAutoNum type="arabicPeriod"/>
            </a:pPr>
            <a:r>
              <a:rPr lang="en-US" dirty="0" smtClean="0"/>
              <a:t>Start </a:t>
            </a:r>
            <a:r>
              <a:rPr lang="en-US" dirty="0"/>
              <a:t>by enumerating your </a:t>
            </a:r>
            <a:r>
              <a:rPr lang="en-US" b="1" dirty="0" smtClean="0">
                <a:solidFill>
                  <a:srgbClr val="660066"/>
                </a:solidFill>
              </a:rPr>
              <a:t>circuit specific details</a:t>
            </a:r>
            <a:r>
              <a:rPr lang="en-US" dirty="0" smtClean="0"/>
              <a:t>:</a:t>
            </a:r>
            <a:endParaRPr lang="en-US" dirty="0"/>
          </a:p>
          <a:p>
            <a:pPr marL="868680" lvl="1" indent="-457200">
              <a:buFont typeface="+mj-lt"/>
              <a:buAutoNum type="alphaLcPeriod"/>
            </a:pPr>
            <a:r>
              <a:rPr lang="en-US" b="1" dirty="0">
                <a:solidFill>
                  <a:srgbClr val="660066"/>
                </a:solidFill>
              </a:rPr>
              <a:t>Inputs </a:t>
            </a:r>
          </a:p>
          <a:p>
            <a:pPr marL="868680" lvl="1" indent="-457200">
              <a:buFont typeface="+mj-lt"/>
              <a:buAutoNum type="alphaLcPeriod"/>
            </a:pPr>
            <a:r>
              <a:rPr lang="en-US" b="1" dirty="0">
                <a:solidFill>
                  <a:srgbClr val="660066"/>
                </a:solidFill>
              </a:rPr>
              <a:t>Outputs</a:t>
            </a:r>
          </a:p>
          <a:p>
            <a:pPr marL="868680" lvl="1" indent="-457200">
              <a:buFont typeface="+mj-lt"/>
              <a:buAutoNum type="alphaLcPeriod"/>
            </a:pPr>
            <a:r>
              <a:rPr lang="en-US" b="1" dirty="0" smtClean="0">
                <a:solidFill>
                  <a:srgbClr val="660066"/>
                </a:solidFill>
              </a:rPr>
              <a:t>Transitions</a:t>
            </a:r>
            <a:r>
              <a:rPr lang="en-US" dirty="0" smtClean="0"/>
              <a:t>: what </a:t>
            </a:r>
            <a:r>
              <a:rPr lang="en-US" dirty="0"/>
              <a:t>the outputs should do in response to the inputs </a:t>
            </a:r>
          </a:p>
          <a:p>
            <a:pPr lvl="2"/>
            <a:r>
              <a:rPr lang="en-US" dirty="0"/>
              <a:t>Hints at an FSM but we’re missing something critical</a:t>
            </a:r>
          </a:p>
          <a:p>
            <a:pPr marL="571500" indent="-457200">
              <a:buFont typeface="+mj-lt"/>
              <a:buAutoNum type="arabicPeriod"/>
            </a:pPr>
            <a:r>
              <a:rPr lang="en-US" dirty="0"/>
              <a:t>Encode all of the above into a </a:t>
            </a:r>
            <a:r>
              <a:rPr lang="en-US" b="1" dirty="0">
                <a:solidFill>
                  <a:srgbClr val="3366FF"/>
                </a:solidFill>
              </a:rPr>
              <a:t>T</a:t>
            </a:r>
            <a:r>
              <a:rPr lang="en-US" b="1" dirty="0" smtClean="0">
                <a:solidFill>
                  <a:srgbClr val="3366FF"/>
                </a:solidFill>
              </a:rPr>
              <a:t>ruth </a:t>
            </a:r>
            <a:r>
              <a:rPr lang="en-US" b="1" dirty="0">
                <a:solidFill>
                  <a:srgbClr val="3366FF"/>
                </a:solidFill>
              </a:rPr>
              <a:t>T</a:t>
            </a:r>
            <a:r>
              <a:rPr lang="en-US" b="1" dirty="0" smtClean="0">
                <a:solidFill>
                  <a:srgbClr val="3366FF"/>
                </a:solidFill>
              </a:rPr>
              <a:t>able</a:t>
            </a:r>
          </a:p>
          <a:p>
            <a:pPr lvl="1"/>
            <a:r>
              <a:rPr lang="en-US" dirty="0" smtClean="0"/>
              <a:t>Size being dependent on </a:t>
            </a:r>
            <a:r>
              <a:rPr lang="en-US" b="1" dirty="0" smtClean="0">
                <a:solidFill>
                  <a:srgbClr val="660066"/>
                </a:solidFill>
              </a:rPr>
              <a:t>input</a:t>
            </a:r>
            <a:r>
              <a:rPr lang="en-US" dirty="0" smtClean="0"/>
              <a:t> lines</a:t>
            </a:r>
          </a:p>
          <a:p>
            <a:pPr marL="571500" indent="-457200">
              <a:buFont typeface="+mj-lt"/>
              <a:buAutoNum type="arabicPeriod"/>
            </a:pPr>
            <a:r>
              <a:rPr lang="en-US" dirty="0" smtClean="0"/>
              <a:t>Derive a master </a:t>
            </a:r>
            <a:r>
              <a:rPr lang="en-US" b="1" dirty="0">
                <a:solidFill>
                  <a:srgbClr val="3366FF"/>
                </a:solidFill>
              </a:rPr>
              <a:t>B</a:t>
            </a:r>
            <a:r>
              <a:rPr lang="en-US" b="1" dirty="0" smtClean="0">
                <a:solidFill>
                  <a:srgbClr val="3366FF"/>
                </a:solidFill>
              </a:rPr>
              <a:t>oolean Equation</a:t>
            </a:r>
            <a:r>
              <a:rPr lang="en-US" b="1" dirty="0" smtClean="0"/>
              <a:t> </a:t>
            </a:r>
            <a:r>
              <a:rPr lang="en-US" dirty="0" smtClean="0"/>
              <a:t>for each output</a:t>
            </a:r>
          </a:p>
          <a:p>
            <a:pPr marL="571500" indent="-457200">
              <a:buFont typeface="+mj-lt"/>
              <a:buAutoNum type="arabicPeriod"/>
            </a:pPr>
            <a:r>
              <a:rPr lang="en-US" dirty="0" smtClean="0"/>
              <a:t>Design your system using a simulator (Logisim, </a:t>
            </a:r>
            <a:r>
              <a:rPr lang="en-US" dirty="0" err="1" smtClean="0"/>
              <a:t>etc</a:t>
            </a:r>
            <a:r>
              <a:rPr lang="en-US" dirty="0" smtClean="0"/>
              <a:t>)</a:t>
            </a:r>
          </a:p>
          <a:p>
            <a:pPr lvl="1"/>
            <a:r>
              <a:rPr lang="en-US" dirty="0" smtClean="0"/>
              <a:t>Wire your </a:t>
            </a:r>
            <a:r>
              <a:rPr lang="en-US" b="1" dirty="0" smtClean="0">
                <a:solidFill>
                  <a:srgbClr val="660066"/>
                </a:solidFill>
              </a:rPr>
              <a:t>inputs</a:t>
            </a:r>
            <a:r>
              <a:rPr lang="en-US" dirty="0" smtClean="0">
                <a:solidFill>
                  <a:srgbClr val="660066"/>
                </a:solidFill>
              </a:rPr>
              <a:t> </a:t>
            </a:r>
            <a:r>
              <a:rPr lang="en-US" dirty="0" smtClean="0"/>
              <a:t>to </a:t>
            </a:r>
            <a:r>
              <a:rPr lang="en-US" b="1" dirty="0" smtClean="0">
                <a:solidFill>
                  <a:srgbClr val="660066"/>
                </a:solidFill>
              </a:rPr>
              <a:t>outputs</a:t>
            </a:r>
            <a:r>
              <a:rPr lang="en-US" dirty="0" smtClean="0">
                <a:solidFill>
                  <a:srgbClr val="660066"/>
                </a:solidFill>
              </a:rPr>
              <a:t> </a:t>
            </a:r>
            <a:r>
              <a:rPr lang="en-US" dirty="0" smtClean="0"/>
              <a:t>at the gate level</a:t>
            </a:r>
          </a:p>
          <a:p>
            <a:pPr marL="571500" indent="-457200">
              <a:buFont typeface="+mj-lt"/>
              <a:buAutoNum type="arabicPeriod"/>
            </a:pPr>
            <a:r>
              <a:rPr lang="en-US" dirty="0" smtClean="0"/>
              <a:t>Test your </a:t>
            </a:r>
            <a:r>
              <a:rPr lang="en-US" b="1" dirty="0">
                <a:solidFill>
                  <a:srgbClr val="3366FF"/>
                </a:solidFill>
              </a:rPr>
              <a:t>C</a:t>
            </a:r>
            <a:r>
              <a:rPr lang="en-US" b="1" dirty="0" smtClean="0">
                <a:solidFill>
                  <a:srgbClr val="3366FF"/>
                </a:solidFill>
              </a:rPr>
              <a:t>ombinational</a:t>
            </a:r>
            <a:r>
              <a:rPr lang="en-US" dirty="0" smtClean="0"/>
              <a:t> </a:t>
            </a:r>
            <a:r>
              <a:rPr lang="en-US" b="1" dirty="0">
                <a:solidFill>
                  <a:srgbClr val="3366FF"/>
                </a:solidFill>
              </a:rPr>
              <a:t>C</a:t>
            </a:r>
            <a:r>
              <a:rPr lang="en-US" b="1" dirty="0" smtClean="0">
                <a:solidFill>
                  <a:srgbClr val="3366FF"/>
                </a:solidFill>
              </a:rPr>
              <a:t>ircuit</a:t>
            </a:r>
            <a:r>
              <a:rPr lang="en-US" dirty="0" smtClean="0"/>
              <a:t> for all possible outcomes </a:t>
            </a:r>
          </a:p>
          <a:p>
            <a:pPr lvl="1"/>
            <a:r>
              <a:rPr lang="en-US" dirty="0" smtClean="0"/>
              <a:t>Using the simulator, and build the corresponding truth table via logging</a:t>
            </a:r>
          </a:p>
          <a:p>
            <a:pPr marL="114300" indent="0">
              <a:buNone/>
            </a:pPr>
            <a:endParaRPr lang="en-US" dirty="0" smtClean="0"/>
          </a:p>
          <a:p>
            <a:endParaRPr lang="en-US" dirty="0"/>
          </a:p>
        </p:txBody>
      </p:sp>
      <p:sp>
        <p:nvSpPr>
          <p:cNvPr id="4" name="Rounded Rectangle 3"/>
          <p:cNvSpPr/>
          <p:nvPr/>
        </p:nvSpPr>
        <p:spPr>
          <a:xfrm>
            <a:off x="533400" y="3962400"/>
            <a:ext cx="7543800" cy="2514600"/>
          </a:xfrm>
          <a:prstGeom prst="roundRect">
            <a:avLst/>
          </a:prstGeom>
          <a:solidFill>
            <a:schemeClr val="accent1">
              <a:alpha val="6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smtClean="0"/>
          </a:p>
          <a:p>
            <a:pPr algn="ctr"/>
            <a:endParaRPr lang="en-US" b="1" dirty="0"/>
          </a:p>
          <a:p>
            <a:pPr algn="ctr"/>
            <a:endParaRPr lang="en-US" b="1" dirty="0" smtClean="0"/>
          </a:p>
          <a:p>
            <a:pPr algn="ctr"/>
            <a:endParaRPr lang="en-US" b="1" dirty="0"/>
          </a:p>
          <a:p>
            <a:pPr algn="ctr"/>
            <a:endParaRPr lang="en-US" b="1" dirty="0" smtClean="0"/>
          </a:p>
          <a:p>
            <a:pPr algn="ctr"/>
            <a:endParaRPr lang="en-US" b="1" dirty="0"/>
          </a:p>
          <a:p>
            <a:pPr algn="ctr"/>
            <a:endParaRPr lang="en-US" b="1" dirty="0" smtClean="0"/>
          </a:p>
          <a:p>
            <a:pPr algn="ctr"/>
            <a:endParaRPr lang="en-US" b="1" dirty="0"/>
          </a:p>
          <a:p>
            <a:pPr algn="ctr"/>
            <a:r>
              <a:rPr lang="en-US" b="1" dirty="0" smtClean="0"/>
              <a:t>Multiple Views of the Same Design</a:t>
            </a:r>
            <a:endParaRPr lang="en-US" b="1" dirty="0"/>
          </a:p>
        </p:txBody>
      </p:sp>
      <p:sp>
        <p:nvSpPr>
          <p:cNvPr id="5" name="TextBox 4"/>
          <p:cNvSpPr txBox="1"/>
          <p:nvPr/>
        </p:nvSpPr>
        <p:spPr>
          <a:xfrm>
            <a:off x="6212167" y="2722153"/>
            <a:ext cx="2129866" cy="63064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We’ll demonstrate with XNOR</a:t>
            </a:r>
            <a:endParaRPr lang="en-US" dirty="0"/>
          </a:p>
        </p:txBody>
      </p:sp>
    </p:spTree>
    <p:extLst>
      <p:ext uri="{BB962C8B-B14F-4D97-AF65-F5344CB8AC3E}">
        <p14:creationId xmlns:p14="http://schemas.microsoft.com/office/powerpoint/2010/main" val="13220918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5251939" y="2057400"/>
            <a:ext cx="2520461" cy="381000"/>
          </a:xfrm>
          <a:prstGeom prst="roundRect">
            <a:avLst/>
          </a:prstGeom>
          <a:solidFill>
            <a:schemeClr val="accent2">
              <a:tint val="55000"/>
              <a:alpha val="44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5" name="Rounded Rectangle 4"/>
          <p:cNvSpPr/>
          <p:nvPr/>
        </p:nvSpPr>
        <p:spPr>
          <a:xfrm>
            <a:off x="4648200" y="1676400"/>
            <a:ext cx="1825600" cy="381000"/>
          </a:xfrm>
          <a:prstGeom prst="roundRect">
            <a:avLst/>
          </a:prstGeom>
          <a:solidFill>
            <a:schemeClr val="accent2">
              <a:tint val="55000"/>
              <a:alpha val="46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6" name="Rounded Rectangle 5"/>
          <p:cNvSpPr/>
          <p:nvPr/>
        </p:nvSpPr>
        <p:spPr>
          <a:xfrm>
            <a:off x="6934200" y="1676400"/>
            <a:ext cx="774233" cy="381000"/>
          </a:xfrm>
          <a:prstGeom prst="roundRect">
            <a:avLst/>
          </a:prstGeom>
          <a:solidFill>
            <a:schemeClr val="accent2">
              <a:tint val="55000"/>
              <a:alpha val="46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457200" y="274638"/>
            <a:ext cx="8229600" cy="1143000"/>
          </a:xfrm>
        </p:spPr>
        <p:txBody>
          <a:bodyPr/>
          <a:lstStyle/>
          <a:p>
            <a:r>
              <a:rPr lang="en-US" dirty="0" smtClean="0"/>
              <a:t>On Design:</a:t>
            </a:r>
            <a:br>
              <a:rPr lang="en-US" dirty="0" smtClean="0"/>
            </a:br>
            <a:r>
              <a:rPr lang="en-US" dirty="0" smtClean="0"/>
              <a:t>From One Gate to the Cloud</a:t>
            </a:r>
            <a:endParaRPr lang="en-US" dirty="0"/>
          </a:p>
        </p:txBody>
      </p:sp>
      <p:sp>
        <p:nvSpPr>
          <p:cNvPr id="3" name="Content Placeholder 2"/>
          <p:cNvSpPr>
            <a:spLocks noGrp="1"/>
          </p:cNvSpPr>
          <p:nvPr>
            <p:ph idx="1"/>
          </p:nvPr>
        </p:nvSpPr>
        <p:spPr>
          <a:xfrm>
            <a:off x="457200" y="1612900"/>
            <a:ext cx="8382000" cy="4800600"/>
          </a:xfrm>
        </p:spPr>
        <p:txBody>
          <a:bodyPr>
            <a:normAutofit/>
          </a:bodyPr>
          <a:lstStyle/>
          <a:p>
            <a:r>
              <a:rPr lang="en-US" dirty="0" smtClean="0"/>
              <a:t>An atomic gate is part of a larger compound gate like NAND</a:t>
            </a:r>
          </a:p>
          <a:p>
            <a:r>
              <a:rPr lang="en-US" dirty="0" smtClean="0"/>
              <a:t>Gates (including compound) compose combinational circuits</a:t>
            </a:r>
          </a:p>
          <a:p>
            <a:pPr lvl="1"/>
            <a:r>
              <a:rPr lang="en-US" dirty="0" smtClean="0"/>
              <a:t>Multiplexor, </a:t>
            </a:r>
            <a:r>
              <a:rPr lang="en-US" dirty="0" err="1" smtClean="0"/>
              <a:t>Demux</a:t>
            </a:r>
            <a:r>
              <a:rPr lang="en-US" dirty="0" smtClean="0"/>
              <a:t> (let one of many signals pass through)</a:t>
            </a:r>
          </a:p>
          <a:p>
            <a:pPr lvl="1"/>
            <a:r>
              <a:rPr lang="en-US" dirty="0" smtClean="0"/>
              <a:t>Decoder, Encoder</a:t>
            </a:r>
          </a:p>
          <a:p>
            <a:pPr lvl="1"/>
            <a:r>
              <a:rPr lang="en-US" dirty="0" smtClean="0"/>
              <a:t>The half-adder</a:t>
            </a:r>
          </a:p>
          <a:p>
            <a:pPr lvl="2"/>
            <a:r>
              <a:rPr lang="en-US" dirty="0" smtClean="0"/>
              <a:t>A half-adder is part of a full-adder</a:t>
            </a:r>
          </a:p>
          <a:p>
            <a:pPr lvl="3"/>
            <a:r>
              <a:rPr lang="en-US" dirty="0" smtClean="0"/>
              <a:t>A Full-Adder is part of an ALU</a:t>
            </a:r>
          </a:p>
          <a:p>
            <a:pPr lvl="4"/>
            <a:r>
              <a:rPr lang="en-US" dirty="0" smtClean="0"/>
              <a:t>An ALU is part of a core/PE</a:t>
            </a:r>
          </a:p>
          <a:p>
            <a:pPr lvl="5"/>
            <a:r>
              <a:rPr lang="en-US" dirty="0" smtClean="0"/>
              <a:t>A </a:t>
            </a:r>
            <a:r>
              <a:rPr lang="en-US" dirty="0"/>
              <a:t>c</a:t>
            </a:r>
            <a:r>
              <a:rPr lang="en-US" dirty="0" smtClean="0"/>
              <a:t>ore is part of a CPU</a:t>
            </a:r>
          </a:p>
          <a:p>
            <a:pPr lvl="6"/>
            <a:r>
              <a:rPr lang="en-US" dirty="0" smtClean="0"/>
              <a:t>A CPU is part of a Server</a:t>
            </a:r>
          </a:p>
          <a:p>
            <a:pPr lvl="7"/>
            <a:r>
              <a:rPr lang="en-US" dirty="0" smtClean="0"/>
              <a:t>A Server is part of a Cluster/Farm</a:t>
            </a:r>
          </a:p>
          <a:p>
            <a:pPr lvl="8"/>
            <a:r>
              <a:rPr lang="en-US" dirty="0" smtClean="0"/>
              <a:t>A Farm is part of a “Backbone”, a Compute Cloud, the Enterprise LCARS,  etc.</a:t>
            </a:r>
          </a:p>
          <a:p>
            <a:pPr lvl="8"/>
            <a:r>
              <a:rPr lang="en-US" dirty="0" smtClean="0"/>
              <a:t>A Backbone is part of a …  //the final frontier with regards to tabs</a:t>
            </a:r>
            <a:endParaRPr lang="en-US" dirty="0"/>
          </a:p>
        </p:txBody>
      </p:sp>
      <p:sp>
        <p:nvSpPr>
          <p:cNvPr id="4" name="Rounded Rectangle 3"/>
          <p:cNvSpPr/>
          <p:nvPr/>
        </p:nvSpPr>
        <p:spPr>
          <a:xfrm>
            <a:off x="1244600" y="1676400"/>
            <a:ext cx="1371600" cy="381000"/>
          </a:xfrm>
          <a:prstGeom prst="roundRect">
            <a:avLst/>
          </a:prstGeom>
          <a:solidFill>
            <a:schemeClr val="accent5">
              <a:alpha val="18000"/>
            </a:schemeClr>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8" name="Rounded Rectangle 7"/>
          <p:cNvSpPr/>
          <p:nvPr/>
        </p:nvSpPr>
        <p:spPr>
          <a:xfrm>
            <a:off x="381000" y="2387600"/>
            <a:ext cx="7391400" cy="2057400"/>
          </a:xfrm>
          <a:prstGeom prst="roundRect">
            <a:avLst/>
          </a:prstGeom>
          <a:solidFill>
            <a:schemeClr val="dk1">
              <a:tint val="55000"/>
              <a:alpha val="12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b="1" dirty="0" smtClean="0">
                <a:solidFill>
                  <a:srgbClr val="660066"/>
                </a:solidFill>
              </a:rPr>
              <a:t>HW1</a:t>
            </a:r>
            <a:endParaRPr lang="en-US" b="1" dirty="0">
              <a:solidFill>
                <a:srgbClr val="660066"/>
              </a:solidFill>
            </a:endParaRPr>
          </a:p>
        </p:txBody>
      </p:sp>
    </p:spTree>
    <p:extLst>
      <p:ext uri="{BB962C8B-B14F-4D97-AF65-F5344CB8AC3E}">
        <p14:creationId xmlns:p14="http://schemas.microsoft.com/office/powerpoint/2010/main" val="143207042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52560" cy="1143000"/>
          </a:xfrm>
        </p:spPr>
        <p:txBody>
          <a:bodyPr/>
          <a:lstStyle/>
          <a:p>
            <a:r>
              <a:rPr lang="en-US" dirty="0" smtClean="0"/>
              <a:t>From One Basic Switching Element</a:t>
            </a:r>
            <a:endParaRPr lang="en-US" dirty="0"/>
          </a:p>
        </p:txBody>
      </p:sp>
      <p:sp>
        <p:nvSpPr>
          <p:cNvPr id="3" name="Content Placeholder 2"/>
          <p:cNvSpPr>
            <a:spLocks noGrp="1"/>
          </p:cNvSpPr>
          <p:nvPr>
            <p:ph idx="1"/>
          </p:nvPr>
        </p:nvSpPr>
        <p:spPr/>
        <p:txBody>
          <a:bodyPr/>
          <a:lstStyle/>
          <a:p>
            <a:r>
              <a:rPr lang="en-US" dirty="0" smtClean="0"/>
              <a:t>A gate is part of a larger compound gate like NAND</a:t>
            </a:r>
          </a:p>
          <a:p>
            <a:r>
              <a:rPr lang="en-US" dirty="0" smtClean="0"/>
              <a:t>Gate combinations compose combinational circuits like the half-adder, majority function or multiplexor</a:t>
            </a:r>
          </a:p>
          <a:p>
            <a:r>
              <a:rPr lang="en-US" dirty="0" smtClean="0"/>
              <a:t>A half-adder is part of an adder</a:t>
            </a:r>
          </a:p>
          <a:p>
            <a:r>
              <a:rPr lang="en-US" dirty="0" smtClean="0"/>
              <a:t>An adder is part of an ALU</a:t>
            </a:r>
          </a:p>
          <a:p>
            <a:r>
              <a:rPr lang="en-US" dirty="0" smtClean="0"/>
              <a:t>An ALU is part of a core/PE</a:t>
            </a:r>
          </a:p>
          <a:p>
            <a:r>
              <a:rPr lang="en-US" dirty="0" smtClean="0"/>
              <a:t>A </a:t>
            </a:r>
            <a:r>
              <a:rPr lang="en-US" dirty="0"/>
              <a:t>c</a:t>
            </a:r>
            <a:r>
              <a:rPr lang="en-US" dirty="0" smtClean="0"/>
              <a:t>ore is part of a CPU</a:t>
            </a:r>
          </a:p>
          <a:p>
            <a:r>
              <a:rPr lang="en-US" dirty="0" smtClean="0"/>
              <a:t>A CPU is part of a Server</a:t>
            </a:r>
          </a:p>
          <a:p>
            <a:r>
              <a:rPr lang="en-US" dirty="0" smtClean="0"/>
              <a:t>A Server is part of a Cluster/Farm</a:t>
            </a:r>
          </a:p>
          <a:p>
            <a:r>
              <a:rPr lang="en-US" dirty="0" smtClean="0"/>
              <a:t>A Farm is part of a Backbone, a Compute Cloud, the Enterprise LCARS,  etc.</a:t>
            </a:r>
          </a:p>
          <a:p>
            <a:r>
              <a:rPr lang="en-US" dirty="0" smtClean="0"/>
              <a:t>A Backbone is part of a …</a:t>
            </a:r>
            <a:endParaRPr lang="en-US" dirty="0"/>
          </a:p>
        </p:txBody>
      </p:sp>
      <p:sp>
        <p:nvSpPr>
          <p:cNvPr id="4" name="Rounded Rectangle 3"/>
          <p:cNvSpPr/>
          <p:nvPr/>
        </p:nvSpPr>
        <p:spPr>
          <a:xfrm>
            <a:off x="304800" y="1600200"/>
            <a:ext cx="7924800" cy="2819400"/>
          </a:xfrm>
          <a:prstGeom prst="roundRect">
            <a:avLst/>
          </a:prstGeom>
          <a:solidFill>
            <a:schemeClr val="accent1">
              <a:alpha val="22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ounded Rectangle 4"/>
          <p:cNvSpPr/>
          <p:nvPr/>
        </p:nvSpPr>
        <p:spPr>
          <a:xfrm>
            <a:off x="5334000" y="4038600"/>
            <a:ext cx="2286000" cy="3048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422 Hardware Course</a:t>
            </a:r>
            <a:endParaRPr lang="en-US" dirty="0"/>
          </a:p>
        </p:txBody>
      </p:sp>
    </p:spTree>
    <p:extLst>
      <p:ext uri="{BB962C8B-B14F-4D97-AF65-F5344CB8AC3E}">
        <p14:creationId xmlns:p14="http://schemas.microsoft.com/office/powerpoint/2010/main" val="1768779235"/>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955"/>
            <a:ext cx="7848600" cy="1039091"/>
          </a:xfrm>
        </p:spPr>
        <p:txBody>
          <a:bodyPr/>
          <a:lstStyle/>
          <a:p>
            <a:r>
              <a:rPr lang="en-US" dirty="0" smtClean="0"/>
              <a:t>Building  in Modular Layers</a:t>
            </a:r>
            <a:endParaRPr lang="en-US" dirty="0"/>
          </a:p>
        </p:txBody>
      </p:sp>
      <p:sp>
        <p:nvSpPr>
          <p:cNvPr id="4" name="Rectangle 3"/>
          <p:cNvSpPr/>
          <p:nvPr/>
        </p:nvSpPr>
        <p:spPr>
          <a:xfrm>
            <a:off x="4648200" y="5105400"/>
            <a:ext cx="3657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AND, OR, NOT (CMOS transistors)</a:t>
            </a:r>
            <a:endParaRPr lang="en-US" dirty="0"/>
          </a:p>
        </p:txBody>
      </p:sp>
      <p:sp>
        <p:nvSpPr>
          <p:cNvPr id="5" name="Rectangle 4"/>
          <p:cNvSpPr/>
          <p:nvPr/>
        </p:nvSpPr>
        <p:spPr>
          <a:xfrm>
            <a:off x="4648200" y="4648200"/>
            <a:ext cx="3657600" cy="4572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XOR, NAND, NOR, XNOR</a:t>
            </a:r>
            <a:endParaRPr lang="en-US" dirty="0"/>
          </a:p>
        </p:txBody>
      </p:sp>
      <p:sp>
        <p:nvSpPr>
          <p:cNvPr id="6" name="Rectangle 5"/>
          <p:cNvSpPr/>
          <p:nvPr/>
        </p:nvSpPr>
        <p:spPr>
          <a:xfrm>
            <a:off x="4648200" y="3581400"/>
            <a:ext cx="3657600" cy="10668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smtClean="0"/>
              <a:t>Multiplexors, Decoders, Encoders, Memory (Registers, SRAM,DRAM), Adders, Control Logic</a:t>
            </a:r>
            <a:endParaRPr lang="en-US" dirty="0"/>
          </a:p>
        </p:txBody>
      </p:sp>
      <p:sp>
        <p:nvSpPr>
          <p:cNvPr id="7" name="Rectangle 6"/>
          <p:cNvSpPr/>
          <p:nvPr/>
        </p:nvSpPr>
        <p:spPr>
          <a:xfrm>
            <a:off x="4648200" y="3124200"/>
            <a:ext cx="3657600" cy="4572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smtClean="0"/>
              <a:t>ALU</a:t>
            </a:r>
            <a:endParaRPr lang="en-US" dirty="0"/>
          </a:p>
        </p:txBody>
      </p:sp>
      <p:sp>
        <p:nvSpPr>
          <p:cNvPr id="8" name="Rectangle 7"/>
          <p:cNvSpPr/>
          <p:nvPr/>
        </p:nvSpPr>
        <p:spPr>
          <a:xfrm>
            <a:off x="4648200" y="2667000"/>
            <a:ext cx="36576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Cores or PEs</a:t>
            </a:r>
            <a:endParaRPr lang="en-US" dirty="0"/>
          </a:p>
        </p:txBody>
      </p:sp>
      <p:sp>
        <p:nvSpPr>
          <p:cNvPr id="9" name="Rectangle 8"/>
          <p:cNvSpPr/>
          <p:nvPr/>
        </p:nvSpPr>
        <p:spPr>
          <a:xfrm>
            <a:off x="4648200" y="2209800"/>
            <a:ext cx="3657600" cy="4572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smtClean="0"/>
              <a:t>CPU or </a:t>
            </a:r>
            <a:r>
              <a:rPr lang="en-US" dirty="0" err="1" smtClean="0"/>
              <a:t>uP</a:t>
            </a:r>
            <a:endParaRPr lang="en-US" dirty="0"/>
          </a:p>
        </p:txBody>
      </p:sp>
      <p:sp>
        <p:nvSpPr>
          <p:cNvPr id="10" name="Rectangle 9"/>
          <p:cNvSpPr/>
          <p:nvPr/>
        </p:nvSpPr>
        <p:spPr>
          <a:xfrm>
            <a:off x="4648200" y="1752600"/>
            <a:ext cx="3657600" cy="45720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smtClean="0"/>
              <a:t>Server &amp; </a:t>
            </a:r>
            <a:r>
              <a:rPr lang="en-US" dirty="0"/>
              <a:t>Multi-Chip </a:t>
            </a:r>
            <a:r>
              <a:rPr lang="en-US" dirty="0" smtClean="0"/>
              <a:t>Supercomputers</a:t>
            </a:r>
            <a:endParaRPr lang="en-US" dirty="0"/>
          </a:p>
        </p:txBody>
      </p:sp>
      <p:sp>
        <p:nvSpPr>
          <p:cNvPr id="11" name="Rectangle 10"/>
          <p:cNvSpPr/>
          <p:nvPr/>
        </p:nvSpPr>
        <p:spPr>
          <a:xfrm>
            <a:off x="4648200" y="1295400"/>
            <a:ext cx="3657600" cy="4572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smtClean="0"/>
              <a:t>Multi-Server Cluster/Farm</a:t>
            </a:r>
            <a:endParaRPr lang="en-US" dirty="0"/>
          </a:p>
        </p:txBody>
      </p:sp>
      <p:sp>
        <p:nvSpPr>
          <p:cNvPr id="13" name="Content Placeholder 2"/>
          <p:cNvSpPr txBox="1">
            <a:spLocks/>
          </p:cNvSpPr>
          <p:nvPr/>
        </p:nvSpPr>
        <p:spPr>
          <a:xfrm>
            <a:off x="-76200" y="1219200"/>
            <a:ext cx="4191000" cy="4800600"/>
          </a:xfrm>
          <a:prstGeom prst="rect">
            <a:avLst/>
          </a:prstGeom>
        </p:spPr>
        <p:txBody>
          <a:bodyPr vert="horz" lIns="91440" tIns="45720" rIns="91440" bIns="45720" rtlCol="0">
            <a:normAutofit fontScale="92500" lnSpcReduction="2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en-US" dirty="0" smtClean="0"/>
              <a:t>A gate is part of a larger compound gate like NAND</a:t>
            </a:r>
          </a:p>
          <a:p>
            <a:r>
              <a:rPr lang="en-US" dirty="0" smtClean="0"/>
              <a:t>Compound gates compose combinational circuits like the half-adder, majority function or multiplexor</a:t>
            </a:r>
          </a:p>
          <a:p>
            <a:r>
              <a:rPr lang="en-US" dirty="0" smtClean="0"/>
              <a:t>A half-adder is part of an adder</a:t>
            </a:r>
          </a:p>
          <a:p>
            <a:r>
              <a:rPr lang="en-US" dirty="0" smtClean="0"/>
              <a:t>An Adder is part of an ALU</a:t>
            </a:r>
          </a:p>
          <a:p>
            <a:r>
              <a:rPr lang="en-US" dirty="0" smtClean="0"/>
              <a:t>An ALU is part of a core/PE</a:t>
            </a:r>
          </a:p>
          <a:p>
            <a:r>
              <a:rPr lang="en-US" dirty="0" smtClean="0"/>
              <a:t>A core is part of a CPU</a:t>
            </a:r>
          </a:p>
          <a:p>
            <a:r>
              <a:rPr lang="en-US" dirty="0" smtClean="0"/>
              <a:t>A CPU is part of a Server</a:t>
            </a:r>
          </a:p>
          <a:p>
            <a:r>
              <a:rPr lang="en-US" dirty="0" smtClean="0"/>
              <a:t>A Server is part of a Cluster/Farm</a:t>
            </a:r>
          </a:p>
          <a:p>
            <a:r>
              <a:rPr lang="en-US" dirty="0" smtClean="0"/>
              <a:t>A Farm is part of a Backbone, a Compute Cloud, the Enterprise LCARS,  etc.</a:t>
            </a:r>
          </a:p>
          <a:p>
            <a:r>
              <a:rPr lang="en-US" dirty="0" smtClean="0"/>
              <a:t>A Backbone is part of a …</a:t>
            </a:r>
            <a:endParaRPr lang="en-US" dirty="0"/>
          </a:p>
        </p:txBody>
      </p:sp>
      <p:sp>
        <p:nvSpPr>
          <p:cNvPr id="14" name="Up Arrow 13"/>
          <p:cNvSpPr/>
          <p:nvPr/>
        </p:nvSpPr>
        <p:spPr>
          <a:xfrm>
            <a:off x="4267200" y="1257300"/>
            <a:ext cx="355600" cy="457200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Down Arrow 16"/>
          <p:cNvSpPr/>
          <p:nvPr/>
        </p:nvSpPr>
        <p:spPr>
          <a:xfrm>
            <a:off x="3962400" y="1295400"/>
            <a:ext cx="304800" cy="45720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280912"/>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00182" y="1524000"/>
            <a:ext cx="4017818" cy="38862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152400" y="0"/>
            <a:ext cx="7848600" cy="1143000"/>
          </a:xfrm>
        </p:spPr>
        <p:txBody>
          <a:bodyPr/>
          <a:lstStyle/>
          <a:p>
            <a:r>
              <a:rPr lang="en-US" dirty="0" smtClean="0"/>
              <a:t>Focusing on the Lower Layers</a:t>
            </a:r>
            <a:endParaRPr lang="en-US" dirty="0"/>
          </a:p>
        </p:txBody>
      </p:sp>
      <p:sp>
        <p:nvSpPr>
          <p:cNvPr id="3" name="Content Placeholder 2"/>
          <p:cNvSpPr>
            <a:spLocks noGrp="1"/>
          </p:cNvSpPr>
          <p:nvPr>
            <p:ph idx="1"/>
          </p:nvPr>
        </p:nvSpPr>
        <p:spPr>
          <a:xfrm>
            <a:off x="152400" y="1600200"/>
            <a:ext cx="8305800" cy="4800600"/>
          </a:xfrm>
        </p:spPr>
        <p:txBody>
          <a:bodyPr>
            <a:normAutofit lnSpcReduction="10000"/>
          </a:bodyPr>
          <a:lstStyle/>
          <a:p>
            <a:r>
              <a:rPr lang="en-US" dirty="0" smtClean="0"/>
              <a:t>Given an AND, OR, NOT</a:t>
            </a:r>
          </a:p>
          <a:p>
            <a:pPr lvl="1"/>
            <a:r>
              <a:rPr lang="en-US" dirty="0" smtClean="0"/>
              <a:t>Make XOR</a:t>
            </a:r>
          </a:p>
          <a:p>
            <a:pPr lvl="1"/>
            <a:r>
              <a:rPr lang="en-US" dirty="0" smtClean="0"/>
              <a:t>Make NAND</a:t>
            </a:r>
          </a:p>
          <a:p>
            <a:pPr lvl="1"/>
            <a:r>
              <a:rPr lang="en-US" dirty="0" smtClean="0"/>
              <a:t>Make NOR</a:t>
            </a:r>
          </a:p>
          <a:p>
            <a:r>
              <a:rPr lang="en-US" dirty="0" smtClean="0"/>
              <a:t>Given XOR and NOT</a:t>
            </a:r>
          </a:p>
          <a:p>
            <a:pPr lvl="1"/>
            <a:r>
              <a:rPr lang="en-US" dirty="0" smtClean="0"/>
              <a:t>Make XNOR</a:t>
            </a:r>
          </a:p>
          <a:p>
            <a:pPr lvl="2"/>
            <a:r>
              <a:rPr lang="en-US" dirty="0" smtClean="0"/>
              <a:t>A comparator</a:t>
            </a:r>
          </a:p>
          <a:p>
            <a:r>
              <a:rPr lang="en-US" dirty="0" smtClean="0"/>
              <a:t>Given all these gates</a:t>
            </a:r>
          </a:p>
          <a:p>
            <a:pPr lvl="1"/>
            <a:r>
              <a:rPr lang="en-US" dirty="0" smtClean="0"/>
              <a:t>Make a decoder</a:t>
            </a:r>
            <a:r>
              <a:rPr lang="en-US" dirty="0"/>
              <a:t> </a:t>
            </a:r>
            <a:r>
              <a:rPr lang="en-US" dirty="0" smtClean="0"/>
              <a:t>or mux</a:t>
            </a:r>
          </a:p>
          <a:p>
            <a:pPr lvl="1"/>
            <a:r>
              <a:rPr lang="en-US" dirty="0" smtClean="0"/>
              <a:t>Make an adder</a:t>
            </a:r>
          </a:p>
          <a:p>
            <a:pPr lvl="1"/>
            <a:r>
              <a:rPr lang="en-US" dirty="0"/>
              <a:t>Make a memory cell (SR, JK, D</a:t>
            </a:r>
            <a:r>
              <a:rPr lang="en-US" dirty="0" smtClean="0"/>
              <a:t>)</a:t>
            </a:r>
          </a:p>
          <a:p>
            <a:r>
              <a:rPr lang="en-US" dirty="0" smtClean="0"/>
              <a:t>Given all these components</a:t>
            </a:r>
          </a:p>
          <a:p>
            <a:pPr lvl="1"/>
            <a:r>
              <a:rPr lang="en-US" dirty="0" smtClean="0"/>
              <a:t>Make one example of a typical Von Neumann Computer Architecture</a:t>
            </a:r>
            <a:endParaRPr lang="en-US" dirty="0"/>
          </a:p>
        </p:txBody>
      </p:sp>
      <p:sp>
        <p:nvSpPr>
          <p:cNvPr id="4" name="Rectangle 3"/>
          <p:cNvSpPr/>
          <p:nvPr/>
        </p:nvSpPr>
        <p:spPr>
          <a:xfrm>
            <a:off x="4648200" y="5105400"/>
            <a:ext cx="3657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AND, OR, NOT (CMOS transistors)</a:t>
            </a:r>
            <a:endParaRPr lang="en-US" dirty="0"/>
          </a:p>
        </p:txBody>
      </p:sp>
      <p:sp>
        <p:nvSpPr>
          <p:cNvPr id="5" name="Rectangle 4"/>
          <p:cNvSpPr/>
          <p:nvPr/>
        </p:nvSpPr>
        <p:spPr>
          <a:xfrm>
            <a:off x="4648200" y="4648200"/>
            <a:ext cx="3657600" cy="4572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XOR, NAND, NOR, XNOR</a:t>
            </a:r>
            <a:endParaRPr lang="en-US" dirty="0"/>
          </a:p>
        </p:txBody>
      </p:sp>
      <p:sp>
        <p:nvSpPr>
          <p:cNvPr id="6" name="Rectangle 5"/>
          <p:cNvSpPr/>
          <p:nvPr/>
        </p:nvSpPr>
        <p:spPr>
          <a:xfrm>
            <a:off x="4648200" y="3581400"/>
            <a:ext cx="3657600" cy="10668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smtClean="0"/>
              <a:t>Multiplexors, Decoders, Encoders, Memory (Registers, SRAM,DRAM), Adders, Control Logic</a:t>
            </a:r>
            <a:endParaRPr lang="en-US" dirty="0"/>
          </a:p>
        </p:txBody>
      </p:sp>
      <p:sp>
        <p:nvSpPr>
          <p:cNvPr id="7" name="Rectangle 6"/>
          <p:cNvSpPr/>
          <p:nvPr/>
        </p:nvSpPr>
        <p:spPr>
          <a:xfrm>
            <a:off x="4648200" y="3124200"/>
            <a:ext cx="3657600" cy="4572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smtClean="0"/>
              <a:t>ALU</a:t>
            </a:r>
            <a:endParaRPr lang="en-US" dirty="0"/>
          </a:p>
        </p:txBody>
      </p:sp>
      <p:sp>
        <p:nvSpPr>
          <p:cNvPr id="8" name="Rectangle 7"/>
          <p:cNvSpPr/>
          <p:nvPr/>
        </p:nvSpPr>
        <p:spPr>
          <a:xfrm>
            <a:off x="4648200" y="2667000"/>
            <a:ext cx="36576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Cores or PEs</a:t>
            </a:r>
            <a:endParaRPr lang="en-US" dirty="0"/>
          </a:p>
        </p:txBody>
      </p:sp>
      <p:sp>
        <p:nvSpPr>
          <p:cNvPr id="9" name="Rectangle 8"/>
          <p:cNvSpPr/>
          <p:nvPr/>
        </p:nvSpPr>
        <p:spPr>
          <a:xfrm>
            <a:off x="4648200" y="2209800"/>
            <a:ext cx="3657600" cy="4572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smtClean="0"/>
              <a:t>CPU or </a:t>
            </a:r>
            <a:r>
              <a:rPr lang="en-US" dirty="0" err="1" smtClean="0"/>
              <a:t>uP</a:t>
            </a:r>
            <a:endParaRPr lang="en-US" dirty="0"/>
          </a:p>
        </p:txBody>
      </p:sp>
      <p:sp>
        <p:nvSpPr>
          <p:cNvPr id="10" name="Rectangle 9"/>
          <p:cNvSpPr/>
          <p:nvPr/>
        </p:nvSpPr>
        <p:spPr>
          <a:xfrm>
            <a:off x="4648200" y="1752600"/>
            <a:ext cx="3657600" cy="45720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smtClean="0"/>
              <a:t>Server &amp; </a:t>
            </a:r>
            <a:r>
              <a:rPr lang="en-US" dirty="0"/>
              <a:t>Multi-Chip </a:t>
            </a:r>
            <a:r>
              <a:rPr lang="en-US" dirty="0" smtClean="0"/>
              <a:t>Supercomputers</a:t>
            </a:r>
            <a:endParaRPr lang="en-US" dirty="0"/>
          </a:p>
        </p:txBody>
      </p:sp>
      <p:sp>
        <p:nvSpPr>
          <p:cNvPr id="11" name="Rectangle 10"/>
          <p:cNvSpPr/>
          <p:nvPr/>
        </p:nvSpPr>
        <p:spPr>
          <a:xfrm>
            <a:off x="4648200" y="1295400"/>
            <a:ext cx="3657600" cy="4572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smtClean="0"/>
              <a:t>Multi-Server Cluster/Farm</a:t>
            </a:r>
            <a:endParaRPr lang="en-US" dirty="0"/>
          </a:p>
        </p:txBody>
      </p:sp>
      <p:sp>
        <p:nvSpPr>
          <p:cNvPr id="13" name="Left Brace 12"/>
          <p:cNvSpPr/>
          <p:nvPr/>
        </p:nvSpPr>
        <p:spPr>
          <a:xfrm>
            <a:off x="4343400" y="3124200"/>
            <a:ext cx="457200" cy="2489454"/>
          </a:xfrm>
          <a:prstGeom prst="leftBrace">
            <a:avLst>
              <a:gd name="adj1" fmla="val 8333"/>
              <a:gd name="adj2" fmla="val 4898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cxnSp>
        <p:nvCxnSpPr>
          <p:cNvPr id="15" name="Straight Connector 14"/>
          <p:cNvCxnSpPr>
            <a:endCxn id="13" idx="1"/>
          </p:cNvCxnSpPr>
          <p:nvPr/>
        </p:nvCxnSpPr>
        <p:spPr>
          <a:xfrm flipH="1" flipV="1">
            <a:off x="4343400" y="4343535"/>
            <a:ext cx="50800" cy="3309"/>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509841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9"/>
                                        </p:tgtEl>
                                      </p:cBhvr>
                                    </p:animEffect>
                                    <p:set>
                                      <p:cBhvr>
                                        <p:cTn id="10" dur="1" fill="hold">
                                          <p:stCondLst>
                                            <p:cond delay="499"/>
                                          </p:stCondLst>
                                        </p:cTn>
                                        <p:tgtEl>
                                          <p:spTgt spid="9"/>
                                        </p:tgtEl>
                                        <p:attrNameLst>
                                          <p:attrName>style.visibility</p:attrName>
                                        </p:attrNameLst>
                                      </p:cBhvr>
                                      <p:to>
                                        <p:strVal val="hidden"/>
                                      </p:to>
                                    </p:set>
                                  </p:childTnLst>
                                </p:cTn>
                              </p:par>
                              <p:par>
                                <p:cTn id="11" presetID="9" presetClass="exit" presetSubtype="0" fill="hold" grpId="0" nodeType="withEffect">
                                  <p:stCondLst>
                                    <p:cond delay="0"/>
                                  </p:stCondLst>
                                  <p:childTnLst>
                                    <p:animEffect transition="out" filter="dissolv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par>
                                <p:cTn id="14" presetID="9" presetClass="exit" presetSubtype="0" fill="hold" grpId="0" nodeType="withEffect">
                                  <p:stCondLst>
                                    <p:cond delay="0"/>
                                  </p:stCondLst>
                                  <p:childTnLst>
                                    <p:animEffect transition="out" filter="dissolve">
                                      <p:cBhvr>
                                        <p:cTn id="15" dur="500"/>
                                        <p:tgtEl>
                                          <p:spTgt spid="11"/>
                                        </p:tgtEl>
                                      </p:cBhvr>
                                    </p:animEffect>
                                    <p:set>
                                      <p:cBhvr>
                                        <p:cTn id="16" dur="1" fill="hold">
                                          <p:stCondLst>
                                            <p:cond delay="499"/>
                                          </p:stCondLst>
                                        </p:cTn>
                                        <p:tgtEl>
                                          <p:spTgt spid="11"/>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dissolve">
                                      <p:cBhvr>
                                        <p:cTn id="2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8" grpId="0" animBg="1"/>
      <p:bldP spid="9" grpId="0" animBg="1"/>
      <p:bldP spid="10" grpId="0" animBg="1"/>
      <p:bldP spid="11"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48600" cy="1143000"/>
          </a:xfrm>
        </p:spPr>
        <p:txBody>
          <a:bodyPr/>
          <a:lstStyle/>
          <a:p>
            <a:r>
              <a:rPr lang="en-US" dirty="0" smtClean="0"/>
              <a:t>Building Upon Layers</a:t>
            </a:r>
            <a:endParaRPr lang="en-US" dirty="0"/>
          </a:p>
        </p:txBody>
      </p:sp>
      <p:sp>
        <p:nvSpPr>
          <p:cNvPr id="3" name="Content Placeholder 2"/>
          <p:cNvSpPr>
            <a:spLocks noGrp="1"/>
          </p:cNvSpPr>
          <p:nvPr>
            <p:ph idx="1"/>
          </p:nvPr>
        </p:nvSpPr>
        <p:spPr>
          <a:xfrm>
            <a:off x="76200" y="1600200"/>
            <a:ext cx="8305800" cy="4800600"/>
          </a:xfrm>
        </p:spPr>
        <p:txBody>
          <a:bodyPr>
            <a:normAutofit lnSpcReduction="10000"/>
          </a:bodyPr>
          <a:lstStyle/>
          <a:p>
            <a:r>
              <a:rPr lang="en-US" dirty="0" smtClean="0"/>
              <a:t>Given an AND, OR, NOT</a:t>
            </a:r>
          </a:p>
          <a:p>
            <a:pPr lvl="1"/>
            <a:r>
              <a:rPr lang="en-US" dirty="0" smtClean="0"/>
              <a:t>Make XOR</a:t>
            </a:r>
          </a:p>
          <a:p>
            <a:pPr lvl="1"/>
            <a:r>
              <a:rPr lang="en-US" dirty="0" smtClean="0"/>
              <a:t>Make NAND</a:t>
            </a:r>
          </a:p>
          <a:p>
            <a:pPr lvl="1"/>
            <a:r>
              <a:rPr lang="en-US" dirty="0" smtClean="0"/>
              <a:t>Make NOR</a:t>
            </a:r>
          </a:p>
          <a:p>
            <a:r>
              <a:rPr lang="en-US" dirty="0" smtClean="0"/>
              <a:t>Given XOR and NOT</a:t>
            </a:r>
          </a:p>
          <a:p>
            <a:pPr lvl="1"/>
            <a:r>
              <a:rPr lang="en-US" dirty="0" smtClean="0"/>
              <a:t>Make XNOR</a:t>
            </a:r>
          </a:p>
          <a:p>
            <a:pPr lvl="2"/>
            <a:r>
              <a:rPr lang="en-US" dirty="0" smtClean="0"/>
              <a:t>A comparator</a:t>
            </a:r>
          </a:p>
          <a:p>
            <a:r>
              <a:rPr lang="en-US" dirty="0" smtClean="0"/>
              <a:t>Given all these gates</a:t>
            </a:r>
          </a:p>
          <a:p>
            <a:pPr lvl="1"/>
            <a:r>
              <a:rPr lang="en-US" dirty="0" smtClean="0"/>
              <a:t>Make a decoder</a:t>
            </a:r>
            <a:r>
              <a:rPr lang="en-US" dirty="0"/>
              <a:t> </a:t>
            </a:r>
            <a:r>
              <a:rPr lang="en-US" dirty="0" smtClean="0"/>
              <a:t>or mux</a:t>
            </a:r>
          </a:p>
          <a:p>
            <a:pPr lvl="1"/>
            <a:r>
              <a:rPr lang="en-US" dirty="0" smtClean="0"/>
              <a:t>Make an adder</a:t>
            </a:r>
          </a:p>
          <a:p>
            <a:pPr lvl="1"/>
            <a:r>
              <a:rPr lang="en-US" dirty="0"/>
              <a:t>Make a memory cell (SR, JK, D</a:t>
            </a:r>
            <a:r>
              <a:rPr lang="en-US" dirty="0" smtClean="0"/>
              <a:t>)</a:t>
            </a:r>
          </a:p>
          <a:p>
            <a:r>
              <a:rPr lang="en-US" dirty="0" smtClean="0"/>
              <a:t>Given all these components</a:t>
            </a:r>
          </a:p>
          <a:p>
            <a:pPr lvl="1"/>
            <a:r>
              <a:rPr lang="en-US" dirty="0" smtClean="0"/>
              <a:t>Make one example of a typical Von Neumann Computer Architecture</a:t>
            </a:r>
            <a:endParaRPr lang="en-US" dirty="0"/>
          </a:p>
        </p:txBody>
      </p:sp>
      <p:sp>
        <p:nvSpPr>
          <p:cNvPr id="4" name="Rectangle 3"/>
          <p:cNvSpPr/>
          <p:nvPr/>
        </p:nvSpPr>
        <p:spPr>
          <a:xfrm>
            <a:off x="4648200" y="5105400"/>
            <a:ext cx="3657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AND, OR, NOT (CMOS transistors)</a:t>
            </a:r>
            <a:endParaRPr lang="en-US" dirty="0"/>
          </a:p>
        </p:txBody>
      </p:sp>
      <p:sp>
        <p:nvSpPr>
          <p:cNvPr id="5" name="Rectangle 4"/>
          <p:cNvSpPr/>
          <p:nvPr/>
        </p:nvSpPr>
        <p:spPr>
          <a:xfrm>
            <a:off x="4648200" y="4648200"/>
            <a:ext cx="3657600" cy="4572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XOR, NAND, NOR, XNOR</a:t>
            </a:r>
            <a:endParaRPr lang="en-US" dirty="0"/>
          </a:p>
        </p:txBody>
      </p:sp>
      <p:sp>
        <p:nvSpPr>
          <p:cNvPr id="6" name="Rectangle 5"/>
          <p:cNvSpPr/>
          <p:nvPr/>
        </p:nvSpPr>
        <p:spPr>
          <a:xfrm>
            <a:off x="4648200" y="3581400"/>
            <a:ext cx="3657600" cy="10668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smtClean="0"/>
              <a:t>Multiplexors, Decoders, Encoders, Memory (Registers, SRAM,DRAM), Adders, Control Logic</a:t>
            </a:r>
            <a:endParaRPr lang="en-US" dirty="0"/>
          </a:p>
        </p:txBody>
      </p:sp>
      <p:sp>
        <p:nvSpPr>
          <p:cNvPr id="7" name="Rectangle 6"/>
          <p:cNvSpPr/>
          <p:nvPr/>
        </p:nvSpPr>
        <p:spPr>
          <a:xfrm>
            <a:off x="4648200" y="3124200"/>
            <a:ext cx="3657600" cy="4572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smtClean="0"/>
              <a:t>ALU</a:t>
            </a:r>
            <a:endParaRPr lang="en-US" dirty="0"/>
          </a:p>
        </p:txBody>
      </p:sp>
      <p:sp>
        <p:nvSpPr>
          <p:cNvPr id="8" name="Rectangle 7"/>
          <p:cNvSpPr/>
          <p:nvPr/>
        </p:nvSpPr>
        <p:spPr>
          <a:xfrm>
            <a:off x="4648200" y="2667000"/>
            <a:ext cx="36576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Cores or PEs</a:t>
            </a:r>
            <a:endParaRPr lang="en-US" dirty="0"/>
          </a:p>
        </p:txBody>
      </p:sp>
      <p:sp>
        <p:nvSpPr>
          <p:cNvPr id="9" name="Rectangle 8"/>
          <p:cNvSpPr/>
          <p:nvPr/>
        </p:nvSpPr>
        <p:spPr>
          <a:xfrm>
            <a:off x="4648200" y="2209800"/>
            <a:ext cx="3657600" cy="4572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smtClean="0"/>
              <a:t>CPU or </a:t>
            </a:r>
            <a:r>
              <a:rPr lang="en-US" dirty="0" err="1" smtClean="0"/>
              <a:t>uP</a:t>
            </a:r>
            <a:endParaRPr lang="en-US" dirty="0"/>
          </a:p>
        </p:txBody>
      </p:sp>
      <p:sp>
        <p:nvSpPr>
          <p:cNvPr id="10" name="Rectangle 9"/>
          <p:cNvSpPr/>
          <p:nvPr/>
        </p:nvSpPr>
        <p:spPr>
          <a:xfrm>
            <a:off x="4648200" y="1752600"/>
            <a:ext cx="3657600" cy="45720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smtClean="0"/>
              <a:t>Server &amp; </a:t>
            </a:r>
            <a:r>
              <a:rPr lang="en-US" dirty="0"/>
              <a:t>Multi-Chip </a:t>
            </a:r>
            <a:r>
              <a:rPr lang="en-US" dirty="0" smtClean="0"/>
              <a:t>Supercomputers</a:t>
            </a:r>
            <a:endParaRPr lang="en-US" dirty="0"/>
          </a:p>
        </p:txBody>
      </p:sp>
      <p:sp>
        <p:nvSpPr>
          <p:cNvPr id="11" name="Rectangle 10"/>
          <p:cNvSpPr/>
          <p:nvPr/>
        </p:nvSpPr>
        <p:spPr>
          <a:xfrm>
            <a:off x="4648200" y="1295400"/>
            <a:ext cx="3657600" cy="4572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smtClean="0"/>
              <a:t>Multi-Server Cluster/Farm</a:t>
            </a:r>
            <a:endParaRPr lang="en-US" dirty="0"/>
          </a:p>
        </p:txBody>
      </p:sp>
      <p:sp>
        <p:nvSpPr>
          <p:cNvPr id="14" name="Rounded Rectangle 13"/>
          <p:cNvSpPr/>
          <p:nvPr/>
        </p:nvSpPr>
        <p:spPr>
          <a:xfrm>
            <a:off x="736600" y="4394200"/>
            <a:ext cx="3606800" cy="990600"/>
          </a:xfrm>
          <a:prstGeom prst="roundRect">
            <a:avLst/>
          </a:prstGeom>
          <a:solidFill>
            <a:schemeClr val="accent2">
              <a:alpha val="6000"/>
            </a:schemeClr>
          </a:solidFill>
        </p:spPr>
        <p:style>
          <a:lnRef idx="1">
            <a:schemeClr val="accent2"/>
          </a:lnRef>
          <a:fillRef idx="3">
            <a:schemeClr val="accent2"/>
          </a:fillRef>
          <a:effectRef idx="2">
            <a:schemeClr val="accent2"/>
          </a:effectRef>
          <a:fontRef idx="minor">
            <a:schemeClr val="lt1"/>
          </a:fontRef>
        </p:style>
        <p:txBody>
          <a:bodyPr rtlCol="0" anchor="ctr"/>
          <a:lstStyle/>
          <a:p>
            <a:pPr algn="r"/>
            <a:r>
              <a:rPr lang="en-US" b="1" dirty="0" smtClean="0">
                <a:solidFill>
                  <a:srgbClr val="660066"/>
                </a:solidFill>
              </a:rPr>
              <a:t>Practice in Logisim</a:t>
            </a:r>
            <a:endParaRPr lang="en-US" b="1" dirty="0">
              <a:solidFill>
                <a:srgbClr val="660066"/>
              </a:solidFill>
            </a:endParaRPr>
          </a:p>
        </p:txBody>
      </p:sp>
      <p:sp>
        <p:nvSpPr>
          <p:cNvPr id="16" name="Rounded Rectangle 15"/>
          <p:cNvSpPr/>
          <p:nvPr/>
        </p:nvSpPr>
        <p:spPr>
          <a:xfrm>
            <a:off x="3303924" y="2667000"/>
            <a:ext cx="5154276" cy="1981200"/>
          </a:xfrm>
          <a:prstGeom prst="roundRect">
            <a:avLst/>
          </a:prstGeom>
          <a:solidFill>
            <a:schemeClr val="accent2">
              <a:alpha val="6000"/>
            </a:schemeClr>
          </a:solidFill>
        </p:spPr>
        <p:style>
          <a:lnRef idx="1">
            <a:schemeClr val="accent2"/>
          </a:lnRef>
          <a:fillRef idx="3">
            <a:schemeClr val="accent2"/>
          </a:fillRef>
          <a:effectRef idx="2">
            <a:schemeClr val="accent2"/>
          </a:effectRef>
          <a:fontRef idx="minor">
            <a:schemeClr val="lt1"/>
          </a:fontRef>
        </p:style>
        <p:txBody>
          <a:bodyPr rtlCol="0" anchor="ctr"/>
          <a:lstStyle/>
          <a:p>
            <a:r>
              <a:rPr lang="en-US" b="1" dirty="0" smtClean="0">
                <a:solidFill>
                  <a:srgbClr val="660066"/>
                </a:solidFill>
              </a:rPr>
              <a:t>Today &amp;</a:t>
            </a:r>
          </a:p>
          <a:p>
            <a:r>
              <a:rPr lang="en-US" b="1" dirty="0" smtClean="0">
                <a:solidFill>
                  <a:srgbClr val="660066"/>
                </a:solidFill>
              </a:rPr>
              <a:t>The Future     </a:t>
            </a:r>
            <a:r>
              <a:rPr lang="en-US" dirty="0" smtClean="0"/>
              <a:t> </a:t>
            </a:r>
            <a:endParaRPr lang="en-US" dirty="0"/>
          </a:p>
        </p:txBody>
      </p:sp>
      <p:sp>
        <p:nvSpPr>
          <p:cNvPr id="12" name="Left Arrow 11"/>
          <p:cNvSpPr/>
          <p:nvPr/>
        </p:nvSpPr>
        <p:spPr>
          <a:xfrm>
            <a:off x="7848600" y="2192958"/>
            <a:ext cx="1270000" cy="490884"/>
          </a:xfrm>
          <a:prstGeom prst="lef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smtClean="0"/>
              <a:t>Finally</a:t>
            </a:r>
            <a:endParaRPr lang="en-US" dirty="0"/>
          </a:p>
        </p:txBody>
      </p:sp>
      <p:sp>
        <p:nvSpPr>
          <p:cNvPr id="15" name="Left Arrow 14"/>
          <p:cNvSpPr/>
          <p:nvPr/>
        </p:nvSpPr>
        <p:spPr>
          <a:xfrm>
            <a:off x="7848600" y="5660058"/>
            <a:ext cx="1281722" cy="490884"/>
          </a:xfrm>
          <a:prstGeom prst="lef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smtClean="0"/>
              <a:t>Finally</a:t>
            </a:r>
            <a:endParaRPr lang="en-US" dirty="0"/>
          </a:p>
        </p:txBody>
      </p:sp>
    </p:spTree>
    <p:extLst>
      <p:ext uri="{BB962C8B-B14F-4D97-AF65-F5344CB8AC3E}">
        <p14:creationId xmlns:p14="http://schemas.microsoft.com/office/powerpoint/2010/main" val="159630717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001000" cy="1371600"/>
          </a:xfrm>
        </p:spPr>
        <p:txBody>
          <a:bodyPr/>
          <a:lstStyle/>
          <a:p>
            <a:r>
              <a:rPr lang="en-US" sz="3800" dirty="0" smtClean="0"/>
              <a:t>Each Layer is Purposefully Controlled</a:t>
            </a:r>
            <a:br>
              <a:rPr lang="en-US" sz="3800" dirty="0" smtClean="0"/>
            </a:br>
            <a:r>
              <a:rPr lang="en-US" sz="2000" dirty="0" smtClean="0"/>
              <a:t>“Hardwired”                V.S. “Programmed”</a:t>
            </a:r>
            <a:br>
              <a:rPr lang="en-US" sz="2000" dirty="0" smtClean="0"/>
            </a:br>
            <a:r>
              <a:rPr lang="en-US" sz="2000" dirty="0" smtClean="0"/>
              <a:t>  Powerful Speed       V.S.   Powerful Flexibility</a:t>
            </a:r>
            <a:endParaRPr lang="en-US" sz="2000" dirty="0"/>
          </a:p>
        </p:txBody>
      </p:sp>
      <p:sp>
        <p:nvSpPr>
          <p:cNvPr id="4" name="Rectangle 3"/>
          <p:cNvSpPr/>
          <p:nvPr/>
        </p:nvSpPr>
        <p:spPr>
          <a:xfrm>
            <a:off x="3581400" y="5486400"/>
            <a:ext cx="3657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AND, OR, NOT (CMOS transistors)</a:t>
            </a:r>
            <a:endParaRPr lang="en-US" dirty="0"/>
          </a:p>
        </p:txBody>
      </p:sp>
      <p:sp>
        <p:nvSpPr>
          <p:cNvPr id="5" name="Rectangle 4"/>
          <p:cNvSpPr/>
          <p:nvPr/>
        </p:nvSpPr>
        <p:spPr>
          <a:xfrm>
            <a:off x="3581400" y="5029200"/>
            <a:ext cx="3657600" cy="4572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XOR, NAND, NOR, XNOR</a:t>
            </a:r>
            <a:endParaRPr lang="en-US" dirty="0"/>
          </a:p>
        </p:txBody>
      </p:sp>
      <p:sp>
        <p:nvSpPr>
          <p:cNvPr id="6" name="Rectangle 5"/>
          <p:cNvSpPr/>
          <p:nvPr/>
        </p:nvSpPr>
        <p:spPr>
          <a:xfrm>
            <a:off x="3581400" y="3962400"/>
            <a:ext cx="3657600" cy="10668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smtClean="0"/>
              <a:t>Multiplexors, Decoders, Encoders, Memory (Registers, SRAM,DRAM), Adders, Control Logic</a:t>
            </a:r>
            <a:endParaRPr lang="en-US" dirty="0"/>
          </a:p>
        </p:txBody>
      </p:sp>
      <p:sp>
        <p:nvSpPr>
          <p:cNvPr id="7" name="Rectangle 6"/>
          <p:cNvSpPr/>
          <p:nvPr/>
        </p:nvSpPr>
        <p:spPr>
          <a:xfrm>
            <a:off x="3581400" y="3505200"/>
            <a:ext cx="3657600" cy="4572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smtClean="0"/>
              <a:t>ALU</a:t>
            </a:r>
            <a:endParaRPr lang="en-US" dirty="0"/>
          </a:p>
        </p:txBody>
      </p:sp>
      <p:sp>
        <p:nvSpPr>
          <p:cNvPr id="8" name="Rectangle 7"/>
          <p:cNvSpPr/>
          <p:nvPr/>
        </p:nvSpPr>
        <p:spPr>
          <a:xfrm>
            <a:off x="3581400" y="3048000"/>
            <a:ext cx="36576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Cores or PEs</a:t>
            </a:r>
            <a:endParaRPr lang="en-US" dirty="0"/>
          </a:p>
        </p:txBody>
      </p:sp>
      <p:sp>
        <p:nvSpPr>
          <p:cNvPr id="9" name="Rectangle 8"/>
          <p:cNvSpPr/>
          <p:nvPr/>
        </p:nvSpPr>
        <p:spPr>
          <a:xfrm>
            <a:off x="3581400" y="2590800"/>
            <a:ext cx="3657600" cy="4572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smtClean="0"/>
              <a:t>CPU or </a:t>
            </a:r>
            <a:r>
              <a:rPr lang="en-US" dirty="0" err="1" smtClean="0"/>
              <a:t>uP</a:t>
            </a:r>
            <a:endParaRPr lang="en-US" dirty="0"/>
          </a:p>
        </p:txBody>
      </p:sp>
      <p:sp>
        <p:nvSpPr>
          <p:cNvPr id="10" name="Rectangle 9"/>
          <p:cNvSpPr/>
          <p:nvPr/>
        </p:nvSpPr>
        <p:spPr>
          <a:xfrm>
            <a:off x="3581400" y="2133600"/>
            <a:ext cx="3657600" cy="45720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smtClean="0"/>
              <a:t>Server &amp; </a:t>
            </a:r>
            <a:r>
              <a:rPr lang="en-US" dirty="0"/>
              <a:t>Multi-Chip </a:t>
            </a:r>
            <a:r>
              <a:rPr lang="en-US" sz="1600" dirty="0" smtClean="0"/>
              <a:t>(super)</a:t>
            </a:r>
            <a:r>
              <a:rPr lang="en-US" dirty="0" smtClean="0"/>
              <a:t>computers</a:t>
            </a:r>
            <a:endParaRPr lang="en-US" dirty="0"/>
          </a:p>
        </p:txBody>
      </p:sp>
      <p:sp>
        <p:nvSpPr>
          <p:cNvPr id="11" name="Rectangle 10"/>
          <p:cNvSpPr/>
          <p:nvPr/>
        </p:nvSpPr>
        <p:spPr>
          <a:xfrm>
            <a:off x="3581400" y="1676400"/>
            <a:ext cx="3657600" cy="4572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smtClean="0"/>
              <a:t>Multi-Server Cluster/Farm</a:t>
            </a:r>
            <a:endParaRPr lang="en-US" dirty="0"/>
          </a:p>
        </p:txBody>
      </p:sp>
      <p:cxnSp>
        <p:nvCxnSpPr>
          <p:cNvPr id="13" name="Straight Arrow Connector 12"/>
          <p:cNvCxnSpPr/>
          <p:nvPr/>
        </p:nvCxnSpPr>
        <p:spPr>
          <a:xfrm>
            <a:off x="2743200" y="3657600"/>
            <a:ext cx="838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6" name="Straight Arrow Connector 15"/>
          <p:cNvCxnSpPr/>
          <p:nvPr/>
        </p:nvCxnSpPr>
        <p:spPr>
          <a:xfrm>
            <a:off x="2743200" y="3352800"/>
            <a:ext cx="838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8" name="TextBox 17"/>
          <p:cNvSpPr txBox="1"/>
          <p:nvPr/>
        </p:nvSpPr>
        <p:spPr>
          <a:xfrm>
            <a:off x="1371600" y="2895600"/>
            <a:ext cx="2438400" cy="923330"/>
          </a:xfrm>
          <a:prstGeom prst="rect">
            <a:avLst/>
          </a:prstGeom>
          <a:noFill/>
        </p:spPr>
        <p:txBody>
          <a:bodyPr wrap="square" rtlCol="0">
            <a:spAutoFit/>
          </a:bodyPr>
          <a:lstStyle/>
          <a:p>
            <a:pPr marL="285750" indent="-285750">
              <a:buFont typeface="Arial"/>
              <a:buChar char="•"/>
            </a:pPr>
            <a:r>
              <a:rPr lang="en-US" b="1" dirty="0" smtClean="0">
                <a:solidFill>
                  <a:schemeClr val="bg2">
                    <a:lumMod val="50000"/>
                  </a:schemeClr>
                </a:solidFill>
              </a:rPr>
              <a:t>ASM Programming</a:t>
            </a:r>
          </a:p>
          <a:p>
            <a:pPr marL="742950" lvl="1" indent="-285750">
              <a:buFont typeface="Arial"/>
              <a:buChar char="•"/>
            </a:pPr>
            <a:r>
              <a:rPr lang="en-US" b="1" dirty="0" smtClean="0">
                <a:solidFill>
                  <a:schemeClr val="bg2">
                    <a:lumMod val="50000"/>
                  </a:schemeClr>
                </a:solidFill>
              </a:rPr>
              <a:t>68K </a:t>
            </a:r>
          </a:p>
          <a:p>
            <a:pPr marL="742950" lvl="1" indent="-285750">
              <a:buFont typeface="Arial"/>
              <a:buChar char="•"/>
            </a:pPr>
            <a:r>
              <a:rPr lang="en-US" b="1" dirty="0" smtClean="0">
                <a:solidFill>
                  <a:schemeClr val="bg2">
                    <a:lumMod val="50000"/>
                  </a:schemeClr>
                </a:solidFill>
              </a:rPr>
              <a:t>MIPS</a:t>
            </a:r>
          </a:p>
        </p:txBody>
      </p:sp>
      <p:sp>
        <p:nvSpPr>
          <p:cNvPr id="19" name="TextBox 18"/>
          <p:cNvSpPr txBox="1"/>
          <p:nvPr/>
        </p:nvSpPr>
        <p:spPr>
          <a:xfrm>
            <a:off x="1676400" y="3770868"/>
            <a:ext cx="2438400" cy="369332"/>
          </a:xfrm>
          <a:prstGeom prst="rect">
            <a:avLst/>
          </a:prstGeom>
          <a:noFill/>
        </p:spPr>
        <p:txBody>
          <a:bodyPr wrap="square" rtlCol="0">
            <a:spAutoFit/>
          </a:bodyPr>
          <a:lstStyle/>
          <a:p>
            <a:pPr marL="285750" indent="-285750">
              <a:buFont typeface="Arial"/>
              <a:buChar char="•"/>
            </a:pPr>
            <a:r>
              <a:rPr lang="en-US" b="1" dirty="0" smtClean="0"/>
              <a:t>Microcode</a:t>
            </a:r>
          </a:p>
        </p:txBody>
      </p:sp>
      <p:cxnSp>
        <p:nvCxnSpPr>
          <p:cNvPr id="21" name="Straight Arrow Connector 20"/>
          <p:cNvCxnSpPr/>
          <p:nvPr/>
        </p:nvCxnSpPr>
        <p:spPr>
          <a:xfrm>
            <a:off x="3124200" y="3999468"/>
            <a:ext cx="4572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2" name="TextBox 21"/>
          <p:cNvSpPr txBox="1"/>
          <p:nvPr/>
        </p:nvSpPr>
        <p:spPr>
          <a:xfrm>
            <a:off x="1676400" y="5040868"/>
            <a:ext cx="2438400" cy="369332"/>
          </a:xfrm>
          <a:prstGeom prst="rect">
            <a:avLst/>
          </a:prstGeom>
          <a:noFill/>
        </p:spPr>
        <p:txBody>
          <a:bodyPr wrap="square" rtlCol="0">
            <a:spAutoFit/>
          </a:bodyPr>
          <a:lstStyle/>
          <a:p>
            <a:pPr marL="285750" indent="-285750">
              <a:buFont typeface="Arial"/>
              <a:buChar char="•"/>
            </a:pPr>
            <a:r>
              <a:rPr lang="en-US" b="1" dirty="0" smtClean="0">
                <a:solidFill>
                  <a:schemeClr val="accent2">
                    <a:lumMod val="50000"/>
                  </a:schemeClr>
                </a:solidFill>
              </a:rPr>
              <a:t>Gates</a:t>
            </a:r>
          </a:p>
        </p:txBody>
      </p:sp>
      <p:cxnSp>
        <p:nvCxnSpPr>
          <p:cNvPr id="23" name="Straight Arrow Connector 22"/>
          <p:cNvCxnSpPr/>
          <p:nvPr/>
        </p:nvCxnSpPr>
        <p:spPr>
          <a:xfrm>
            <a:off x="2743200" y="4800600"/>
            <a:ext cx="838200" cy="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5" name="Straight Arrow Connector 24"/>
          <p:cNvCxnSpPr/>
          <p:nvPr/>
        </p:nvCxnSpPr>
        <p:spPr>
          <a:xfrm>
            <a:off x="2743200" y="5257800"/>
            <a:ext cx="838200" cy="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6" name="Straight Arrow Connector 25"/>
          <p:cNvCxnSpPr/>
          <p:nvPr/>
        </p:nvCxnSpPr>
        <p:spPr>
          <a:xfrm>
            <a:off x="2743200" y="5715000"/>
            <a:ext cx="838200" cy="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4" name="TextBox 23"/>
          <p:cNvSpPr txBox="1"/>
          <p:nvPr/>
        </p:nvSpPr>
        <p:spPr>
          <a:xfrm>
            <a:off x="1447800" y="1573073"/>
            <a:ext cx="1981200" cy="1754327"/>
          </a:xfrm>
          <a:prstGeom prst="rect">
            <a:avLst/>
          </a:prstGeom>
          <a:noFill/>
        </p:spPr>
        <p:txBody>
          <a:bodyPr wrap="square" rtlCol="0">
            <a:spAutoFit/>
          </a:bodyPr>
          <a:lstStyle/>
          <a:p>
            <a:pPr marL="285750" indent="-285750">
              <a:buFont typeface="Arial"/>
              <a:buChar char="•"/>
            </a:pPr>
            <a:r>
              <a:rPr lang="en-US" b="1" dirty="0" smtClean="0">
                <a:solidFill>
                  <a:srgbClr val="3366FF"/>
                </a:solidFill>
              </a:rPr>
              <a:t>HLL</a:t>
            </a:r>
          </a:p>
          <a:p>
            <a:pPr marL="742950" lvl="1" indent="-285750">
              <a:buFont typeface="Arial"/>
              <a:buChar char="•"/>
            </a:pPr>
            <a:r>
              <a:rPr lang="en-US" b="1" dirty="0" err="1" smtClean="0">
                <a:solidFill>
                  <a:srgbClr val="3366FF"/>
                </a:solidFill>
              </a:rPr>
              <a:t>Hadoop</a:t>
            </a:r>
            <a:endParaRPr lang="en-US" b="1" dirty="0" smtClean="0">
              <a:solidFill>
                <a:srgbClr val="3366FF"/>
              </a:solidFill>
            </a:endParaRPr>
          </a:p>
          <a:p>
            <a:pPr marL="742950" lvl="1" indent="-285750">
              <a:buFont typeface="Arial"/>
              <a:buChar char="•"/>
            </a:pPr>
            <a:r>
              <a:rPr lang="en-US" b="1" dirty="0" smtClean="0">
                <a:solidFill>
                  <a:srgbClr val="3366FF"/>
                </a:solidFill>
              </a:rPr>
              <a:t>Java, C#</a:t>
            </a:r>
          </a:p>
          <a:p>
            <a:pPr marL="742950" lvl="1" indent="-285750">
              <a:buFont typeface="Arial"/>
              <a:buChar char="•"/>
            </a:pPr>
            <a:r>
              <a:rPr lang="en-US" b="1" dirty="0" smtClean="0">
                <a:solidFill>
                  <a:srgbClr val="3366FF"/>
                </a:solidFill>
              </a:rPr>
              <a:t>C++</a:t>
            </a:r>
          </a:p>
          <a:p>
            <a:pPr marL="742950" lvl="1" indent="-285750">
              <a:buFont typeface="Arial"/>
              <a:buChar char="•"/>
            </a:pPr>
            <a:r>
              <a:rPr lang="en-US" b="1" dirty="0">
                <a:solidFill>
                  <a:srgbClr val="3366FF"/>
                </a:solidFill>
              </a:rPr>
              <a:t>C</a:t>
            </a:r>
            <a:endParaRPr lang="en-US" b="1" dirty="0" smtClean="0">
              <a:solidFill>
                <a:srgbClr val="3366FF"/>
              </a:solidFill>
            </a:endParaRPr>
          </a:p>
          <a:p>
            <a:pPr marL="742950" lvl="1" indent="-285750">
              <a:buFont typeface="Arial"/>
              <a:buChar char="•"/>
            </a:pPr>
            <a:endParaRPr lang="en-US" b="1" dirty="0" smtClean="0">
              <a:solidFill>
                <a:srgbClr val="3366FF"/>
              </a:solidFill>
            </a:endParaRPr>
          </a:p>
        </p:txBody>
      </p:sp>
      <p:cxnSp>
        <p:nvCxnSpPr>
          <p:cNvPr id="27" name="Straight Arrow Connector 26"/>
          <p:cNvCxnSpPr/>
          <p:nvPr/>
        </p:nvCxnSpPr>
        <p:spPr>
          <a:xfrm>
            <a:off x="2888673" y="2628900"/>
            <a:ext cx="692727" cy="0"/>
          </a:xfrm>
          <a:prstGeom prst="straightConnector1">
            <a:avLst/>
          </a:prstGeom>
          <a:ln>
            <a:solidFill>
              <a:srgbClr val="0000FF"/>
            </a:solidFill>
            <a:tailEnd type="arrow"/>
          </a:ln>
        </p:spPr>
        <p:style>
          <a:lnRef idx="3">
            <a:schemeClr val="accent1"/>
          </a:lnRef>
          <a:fillRef idx="0">
            <a:schemeClr val="accent1"/>
          </a:fillRef>
          <a:effectRef idx="2">
            <a:schemeClr val="accent1"/>
          </a:effectRef>
          <a:fontRef idx="minor">
            <a:schemeClr val="tx1"/>
          </a:fontRef>
        </p:style>
      </p:cxnSp>
      <p:cxnSp>
        <p:nvCxnSpPr>
          <p:cNvPr id="28" name="Straight Arrow Connector 27"/>
          <p:cNvCxnSpPr/>
          <p:nvPr/>
        </p:nvCxnSpPr>
        <p:spPr>
          <a:xfrm>
            <a:off x="3048000" y="2362200"/>
            <a:ext cx="520456" cy="0"/>
          </a:xfrm>
          <a:prstGeom prst="straightConnector1">
            <a:avLst/>
          </a:prstGeom>
          <a:ln>
            <a:solidFill>
              <a:srgbClr val="0000FF"/>
            </a:solidFill>
            <a:tailEnd type="arrow"/>
          </a:ln>
        </p:spPr>
        <p:style>
          <a:lnRef idx="3">
            <a:schemeClr val="accent1"/>
          </a:lnRef>
          <a:fillRef idx="0">
            <a:schemeClr val="accent1"/>
          </a:fillRef>
          <a:effectRef idx="2">
            <a:schemeClr val="accent1"/>
          </a:effectRef>
          <a:fontRef idx="minor">
            <a:schemeClr val="tx1"/>
          </a:fontRef>
        </p:style>
      </p:cxnSp>
      <p:cxnSp>
        <p:nvCxnSpPr>
          <p:cNvPr id="29" name="Straight Arrow Connector 28"/>
          <p:cNvCxnSpPr/>
          <p:nvPr/>
        </p:nvCxnSpPr>
        <p:spPr>
          <a:xfrm>
            <a:off x="3054472" y="2057400"/>
            <a:ext cx="520456" cy="0"/>
          </a:xfrm>
          <a:prstGeom prst="straightConnector1">
            <a:avLst/>
          </a:prstGeom>
          <a:ln>
            <a:solidFill>
              <a:srgbClr val="0000FF"/>
            </a:solidFill>
            <a:tailEnd type="arrow"/>
          </a:ln>
        </p:spPr>
        <p:style>
          <a:lnRef idx="3">
            <a:schemeClr val="accent1"/>
          </a:lnRef>
          <a:fillRef idx="0">
            <a:schemeClr val="accent1"/>
          </a:fillRef>
          <a:effectRef idx="2">
            <a:schemeClr val="accent1"/>
          </a:effectRef>
          <a:fontRef idx="minor">
            <a:schemeClr val="tx1"/>
          </a:fontRef>
        </p:style>
      </p:cxnSp>
      <p:sp>
        <p:nvSpPr>
          <p:cNvPr id="3" name="Rounded Rectangle 2"/>
          <p:cNvSpPr/>
          <p:nvPr/>
        </p:nvSpPr>
        <p:spPr>
          <a:xfrm>
            <a:off x="25715" y="3018774"/>
            <a:ext cx="3708085" cy="744252"/>
          </a:xfrm>
          <a:prstGeom prst="roundRect">
            <a:avLst/>
          </a:prstGeom>
          <a:solidFill>
            <a:schemeClr val="accent2">
              <a:alpha val="17000"/>
            </a:schemeClr>
          </a:solidFill>
        </p:spPr>
        <p:style>
          <a:lnRef idx="1">
            <a:schemeClr val="accent2"/>
          </a:lnRef>
          <a:fillRef idx="3">
            <a:schemeClr val="accent2"/>
          </a:fillRef>
          <a:effectRef idx="2">
            <a:schemeClr val="accent2"/>
          </a:effectRef>
          <a:fontRef idx="minor">
            <a:schemeClr val="lt1"/>
          </a:fontRef>
        </p:style>
        <p:txBody>
          <a:bodyPr rtlCol="0" anchor="ctr"/>
          <a:lstStyle/>
          <a:p>
            <a:r>
              <a:rPr lang="en-US" b="1" dirty="0" smtClean="0">
                <a:solidFill>
                  <a:srgbClr val="660066"/>
                </a:solidFill>
              </a:rPr>
              <a:t>422 Assembly </a:t>
            </a:r>
          </a:p>
          <a:p>
            <a:r>
              <a:rPr lang="en-US" b="1" dirty="0" smtClean="0">
                <a:solidFill>
                  <a:srgbClr val="660066"/>
                </a:solidFill>
              </a:rPr>
              <a:t>Programming Course</a:t>
            </a:r>
            <a:endParaRPr lang="en-US" b="1" dirty="0">
              <a:solidFill>
                <a:srgbClr val="660066"/>
              </a:solidFill>
            </a:endParaRPr>
          </a:p>
        </p:txBody>
      </p:sp>
      <p:sp>
        <p:nvSpPr>
          <p:cNvPr id="30" name="Rounded Rectangle 29"/>
          <p:cNvSpPr/>
          <p:nvPr/>
        </p:nvSpPr>
        <p:spPr>
          <a:xfrm>
            <a:off x="25401" y="3810000"/>
            <a:ext cx="3733799" cy="2057400"/>
          </a:xfrm>
          <a:prstGeom prst="roundRect">
            <a:avLst/>
          </a:prstGeom>
          <a:solidFill>
            <a:schemeClr val="accent2">
              <a:alpha val="17000"/>
            </a:schemeClr>
          </a:solidFill>
        </p:spPr>
        <p:style>
          <a:lnRef idx="1">
            <a:schemeClr val="accent2"/>
          </a:lnRef>
          <a:fillRef idx="3">
            <a:schemeClr val="accent2"/>
          </a:fillRef>
          <a:effectRef idx="2">
            <a:schemeClr val="accent2"/>
          </a:effectRef>
          <a:fontRef idx="minor">
            <a:schemeClr val="lt1"/>
          </a:fontRef>
        </p:style>
        <p:txBody>
          <a:bodyPr rtlCol="0" anchor="ctr"/>
          <a:lstStyle/>
          <a:p>
            <a:r>
              <a:rPr lang="en-US" b="1" dirty="0" smtClean="0">
                <a:solidFill>
                  <a:srgbClr val="660066"/>
                </a:solidFill>
              </a:rPr>
              <a:t>422 Hardware &amp;</a:t>
            </a:r>
          </a:p>
          <a:p>
            <a:r>
              <a:rPr lang="en-US" b="1" dirty="0" smtClean="0">
                <a:solidFill>
                  <a:srgbClr val="660066"/>
                </a:solidFill>
              </a:rPr>
              <a:t>Circuits Course</a:t>
            </a:r>
            <a:endParaRPr lang="en-US" b="1" dirty="0">
              <a:solidFill>
                <a:srgbClr val="660066"/>
              </a:solidFill>
            </a:endParaRPr>
          </a:p>
        </p:txBody>
      </p:sp>
      <p:cxnSp>
        <p:nvCxnSpPr>
          <p:cNvPr id="31" name="Straight Arrow Connector 30"/>
          <p:cNvCxnSpPr/>
          <p:nvPr/>
        </p:nvCxnSpPr>
        <p:spPr>
          <a:xfrm>
            <a:off x="2895600" y="2895600"/>
            <a:ext cx="692727" cy="0"/>
          </a:xfrm>
          <a:prstGeom prst="straightConnector1">
            <a:avLst/>
          </a:prstGeom>
          <a:ln>
            <a:solidFill>
              <a:srgbClr val="0000FF"/>
            </a:solidFill>
            <a:tailEnd type="arrow"/>
          </a:ln>
        </p:spPr>
        <p:style>
          <a:lnRef idx="3">
            <a:schemeClr val="accent1"/>
          </a:lnRef>
          <a:fillRef idx="0">
            <a:schemeClr val="accent1"/>
          </a:fillRef>
          <a:effectRef idx="2">
            <a:schemeClr val="accent1"/>
          </a:effectRef>
          <a:fontRef idx="minor">
            <a:schemeClr val="tx1"/>
          </a:fontRef>
        </p:style>
      </p:cxnSp>
      <p:sp>
        <p:nvSpPr>
          <p:cNvPr id="12" name="TextBox 11"/>
          <p:cNvSpPr txBox="1"/>
          <p:nvPr/>
        </p:nvSpPr>
        <p:spPr>
          <a:xfrm>
            <a:off x="304800" y="6172200"/>
            <a:ext cx="7924800"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marL="285750" indent="-285750">
              <a:buFont typeface="Arial"/>
              <a:buChar char="•"/>
            </a:pPr>
            <a:r>
              <a:rPr lang="en-US" dirty="0" smtClean="0"/>
              <a:t>Mechanisms (tools) for control evolve as you get to higher levels</a:t>
            </a:r>
          </a:p>
          <a:p>
            <a:pPr marL="285750" indent="-285750">
              <a:buFont typeface="Arial"/>
              <a:buChar char="•"/>
            </a:pPr>
            <a:r>
              <a:rPr lang="en-US" dirty="0" smtClean="0"/>
              <a:t>Electricity on a wire -&gt; binary -&gt; micro-ops -&gt; ASM -&gt; C to C++ -&gt; a modern HLL</a:t>
            </a:r>
            <a:endParaRPr lang="en-US" dirty="0"/>
          </a:p>
        </p:txBody>
      </p:sp>
    </p:spTree>
    <p:extLst>
      <p:ext uri="{BB962C8B-B14F-4D97-AF65-F5344CB8AC3E}">
        <p14:creationId xmlns:p14="http://schemas.microsoft.com/office/powerpoint/2010/main" val="112630533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Devilish Details:</a:t>
            </a:r>
            <a:br>
              <a:rPr lang="en-US" dirty="0" smtClean="0"/>
            </a:br>
            <a:r>
              <a:rPr lang="en-US" dirty="0" smtClean="0"/>
              <a:t>Using </a:t>
            </a:r>
            <a:r>
              <a:rPr lang="en-US" dirty="0" smtClean="0">
                <a:solidFill>
                  <a:srgbClr val="0000FF"/>
                </a:solidFill>
              </a:rPr>
              <a:t>Positive</a:t>
            </a:r>
            <a:r>
              <a:rPr lang="en-US" dirty="0" smtClean="0"/>
              <a:t> Logic…</a:t>
            </a:r>
            <a:endParaRPr lang="en-US" dirty="0"/>
          </a:p>
        </p:txBody>
      </p:sp>
      <p:sp>
        <p:nvSpPr>
          <p:cNvPr id="3" name="Content Placeholder 2"/>
          <p:cNvSpPr>
            <a:spLocks noGrp="1"/>
          </p:cNvSpPr>
          <p:nvPr>
            <p:ph idx="1"/>
          </p:nvPr>
        </p:nvSpPr>
        <p:spPr/>
        <p:txBody>
          <a:bodyPr/>
          <a:lstStyle/>
          <a:p>
            <a:r>
              <a:rPr lang="en-US" dirty="0" smtClean="0"/>
              <a:t>0 maps to </a:t>
            </a:r>
            <a:r>
              <a:rPr lang="en-US" dirty="0" smtClean="0">
                <a:solidFill>
                  <a:srgbClr val="0000FF"/>
                </a:solidFill>
              </a:rPr>
              <a:t>FALSE</a:t>
            </a:r>
          </a:p>
          <a:p>
            <a:r>
              <a:rPr lang="en-US" dirty="0" smtClean="0"/>
              <a:t>1 maps to </a:t>
            </a:r>
            <a:r>
              <a:rPr lang="en-US" dirty="0" smtClean="0">
                <a:solidFill>
                  <a:srgbClr val="0000FF"/>
                </a:solidFill>
              </a:rPr>
              <a:t>TRUE</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We assume this logic scheme throughout this course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257728606"/>
              </p:ext>
            </p:extLst>
          </p:nvPr>
        </p:nvGraphicFramePr>
        <p:xfrm>
          <a:off x="304800" y="2895600"/>
          <a:ext cx="4084320" cy="2514600"/>
        </p:xfrm>
        <a:graphic>
          <a:graphicData uri="http://schemas.openxmlformats.org/drawingml/2006/table">
            <a:tbl>
              <a:tblPr firstRow="1" bandRow="1">
                <a:tableStyleId>{3C2FFA5D-87B4-456A-9821-1D502468CF0F}</a:tableStyleId>
              </a:tblPr>
              <a:tblGrid>
                <a:gridCol w="1021080"/>
                <a:gridCol w="1021080"/>
                <a:gridCol w="1021080"/>
                <a:gridCol w="1021080"/>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dirty="0"/>
                    </a:p>
                  </a:txBody>
                  <a:tcPr/>
                </a:tc>
                <a:tc>
                  <a:txBody>
                    <a:bodyPr/>
                    <a:lstStyle/>
                    <a:p>
                      <a:pPr algn="ctr"/>
                      <a:r>
                        <a:rPr lang="en-US" dirty="0" smtClean="0"/>
                        <a:t>A OR B</a:t>
                      </a:r>
                      <a:endParaRPr lang="en-US" dirty="0"/>
                    </a:p>
                  </a:txBody>
                  <a:tcPr/>
                </a:tc>
              </a:tr>
              <a:tr h="452628">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tr>
              <a:tr h="452628">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r>
              <a:tr h="452628">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r>
              <a:tr h="452628">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106749600"/>
              </p:ext>
            </p:extLst>
          </p:nvPr>
        </p:nvGraphicFramePr>
        <p:xfrm>
          <a:off x="4800600" y="2895600"/>
          <a:ext cx="4084320" cy="2514600"/>
        </p:xfrm>
        <a:graphic>
          <a:graphicData uri="http://schemas.openxmlformats.org/drawingml/2006/table">
            <a:tbl>
              <a:tblPr firstRow="1" bandRow="1">
                <a:tableStyleId>{3C2FFA5D-87B4-456A-9821-1D502468CF0F}</a:tableStyleId>
              </a:tblPr>
              <a:tblGrid>
                <a:gridCol w="1021080"/>
                <a:gridCol w="1021080"/>
                <a:gridCol w="1021080"/>
                <a:gridCol w="1021080"/>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dirty="0"/>
                    </a:p>
                  </a:txBody>
                  <a:tcPr/>
                </a:tc>
                <a:tc>
                  <a:txBody>
                    <a:bodyPr/>
                    <a:lstStyle/>
                    <a:p>
                      <a:pPr algn="ctr"/>
                      <a:r>
                        <a:rPr lang="en-US" dirty="0" smtClean="0"/>
                        <a:t>A OR B</a:t>
                      </a:r>
                      <a:endParaRPr lang="en-US" dirty="0"/>
                    </a:p>
                  </a:txBody>
                  <a:tcPr/>
                </a:tc>
              </a:tr>
              <a:tr h="452628">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45262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45262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45262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bl>
          </a:graphicData>
        </a:graphic>
      </p:graphicFrame>
      <p:sp>
        <p:nvSpPr>
          <p:cNvPr id="6" name="Right Arrow 5"/>
          <p:cNvSpPr/>
          <p:nvPr/>
        </p:nvSpPr>
        <p:spPr>
          <a:xfrm>
            <a:off x="4343400" y="4038600"/>
            <a:ext cx="457200" cy="5334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4153801"/>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Devil in the Details:</a:t>
            </a:r>
            <a:br>
              <a:rPr lang="en-US" dirty="0" smtClean="0"/>
            </a:br>
            <a:r>
              <a:rPr lang="en-US" dirty="0" smtClean="0"/>
              <a:t>Using </a:t>
            </a:r>
            <a:r>
              <a:rPr lang="en-US" dirty="0" smtClean="0">
                <a:solidFill>
                  <a:srgbClr val="FF0000"/>
                </a:solidFill>
              </a:rPr>
              <a:t>Negative</a:t>
            </a:r>
            <a:r>
              <a:rPr lang="en-US" dirty="0" smtClean="0"/>
              <a:t> Logic…</a:t>
            </a:r>
            <a:endParaRPr lang="en-US" dirty="0"/>
          </a:p>
        </p:txBody>
      </p:sp>
      <p:sp>
        <p:nvSpPr>
          <p:cNvPr id="3" name="Content Placeholder 2"/>
          <p:cNvSpPr>
            <a:spLocks noGrp="1"/>
          </p:cNvSpPr>
          <p:nvPr>
            <p:ph idx="1"/>
          </p:nvPr>
        </p:nvSpPr>
        <p:spPr/>
        <p:txBody>
          <a:bodyPr/>
          <a:lstStyle/>
          <a:p>
            <a:r>
              <a:rPr lang="en-US" dirty="0" smtClean="0"/>
              <a:t>0 maps to </a:t>
            </a:r>
            <a:r>
              <a:rPr lang="en-US" dirty="0" smtClean="0">
                <a:solidFill>
                  <a:srgbClr val="FF0000"/>
                </a:solidFill>
              </a:rPr>
              <a:t>TRUE</a:t>
            </a:r>
          </a:p>
          <a:p>
            <a:r>
              <a:rPr lang="en-US" dirty="0" smtClean="0"/>
              <a:t>1 maps to </a:t>
            </a:r>
            <a:r>
              <a:rPr lang="en-US" dirty="0" smtClean="0">
                <a:solidFill>
                  <a:srgbClr val="FF0000"/>
                </a:solidFill>
              </a:rPr>
              <a:t>FALSE</a:t>
            </a:r>
            <a:endParaRPr lang="en-US" dirty="0">
              <a:solidFill>
                <a:srgbClr val="FF0000"/>
              </a:solidFill>
            </a:endParaRPr>
          </a:p>
        </p:txBody>
      </p:sp>
      <p:sp>
        <p:nvSpPr>
          <p:cNvPr id="5" name="Right Arrow 4"/>
          <p:cNvSpPr/>
          <p:nvPr/>
        </p:nvSpPr>
        <p:spPr>
          <a:xfrm>
            <a:off x="4191000" y="4038600"/>
            <a:ext cx="685800" cy="5334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extLst>
              <p:ext uri="{D42A27DB-BD31-4B8C-83A1-F6EECF244321}">
                <p14:modId xmlns:p14="http://schemas.microsoft.com/office/powerpoint/2010/main" val="765666631"/>
              </p:ext>
            </p:extLst>
          </p:nvPr>
        </p:nvGraphicFramePr>
        <p:xfrm>
          <a:off x="4907280" y="3124200"/>
          <a:ext cx="4084320" cy="2514600"/>
        </p:xfrm>
        <a:graphic>
          <a:graphicData uri="http://schemas.openxmlformats.org/drawingml/2006/table">
            <a:tbl>
              <a:tblPr firstRow="1" bandRow="1">
                <a:tableStyleId>{3C2FFA5D-87B4-456A-9821-1D502468CF0F}</a:tableStyleId>
              </a:tblPr>
              <a:tblGrid>
                <a:gridCol w="1021080"/>
                <a:gridCol w="1021080"/>
                <a:gridCol w="1021080"/>
                <a:gridCol w="1021080"/>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dirty="0"/>
                    </a:p>
                  </a:txBody>
                  <a:tcPr/>
                </a:tc>
                <a:tc>
                  <a:txBody>
                    <a:bodyPr/>
                    <a:lstStyle/>
                    <a:p>
                      <a:pPr algn="ctr"/>
                      <a:r>
                        <a:rPr lang="en-US" dirty="0" smtClean="0"/>
                        <a:t>A OR B</a:t>
                      </a:r>
                      <a:endParaRPr lang="en-US" dirty="0"/>
                    </a:p>
                  </a:txBody>
                  <a:tcPr/>
                </a:tc>
              </a:tr>
              <a:tr h="45262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45262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45262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452628">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480552988"/>
              </p:ext>
            </p:extLst>
          </p:nvPr>
        </p:nvGraphicFramePr>
        <p:xfrm>
          <a:off x="228600" y="3124200"/>
          <a:ext cx="4084320" cy="2514600"/>
        </p:xfrm>
        <a:graphic>
          <a:graphicData uri="http://schemas.openxmlformats.org/drawingml/2006/table">
            <a:tbl>
              <a:tblPr firstRow="1" bandRow="1">
                <a:tableStyleId>{3C2FFA5D-87B4-456A-9821-1D502468CF0F}</a:tableStyleId>
              </a:tblPr>
              <a:tblGrid>
                <a:gridCol w="1021080"/>
                <a:gridCol w="1021080"/>
                <a:gridCol w="1021080"/>
                <a:gridCol w="1021080"/>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dirty="0"/>
                    </a:p>
                  </a:txBody>
                  <a:tcPr/>
                </a:tc>
                <a:tc>
                  <a:txBody>
                    <a:bodyPr/>
                    <a:lstStyle/>
                    <a:p>
                      <a:pPr algn="ctr"/>
                      <a:r>
                        <a:rPr lang="en-US" dirty="0" smtClean="0"/>
                        <a:t>A OR B</a:t>
                      </a:r>
                      <a:endParaRPr lang="en-US" dirty="0"/>
                    </a:p>
                  </a:txBody>
                  <a:tcPr/>
                </a:tc>
              </a:tr>
              <a:tr h="452628">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tr>
              <a:tr h="452628">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r>
              <a:tr h="452628">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T</a:t>
                      </a:r>
                      <a:endParaRPr lang="en-US" dirty="0"/>
                    </a:p>
                  </a:txBody>
                  <a:tcPr/>
                </a:tc>
              </a:tr>
              <a:tr h="452628">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dirty="0"/>
                    </a:p>
                  </a:txBody>
                  <a:tcPr/>
                </a:tc>
              </a:tr>
            </a:tbl>
          </a:graphicData>
        </a:graphic>
      </p:graphicFrame>
    </p:spTree>
    <p:extLst>
      <p:ext uri="{BB962C8B-B14F-4D97-AF65-F5344CB8AC3E}">
        <p14:creationId xmlns:p14="http://schemas.microsoft.com/office/powerpoint/2010/main" val="554948400"/>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88914506"/>
              </p:ext>
            </p:extLst>
          </p:nvPr>
        </p:nvGraphicFramePr>
        <p:xfrm>
          <a:off x="2590800" y="381000"/>
          <a:ext cx="4038600" cy="2514600"/>
        </p:xfrm>
        <a:graphic>
          <a:graphicData uri="http://schemas.openxmlformats.org/drawingml/2006/table">
            <a:tbl>
              <a:tblPr firstRow="1" bandRow="1">
                <a:tableStyleId>{3C2FFA5D-87B4-456A-9821-1D502468CF0F}</a:tableStyleId>
              </a:tblPr>
              <a:tblGrid>
                <a:gridCol w="1009650"/>
                <a:gridCol w="1009650"/>
                <a:gridCol w="1009650"/>
                <a:gridCol w="1009650"/>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b="1" dirty="0"/>
                    </a:p>
                  </a:txBody>
                  <a:tcPr/>
                </a:tc>
                <a:tc>
                  <a:txBody>
                    <a:bodyPr/>
                    <a:lstStyle/>
                    <a:p>
                      <a:pPr algn="ctr"/>
                      <a:r>
                        <a:rPr lang="en-US" dirty="0" smtClean="0"/>
                        <a:t>A OR B</a:t>
                      </a:r>
                      <a:endParaRPr lang="en-US" dirty="0"/>
                    </a:p>
                  </a:txBody>
                  <a:tcPr/>
                </a:tc>
              </a:tr>
              <a:tr h="452628">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F</a:t>
                      </a:r>
                      <a:endParaRPr lang="en-US" b="1" dirty="0"/>
                    </a:p>
                  </a:txBody>
                  <a:tcPr/>
                </a:tc>
                <a:tc>
                  <a:txBody>
                    <a:bodyPr/>
                    <a:lstStyle/>
                    <a:p>
                      <a:r>
                        <a:rPr lang="en-US" dirty="0" smtClean="0"/>
                        <a:t>F</a:t>
                      </a:r>
                      <a:endParaRPr lang="en-US" dirty="0"/>
                    </a:p>
                  </a:txBody>
                  <a:tcPr/>
                </a:tc>
              </a:tr>
              <a:tr h="452628">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b="1" dirty="0"/>
                    </a:p>
                  </a:txBody>
                  <a:tcPr/>
                </a:tc>
                <a:tc>
                  <a:txBody>
                    <a:bodyPr/>
                    <a:lstStyle/>
                    <a:p>
                      <a:r>
                        <a:rPr lang="en-US" dirty="0" smtClean="0"/>
                        <a:t>T</a:t>
                      </a:r>
                      <a:endParaRPr lang="en-US" dirty="0"/>
                    </a:p>
                  </a:txBody>
                  <a:tcPr/>
                </a:tc>
              </a:tr>
              <a:tr h="452628">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b="1" dirty="0"/>
                    </a:p>
                  </a:txBody>
                  <a:tcPr/>
                </a:tc>
                <a:tc>
                  <a:txBody>
                    <a:bodyPr/>
                    <a:lstStyle/>
                    <a:p>
                      <a:r>
                        <a:rPr lang="en-US" dirty="0" smtClean="0"/>
                        <a:t>T</a:t>
                      </a:r>
                      <a:endParaRPr lang="en-US" dirty="0"/>
                    </a:p>
                  </a:txBody>
                  <a:tcPr/>
                </a:tc>
              </a:tr>
              <a:tr h="452628">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b="1" dirty="0"/>
                    </a:p>
                  </a:txBody>
                  <a:tcPr/>
                </a:tc>
                <a:tc>
                  <a:txBody>
                    <a:bodyPr/>
                    <a:lstStyle/>
                    <a:p>
                      <a:r>
                        <a:rPr lang="en-US" dirty="0" smtClean="0"/>
                        <a:t>T</a:t>
                      </a:r>
                      <a:endParaRPr lang="en-US" dirty="0"/>
                    </a:p>
                  </a:txBody>
                  <a:tcPr/>
                </a:tc>
              </a:tr>
            </a:tbl>
          </a:graphicData>
        </a:graphic>
      </p:graphicFrame>
      <p:cxnSp>
        <p:nvCxnSpPr>
          <p:cNvPr id="8" name="Straight Arrow Connector 7"/>
          <p:cNvCxnSpPr>
            <a:stCxn id="4" idx="2"/>
          </p:cNvCxnSpPr>
          <p:nvPr/>
        </p:nvCxnSpPr>
        <p:spPr>
          <a:xfrm flipH="1">
            <a:off x="2209800" y="2895600"/>
            <a:ext cx="2400300" cy="762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a:stCxn id="4" idx="2"/>
          </p:cNvCxnSpPr>
          <p:nvPr/>
        </p:nvCxnSpPr>
        <p:spPr>
          <a:xfrm>
            <a:off x="4610100" y="2895600"/>
            <a:ext cx="2506980" cy="762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0" y="1066800"/>
            <a:ext cx="2438400" cy="147732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a:buChar char="•"/>
            </a:pPr>
            <a:r>
              <a:rPr lang="en-US" dirty="0" smtClean="0"/>
              <a:t>Positive logic or negative logic affects behavior of gates!</a:t>
            </a:r>
          </a:p>
          <a:p>
            <a:pPr marL="285750" indent="-285750">
              <a:buFont typeface="Arial"/>
              <a:buChar char="•"/>
            </a:pPr>
            <a:r>
              <a:rPr lang="en-US" dirty="0" smtClean="0"/>
              <a:t>This can also be seen in DeMorgan’s Law</a:t>
            </a:r>
          </a:p>
        </p:txBody>
      </p:sp>
      <p:graphicFrame>
        <p:nvGraphicFramePr>
          <p:cNvPr id="12" name="Table 11"/>
          <p:cNvGraphicFramePr>
            <a:graphicFrameLocks noGrp="1"/>
          </p:cNvGraphicFramePr>
          <p:nvPr>
            <p:extLst>
              <p:ext uri="{D42A27DB-BD31-4B8C-83A1-F6EECF244321}">
                <p14:modId xmlns:p14="http://schemas.microsoft.com/office/powerpoint/2010/main" val="3945896655"/>
              </p:ext>
            </p:extLst>
          </p:nvPr>
        </p:nvGraphicFramePr>
        <p:xfrm>
          <a:off x="4983480" y="3810000"/>
          <a:ext cx="4084320" cy="2514600"/>
        </p:xfrm>
        <a:graphic>
          <a:graphicData uri="http://schemas.openxmlformats.org/drawingml/2006/table">
            <a:tbl>
              <a:tblPr firstRow="1" bandRow="1">
                <a:tableStyleId>{3C2FFA5D-87B4-456A-9821-1D502468CF0F}</a:tableStyleId>
              </a:tblPr>
              <a:tblGrid>
                <a:gridCol w="1021080"/>
                <a:gridCol w="1021080"/>
                <a:gridCol w="1021080"/>
                <a:gridCol w="1021080"/>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dirty="0"/>
                    </a:p>
                  </a:txBody>
                  <a:tcPr/>
                </a:tc>
                <a:tc>
                  <a:txBody>
                    <a:bodyPr/>
                    <a:lstStyle/>
                    <a:p>
                      <a:pPr algn="ctr"/>
                      <a:r>
                        <a:rPr lang="en-US" dirty="0" smtClean="0"/>
                        <a:t>A OR B</a:t>
                      </a:r>
                      <a:endParaRPr lang="en-US" dirty="0"/>
                    </a:p>
                  </a:txBody>
                  <a:tcPr/>
                </a:tc>
              </a:tr>
              <a:tr h="45262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45262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45262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452628">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1564169955"/>
              </p:ext>
            </p:extLst>
          </p:nvPr>
        </p:nvGraphicFramePr>
        <p:xfrm>
          <a:off x="152400" y="3810000"/>
          <a:ext cx="4084320" cy="2514600"/>
        </p:xfrm>
        <a:graphic>
          <a:graphicData uri="http://schemas.openxmlformats.org/drawingml/2006/table">
            <a:tbl>
              <a:tblPr firstRow="1" bandRow="1">
                <a:tableStyleId>{3C2FFA5D-87B4-456A-9821-1D502468CF0F}</a:tableStyleId>
              </a:tblPr>
              <a:tblGrid>
                <a:gridCol w="1021080"/>
                <a:gridCol w="1021080"/>
                <a:gridCol w="1021080"/>
                <a:gridCol w="1021080"/>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dirty="0"/>
                    </a:p>
                  </a:txBody>
                  <a:tcPr/>
                </a:tc>
                <a:tc>
                  <a:txBody>
                    <a:bodyPr/>
                    <a:lstStyle/>
                    <a:p>
                      <a:pPr algn="ctr"/>
                      <a:r>
                        <a:rPr lang="en-US" dirty="0" smtClean="0"/>
                        <a:t>A OR B</a:t>
                      </a:r>
                      <a:endParaRPr lang="en-US" dirty="0"/>
                    </a:p>
                  </a:txBody>
                  <a:tcPr/>
                </a:tc>
              </a:tr>
              <a:tr h="452628">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45262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45262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45262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bl>
          </a:graphicData>
        </a:graphic>
      </p:graphicFrame>
      <p:sp>
        <p:nvSpPr>
          <p:cNvPr id="2" name="Equal 1"/>
          <p:cNvSpPr/>
          <p:nvPr/>
        </p:nvSpPr>
        <p:spPr>
          <a:xfrm>
            <a:off x="4038600" y="4876800"/>
            <a:ext cx="1066800" cy="762000"/>
          </a:xfrm>
          <a:prstGeom prst="mathEqual">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Rectangle 2"/>
          <p:cNvSpPr/>
          <p:nvPr/>
        </p:nvSpPr>
        <p:spPr>
          <a:xfrm>
            <a:off x="3986162" y="4648200"/>
            <a:ext cx="1171677" cy="923330"/>
          </a:xfrm>
          <a:prstGeom prst="rect">
            <a:avLst/>
          </a:prstGeom>
          <a:noFill/>
        </p:spPr>
        <p:txBody>
          <a:bodyPr wrap="none" lIns="91440" tIns="45720" rIns="91440" bIns="45720">
            <a:spAutoFit/>
          </a:bodyPr>
          <a:lstStyle/>
          <a:p>
            <a:pPr algn="ctr"/>
            <a:r>
              <a:rPr lang="en-US" sz="5400" b="1" cap="none" spc="0" dirty="0" smtClean="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rPr>
              <a:t>Q:?</a:t>
            </a:r>
            <a:endParaRPr lang="en-US" sz="5400" b="1" cap="none" spc="0"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endParaRPr>
          </a:p>
        </p:txBody>
      </p:sp>
      <p:sp>
        <p:nvSpPr>
          <p:cNvPr id="17" name="TextBox 16"/>
          <p:cNvSpPr txBox="1"/>
          <p:nvPr/>
        </p:nvSpPr>
        <p:spPr>
          <a:xfrm>
            <a:off x="3657600" y="0"/>
            <a:ext cx="187364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Logical Definition</a:t>
            </a:r>
            <a:endParaRPr lang="en-US" dirty="0"/>
          </a:p>
        </p:txBody>
      </p:sp>
      <p:sp>
        <p:nvSpPr>
          <p:cNvPr id="18" name="TextBox 17"/>
          <p:cNvSpPr txBox="1"/>
          <p:nvPr/>
        </p:nvSpPr>
        <p:spPr>
          <a:xfrm>
            <a:off x="457200" y="6336268"/>
            <a:ext cx="32766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Positive Implementation Values</a:t>
            </a:r>
            <a:endParaRPr lang="en-US" dirty="0"/>
          </a:p>
        </p:txBody>
      </p:sp>
      <p:sp>
        <p:nvSpPr>
          <p:cNvPr id="19" name="TextBox 18"/>
          <p:cNvSpPr txBox="1"/>
          <p:nvPr/>
        </p:nvSpPr>
        <p:spPr>
          <a:xfrm>
            <a:off x="5181600" y="6324600"/>
            <a:ext cx="3352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Negative Implementation Values</a:t>
            </a:r>
            <a:endParaRPr lang="en-US" dirty="0"/>
          </a:p>
        </p:txBody>
      </p:sp>
    </p:spTree>
    <p:extLst>
      <p:ext uri="{BB962C8B-B14F-4D97-AF65-F5344CB8AC3E}">
        <p14:creationId xmlns:p14="http://schemas.microsoft.com/office/powerpoint/2010/main" val="2894191030"/>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PQuestion"/>
          <p:cNvSpPr>
            <a:spLocks noGrp="1"/>
          </p:cNvSpPr>
          <p:nvPr>
            <p:ph type="title"/>
          </p:nvPr>
        </p:nvSpPr>
        <p:spPr/>
        <p:txBody>
          <a:bodyPr/>
          <a:lstStyle/>
          <a:p>
            <a:pPr eaLnBrk="1" hangingPunct="1"/>
            <a:r>
              <a:rPr lang="en-US" dirty="0" smtClean="0">
                <a:latin typeface="Calibri" charset="0"/>
                <a:ea typeface="MS PGothic" charset="0"/>
              </a:rPr>
              <a:t>A Positive Logic AND == Negative Logic OR</a:t>
            </a:r>
            <a:endParaRPr lang="en-US" dirty="0">
              <a:latin typeface="Calibri" charset="0"/>
              <a:ea typeface="MS PGothic" charset="0"/>
            </a:endParaRPr>
          </a:p>
        </p:txBody>
      </p:sp>
      <p:sp>
        <p:nvSpPr>
          <p:cNvPr id="2051" name="TPAnswers"/>
          <p:cNvSpPr>
            <a:spLocks noGrp="1"/>
          </p:cNvSpPr>
          <p:nvPr>
            <p:ph idx="1"/>
            <p:custDataLst>
              <p:tags r:id="rId2"/>
            </p:custDataLst>
          </p:nvPr>
        </p:nvSpPr>
        <p:spPr>
          <a:xfrm>
            <a:off x="457200" y="1600200"/>
            <a:ext cx="4114800" cy="4525963"/>
          </a:xfrm>
        </p:spPr>
        <p:txBody>
          <a:bodyPr/>
          <a:lstStyle/>
          <a:p>
            <a:pPr marL="514350" indent="-514350" eaLnBrk="1" hangingPunct="1">
              <a:buFont typeface="Arial" charset="0"/>
              <a:buAutoNum type="alphaUcPeriod"/>
            </a:pPr>
            <a:r>
              <a:rPr lang="en-US" dirty="0" smtClean="0">
                <a:latin typeface="Calibri" charset="0"/>
                <a:ea typeface="MS PGothic" charset="0"/>
              </a:rPr>
              <a:t>True</a:t>
            </a:r>
          </a:p>
          <a:p>
            <a:pPr marL="514350" indent="-514350" eaLnBrk="1" hangingPunct="1">
              <a:buFont typeface="Arial" charset="0"/>
              <a:buAutoNum type="alphaUcPeriod"/>
            </a:pPr>
            <a:r>
              <a:rPr lang="en-US" dirty="0" smtClean="0">
                <a:latin typeface="Calibri" charset="0"/>
                <a:ea typeface="MS PGothic" charset="0"/>
              </a:rPr>
              <a:t>False</a:t>
            </a:r>
            <a:endParaRPr lang="en-US" dirty="0">
              <a:latin typeface="Calibri" charset="0"/>
              <a:ea typeface="MS PGothic" charset="0"/>
            </a:endParaRPr>
          </a:p>
        </p:txBody>
      </p:sp>
      <p:pic>
        <p:nvPicPr>
          <p:cNvPr id="3" name="TPChart" descr="34D7001D94404A14ABB0C519CE2B2A16Chart20141005132916489.png"/>
          <p:cNvPicPr>
            <a:picLocks/>
          </p:cNvPicPr>
          <p:nvPr>
            <p:custDataLst>
              <p:tags r:id="rId3"/>
            </p:custDataLst>
          </p:nvPr>
        </p:nvPicPr>
        <p:blipFill>
          <a:blip r:embed="rId5" cstate="print">
            <a:extLst>
              <a:ext uri="{28A0092B-C50C-407E-A947-70E740481C1C}">
                <a14:useLocalDpi xmlns:a14="http://schemas.microsoft.com/office/drawing/2010/main" val="0"/>
              </a:ext>
            </a:extLst>
          </a:blip>
          <a:stretch>
            <a:fillRect/>
          </a:stretch>
        </p:blipFill>
        <p:spPr>
          <a:xfrm>
            <a:off x="838200" y="762000"/>
            <a:ext cx="6934200" cy="5867400"/>
          </a:xfrm>
          <a:prstGeom prst="rect">
            <a:avLst/>
          </a:prstGeom>
        </p:spPr>
      </p:pic>
    </p:spTree>
    <p:custDataLst>
      <p:tags r:id="rId1"/>
    </p:custData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898343670"/>
              </p:ext>
            </p:extLst>
          </p:nvPr>
        </p:nvGraphicFramePr>
        <p:xfrm>
          <a:off x="2743200" y="381000"/>
          <a:ext cx="4038600" cy="2514600"/>
        </p:xfrm>
        <a:graphic>
          <a:graphicData uri="http://schemas.openxmlformats.org/drawingml/2006/table">
            <a:tbl>
              <a:tblPr firstRow="1" bandRow="1">
                <a:tableStyleId>{3C2FFA5D-87B4-456A-9821-1D502468CF0F}</a:tableStyleId>
              </a:tblPr>
              <a:tblGrid>
                <a:gridCol w="1009650"/>
                <a:gridCol w="1009650"/>
                <a:gridCol w="1009650"/>
                <a:gridCol w="1009650"/>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b="1" dirty="0"/>
                    </a:p>
                  </a:txBody>
                  <a:tcPr/>
                </a:tc>
                <a:tc>
                  <a:txBody>
                    <a:bodyPr/>
                    <a:lstStyle/>
                    <a:p>
                      <a:pPr algn="ctr"/>
                      <a:r>
                        <a:rPr lang="en-US" dirty="0" smtClean="0"/>
                        <a:t>A OR B</a:t>
                      </a:r>
                      <a:endParaRPr lang="en-US" dirty="0"/>
                    </a:p>
                  </a:txBody>
                  <a:tcPr/>
                </a:tc>
              </a:tr>
              <a:tr h="452628">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F</a:t>
                      </a:r>
                      <a:endParaRPr lang="en-US" b="1" dirty="0"/>
                    </a:p>
                  </a:txBody>
                  <a:tcPr/>
                </a:tc>
                <a:tc>
                  <a:txBody>
                    <a:bodyPr/>
                    <a:lstStyle/>
                    <a:p>
                      <a:r>
                        <a:rPr lang="en-US" dirty="0" smtClean="0"/>
                        <a:t>F</a:t>
                      </a:r>
                      <a:endParaRPr lang="en-US" dirty="0"/>
                    </a:p>
                  </a:txBody>
                  <a:tcPr/>
                </a:tc>
              </a:tr>
              <a:tr h="452628">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b="1" dirty="0"/>
                    </a:p>
                  </a:txBody>
                  <a:tcPr/>
                </a:tc>
                <a:tc>
                  <a:txBody>
                    <a:bodyPr/>
                    <a:lstStyle/>
                    <a:p>
                      <a:r>
                        <a:rPr lang="en-US" dirty="0" smtClean="0"/>
                        <a:t>T</a:t>
                      </a:r>
                      <a:endParaRPr lang="en-US" dirty="0"/>
                    </a:p>
                  </a:txBody>
                  <a:tcPr/>
                </a:tc>
              </a:tr>
              <a:tr h="452628">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b="1" dirty="0"/>
                    </a:p>
                  </a:txBody>
                  <a:tcPr/>
                </a:tc>
                <a:tc>
                  <a:txBody>
                    <a:bodyPr/>
                    <a:lstStyle/>
                    <a:p>
                      <a:r>
                        <a:rPr lang="en-US" dirty="0" smtClean="0"/>
                        <a:t>T</a:t>
                      </a:r>
                      <a:endParaRPr lang="en-US" dirty="0"/>
                    </a:p>
                  </a:txBody>
                  <a:tcPr/>
                </a:tc>
              </a:tr>
              <a:tr h="452628">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b="1" dirty="0"/>
                    </a:p>
                  </a:txBody>
                  <a:tcPr/>
                </a:tc>
                <a:tc>
                  <a:txBody>
                    <a:bodyPr/>
                    <a:lstStyle/>
                    <a:p>
                      <a:r>
                        <a:rPr lang="en-US" dirty="0" smtClean="0"/>
                        <a:t>T</a:t>
                      </a:r>
                      <a:endParaRPr lang="en-US" dirty="0"/>
                    </a:p>
                  </a:txBody>
                  <a:tcPr/>
                </a:tc>
              </a:tr>
            </a:tbl>
          </a:graphicData>
        </a:graphic>
      </p:graphicFrame>
      <p:cxnSp>
        <p:nvCxnSpPr>
          <p:cNvPr id="9" name="Straight Arrow Connector 8"/>
          <p:cNvCxnSpPr>
            <a:stCxn id="4" idx="2"/>
            <a:endCxn id="12" idx="0"/>
          </p:cNvCxnSpPr>
          <p:nvPr/>
        </p:nvCxnSpPr>
        <p:spPr>
          <a:xfrm>
            <a:off x="4762500" y="2895600"/>
            <a:ext cx="2186940" cy="838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6172200"/>
            <a:ext cx="32766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Positive Implementation Values</a:t>
            </a:r>
            <a:endParaRPr lang="en-US" dirty="0"/>
          </a:p>
        </p:txBody>
      </p:sp>
      <p:sp>
        <p:nvSpPr>
          <p:cNvPr id="15" name="TextBox 14"/>
          <p:cNvSpPr txBox="1"/>
          <p:nvPr/>
        </p:nvSpPr>
        <p:spPr>
          <a:xfrm>
            <a:off x="5181600" y="6248400"/>
            <a:ext cx="3352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Negative Implementation Values</a:t>
            </a: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3403757076"/>
              </p:ext>
            </p:extLst>
          </p:nvPr>
        </p:nvGraphicFramePr>
        <p:xfrm>
          <a:off x="4907280" y="3733800"/>
          <a:ext cx="4084320" cy="2514600"/>
        </p:xfrm>
        <a:graphic>
          <a:graphicData uri="http://schemas.openxmlformats.org/drawingml/2006/table">
            <a:tbl>
              <a:tblPr firstRow="1" bandRow="1">
                <a:tableStyleId>{3C2FFA5D-87B4-456A-9821-1D502468CF0F}</a:tableStyleId>
              </a:tblPr>
              <a:tblGrid>
                <a:gridCol w="816864"/>
                <a:gridCol w="816864"/>
                <a:gridCol w="816864"/>
                <a:gridCol w="816864"/>
                <a:gridCol w="816864"/>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dirty="0"/>
                    </a:p>
                  </a:txBody>
                  <a:tcPr>
                    <a:solidFill>
                      <a:srgbClr val="3366FF"/>
                    </a:solidFill>
                  </a:tcPr>
                </a:tc>
                <a:tc>
                  <a:txBody>
                    <a:bodyPr/>
                    <a:lstStyle/>
                    <a:p>
                      <a:pPr algn="ctr"/>
                      <a:r>
                        <a:rPr lang="en-US" dirty="0" smtClean="0"/>
                        <a:t>A OR B</a:t>
                      </a:r>
                      <a:endParaRPr lang="en-US" dirty="0"/>
                    </a:p>
                  </a:txBody>
                  <a:tcPr/>
                </a:tc>
                <a:tc>
                  <a:txBody>
                    <a:bodyPr/>
                    <a:lstStyle/>
                    <a:p>
                      <a:pPr algn="ctr"/>
                      <a:r>
                        <a:rPr lang="en-US" dirty="0" smtClean="0"/>
                        <a:t>NOR</a:t>
                      </a:r>
                      <a:endParaRPr lang="en-US" dirty="0"/>
                    </a:p>
                  </a:txBody>
                  <a:tcPr/>
                </a:tc>
              </a:tr>
              <a:tr h="45262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solidFill>
                      <a:srgbClr val="3366FF"/>
                    </a:solidFill>
                  </a:tcPr>
                </a:tc>
                <a:tc>
                  <a:txBody>
                    <a:bodyPr/>
                    <a:lstStyle/>
                    <a:p>
                      <a:r>
                        <a:rPr lang="en-US" dirty="0" smtClean="0"/>
                        <a:t>1</a:t>
                      </a:r>
                      <a:endParaRPr lang="en-US" dirty="0"/>
                    </a:p>
                  </a:txBody>
                  <a:tcPr/>
                </a:tc>
                <a:tc>
                  <a:txBody>
                    <a:bodyPr/>
                    <a:lstStyle/>
                    <a:p>
                      <a:r>
                        <a:rPr lang="en-US" dirty="0" smtClean="0"/>
                        <a:t>0</a:t>
                      </a:r>
                      <a:endParaRPr lang="en-US" dirty="0"/>
                    </a:p>
                  </a:txBody>
                  <a:tcPr/>
                </a:tc>
              </a:tr>
              <a:tr h="45262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solidFill>
                      <a:srgbClr val="3366FF"/>
                    </a:solidFill>
                  </a:tcPr>
                </a:tc>
                <a:tc>
                  <a:txBody>
                    <a:bodyPr/>
                    <a:lstStyle/>
                    <a:p>
                      <a:r>
                        <a:rPr lang="en-US" dirty="0" smtClean="0"/>
                        <a:t>0</a:t>
                      </a:r>
                      <a:endParaRPr lang="en-US" dirty="0"/>
                    </a:p>
                  </a:txBody>
                  <a:tcPr/>
                </a:tc>
                <a:tc>
                  <a:txBody>
                    <a:bodyPr/>
                    <a:lstStyle/>
                    <a:p>
                      <a:r>
                        <a:rPr lang="en-US" dirty="0" smtClean="0"/>
                        <a:t>1</a:t>
                      </a:r>
                      <a:endParaRPr lang="en-US" dirty="0"/>
                    </a:p>
                  </a:txBody>
                  <a:tcPr/>
                </a:tc>
              </a:tr>
              <a:tr h="45262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solidFill>
                      <a:srgbClr val="3366FF"/>
                    </a:solidFill>
                  </a:tcPr>
                </a:tc>
                <a:tc>
                  <a:txBody>
                    <a:bodyPr/>
                    <a:lstStyle/>
                    <a:p>
                      <a:r>
                        <a:rPr lang="en-US" dirty="0" smtClean="0"/>
                        <a:t>0</a:t>
                      </a:r>
                      <a:endParaRPr lang="en-US" dirty="0"/>
                    </a:p>
                  </a:txBody>
                  <a:tcPr/>
                </a:tc>
                <a:tc>
                  <a:txBody>
                    <a:bodyPr/>
                    <a:lstStyle/>
                    <a:p>
                      <a:r>
                        <a:rPr lang="en-US" dirty="0" smtClean="0"/>
                        <a:t>1</a:t>
                      </a:r>
                      <a:endParaRPr lang="en-US" dirty="0"/>
                    </a:p>
                  </a:txBody>
                  <a:tcPr/>
                </a:tc>
              </a:tr>
              <a:tr h="452628">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rgbClr val="3366FF"/>
                    </a:solidFill>
                  </a:tcPr>
                </a:tc>
                <a:tc>
                  <a:txBody>
                    <a:bodyPr/>
                    <a:lstStyle/>
                    <a:p>
                      <a:r>
                        <a:rPr lang="en-US" dirty="0" smtClean="0"/>
                        <a:t>0</a:t>
                      </a:r>
                      <a:endParaRPr lang="en-US" dirty="0"/>
                    </a:p>
                  </a:txBody>
                  <a:tcPr/>
                </a:tc>
                <a:tc>
                  <a:txBody>
                    <a:bodyPr/>
                    <a:lstStyle/>
                    <a:p>
                      <a:r>
                        <a:rPr lang="en-US" dirty="0" smtClean="0"/>
                        <a:t>1</a:t>
                      </a:r>
                      <a:endParaRPr lang="en-US" dirty="0"/>
                    </a:p>
                  </a:txBody>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775513874"/>
              </p:ext>
            </p:extLst>
          </p:nvPr>
        </p:nvGraphicFramePr>
        <p:xfrm>
          <a:off x="76200" y="3733800"/>
          <a:ext cx="4648200" cy="2438400"/>
        </p:xfrm>
        <a:graphic>
          <a:graphicData uri="http://schemas.openxmlformats.org/drawingml/2006/table">
            <a:tbl>
              <a:tblPr firstRow="1" bandRow="1">
                <a:tableStyleId>{3C2FFA5D-87B4-456A-9821-1D502468CF0F}</a:tableStyleId>
              </a:tblPr>
              <a:tblGrid>
                <a:gridCol w="929640"/>
                <a:gridCol w="929640"/>
                <a:gridCol w="929640"/>
                <a:gridCol w="929640"/>
                <a:gridCol w="929640"/>
              </a:tblGrid>
              <a:tr h="682752">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dirty="0"/>
                    </a:p>
                  </a:txBody>
                  <a:tcPr>
                    <a:solidFill>
                      <a:srgbClr val="3366FF"/>
                    </a:solidFill>
                  </a:tcPr>
                </a:tc>
                <a:tc>
                  <a:txBody>
                    <a:bodyPr/>
                    <a:lstStyle/>
                    <a:p>
                      <a:pPr algn="ctr"/>
                      <a:r>
                        <a:rPr lang="en-US" dirty="0" smtClean="0"/>
                        <a:t>A OR B</a:t>
                      </a:r>
                      <a:endParaRPr lang="en-US" dirty="0"/>
                    </a:p>
                  </a:txBody>
                  <a:tcPr/>
                </a:tc>
                <a:tc>
                  <a:txBody>
                    <a:bodyPr/>
                    <a:lstStyle/>
                    <a:p>
                      <a:pPr algn="ctr"/>
                      <a:r>
                        <a:rPr lang="en-US" dirty="0" smtClean="0"/>
                        <a:t> NAND </a:t>
                      </a:r>
                      <a:endParaRPr lang="en-US" dirty="0"/>
                    </a:p>
                  </a:txBody>
                  <a:tcPr/>
                </a:tc>
              </a:tr>
              <a:tr h="438912">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rgbClr val="3366FF"/>
                    </a:solidFill>
                  </a:tcPr>
                </a:tc>
                <a:tc>
                  <a:txBody>
                    <a:bodyPr/>
                    <a:lstStyle/>
                    <a:p>
                      <a:r>
                        <a:rPr lang="en-US" dirty="0" smtClean="0"/>
                        <a:t>0</a:t>
                      </a:r>
                      <a:endParaRPr lang="en-US" dirty="0"/>
                    </a:p>
                  </a:txBody>
                  <a:tcPr/>
                </a:tc>
                <a:tc>
                  <a:txBody>
                    <a:bodyPr/>
                    <a:lstStyle/>
                    <a:p>
                      <a:r>
                        <a:rPr lang="en-US" dirty="0" smtClean="0"/>
                        <a:t>1</a:t>
                      </a:r>
                      <a:endParaRPr lang="en-US" dirty="0"/>
                    </a:p>
                  </a:txBody>
                  <a:tcPr/>
                </a:tc>
              </a:tr>
              <a:tr h="438912">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rgbClr val="3366FF"/>
                    </a:solidFill>
                  </a:tcPr>
                </a:tc>
                <a:tc>
                  <a:txBody>
                    <a:bodyPr/>
                    <a:lstStyle/>
                    <a:p>
                      <a:r>
                        <a:rPr lang="en-US" dirty="0" smtClean="0"/>
                        <a:t>1</a:t>
                      </a:r>
                      <a:endParaRPr lang="en-US" dirty="0"/>
                    </a:p>
                  </a:txBody>
                  <a:tcPr/>
                </a:tc>
                <a:tc>
                  <a:txBody>
                    <a:bodyPr/>
                    <a:lstStyle/>
                    <a:p>
                      <a:r>
                        <a:rPr lang="en-US" dirty="0" smtClean="0"/>
                        <a:t>1</a:t>
                      </a:r>
                      <a:endParaRPr lang="en-US" dirty="0"/>
                    </a:p>
                  </a:txBody>
                  <a:tcPr/>
                </a:tc>
              </a:tr>
              <a:tr h="438912">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rgbClr val="3366FF"/>
                    </a:solidFill>
                  </a:tcPr>
                </a:tc>
                <a:tc>
                  <a:txBody>
                    <a:bodyPr/>
                    <a:lstStyle/>
                    <a:p>
                      <a:r>
                        <a:rPr lang="en-US" dirty="0" smtClean="0"/>
                        <a:t>1</a:t>
                      </a:r>
                      <a:endParaRPr lang="en-US" dirty="0"/>
                    </a:p>
                  </a:txBody>
                  <a:tcPr/>
                </a:tc>
                <a:tc>
                  <a:txBody>
                    <a:bodyPr/>
                    <a:lstStyle/>
                    <a:p>
                      <a:r>
                        <a:rPr lang="en-US" dirty="0" smtClean="0"/>
                        <a:t>1</a:t>
                      </a:r>
                      <a:endParaRPr lang="en-US" dirty="0"/>
                    </a:p>
                  </a:txBody>
                  <a:tcPr/>
                </a:tc>
              </a:tr>
              <a:tr h="438912">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solidFill>
                      <a:srgbClr val="3366FF"/>
                    </a:solidFill>
                  </a:tcPr>
                </a:tc>
                <a:tc>
                  <a:txBody>
                    <a:bodyPr/>
                    <a:lstStyle/>
                    <a:p>
                      <a:r>
                        <a:rPr lang="en-US" dirty="0" smtClean="0"/>
                        <a:t>1</a:t>
                      </a:r>
                      <a:endParaRPr lang="en-US" dirty="0"/>
                    </a:p>
                  </a:txBody>
                  <a:tcPr/>
                </a:tc>
                <a:tc>
                  <a:txBody>
                    <a:bodyPr/>
                    <a:lstStyle/>
                    <a:p>
                      <a:r>
                        <a:rPr lang="en-US" dirty="0" smtClean="0"/>
                        <a:t>0</a:t>
                      </a:r>
                      <a:endParaRPr lang="en-US" dirty="0"/>
                    </a:p>
                  </a:txBody>
                  <a:tcPr/>
                </a:tc>
              </a:tr>
            </a:tbl>
          </a:graphicData>
        </a:graphic>
      </p:graphicFrame>
      <p:sp>
        <p:nvSpPr>
          <p:cNvPr id="11" name="TextBox 10"/>
          <p:cNvSpPr txBox="1"/>
          <p:nvPr/>
        </p:nvSpPr>
        <p:spPr>
          <a:xfrm>
            <a:off x="3657600" y="0"/>
            <a:ext cx="187364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Logical Definition</a:t>
            </a:r>
            <a:endParaRPr lang="en-US" dirty="0"/>
          </a:p>
        </p:txBody>
      </p:sp>
      <p:sp>
        <p:nvSpPr>
          <p:cNvPr id="2" name="Not Equal 1"/>
          <p:cNvSpPr/>
          <p:nvPr/>
        </p:nvSpPr>
        <p:spPr>
          <a:xfrm>
            <a:off x="3657600" y="2971800"/>
            <a:ext cx="2514600" cy="838200"/>
          </a:xfrm>
          <a:prstGeom prst="mathNotEqual">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b="1" dirty="0" smtClean="0">
                <a:solidFill>
                  <a:srgbClr val="0000FF"/>
                </a:solidFill>
              </a:rPr>
              <a:t>Different Bits,</a:t>
            </a:r>
          </a:p>
          <a:p>
            <a:pPr algn="ctr"/>
            <a:r>
              <a:rPr lang="en-US" b="1" dirty="0" smtClean="0">
                <a:solidFill>
                  <a:srgbClr val="0000FF"/>
                </a:solidFill>
              </a:rPr>
              <a:t>Same Meaning</a:t>
            </a:r>
            <a:endParaRPr lang="en-US" b="1" dirty="0">
              <a:solidFill>
                <a:srgbClr val="0000FF"/>
              </a:solidFill>
            </a:endParaRPr>
          </a:p>
        </p:txBody>
      </p:sp>
      <p:sp>
        <p:nvSpPr>
          <p:cNvPr id="3" name="TextBox 2"/>
          <p:cNvSpPr txBox="1"/>
          <p:nvPr/>
        </p:nvSpPr>
        <p:spPr>
          <a:xfrm>
            <a:off x="76200" y="2886670"/>
            <a:ext cx="3352800"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a:buChar char="•"/>
            </a:pPr>
            <a:r>
              <a:rPr lang="en-US" dirty="0" smtClean="0"/>
              <a:t>Binary is </a:t>
            </a:r>
            <a:r>
              <a:rPr lang="en-US" b="1" dirty="0" smtClean="0"/>
              <a:t>not</a:t>
            </a:r>
            <a:r>
              <a:rPr lang="en-US" dirty="0" smtClean="0"/>
              <a:t> identical;</a:t>
            </a:r>
          </a:p>
          <a:p>
            <a:pPr marL="285750" indent="-285750">
              <a:buFont typeface="Arial"/>
              <a:buChar char="•"/>
            </a:pPr>
            <a:r>
              <a:rPr lang="en-US" dirty="0" smtClean="0"/>
              <a:t>But </a:t>
            </a:r>
            <a:r>
              <a:rPr lang="en-US" b="1" i="1" dirty="0">
                <a:solidFill>
                  <a:srgbClr val="0000FF"/>
                </a:solidFill>
              </a:rPr>
              <a:t>m</a:t>
            </a:r>
            <a:r>
              <a:rPr lang="en-US" b="1" i="1" dirty="0" smtClean="0">
                <a:solidFill>
                  <a:srgbClr val="0000FF"/>
                </a:solidFill>
              </a:rPr>
              <a:t>eaning is preserved</a:t>
            </a:r>
          </a:p>
          <a:p>
            <a:pPr marL="285750" indent="-285750">
              <a:buFont typeface="Arial"/>
              <a:buChar char="•"/>
            </a:pPr>
            <a:r>
              <a:rPr lang="en-US" b="1" dirty="0" smtClean="0">
                <a:solidFill>
                  <a:srgbClr val="0000FF"/>
                </a:solidFill>
              </a:rPr>
              <a:t>AND</a:t>
            </a:r>
            <a:r>
              <a:rPr lang="en-US" dirty="0" smtClean="0"/>
              <a:t> is </a:t>
            </a:r>
            <a:r>
              <a:rPr lang="en-US" b="1" dirty="0" smtClean="0">
                <a:solidFill>
                  <a:srgbClr val="0000FF"/>
                </a:solidFill>
              </a:rPr>
              <a:t>AND</a:t>
            </a:r>
            <a:r>
              <a:rPr lang="en-US" b="1" dirty="0" smtClean="0"/>
              <a:t> </a:t>
            </a:r>
            <a:r>
              <a:rPr lang="en-US" dirty="0" smtClean="0"/>
              <a:t>in both schemes</a:t>
            </a:r>
            <a:endParaRPr lang="en-US" dirty="0"/>
          </a:p>
        </p:txBody>
      </p:sp>
      <p:sp>
        <p:nvSpPr>
          <p:cNvPr id="17" name="TextBox 16"/>
          <p:cNvSpPr txBox="1"/>
          <p:nvPr/>
        </p:nvSpPr>
        <p:spPr>
          <a:xfrm>
            <a:off x="0" y="0"/>
            <a:ext cx="2819400" cy="193899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400" dirty="0" smtClean="0"/>
              <a:t>Consider 2 Columns with </a:t>
            </a:r>
            <a:r>
              <a:rPr lang="en-US" sz="2400" b="1" dirty="0">
                <a:solidFill>
                  <a:srgbClr val="0000FF"/>
                </a:solidFill>
              </a:rPr>
              <a:t>d</a:t>
            </a:r>
            <a:r>
              <a:rPr lang="en-US" sz="2400" b="1" dirty="0" smtClean="0">
                <a:solidFill>
                  <a:srgbClr val="0000FF"/>
                </a:solidFill>
              </a:rPr>
              <a:t>ifferent bits</a:t>
            </a:r>
            <a:r>
              <a:rPr lang="mr-IN" sz="2400" dirty="0" smtClean="0"/>
              <a:t>…</a:t>
            </a:r>
            <a:endParaRPr lang="en-US" sz="2400" dirty="0" smtClean="0"/>
          </a:p>
          <a:p>
            <a:pPr marL="285750" indent="-285750">
              <a:buFont typeface="Arial"/>
              <a:buChar char="•"/>
            </a:pPr>
            <a:r>
              <a:rPr lang="en-US" dirty="0" smtClean="0"/>
              <a:t>Positive logic or negative logic affects AND &amp; OR</a:t>
            </a:r>
            <a:r>
              <a:rPr lang="mr-IN" dirty="0" smtClean="0"/>
              <a:t>…</a:t>
            </a:r>
            <a:endParaRPr lang="en-US" dirty="0" smtClean="0"/>
          </a:p>
          <a:p>
            <a:pPr marL="285750" indent="-285750">
              <a:buFont typeface="Arial"/>
              <a:buChar char="•"/>
            </a:pPr>
            <a:r>
              <a:rPr lang="en-US" dirty="0" smtClean="0"/>
              <a:t>This can also be seen in DeMorgan’s Law</a:t>
            </a:r>
          </a:p>
        </p:txBody>
      </p:sp>
      <p:cxnSp>
        <p:nvCxnSpPr>
          <p:cNvPr id="8" name="Straight Arrow Connector 7"/>
          <p:cNvCxnSpPr>
            <a:stCxn id="4" idx="2"/>
          </p:cNvCxnSpPr>
          <p:nvPr/>
        </p:nvCxnSpPr>
        <p:spPr>
          <a:xfrm flipH="1">
            <a:off x="2819400" y="2895600"/>
            <a:ext cx="1943100" cy="914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4373554"/>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226742755"/>
              </p:ext>
            </p:extLst>
          </p:nvPr>
        </p:nvGraphicFramePr>
        <p:xfrm>
          <a:off x="2743200" y="228600"/>
          <a:ext cx="4038600" cy="2514600"/>
        </p:xfrm>
        <a:graphic>
          <a:graphicData uri="http://schemas.openxmlformats.org/drawingml/2006/table">
            <a:tbl>
              <a:tblPr firstRow="1" bandRow="1">
                <a:tableStyleId>{3C2FFA5D-87B4-456A-9821-1D502468CF0F}</a:tableStyleId>
              </a:tblPr>
              <a:tblGrid>
                <a:gridCol w="1009650"/>
                <a:gridCol w="1009650"/>
                <a:gridCol w="1009650"/>
                <a:gridCol w="1009650"/>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b="1" dirty="0"/>
                    </a:p>
                  </a:txBody>
                  <a:tcPr/>
                </a:tc>
                <a:tc>
                  <a:txBody>
                    <a:bodyPr/>
                    <a:lstStyle/>
                    <a:p>
                      <a:pPr algn="ctr"/>
                      <a:r>
                        <a:rPr lang="en-US" dirty="0" smtClean="0"/>
                        <a:t>A OR B</a:t>
                      </a:r>
                      <a:endParaRPr lang="en-US" dirty="0"/>
                    </a:p>
                  </a:txBody>
                  <a:tcPr/>
                </a:tc>
              </a:tr>
              <a:tr h="452628">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F</a:t>
                      </a:r>
                      <a:endParaRPr lang="en-US" b="1" dirty="0"/>
                    </a:p>
                  </a:txBody>
                  <a:tcPr/>
                </a:tc>
                <a:tc>
                  <a:txBody>
                    <a:bodyPr/>
                    <a:lstStyle/>
                    <a:p>
                      <a:r>
                        <a:rPr lang="en-US" dirty="0" smtClean="0"/>
                        <a:t>F</a:t>
                      </a:r>
                      <a:endParaRPr lang="en-US" dirty="0"/>
                    </a:p>
                  </a:txBody>
                  <a:tcPr/>
                </a:tc>
              </a:tr>
              <a:tr h="452628">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b="1" dirty="0"/>
                    </a:p>
                  </a:txBody>
                  <a:tcPr/>
                </a:tc>
                <a:tc>
                  <a:txBody>
                    <a:bodyPr/>
                    <a:lstStyle/>
                    <a:p>
                      <a:r>
                        <a:rPr lang="en-US" dirty="0" smtClean="0"/>
                        <a:t>T</a:t>
                      </a:r>
                      <a:endParaRPr lang="en-US" dirty="0"/>
                    </a:p>
                  </a:txBody>
                  <a:tcPr/>
                </a:tc>
              </a:tr>
              <a:tr h="452628">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b="1" dirty="0"/>
                    </a:p>
                  </a:txBody>
                  <a:tcPr/>
                </a:tc>
                <a:tc>
                  <a:txBody>
                    <a:bodyPr/>
                    <a:lstStyle/>
                    <a:p>
                      <a:r>
                        <a:rPr lang="en-US" dirty="0" smtClean="0"/>
                        <a:t>T</a:t>
                      </a:r>
                      <a:endParaRPr lang="en-US" dirty="0"/>
                    </a:p>
                  </a:txBody>
                  <a:tcPr/>
                </a:tc>
              </a:tr>
              <a:tr h="452628">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b="1" dirty="0"/>
                    </a:p>
                  </a:txBody>
                  <a:tcPr/>
                </a:tc>
                <a:tc>
                  <a:txBody>
                    <a:bodyPr/>
                    <a:lstStyle/>
                    <a:p>
                      <a:r>
                        <a:rPr lang="en-US" dirty="0" smtClean="0"/>
                        <a:t>T</a:t>
                      </a:r>
                      <a:endParaRPr lang="en-US" dirty="0"/>
                    </a:p>
                  </a:txBody>
                  <a:tcPr/>
                </a:tc>
              </a:tr>
            </a:tbl>
          </a:graphicData>
        </a:graphic>
      </p:graphicFrame>
      <p:cxnSp>
        <p:nvCxnSpPr>
          <p:cNvPr id="8" name="Straight Arrow Connector 7"/>
          <p:cNvCxnSpPr>
            <a:stCxn id="4" idx="2"/>
          </p:cNvCxnSpPr>
          <p:nvPr/>
        </p:nvCxnSpPr>
        <p:spPr>
          <a:xfrm flipH="1">
            <a:off x="4114800" y="2743200"/>
            <a:ext cx="647700" cy="990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a:stCxn id="4" idx="2"/>
            <a:endCxn id="14" idx="0"/>
          </p:cNvCxnSpPr>
          <p:nvPr/>
        </p:nvCxnSpPr>
        <p:spPr>
          <a:xfrm>
            <a:off x="4762500" y="2743200"/>
            <a:ext cx="2186940" cy="990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0" y="76200"/>
            <a:ext cx="2819400" cy="249299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400" dirty="0" smtClean="0"/>
              <a:t>Consider 2 Columns with the </a:t>
            </a:r>
            <a:r>
              <a:rPr lang="en-US" sz="2400" b="1" i="1" dirty="0" smtClean="0">
                <a:solidFill>
                  <a:srgbClr val="660066"/>
                </a:solidFill>
              </a:rPr>
              <a:t>same</a:t>
            </a:r>
            <a:r>
              <a:rPr lang="en-US" sz="2400" dirty="0" smtClean="0">
                <a:solidFill>
                  <a:srgbClr val="660066"/>
                </a:solidFill>
              </a:rPr>
              <a:t> </a:t>
            </a:r>
            <a:r>
              <a:rPr lang="en-US" sz="2400" b="1" dirty="0" smtClean="0">
                <a:solidFill>
                  <a:srgbClr val="660066"/>
                </a:solidFill>
              </a:rPr>
              <a:t>bits</a:t>
            </a:r>
            <a:r>
              <a:rPr lang="mr-IN" sz="2400" dirty="0" smtClean="0"/>
              <a:t>…</a:t>
            </a:r>
            <a:endParaRPr lang="en-US" sz="2400" dirty="0" smtClean="0"/>
          </a:p>
          <a:p>
            <a:pPr marL="285750" indent="-285750">
              <a:buFont typeface="Arial"/>
              <a:buChar char="•"/>
            </a:pPr>
            <a:r>
              <a:rPr lang="en-US" dirty="0" smtClean="0"/>
              <a:t>Positive logic-&gt;negative logic flips the </a:t>
            </a:r>
            <a:r>
              <a:rPr lang="en-US" i="1" dirty="0" smtClean="0"/>
              <a:t>meaning </a:t>
            </a:r>
            <a:r>
              <a:rPr lang="en-US" dirty="0" smtClean="0"/>
              <a:t>of 0 &amp; 1</a:t>
            </a:r>
            <a:endParaRPr lang="en-US" i="1" dirty="0"/>
          </a:p>
          <a:p>
            <a:pPr marL="742950" lvl="1" indent="-285750">
              <a:buFont typeface="Arial"/>
              <a:buChar char="•"/>
            </a:pPr>
            <a:r>
              <a:rPr lang="en-US" b="1" i="1" dirty="0" smtClean="0">
                <a:solidFill>
                  <a:srgbClr val="660066"/>
                </a:solidFill>
              </a:rPr>
              <a:t>AND to OR</a:t>
            </a:r>
            <a:endParaRPr lang="en-US" b="1" dirty="0" smtClean="0">
              <a:solidFill>
                <a:srgbClr val="660066"/>
              </a:solidFill>
            </a:endParaRPr>
          </a:p>
          <a:p>
            <a:pPr marL="285750" indent="-285750">
              <a:buFont typeface="Arial"/>
              <a:buChar char="•"/>
            </a:pPr>
            <a:r>
              <a:rPr lang="en-US" dirty="0" smtClean="0"/>
              <a:t>This can also be seen in </a:t>
            </a:r>
            <a:r>
              <a:rPr lang="en-US" dirty="0" err="1" smtClean="0"/>
              <a:t>DeMorgan’s</a:t>
            </a:r>
            <a:r>
              <a:rPr lang="en-US" dirty="0" smtClean="0"/>
              <a:t> Law</a:t>
            </a:r>
          </a:p>
        </p:txBody>
      </p:sp>
      <p:sp>
        <p:nvSpPr>
          <p:cNvPr id="2" name="Equal 1"/>
          <p:cNvSpPr/>
          <p:nvPr/>
        </p:nvSpPr>
        <p:spPr>
          <a:xfrm>
            <a:off x="3124200" y="2895600"/>
            <a:ext cx="2971800" cy="838200"/>
          </a:xfrm>
          <a:prstGeom prst="mathEqual">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smtClean="0">
                <a:solidFill>
                  <a:srgbClr val="660066"/>
                </a:solidFill>
              </a:rPr>
              <a:t>Same Bits,</a:t>
            </a:r>
          </a:p>
          <a:p>
            <a:pPr algn="ctr"/>
            <a:r>
              <a:rPr lang="en-US" b="1" dirty="0" smtClean="0">
                <a:solidFill>
                  <a:srgbClr val="660066"/>
                </a:solidFill>
              </a:rPr>
              <a:t>Different Meaning</a:t>
            </a:r>
            <a:endParaRPr lang="en-US" b="1" dirty="0">
              <a:solidFill>
                <a:srgbClr val="660066"/>
              </a:solidFill>
            </a:endParaRPr>
          </a:p>
        </p:txBody>
      </p:sp>
      <p:sp>
        <p:nvSpPr>
          <p:cNvPr id="17" name="TextBox 16"/>
          <p:cNvSpPr txBox="1"/>
          <p:nvPr/>
        </p:nvSpPr>
        <p:spPr>
          <a:xfrm>
            <a:off x="6019800" y="2590800"/>
            <a:ext cx="3124200"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a:buChar char="•"/>
            </a:pPr>
            <a:r>
              <a:rPr lang="en-US" dirty="0" smtClean="0"/>
              <a:t>Binary </a:t>
            </a:r>
            <a:r>
              <a:rPr lang="en-US" b="1" i="1" dirty="0" smtClean="0"/>
              <a:t>IS</a:t>
            </a:r>
            <a:r>
              <a:rPr lang="en-US" dirty="0" smtClean="0"/>
              <a:t> identical;</a:t>
            </a:r>
          </a:p>
          <a:p>
            <a:pPr marL="285750" indent="-285750">
              <a:buFont typeface="Arial"/>
              <a:buChar char="•"/>
            </a:pPr>
            <a:r>
              <a:rPr lang="en-US" dirty="0" smtClean="0"/>
              <a:t>But </a:t>
            </a:r>
            <a:r>
              <a:rPr lang="en-US" b="1" i="1" dirty="0">
                <a:solidFill>
                  <a:srgbClr val="660066"/>
                </a:solidFill>
              </a:rPr>
              <a:t>m</a:t>
            </a:r>
            <a:r>
              <a:rPr lang="en-US" b="1" i="1" dirty="0" smtClean="0">
                <a:solidFill>
                  <a:srgbClr val="660066"/>
                </a:solidFill>
              </a:rPr>
              <a:t>eaning has changed</a:t>
            </a:r>
          </a:p>
          <a:p>
            <a:pPr marL="285750" indent="-285750">
              <a:buFont typeface="Arial"/>
              <a:buChar char="•"/>
            </a:pPr>
            <a:r>
              <a:rPr lang="en-US" b="1" dirty="0" smtClean="0">
                <a:solidFill>
                  <a:srgbClr val="660066"/>
                </a:solidFill>
              </a:rPr>
              <a:t>AND? or NAND</a:t>
            </a:r>
            <a:r>
              <a:rPr lang="en-US" dirty="0" smtClean="0"/>
              <a:t>?</a:t>
            </a:r>
            <a:endParaRPr lang="en-US" dirty="0"/>
          </a:p>
        </p:txBody>
      </p:sp>
      <p:sp>
        <p:nvSpPr>
          <p:cNvPr id="18" name="TextBox 17"/>
          <p:cNvSpPr txBox="1"/>
          <p:nvPr/>
        </p:nvSpPr>
        <p:spPr>
          <a:xfrm>
            <a:off x="457200" y="6172200"/>
            <a:ext cx="32766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Positive Implementation Values</a:t>
            </a:r>
            <a:endParaRPr lang="en-US" dirty="0"/>
          </a:p>
        </p:txBody>
      </p:sp>
      <p:sp>
        <p:nvSpPr>
          <p:cNvPr id="19" name="TextBox 18"/>
          <p:cNvSpPr txBox="1"/>
          <p:nvPr/>
        </p:nvSpPr>
        <p:spPr>
          <a:xfrm>
            <a:off x="5181600" y="6248400"/>
            <a:ext cx="3352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Negative Implementation Values</a:t>
            </a:r>
            <a:endParaRPr lang="en-US" dirty="0"/>
          </a:p>
        </p:txBody>
      </p:sp>
      <p:sp>
        <p:nvSpPr>
          <p:cNvPr id="20" name="TextBox 19"/>
          <p:cNvSpPr txBox="1"/>
          <p:nvPr/>
        </p:nvSpPr>
        <p:spPr>
          <a:xfrm>
            <a:off x="3861735" y="0"/>
            <a:ext cx="1548465"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dirty="0" smtClean="0"/>
              <a:t>Logical Definition</a:t>
            </a:r>
            <a:endParaRPr lang="en-US" sz="1400" dirty="0"/>
          </a:p>
        </p:txBody>
      </p:sp>
      <p:graphicFrame>
        <p:nvGraphicFramePr>
          <p:cNvPr id="14" name="Table 13"/>
          <p:cNvGraphicFramePr>
            <a:graphicFrameLocks noGrp="1"/>
          </p:cNvGraphicFramePr>
          <p:nvPr>
            <p:extLst>
              <p:ext uri="{D42A27DB-BD31-4B8C-83A1-F6EECF244321}">
                <p14:modId xmlns:p14="http://schemas.microsoft.com/office/powerpoint/2010/main" val="244370974"/>
              </p:ext>
            </p:extLst>
          </p:nvPr>
        </p:nvGraphicFramePr>
        <p:xfrm>
          <a:off x="4907280" y="3733800"/>
          <a:ext cx="4084320" cy="2514600"/>
        </p:xfrm>
        <a:graphic>
          <a:graphicData uri="http://schemas.openxmlformats.org/drawingml/2006/table">
            <a:tbl>
              <a:tblPr firstRow="1" bandRow="1">
                <a:tableStyleId>{3C2FFA5D-87B4-456A-9821-1D502468CF0F}</a:tableStyleId>
              </a:tblPr>
              <a:tblGrid>
                <a:gridCol w="816864"/>
                <a:gridCol w="816864"/>
                <a:gridCol w="816864"/>
                <a:gridCol w="816864"/>
                <a:gridCol w="816864"/>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dirty="0">
                        <a:solidFill>
                          <a:srgbClr val="2F2B20"/>
                        </a:solidFill>
                      </a:endParaRPr>
                    </a:p>
                  </a:txBody>
                  <a:tcPr>
                    <a:solidFill>
                      <a:srgbClr val="DEC59E"/>
                    </a:solidFill>
                  </a:tcPr>
                </a:tc>
                <a:tc>
                  <a:txBody>
                    <a:bodyPr/>
                    <a:lstStyle/>
                    <a:p>
                      <a:pPr algn="ctr"/>
                      <a:r>
                        <a:rPr lang="en-US" dirty="0" smtClean="0"/>
                        <a:t>A OR B</a:t>
                      </a:r>
                      <a:endParaRPr lang="en-US" dirty="0"/>
                    </a:p>
                  </a:txBody>
                  <a:tcPr/>
                </a:tc>
                <a:tc>
                  <a:txBody>
                    <a:bodyPr/>
                    <a:lstStyle/>
                    <a:p>
                      <a:pPr algn="ctr"/>
                      <a:r>
                        <a:rPr lang="en-US" dirty="0" smtClean="0"/>
                        <a:t>NOR</a:t>
                      </a:r>
                      <a:endParaRPr lang="en-US" dirty="0"/>
                    </a:p>
                  </a:txBody>
                  <a:tcPr/>
                </a:tc>
              </a:tr>
              <a:tr h="45262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solidFill>
                      <a:srgbClr val="DEC59E"/>
                    </a:solidFill>
                  </a:tcPr>
                </a:tc>
                <a:tc>
                  <a:txBody>
                    <a:bodyPr/>
                    <a:lstStyle/>
                    <a:p>
                      <a:r>
                        <a:rPr lang="en-US" dirty="0" smtClean="0"/>
                        <a:t>1</a:t>
                      </a:r>
                      <a:endParaRPr lang="en-US" dirty="0"/>
                    </a:p>
                  </a:txBody>
                  <a:tcPr/>
                </a:tc>
                <a:tc>
                  <a:txBody>
                    <a:bodyPr/>
                    <a:lstStyle/>
                    <a:p>
                      <a:r>
                        <a:rPr lang="en-US" dirty="0" smtClean="0"/>
                        <a:t>0</a:t>
                      </a:r>
                      <a:endParaRPr lang="en-US" dirty="0"/>
                    </a:p>
                  </a:txBody>
                  <a:tcPr/>
                </a:tc>
              </a:tr>
              <a:tr h="45262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solidFill>
                      <a:srgbClr val="DEC59E"/>
                    </a:solidFill>
                  </a:tcPr>
                </a:tc>
                <a:tc>
                  <a:txBody>
                    <a:bodyPr/>
                    <a:lstStyle/>
                    <a:p>
                      <a:r>
                        <a:rPr lang="en-US" dirty="0" smtClean="0"/>
                        <a:t>0</a:t>
                      </a:r>
                      <a:endParaRPr lang="en-US" dirty="0"/>
                    </a:p>
                  </a:txBody>
                  <a:tcPr/>
                </a:tc>
                <a:tc>
                  <a:txBody>
                    <a:bodyPr/>
                    <a:lstStyle/>
                    <a:p>
                      <a:r>
                        <a:rPr lang="en-US" dirty="0" smtClean="0"/>
                        <a:t>1</a:t>
                      </a:r>
                      <a:endParaRPr lang="en-US" dirty="0"/>
                    </a:p>
                  </a:txBody>
                  <a:tcPr/>
                </a:tc>
              </a:tr>
              <a:tr h="45262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solidFill>
                      <a:srgbClr val="DEC59E"/>
                    </a:solidFill>
                  </a:tcPr>
                </a:tc>
                <a:tc>
                  <a:txBody>
                    <a:bodyPr/>
                    <a:lstStyle/>
                    <a:p>
                      <a:r>
                        <a:rPr lang="en-US" dirty="0" smtClean="0"/>
                        <a:t>0</a:t>
                      </a:r>
                      <a:endParaRPr lang="en-US" dirty="0"/>
                    </a:p>
                  </a:txBody>
                  <a:tcPr/>
                </a:tc>
                <a:tc>
                  <a:txBody>
                    <a:bodyPr/>
                    <a:lstStyle/>
                    <a:p>
                      <a:r>
                        <a:rPr lang="en-US" dirty="0" smtClean="0"/>
                        <a:t>1</a:t>
                      </a:r>
                      <a:endParaRPr lang="en-US" dirty="0"/>
                    </a:p>
                  </a:txBody>
                  <a:tcPr/>
                </a:tc>
              </a:tr>
              <a:tr h="452628">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rgbClr val="DEC59E"/>
                    </a:solidFill>
                  </a:tcPr>
                </a:tc>
                <a:tc>
                  <a:txBody>
                    <a:bodyPr/>
                    <a:lstStyle/>
                    <a:p>
                      <a:r>
                        <a:rPr lang="en-US" dirty="0" smtClean="0"/>
                        <a:t>0</a:t>
                      </a:r>
                      <a:endParaRPr lang="en-US" dirty="0"/>
                    </a:p>
                  </a:txBody>
                  <a:tcPr/>
                </a:tc>
                <a:tc>
                  <a:txBody>
                    <a:bodyPr/>
                    <a:lstStyle/>
                    <a:p>
                      <a:r>
                        <a:rPr lang="en-US" dirty="0" smtClean="0"/>
                        <a:t>1</a:t>
                      </a:r>
                      <a:endParaRPr lang="en-US" dirty="0"/>
                    </a:p>
                  </a:txBody>
                  <a:tcPr/>
                </a:tc>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131088498"/>
              </p:ext>
            </p:extLst>
          </p:nvPr>
        </p:nvGraphicFramePr>
        <p:xfrm>
          <a:off x="76200" y="3733800"/>
          <a:ext cx="4648200" cy="2438400"/>
        </p:xfrm>
        <a:graphic>
          <a:graphicData uri="http://schemas.openxmlformats.org/drawingml/2006/table">
            <a:tbl>
              <a:tblPr firstRow="1" bandRow="1">
                <a:tableStyleId>{3C2FFA5D-87B4-456A-9821-1D502468CF0F}</a:tableStyleId>
              </a:tblPr>
              <a:tblGrid>
                <a:gridCol w="929640"/>
                <a:gridCol w="929640"/>
                <a:gridCol w="929640"/>
                <a:gridCol w="929640"/>
                <a:gridCol w="929640"/>
              </a:tblGrid>
              <a:tr h="682752">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dirty="0"/>
                    </a:p>
                  </a:txBody>
                  <a:tcPr/>
                </a:tc>
                <a:tc>
                  <a:txBody>
                    <a:bodyPr/>
                    <a:lstStyle/>
                    <a:p>
                      <a:pPr algn="ctr"/>
                      <a:r>
                        <a:rPr lang="en-US" dirty="0" smtClean="0"/>
                        <a:t>A OR B</a:t>
                      </a:r>
                      <a:endParaRPr lang="en-US" dirty="0"/>
                    </a:p>
                  </a:txBody>
                  <a:tcPr/>
                </a:tc>
                <a:tc>
                  <a:txBody>
                    <a:bodyPr/>
                    <a:lstStyle/>
                    <a:p>
                      <a:pPr algn="ctr"/>
                      <a:r>
                        <a:rPr lang="en-US" dirty="0" smtClean="0"/>
                        <a:t> NAND </a:t>
                      </a:r>
                      <a:endParaRPr lang="en-US" dirty="0">
                        <a:solidFill>
                          <a:schemeClr val="tx1"/>
                        </a:solidFill>
                      </a:endParaRPr>
                    </a:p>
                  </a:txBody>
                  <a:tcPr>
                    <a:solidFill>
                      <a:srgbClr val="DEC59E"/>
                    </a:solidFill>
                  </a:tcPr>
                </a:tc>
              </a:tr>
              <a:tr h="438912">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solidFill>
                      <a:srgbClr val="DEC59E"/>
                    </a:solidFill>
                  </a:tcPr>
                </a:tc>
              </a:tr>
              <a:tr h="438912">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solidFill>
                      <a:srgbClr val="DEC59E"/>
                    </a:solidFill>
                  </a:tcPr>
                </a:tc>
              </a:tr>
              <a:tr h="438912">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solidFill>
                      <a:srgbClr val="DEC59E"/>
                    </a:solidFill>
                  </a:tcPr>
                </a:tc>
              </a:tr>
              <a:tr h="438912">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rgbClr val="DEC59E"/>
                    </a:solidFill>
                  </a:tcPr>
                </a:tc>
              </a:tr>
            </a:tbl>
          </a:graphicData>
        </a:graphic>
      </p:graphicFrame>
      <p:sp>
        <p:nvSpPr>
          <p:cNvPr id="21" name="TextBox 20"/>
          <p:cNvSpPr txBox="1"/>
          <p:nvPr/>
        </p:nvSpPr>
        <p:spPr>
          <a:xfrm>
            <a:off x="76200" y="5334000"/>
            <a:ext cx="8991600" cy="1477328"/>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pPr marL="285750" indent="-285750">
              <a:buFont typeface="Arial"/>
              <a:buChar char="•"/>
            </a:pPr>
            <a:r>
              <a:rPr lang="en-US" dirty="0" smtClean="0"/>
              <a:t>Positive logic or negative changes </a:t>
            </a:r>
            <a:r>
              <a:rPr lang="en-US" b="1" i="1" dirty="0" smtClean="0"/>
              <a:t>meaning</a:t>
            </a:r>
          </a:p>
          <a:p>
            <a:pPr marL="742950" lvl="1" indent="-285750">
              <a:buFont typeface="Arial"/>
              <a:buChar char="•"/>
            </a:pPr>
            <a:r>
              <a:rPr lang="en-US" dirty="0" smtClean="0"/>
              <a:t>Even if signals on wire have</a:t>
            </a:r>
            <a:r>
              <a:rPr lang="en-US" i="1" dirty="0" smtClean="0"/>
              <a:t> </a:t>
            </a:r>
            <a:r>
              <a:rPr lang="en-US" dirty="0" smtClean="0"/>
              <a:t>the same binary pattern</a:t>
            </a:r>
          </a:p>
          <a:p>
            <a:pPr marL="285750" indent="-285750">
              <a:buFont typeface="Arial"/>
              <a:buChar char="•"/>
            </a:pPr>
            <a:r>
              <a:rPr lang="en-US" dirty="0" smtClean="0"/>
              <a:t>Everything </a:t>
            </a:r>
            <a:r>
              <a:rPr lang="en-US" dirty="0"/>
              <a:t>that can be done in positive logic could be accomplished in negative </a:t>
            </a:r>
            <a:r>
              <a:rPr lang="en-US" dirty="0" smtClean="0"/>
              <a:t>logic</a:t>
            </a:r>
          </a:p>
          <a:p>
            <a:pPr marL="742950" lvl="1" indent="-285750">
              <a:buFont typeface="Arial"/>
              <a:buChar char="•"/>
            </a:pPr>
            <a:r>
              <a:rPr lang="en-US" dirty="0" smtClean="0"/>
              <a:t> These </a:t>
            </a:r>
            <a:r>
              <a:rPr lang="en-US" dirty="0"/>
              <a:t>are just different interpretations of current in a </a:t>
            </a:r>
            <a:r>
              <a:rPr lang="en-US" dirty="0" smtClean="0"/>
              <a:t>system</a:t>
            </a:r>
          </a:p>
          <a:p>
            <a:pPr marL="285750" indent="-285750">
              <a:buFont typeface="Arial"/>
              <a:buChar char="•"/>
            </a:pPr>
            <a:r>
              <a:rPr lang="en-US" dirty="0" smtClean="0"/>
              <a:t>In </a:t>
            </a:r>
            <a:r>
              <a:rPr lang="en-US" dirty="0"/>
              <a:t>a binary system, there exists only two configurations, and we’ll adopt </a:t>
            </a:r>
            <a:r>
              <a:rPr lang="en-US" dirty="0" smtClean="0"/>
              <a:t>Positive Logic</a:t>
            </a:r>
            <a:endParaRPr lang="en-US" dirty="0"/>
          </a:p>
        </p:txBody>
      </p:sp>
    </p:spTree>
    <p:extLst>
      <p:ext uri="{BB962C8B-B14F-4D97-AF65-F5344CB8AC3E}">
        <p14:creationId xmlns:p14="http://schemas.microsoft.com/office/powerpoint/2010/main" val="378776015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354955098"/>
              </p:ext>
            </p:extLst>
          </p:nvPr>
        </p:nvGraphicFramePr>
        <p:xfrm>
          <a:off x="2743200" y="228600"/>
          <a:ext cx="4038600" cy="2514600"/>
        </p:xfrm>
        <a:graphic>
          <a:graphicData uri="http://schemas.openxmlformats.org/drawingml/2006/table">
            <a:tbl>
              <a:tblPr firstRow="1" bandRow="1">
                <a:tableStyleId>{3C2FFA5D-87B4-456A-9821-1D502468CF0F}</a:tableStyleId>
              </a:tblPr>
              <a:tblGrid>
                <a:gridCol w="1009650"/>
                <a:gridCol w="1009650"/>
                <a:gridCol w="1009650"/>
                <a:gridCol w="1009650"/>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b="1" dirty="0"/>
                    </a:p>
                  </a:txBody>
                  <a:tcPr/>
                </a:tc>
                <a:tc>
                  <a:txBody>
                    <a:bodyPr/>
                    <a:lstStyle/>
                    <a:p>
                      <a:pPr algn="ctr"/>
                      <a:r>
                        <a:rPr lang="en-US" dirty="0" smtClean="0"/>
                        <a:t>A OR B</a:t>
                      </a:r>
                      <a:endParaRPr lang="en-US" dirty="0"/>
                    </a:p>
                  </a:txBody>
                  <a:tcPr/>
                </a:tc>
              </a:tr>
              <a:tr h="452628">
                <a:tc>
                  <a:txBody>
                    <a:bodyPr/>
                    <a:lstStyle/>
                    <a:p>
                      <a:r>
                        <a:rPr lang="en-US" dirty="0" smtClean="0"/>
                        <a:t>F</a:t>
                      </a:r>
                      <a:endParaRPr lang="en-US" dirty="0"/>
                    </a:p>
                  </a:txBody>
                  <a:tcPr/>
                </a:tc>
                <a:tc>
                  <a:txBody>
                    <a:bodyPr/>
                    <a:lstStyle/>
                    <a:p>
                      <a:r>
                        <a:rPr lang="en-US" dirty="0" smtClean="0"/>
                        <a:t>F</a:t>
                      </a:r>
                      <a:endParaRPr lang="en-US" dirty="0"/>
                    </a:p>
                  </a:txBody>
                  <a:tcPr/>
                </a:tc>
                <a:tc>
                  <a:txBody>
                    <a:bodyPr/>
                    <a:lstStyle/>
                    <a:p>
                      <a:r>
                        <a:rPr lang="en-US" dirty="0" smtClean="0"/>
                        <a:t>F</a:t>
                      </a:r>
                      <a:endParaRPr lang="en-US" b="1" dirty="0"/>
                    </a:p>
                  </a:txBody>
                  <a:tcPr/>
                </a:tc>
                <a:tc>
                  <a:txBody>
                    <a:bodyPr/>
                    <a:lstStyle/>
                    <a:p>
                      <a:r>
                        <a:rPr lang="en-US" dirty="0" smtClean="0"/>
                        <a:t>F</a:t>
                      </a:r>
                      <a:endParaRPr lang="en-US" dirty="0"/>
                    </a:p>
                  </a:txBody>
                  <a:tcPr/>
                </a:tc>
              </a:tr>
              <a:tr h="452628">
                <a:tc>
                  <a:txBody>
                    <a:bodyPr/>
                    <a:lstStyle/>
                    <a:p>
                      <a:r>
                        <a:rPr lang="en-US" dirty="0" smtClean="0"/>
                        <a:t>F</a:t>
                      </a:r>
                      <a:endParaRPr lang="en-US" dirty="0"/>
                    </a:p>
                  </a:txBody>
                  <a:tcPr/>
                </a:tc>
                <a:tc>
                  <a:txBody>
                    <a:bodyPr/>
                    <a:lstStyle/>
                    <a:p>
                      <a:r>
                        <a:rPr lang="en-US" dirty="0" smtClean="0"/>
                        <a:t>T</a:t>
                      </a:r>
                      <a:endParaRPr lang="en-US" dirty="0"/>
                    </a:p>
                  </a:txBody>
                  <a:tcPr/>
                </a:tc>
                <a:tc>
                  <a:txBody>
                    <a:bodyPr/>
                    <a:lstStyle/>
                    <a:p>
                      <a:r>
                        <a:rPr lang="en-US" dirty="0" smtClean="0"/>
                        <a:t>F</a:t>
                      </a:r>
                      <a:endParaRPr lang="en-US" b="1" dirty="0"/>
                    </a:p>
                  </a:txBody>
                  <a:tcPr/>
                </a:tc>
                <a:tc>
                  <a:txBody>
                    <a:bodyPr/>
                    <a:lstStyle/>
                    <a:p>
                      <a:r>
                        <a:rPr lang="en-US" dirty="0" smtClean="0"/>
                        <a:t>T</a:t>
                      </a:r>
                      <a:endParaRPr lang="en-US" dirty="0"/>
                    </a:p>
                  </a:txBody>
                  <a:tcPr/>
                </a:tc>
              </a:tr>
              <a:tr h="452628">
                <a:tc>
                  <a:txBody>
                    <a:bodyPr/>
                    <a:lstStyle/>
                    <a:p>
                      <a:r>
                        <a:rPr lang="en-US" dirty="0" smtClean="0"/>
                        <a:t>T</a:t>
                      </a:r>
                      <a:endParaRPr lang="en-US" dirty="0"/>
                    </a:p>
                  </a:txBody>
                  <a:tcPr/>
                </a:tc>
                <a:tc>
                  <a:txBody>
                    <a:bodyPr/>
                    <a:lstStyle/>
                    <a:p>
                      <a:r>
                        <a:rPr lang="en-US" dirty="0" smtClean="0"/>
                        <a:t>F</a:t>
                      </a:r>
                      <a:endParaRPr lang="en-US" dirty="0"/>
                    </a:p>
                  </a:txBody>
                  <a:tcPr/>
                </a:tc>
                <a:tc>
                  <a:txBody>
                    <a:bodyPr/>
                    <a:lstStyle/>
                    <a:p>
                      <a:r>
                        <a:rPr lang="en-US" dirty="0" smtClean="0"/>
                        <a:t>F</a:t>
                      </a:r>
                      <a:endParaRPr lang="en-US" b="1" dirty="0"/>
                    </a:p>
                  </a:txBody>
                  <a:tcPr/>
                </a:tc>
                <a:tc>
                  <a:txBody>
                    <a:bodyPr/>
                    <a:lstStyle/>
                    <a:p>
                      <a:r>
                        <a:rPr lang="en-US" dirty="0" smtClean="0"/>
                        <a:t>T</a:t>
                      </a:r>
                      <a:endParaRPr lang="en-US" dirty="0"/>
                    </a:p>
                  </a:txBody>
                  <a:tcPr/>
                </a:tc>
              </a:tr>
              <a:tr h="452628">
                <a:tc>
                  <a:txBody>
                    <a:bodyPr/>
                    <a:lstStyle/>
                    <a:p>
                      <a:r>
                        <a:rPr lang="en-US" dirty="0" smtClean="0"/>
                        <a:t>T</a:t>
                      </a:r>
                      <a:endParaRPr lang="en-US" dirty="0"/>
                    </a:p>
                  </a:txBody>
                  <a:tcPr/>
                </a:tc>
                <a:tc>
                  <a:txBody>
                    <a:bodyPr/>
                    <a:lstStyle/>
                    <a:p>
                      <a:r>
                        <a:rPr lang="en-US" dirty="0" smtClean="0"/>
                        <a:t>T</a:t>
                      </a:r>
                      <a:endParaRPr lang="en-US" dirty="0"/>
                    </a:p>
                  </a:txBody>
                  <a:tcPr/>
                </a:tc>
                <a:tc>
                  <a:txBody>
                    <a:bodyPr/>
                    <a:lstStyle/>
                    <a:p>
                      <a:r>
                        <a:rPr lang="en-US" dirty="0" smtClean="0"/>
                        <a:t>T</a:t>
                      </a:r>
                      <a:endParaRPr lang="en-US" b="1" dirty="0"/>
                    </a:p>
                  </a:txBody>
                  <a:tcPr/>
                </a:tc>
                <a:tc>
                  <a:txBody>
                    <a:bodyPr/>
                    <a:lstStyle/>
                    <a:p>
                      <a:r>
                        <a:rPr lang="en-US" dirty="0" smtClean="0"/>
                        <a:t>T</a:t>
                      </a:r>
                      <a:endParaRPr lang="en-US" dirty="0"/>
                    </a:p>
                  </a:txBody>
                  <a:tcPr/>
                </a:tc>
              </a:tr>
            </a:tbl>
          </a:graphicData>
        </a:graphic>
      </p:graphicFrame>
      <p:cxnSp>
        <p:nvCxnSpPr>
          <p:cNvPr id="8" name="Straight Arrow Connector 7"/>
          <p:cNvCxnSpPr>
            <a:stCxn id="4" idx="2"/>
            <a:endCxn id="16" idx="0"/>
          </p:cNvCxnSpPr>
          <p:nvPr/>
        </p:nvCxnSpPr>
        <p:spPr>
          <a:xfrm flipH="1">
            <a:off x="2400300" y="2743200"/>
            <a:ext cx="2362200" cy="990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a:stCxn id="4" idx="2"/>
          </p:cNvCxnSpPr>
          <p:nvPr/>
        </p:nvCxnSpPr>
        <p:spPr>
          <a:xfrm>
            <a:off x="4762500" y="2743200"/>
            <a:ext cx="3086100" cy="990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0" y="76200"/>
            <a:ext cx="2819400" cy="249299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400" dirty="0" smtClean="0"/>
              <a:t>Consider 2 Columns with the </a:t>
            </a:r>
            <a:r>
              <a:rPr lang="en-US" sz="2400" b="1" i="1" dirty="0" smtClean="0">
                <a:solidFill>
                  <a:srgbClr val="660066"/>
                </a:solidFill>
              </a:rPr>
              <a:t>same</a:t>
            </a:r>
            <a:r>
              <a:rPr lang="en-US" sz="2400" dirty="0" smtClean="0">
                <a:solidFill>
                  <a:srgbClr val="660066"/>
                </a:solidFill>
              </a:rPr>
              <a:t> </a:t>
            </a:r>
            <a:r>
              <a:rPr lang="en-US" sz="2400" b="1" dirty="0" smtClean="0">
                <a:solidFill>
                  <a:srgbClr val="660066"/>
                </a:solidFill>
              </a:rPr>
              <a:t>bits</a:t>
            </a:r>
            <a:r>
              <a:rPr lang="mr-IN" sz="2400" dirty="0" smtClean="0"/>
              <a:t>…</a:t>
            </a:r>
            <a:endParaRPr lang="en-US" sz="2400" dirty="0" smtClean="0"/>
          </a:p>
          <a:p>
            <a:pPr marL="285750" indent="-285750">
              <a:buFont typeface="Arial"/>
              <a:buChar char="•"/>
            </a:pPr>
            <a:r>
              <a:rPr lang="en-US" dirty="0" smtClean="0"/>
              <a:t>Positive logic-&gt;negative logic flips the </a:t>
            </a:r>
            <a:r>
              <a:rPr lang="en-US" i="1" dirty="0" smtClean="0"/>
              <a:t>meaning </a:t>
            </a:r>
            <a:r>
              <a:rPr lang="en-US" dirty="0" smtClean="0"/>
              <a:t>of 0 &amp; 1</a:t>
            </a:r>
            <a:endParaRPr lang="en-US" i="1" dirty="0"/>
          </a:p>
          <a:p>
            <a:pPr marL="742950" lvl="1" indent="-285750">
              <a:buFont typeface="Arial"/>
              <a:buChar char="•"/>
            </a:pPr>
            <a:r>
              <a:rPr lang="en-US" b="1" i="1" dirty="0" smtClean="0">
                <a:solidFill>
                  <a:srgbClr val="660066"/>
                </a:solidFill>
              </a:rPr>
              <a:t>AND to OR</a:t>
            </a:r>
            <a:endParaRPr lang="en-US" b="1" dirty="0" smtClean="0">
              <a:solidFill>
                <a:srgbClr val="660066"/>
              </a:solidFill>
            </a:endParaRPr>
          </a:p>
          <a:p>
            <a:pPr marL="285750" indent="-285750">
              <a:buFont typeface="Arial"/>
              <a:buChar char="•"/>
            </a:pPr>
            <a:r>
              <a:rPr lang="en-US" dirty="0" smtClean="0"/>
              <a:t>This can also be seen in </a:t>
            </a:r>
            <a:r>
              <a:rPr lang="en-US" dirty="0" err="1" smtClean="0"/>
              <a:t>DeMorgan’s</a:t>
            </a:r>
            <a:r>
              <a:rPr lang="en-US" dirty="0" smtClean="0"/>
              <a:t> Law</a:t>
            </a:r>
          </a:p>
        </p:txBody>
      </p:sp>
      <p:graphicFrame>
        <p:nvGraphicFramePr>
          <p:cNvPr id="12" name="Table 11"/>
          <p:cNvGraphicFramePr>
            <a:graphicFrameLocks noGrp="1"/>
          </p:cNvGraphicFramePr>
          <p:nvPr>
            <p:extLst>
              <p:ext uri="{D42A27DB-BD31-4B8C-83A1-F6EECF244321}">
                <p14:modId xmlns:p14="http://schemas.microsoft.com/office/powerpoint/2010/main" val="277999183"/>
              </p:ext>
            </p:extLst>
          </p:nvPr>
        </p:nvGraphicFramePr>
        <p:xfrm>
          <a:off x="4907280" y="3733800"/>
          <a:ext cx="4084320" cy="2514600"/>
        </p:xfrm>
        <a:graphic>
          <a:graphicData uri="http://schemas.openxmlformats.org/drawingml/2006/table">
            <a:tbl>
              <a:tblPr firstRow="1" bandRow="1">
                <a:tableStyleId>{3C2FFA5D-87B4-456A-9821-1D502468CF0F}</a:tableStyleId>
              </a:tblPr>
              <a:tblGrid>
                <a:gridCol w="816864"/>
                <a:gridCol w="816864"/>
                <a:gridCol w="816864"/>
                <a:gridCol w="816864"/>
                <a:gridCol w="816864"/>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dirty="0">
                        <a:solidFill>
                          <a:srgbClr val="2F2B20"/>
                        </a:solidFill>
                      </a:endParaRPr>
                    </a:p>
                  </a:txBody>
                  <a:tcPr/>
                </a:tc>
                <a:tc>
                  <a:txBody>
                    <a:bodyPr/>
                    <a:lstStyle/>
                    <a:p>
                      <a:pPr algn="ctr"/>
                      <a:r>
                        <a:rPr lang="en-US" dirty="0" smtClean="0"/>
                        <a:t>A OR B</a:t>
                      </a:r>
                      <a:endParaRPr lang="en-US" dirty="0"/>
                    </a:p>
                  </a:txBody>
                  <a:tcPr>
                    <a:solidFill>
                      <a:schemeClr val="accent5">
                        <a:lumMod val="60000"/>
                        <a:lumOff val="40000"/>
                      </a:schemeClr>
                    </a:solidFill>
                  </a:tcPr>
                </a:tc>
                <a:tc>
                  <a:txBody>
                    <a:bodyPr/>
                    <a:lstStyle/>
                    <a:p>
                      <a:pPr algn="ctr"/>
                      <a:r>
                        <a:rPr lang="en-US" dirty="0" smtClean="0"/>
                        <a:t>NOR</a:t>
                      </a:r>
                      <a:endParaRPr lang="en-US" dirty="0"/>
                    </a:p>
                  </a:txBody>
                  <a:tcPr/>
                </a:tc>
              </a:tr>
              <a:tr h="45262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solidFill>
                      <a:schemeClr val="accent5">
                        <a:lumMod val="60000"/>
                        <a:lumOff val="40000"/>
                      </a:schemeClr>
                    </a:solidFill>
                  </a:tcPr>
                </a:tc>
                <a:tc>
                  <a:txBody>
                    <a:bodyPr/>
                    <a:lstStyle/>
                    <a:p>
                      <a:r>
                        <a:rPr lang="en-US" dirty="0" smtClean="0"/>
                        <a:t>0</a:t>
                      </a:r>
                      <a:endParaRPr lang="en-US" dirty="0"/>
                    </a:p>
                  </a:txBody>
                  <a:tcPr/>
                </a:tc>
              </a:tr>
              <a:tr h="45262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5">
                        <a:lumMod val="60000"/>
                        <a:lumOff val="40000"/>
                      </a:schemeClr>
                    </a:solidFill>
                  </a:tcPr>
                </a:tc>
                <a:tc>
                  <a:txBody>
                    <a:bodyPr/>
                    <a:lstStyle/>
                    <a:p>
                      <a:r>
                        <a:rPr lang="en-US" dirty="0" smtClean="0"/>
                        <a:t>1</a:t>
                      </a:r>
                      <a:endParaRPr lang="en-US" dirty="0"/>
                    </a:p>
                  </a:txBody>
                  <a:tcPr/>
                </a:tc>
              </a:tr>
              <a:tr h="45262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5">
                        <a:lumMod val="60000"/>
                        <a:lumOff val="40000"/>
                      </a:schemeClr>
                    </a:solidFill>
                  </a:tcPr>
                </a:tc>
                <a:tc>
                  <a:txBody>
                    <a:bodyPr/>
                    <a:lstStyle/>
                    <a:p>
                      <a:r>
                        <a:rPr lang="en-US" dirty="0" smtClean="0"/>
                        <a:t>1</a:t>
                      </a:r>
                      <a:endParaRPr lang="en-US" dirty="0"/>
                    </a:p>
                  </a:txBody>
                  <a:tcPr/>
                </a:tc>
              </a:tr>
              <a:tr h="452628">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5">
                        <a:lumMod val="60000"/>
                        <a:lumOff val="40000"/>
                      </a:schemeClr>
                    </a:solidFill>
                  </a:tcPr>
                </a:tc>
                <a:tc>
                  <a:txBody>
                    <a:bodyPr/>
                    <a:lstStyle/>
                    <a:p>
                      <a:r>
                        <a:rPr lang="en-US" dirty="0" smtClean="0"/>
                        <a:t>1</a:t>
                      </a:r>
                      <a:endParaRPr lang="en-US" dirty="0"/>
                    </a:p>
                  </a:txBody>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3568470518"/>
              </p:ext>
            </p:extLst>
          </p:nvPr>
        </p:nvGraphicFramePr>
        <p:xfrm>
          <a:off x="76200" y="3733800"/>
          <a:ext cx="4648200" cy="2438400"/>
        </p:xfrm>
        <a:graphic>
          <a:graphicData uri="http://schemas.openxmlformats.org/drawingml/2006/table">
            <a:tbl>
              <a:tblPr firstRow="1" bandRow="1">
                <a:tableStyleId>{3C2FFA5D-87B4-456A-9821-1D502468CF0F}</a:tableStyleId>
              </a:tblPr>
              <a:tblGrid>
                <a:gridCol w="929640"/>
                <a:gridCol w="929640"/>
                <a:gridCol w="929640"/>
                <a:gridCol w="929640"/>
                <a:gridCol w="929640"/>
              </a:tblGrid>
              <a:tr h="682752">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endParaRPr lang="en-US" dirty="0"/>
                    </a:p>
                  </a:txBody>
                  <a:tcPr>
                    <a:solidFill>
                      <a:srgbClr val="DEC59E"/>
                    </a:solidFill>
                  </a:tcPr>
                </a:tc>
                <a:tc>
                  <a:txBody>
                    <a:bodyPr/>
                    <a:lstStyle/>
                    <a:p>
                      <a:pPr algn="ctr"/>
                      <a:r>
                        <a:rPr lang="en-US" dirty="0" smtClean="0"/>
                        <a:t>A OR B</a:t>
                      </a:r>
                      <a:endParaRPr lang="en-US" dirty="0"/>
                    </a:p>
                  </a:txBody>
                  <a:tcPr/>
                </a:tc>
                <a:tc>
                  <a:txBody>
                    <a:bodyPr/>
                    <a:lstStyle/>
                    <a:p>
                      <a:pPr algn="ctr"/>
                      <a:r>
                        <a:rPr lang="en-US" dirty="0" smtClean="0"/>
                        <a:t> NAND </a:t>
                      </a:r>
                      <a:endParaRPr lang="en-US" dirty="0">
                        <a:solidFill>
                          <a:schemeClr val="tx1"/>
                        </a:solidFill>
                      </a:endParaRPr>
                    </a:p>
                  </a:txBody>
                  <a:tcPr/>
                </a:tc>
              </a:tr>
              <a:tr h="438912">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rgbClr val="DEC59E"/>
                    </a:solidFill>
                  </a:tcPr>
                </a:tc>
                <a:tc>
                  <a:txBody>
                    <a:bodyPr/>
                    <a:lstStyle/>
                    <a:p>
                      <a:r>
                        <a:rPr lang="en-US" dirty="0" smtClean="0"/>
                        <a:t>0</a:t>
                      </a:r>
                      <a:endParaRPr lang="en-US" dirty="0"/>
                    </a:p>
                  </a:txBody>
                  <a:tcPr/>
                </a:tc>
                <a:tc>
                  <a:txBody>
                    <a:bodyPr/>
                    <a:lstStyle/>
                    <a:p>
                      <a:r>
                        <a:rPr lang="en-US" dirty="0" smtClean="0"/>
                        <a:t>1</a:t>
                      </a:r>
                      <a:endParaRPr lang="en-US" dirty="0"/>
                    </a:p>
                  </a:txBody>
                  <a:tcPr/>
                </a:tc>
              </a:tr>
              <a:tr h="438912">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rgbClr val="DEC59E"/>
                    </a:solidFill>
                  </a:tcPr>
                </a:tc>
                <a:tc>
                  <a:txBody>
                    <a:bodyPr/>
                    <a:lstStyle/>
                    <a:p>
                      <a:r>
                        <a:rPr lang="en-US" dirty="0" smtClean="0"/>
                        <a:t>1</a:t>
                      </a:r>
                      <a:endParaRPr lang="en-US" dirty="0"/>
                    </a:p>
                  </a:txBody>
                  <a:tcPr/>
                </a:tc>
                <a:tc>
                  <a:txBody>
                    <a:bodyPr/>
                    <a:lstStyle/>
                    <a:p>
                      <a:r>
                        <a:rPr lang="en-US" dirty="0" smtClean="0"/>
                        <a:t>1</a:t>
                      </a:r>
                      <a:endParaRPr lang="en-US" dirty="0"/>
                    </a:p>
                  </a:txBody>
                  <a:tcPr/>
                </a:tc>
              </a:tr>
              <a:tr h="438912">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rgbClr val="DEC59E"/>
                    </a:solidFill>
                  </a:tcPr>
                </a:tc>
                <a:tc>
                  <a:txBody>
                    <a:bodyPr/>
                    <a:lstStyle/>
                    <a:p>
                      <a:r>
                        <a:rPr lang="en-US" dirty="0" smtClean="0"/>
                        <a:t>1</a:t>
                      </a:r>
                      <a:endParaRPr lang="en-US" dirty="0"/>
                    </a:p>
                  </a:txBody>
                  <a:tcPr/>
                </a:tc>
                <a:tc>
                  <a:txBody>
                    <a:bodyPr/>
                    <a:lstStyle/>
                    <a:p>
                      <a:r>
                        <a:rPr lang="en-US" dirty="0" smtClean="0"/>
                        <a:t>1</a:t>
                      </a:r>
                      <a:endParaRPr lang="en-US" dirty="0"/>
                    </a:p>
                  </a:txBody>
                  <a:tcPr/>
                </a:tc>
              </a:tr>
              <a:tr h="438912">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solidFill>
                      <a:srgbClr val="DEC59E"/>
                    </a:solidFill>
                  </a:tcPr>
                </a:tc>
                <a:tc>
                  <a:txBody>
                    <a:bodyPr/>
                    <a:lstStyle/>
                    <a:p>
                      <a:r>
                        <a:rPr lang="en-US" dirty="0" smtClean="0"/>
                        <a:t>1</a:t>
                      </a:r>
                      <a:endParaRPr lang="en-US" dirty="0"/>
                    </a:p>
                  </a:txBody>
                  <a:tcPr/>
                </a:tc>
                <a:tc>
                  <a:txBody>
                    <a:bodyPr/>
                    <a:lstStyle/>
                    <a:p>
                      <a:r>
                        <a:rPr lang="en-US" dirty="0" smtClean="0"/>
                        <a:t>0</a:t>
                      </a:r>
                      <a:endParaRPr lang="en-US" dirty="0"/>
                    </a:p>
                  </a:txBody>
                  <a:tcPr/>
                </a:tc>
              </a:tr>
            </a:tbl>
          </a:graphicData>
        </a:graphic>
      </p:graphicFrame>
      <p:sp>
        <p:nvSpPr>
          <p:cNvPr id="2" name="Equal 1"/>
          <p:cNvSpPr/>
          <p:nvPr/>
        </p:nvSpPr>
        <p:spPr>
          <a:xfrm>
            <a:off x="3200400" y="3048000"/>
            <a:ext cx="2895600" cy="685800"/>
          </a:xfrm>
          <a:prstGeom prst="mathEqual">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smtClean="0">
                <a:solidFill>
                  <a:srgbClr val="660066"/>
                </a:solidFill>
              </a:rPr>
              <a:t>Same Bits,</a:t>
            </a:r>
          </a:p>
          <a:p>
            <a:pPr algn="ctr"/>
            <a:r>
              <a:rPr lang="en-US" b="1" dirty="0" smtClean="0">
                <a:solidFill>
                  <a:srgbClr val="660066"/>
                </a:solidFill>
              </a:rPr>
              <a:t>Different Meaning</a:t>
            </a:r>
            <a:endParaRPr lang="en-US" b="1" dirty="0">
              <a:solidFill>
                <a:srgbClr val="660066"/>
              </a:solidFill>
            </a:endParaRPr>
          </a:p>
        </p:txBody>
      </p:sp>
      <p:sp>
        <p:nvSpPr>
          <p:cNvPr id="17" name="TextBox 16"/>
          <p:cNvSpPr txBox="1"/>
          <p:nvPr/>
        </p:nvSpPr>
        <p:spPr>
          <a:xfrm>
            <a:off x="6019800" y="2514600"/>
            <a:ext cx="3124200"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a:buChar char="•"/>
            </a:pPr>
            <a:r>
              <a:rPr lang="en-US" dirty="0" smtClean="0"/>
              <a:t>Binary </a:t>
            </a:r>
            <a:r>
              <a:rPr lang="en-US" b="1" i="1" dirty="0" smtClean="0"/>
              <a:t>IS</a:t>
            </a:r>
            <a:r>
              <a:rPr lang="en-US" dirty="0" smtClean="0"/>
              <a:t> identical;</a:t>
            </a:r>
          </a:p>
          <a:p>
            <a:pPr marL="285750" indent="-285750">
              <a:buFont typeface="Arial"/>
              <a:buChar char="•"/>
            </a:pPr>
            <a:r>
              <a:rPr lang="en-US" dirty="0" smtClean="0"/>
              <a:t>But </a:t>
            </a:r>
            <a:r>
              <a:rPr lang="en-US" b="1" i="1" dirty="0">
                <a:solidFill>
                  <a:srgbClr val="660066"/>
                </a:solidFill>
              </a:rPr>
              <a:t>m</a:t>
            </a:r>
            <a:r>
              <a:rPr lang="en-US" b="1" i="1" dirty="0" smtClean="0">
                <a:solidFill>
                  <a:srgbClr val="660066"/>
                </a:solidFill>
              </a:rPr>
              <a:t>eaning has changed</a:t>
            </a:r>
          </a:p>
          <a:p>
            <a:pPr marL="285750" indent="-285750">
              <a:buFont typeface="Arial"/>
              <a:buChar char="•"/>
            </a:pPr>
            <a:r>
              <a:rPr lang="en-US" dirty="0" smtClean="0"/>
              <a:t>AND is AND in both schemes</a:t>
            </a:r>
            <a:endParaRPr lang="en-US" dirty="0"/>
          </a:p>
        </p:txBody>
      </p:sp>
      <p:sp>
        <p:nvSpPr>
          <p:cNvPr id="18" name="TextBox 17"/>
          <p:cNvSpPr txBox="1"/>
          <p:nvPr/>
        </p:nvSpPr>
        <p:spPr>
          <a:xfrm>
            <a:off x="457200" y="6172200"/>
            <a:ext cx="32766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Positive Implementation Values</a:t>
            </a:r>
            <a:endParaRPr lang="en-US" dirty="0"/>
          </a:p>
        </p:txBody>
      </p:sp>
      <p:sp>
        <p:nvSpPr>
          <p:cNvPr id="19" name="TextBox 18"/>
          <p:cNvSpPr txBox="1"/>
          <p:nvPr/>
        </p:nvSpPr>
        <p:spPr>
          <a:xfrm>
            <a:off x="5181600" y="6248400"/>
            <a:ext cx="3352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Negative Implementation Values</a:t>
            </a:r>
            <a:endParaRPr lang="en-US" dirty="0"/>
          </a:p>
        </p:txBody>
      </p:sp>
      <p:sp>
        <p:nvSpPr>
          <p:cNvPr id="20" name="TextBox 19"/>
          <p:cNvSpPr txBox="1"/>
          <p:nvPr/>
        </p:nvSpPr>
        <p:spPr>
          <a:xfrm>
            <a:off x="3861735" y="0"/>
            <a:ext cx="1548465"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dirty="0" smtClean="0"/>
              <a:t>Logical Definition</a:t>
            </a:r>
            <a:endParaRPr lang="en-US" sz="1400" dirty="0"/>
          </a:p>
        </p:txBody>
      </p:sp>
      <p:sp>
        <p:nvSpPr>
          <p:cNvPr id="10" name="TextBox 9"/>
          <p:cNvSpPr txBox="1"/>
          <p:nvPr/>
        </p:nvSpPr>
        <p:spPr>
          <a:xfrm>
            <a:off x="38100" y="2819400"/>
            <a:ext cx="4191000" cy="7835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800" dirty="0" smtClean="0">
                <a:solidFill>
                  <a:srgbClr val="FF0000"/>
                </a:solidFill>
              </a:rPr>
              <a:t>BAD/BROKEN SLIDE</a:t>
            </a:r>
            <a:endParaRPr lang="en-US" sz="3800" dirty="0">
              <a:solidFill>
                <a:srgbClr val="FF0000"/>
              </a:solidFill>
            </a:endParaRPr>
          </a:p>
        </p:txBody>
      </p:sp>
    </p:spTree>
    <p:extLst>
      <p:ext uri="{BB962C8B-B14F-4D97-AF65-F5344CB8AC3E}">
        <p14:creationId xmlns:p14="http://schemas.microsoft.com/office/powerpoint/2010/main" val="21647162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8763000" cy="1143000"/>
          </a:xfrm>
        </p:spPr>
        <p:txBody>
          <a:bodyPr/>
          <a:lstStyle/>
          <a:p>
            <a:r>
              <a:rPr lang="en-US" dirty="0" smtClean="0"/>
              <a:t>Setup Complete! Ready for Level 0?</a:t>
            </a:r>
            <a:endParaRPr lang="en-US" sz="200" dirty="0"/>
          </a:p>
        </p:txBody>
      </p:sp>
      <p:sp>
        <p:nvSpPr>
          <p:cNvPr id="19" name="Rounded Rectangle 18"/>
          <p:cNvSpPr/>
          <p:nvPr/>
        </p:nvSpPr>
        <p:spPr>
          <a:xfrm>
            <a:off x="0" y="5181600"/>
            <a:ext cx="9144000" cy="11430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800" dirty="0" smtClean="0">
                <a:solidFill>
                  <a:schemeClr val="bg1"/>
                </a:solidFill>
              </a:rPr>
              <a:t>Fundamental, Atomic </a:t>
            </a:r>
            <a:r>
              <a:rPr lang="en-US" sz="2800" dirty="0" smtClean="0">
                <a:solidFill>
                  <a:srgbClr val="FF6600"/>
                </a:solidFill>
                <a:latin typeface="Abadi MT Condensed Extra Bold"/>
                <a:cs typeface="Abadi MT Condensed Extra Bold"/>
              </a:rPr>
              <a:t>Gates</a:t>
            </a:r>
          </a:p>
          <a:p>
            <a:pPr algn="ctr"/>
            <a:r>
              <a:rPr lang="en-US" sz="2800" dirty="0">
                <a:solidFill>
                  <a:schemeClr val="bg1"/>
                </a:solidFill>
              </a:rPr>
              <a:t>(AND, OR, NOT, XOR, NAND, NOR)</a:t>
            </a:r>
            <a:endParaRPr lang="en-US" sz="2800" dirty="0" smtClean="0">
              <a:solidFill>
                <a:srgbClr val="B7AE38"/>
              </a:solidFill>
              <a:latin typeface="+mj-lt"/>
              <a:cs typeface="Abadi MT Condensed Extra Bold"/>
            </a:endParaRPr>
          </a:p>
          <a:p>
            <a:pPr algn="ctr"/>
            <a:endParaRPr lang="en-US" dirty="0">
              <a:solidFill>
                <a:srgbClr val="B7AE38"/>
              </a:solidFill>
              <a:latin typeface="Abadi MT Condensed Extra Bold"/>
              <a:cs typeface="Abadi MT Condensed Extra Bold"/>
            </a:endParaRPr>
          </a:p>
        </p:txBody>
      </p:sp>
      <p:sp>
        <p:nvSpPr>
          <p:cNvPr id="21" name="Rounded Rectangle 20"/>
          <p:cNvSpPr/>
          <p:nvPr/>
        </p:nvSpPr>
        <p:spPr>
          <a:xfrm>
            <a:off x="0" y="4038600"/>
            <a:ext cx="9144000" cy="1143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smtClean="0">
                <a:solidFill>
                  <a:schemeClr val="bg1"/>
                </a:solidFill>
              </a:rPr>
              <a:t>Combining </a:t>
            </a:r>
            <a:r>
              <a:rPr lang="en-US" sz="2800" dirty="0" smtClean="0">
                <a:solidFill>
                  <a:srgbClr val="FF6600"/>
                </a:solidFill>
                <a:latin typeface="Abadi MT Condensed Extra Bold"/>
                <a:cs typeface="Abadi MT Condensed Extra Bold"/>
              </a:rPr>
              <a:t>Gates</a:t>
            </a:r>
            <a:r>
              <a:rPr lang="en-US" sz="2800" dirty="0" smtClean="0">
                <a:solidFill>
                  <a:srgbClr val="B7AE38"/>
                </a:solidFill>
                <a:latin typeface="Abadi MT Condensed Extra Bold"/>
                <a:cs typeface="Abadi MT Condensed Extra Bold"/>
              </a:rPr>
              <a:t> </a:t>
            </a:r>
            <a:r>
              <a:rPr lang="en-US" sz="2800" dirty="0" smtClean="0">
                <a:solidFill>
                  <a:schemeClr val="bg1"/>
                </a:solidFill>
              </a:rPr>
              <a:t>for </a:t>
            </a:r>
            <a:r>
              <a:rPr lang="en-US" sz="2800" b="1" dirty="0" smtClean="0">
                <a:solidFill>
                  <a:srgbClr val="008000"/>
                </a:solidFill>
                <a:latin typeface="Abadi MT Condensed Extra Bold"/>
                <a:cs typeface="Abadi MT Condensed Extra Bold"/>
              </a:rPr>
              <a:t>Combinational Circuits</a:t>
            </a:r>
          </a:p>
          <a:p>
            <a:pPr algn="ctr"/>
            <a:r>
              <a:rPr lang="en-US" sz="2800" dirty="0" smtClean="0">
                <a:solidFill>
                  <a:schemeClr val="bg1"/>
                </a:solidFill>
              </a:rPr>
              <a:t>(half-adders, adders, multiplexors, decoders/encoders,…)</a:t>
            </a:r>
            <a:endParaRPr lang="en-US" dirty="0"/>
          </a:p>
          <a:p>
            <a:pPr algn="ctr"/>
            <a:endParaRPr lang="en-US" dirty="0"/>
          </a:p>
        </p:txBody>
      </p:sp>
      <p:sp>
        <p:nvSpPr>
          <p:cNvPr id="22" name="Rounded Rectangle 21"/>
          <p:cNvSpPr/>
          <p:nvPr/>
        </p:nvSpPr>
        <p:spPr>
          <a:xfrm>
            <a:off x="0" y="2895600"/>
            <a:ext cx="9144000" cy="11430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smtClean="0">
                <a:solidFill>
                  <a:schemeClr val="bg1"/>
                </a:solidFill>
              </a:rPr>
              <a:t>Combining </a:t>
            </a:r>
            <a:r>
              <a:rPr lang="en-US" sz="2800" dirty="0" smtClean="0">
                <a:solidFill>
                  <a:srgbClr val="FF6600"/>
                </a:solidFill>
                <a:latin typeface="Abadi MT Condensed Extra Bold"/>
                <a:cs typeface="Abadi MT Condensed Extra Bold"/>
              </a:rPr>
              <a:t>Gates</a:t>
            </a:r>
            <a:r>
              <a:rPr lang="en-US" sz="2800" dirty="0" smtClean="0">
                <a:solidFill>
                  <a:srgbClr val="B7AE38"/>
                </a:solidFill>
                <a:latin typeface="Abadi MT Condensed Extra Bold"/>
                <a:cs typeface="Abadi MT Condensed Extra Bold"/>
              </a:rPr>
              <a:t> </a:t>
            </a:r>
            <a:r>
              <a:rPr lang="en-US" sz="2800" dirty="0" smtClean="0">
                <a:solidFill>
                  <a:schemeClr val="bg1"/>
                </a:solidFill>
              </a:rPr>
              <a:t>to Make </a:t>
            </a:r>
            <a:r>
              <a:rPr lang="en-US" sz="2800" b="1" dirty="0" smtClean="0">
                <a:solidFill>
                  <a:srgbClr val="0000FF"/>
                </a:solidFill>
                <a:latin typeface="Abadi MT Condensed Extra Bold"/>
                <a:cs typeface="Abadi MT Condensed Extra Bold"/>
              </a:rPr>
              <a:t>Memory</a:t>
            </a:r>
          </a:p>
          <a:p>
            <a:pPr algn="ctr"/>
            <a:r>
              <a:rPr lang="en-US" sz="2800" dirty="0" smtClean="0">
                <a:solidFill>
                  <a:schemeClr val="bg1"/>
                </a:solidFill>
              </a:rPr>
              <a:t>(RAM &amp; ROM as SR Latch, JK FF, DF FF, …)</a:t>
            </a:r>
            <a:endParaRPr lang="en-US" dirty="0"/>
          </a:p>
          <a:p>
            <a:pPr algn="ctr"/>
            <a:endParaRPr lang="en-US" dirty="0"/>
          </a:p>
        </p:txBody>
      </p:sp>
      <p:sp>
        <p:nvSpPr>
          <p:cNvPr id="23" name="Rounded Rectangle 22"/>
          <p:cNvSpPr/>
          <p:nvPr/>
        </p:nvSpPr>
        <p:spPr>
          <a:xfrm>
            <a:off x="25400" y="1447800"/>
            <a:ext cx="9144000" cy="1447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solidFill>
              </a:rPr>
              <a:t> Combining </a:t>
            </a:r>
            <a:r>
              <a:rPr lang="en-US" sz="2800" b="1" dirty="0" smtClean="0">
                <a:solidFill>
                  <a:srgbClr val="0000FF"/>
                </a:solidFill>
                <a:latin typeface="Abadi MT Condensed Extra Bold"/>
                <a:cs typeface="Abadi MT Condensed Extra Bold"/>
              </a:rPr>
              <a:t>Memory </a:t>
            </a:r>
            <a:r>
              <a:rPr lang="en-US" sz="2800" dirty="0" smtClean="0">
                <a:solidFill>
                  <a:schemeClr val="bg1"/>
                </a:solidFill>
              </a:rPr>
              <a:t>and </a:t>
            </a:r>
            <a:r>
              <a:rPr lang="en-US" sz="2800" b="1" dirty="0">
                <a:solidFill>
                  <a:srgbClr val="008000"/>
                </a:solidFill>
                <a:latin typeface="Abadi MT Condensed Extra Bold"/>
                <a:cs typeface="Abadi MT Condensed Extra Bold"/>
              </a:rPr>
              <a:t>Combinational Circuits</a:t>
            </a:r>
          </a:p>
          <a:p>
            <a:pPr algn="ctr"/>
            <a:r>
              <a:rPr lang="en-US" sz="2800" dirty="0" smtClean="0">
                <a:solidFill>
                  <a:schemeClr val="bg1"/>
                </a:solidFill>
              </a:rPr>
              <a:t> to make </a:t>
            </a:r>
            <a:r>
              <a:rPr lang="en-US" sz="2800" b="1" dirty="0" smtClean="0">
                <a:solidFill>
                  <a:srgbClr val="9939D5"/>
                </a:solidFill>
                <a:latin typeface="Abadi MT Condensed Extra Bold"/>
                <a:cs typeface="Abadi MT Condensed Extra Bold"/>
              </a:rPr>
              <a:t>Sequential Circuits </a:t>
            </a:r>
          </a:p>
          <a:p>
            <a:pPr algn="ctr"/>
            <a:r>
              <a:rPr lang="en-US" sz="2800" dirty="0" smtClean="0">
                <a:solidFill>
                  <a:schemeClr val="bg1"/>
                </a:solidFill>
              </a:rPr>
              <a:t>(State Machines)</a:t>
            </a:r>
            <a:endParaRPr lang="en-US" dirty="0"/>
          </a:p>
          <a:p>
            <a:pPr algn="ctr"/>
            <a:endParaRPr lang="en-US" dirty="0"/>
          </a:p>
        </p:txBody>
      </p:sp>
      <p:sp>
        <p:nvSpPr>
          <p:cNvPr id="3" name="TextBox 2"/>
          <p:cNvSpPr txBox="1"/>
          <p:nvPr/>
        </p:nvSpPr>
        <p:spPr>
          <a:xfrm>
            <a:off x="152400" y="2526268"/>
            <a:ext cx="884775" cy="369332"/>
          </a:xfrm>
          <a:prstGeom prst="rect">
            <a:avLst/>
          </a:prstGeom>
          <a:solidFill>
            <a:srgbClr val="9939D5"/>
          </a:solidFill>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dirty="0" smtClean="0"/>
              <a:t>Level 3</a:t>
            </a:r>
            <a:endParaRPr lang="en-US" dirty="0"/>
          </a:p>
        </p:txBody>
      </p:sp>
      <p:sp>
        <p:nvSpPr>
          <p:cNvPr id="8" name="TextBox 7"/>
          <p:cNvSpPr txBox="1"/>
          <p:nvPr/>
        </p:nvSpPr>
        <p:spPr>
          <a:xfrm>
            <a:off x="152400" y="3657600"/>
            <a:ext cx="884775" cy="369332"/>
          </a:xfrm>
          <a:prstGeom prst="rect">
            <a:avLst/>
          </a:prstGeom>
          <a:solidFill>
            <a:srgbClr val="0000FF"/>
          </a:solidFill>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dirty="0" smtClean="0"/>
              <a:t>Level 2</a:t>
            </a:r>
            <a:endParaRPr lang="en-US" dirty="0"/>
          </a:p>
        </p:txBody>
      </p:sp>
      <p:sp>
        <p:nvSpPr>
          <p:cNvPr id="9" name="TextBox 8"/>
          <p:cNvSpPr txBox="1"/>
          <p:nvPr/>
        </p:nvSpPr>
        <p:spPr>
          <a:xfrm>
            <a:off x="152400" y="4864100"/>
            <a:ext cx="884775" cy="335756"/>
          </a:xfrm>
          <a:prstGeom prst="rect">
            <a:avLst/>
          </a:prstGeom>
          <a:solidFill>
            <a:srgbClr val="008000"/>
          </a:solidFill>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dirty="0" smtClean="0"/>
              <a:t>Level 1</a:t>
            </a:r>
            <a:endParaRPr lang="en-US" dirty="0"/>
          </a:p>
        </p:txBody>
      </p:sp>
      <p:sp>
        <p:nvSpPr>
          <p:cNvPr id="4" name="TextBox 3"/>
          <p:cNvSpPr txBox="1"/>
          <p:nvPr/>
        </p:nvSpPr>
        <p:spPr>
          <a:xfrm>
            <a:off x="7543800" y="6629400"/>
            <a:ext cx="914400" cy="184666"/>
          </a:xfrm>
          <a:prstGeom prst="rect">
            <a:avLst/>
          </a:prstGeom>
          <a:noFill/>
        </p:spPr>
        <p:txBody>
          <a:bodyPr wrap="square" rtlCol="0">
            <a:spAutoFit/>
          </a:bodyPr>
          <a:lstStyle/>
          <a:p>
            <a:r>
              <a:rPr lang="en-US" sz="600" dirty="0"/>
              <a:t>Gates Foundation? </a:t>
            </a:r>
          </a:p>
        </p:txBody>
      </p:sp>
      <p:sp>
        <p:nvSpPr>
          <p:cNvPr id="10" name="TextBox 9"/>
          <p:cNvSpPr txBox="1"/>
          <p:nvPr/>
        </p:nvSpPr>
        <p:spPr>
          <a:xfrm>
            <a:off x="152400" y="5638800"/>
            <a:ext cx="1752600" cy="707886"/>
          </a:xfrm>
          <a:prstGeom prst="rect">
            <a:avLst/>
          </a:prstGeom>
          <a:solidFill>
            <a:srgbClr val="FF6600"/>
          </a:solidFill>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sz="4000" dirty="0" smtClean="0"/>
              <a:t>Level 0</a:t>
            </a:r>
            <a:endParaRPr lang="en-US" sz="4000" dirty="0"/>
          </a:p>
        </p:txBody>
      </p:sp>
    </p:spTree>
    <p:extLst>
      <p:ext uri="{BB962C8B-B14F-4D97-AF65-F5344CB8AC3E}">
        <p14:creationId xmlns:p14="http://schemas.microsoft.com/office/powerpoint/2010/main" val="233587276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Gates     (the Alpha </a:t>
            </a:r>
            <a:r>
              <a:rPr lang="en-US" dirty="0"/>
              <a:t>L</a:t>
            </a:r>
            <a:r>
              <a:rPr lang="en-US" dirty="0" smtClean="0"/>
              <a:t>evel)</a:t>
            </a:r>
            <a:endParaRPr lang="en-US" dirty="0"/>
          </a:p>
        </p:txBody>
      </p:sp>
      <p:sp>
        <p:nvSpPr>
          <p:cNvPr id="3" name="Content Placeholder 2"/>
          <p:cNvSpPr>
            <a:spLocks noGrp="1"/>
          </p:cNvSpPr>
          <p:nvPr>
            <p:ph idx="1"/>
          </p:nvPr>
        </p:nvSpPr>
        <p:spPr>
          <a:xfrm>
            <a:off x="76200" y="1600200"/>
            <a:ext cx="8458200" cy="4800600"/>
          </a:xfrm>
        </p:spPr>
        <p:txBody>
          <a:bodyPr/>
          <a:lstStyle/>
          <a:p>
            <a:r>
              <a:rPr lang="en-US" dirty="0" smtClean="0"/>
              <a:t>All logical patterns and systems are realized using digital, discrete components called </a:t>
            </a:r>
            <a:r>
              <a:rPr lang="en-US" i="1" dirty="0" smtClean="0"/>
              <a:t>gates</a:t>
            </a:r>
            <a:endParaRPr lang="en-US" dirty="0" smtClean="0"/>
          </a:p>
          <a:p>
            <a:pPr lvl="1"/>
            <a:r>
              <a:rPr lang="en-US" dirty="0" smtClean="0"/>
              <a:t>In turn, gates are built </a:t>
            </a:r>
            <a:r>
              <a:rPr lang="en-US" dirty="0"/>
              <a:t>(</a:t>
            </a:r>
            <a:r>
              <a:rPr lang="en-US" dirty="0" smtClean="0"/>
              <a:t>today) with transistors (2-6)</a:t>
            </a:r>
          </a:p>
          <a:p>
            <a:endParaRPr lang="en-US" dirty="0" smtClean="0"/>
          </a:p>
          <a:p>
            <a:r>
              <a:rPr lang="en-US" dirty="0" smtClean="0"/>
              <a:t>Gate Definition:</a:t>
            </a:r>
          </a:p>
          <a:p>
            <a:pPr lvl="1"/>
            <a:r>
              <a:rPr lang="en-US" dirty="0" smtClean="0"/>
              <a:t>A transistor or series of transistors </a:t>
            </a:r>
          </a:p>
          <a:p>
            <a:pPr lvl="2"/>
            <a:r>
              <a:rPr lang="en-US" dirty="0" smtClean="0"/>
              <a:t>typically from the CMOS </a:t>
            </a:r>
            <a:r>
              <a:rPr lang="en-US" i="1" dirty="0" smtClean="0"/>
              <a:t>logic family</a:t>
            </a:r>
            <a:endParaRPr lang="en-US" dirty="0" smtClean="0"/>
          </a:p>
          <a:p>
            <a:pPr lvl="1"/>
            <a:r>
              <a:rPr lang="en-US" dirty="0" smtClean="0"/>
              <a:t>A hardware-level unit of digital signal propagation</a:t>
            </a:r>
          </a:p>
          <a:p>
            <a:pPr lvl="1"/>
            <a:r>
              <a:rPr lang="en-US" dirty="0" smtClean="0"/>
              <a:t>Usually, in an effort to use and transform signals that correspond to data</a:t>
            </a:r>
          </a:p>
          <a:p>
            <a:pPr lvl="2"/>
            <a:r>
              <a:rPr lang="en-US" dirty="0" smtClean="0"/>
              <a:t>Either instructions or data values </a:t>
            </a:r>
          </a:p>
          <a:p>
            <a:pPr lvl="2"/>
            <a:r>
              <a:rPr lang="en-US" dirty="0" smtClean="0"/>
              <a:t>Gates are switches, so this is binary data</a:t>
            </a:r>
          </a:p>
          <a:p>
            <a:pPr lvl="1"/>
            <a:r>
              <a:rPr lang="en-US" dirty="0" smtClean="0"/>
              <a:t>An electronic device that takes signals as input and provides some signal(s) as output </a:t>
            </a:r>
            <a:endParaRPr lang="en-US" dirty="0"/>
          </a:p>
        </p:txBody>
      </p:sp>
      <p:sp>
        <p:nvSpPr>
          <p:cNvPr id="4" name="TextBox 3"/>
          <p:cNvSpPr txBox="1"/>
          <p:nvPr/>
        </p:nvSpPr>
        <p:spPr>
          <a:xfrm>
            <a:off x="304800" y="685800"/>
            <a:ext cx="990600" cy="184666"/>
          </a:xfrm>
          <a:prstGeom prst="rect">
            <a:avLst/>
          </a:prstGeom>
          <a:noFill/>
        </p:spPr>
        <p:txBody>
          <a:bodyPr wrap="square" rtlCol="0">
            <a:spAutoFit/>
          </a:bodyPr>
          <a:lstStyle/>
          <a:p>
            <a:r>
              <a:rPr lang="en-US" sz="600" dirty="0" smtClean="0"/>
              <a:t>bill</a:t>
            </a:r>
            <a:endParaRPr lang="en-US" sz="600" dirty="0"/>
          </a:p>
        </p:txBody>
      </p:sp>
      <p:sp>
        <p:nvSpPr>
          <p:cNvPr id="5" name="TextBox 4"/>
          <p:cNvSpPr txBox="1"/>
          <p:nvPr/>
        </p:nvSpPr>
        <p:spPr>
          <a:xfrm>
            <a:off x="1905000" y="685800"/>
            <a:ext cx="990600" cy="153888"/>
          </a:xfrm>
          <a:prstGeom prst="rect">
            <a:avLst/>
          </a:prstGeom>
          <a:noFill/>
        </p:spPr>
        <p:txBody>
          <a:bodyPr wrap="square" rtlCol="0">
            <a:spAutoFit/>
          </a:bodyPr>
          <a:lstStyle/>
          <a:p>
            <a:r>
              <a:rPr lang="en-US" sz="400" dirty="0" smtClean="0"/>
              <a:t>McFadden</a:t>
            </a:r>
            <a:endParaRPr lang="en-US" sz="400" dirty="0"/>
          </a:p>
        </p:txBody>
      </p:sp>
    </p:spTree>
    <p:extLst>
      <p:ext uri="{BB962C8B-B14F-4D97-AF65-F5344CB8AC3E}">
        <p14:creationId xmlns:p14="http://schemas.microsoft.com/office/powerpoint/2010/main" val="1303358736"/>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Atomic Gates (3) </a:t>
            </a:r>
            <a:endParaRPr lang="en-US" dirty="0"/>
          </a:p>
        </p:txBody>
      </p:sp>
      <p:sp>
        <p:nvSpPr>
          <p:cNvPr id="7" name="Delay 6"/>
          <p:cNvSpPr/>
          <p:nvPr/>
        </p:nvSpPr>
        <p:spPr>
          <a:xfrm>
            <a:off x="1143000" y="1904999"/>
            <a:ext cx="838200" cy="685800"/>
          </a:xfrm>
          <a:prstGeom prst="flowChartDelay">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AND</a:t>
            </a:r>
            <a:endParaRPr lang="en-US" dirty="0"/>
          </a:p>
        </p:txBody>
      </p:sp>
      <p:cxnSp>
        <p:nvCxnSpPr>
          <p:cNvPr id="8" name="Straight Connector 7"/>
          <p:cNvCxnSpPr/>
          <p:nvPr/>
        </p:nvCxnSpPr>
        <p:spPr>
          <a:xfrm>
            <a:off x="304800" y="2057399"/>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304800" y="2438399"/>
            <a:ext cx="935182"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Stored Data 17"/>
          <p:cNvSpPr/>
          <p:nvPr/>
        </p:nvSpPr>
        <p:spPr>
          <a:xfrm rot="10800000">
            <a:off x="1143000" y="3124199"/>
            <a:ext cx="6858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OR</a:t>
            </a:r>
            <a:endParaRPr lang="en-US" dirty="0"/>
          </a:p>
        </p:txBody>
      </p:sp>
      <p:cxnSp>
        <p:nvCxnSpPr>
          <p:cNvPr id="33" name="Straight Connector 32"/>
          <p:cNvCxnSpPr/>
          <p:nvPr/>
        </p:nvCxnSpPr>
        <p:spPr>
          <a:xfrm>
            <a:off x="457200" y="3200399"/>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457200" y="3581399"/>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1828800" y="2285999"/>
            <a:ext cx="1447800"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a:off x="1680210" y="3428999"/>
            <a:ext cx="1592580" cy="1"/>
          </a:xfrm>
          <a:prstGeom prst="line">
            <a:avLst/>
          </a:prstGeom>
        </p:spPr>
        <p:style>
          <a:lnRef idx="2">
            <a:schemeClr val="accent1"/>
          </a:lnRef>
          <a:fillRef idx="0">
            <a:schemeClr val="accent1"/>
          </a:fillRef>
          <a:effectRef idx="1">
            <a:schemeClr val="accent1"/>
          </a:effectRef>
          <a:fontRef idx="minor">
            <a:schemeClr val="tx1"/>
          </a:fontRef>
        </p:style>
      </p:cxnSp>
      <p:sp>
        <p:nvSpPr>
          <p:cNvPr id="43" name="Extract 42"/>
          <p:cNvSpPr/>
          <p:nvPr/>
        </p:nvSpPr>
        <p:spPr>
          <a:xfrm rot="5400000">
            <a:off x="1143000" y="4267200"/>
            <a:ext cx="838200" cy="685800"/>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a:t>
            </a:r>
            <a:endParaRPr lang="en-US" dirty="0"/>
          </a:p>
        </p:txBody>
      </p:sp>
      <p:cxnSp>
        <p:nvCxnSpPr>
          <p:cNvPr id="44" name="Straight Connector 43"/>
          <p:cNvCxnSpPr/>
          <p:nvPr/>
        </p:nvCxnSpPr>
        <p:spPr>
          <a:xfrm>
            <a:off x="152400" y="4648200"/>
            <a:ext cx="1065595" cy="0"/>
          </a:xfrm>
          <a:prstGeom prst="line">
            <a:avLst/>
          </a:prstGeom>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828800" y="4495800"/>
            <a:ext cx="228600" cy="22900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2057400" y="4647798"/>
            <a:ext cx="1219200" cy="402"/>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62" name="Table 61"/>
          <p:cNvGraphicFramePr>
            <a:graphicFrameLocks noGrp="1"/>
          </p:cNvGraphicFramePr>
          <p:nvPr>
            <p:extLst>
              <p:ext uri="{D42A27DB-BD31-4B8C-83A1-F6EECF244321}">
                <p14:modId xmlns:p14="http://schemas.microsoft.com/office/powerpoint/2010/main" val="1211504723"/>
              </p:ext>
            </p:extLst>
          </p:nvPr>
        </p:nvGraphicFramePr>
        <p:xfrm>
          <a:off x="3276600" y="2209800"/>
          <a:ext cx="5105400" cy="2514600"/>
        </p:xfrm>
        <a:graphic>
          <a:graphicData uri="http://schemas.openxmlformats.org/drawingml/2006/table">
            <a:tbl>
              <a:tblPr firstRow="1" bandRow="1">
                <a:tableStyleId>{3C2FFA5D-87B4-456A-9821-1D502468CF0F}</a:tableStyleId>
              </a:tblPr>
              <a:tblGrid>
                <a:gridCol w="1021080"/>
                <a:gridCol w="807720"/>
                <a:gridCol w="1234440"/>
                <a:gridCol w="1021080"/>
                <a:gridCol w="1021080"/>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p>
                    <a:p>
                      <a:pPr algn="ctr"/>
                      <a:r>
                        <a:rPr lang="en-US" dirty="0" err="1" smtClean="0"/>
                        <a:t>X</a:t>
                      </a:r>
                      <a:r>
                        <a:rPr lang="en-US" baseline="-25000" dirty="0" err="1" smtClean="0"/>
                        <a:t>out</a:t>
                      </a:r>
                      <a:endParaRPr lang="en-US" dirty="0"/>
                    </a:p>
                  </a:txBody>
                  <a:tcPr/>
                </a:tc>
                <a:tc>
                  <a:txBody>
                    <a:bodyPr/>
                    <a:lstStyle/>
                    <a:p>
                      <a:pPr algn="ctr"/>
                      <a:r>
                        <a:rPr lang="en-US" dirty="0" smtClean="0"/>
                        <a:t>(A OR B)</a:t>
                      </a:r>
                    </a:p>
                    <a:p>
                      <a:pPr algn="ctr"/>
                      <a:r>
                        <a:rPr lang="en-US" dirty="0" err="1" smtClean="0"/>
                        <a:t>Y</a:t>
                      </a:r>
                      <a:r>
                        <a:rPr lang="en-US" baseline="-25000" dirty="0" err="1" smtClean="0"/>
                        <a:t>out</a:t>
                      </a:r>
                      <a:endParaRPr lang="en-US" dirty="0"/>
                    </a:p>
                  </a:txBody>
                  <a:tcPr/>
                </a:tc>
                <a:tc>
                  <a:txBody>
                    <a:bodyPr/>
                    <a:lstStyle/>
                    <a:p>
                      <a:pPr algn="ctr"/>
                      <a:r>
                        <a:rPr lang="en-US" dirty="0" smtClean="0"/>
                        <a:t>~A</a:t>
                      </a:r>
                      <a:endParaRPr lang="en-US" dirty="0"/>
                    </a:p>
                  </a:txBody>
                  <a:tcPr/>
                </a:tc>
              </a:tr>
              <a:tr h="452628">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45262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45262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45262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bl>
          </a:graphicData>
        </a:graphic>
      </p:graphicFrame>
      <p:sp>
        <p:nvSpPr>
          <p:cNvPr id="3" name="TextBox 2"/>
          <p:cNvSpPr txBox="1"/>
          <p:nvPr/>
        </p:nvSpPr>
        <p:spPr>
          <a:xfrm>
            <a:off x="2133600" y="5334000"/>
            <a:ext cx="5867400" cy="1200329"/>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dirty="0" smtClean="0"/>
              <a:t>Lets start by giving our input and output lines identifiers, similar to variable names</a:t>
            </a:r>
          </a:p>
          <a:p>
            <a:pPr marL="285750" indent="-285750">
              <a:buFont typeface="Arial"/>
              <a:buChar char="•"/>
            </a:pPr>
            <a:r>
              <a:rPr lang="en-US" dirty="0" smtClean="0">
                <a:solidFill>
                  <a:srgbClr val="FF0000"/>
                </a:solidFill>
              </a:rPr>
              <a:t>Q:</a:t>
            </a:r>
            <a:r>
              <a:rPr lang="en-US" dirty="0" smtClean="0"/>
              <a:t> Map the above variables to lines</a:t>
            </a:r>
          </a:p>
          <a:p>
            <a:pPr marL="285750" indent="-285750">
              <a:buFont typeface="Arial"/>
              <a:buChar char="•"/>
            </a:pPr>
            <a:r>
              <a:rPr lang="en-US" dirty="0" smtClean="0">
                <a:solidFill>
                  <a:srgbClr val="FF0000"/>
                </a:solidFill>
              </a:rPr>
              <a:t>Q: </a:t>
            </a:r>
            <a:r>
              <a:rPr lang="en-US" dirty="0" smtClean="0"/>
              <a:t>Provide the Boolean Algebra Formulas for X and Y</a:t>
            </a:r>
            <a:endParaRPr lang="en-US" dirty="0"/>
          </a:p>
        </p:txBody>
      </p:sp>
    </p:spTree>
    <p:extLst>
      <p:ext uri="{BB962C8B-B14F-4D97-AF65-F5344CB8AC3E}">
        <p14:creationId xmlns:p14="http://schemas.microsoft.com/office/powerpoint/2010/main" val="910316014"/>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Atomic Gates (4?)</a:t>
            </a:r>
            <a:endParaRPr lang="en-US" dirty="0"/>
          </a:p>
        </p:txBody>
      </p:sp>
      <p:sp>
        <p:nvSpPr>
          <p:cNvPr id="7" name="Delay 6"/>
          <p:cNvSpPr/>
          <p:nvPr/>
        </p:nvSpPr>
        <p:spPr>
          <a:xfrm>
            <a:off x="1143000" y="1904999"/>
            <a:ext cx="838200" cy="685800"/>
          </a:xfrm>
          <a:prstGeom prst="flowChartDelay">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AND</a:t>
            </a:r>
            <a:endParaRPr lang="en-US" dirty="0"/>
          </a:p>
        </p:txBody>
      </p:sp>
      <p:cxnSp>
        <p:nvCxnSpPr>
          <p:cNvPr id="8" name="Straight Connector 7"/>
          <p:cNvCxnSpPr/>
          <p:nvPr/>
        </p:nvCxnSpPr>
        <p:spPr>
          <a:xfrm>
            <a:off x="304800" y="2057399"/>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304800" y="2438399"/>
            <a:ext cx="935182"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Stored Data 17"/>
          <p:cNvSpPr/>
          <p:nvPr/>
        </p:nvSpPr>
        <p:spPr>
          <a:xfrm rot="10800000">
            <a:off x="1143000" y="3124199"/>
            <a:ext cx="6858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OR</a:t>
            </a:r>
            <a:endParaRPr lang="en-US" dirty="0"/>
          </a:p>
        </p:txBody>
      </p:sp>
      <p:cxnSp>
        <p:nvCxnSpPr>
          <p:cNvPr id="33" name="Straight Connector 32"/>
          <p:cNvCxnSpPr/>
          <p:nvPr/>
        </p:nvCxnSpPr>
        <p:spPr>
          <a:xfrm>
            <a:off x="457200" y="3200399"/>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457200" y="3581399"/>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1828800" y="2285999"/>
            <a:ext cx="1447800"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a:off x="1752600" y="3428999"/>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43" name="Extract 42"/>
          <p:cNvSpPr/>
          <p:nvPr/>
        </p:nvSpPr>
        <p:spPr>
          <a:xfrm rot="5400000">
            <a:off x="1143000" y="4267200"/>
            <a:ext cx="838200" cy="685800"/>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a:t>
            </a:r>
            <a:endParaRPr lang="en-US" dirty="0"/>
          </a:p>
        </p:txBody>
      </p:sp>
      <p:cxnSp>
        <p:nvCxnSpPr>
          <p:cNvPr id="44" name="Straight Connector 43"/>
          <p:cNvCxnSpPr/>
          <p:nvPr/>
        </p:nvCxnSpPr>
        <p:spPr>
          <a:xfrm>
            <a:off x="152400" y="4648200"/>
            <a:ext cx="1065595" cy="0"/>
          </a:xfrm>
          <a:prstGeom prst="line">
            <a:avLst/>
          </a:prstGeom>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828800" y="4495800"/>
            <a:ext cx="228600" cy="22900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2057400" y="4647798"/>
            <a:ext cx="1219200" cy="402"/>
          </a:xfrm>
          <a:prstGeom prst="line">
            <a:avLst/>
          </a:prstGeom>
        </p:spPr>
        <p:style>
          <a:lnRef idx="2">
            <a:schemeClr val="accent1"/>
          </a:lnRef>
          <a:fillRef idx="0">
            <a:schemeClr val="accent1"/>
          </a:fillRef>
          <a:effectRef idx="1">
            <a:schemeClr val="accent1"/>
          </a:effectRef>
          <a:fontRef idx="minor">
            <a:schemeClr val="tx1"/>
          </a:fontRef>
        </p:style>
      </p:cxnSp>
      <p:sp>
        <p:nvSpPr>
          <p:cNvPr id="53" name="Extract 52"/>
          <p:cNvSpPr/>
          <p:nvPr/>
        </p:nvSpPr>
        <p:spPr>
          <a:xfrm rot="5400000">
            <a:off x="6505915" y="199685"/>
            <a:ext cx="1066798" cy="972228"/>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TRI</a:t>
            </a:r>
            <a:endParaRPr lang="en-US" dirty="0"/>
          </a:p>
        </p:txBody>
      </p:sp>
      <p:cxnSp>
        <p:nvCxnSpPr>
          <p:cNvPr id="54" name="Straight Connector 53"/>
          <p:cNvCxnSpPr/>
          <p:nvPr/>
        </p:nvCxnSpPr>
        <p:spPr>
          <a:xfrm>
            <a:off x="5935770" y="685798"/>
            <a:ext cx="599058" cy="0"/>
          </a:xfrm>
          <a:prstGeom prst="line">
            <a:avLst/>
          </a:prstGeom>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6915828" y="994562"/>
            <a:ext cx="216051" cy="224635"/>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56" name="Straight Connector 55"/>
          <p:cNvCxnSpPr/>
          <p:nvPr/>
        </p:nvCxnSpPr>
        <p:spPr>
          <a:xfrm>
            <a:off x="6469170" y="1371598"/>
            <a:ext cx="599058"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57" name="Straight Connector 56"/>
          <p:cNvCxnSpPr>
            <a:endCxn id="55" idx="4"/>
          </p:cNvCxnSpPr>
          <p:nvPr/>
        </p:nvCxnSpPr>
        <p:spPr>
          <a:xfrm flipH="1" flipV="1">
            <a:off x="7023854" y="1219197"/>
            <a:ext cx="44374" cy="152401"/>
          </a:xfrm>
          <a:prstGeom prst="line">
            <a:avLst/>
          </a:prstGeom>
        </p:spPr>
        <p:style>
          <a:lnRef idx="2">
            <a:schemeClr val="accent5"/>
          </a:lnRef>
          <a:fillRef idx="0">
            <a:schemeClr val="accent5"/>
          </a:fillRef>
          <a:effectRef idx="1">
            <a:schemeClr val="accent5"/>
          </a:effectRef>
          <a:fontRef idx="minor">
            <a:schemeClr val="tx1"/>
          </a:fontRef>
        </p:style>
      </p:cxnSp>
      <p:cxnSp>
        <p:nvCxnSpPr>
          <p:cNvPr id="61" name="Straight Connector 60"/>
          <p:cNvCxnSpPr/>
          <p:nvPr/>
        </p:nvCxnSpPr>
        <p:spPr>
          <a:xfrm>
            <a:off x="7459770" y="685798"/>
            <a:ext cx="599058" cy="0"/>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514600" y="5373469"/>
            <a:ext cx="4953000" cy="646331"/>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buFont typeface="Arial"/>
              <a:buChar char="•"/>
            </a:pPr>
            <a:r>
              <a:rPr lang="en-US" dirty="0" err="1" smtClean="0"/>
              <a:t>X</a:t>
            </a:r>
            <a:r>
              <a:rPr lang="en-US" baseline="-25000" dirty="0" err="1" smtClean="0"/>
              <a:t>out</a:t>
            </a:r>
            <a:r>
              <a:rPr lang="en-US" dirty="0" smtClean="0"/>
              <a:t>= A * B  //circuits are defined via B.E.s</a:t>
            </a:r>
          </a:p>
          <a:p>
            <a:pPr marL="285750" indent="-285750">
              <a:buFont typeface="Arial"/>
              <a:buChar char="•"/>
            </a:pPr>
            <a:r>
              <a:rPr lang="en-US" dirty="0" err="1" smtClean="0"/>
              <a:t>Y</a:t>
            </a:r>
            <a:r>
              <a:rPr lang="en-US" baseline="-25000" dirty="0" err="1" smtClean="0"/>
              <a:t>out</a:t>
            </a:r>
            <a:r>
              <a:rPr lang="en-US" dirty="0" smtClean="0"/>
              <a:t>= B + A</a:t>
            </a:r>
            <a:endParaRPr lang="en-US" dirty="0"/>
          </a:p>
        </p:txBody>
      </p:sp>
      <p:sp>
        <p:nvSpPr>
          <p:cNvPr id="3" name="TextBox 2"/>
          <p:cNvSpPr txBox="1"/>
          <p:nvPr/>
        </p:nvSpPr>
        <p:spPr>
          <a:xfrm>
            <a:off x="2133600" y="1905000"/>
            <a:ext cx="914400" cy="369332"/>
          </a:xfrm>
          <a:prstGeom prst="rect">
            <a:avLst/>
          </a:prstGeom>
          <a:noFill/>
        </p:spPr>
        <p:txBody>
          <a:bodyPr wrap="square" rtlCol="0">
            <a:spAutoFit/>
          </a:bodyPr>
          <a:lstStyle/>
          <a:p>
            <a:r>
              <a:rPr lang="en-US" dirty="0" err="1" smtClean="0"/>
              <a:t>X</a:t>
            </a:r>
            <a:r>
              <a:rPr lang="en-US" baseline="-25000" dirty="0" err="1" smtClean="0"/>
              <a:t>out</a:t>
            </a:r>
            <a:endParaRPr lang="en-US" dirty="0"/>
          </a:p>
        </p:txBody>
      </p:sp>
      <p:sp>
        <p:nvSpPr>
          <p:cNvPr id="24" name="TextBox 23"/>
          <p:cNvSpPr txBox="1"/>
          <p:nvPr/>
        </p:nvSpPr>
        <p:spPr>
          <a:xfrm>
            <a:off x="2133600" y="3048000"/>
            <a:ext cx="914400" cy="369332"/>
          </a:xfrm>
          <a:prstGeom prst="rect">
            <a:avLst/>
          </a:prstGeom>
          <a:noFill/>
        </p:spPr>
        <p:txBody>
          <a:bodyPr wrap="square" rtlCol="0">
            <a:spAutoFit/>
          </a:bodyPr>
          <a:lstStyle/>
          <a:p>
            <a:r>
              <a:rPr lang="en-US" dirty="0" err="1" smtClean="0"/>
              <a:t>Y</a:t>
            </a:r>
            <a:r>
              <a:rPr lang="en-US" baseline="-25000" dirty="0" err="1" smtClean="0"/>
              <a:t>out</a:t>
            </a:r>
            <a:endParaRPr lang="en-US" dirty="0"/>
          </a:p>
        </p:txBody>
      </p:sp>
      <p:sp>
        <p:nvSpPr>
          <p:cNvPr id="25" name="TextBox 24"/>
          <p:cNvSpPr txBox="1"/>
          <p:nvPr/>
        </p:nvSpPr>
        <p:spPr>
          <a:xfrm>
            <a:off x="2286000" y="4267200"/>
            <a:ext cx="914400" cy="381000"/>
          </a:xfrm>
          <a:prstGeom prst="rect">
            <a:avLst/>
          </a:prstGeom>
          <a:noFill/>
        </p:spPr>
        <p:txBody>
          <a:bodyPr wrap="square" rtlCol="0">
            <a:spAutoFit/>
          </a:bodyPr>
          <a:lstStyle/>
          <a:p>
            <a:r>
              <a:rPr lang="en-US" dirty="0" smtClean="0"/>
              <a:t>~A</a:t>
            </a:r>
            <a:endParaRPr lang="en-US" dirty="0"/>
          </a:p>
        </p:txBody>
      </p:sp>
      <p:sp>
        <p:nvSpPr>
          <p:cNvPr id="26" name="TextBox 25"/>
          <p:cNvSpPr txBox="1"/>
          <p:nvPr/>
        </p:nvSpPr>
        <p:spPr>
          <a:xfrm>
            <a:off x="457200" y="4267200"/>
            <a:ext cx="533400" cy="381000"/>
          </a:xfrm>
          <a:prstGeom prst="rect">
            <a:avLst/>
          </a:prstGeom>
          <a:noFill/>
        </p:spPr>
        <p:txBody>
          <a:bodyPr wrap="square" rtlCol="0">
            <a:spAutoFit/>
          </a:bodyPr>
          <a:lstStyle/>
          <a:p>
            <a:r>
              <a:rPr lang="en-US" dirty="0" smtClean="0"/>
              <a:t>A</a:t>
            </a:r>
            <a:endParaRPr lang="en-US" dirty="0"/>
          </a:p>
        </p:txBody>
      </p:sp>
      <p:sp>
        <p:nvSpPr>
          <p:cNvPr id="27" name="TextBox 26"/>
          <p:cNvSpPr txBox="1"/>
          <p:nvPr/>
        </p:nvSpPr>
        <p:spPr>
          <a:xfrm>
            <a:off x="381000" y="1600200"/>
            <a:ext cx="533400" cy="381000"/>
          </a:xfrm>
          <a:prstGeom prst="rect">
            <a:avLst/>
          </a:prstGeom>
          <a:noFill/>
        </p:spPr>
        <p:txBody>
          <a:bodyPr wrap="square" rtlCol="0">
            <a:spAutoFit/>
          </a:bodyPr>
          <a:lstStyle/>
          <a:p>
            <a:r>
              <a:rPr lang="en-US" dirty="0"/>
              <a:t>A</a:t>
            </a:r>
          </a:p>
        </p:txBody>
      </p:sp>
      <p:sp>
        <p:nvSpPr>
          <p:cNvPr id="28" name="TextBox 27"/>
          <p:cNvSpPr txBox="1"/>
          <p:nvPr/>
        </p:nvSpPr>
        <p:spPr>
          <a:xfrm>
            <a:off x="457200" y="2743200"/>
            <a:ext cx="533400" cy="381000"/>
          </a:xfrm>
          <a:prstGeom prst="rect">
            <a:avLst/>
          </a:prstGeom>
          <a:noFill/>
        </p:spPr>
        <p:txBody>
          <a:bodyPr wrap="square" rtlCol="0">
            <a:spAutoFit/>
          </a:bodyPr>
          <a:lstStyle/>
          <a:p>
            <a:r>
              <a:rPr lang="en-US" dirty="0"/>
              <a:t>A</a:t>
            </a:r>
          </a:p>
        </p:txBody>
      </p:sp>
      <p:sp>
        <p:nvSpPr>
          <p:cNvPr id="29" name="TextBox 28"/>
          <p:cNvSpPr txBox="1"/>
          <p:nvPr/>
        </p:nvSpPr>
        <p:spPr>
          <a:xfrm>
            <a:off x="457200" y="3200400"/>
            <a:ext cx="533400" cy="381000"/>
          </a:xfrm>
          <a:prstGeom prst="rect">
            <a:avLst/>
          </a:prstGeom>
          <a:noFill/>
        </p:spPr>
        <p:txBody>
          <a:bodyPr wrap="square" rtlCol="0">
            <a:spAutoFit/>
          </a:bodyPr>
          <a:lstStyle/>
          <a:p>
            <a:r>
              <a:rPr lang="en-US" dirty="0"/>
              <a:t>B</a:t>
            </a:r>
          </a:p>
        </p:txBody>
      </p:sp>
      <p:sp>
        <p:nvSpPr>
          <p:cNvPr id="30" name="TextBox 29"/>
          <p:cNvSpPr txBox="1"/>
          <p:nvPr/>
        </p:nvSpPr>
        <p:spPr>
          <a:xfrm>
            <a:off x="381000" y="2057400"/>
            <a:ext cx="533400" cy="381000"/>
          </a:xfrm>
          <a:prstGeom prst="rect">
            <a:avLst/>
          </a:prstGeom>
          <a:noFill/>
        </p:spPr>
        <p:txBody>
          <a:bodyPr wrap="square" rtlCol="0">
            <a:spAutoFit/>
          </a:bodyPr>
          <a:lstStyle/>
          <a:p>
            <a:r>
              <a:rPr lang="en-US" dirty="0"/>
              <a:t>B</a:t>
            </a:r>
          </a:p>
        </p:txBody>
      </p:sp>
      <p:graphicFrame>
        <p:nvGraphicFramePr>
          <p:cNvPr id="31" name="Table 30"/>
          <p:cNvGraphicFramePr>
            <a:graphicFrameLocks noGrp="1"/>
          </p:cNvGraphicFramePr>
          <p:nvPr>
            <p:extLst>
              <p:ext uri="{D42A27DB-BD31-4B8C-83A1-F6EECF244321}">
                <p14:modId xmlns:p14="http://schemas.microsoft.com/office/powerpoint/2010/main" val="3549195272"/>
              </p:ext>
            </p:extLst>
          </p:nvPr>
        </p:nvGraphicFramePr>
        <p:xfrm>
          <a:off x="3276600" y="2209800"/>
          <a:ext cx="5105400" cy="2514600"/>
        </p:xfrm>
        <a:graphic>
          <a:graphicData uri="http://schemas.openxmlformats.org/drawingml/2006/table">
            <a:tbl>
              <a:tblPr firstRow="1" bandRow="1">
                <a:tableStyleId>{3C2FFA5D-87B4-456A-9821-1D502468CF0F}</a:tableStyleId>
              </a:tblPr>
              <a:tblGrid>
                <a:gridCol w="1021080"/>
                <a:gridCol w="807720"/>
                <a:gridCol w="1234440"/>
                <a:gridCol w="1021080"/>
                <a:gridCol w="1021080"/>
              </a:tblGrid>
              <a:tr h="704088">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AND B)</a:t>
                      </a:r>
                    </a:p>
                    <a:p>
                      <a:pPr algn="ctr"/>
                      <a:r>
                        <a:rPr lang="en-US" dirty="0" err="1" smtClean="0"/>
                        <a:t>X</a:t>
                      </a:r>
                      <a:r>
                        <a:rPr lang="en-US" baseline="-25000" dirty="0" err="1" smtClean="0"/>
                        <a:t>out</a:t>
                      </a:r>
                      <a:endParaRPr lang="en-US" dirty="0"/>
                    </a:p>
                  </a:txBody>
                  <a:tcPr/>
                </a:tc>
                <a:tc>
                  <a:txBody>
                    <a:bodyPr/>
                    <a:lstStyle/>
                    <a:p>
                      <a:pPr algn="ctr"/>
                      <a:r>
                        <a:rPr lang="en-US" dirty="0" smtClean="0"/>
                        <a:t>(A OR B)</a:t>
                      </a:r>
                    </a:p>
                    <a:p>
                      <a:pPr algn="ctr"/>
                      <a:r>
                        <a:rPr lang="en-US" dirty="0" err="1" smtClean="0"/>
                        <a:t>Y</a:t>
                      </a:r>
                      <a:r>
                        <a:rPr lang="en-US" baseline="-25000" dirty="0" err="1" smtClean="0"/>
                        <a:t>out</a:t>
                      </a:r>
                      <a:endParaRPr lang="en-US" dirty="0"/>
                    </a:p>
                  </a:txBody>
                  <a:tcPr/>
                </a:tc>
                <a:tc>
                  <a:txBody>
                    <a:bodyPr/>
                    <a:lstStyle/>
                    <a:p>
                      <a:pPr algn="ctr"/>
                      <a:r>
                        <a:rPr lang="en-US" dirty="0" smtClean="0"/>
                        <a:t>~A</a:t>
                      </a:r>
                      <a:endParaRPr lang="en-US" dirty="0"/>
                    </a:p>
                  </a:txBody>
                  <a:tcPr/>
                </a:tc>
              </a:tr>
              <a:tr h="452628">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45262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45262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45262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bl>
          </a:graphicData>
        </a:graphic>
      </p:graphicFrame>
      <p:sp>
        <p:nvSpPr>
          <p:cNvPr id="4" name="TextBox 3"/>
          <p:cNvSpPr txBox="1"/>
          <p:nvPr/>
        </p:nvSpPr>
        <p:spPr>
          <a:xfrm>
            <a:off x="5529739" y="1295400"/>
            <a:ext cx="2699861" cy="441453"/>
          </a:xfrm>
          <a:prstGeom prst="rect">
            <a:avLst/>
          </a:prstGeom>
          <a:noFill/>
        </p:spPr>
        <p:txBody>
          <a:bodyPr wrap="square" rtlCol="0">
            <a:spAutoFit/>
          </a:bodyPr>
          <a:lstStyle/>
          <a:p>
            <a:r>
              <a:rPr lang="en-US" dirty="0" smtClean="0"/>
              <a:t>Connected/</a:t>
            </a:r>
            <a:r>
              <a:rPr lang="en-US" dirty="0" err="1" smtClean="0"/>
              <a:t>hiZ</a:t>
            </a:r>
            <a:r>
              <a:rPr lang="en-US" dirty="0" smtClean="0"/>
              <a:t> control line</a:t>
            </a:r>
            <a:endParaRPr lang="en-US" dirty="0"/>
          </a:p>
        </p:txBody>
      </p:sp>
    </p:spTree>
    <p:extLst>
      <p:ext uri="{BB962C8B-B14F-4D97-AF65-F5344CB8AC3E}">
        <p14:creationId xmlns:p14="http://schemas.microsoft.com/office/powerpoint/2010/main" val="3246321139"/>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Starting with AND, OR, NOT</a:t>
            </a:r>
            <a:endParaRPr lang="en-US" dirty="0"/>
          </a:p>
        </p:txBody>
      </p:sp>
      <p:sp>
        <p:nvSpPr>
          <p:cNvPr id="4" name="Rectangle 3"/>
          <p:cNvSpPr/>
          <p:nvPr/>
        </p:nvSpPr>
        <p:spPr>
          <a:xfrm>
            <a:off x="4724400" y="4495800"/>
            <a:ext cx="8382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AND</a:t>
            </a:r>
            <a:endParaRPr lang="en-US" dirty="0"/>
          </a:p>
        </p:txBody>
      </p:sp>
      <p:sp>
        <p:nvSpPr>
          <p:cNvPr id="5" name="Rectangle 4"/>
          <p:cNvSpPr/>
          <p:nvPr/>
        </p:nvSpPr>
        <p:spPr>
          <a:xfrm>
            <a:off x="5562600" y="4495800"/>
            <a:ext cx="6858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OR</a:t>
            </a:r>
            <a:endParaRPr lang="en-US" dirty="0"/>
          </a:p>
        </p:txBody>
      </p:sp>
      <p:sp>
        <p:nvSpPr>
          <p:cNvPr id="6" name="Rectangle 5"/>
          <p:cNvSpPr/>
          <p:nvPr/>
        </p:nvSpPr>
        <p:spPr>
          <a:xfrm>
            <a:off x="6248400" y="4495800"/>
            <a:ext cx="6858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NOT</a:t>
            </a:r>
            <a:endParaRPr lang="en-US" dirty="0"/>
          </a:p>
        </p:txBody>
      </p:sp>
      <p:sp>
        <p:nvSpPr>
          <p:cNvPr id="19" name="Rounded Rectangle 18"/>
          <p:cNvSpPr/>
          <p:nvPr/>
        </p:nvSpPr>
        <p:spPr>
          <a:xfrm>
            <a:off x="0" y="2590800"/>
            <a:ext cx="9144000" cy="2514600"/>
          </a:xfrm>
          <a:prstGeom prst="roundRect">
            <a:avLst/>
          </a:prstGeom>
          <a:solidFill>
            <a:schemeClr val="accent6">
              <a:alpha val="21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800" dirty="0" smtClean="0">
                <a:solidFill>
                  <a:schemeClr val="tx1"/>
                </a:solidFill>
              </a:rPr>
              <a:t>Fundamental Gates</a:t>
            </a: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a:p>
        </p:txBody>
      </p:sp>
      <p:sp>
        <p:nvSpPr>
          <p:cNvPr id="20" name="TextBox 19"/>
          <p:cNvSpPr txBox="1"/>
          <p:nvPr/>
        </p:nvSpPr>
        <p:spPr>
          <a:xfrm>
            <a:off x="1371600" y="5989905"/>
            <a:ext cx="6629400"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dirty="0" smtClean="0"/>
              <a:t>AKA:  Primitives, Building </a:t>
            </a:r>
            <a:r>
              <a:rPr lang="en-US" dirty="0"/>
              <a:t>Blocks, HW Units, “Atomic” HW </a:t>
            </a:r>
            <a:r>
              <a:rPr lang="en-US" dirty="0" smtClean="0"/>
              <a:t>operations</a:t>
            </a:r>
            <a:endParaRPr lang="en-US" dirty="0"/>
          </a:p>
        </p:txBody>
      </p:sp>
    </p:spTree>
    <p:extLst>
      <p:ext uri="{BB962C8B-B14F-4D97-AF65-F5344CB8AC3E}">
        <p14:creationId xmlns:p14="http://schemas.microsoft.com/office/powerpoint/2010/main" val="402224226"/>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ounded Rectangle 18"/>
          <p:cNvSpPr/>
          <p:nvPr/>
        </p:nvSpPr>
        <p:spPr>
          <a:xfrm>
            <a:off x="0" y="2590800"/>
            <a:ext cx="9144000" cy="2514600"/>
          </a:xfrm>
          <a:prstGeom prst="roundRect">
            <a:avLst/>
          </a:prstGeom>
          <a:solidFill>
            <a:schemeClr val="accent6">
              <a:alpha val="21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800" dirty="0" smtClean="0">
                <a:solidFill>
                  <a:schemeClr val="tx1"/>
                </a:solidFill>
              </a:rPr>
              <a:t>Fundamental Gates</a:t>
            </a: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a:p>
        </p:txBody>
      </p:sp>
      <p:sp>
        <p:nvSpPr>
          <p:cNvPr id="2" name="Title 1"/>
          <p:cNvSpPr>
            <a:spLocks noGrp="1"/>
          </p:cNvSpPr>
          <p:nvPr>
            <p:ph type="title"/>
          </p:nvPr>
        </p:nvSpPr>
        <p:spPr>
          <a:xfrm>
            <a:off x="304800" y="274638"/>
            <a:ext cx="8305800" cy="1143000"/>
          </a:xfrm>
        </p:spPr>
        <p:txBody>
          <a:bodyPr/>
          <a:lstStyle/>
          <a:p>
            <a:r>
              <a:rPr lang="en-US" dirty="0" smtClean="0"/>
              <a:t>Logisim Exercise 0: </a:t>
            </a:r>
            <a:br>
              <a:rPr lang="en-US" dirty="0" smtClean="0"/>
            </a:br>
            <a:r>
              <a:rPr lang="en-US" dirty="0" smtClean="0"/>
              <a:t>Build Up to NAND, NOR</a:t>
            </a:r>
            <a:endParaRPr lang="en-US" dirty="0"/>
          </a:p>
        </p:txBody>
      </p:sp>
      <p:sp>
        <p:nvSpPr>
          <p:cNvPr id="4" name="Rectangle 3"/>
          <p:cNvSpPr/>
          <p:nvPr/>
        </p:nvSpPr>
        <p:spPr>
          <a:xfrm>
            <a:off x="4724400" y="4495800"/>
            <a:ext cx="8382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AND</a:t>
            </a:r>
            <a:endParaRPr lang="en-US" dirty="0"/>
          </a:p>
        </p:txBody>
      </p:sp>
      <p:sp>
        <p:nvSpPr>
          <p:cNvPr id="5" name="Rectangle 4"/>
          <p:cNvSpPr/>
          <p:nvPr/>
        </p:nvSpPr>
        <p:spPr>
          <a:xfrm>
            <a:off x="5562600" y="4495800"/>
            <a:ext cx="6858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OR</a:t>
            </a:r>
            <a:endParaRPr lang="en-US" dirty="0"/>
          </a:p>
        </p:txBody>
      </p:sp>
      <p:sp>
        <p:nvSpPr>
          <p:cNvPr id="6" name="Rectangle 5"/>
          <p:cNvSpPr/>
          <p:nvPr/>
        </p:nvSpPr>
        <p:spPr>
          <a:xfrm>
            <a:off x="6248400" y="4495800"/>
            <a:ext cx="6858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NOT</a:t>
            </a:r>
            <a:endParaRPr lang="en-US" dirty="0"/>
          </a:p>
        </p:txBody>
      </p:sp>
      <p:sp>
        <p:nvSpPr>
          <p:cNvPr id="8" name="Rectangle 7"/>
          <p:cNvSpPr/>
          <p:nvPr/>
        </p:nvSpPr>
        <p:spPr>
          <a:xfrm>
            <a:off x="4648200" y="3886200"/>
            <a:ext cx="990600" cy="609600"/>
          </a:xfrm>
          <a:prstGeom prst="rect">
            <a:avLst/>
          </a:prstGeom>
          <a:effectLst>
            <a:glow rad="228600">
              <a:schemeClr val="accent5">
                <a:satMod val="175000"/>
                <a:alpha val="40000"/>
              </a:schemeClr>
            </a:glow>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NOR</a:t>
            </a:r>
            <a:endParaRPr lang="en-US" dirty="0"/>
          </a:p>
        </p:txBody>
      </p:sp>
      <p:sp>
        <p:nvSpPr>
          <p:cNvPr id="9" name="Rectangle 8"/>
          <p:cNvSpPr/>
          <p:nvPr/>
        </p:nvSpPr>
        <p:spPr>
          <a:xfrm>
            <a:off x="5638800" y="3886200"/>
            <a:ext cx="2286000" cy="609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XOR</a:t>
            </a:r>
            <a:endParaRPr lang="en-US" dirty="0"/>
          </a:p>
        </p:txBody>
      </p:sp>
      <p:sp>
        <p:nvSpPr>
          <p:cNvPr id="20" name="TextBox 19"/>
          <p:cNvSpPr txBox="1"/>
          <p:nvPr/>
        </p:nvSpPr>
        <p:spPr>
          <a:xfrm>
            <a:off x="0" y="4495800"/>
            <a:ext cx="3733800" cy="235029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342900" indent="-342900">
              <a:buFont typeface="+mj-lt"/>
              <a:buAutoNum type="arabicPeriod"/>
            </a:pPr>
            <a:r>
              <a:rPr lang="en-US" dirty="0" smtClean="0">
                <a:solidFill>
                  <a:srgbClr val="FF0000"/>
                </a:solidFill>
              </a:rPr>
              <a:t>Teams of 2 (Alt Exercise 0)</a:t>
            </a:r>
          </a:p>
          <a:p>
            <a:pPr marL="342900" indent="-342900">
              <a:buFont typeface="+mj-lt"/>
              <a:buAutoNum type="arabicPeriod"/>
            </a:pPr>
            <a:r>
              <a:rPr lang="en-US" dirty="0" smtClean="0">
                <a:solidFill>
                  <a:srgbClr val="FF0000"/>
                </a:solidFill>
              </a:rPr>
              <a:t>Build NAND </a:t>
            </a:r>
            <a:r>
              <a:rPr lang="en-US" dirty="0" smtClean="0"/>
              <a:t>using {AND, NOT}</a:t>
            </a:r>
          </a:p>
          <a:p>
            <a:pPr marL="342900" indent="-342900">
              <a:buFont typeface="+mj-lt"/>
              <a:buAutoNum type="arabicPeriod"/>
            </a:pPr>
            <a:r>
              <a:rPr lang="en-US" dirty="0" smtClean="0">
                <a:solidFill>
                  <a:srgbClr val="FF0000"/>
                </a:solidFill>
              </a:rPr>
              <a:t>Build NOR </a:t>
            </a:r>
            <a:r>
              <a:rPr lang="en-US" dirty="0" smtClean="0"/>
              <a:t>using {OR, NOT}</a:t>
            </a:r>
          </a:p>
          <a:p>
            <a:pPr marL="800100" lvl="1" indent="-342900">
              <a:buFont typeface="Arial"/>
              <a:buChar char="•"/>
            </a:pPr>
            <a:r>
              <a:rPr lang="en-US" dirty="0" smtClean="0"/>
              <a:t>Soon, just build NAND (you choose the gates)</a:t>
            </a:r>
          </a:p>
          <a:p>
            <a:pPr marL="342900" indent="-342900">
              <a:buFont typeface="+mj-lt"/>
              <a:buAutoNum type="arabicPeriod"/>
            </a:pPr>
            <a:r>
              <a:rPr lang="en-US" dirty="0" smtClean="0">
                <a:solidFill>
                  <a:srgbClr val="0000FF"/>
                </a:solidFill>
              </a:rPr>
              <a:t>Soon:  XOR </a:t>
            </a:r>
            <a:r>
              <a:rPr lang="en-US" dirty="0" smtClean="0"/>
              <a:t>using {AND, OR, NOT} </a:t>
            </a:r>
          </a:p>
          <a:p>
            <a:pPr marL="800100" lvl="1" indent="-342900">
              <a:buFont typeface="+mj-lt"/>
              <a:buAutoNum type="arabicPeriod"/>
            </a:pPr>
            <a:r>
              <a:rPr lang="en-US" dirty="0" smtClean="0"/>
              <a:t>Use the truth table as an output guide here</a:t>
            </a:r>
            <a:endParaRPr lang="en-US" dirty="0"/>
          </a:p>
          <a:p>
            <a:endParaRPr lang="en-US" dirty="0"/>
          </a:p>
        </p:txBody>
      </p:sp>
      <p:sp>
        <p:nvSpPr>
          <p:cNvPr id="7" name="Rectangle 6"/>
          <p:cNvSpPr/>
          <p:nvPr/>
        </p:nvSpPr>
        <p:spPr>
          <a:xfrm>
            <a:off x="3657600" y="3886200"/>
            <a:ext cx="990600" cy="609600"/>
          </a:xfrm>
          <a:prstGeom prst="rect">
            <a:avLst/>
          </a:prstGeom>
          <a:effectLst>
            <a:glow rad="228600">
              <a:schemeClr val="accent5">
                <a:satMod val="175000"/>
                <a:alpha val="40000"/>
              </a:schemeClr>
            </a:glow>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NAND</a:t>
            </a:r>
            <a:endParaRPr lang="en-US" dirty="0"/>
          </a:p>
        </p:txBody>
      </p:sp>
      <p:sp>
        <p:nvSpPr>
          <p:cNvPr id="3" name="TextBox 2"/>
          <p:cNvSpPr txBox="1"/>
          <p:nvPr/>
        </p:nvSpPr>
        <p:spPr>
          <a:xfrm>
            <a:off x="2141474" y="1951305"/>
            <a:ext cx="4688332" cy="40132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I’ll do this for us in Logisim, to get us started </a:t>
            </a:r>
            <a:endParaRPr lang="en-US" dirty="0"/>
          </a:p>
        </p:txBody>
      </p:sp>
    </p:spTree>
    <p:extLst>
      <p:ext uri="{BB962C8B-B14F-4D97-AF65-F5344CB8AC3E}">
        <p14:creationId xmlns:p14="http://schemas.microsoft.com/office/powerpoint/2010/main" val="2444688275"/>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“Universal” Gates (2)</a:t>
            </a:r>
            <a:endParaRPr lang="en-US" dirty="0"/>
          </a:p>
        </p:txBody>
      </p:sp>
      <p:sp>
        <p:nvSpPr>
          <p:cNvPr id="3" name="Content Placeholder 2"/>
          <p:cNvSpPr>
            <a:spLocks noGrp="1"/>
          </p:cNvSpPr>
          <p:nvPr>
            <p:ph idx="1"/>
          </p:nvPr>
        </p:nvSpPr>
        <p:spPr>
          <a:xfrm>
            <a:off x="381000" y="1219200"/>
            <a:ext cx="7848600" cy="4800600"/>
          </a:xfrm>
        </p:spPr>
        <p:txBody>
          <a:bodyPr>
            <a:normAutofit/>
          </a:bodyPr>
          <a:lstStyle/>
          <a:p>
            <a:r>
              <a:rPr lang="en-US" dirty="0" smtClean="0"/>
              <a:t>Can be used to design any other logic gate</a:t>
            </a:r>
          </a:p>
          <a:p>
            <a:pPr lvl="1"/>
            <a:r>
              <a:rPr lang="en-US" dirty="0" smtClean="0"/>
              <a:t>Requires a negation so a compound gate structure.</a:t>
            </a:r>
          </a:p>
          <a:p>
            <a:r>
              <a:rPr lang="en-US" dirty="0" smtClean="0"/>
              <a:t>NANDS are the </a:t>
            </a:r>
            <a:r>
              <a:rPr lang="en-US" b="1" i="1" dirty="0" smtClean="0">
                <a:solidFill>
                  <a:srgbClr val="3366FF"/>
                </a:solidFill>
              </a:rPr>
              <a:t>cheapest</a:t>
            </a:r>
            <a:r>
              <a:rPr lang="en-US" dirty="0" smtClean="0">
                <a:solidFill>
                  <a:srgbClr val="3366FF"/>
                </a:solidFill>
              </a:rPr>
              <a:t> </a:t>
            </a:r>
            <a:r>
              <a:rPr lang="en-US" dirty="0" smtClean="0"/>
              <a:t>component to build</a:t>
            </a:r>
          </a:p>
          <a:p>
            <a:pPr lvl="1"/>
            <a:r>
              <a:rPr lang="en-US" dirty="0" smtClean="0"/>
              <a:t>Building a whole system with a single component prefers </a:t>
            </a:r>
            <a:r>
              <a:rPr lang="en-US" b="1" i="1" dirty="0" smtClean="0">
                <a:solidFill>
                  <a:srgbClr val="3366FF"/>
                </a:solidFill>
              </a:rPr>
              <a:t>simplicity</a:t>
            </a:r>
          </a:p>
          <a:p>
            <a:endParaRPr lang="en-US" dirty="0" smtClean="0"/>
          </a:p>
          <a:p>
            <a:r>
              <a:rPr lang="en-US" dirty="0" smtClean="0"/>
              <a:t>NAND</a:t>
            </a:r>
          </a:p>
          <a:p>
            <a:pPr lvl="1"/>
            <a:r>
              <a:rPr lang="en-US" dirty="0" smtClean="0"/>
              <a:t>AND then NOT</a:t>
            </a:r>
          </a:p>
          <a:p>
            <a:endParaRPr lang="en-US" dirty="0"/>
          </a:p>
          <a:p>
            <a:endParaRPr lang="en-US" dirty="0" smtClean="0"/>
          </a:p>
          <a:p>
            <a:r>
              <a:rPr lang="en-US" dirty="0" smtClean="0"/>
              <a:t>NOR </a:t>
            </a:r>
          </a:p>
          <a:p>
            <a:pPr lvl="1"/>
            <a:r>
              <a:rPr lang="en-US" dirty="0" smtClean="0"/>
              <a:t>OR then NOT</a:t>
            </a:r>
          </a:p>
        </p:txBody>
      </p:sp>
      <p:pic>
        <p:nvPicPr>
          <p:cNvPr id="4" name="Picture 3" descr="240px-NAND_ANSI_Labelled.sv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6280" y="3051000"/>
            <a:ext cx="2553120" cy="1063800"/>
          </a:xfrm>
          <a:prstGeom prst="rect">
            <a:avLst/>
          </a:prstGeom>
        </p:spPr>
      </p:pic>
      <p:pic>
        <p:nvPicPr>
          <p:cNvPr id="5" name="Picture 4" descr="240px-NOR_ANSI_Labelled.sv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4800" y="4660566"/>
            <a:ext cx="2530642" cy="1054434"/>
          </a:xfrm>
          <a:prstGeom prst="rect">
            <a:avLst/>
          </a:prstGeom>
        </p:spPr>
      </p:pic>
      <p:sp>
        <p:nvSpPr>
          <p:cNvPr id="6" name="TextBox 5"/>
          <p:cNvSpPr txBox="1"/>
          <p:nvPr/>
        </p:nvSpPr>
        <p:spPr>
          <a:xfrm>
            <a:off x="990600" y="5879068"/>
            <a:ext cx="4648200" cy="646331"/>
          </a:xfrm>
          <a:prstGeom prst="rect">
            <a:avLst/>
          </a:prstGeom>
          <a:noFill/>
        </p:spPr>
        <p:txBody>
          <a:bodyPr wrap="square" rtlCol="0">
            <a:spAutoFit/>
          </a:bodyPr>
          <a:lstStyle/>
          <a:p>
            <a:r>
              <a:rPr lang="en-US" dirty="0" smtClean="0">
                <a:solidFill>
                  <a:srgbClr val="FF0000"/>
                </a:solidFill>
              </a:rPr>
              <a:t>TODO: Build the Truth Tables for NAND</a:t>
            </a:r>
          </a:p>
          <a:p>
            <a:r>
              <a:rPr lang="en-US" dirty="0" smtClean="0">
                <a:solidFill>
                  <a:srgbClr val="FF0000"/>
                </a:solidFill>
              </a:rPr>
              <a:t>Q: Does it agree with your Boolean Equation?</a:t>
            </a:r>
            <a:endParaRPr lang="en-US" dirty="0">
              <a:solidFill>
                <a:srgbClr val="FF0000"/>
              </a:solidFill>
            </a:endParaRPr>
          </a:p>
        </p:txBody>
      </p:sp>
    </p:spTree>
    <p:extLst>
      <p:ext uri="{BB962C8B-B14F-4D97-AF65-F5344CB8AC3E}">
        <p14:creationId xmlns:p14="http://schemas.microsoft.com/office/powerpoint/2010/main" val="3910146760"/>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ounded Rectangle 18"/>
          <p:cNvSpPr/>
          <p:nvPr/>
        </p:nvSpPr>
        <p:spPr>
          <a:xfrm>
            <a:off x="0" y="2590800"/>
            <a:ext cx="9144000" cy="2514600"/>
          </a:xfrm>
          <a:prstGeom prst="roundRect">
            <a:avLst/>
          </a:prstGeom>
          <a:solidFill>
            <a:schemeClr val="accent6">
              <a:alpha val="21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800" dirty="0" smtClean="0">
                <a:solidFill>
                  <a:schemeClr val="tx1"/>
                </a:solidFill>
              </a:rPr>
              <a:t>Fundamental Gates</a:t>
            </a: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a:p>
        </p:txBody>
      </p:sp>
      <p:sp>
        <p:nvSpPr>
          <p:cNvPr id="2" name="Title 1"/>
          <p:cNvSpPr>
            <a:spLocks noGrp="1"/>
          </p:cNvSpPr>
          <p:nvPr>
            <p:ph type="title"/>
          </p:nvPr>
        </p:nvSpPr>
        <p:spPr/>
        <p:txBody>
          <a:bodyPr/>
          <a:lstStyle/>
          <a:p>
            <a:r>
              <a:rPr lang="en-US" dirty="0" smtClean="0"/>
              <a:t>Exercise: Build Up to NOT With NAND, NOR</a:t>
            </a:r>
            <a:endParaRPr lang="en-US" b="1" i="1" dirty="0"/>
          </a:p>
        </p:txBody>
      </p:sp>
      <p:sp>
        <p:nvSpPr>
          <p:cNvPr id="4" name="Rectangle 3"/>
          <p:cNvSpPr/>
          <p:nvPr/>
        </p:nvSpPr>
        <p:spPr>
          <a:xfrm>
            <a:off x="4724400" y="4495800"/>
            <a:ext cx="8382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AND</a:t>
            </a:r>
            <a:endParaRPr lang="en-US" dirty="0"/>
          </a:p>
        </p:txBody>
      </p:sp>
      <p:sp>
        <p:nvSpPr>
          <p:cNvPr id="5" name="Rectangle 4"/>
          <p:cNvSpPr/>
          <p:nvPr/>
        </p:nvSpPr>
        <p:spPr>
          <a:xfrm>
            <a:off x="5562600" y="4495800"/>
            <a:ext cx="6858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OR</a:t>
            </a:r>
            <a:endParaRPr lang="en-US" dirty="0"/>
          </a:p>
        </p:txBody>
      </p:sp>
      <p:sp>
        <p:nvSpPr>
          <p:cNvPr id="6" name="Rectangle 5"/>
          <p:cNvSpPr/>
          <p:nvPr/>
        </p:nvSpPr>
        <p:spPr>
          <a:xfrm>
            <a:off x="6248400" y="4495800"/>
            <a:ext cx="6858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NOT</a:t>
            </a:r>
            <a:endParaRPr lang="en-US" dirty="0"/>
          </a:p>
        </p:txBody>
      </p:sp>
      <p:sp>
        <p:nvSpPr>
          <p:cNvPr id="7" name="Rectangle 6"/>
          <p:cNvSpPr/>
          <p:nvPr/>
        </p:nvSpPr>
        <p:spPr>
          <a:xfrm>
            <a:off x="3657600" y="3886200"/>
            <a:ext cx="990600" cy="609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NAND</a:t>
            </a:r>
            <a:endParaRPr lang="en-US" dirty="0"/>
          </a:p>
        </p:txBody>
      </p:sp>
      <p:sp>
        <p:nvSpPr>
          <p:cNvPr id="8" name="Rectangle 7"/>
          <p:cNvSpPr/>
          <p:nvPr/>
        </p:nvSpPr>
        <p:spPr>
          <a:xfrm>
            <a:off x="4648200" y="3886200"/>
            <a:ext cx="990600" cy="609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NOR</a:t>
            </a:r>
            <a:endParaRPr lang="en-US" dirty="0"/>
          </a:p>
        </p:txBody>
      </p:sp>
      <p:sp>
        <p:nvSpPr>
          <p:cNvPr id="9" name="Rectangle 8"/>
          <p:cNvSpPr/>
          <p:nvPr/>
        </p:nvSpPr>
        <p:spPr>
          <a:xfrm>
            <a:off x="5638800" y="3886200"/>
            <a:ext cx="2286000" cy="609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XOR</a:t>
            </a:r>
            <a:endParaRPr lang="en-US" dirty="0"/>
          </a:p>
        </p:txBody>
      </p:sp>
      <p:sp>
        <p:nvSpPr>
          <p:cNvPr id="10" name="Rectangle 9"/>
          <p:cNvSpPr/>
          <p:nvPr/>
        </p:nvSpPr>
        <p:spPr>
          <a:xfrm>
            <a:off x="7620000" y="3276600"/>
            <a:ext cx="1524000" cy="6096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XNOR</a:t>
            </a:r>
            <a:endParaRPr lang="en-US" dirty="0"/>
          </a:p>
        </p:txBody>
      </p:sp>
      <p:sp>
        <p:nvSpPr>
          <p:cNvPr id="11" name="Rectangle 10"/>
          <p:cNvSpPr/>
          <p:nvPr/>
        </p:nvSpPr>
        <p:spPr>
          <a:xfrm>
            <a:off x="0" y="3276600"/>
            <a:ext cx="1066800" cy="609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AND with NAND</a:t>
            </a:r>
            <a:endParaRPr lang="en-US" dirty="0"/>
          </a:p>
        </p:txBody>
      </p:sp>
      <p:sp>
        <p:nvSpPr>
          <p:cNvPr id="12" name="Rectangle 11"/>
          <p:cNvSpPr/>
          <p:nvPr/>
        </p:nvSpPr>
        <p:spPr>
          <a:xfrm>
            <a:off x="1066800" y="3276600"/>
            <a:ext cx="1143000" cy="609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AND with NOR</a:t>
            </a:r>
            <a:endParaRPr lang="en-US" dirty="0"/>
          </a:p>
        </p:txBody>
      </p:sp>
      <p:sp>
        <p:nvSpPr>
          <p:cNvPr id="13" name="Rectangle 12"/>
          <p:cNvSpPr/>
          <p:nvPr/>
        </p:nvSpPr>
        <p:spPr>
          <a:xfrm>
            <a:off x="2209800" y="3276600"/>
            <a:ext cx="1066800" cy="609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OR with NAND</a:t>
            </a:r>
            <a:endParaRPr lang="en-US" dirty="0"/>
          </a:p>
        </p:txBody>
      </p:sp>
      <p:sp>
        <p:nvSpPr>
          <p:cNvPr id="14" name="Rectangle 13"/>
          <p:cNvSpPr/>
          <p:nvPr/>
        </p:nvSpPr>
        <p:spPr>
          <a:xfrm>
            <a:off x="3276600" y="3276600"/>
            <a:ext cx="990600" cy="609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OR with NOR</a:t>
            </a:r>
            <a:endParaRPr lang="en-US" dirty="0"/>
          </a:p>
        </p:txBody>
      </p:sp>
      <p:sp>
        <p:nvSpPr>
          <p:cNvPr id="15" name="Rectangle 14"/>
          <p:cNvSpPr/>
          <p:nvPr/>
        </p:nvSpPr>
        <p:spPr>
          <a:xfrm>
            <a:off x="4267200" y="3276600"/>
            <a:ext cx="1066800" cy="609600"/>
          </a:xfrm>
          <a:prstGeom prst="rect">
            <a:avLst/>
          </a:prstGeom>
          <a:effectLst>
            <a:glow rad="228600">
              <a:schemeClr val="accent5">
                <a:satMod val="175000"/>
                <a:alpha val="40000"/>
              </a:schemeClr>
            </a:glo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NOT with NAND</a:t>
            </a:r>
            <a:endParaRPr lang="en-US" dirty="0"/>
          </a:p>
        </p:txBody>
      </p:sp>
      <p:sp>
        <p:nvSpPr>
          <p:cNvPr id="16" name="Rectangle 15"/>
          <p:cNvSpPr/>
          <p:nvPr/>
        </p:nvSpPr>
        <p:spPr>
          <a:xfrm>
            <a:off x="5334000" y="3276600"/>
            <a:ext cx="1143000" cy="609600"/>
          </a:xfrm>
          <a:prstGeom prst="rect">
            <a:avLst/>
          </a:prstGeom>
          <a:effectLst>
            <a:glow rad="228600">
              <a:schemeClr val="accent5">
                <a:satMod val="175000"/>
                <a:alpha val="40000"/>
              </a:schemeClr>
            </a:glo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NOT with NOR</a:t>
            </a:r>
            <a:endParaRPr lang="en-US" dirty="0"/>
          </a:p>
        </p:txBody>
      </p:sp>
      <p:sp>
        <p:nvSpPr>
          <p:cNvPr id="18" name="Rectangle 17"/>
          <p:cNvSpPr/>
          <p:nvPr/>
        </p:nvSpPr>
        <p:spPr>
          <a:xfrm>
            <a:off x="6400800" y="3276600"/>
            <a:ext cx="1295400" cy="609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XOR with NAND/NOR </a:t>
            </a:r>
            <a:endParaRPr lang="en-US" dirty="0"/>
          </a:p>
        </p:txBody>
      </p:sp>
      <p:sp>
        <p:nvSpPr>
          <p:cNvPr id="3" name="TextBox 2"/>
          <p:cNvSpPr txBox="1"/>
          <p:nvPr/>
        </p:nvSpPr>
        <p:spPr>
          <a:xfrm>
            <a:off x="304800" y="5105400"/>
            <a:ext cx="6400800" cy="175432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Font typeface="+mj-lt"/>
              <a:buAutoNum type="arabicPeriod"/>
            </a:pPr>
            <a:r>
              <a:rPr lang="en-US" dirty="0" smtClean="0">
                <a:solidFill>
                  <a:srgbClr val="FF0000"/>
                </a:solidFill>
              </a:rPr>
              <a:t>Build NOT </a:t>
            </a:r>
            <a:r>
              <a:rPr lang="en-US" dirty="0" smtClean="0"/>
              <a:t>with NAND (</a:t>
            </a:r>
            <a:r>
              <a:rPr lang="en-US" dirty="0" smtClean="0">
                <a:solidFill>
                  <a:srgbClr val="FF0000"/>
                </a:solidFill>
              </a:rPr>
              <a:t>Ex0_NAND</a:t>
            </a:r>
            <a:r>
              <a:rPr lang="en-US" dirty="0" smtClean="0"/>
              <a:t>)</a:t>
            </a:r>
          </a:p>
          <a:p>
            <a:pPr marL="800100" lvl="1" indent="-342900">
              <a:buFont typeface="+mj-lt"/>
              <a:buAutoNum type="arabicPeriod"/>
            </a:pPr>
            <a:r>
              <a:rPr lang="en-US" dirty="0" smtClean="0"/>
              <a:t>See NAND truth table</a:t>
            </a:r>
          </a:p>
          <a:p>
            <a:pPr marL="342900" indent="-342900">
              <a:buFont typeface="+mj-lt"/>
              <a:buAutoNum type="arabicPeriod"/>
            </a:pPr>
            <a:r>
              <a:rPr lang="en-US" dirty="0" smtClean="0">
                <a:solidFill>
                  <a:srgbClr val="FF0000"/>
                </a:solidFill>
              </a:rPr>
              <a:t>Build NOT </a:t>
            </a:r>
            <a:r>
              <a:rPr lang="en-US" dirty="0" smtClean="0"/>
              <a:t>with NOR</a:t>
            </a:r>
          </a:p>
          <a:p>
            <a:pPr marL="800100" lvl="1" indent="-342900">
              <a:buFont typeface="+mj-lt"/>
              <a:buAutoNum type="arabicPeriod"/>
            </a:pPr>
            <a:r>
              <a:rPr lang="en-US" dirty="0" smtClean="0"/>
              <a:t>Also, see the NOR truth table</a:t>
            </a:r>
          </a:p>
          <a:p>
            <a:pPr marL="342900" indent="-342900">
              <a:buFont typeface="+mj-lt"/>
              <a:buAutoNum type="arabicPeriod"/>
            </a:pPr>
            <a:r>
              <a:rPr lang="en-US" dirty="0" smtClean="0">
                <a:solidFill>
                  <a:srgbClr val="FF0000"/>
                </a:solidFill>
              </a:rPr>
              <a:t>Build with me </a:t>
            </a:r>
            <a:r>
              <a:rPr lang="en-US" dirty="0" smtClean="0"/>
              <a:t>and </a:t>
            </a:r>
            <a:r>
              <a:rPr lang="en-US" dirty="0"/>
              <a:t>y</a:t>
            </a:r>
            <a:r>
              <a:rPr lang="en-US" dirty="0" smtClean="0"/>
              <a:t>ou pick: AND with NAND? OR with NAND?</a:t>
            </a:r>
          </a:p>
          <a:p>
            <a:pPr marL="342900" indent="-342900">
              <a:buFont typeface="+mj-lt"/>
              <a:buAutoNum type="arabicPeriod"/>
            </a:pPr>
            <a:r>
              <a:rPr lang="en-US" dirty="0" smtClean="0">
                <a:solidFill>
                  <a:srgbClr val="FF0000"/>
                </a:solidFill>
              </a:rPr>
              <a:t>Build with me</a:t>
            </a:r>
            <a:r>
              <a:rPr lang="en-US" dirty="0" smtClean="0"/>
              <a:t>: XNOR – which approach should we use?</a:t>
            </a:r>
            <a:endParaRPr lang="en-US" dirty="0"/>
          </a:p>
        </p:txBody>
      </p:sp>
      <p:sp>
        <p:nvSpPr>
          <p:cNvPr id="20" name="TextBox 19"/>
          <p:cNvSpPr txBox="1"/>
          <p:nvPr/>
        </p:nvSpPr>
        <p:spPr>
          <a:xfrm>
            <a:off x="2354580" y="1828800"/>
            <a:ext cx="352044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We’ll do this on the break, in </a:t>
            </a:r>
            <a:r>
              <a:rPr lang="en-US" dirty="0" err="1" smtClean="0"/>
              <a:t>paris</a:t>
            </a:r>
            <a:endParaRPr lang="en-US" dirty="0"/>
          </a:p>
        </p:txBody>
      </p:sp>
    </p:spTree>
    <p:extLst>
      <p:ext uri="{BB962C8B-B14F-4D97-AF65-F5344CB8AC3E}">
        <p14:creationId xmlns:p14="http://schemas.microsoft.com/office/powerpoint/2010/main" val="1353436715"/>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447800" y="152400"/>
            <a:ext cx="6477000" cy="1143000"/>
          </a:xfrm>
        </p:spPr>
        <p:txBody>
          <a:bodyPr/>
          <a:lstStyle/>
          <a:p>
            <a:r>
              <a:rPr lang="en-US" dirty="0" smtClean="0"/>
              <a:t>Logic Gates (Memorized)</a:t>
            </a:r>
          </a:p>
        </p:txBody>
      </p:sp>
      <p:pic>
        <p:nvPicPr>
          <p:cNvPr id="6" name="Picture 5" descr="f1.pdf"/>
          <p:cNvPicPr>
            <a:picLocks noChangeAspect="1"/>
          </p:cNvPicPr>
          <p:nvPr/>
        </p:nvPicPr>
        <p:blipFill>
          <a:blip r:embed="rId2"/>
          <a:srcRect l="9412" t="6364" r="12941" b="13636"/>
          <a:stretch>
            <a:fillRect/>
          </a:stretch>
        </p:blipFill>
        <p:spPr>
          <a:xfrm>
            <a:off x="1859280" y="1066800"/>
            <a:ext cx="5143468" cy="6858000"/>
          </a:xfrm>
          <a:prstGeom prst="rect">
            <a:avLst/>
          </a:prstGeom>
        </p:spPr>
      </p:pic>
      <p:sp>
        <p:nvSpPr>
          <p:cNvPr id="2" name="TextBox 1"/>
          <p:cNvSpPr txBox="1"/>
          <p:nvPr/>
        </p:nvSpPr>
        <p:spPr>
          <a:xfrm>
            <a:off x="2133600" y="6464300"/>
            <a:ext cx="2507653"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After today, XNOR too</a:t>
            </a:r>
            <a:endParaRPr lang="en-US" dirty="0"/>
          </a:p>
        </p:txBody>
      </p:sp>
    </p:spTree>
    <p:extLst>
      <p:ext uri="{BB962C8B-B14F-4D97-AF65-F5344CB8AC3E}">
        <p14:creationId xmlns:p14="http://schemas.microsoft.com/office/powerpoint/2010/main" val="2776663714"/>
      </p:ext>
    </p:extLst>
  </p:cSld>
  <p:clrMapOvr>
    <a:masterClrMapping/>
  </p:clrMapOvr>
  <p:transition xmlns:p14="http://schemas.microsoft.com/office/powerpoint/2010/main" spd="slow"/>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Proof of </a:t>
            </a:r>
            <a:r>
              <a:rPr lang="en-US" dirty="0" err="1" smtClean="0"/>
              <a:t>DeMorgans</a:t>
            </a:r>
            <a:r>
              <a:rPr lang="en-US" dirty="0" smtClean="0"/>
              <a:t>, XOR Defined, Negated, etc.</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85697767"/>
              </p:ext>
            </p:extLst>
          </p:nvPr>
        </p:nvGraphicFramePr>
        <p:xfrm>
          <a:off x="457200" y="1600200"/>
          <a:ext cx="8000998" cy="2123440"/>
        </p:xfrm>
        <a:graphic>
          <a:graphicData uri="http://schemas.openxmlformats.org/drawingml/2006/table">
            <a:tbl>
              <a:tblPr firstRow="1" bandRow="1">
                <a:tableStyleId>{5C22544A-7EE6-4342-B048-85BDC9FD1C3A}</a:tableStyleId>
              </a:tblPr>
              <a:tblGrid>
                <a:gridCol w="766519"/>
                <a:gridCol w="766519"/>
                <a:gridCol w="766519"/>
                <a:gridCol w="766519"/>
                <a:gridCol w="554814"/>
                <a:gridCol w="642416"/>
                <a:gridCol w="934423"/>
                <a:gridCol w="934423"/>
                <a:gridCol w="934423"/>
                <a:gridCol w="934423"/>
              </a:tblGrid>
              <a:tr h="370840">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 &amp; B</a:t>
                      </a:r>
                      <a:endParaRPr lang="en-US" dirty="0"/>
                    </a:p>
                  </a:txBody>
                  <a:tcPr/>
                </a:tc>
                <a:tc>
                  <a:txBody>
                    <a:bodyPr/>
                    <a:lstStyle/>
                    <a:p>
                      <a:r>
                        <a:rPr lang="en-US" dirty="0" smtClean="0"/>
                        <a:t>!(A &amp; B)</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 | !B</a:t>
                      </a:r>
                      <a:endParaRPr lang="en-US" dirty="0"/>
                    </a:p>
                  </a:txBody>
                  <a:tcPr/>
                </a:tc>
                <a:tc>
                  <a:txBody>
                    <a:bodyPr/>
                    <a:lstStyle/>
                    <a:p>
                      <a:r>
                        <a:rPr lang="en-US" dirty="0" smtClean="0"/>
                        <a:t>!(!A | !B)</a:t>
                      </a:r>
                      <a:endParaRPr lang="en-US" dirty="0"/>
                    </a:p>
                  </a:txBody>
                  <a:tcPr/>
                </a:tc>
                <a:tc>
                  <a:txBody>
                    <a:bodyPr/>
                    <a:lstStyle/>
                    <a:p>
                      <a:r>
                        <a:rPr lang="en-US" dirty="0" smtClean="0"/>
                        <a:t>A</a:t>
                      </a:r>
                      <a:r>
                        <a:rPr lang="en-US" baseline="0" dirty="0" smtClean="0"/>
                        <a:t> XOR B</a:t>
                      </a:r>
                      <a:endParaRPr lang="en-US" dirty="0"/>
                    </a:p>
                  </a:txBody>
                  <a:tcPr/>
                </a:tc>
                <a:tc>
                  <a:txBody>
                    <a:bodyPr/>
                    <a:lstStyle/>
                    <a:p>
                      <a:r>
                        <a:rPr lang="en-US" dirty="0" smtClean="0"/>
                        <a:t>A XNOR B</a:t>
                      </a:r>
                      <a:endParaRPr lang="en-US" dirty="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extLst>
      <p:ext uri="{BB962C8B-B14F-4D97-AF65-F5344CB8AC3E}">
        <p14:creationId xmlns:p14="http://schemas.microsoft.com/office/powerpoint/2010/main" val="2992810920"/>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559110684"/>
              </p:ext>
            </p:extLst>
          </p:nvPr>
        </p:nvGraphicFramePr>
        <p:xfrm>
          <a:off x="304800" y="228600"/>
          <a:ext cx="1371600" cy="1112520"/>
        </p:xfrm>
        <a:graphic>
          <a:graphicData uri="http://schemas.openxmlformats.org/drawingml/2006/table">
            <a:tbl>
              <a:tblPr firstRow="1" bandRow="1">
                <a:tableStyleId>{5C22544A-7EE6-4342-B048-85BDC9FD1C3A}</a:tableStyleId>
              </a:tblPr>
              <a:tblGrid>
                <a:gridCol w="685800"/>
                <a:gridCol w="685800"/>
              </a:tblGrid>
              <a:tr h="370840">
                <a:tc>
                  <a:txBody>
                    <a:bodyPr/>
                    <a:lstStyle/>
                    <a:p>
                      <a:r>
                        <a:rPr lang="en-US" dirty="0" smtClean="0"/>
                        <a:t>A</a:t>
                      </a:r>
                      <a:endParaRPr lang="en-US" dirty="0"/>
                    </a:p>
                  </a:txBody>
                  <a:tcPr/>
                </a:tc>
                <a:tc>
                  <a:txBody>
                    <a:bodyPr/>
                    <a:lstStyle/>
                    <a:p>
                      <a:r>
                        <a:rPr lang="en-US" dirty="0" smtClean="0"/>
                        <a:t>Out</a:t>
                      </a:r>
                      <a:r>
                        <a:rPr lang="en-US" baseline="-25000" dirty="0" smtClean="0"/>
                        <a:t>a</a:t>
                      </a:r>
                      <a:endParaRPr lang="en-US" dirty="0"/>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921946822"/>
              </p:ext>
            </p:extLst>
          </p:nvPr>
        </p:nvGraphicFramePr>
        <p:xfrm>
          <a:off x="2057400" y="584200"/>
          <a:ext cx="1905000" cy="1854200"/>
        </p:xfrm>
        <a:graphic>
          <a:graphicData uri="http://schemas.openxmlformats.org/drawingml/2006/table">
            <a:tbl>
              <a:tblPr firstRow="1" bandRow="1">
                <a:tableStyleId>{5C22544A-7EE6-4342-B048-85BDC9FD1C3A}</a:tableStyleId>
              </a:tblPr>
              <a:tblGrid>
                <a:gridCol w="457200"/>
                <a:gridCol w="381000"/>
                <a:gridCol w="1066800"/>
              </a:tblGrid>
              <a:tr h="370840">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 AND B</a:t>
                      </a:r>
                      <a:endParaRPr lang="en-US" dirty="0"/>
                    </a:p>
                  </a:txBody>
                  <a:tcPr/>
                </a:tc>
              </a:tr>
              <a:tr h="370840">
                <a:tc>
                  <a:txBody>
                    <a:bodyPr/>
                    <a:lstStyle/>
                    <a:p>
                      <a:endParaRPr lang="en-US" dirty="0"/>
                    </a:p>
                  </a:txBody>
                  <a:tcPr/>
                </a:tc>
                <a:tc>
                  <a:txBody>
                    <a:bodyPr/>
                    <a:lstStyle/>
                    <a:p>
                      <a:endParaRPr lang="en-US"/>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dirty="0"/>
                    </a:p>
                  </a:txBody>
                  <a:tcPr/>
                </a:tc>
                <a:tc>
                  <a:txBody>
                    <a:bodyPr/>
                    <a:lstStyle/>
                    <a:p>
                      <a:endParaRPr lang="en-US" dirty="0"/>
                    </a:p>
                  </a:txBody>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733449196"/>
              </p:ext>
            </p:extLst>
          </p:nvPr>
        </p:nvGraphicFramePr>
        <p:xfrm>
          <a:off x="381000" y="2682240"/>
          <a:ext cx="2590800" cy="3337560"/>
        </p:xfrm>
        <a:graphic>
          <a:graphicData uri="http://schemas.openxmlformats.org/drawingml/2006/table">
            <a:tbl>
              <a:tblPr firstRow="1" bandRow="1">
                <a:tableStyleId>{5C22544A-7EE6-4342-B048-85BDC9FD1C3A}</a:tableStyleId>
              </a:tblPr>
              <a:tblGrid>
                <a:gridCol w="304800"/>
                <a:gridCol w="304800"/>
                <a:gridCol w="381000"/>
                <a:gridCol w="1600200"/>
              </a:tblGrid>
              <a:tr h="370840">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A AND B</a:t>
                      </a:r>
                      <a:endParaRPr lang="en-US" dirty="0"/>
                    </a:p>
                  </a:txBody>
                  <a:tcPr/>
                </a:tc>
              </a:tr>
              <a:tr h="37084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751706404"/>
              </p:ext>
            </p:extLst>
          </p:nvPr>
        </p:nvGraphicFramePr>
        <p:xfrm>
          <a:off x="4724400" y="228600"/>
          <a:ext cx="3429000" cy="6304280"/>
        </p:xfrm>
        <a:graphic>
          <a:graphicData uri="http://schemas.openxmlformats.org/drawingml/2006/table">
            <a:tbl>
              <a:tblPr firstRow="1" bandRow="1">
                <a:tableStyleId>{5C22544A-7EE6-4342-B048-85BDC9FD1C3A}</a:tableStyleId>
              </a:tblPr>
              <a:tblGrid>
                <a:gridCol w="381000"/>
                <a:gridCol w="381000"/>
                <a:gridCol w="457200"/>
                <a:gridCol w="533400"/>
                <a:gridCol w="1676400"/>
              </a:tblGrid>
              <a:tr h="370840">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D</a:t>
                      </a:r>
                      <a:endParaRPr lang="en-US" dirty="0"/>
                    </a:p>
                  </a:txBody>
                  <a:tcPr/>
                </a:tc>
                <a:tc>
                  <a:txBody>
                    <a:bodyPr/>
                    <a:lstStyle/>
                    <a:p>
                      <a:r>
                        <a:rPr lang="en-US" dirty="0" smtClean="0"/>
                        <a:t>A AND B</a:t>
                      </a:r>
                      <a:endParaRPr lang="en-US" dirty="0"/>
                    </a:p>
                  </a:txBody>
                  <a:tcPr/>
                </a:tc>
              </a:tr>
              <a:tr h="37084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
        <p:nvSpPr>
          <p:cNvPr id="8" name="TextBox 7"/>
          <p:cNvSpPr txBox="1"/>
          <p:nvPr/>
        </p:nvSpPr>
        <p:spPr>
          <a:xfrm>
            <a:off x="3048000" y="4029670"/>
            <a:ext cx="1524000"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We need better tools for 3+ inputs</a:t>
            </a:r>
            <a:endParaRPr lang="en-US" dirty="0"/>
          </a:p>
        </p:txBody>
      </p:sp>
    </p:spTree>
    <p:extLst>
      <p:ext uri="{BB962C8B-B14F-4D97-AF65-F5344CB8AC3E}">
        <p14:creationId xmlns:p14="http://schemas.microsoft.com/office/powerpoint/2010/main" val="738240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458200" cy="1143000"/>
          </a:xfrm>
        </p:spPr>
        <p:txBody>
          <a:bodyPr/>
          <a:lstStyle/>
          <a:p>
            <a:r>
              <a:rPr lang="en-US" dirty="0" smtClean="0"/>
              <a:t>Level Up on The Multi-Layer Cake</a:t>
            </a:r>
            <a:endParaRPr lang="en-US" dirty="0"/>
          </a:p>
        </p:txBody>
      </p:sp>
      <p:sp>
        <p:nvSpPr>
          <p:cNvPr id="19" name="Rounded Rectangle 18"/>
          <p:cNvSpPr/>
          <p:nvPr/>
        </p:nvSpPr>
        <p:spPr>
          <a:xfrm>
            <a:off x="0" y="5181600"/>
            <a:ext cx="9144000" cy="11430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800" dirty="0" smtClean="0">
                <a:solidFill>
                  <a:schemeClr val="bg1"/>
                </a:solidFill>
              </a:rPr>
              <a:t>Fundamental, Atomic </a:t>
            </a:r>
            <a:r>
              <a:rPr lang="en-US" sz="2800" dirty="0" smtClean="0">
                <a:solidFill>
                  <a:srgbClr val="FF6600"/>
                </a:solidFill>
                <a:latin typeface="Abadi MT Condensed Extra Bold"/>
                <a:cs typeface="Abadi MT Condensed Extra Bold"/>
              </a:rPr>
              <a:t>Gates</a:t>
            </a:r>
          </a:p>
          <a:p>
            <a:pPr algn="ctr"/>
            <a:r>
              <a:rPr lang="en-US" sz="2800" dirty="0">
                <a:solidFill>
                  <a:schemeClr val="bg1"/>
                </a:solidFill>
              </a:rPr>
              <a:t>(AND, OR, NOT, XOR, NAND, NOR)</a:t>
            </a:r>
            <a:endParaRPr lang="en-US" sz="2800" dirty="0" smtClean="0">
              <a:solidFill>
                <a:srgbClr val="B7AE38"/>
              </a:solidFill>
              <a:latin typeface="+mj-lt"/>
              <a:cs typeface="Abadi MT Condensed Extra Bold"/>
            </a:endParaRPr>
          </a:p>
          <a:p>
            <a:pPr algn="ctr"/>
            <a:endParaRPr lang="en-US" dirty="0">
              <a:solidFill>
                <a:srgbClr val="B7AE38"/>
              </a:solidFill>
              <a:latin typeface="Abadi MT Condensed Extra Bold"/>
              <a:cs typeface="Abadi MT Condensed Extra Bold"/>
            </a:endParaRPr>
          </a:p>
        </p:txBody>
      </p:sp>
      <p:sp>
        <p:nvSpPr>
          <p:cNvPr id="21" name="Rounded Rectangle 20"/>
          <p:cNvSpPr/>
          <p:nvPr/>
        </p:nvSpPr>
        <p:spPr>
          <a:xfrm>
            <a:off x="0" y="4038600"/>
            <a:ext cx="9144000" cy="1143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smtClean="0">
                <a:solidFill>
                  <a:schemeClr val="bg1"/>
                </a:solidFill>
              </a:rPr>
              <a:t>Combining </a:t>
            </a:r>
            <a:r>
              <a:rPr lang="en-US" sz="2800" dirty="0" smtClean="0">
                <a:solidFill>
                  <a:srgbClr val="FF6600"/>
                </a:solidFill>
                <a:latin typeface="Abadi MT Condensed Extra Bold"/>
                <a:cs typeface="Abadi MT Condensed Extra Bold"/>
              </a:rPr>
              <a:t>Gates</a:t>
            </a:r>
            <a:r>
              <a:rPr lang="en-US" sz="2800" dirty="0" smtClean="0">
                <a:solidFill>
                  <a:srgbClr val="B7AE38"/>
                </a:solidFill>
                <a:latin typeface="Abadi MT Condensed Extra Bold"/>
                <a:cs typeface="Abadi MT Condensed Extra Bold"/>
              </a:rPr>
              <a:t> </a:t>
            </a:r>
            <a:r>
              <a:rPr lang="en-US" sz="2800" dirty="0" smtClean="0">
                <a:solidFill>
                  <a:schemeClr val="bg1"/>
                </a:solidFill>
              </a:rPr>
              <a:t>for </a:t>
            </a:r>
            <a:r>
              <a:rPr lang="en-US" sz="2800" b="1" dirty="0" smtClean="0">
                <a:solidFill>
                  <a:srgbClr val="008000"/>
                </a:solidFill>
                <a:latin typeface="Abadi MT Condensed Extra Bold"/>
                <a:cs typeface="Abadi MT Condensed Extra Bold"/>
              </a:rPr>
              <a:t>Combinational Circuits</a:t>
            </a:r>
          </a:p>
          <a:p>
            <a:pPr algn="ctr"/>
            <a:r>
              <a:rPr lang="en-US" sz="2800" dirty="0" smtClean="0">
                <a:solidFill>
                  <a:schemeClr val="bg1"/>
                </a:solidFill>
              </a:rPr>
              <a:t>(half-adders, adders, multiplexors, decoders/encoders,…)</a:t>
            </a:r>
            <a:endParaRPr lang="en-US" dirty="0"/>
          </a:p>
          <a:p>
            <a:pPr algn="ctr"/>
            <a:endParaRPr lang="en-US" dirty="0"/>
          </a:p>
        </p:txBody>
      </p:sp>
      <p:sp>
        <p:nvSpPr>
          <p:cNvPr id="22" name="Rounded Rectangle 21"/>
          <p:cNvSpPr/>
          <p:nvPr/>
        </p:nvSpPr>
        <p:spPr>
          <a:xfrm>
            <a:off x="0" y="2895600"/>
            <a:ext cx="9144000" cy="11430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smtClean="0">
                <a:solidFill>
                  <a:schemeClr val="bg1"/>
                </a:solidFill>
              </a:rPr>
              <a:t>Combining </a:t>
            </a:r>
            <a:r>
              <a:rPr lang="en-US" sz="2800" dirty="0" smtClean="0">
                <a:solidFill>
                  <a:srgbClr val="FF6600"/>
                </a:solidFill>
                <a:latin typeface="Abadi MT Condensed Extra Bold"/>
                <a:cs typeface="Abadi MT Condensed Extra Bold"/>
              </a:rPr>
              <a:t>Gates</a:t>
            </a:r>
            <a:r>
              <a:rPr lang="en-US" sz="2800" dirty="0" smtClean="0">
                <a:solidFill>
                  <a:srgbClr val="B7AE38"/>
                </a:solidFill>
                <a:latin typeface="Abadi MT Condensed Extra Bold"/>
                <a:cs typeface="Abadi MT Condensed Extra Bold"/>
              </a:rPr>
              <a:t> </a:t>
            </a:r>
            <a:r>
              <a:rPr lang="en-US" sz="2800" dirty="0" smtClean="0">
                <a:solidFill>
                  <a:schemeClr val="bg1"/>
                </a:solidFill>
              </a:rPr>
              <a:t>to Make </a:t>
            </a:r>
            <a:r>
              <a:rPr lang="en-US" sz="2800" b="1" dirty="0" smtClean="0">
                <a:solidFill>
                  <a:srgbClr val="0000FF"/>
                </a:solidFill>
                <a:latin typeface="Abadi MT Condensed Extra Bold"/>
                <a:cs typeface="Abadi MT Condensed Extra Bold"/>
              </a:rPr>
              <a:t>Memory</a:t>
            </a:r>
          </a:p>
          <a:p>
            <a:pPr algn="ctr"/>
            <a:r>
              <a:rPr lang="en-US" sz="2800" dirty="0" smtClean="0">
                <a:solidFill>
                  <a:schemeClr val="bg1"/>
                </a:solidFill>
              </a:rPr>
              <a:t>(RAM &amp; ROM as SR Latch, JK FF, DF FF, …)</a:t>
            </a:r>
            <a:endParaRPr lang="en-US" dirty="0"/>
          </a:p>
          <a:p>
            <a:pPr algn="ctr"/>
            <a:endParaRPr lang="en-US" dirty="0"/>
          </a:p>
        </p:txBody>
      </p:sp>
      <p:sp>
        <p:nvSpPr>
          <p:cNvPr id="23" name="Rounded Rectangle 22"/>
          <p:cNvSpPr/>
          <p:nvPr/>
        </p:nvSpPr>
        <p:spPr>
          <a:xfrm>
            <a:off x="25400" y="1447800"/>
            <a:ext cx="9144000" cy="1447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solidFill>
              </a:rPr>
              <a:t> Combining </a:t>
            </a:r>
            <a:r>
              <a:rPr lang="en-US" sz="2800" b="1" dirty="0" smtClean="0">
                <a:solidFill>
                  <a:srgbClr val="0000FF"/>
                </a:solidFill>
                <a:latin typeface="Abadi MT Condensed Extra Bold"/>
                <a:cs typeface="Abadi MT Condensed Extra Bold"/>
              </a:rPr>
              <a:t>Memory </a:t>
            </a:r>
            <a:r>
              <a:rPr lang="en-US" sz="2800" dirty="0" smtClean="0">
                <a:solidFill>
                  <a:schemeClr val="bg1"/>
                </a:solidFill>
              </a:rPr>
              <a:t>and </a:t>
            </a:r>
            <a:r>
              <a:rPr lang="en-US" sz="2800" b="1" dirty="0">
                <a:solidFill>
                  <a:srgbClr val="008000"/>
                </a:solidFill>
                <a:latin typeface="Abadi MT Condensed Extra Bold"/>
                <a:cs typeface="Abadi MT Condensed Extra Bold"/>
              </a:rPr>
              <a:t>Combinational Circuits</a:t>
            </a:r>
          </a:p>
          <a:p>
            <a:pPr algn="ctr"/>
            <a:r>
              <a:rPr lang="en-US" sz="2800" dirty="0" smtClean="0">
                <a:solidFill>
                  <a:schemeClr val="bg1"/>
                </a:solidFill>
              </a:rPr>
              <a:t> to make </a:t>
            </a:r>
            <a:r>
              <a:rPr lang="en-US" sz="2800" b="1" dirty="0" smtClean="0">
                <a:solidFill>
                  <a:srgbClr val="9939D5"/>
                </a:solidFill>
                <a:latin typeface="Abadi MT Condensed Extra Bold"/>
                <a:cs typeface="Abadi MT Condensed Extra Bold"/>
              </a:rPr>
              <a:t>Sequential Circuits </a:t>
            </a:r>
          </a:p>
          <a:p>
            <a:pPr algn="ctr"/>
            <a:r>
              <a:rPr lang="en-US" sz="2800" dirty="0" smtClean="0">
                <a:solidFill>
                  <a:schemeClr val="bg1"/>
                </a:solidFill>
              </a:rPr>
              <a:t>(State Machines)</a:t>
            </a:r>
            <a:endParaRPr lang="en-US" dirty="0"/>
          </a:p>
          <a:p>
            <a:pPr algn="ctr"/>
            <a:endParaRPr lang="en-US" dirty="0"/>
          </a:p>
        </p:txBody>
      </p:sp>
      <p:sp>
        <p:nvSpPr>
          <p:cNvPr id="3" name="TextBox 2"/>
          <p:cNvSpPr txBox="1"/>
          <p:nvPr/>
        </p:nvSpPr>
        <p:spPr>
          <a:xfrm>
            <a:off x="152400" y="2526268"/>
            <a:ext cx="884775" cy="369332"/>
          </a:xfrm>
          <a:prstGeom prst="rect">
            <a:avLst/>
          </a:prstGeom>
          <a:solidFill>
            <a:srgbClr val="9939D5"/>
          </a:solidFill>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dirty="0" smtClean="0"/>
              <a:t>Level 3</a:t>
            </a:r>
            <a:endParaRPr lang="en-US" dirty="0"/>
          </a:p>
        </p:txBody>
      </p:sp>
      <p:sp>
        <p:nvSpPr>
          <p:cNvPr id="8" name="TextBox 7"/>
          <p:cNvSpPr txBox="1"/>
          <p:nvPr/>
        </p:nvSpPr>
        <p:spPr>
          <a:xfrm>
            <a:off x="152400" y="3657600"/>
            <a:ext cx="884775" cy="369332"/>
          </a:xfrm>
          <a:prstGeom prst="rect">
            <a:avLst/>
          </a:prstGeom>
          <a:solidFill>
            <a:srgbClr val="0000FF"/>
          </a:solidFill>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dirty="0" smtClean="0"/>
              <a:t>Level 2</a:t>
            </a:r>
            <a:endParaRPr lang="en-US" dirty="0"/>
          </a:p>
        </p:txBody>
      </p:sp>
      <p:sp>
        <p:nvSpPr>
          <p:cNvPr id="9" name="TextBox 8"/>
          <p:cNvSpPr txBox="1"/>
          <p:nvPr/>
        </p:nvSpPr>
        <p:spPr>
          <a:xfrm>
            <a:off x="12700" y="4876800"/>
            <a:ext cx="2044699" cy="769441"/>
          </a:xfrm>
          <a:prstGeom prst="rect">
            <a:avLst/>
          </a:prstGeom>
          <a:solidFill>
            <a:srgbClr val="008000"/>
          </a:solidFill>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sz="4400" dirty="0" smtClean="0"/>
              <a:t>Level 1</a:t>
            </a:r>
            <a:endParaRPr lang="en-US" sz="4400" dirty="0"/>
          </a:p>
        </p:txBody>
      </p:sp>
      <p:sp>
        <p:nvSpPr>
          <p:cNvPr id="10" name="TextBox 9"/>
          <p:cNvSpPr txBox="1"/>
          <p:nvPr/>
        </p:nvSpPr>
        <p:spPr>
          <a:xfrm>
            <a:off x="152400" y="5943600"/>
            <a:ext cx="884775" cy="369332"/>
          </a:xfrm>
          <a:prstGeom prst="rect">
            <a:avLst/>
          </a:prstGeom>
          <a:solidFill>
            <a:srgbClr val="FF6600"/>
          </a:solidFill>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dirty="0" smtClean="0"/>
              <a:t>Level 0</a:t>
            </a:r>
            <a:endParaRPr lang="en-US" dirty="0"/>
          </a:p>
        </p:txBody>
      </p:sp>
      <p:sp>
        <p:nvSpPr>
          <p:cNvPr id="4" name="TextBox 3"/>
          <p:cNvSpPr txBox="1"/>
          <p:nvPr/>
        </p:nvSpPr>
        <p:spPr>
          <a:xfrm>
            <a:off x="7543800" y="6629400"/>
            <a:ext cx="914400" cy="184666"/>
          </a:xfrm>
          <a:prstGeom prst="rect">
            <a:avLst/>
          </a:prstGeom>
          <a:noFill/>
        </p:spPr>
        <p:txBody>
          <a:bodyPr wrap="square" rtlCol="0">
            <a:spAutoFit/>
          </a:bodyPr>
          <a:lstStyle/>
          <a:p>
            <a:r>
              <a:rPr lang="en-US" sz="600" dirty="0"/>
              <a:t>Gates Foundation? </a:t>
            </a:r>
          </a:p>
        </p:txBody>
      </p:sp>
    </p:spTree>
    <p:extLst>
      <p:ext uri="{BB962C8B-B14F-4D97-AF65-F5344CB8AC3E}">
        <p14:creationId xmlns:p14="http://schemas.microsoft.com/office/powerpoint/2010/main" val="1156096509"/>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143000" y="2438400"/>
            <a:ext cx="2971800" cy="10668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457200" y="274638"/>
            <a:ext cx="7924800" cy="1143000"/>
          </a:xfrm>
        </p:spPr>
        <p:txBody>
          <a:bodyPr/>
          <a:lstStyle/>
          <a:p>
            <a:r>
              <a:rPr lang="en-US" dirty="0" smtClean="0"/>
              <a:t>On Building Compound Circuits</a:t>
            </a:r>
            <a:endParaRPr lang="en-US" dirty="0"/>
          </a:p>
        </p:txBody>
      </p:sp>
      <p:sp>
        <p:nvSpPr>
          <p:cNvPr id="3" name="Content Placeholder 2"/>
          <p:cNvSpPr>
            <a:spLocks noGrp="1"/>
          </p:cNvSpPr>
          <p:nvPr>
            <p:ph idx="1"/>
          </p:nvPr>
        </p:nvSpPr>
        <p:spPr/>
        <p:txBody>
          <a:bodyPr/>
          <a:lstStyle/>
          <a:p>
            <a:r>
              <a:rPr lang="en-US" dirty="0" smtClean="0"/>
              <a:t>Or, how do we build a digital system in general?</a:t>
            </a:r>
          </a:p>
          <a:p>
            <a:r>
              <a:rPr lang="en-US" dirty="0" smtClean="0"/>
              <a:t>In previous slides we demonstrated:</a:t>
            </a:r>
          </a:p>
          <a:p>
            <a:pPr lvl="1"/>
            <a:r>
              <a:rPr lang="en-US" dirty="0" smtClean="0"/>
              <a:t>Truth tables </a:t>
            </a:r>
          </a:p>
          <a:p>
            <a:pPr lvl="1"/>
            <a:r>
              <a:rPr lang="en-US" dirty="0"/>
              <a:t>B</a:t>
            </a:r>
            <a:r>
              <a:rPr lang="en-US" dirty="0" smtClean="0"/>
              <a:t>oolean algebra equations</a:t>
            </a:r>
          </a:p>
          <a:p>
            <a:pPr lvl="1"/>
            <a:r>
              <a:rPr lang="en-US" dirty="0" smtClean="0"/>
              <a:t>Even circuit designs!</a:t>
            </a:r>
          </a:p>
          <a:p>
            <a:r>
              <a:rPr lang="en-US" dirty="0" smtClean="0"/>
              <a:t>These are interchangeable and can serve as the design schema for any digital system.</a:t>
            </a:r>
          </a:p>
          <a:p>
            <a:pPr lvl="1"/>
            <a:r>
              <a:rPr lang="en-US" dirty="0" smtClean="0"/>
              <a:t>We’ll see this in action in a few slides</a:t>
            </a:r>
            <a:endParaRPr lang="en-US" dirty="0"/>
          </a:p>
        </p:txBody>
      </p:sp>
    </p:spTree>
    <p:extLst>
      <p:ext uri="{BB962C8B-B14F-4D97-AF65-F5344CB8AC3E}">
        <p14:creationId xmlns:p14="http://schemas.microsoft.com/office/powerpoint/2010/main" val="2238687480"/>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Logically Equivalent Views</a:t>
            </a:r>
            <a:endParaRPr lang="en-US" dirty="0"/>
          </a:p>
        </p:txBody>
      </p:sp>
      <p:sp>
        <p:nvSpPr>
          <p:cNvPr id="5" name="Isosceles Triangle 4"/>
          <p:cNvSpPr/>
          <p:nvPr/>
        </p:nvSpPr>
        <p:spPr>
          <a:xfrm>
            <a:off x="2209800" y="3352800"/>
            <a:ext cx="1905000" cy="1371600"/>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Boolean Algebra</a:t>
            </a:r>
            <a:endParaRPr lang="en-US" dirty="0"/>
          </a:p>
        </p:txBody>
      </p:sp>
      <p:sp>
        <p:nvSpPr>
          <p:cNvPr id="7" name="Isosceles Triangle 6"/>
          <p:cNvSpPr/>
          <p:nvPr/>
        </p:nvSpPr>
        <p:spPr>
          <a:xfrm>
            <a:off x="3200400" y="1981200"/>
            <a:ext cx="1905000" cy="1371600"/>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Truth Table</a:t>
            </a:r>
            <a:endParaRPr lang="en-US" dirty="0"/>
          </a:p>
        </p:txBody>
      </p:sp>
      <p:sp>
        <p:nvSpPr>
          <p:cNvPr id="8" name="Isosceles Triangle 7"/>
          <p:cNvSpPr/>
          <p:nvPr/>
        </p:nvSpPr>
        <p:spPr>
          <a:xfrm>
            <a:off x="4140200" y="3352800"/>
            <a:ext cx="1905000" cy="1371600"/>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Circuit Schema</a:t>
            </a:r>
            <a:endParaRPr lang="en-US" dirty="0"/>
          </a:p>
        </p:txBody>
      </p:sp>
      <p:sp>
        <p:nvSpPr>
          <p:cNvPr id="9" name="TextBox 8"/>
          <p:cNvSpPr txBox="1"/>
          <p:nvPr/>
        </p:nvSpPr>
        <p:spPr>
          <a:xfrm>
            <a:off x="228600" y="5029200"/>
            <a:ext cx="8001000" cy="175432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a:buChar char="•"/>
            </a:pPr>
            <a:r>
              <a:rPr lang="en-US" dirty="0" smtClean="0"/>
              <a:t>These are just different views on the same data</a:t>
            </a:r>
          </a:p>
          <a:p>
            <a:pPr marL="285750" indent="-285750">
              <a:buFont typeface="Arial"/>
              <a:buChar char="•"/>
            </a:pPr>
            <a:r>
              <a:rPr lang="en-US" dirty="0" smtClean="0"/>
              <a:t>If you have one view, you have them all</a:t>
            </a:r>
          </a:p>
          <a:p>
            <a:pPr marL="285750" indent="-285750">
              <a:buFont typeface="Arial"/>
              <a:buChar char="•"/>
            </a:pPr>
            <a:r>
              <a:rPr lang="en-US" dirty="0" smtClean="0"/>
              <a:t>As we build circuits, watch as we go back and forth between views to understand and simplify our designs</a:t>
            </a:r>
          </a:p>
          <a:p>
            <a:pPr marL="285750" indent="-285750">
              <a:buFont typeface="Arial"/>
              <a:buChar char="•"/>
            </a:pPr>
            <a:r>
              <a:rPr lang="en-US" dirty="0" smtClean="0">
                <a:solidFill>
                  <a:srgbClr val="FF0000"/>
                </a:solidFill>
              </a:rPr>
              <a:t>Today:</a:t>
            </a:r>
            <a:r>
              <a:rPr lang="en-US" dirty="0" smtClean="0"/>
              <a:t> Truth Tables, corresponding B.E.s, and Circuits</a:t>
            </a:r>
          </a:p>
          <a:p>
            <a:pPr marL="742950" lvl="1" indent="-285750">
              <a:buFont typeface="Arial"/>
              <a:buChar char="•"/>
            </a:pPr>
            <a:r>
              <a:rPr lang="en-US" dirty="0" smtClean="0">
                <a:solidFill>
                  <a:srgbClr val="0000FF"/>
                </a:solidFill>
              </a:rPr>
              <a:t>Next:</a:t>
            </a:r>
            <a:r>
              <a:rPr lang="en-US" dirty="0" smtClean="0"/>
              <a:t> Boolean Algebra and K-Maps</a:t>
            </a:r>
            <a:endParaRPr lang="en-US" dirty="0"/>
          </a:p>
        </p:txBody>
      </p:sp>
      <p:sp>
        <p:nvSpPr>
          <p:cNvPr id="10" name="Curved Down Arrow 9"/>
          <p:cNvSpPr/>
          <p:nvPr/>
        </p:nvSpPr>
        <p:spPr>
          <a:xfrm rot="6728116">
            <a:off x="3269039" y="3251875"/>
            <a:ext cx="685800" cy="609600"/>
          </a:xfrm>
          <a:prstGeom prst="curvedDown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solidFill>
                <a:schemeClr val="tx1"/>
              </a:solidFill>
            </a:endParaRPr>
          </a:p>
        </p:txBody>
      </p:sp>
      <p:sp>
        <p:nvSpPr>
          <p:cNvPr id="11" name="Curved Down Arrow 10"/>
          <p:cNvSpPr/>
          <p:nvPr/>
        </p:nvSpPr>
        <p:spPr>
          <a:xfrm>
            <a:off x="3733800" y="3962400"/>
            <a:ext cx="990600" cy="609600"/>
          </a:xfrm>
          <a:prstGeom prst="curvedDown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solidFill>
                <a:schemeClr val="tx1"/>
              </a:solidFill>
            </a:endParaRPr>
          </a:p>
        </p:txBody>
      </p:sp>
      <p:sp>
        <p:nvSpPr>
          <p:cNvPr id="12" name="Curved Down Arrow 11"/>
          <p:cNvSpPr/>
          <p:nvPr/>
        </p:nvSpPr>
        <p:spPr>
          <a:xfrm rot="13425545">
            <a:off x="4380230" y="3200503"/>
            <a:ext cx="685800" cy="609600"/>
          </a:xfrm>
          <a:prstGeom prst="curvedDown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solidFill>
                <a:schemeClr val="tx1"/>
              </a:solidFill>
            </a:endParaRPr>
          </a:p>
        </p:txBody>
      </p:sp>
      <p:sp>
        <p:nvSpPr>
          <p:cNvPr id="13" name="TextBox 12"/>
          <p:cNvSpPr txBox="1"/>
          <p:nvPr/>
        </p:nvSpPr>
        <p:spPr>
          <a:xfrm>
            <a:off x="3771900" y="3632200"/>
            <a:ext cx="990600" cy="381000"/>
          </a:xfrm>
          <a:prstGeom prst="rect">
            <a:avLst/>
          </a:prstGeom>
          <a:noFill/>
        </p:spPr>
        <p:txBody>
          <a:bodyPr wrap="square" rtlCol="0">
            <a:spAutoFit/>
          </a:bodyPr>
          <a:lstStyle/>
          <a:p>
            <a:r>
              <a:rPr lang="en-US" dirty="0" smtClean="0"/>
              <a:t>K-Maps</a:t>
            </a:r>
            <a:endParaRPr lang="en-US" dirty="0"/>
          </a:p>
        </p:txBody>
      </p:sp>
    </p:spTree>
    <p:extLst>
      <p:ext uri="{BB962C8B-B14F-4D97-AF65-F5344CB8AC3E}">
        <p14:creationId xmlns:p14="http://schemas.microsoft.com/office/powerpoint/2010/main" val="288872863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dissolve">
                                      <p:cBhvr>
                                        <p:cTn id="13" dur="500"/>
                                        <p:tgtEl>
                                          <p:spTgt spid="11"/>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XOR Gate</a:t>
            </a:r>
            <a:endParaRPr lang="en-US" dirty="0"/>
          </a:p>
        </p:txBody>
      </p:sp>
      <p:sp>
        <p:nvSpPr>
          <p:cNvPr id="3" name="Content Placeholder 2"/>
          <p:cNvSpPr>
            <a:spLocks noGrp="1"/>
          </p:cNvSpPr>
          <p:nvPr>
            <p:ph idx="1"/>
          </p:nvPr>
        </p:nvSpPr>
        <p:spPr>
          <a:xfrm>
            <a:off x="457200" y="1600200"/>
            <a:ext cx="8077200" cy="4800600"/>
          </a:xfrm>
        </p:spPr>
        <p:txBody>
          <a:bodyPr/>
          <a:lstStyle/>
          <a:p>
            <a:r>
              <a:rPr lang="en-US" dirty="0" smtClean="0"/>
              <a:t>Given AND and OR, make the XOR Gate</a:t>
            </a:r>
          </a:p>
          <a:p>
            <a:pPr lvl="1"/>
            <a:r>
              <a:rPr lang="en-US" dirty="0" smtClean="0">
                <a:solidFill>
                  <a:srgbClr val="FF6600"/>
                </a:solidFill>
              </a:rPr>
              <a:t>Observe how we use this truth table to implement hardware directly!</a:t>
            </a:r>
            <a:endParaRPr lang="en-US" dirty="0">
              <a:solidFill>
                <a:srgbClr val="FF66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4026256622"/>
              </p:ext>
            </p:extLst>
          </p:nvPr>
        </p:nvGraphicFramePr>
        <p:xfrm>
          <a:off x="914400" y="2565400"/>
          <a:ext cx="6096000" cy="185420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 XOR B</a:t>
                      </a:r>
                      <a:endParaRPr lang="en-US" dirty="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bl>
          </a:graphicData>
        </a:graphic>
      </p:graphicFrame>
      <p:sp>
        <p:nvSpPr>
          <p:cNvPr id="5" name="Stored Data 4"/>
          <p:cNvSpPr/>
          <p:nvPr/>
        </p:nvSpPr>
        <p:spPr>
          <a:xfrm rot="10800000">
            <a:off x="5943600" y="457200"/>
            <a:ext cx="9144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6" name="Straight Connector 5"/>
          <p:cNvCxnSpPr/>
          <p:nvPr/>
        </p:nvCxnSpPr>
        <p:spPr>
          <a:xfrm>
            <a:off x="4953000" y="5334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4953000" y="9906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6553200" y="762000"/>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9" name="Block Arc 8"/>
          <p:cNvSpPr/>
          <p:nvPr/>
        </p:nvSpPr>
        <p:spPr>
          <a:xfrm rot="5400000">
            <a:off x="5562600" y="685800"/>
            <a:ext cx="609600" cy="152400"/>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0" name="TextBox 9"/>
          <p:cNvSpPr txBox="1"/>
          <p:nvPr/>
        </p:nvSpPr>
        <p:spPr>
          <a:xfrm>
            <a:off x="304800" y="5029200"/>
            <a:ext cx="7924800" cy="1754327"/>
          </a:xfrm>
          <a:prstGeom prst="rect">
            <a:avLst/>
          </a:prstGeom>
          <a:noFill/>
        </p:spPr>
        <p:txBody>
          <a:bodyPr wrap="square" rtlCol="0">
            <a:spAutoFit/>
          </a:bodyPr>
          <a:lstStyle/>
          <a:p>
            <a:pPr marL="285750" indent="-285750">
              <a:buFont typeface="Arial"/>
              <a:buChar char="•"/>
            </a:pPr>
            <a:r>
              <a:rPr lang="en-US" dirty="0" err="1" smtClean="0"/>
              <a:t>X</a:t>
            </a:r>
            <a:r>
              <a:rPr lang="en-US" baseline="-25000" dirty="0" err="1" smtClean="0"/>
              <a:t>out</a:t>
            </a:r>
            <a:r>
              <a:rPr lang="en-US" dirty="0" smtClean="0"/>
              <a:t>= A*~B + ~A*B   </a:t>
            </a:r>
            <a:r>
              <a:rPr lang="en-US" dirty="0" smtClean="0">
                <a:solidFill>
                  <a:srgbClr val="008000"/>
                </a:solidFill>
              </a:rPr>
              <a:t>//derived from the TT above, </a:t>
            </a:r>
            <a:r>
              <a:rPr lang="en-US" b="1" dirty="0" smtClean="0">
                <a:solidFill>
                  <a:srgbClr val="008000"/>
                </a:solidFill>
              </a:rPr>
              <a:t>is this S.O.P. or P.O.S.</a:t>
            </a:r>
            <a:r>
              <a:rPr lang="en-US" dirty="0" smtClean="0"/>
              <a:t> form?</a:t>
            </a:r>
          </a:p>
          <a:p>
            <a:pPr marL="742950" lvl="1" indent="-285750">
              <a:buFont typeface="Arial"/>
              <a:buChar char="•"/>
            </a:pPr>
            <a:r>
              <a:rPr lang="en-US" dirty="0" smtClean="0"/>
              <a:t>Using this </a:t>
            </a:r>
            <a:r>
              <a:rPr lang="en-US" dirty="0"/>
              <a:t>B</a:t>
            </a:r>
            <a:r>
              <a:rPr lang="en-US" dirty="0" smtClean="0"/>
              <a:t>oolean equation in </a:t>
            </a:r>
            <a:r>
              <a:rPr lang="en-US" b="1" dirty="0" err="1" smtClean="0"/>
              <a:t>minterm</a:t>
            </a:r>
            <a:r>
              <a:rPr lang="en-US" dirty="0" smtClean="0"/>
              <a:t> form</a:t>
            </a:r>
          </a:p>
          <a:p>
            <a:pPr marL="742950" lvl="1" indent="-285750">
              <a:buFont typeface="Arial"/>
              <a:buChar char="•"/>
            </a:pPr>
            <a:r>
              <a:rPr lang="en-US" b="1" dirty="0" smtClean="0">
                <a:solidFill>
                  <a:srgbClr val="FF0000"/>
                </a:solidFill>
              </a:rPr>
              <a:t>Q:</a:t>
            </a:r>
            <a:r>
              <a:rPr lang="en-US" dirty="0" smtClean="0"/>
              <a:t> Do you see how we can use this equivalent formula to completely describe the table above?</a:t>
            </a:r>
          </a:p>
          <a:p>
            <a:pPr marL="1200150" lvl="2" indent="-285750">
              <a:buFont typeface="Arial"/>
              <a:buChar char="•"/>
            </a:pPr>
            <a:r>
              <a:rPr lang="en-US" dirty="0" smtClean="0">
                <a:solidFill>
                  <a:srgbClr val="FF6600"/>
                </a:solidFill>
              </a:rPr>
              <a:t>Implication: We can implement hardware directly from a formula OR </a:t>
            </a:r>
            <a:r>
              <a:rPr lang="en-US" dirty="0">
                <a:solidFill>
                  <a:srgbClr val="FF6600"/>
                </a:solidFill>
              </a:rPr>
              <a:t>t</a:t>
            </a:r>
            <a:r>
              <a:rPr lang="en-US" dirty="0" smtClean="0">
                <a:solidFill>
                  <a:srgbClr val="FF6600"/>
                </a:solidFill>
              </a:rPr>
              <a:t>ruth </a:t>
            </a:r>
            <a:r>
              <a:rPr lang="en-US" dirty="0">
                <a:solidFill>
                  <a:srgbClr val="FF6600"/>
                </a:solidFill>
              </a:rPr>
              <a:t>t</a:t>
            </a:r>
            <a:r>
              <a:rPr lang="en-US" dirty="0" smtClean="0">
                <a:solidFill>
                  <a:srgbClr val="FF6600"/>
                </a:solidFill>
              </a:rPr>
              <a:t>able</a:t>
            </a:r>
            <a:endParaRPr lang="en-US" dirty="0">
              <a:solidFill>
                <a:srgbClr val="FF6600"/>
              </a:solidFill>
            </a:endParaRPr>
          </a:p>
        </p:txBody>
      </p:sp>
    </p:spTree>
    <p:extLst>
      <p:ext uri="{BB962C8B-B14F-4D97-AF65-F5344CB8AC3E}">
        <p14:creationId xmlns:p14="http://schemas.microsoft.com/office/powerpoint/2010/main" val="2228435416"/>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 Start, We Need A,~A, B, ~B</a:t>
            </a:r>
            <a:endParaRPr lang="en-US" dirty="0"/>
          </a:p>
        </p:txBody>
      </p:sp>
      <p:cxnSp>
        <p:nvCxnSpPr>
          <p:cNvPr id="5" name="Straight Connector 4"/>
          <p:cNvCxnSpPr/>
          <p:nvPr/>
        </p:nvCxnSpPr>
        <p:spPr>
          <a:xfrm>
            <a:off x="914400" y="2438400"/>
            <a:ext cx="2514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1676400" y="2438400"/>
            <a:ext cx="0" cy="762000"/>
          </a:xfrm>
          <a:prstGeom prst="line">
            <a:avLst/>
          </a:prstGeom>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600200" y="23622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1676400" y="3200400"/>
            <a:ext cx="381000"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Extract 10"/>
          <p:cNvSpPr/>
          <p:nvPr/>
        </p:nvSpPr>
        <p:spPr>
          <a:xfrm rot="5400000">
            <a:off x="1752600" y="2819400"/>
            <a:ext cx="838200" cy="685800"/>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a:t>
            </a:r>
            <a:endParaRPr lang="en-US" dirty="0"/>
          </a:p>
        </p:txBody>
      </p:sp>
      <p:sp>
        <p:nvSpPr>
          <p:cNvPr id="13" name="Oval 12"/>
          <p:cNvSpPr/>
          <p:nvPr/>
        </p:nvSpPr>
        <p:spPr>
          <a:xfrm>
            <a:off x="2438400" y="3048000"/>
            <a:ext cx="228600" cy="22900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2667000" y="3199998"/>
            <a:ext cx="762000" cy="402"/>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895600" y="2057400"/>
            <a:ext cx="609600" cy="381000"/>
          </a:xfrm>
          <a:prstGeom prst="rect">
            <a:avLst/>
          </a:prstGeom>
          <a:noFill/>
        </p:spPr>
        <p:txBody>
          <a:bodyPr wrap="square" rtlCol="0">
            <a:spAutoFit/>
          </a:bodyPr>
          <a:lstStyle/>
          <a:p>
            <a:r>
              <a:rPr lang="en-US" dirty="0" smtClean="0"/>
              <a:t>A</a:t>
            </a:r>
            <a:endParaRPr lang="en-US" dirty="0"/>
          </a:p>
        </p:txBody>
      </p:sp>
      <p:sp>
        <p:nvSpPr>
          <p:cNvPr id="18" name="TextBox 17"/>
          <p:cNvSpPr txBox="1"/>
          <p:nvPr/>
        </p:nvSpPr>
        <p:spPr>
          <a:xfrm>
            <a:off x="2819400" y="2895600"/>
            <a:ext cx="609600" cy="381000"/>
          </a:xfrm>
          <a:prstGeom prst="rect">
            <a:avLst/>
          </a:prstGeom>
          <a:noFill/>
        </p:spPr>
        <p:txBody>
          <a:bodyPr wrap="square" rtlCol="0">
            <a:spAutoFit/>
          </a:bodyPr>
          <a:lstStyle/>
          <a:p>
            <a:r>
              <a:rPr lang="en-US" dirty="0" smtClean="0"/>
              <a:t>~A</a:t>
            </a:r>
            <a:endParaRPr lang="en-US" dirty="0"/>
          </a:p>
        </p:txBody>
      </p:sp>
      <p:sp>
        <p:nvSpPr>
          <p:cNvPr id="19" name="TextBox 18"/>
          <p:cNvSpPr txBox="1"/>
          <p:nvPr/>
        </p:nvSpPr>
        <p:spPr>
          <a:xfrm>
            <a:off x="990600" y="2057400"/>
            <a:ext cx="609600" cy="381000"/>
          </a:xfrm>
          <a:prstGeom prst="rect">
            <a:avLst/>
          </a:prstGeom>
          <a:noFill/>
        </p:spPr>
        <p:txBody>
          <a:bodyPr wrap="square" rtlCol="0">
            <a:spAutoFit/>
          </a:bodyPr>
          <a:lstStyle/>
          <a:p>
            <a:r>
              <a:rPr lang="en-US" dirty="0" smtClean="0"/>
              <a:t>A</a:t>
            </a:r>
            <a:endParaRPr lang="en-US" dirty="0"/>
          </a:p>
        </p:txBody>
      </p:sp>
      <p:cxnSp>
        <p:nvCxnSpPr>
          <p:cNvPr id="20" name="Straight Connector 19"/>
          <p:cNvCxnSpPr/>
          <p:nvPr/>
        </p:nvCxnSpPr>
        <p:spPr>
          <a:xfrm>
            <a:off x="914400" y="4343400"/>
            <a:ext cx="2514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1676400" y="4343400"/>
            <a:ext cx="0" cy="762000"/>
          </a:xfrm>
          <a:prstGeom prst="line">
            <a:avLst/>
          </a:prstGeom>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600200" y="42672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Connector 22"/>
          <p:cNvCxnSpPr/>
          <p:nvPr/>
        </p:nvCxnSpPr>
        <p:spPr>
          <a:xfrm>
            <a:off x="1676400" y="5105400"/>
            <a:ext cx="381000" cy="0"/>
          </a:xfrm>
          <a:prstGeom prst="line">
            <a:avLst/>
          </a:prstGeom>
        </p:spPr>
        <p:style>
          <a:lnRef idx="2">
            <a:schemeClr val="accent1"/>
          </a:lnRef>
          <a:fillRef idx="0">
            <a:schemeClr val="accent1"/>
          </a:fillRef>
          <a:effectRef idx="1">
            <a:schemeClr val="accent1"/>
          </a:effectRef>
          <a:fontRef idx="minor">
            <a:schemeClr val="tx1"/>
          </a:fontRef>
        </p:style>
      </p:cxnSp>
      <p:sp>
        <p:nvSpPr>
          <p:cNvPr id="24" name="Extract 23"/>
          <p:cNvSpPr/>
          <p:nvPr/>
        </p:nvSpPr>
        <p:spPr>
          <a:xfrm rot="5400000">
            <a:off x="1752600" y="4724400"/>
            <a:ext cx="838200" cy="685800"/>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a:t>
            </a:r>
            <a:endParaRPr lang="en-US" dirty="0"/>
          </a:p>
        </p:txBody>
      </p:sp>
      <p:sp>
        <p:nvSpPr>
          <p:cNvPr id="25" name="Oval 24"/>
          <p:cNvSpPr/>
          <p:nvPr/>
        </p:nvSpPr>
        <p:spPr>
          <a:xfrm>
            <a:off x="2438400" y="4953000"/>
            <a:ext cx="228600" cy="22900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Straight Connector 25"/>
          <p:cNvCxnSpPr/>
          <p:nvPr/>
        </p:nvCxnSpPr>
        <p:spPr>
          <a:xfrm>
            <a:off x="2667000" y="5104998"/>
            <a:ext cx="762000" cy="402"/>
          </a:xfrm>
          <a:prstGeom prst="line">
            <a:avLst/>
          </a:prstGeom>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895600" y="3962400"/>
            <a:ext cx="609600" cy="381000"/>
          </a:xfrm>
          <a:prstGeom prst="rect">
            <a:avLst/>
          </a:prstGeom>
          <a:noFill/>
        </p:spPr>
        <p:txBody>
          <a:bodyPr wrap="square" rtlCol="0">
            <a:spAutoFit/>
          </a:bodyPr>
          <a:lstStyle/>
          <a:p>
            <a:r>
              <a:rPr lang="en-US" dirty="0"/>
              <a:t>B</a:t>
            </a:r>
          </a:p>
        </p:txBody>
      </p:sp>
      <p:sp>
        <p:nvSpPr>
          <p:cNvPr id="28" name="TextBox 27"/>
          <p:cNvSpPr txBox="1"/>
          <p:nvPr/>
        </p:nvSpPr>
        <p:spPr>
          <a:xfrm>
            <a:off x="2819400" y="4800600"/>
            <a:ext cx="609600" cy="381000"/>
          </a:xfrm>
          <a:prstGeom prst="rect">
            <a:avLst/>
          </a:prstGeom>
          <a:noFill/>
        </p:spPr>
        <p:txBody>
          <a:bodyPr wrap="square" rtlCol="0">
            <a:spAutoFit/>
          </a:bodyPr>
          <a:lstStyle/>
          <a:p>
            <a:r>
              <a:rPr lang="en-US" dirty="0" smtClean="0"/>
              <a:t>~B</a:t>
            </a:r>
            <a:endParaRPr lang="en-US" dirty="0"/>
          </a:p>
        </p:txBody>
      </p:sp>
      <p:sp>
        <p:nvSpPr>
          <p:cNvPr id="29" name="TextBox 28"/>
          <p:cNvSpPr txBox="1"/>
          <p:nvPr/>
        </p:nvSpPr>
        <p:spPr>
          <a:xfrm>
            <a:off x="990600" y="3962400"/>
            <a:ext cx="609600" cy="381000"/>
          </a:xfrm>
          <a:prstGeom prst="rect">
            <a:avLst/>
          </a:prstGeom>
          <a:noFill/>
        </p:spPr>
        <p:txBody>
          <a:bodyPr wrap="square" rtlCol="0">
            <a:spAutoFit/>
          </a:bodyPr>
          <a:lstStyle/>
          <a:p>
            <a:r>
              <a:rPr lang="en-US" dirty="0"/>
              <a:t>B</a:t>
            </a:r>
          </a:p>
        </p:txBody>
      </p:sp>
      <p:sp>
        <p:nvSpPr>
          <p:cNvPr id="42" name="TextBox 41"/>
          <p:cNvSpPr txBox="1"/>
          <p:nvPr/>
        </p:nvSpPr>
        <p:spPr>
          <a:xfrm>
            <a:off x="1856509" y="1295400"/>
            <a:ext cx="360218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err="1" smtClean="0"/>
              <a:t>XOR_Function</a:t>
            </a:r>
            <a:r>
              <a:rPr lang="en-US" dirty="0" smtClean="0"/>
              <a:t>(A,B) = A*~B + ~A*B</a:t>
            </a:r>
          </a:p>
        </p:txBody>
      </p:sp>
      <p:sp>
        <p:nvSpPr>
          <p:cNvPr id="30" name="TextBox 29"/>
          <p:cNvSpPr txBox="1"/>
          <p:nvPr/>
        </p:nvSpPr>
        <p:spPr>
          <a:xfrm>
            <a:off x="304800" y="6412468"/>
            <a:ext cx="2209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smtClean="0"/>
              <a:t>Building XOR</a:t>
            </a:r>
            <a:endParaRPr lang="en-US" b="1" dirty="0"/>
          </a:p>
        </p:txBody>
      </p:sp>
    </p:spTree>
    <p:extLst>
      <p:ext uri="{BB962C8B-B14F-4D97-AF65-F5344CB8AC3E}">
        <p14:creationId xmlns:p14="http://schemas.microsoft.com/office/powerpoint/2010/main" val="1731472663"/>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Q</a:t>
            </a:r>
            <a:r>
              <a:rPr lang="en-US" dirty="0" smtClean="0"/>
              <a:t>: Build A*~B, Then ~A*B</a:t>
            </a:r>
            <a:endParaRPr lang="en-US" dirty="0"/>
          </a:p>
        </p:txBody>
      </p:sp>
      <p:cxnSp>
        <p:nvCxnSpPr>
          <p:cNvPr id="5" name="Straight Connector 4"/>
          <p:cNvCxnSpPr/>
          <p:nvPr/>
        </p:nvCxnSpPr>
        <p:spPr>
          <a:xfrm>
            <a:off x="914400" y="2438400"/>
            <a:ext cx="2514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1676400" y="2438400"/>
            <a:ext cx="0" cy="762000"/>
          </a:xfrm>
          <a:prstGeom prst="line">
            <a:avLst/>
          </a:prstGeom>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600200" y="23622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1676400" y="3200400"/>
            <a:ext cx="381000"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Extract 10"/>
          <p:cNvSpPr/>
          <p:nvPr/>
        </p:nvSpPr>
        <p:spPr>
          <a:xfrm rot="5400000">
            <a:off x="1752600" y="2819400"/>
            <a:ext cx="838200" cy="685800"/>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a:t>
            </a:r>
            <a:endParaRPr lang="en-US" dirty="0"/>
          </a:p>
        </p:txBody>
      </p:sp>
      <p:sp>
        <p:nvSpPr>
          <p:cNvPr id="13" name="Oval 12"/>
          <p:cNvSpPr/>
          <p:nvPr/>
        </p:nvSpPr>
        <p:spPr>
          <a:xfrm>
            <a:off x="2438400" y="3048000"/>
            <a:ext cx="228600" cy="22900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2667000" y="3199998"/>
            <a:ext cx="762000" cy="402"/>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895600" y="2057400"/>
            <a:ext cx="609600" cy="381000"/>
          </a:xfrm>
          <a:prstGeom prst="rect">
            <a:avLst/>
          </a:prstGeom>
          <a:noFill/>
        </p:spPr>
        <p:txBody>
          <a:bodyPr wrap="square" rtlCol="0">
            <a:spAutoFit/>
          </a:bodyPr>
          <a:lstStyle/>
          <a:p>
            <a:r>
              <a:rPr lang="en-US" dirty="0" smtClean="0"/>
              <a:t>A</a:t>
            </a:r>
            <a:endParaRPr lang="en-US" dirty="0"/>
          </a:p>
        </p:txBody>
      </p:sp>
      <p:sp>
        <p:nvSpPr>
          <p:cNvPr id="18" name="TextBox 17"/>
          <p:cNvSpPr txBox="1"/>
          <p:nvPr/>
        </p:nvSpPr>
        <p:spPr>
          <a:xfrm>
            <a:off x="2819400" y="2895600"/>
            <a:ext cx="609600" cy="381000"/>
          </a:xfrm>
          <a:prstGeom prst="rect">
            <a:avLst/>
          </a:prstGeom>
          <a:noFill/>
        </p:spPr>
        <p:txBody>
          <a:bodyPr wrap="square" rtlCol="0">
            <a:spAutoFit/>
          </a:bodyPr>
          <a:lstStyle/>
          <a:p>
            <a:r>
              <a:rPr lang="en-US" dirty="0" smtClean="0"/>
              <a:t>~A</a:t>
            </a:r>
            <a:endParaRPr lang="en-US" dirty="0"/>
          </a:p>
        </p:txBody>
      </p:sp>
      <p:sp>
        <p:nvSpPr>
          <p:cNvPr id="19" name="TextBox 18"/>
          <p:cNvSpPr txBox="1"/>
          <p:nvPr/>
        </p:nvSpPr>
        <p:spPr>
          <a:xfrm>
            <a:off x="990600" y="2057400"/>
            <a:ext cx="609600" cy="381000"/>
          </a:xfrm>
          <a:prstGeom prst="rect">
            <a:avLst/>
          </a:prstGeom>
          <a:noFill/>
        </p:spPr>
        <p:txBody>
          <a:bodyPr wrap="square" rtlCol="0">
            <a:spAutoFit/>
          </a:bodyPr>
          <a:lstStyle/>
          <a:p>
            <a:r>
              <a:rPr lang="en-US" dirty="0" smtClean="0"/>
              <a:t>A</a:t>
            </a:r>
            <a:endParaRPr lang="en-US" dirty="0"/>
          </a:p>
        </p:txBody>
      </p:sp>
      <p:cxnSp>
        <p:nvCxnSpPr>
          <p:cNvPr id="20" name="Straight Connector 19"/>
          <p:cNvCxnSpPr/>
          <p:nvPr/>
        </p:nvCxnSpPr>
        <p:spPr>
          <a:xfrm>
            <a:off x="914400" y="4343400"/>
            <a:ext cx="2514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1676400" y="4343400"/>
            <a:ext cx="0" cy="762000"/>
          </a:xfrm>
          <a:prstGeom prst="line">
            <a:avLst/>
          </a:prstGeom>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600200" y="42672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Connector 22"/>
          <p:cNvCxnSpPr/>
          <p:nvPr/>
        </p:nvCxnSpPr>
        <p:spPr>
          <a:xfrm>
            <a:off x="1676400" y="5105400"/>
            <a:ext cx="381000" cy="0"/>
          </a:xfrm>
          <a:prstGeom prst="line">
            <a:avLst/>
          </a:prstGeom>
        </p:spPr>
        <p:style>
          <a:lnRef idx="2">
            <a:schemeClr val="accent1"/>
          </a:lnRef>
          <a:fillRef idx="0">
            <a:schemeClr val="accent1"/>
          </a:fillRef>
          <a:effectRef idx="1">
            <a:schemeClr val="accent1"/>
          </a:effectRef>
          <a:fontRef idx="minor">
            <a:schemeClr val="tx1"/>
          </a:fontRef>
        </p:style>
      </p:cxnSp>
      <p:sp>
        <p:nvSpPr>
          <p:cNvPr id="24" name="Extract 23"/>
          <p:cNvSpPr/>
          <p:nvPr/>
        </p:nvSpPr>
        <p:spPr>
          <a:xfrm rot="5400000">
            <a:off x="1752600" y="4724400"/>
            <a:ext cx="838200" cy="685800"/>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a:t>
            </a:r>
            <a:endParaRPr lang="en-US" dirty="0"/>
          </a:p>
        </p:txBody>
      </p:sp>
      <p:sp>
        <p:nvSpPr>
          <p:cNvPr id="25" name="Oval 24"/>
          <p:cNvSpPr/>
          <p:nvPr/>
        </p:nvSpPr>
        <p:spPr>
          <a:xfrm>
            <a:off x="2438400" y="4953000"/>
            <a:ext cx="228600" cy="22900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Straight Connector 25"/>
          <p:cNvCxnSpPr/>
          <p:nvPr/>
        </p:nvCxnSpPr>
        <p:spPr>
          <a:xfrm>
            <a:off x="2667000" y="5104998"/>
            <a:ext cx="762000" cy="402"/>
          </a:xfrm>
          <a:prstGeom prst="line">
            <a:avLst/>
          </a:prstGeom>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895600" y="3962400"/>
            <a:ext cx="609600" cy="381000"/>
          </a:xfrm>
          <a:prstGeom prst="rect">
            <a:avLst/>
          </a:prstGeom>
          <a:noFill/>
        </p:spPr>
        <p:txBody>
          <a:bodyPr wrap="square" rtlCol="0">
            <a:spAutoFit/>
          </a:bodyPr>
          <a:lstStyle/>
          <a:p>
            <a:r>
              <a:rPr lang="en-US" dirty="0"/>
              <a:t>B</a:t>
            </a:r>
          </a:p>
        </p:txBody>
      </p:sp>
      <p:sp>
        <p:nvSpPr>
          <p:cNvPr id="28" name="TextBox 27"/>
          <p:cNvSpPr txBox="1"/>
          <p:nvPr/>
        </p:nvSpPr>
        <p:spPr>
          <a:xfrm>
            <a:off x="2819400" y="4800600"/>
            <a:ext cx="609600" cy="381000"/>
          </a:xfrm>
          <a:prstGeom prst="rect">
            <a:avLst/>
          </a:prstGeom>
          <a:noFill/>
        </p:spPr>
        <p:txBody>
          <a:bodyPr wrap="square" rtlCol="0">
            <a:spAutoFit/>
          </a:bodyPr>
          <a:lstStyle/>
          <a:p>
            <a:r>
              <a:rPr lang="en-US" dirty="0" smtClean="0"/>
              <a:t>~B</a:t>
            </a:r>
            <a:endParaRPr lang="en-US" dirty="0"/>
          </a:p>
        </p:txBody>
      </p:sp>
      <p:sp>
        <p:nvSpPr>
          <p:cNvPr id="29" name="TextBox 28"/>
          <p:cNvSpPr txBox="1"/>
          <p:nvPr/>
        </p:nvSpPr>
        <p:spPr>
          <a:xfrm>
            <a:off x="990600" y="3962400"/>
            <a:ext cx="609600" cy="381000"/>
          </a:xfrm>
          <a:prstGeom prst="rect">
            <a:avLst/>
          </a:prstGeom>
          <a:noFill/>
        </p:spPr>
        <p:txBody>
          <a:bodyPr wrap="square" rtlCol="0">
            <a:spAutoFit/>
          </a:bodyPr>
          <a:lstStyle/>
          <a:p>
            <a:r>
              <a:rPr lang="en-US" dirty="0"/>
              <a:t>B</a:t>
            </a:r>
          </a:p>
        </p:txBody>
      </p:sp>
      <p:sp>
        <p:nvSpPr>
          <p:cNvPr id="30" name="Delay 29"/>
          <p:cNvSpPr/>
          <p:nvPr/>
        </p:nvSpPr>
        <p:spPr>
          <a:xfrm>
            <a:off x="5334000" y="3733800"/>
            <a:ext cx="838200" cy="685800"/>
          </a:xfrm>
          <a:prstGeom prst="flowChartDelay">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t>
            </a:r>
            <a:endParaRPr lang="en-US" dirty="0"/>
          </a:p>
        </p:txBody>
      </p:sp>
      <p:cxnSp>
        <p:nvCxnSpPr>
          <p:cNvPr id="31" name="Straight Connector 30"/>
          <p:cNvCxnSpPr/>
          <p:nvPr/>
        </p:nvCxnSpPr>
        <p:spPr>
          <a:xfrm>
            <a:off x="4495800" y="38862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4495800" y="4267200"/>
            <a:ext cx="935182" cy="0"/>
          </a:xfrm>
          <a:prstGeom prst="line">
            <a:avLst/>
          </a:prstGeom>
        </p:spPr>
        <p:style>
          <a:lnRef idx="2">
            <a:schemeClr val="accent1"/>
          </a:lnRef>
          <a:fillRef idx="0">
            <a:schemeClr val="accent1"/>
          </a:fillRef>
          <a:effectRef idx="1">
            <a:schemeClr val="accent1"/>
          </a:effectRef>
          <a:fontRef idx="minor">
            <a:schemeClr val="tx1"/>
          </a:fontRef>
        </p:style>
      </p:cxnSp>
      <p:sp>
        <p:nvSpPr>
          <p:cNvPr id="33" name="Stored Data 32"/>
          <p:cNvSpPr/>
          <p:nvPr/>
        </p:nvSpPr>
        <p:spPr>
          <a:xfrm rot="10800000">
            <a:off x="5334000" y="4953000"/>
            <a:ext cx="6858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a:t>
            </a:r>
            <a:endParaRPr lang="en-US" dirty="0"/>
          </a:p>
        </p:txBody>
      </p:sp>
      <p:cxnSp>
        <p:nvCxnSpPr>
          <p:cNvPr id="34" name="Straight Connector 33"/>
          <p:cNvCxnSpPr/>
          <p:nvPr/>
        </p:nvCxnSpPr>
        <p:spPr>
          <a:xfrm>
            <a:off x="4648200" y="51054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4648200" y="54102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6019800" y="4114800"/>
            <a:ext cx="1447800"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5943600" y="5257800"/>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38" name="Delay 37"/>
          <p:cNvSpPr/>
          <p:nvPr/>
        </p:nvSpPr>
        <p:spPr>
          <a:xfrm>
            <a:off x="5334000" y="2514600"/>
            <a:ext cx="838200" cy="685800"/>
          </a:xfrm>
          <a:prstGeom prst="flowChartDelay">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t>
            </a:r>
            <a:endParaRPr lang="en-US" dirty="0"/>
          </a:p>
        </p:txBody>
      </p:sp>
      <p:cxnSp>
        <p:nvCxnSpPr>
          <p:cNvPr id="39" name="Straight Connector 38"/>
          <p:cNvCxnSpPr/>
          <p:nvPr/>
        </p:nvCxnSpPr>
        <p:spPr>
          <a:xfrm>
            <a:off x="4495800" y="26670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a:off x="4495800" y="30480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6172200" y="2895599"/>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04800" y="6412468"/>
            <a:ext cx="2209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smtClean="0"/>
              <a:t>Building XOR</a:t>
            </a:r>
            <a:endParaRPr lang="en-US" b="1" dirty="0"/>
          </a:p>
        </p:txBody>
      </p:sp>
      <p:sp>
        <p:nvSpPr>
          <p:cNvPr id="44" name="TextBox 43"/>
          <p:cNvSpPr txBox="1"/>
          <p:nvPr/>
        </p:nvSpPr>
        <p:spPr>
          <a:xfrm>
            <a:off x="2085109" y="1295400"/>
            <a:ext cx="360218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err="1" smtClean="0"/>
              <a:t>XOR_Function</a:t>
            </a:r>
            <a:r>
              <a:rPr lang="en-US" dirty="0" smtClean="0"/>
              <a:t>(A,B) = A*~B + ~A*B</a:t>
            </a:r>
          </a:p>
        </p:txBody>
      </p:sp>
    </p:spTree>
    <p:extLst>
      <p:ext uri="{BB962C8B-B14F-4D97-AF65-F5344CB8AC3E}">
        <p14:creationId xmlns:p14="http://schemas.microsoft.com/office/powerpoint/2010/main" val="82731149"/>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sz="1400" b="1"/>
          </a:p>
        </p:txBody>
      </p:sp>
      <p:sp>
        <p:nvSpPr>
          <p:cNvPr id="36867" name="Rectangle 3"/>
          <p:cNvSpPr>
            <a:spLocks noGrp="1" noChangeArrowheads="1"/>
          </p:cNvSpPr>
          <p:nvPr>
            <p:ph type="title"/>
          </p:nvPr>
        </p:nvSpPr>
        <p:spPr>
          <a:xfrm>
            <a:off x="457200" y="152400"/>
            <a:ext cx="7620000" cy="1143000"/>
          </a:xfrm>
        </p:spPr>
        <p:txBody>
          <a:bodyPr lIns="89275" tIns="43854" rIns="89275" bIns="43854"/>
          <a:lstStyle/>
          <a:p>
            <a:r>
              <a:rPr lang="en-US" dirty="0" smtClean="0"/>
              <a:t>Circuits </a:t>
            </a:r>
            <a:r>
              <a:rPr lang="en-US" dirty="0" smtClean="0">
                <a:sym typeface="Wingdings"/>
              </a:rPr>
              <a:t>Boolean </a:t>
            </a:r>
            <a:r>
              <a:rPr lang="en-US" dirty="0">
                <a:sym typeface="Wingdings"/>
              </a:rPr>
              <a:t>Equations </a:t>
            </a:r>
            <a:r>
              <a:rPr lang="en-US" dirty="0" smtClean="0">
                <a:sym typeface="Wingdings"/>
              </a:rPr>
              <a:t> Truth Tables</a:t>
            </a:r>
            <a:endParaRPr lang="en-US" dirty="0" smtClean="0"/>
          </a:p>
        </p:txBody>
      </p:sp>
      <p:grpSp>
        <p:nvGrpSpPr>
          <p:cNvPr id="6" name="Group 3"/>
          <p:cNvGrpSpPr>
            <a:grpSpLocks/>
          </p:cNvGrpSpPr>
          <p:nvPr/>
        </p:nvGrpSpPr>
        <p:grpSpPr bwMode="auto">
          <a:xfrm>
            <a:off x="2274094" y="2506663"/>
            <a:ext cx="969963" cy="874712"/>
            <a:chOff x="1860" y="1413"/>
            <a:chExt cx="611" cy="551"/>
          </a:xfrm>
        </p:grpSpPr>
        <p:sp>
          <p:nvSpPr>
            <p:cNvPr id="7" name="AutoShape 4"/>
            <p:cNvSpPr>
              <a:spLocks noChangeArrowheads="1"/>
            </p:cNvSpPr>
            <p:nvPr/>
          </p:nvSpPr>
          <p:spPr bwMode="auto">
            <a:xfrm rot="5400000">
              <a:off x="1870" y="1403"/>
              <a:ext cx="551" cy="571"/>
            </a:xfrm>
            <a:prstGeom prst="triangle">
              <a:avLst>
                <a:gd name="adj" fmla="val 50000"/>
              </a:avLst>
            </a:prstGeom>
            <a:solidFill>
              <a:srgbClr val="FFFFFF"/>
            </a:solidFill>
            <a:ln w="28575">
              <a:solidFill>
                <a:schemeClr val="tx1"/>
              </a:solidFill>
              <a:miter lim="800000"/>
              <a:headEnd/>
              <a:tailEnd/>
            </a:ln>
          </p:spPr>
          <p:txBody>
            <a:bodyPr wrap="none" anchor="ctr"/>
            <a:lstStyle/>
            <a:p>
              <a:endParaRPr lang="en-US" sz="1200" b="1"/>
            </a:p>
          </p:txBody>
        </p:sp>
        <p:sp>
          <p:nvSpPr>
            <p:cNvPr id="8" name="Oval 5"/>
            <p:cNvSpPr>
              <a:spLocks noChangeArrowheads="1"/>
            </p:cNvSpPr>
            <p:nvPr/>
          </p:nvSpPr>
          <p:spPr bwMode="auto">
            <a:xfrm flipH="1">
              <a:off x="2409" y="1654"/>
              <a:ext cx="62" cy="62"/>
            </a:xfrm>
            <a:prstGeom prst="ellipse">
              <a:avLst/>
            </a:prstGeom>
            <a:solidFill>
              <a:srgbClr val="FFFFFF"/>
            </a:solidFill>
            <a:ln w="19050">
              <a:solidFill>
                <a:schemeClr val="tx1"/>
              </a:solidFill>
              <a:round/>
              <a:headEnd/>
              <a:tailEnd/>
            </a:ln>
          </p:spPr>
          <p:txBody>
            <a:bodyPr wrap="none" anchor="ctr"/>
            <a:lstStyle/>
            <a:p>
              <a:endParaRPr lang="en-US" sz="1200" b="1"/>
            </a:p>
          </p:txBody>
        </p:sp>
      </p:grpSp>
      <p:sp>
        <p:nvSpPr>
          <p:cNvPr id="9" name="AutoShape 6"/>
          <p:cNvSpPr>
            <a:spLocks noChangeArrowheads="1"/>
          </p:cNvSpPr>
          <p:nvPr/>
        </p:nvSpPr>
        <p:spPr bwMode="auto">
          <a:xfrm>
            <a:off x="4634707" y="2351088"/>
            <a:ext cx="838200" cy="685800"/>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b="1"/>
          </a:p>
        </p:txBody>
      </p:sp>
      <p:sp>
        <p:nvSpPr>
          <p:cNvPr id="10" name="AutoShape 7"/>
          <p:cNvSpPr>
            <a:spLocks noChangeArrowheads="1"/>
          </p:cNvSpPr>
          <p:nvPr/>
        </p:nvSpPr>
        <p:spPr bwMode="auto">
          <a:xfrm flipH="1">
            <a:off x="6493669" y="2943225"/>
            <a:ext cx="785813" cy="708025"/>
          </a:xfrm>
          <a:prstGeom prst="moon">
            <a:avLst>
              <a:gd name="adj" fmla="val 73810"/>
            </a:avLst>
          </a:prstGeom>
          <a:solidFill>
            <a:srgbClr val="FFFFFF"/>
          </a:solidFill>
          <a:ln w="28575">
            <a:solidFill>
              <a:schemeClr val="tx1"/>
            </a:solidFill>
            <a:miter lim="800000"/>
            <a:headEnd/>
            <a:tailEnd/>
          </a:ln>
        </p:spPr>
        <p:txBody>
          <a:bodyPr wrap="none" anchor="ctr"/>
          <a:lstStyle/>
          <a:p>
            <a:endParaRPr lang="en-US" sz="1200" b="1"/>
          </a:p>
        </p:txBody>
      </p:sp>
      <p:sp>
        <p:nvSpPr>
          <p:cNvPr id="11" name="Line 8"/>
          <p:cNvSpPr>
            <a:spLocks noChangeShapeType="1"/>
          </p:cNvSpPr>
          <p:nvPr/>
        </p:nvSpPr>
        <p:spPr bwMode="auto">
          <a:xfrm flipH="1" flipV="1">
            <a:off x="1307307" y="1736725"/>
            <a:ext cx="2894012"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Text Box 9"/>
          <p:cNvSpPr txBox="1">
            <a:spLocks noChangeArrowheads="1"/>
          </p:cNvSpPr>
          <p:nvPr/>
        </p:nvSpPr>
        <p:spPr bwMode="auto">
          <a:xfrm>
            <a:off x="1058069" y="1600200"/>
            <a:ext cx="2936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a:t>
            </a:r>
          </a:p>
        </p:txBody>
      </p:sp>
      <p:sp>
        <p:nvSpPr>
          <p:cNvPr id="13" name="Freeform 10"/>
          <p:cNvSpPr>
            <a:spLocks/>
          </p:cNvSpPr>
          <p:nvPr/>
        </p:nvSpPr>
        <p:spPr bwMode="auto">
          <a:xfrm>
            <a:off x="1753394" y="1736725"/>
            <a:ext cx="498475" cy="1201738"/>
          </a:xfrm>
          <a:custGeom>
            <a:avLst/>
            <a:gdLst>
              <a:gd name="T0" fmla="*/ 0 w 320"/>
              <a:gd name="T1" fmla="*/ 0 h 435"/>
              <a:gd name="T2" fmla="*/ 0 w 320"/>
              <a:gd name="T3" fmla="*/ 2147483647 h 435"/>
              <a:gd name="T4" fmla="*/ 2147483647 w 320"/>
              <a:gd name="T5" fmla="*/ 2147483647 h 435"/>
              <a:gd name="T6" fmla="*/ 0 60000 65536"/>
              <a:gd name="T7" fmla="*/ 0 60000 65536"/>
              <a:gd name="T8" fmla="*/ 0 60000 65536"/>
              <a:gd name="T9" fmla="*/ 0 w 320"/>
              <a:gd name="T10" fmla="*/ 0 h 435"/>
              <a:gd name="T11" fmla="*/ 320 w 320"/>
              <a:gd name="T12" fmla="*/ 435 h 435"/>
            </a:gdLst>
            <a:ahLst/>
            <a:cxnLst>
              <a:cxn ang="T6">
                <a:pos x="T0" y="T1"/>
              </a:cxn>
              <a:cxn ang="T7">
                <a:pos x="T2" y="T3"/>
              </a:cxn>
              <a:cxn ang="T8">
                <a:pos x="T4" y="T5"/>
              </a:cxn>
            </a:cxnLst>
            <a:rect l="T9" t="T10" r="T11" b="T12"/>
            <a:pathLst>
              <a:path w="320" h="435">
                <a:moveTo>
                  <a:pt x="0" y="0"/>
                </a:moveTo>
                <a:lnTo>
                  <a:pt x="0" y="435"/>
                </a:lnTo>
                <a:lnTo>
                  <a:pt x="320" y="435"/>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Oval 11"/>
          <p:cNvSpPr>
            <a:spLocks noChangeArrowheads="1"/>
          </p:cNvSpPr>
          <p:nvPr/>
        </p:nvSpPr>
        <p:spPr bwMode="auto">
          <a:xfrm>
            <a:off x="1693069" y="1666875"/>
            <a:ext cx="131763" cy="131763"/>
          </a:xfrm>
          <a:prstGeom prst="ellipse">
            <a:avLst/>
          </a:prstGeom>
          <a:solidFill>
            <a:schemeClr val="tx1"/>
          </a:solidFill>
          <a:ln w="19050">
            <a:solidFill>
              <a:schemeClr val="tx1"/>
            </a:solidFill>
            <a:round/>
            <a:headEnd/>
            <a:tailEnd/>
          </a:ln>
        </p:spPr>
        <p:txBody>
          <a:bodyPr wrap="none" anchor="ctr"/>
          <a:lstStyle/>
          <a:p>
            <a:endParaRPr lang="en-US" sz="1200" b="1"/>
          </a:p>
        </p:txBody>
      </p:sp>
      <p:sp>
        <p:nvSpPr>
          <p:cNvPr id="15" name="AutoShape 12"/>
          <p:cNvSpPr>
            <a:spLocks noChangeArrowheads="1"/>
          </p:cNvSpPr>
          <p:nvPr/>
        </p:nvSpPr>
        <p:spPr bwMode="auto">
          <a:xfrm>
            <a:off x="4652169" y="3529013"/>
            <a:ext cx="838200" cy="685800"/>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b="1"/>
          </a:p>
        </p:txBody>
      </p:sp>
      <p:grpSp>
        <p:nvGrpSpPr>
          <p:cNvPr id="16" name="Group 13"/>
          <p:cNvGrpSpPr>
            <a:grpSpLocks/>
          </p:cNvGrpSpPr>
          <p:nvPr/>
        </p:nvGrpSpPr>
        <p:grpSpPr bwMode="auto">
          <a:xfrm>
            <a:off x="2267744" y="3527425"/>
            <a:ext cx="969963" cy="874713"/>
            <a:chOff x="1860" y="1413"/>
            <a:chExt cx="611" cy="551"/>
          </a:xfrm>
        </p:grpSpPr>
        <p:sp>
          <p:nvSpPr>
            <p:cNvPr id="17" name="AutoShape 14"/>
            <p:cNvSpPr>
              <a:spLocks noChangeArrowheads="1"/>
            </p:cNvSpPr>
            <p:nvPr/>
          </p:nvSpPr>
          <p:spPr bwMode="auto">
            <a:xfrm rot="5400000">
              <a:off x="1870" y="1403"/>
              <a:ext cx="551" cy="571"/>
            </a:xfrm>
            <a:prstGeom prst="triangle">
              <a:avLst>
                <a:gd name="adj" fmla="val 50000"/>
              </a:avLst>
            </a:prstGeom>
            <a:solidFill>
              <a:srgbClr val="FFFFFF"/>
            </a:solidFill>
            <a:ln w="28575">
              <a:solidFill>
                <a:schemeClr val="tx1"/>
              </a:solidFill>
              <a:miter lim="800000"/>
              <a:headEnd/>
              <a:tailEnd/>
            </a:ln>
          </p:spPr>
          <p:txBody>
            <a:bodyPr wrap="none" anchor="ctr"/>
            <a:lstStyle/>
            <a:p>
              <a:endParaRPr lang="en-US" sz="1200" b="1"/>
            </a:p>
          </p:txBody>
        </p:sp>
        <p:sp>
          <p:nvSpPr>
            <p:cNvPr id="18" name="Oval 15"/>
            <p:cNvSpPr>
              <a:spLocks noChangeArrowheads="1"/>
            </p:cNvSpPr>
            <p:nvPr/>
          </p:nvSpPr>
          <p:spPr bwMode="auto">
            <a:xfrm flipH="1">
              <a:off x="2409" y="1654"/>
              <a:ext cx="62" cy="62"/>
            </a:xfrm>
            <a:prstGeom prst="ellipse">
              <a:avLst/>
            </a:prstGeom>
            <a:solidFill>
              <a:srgbClr val="FFFFFF"/>
            </a:solidFill>
            <a:ln w="19050">
              <a:solidFill>
                <a:schemeClr val="tx1"/>
              </a:solidFill>
              <a:round/>
              <a:headEnd/>
              <a:tailEnd/>
            </a:ln>
          </p:spPr>
          <p:txBody>
            <a:bodyPr wrap="none" anchor="ctr"/>
            <a:lstStyle/>
            <a:p>
              <a:endParaRPr lang="en-US" sz="1200" b="1"/>
            </a:p>
          </p:txBody>
        </p:sp>
      </p:grpSp>
      <p:sp>
        <p:nvSpPr>
          <p:cNvPr id="19" name="Line 16"/>
          <p:cNvSpPr>
            <a:spLocks noChangeShapeType="1"/>
          </p:cNvSpPr>
          <p:nvPr/>
        </p:nvSpPr>
        <p:spPr bwMode="auto">
          <a:xfrm flipH="1" flipV="1">
            <a:off x="1334294" y="4860925"/>
            <a:ext cx="2828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Freeform 17"/>
          <p:cNvSpPr>
            <a:spLocks/>
          </p:cNvSpPr>
          <p:nvPr/>
        </p:nvSpPr>
        <p:spPr bwMode="auto">
          <a:xfrm flipV="1">
            <a:off x="1713707" y="3978275"/>
            <a:ext cx="554037" cy="901700"/>
          </a:xfrm>
          <a:custGeom>
            <a:avLst/>
            <a:gdLst>
              <a:gd name="T0" fmla="*/ 0 w 320"/>
              <a:gd name="T1" fmla="*/ 0 h 435"/>
              <a:gd name="T2" fmla="*/ 0 w 320"/>
              <a:gd name="T3" fmla="*/ 2147483647 h 435"/>
              <a:gd name="T4" fmla="*/ 2147483647 w 320"/>
              <a:gd name="T5" fmla="*/ 2147483647 h 435"/>
              <a:gd name="T6" fmla="*/ 0 60000 65536"/>
              <a:gd name="T7" fmla="*/ 0 60000 65536"/>
              <a:gd name="T8" fmla="*/ 0 60000 65536"/>
              <a:gd name="T9" fmla="*/ 0 w 320"/>
              <a:gd name="T10" fmla="*/ 0 h 435"/>
              <a:gd name="T11" fmla="*/ 320 w 320"/>
              <a:gd name="T12" fmla="*/ 435 h 435"/>
            </a:gdLst>
            <a:ahLst/>
            <a:cxnLst>
              <a:cxn ang="T6">
                <a:pos x="T0" y="T1"/>
              </a:cxn>
              <a:cxn ang="T7">
                <a:pos x="T2" y="T3"/>
              </a:cxn>
              <a:cxn ang="T8">
                <a:pos x="T4" y="T5"/>
              </a:cxn>
            </a:cxnLst>
            <a:rect l="T9" t="T10" r="T11" b="T12"/>
            <a:pathLst>
              <a:path w="320" h="435">
                <a:moveTo>
                  <a:pt x="0" y="0"/>
                </a:moveTo>
                <a:lnTo>
                  <a:pt x="0" y="435"/>
                </a:lnTo>
                <a:lnTo>
                  <a:pt x="320" y="435"/>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 name="Oval 18"/>
          <p:cNvSpPr>
            <a:spLocks noChangeArrowheads="1"/>
          </p:cNvSpPr>
          <p:nvPr/>
        </p:nvSpPr>
        <p:spPr bwMode="auto">
          <a:xfrm flipV="1">
            <a:off x="1662907" y="4797425"/>
            <a:ext cx="109537" cy="131763"/>
          </a:xfrm>
          <a:prstGeom prst="ellipse">
            <a:avLst/>
          </a:prstGeom>
          <a:solidFill>
            <a:schemeClr val="tx1"/>
          </a:solidFill>
          <a:ln w="19050">
            <a:solidFill>
              <a:schemeClr val="tx1"/>
            </a:solidFill>
            <a:round/>
            <a:headEnd/>
            <a:tailEnd/>
          </a:ln>
        </p:spPr>
        <p:txBody>
          <a:bodyPr wrap="none" anchor="ctr"/>
          <a:lstStyle/>
          <a:p>
            <a:endParaRPr lang="en-US" sz="1200" b="1"/>
          </a:p>
        </p:txBody>
      </p:sp>
      <p:sp>
        <p:nvSpPr>
          <p:cNvPr id="22" name="Text Box 20"/>
          <p:cNvSpPr txBox="1">
            <a:spLocks noChangeArrowheads="1"/>
          </p:cNvSpPr>
          <p:nvPr/>
        </p:nvSpPr>
        <p:spPr bwMode="auto">
          <a:xfrm>
            <a:off x="956469" y="4749800"/>
            <a:ext cx="2936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23" name="Freeform 23"/>
          <p:cNvSpPr>
            <a:spLocks/>
          </p:cNvSpPr>
          <p:nvPr/>
        </p:nvSpPr>
        <p:spPr bwMode="auto">
          <a:xfrm>
            <a:off x="3247232" y="2843213"/>
            <a:ext cx="1392237" cy="1119187"/>
          </a:xfrm>
          <a:custGeom>
            <a:avLst/>
            <a:gdLst>
              <a:gd name="T0" fmla="*/ 0 w 877"/>
              <a:gd name="T1" fmla="*/ 2147483647 h 1305"/>
              <a:gd name="T2" fmla="*/ 2147483647 w 877"/>
              <a:gd name="T3" fmla="*/ 2147483647 h 1305"/>
              <a:gd name="T4" fmla="*/ 2147483647 w 877"/>
              <a:gd name="T5" fmla="*/ 0 h 1305"/>
              <a:gd name="T6" fmla="*/ 2147483647 w 877"/>
              <a:gd name="T7" fmla="*/ 0 h 1305"/>
              <a:gd name="T8" fmla="*/ 0 60000 65536"/>
              <a:gd name="T9" fmla="*/ 0 60000 65536"/>
              <a:gd name="T10" fmla="*/ 0 60000 65536"/>
              <a:gd name="T11" fmla="*/ 0 60000 65536"/>
              <a:gd name="T12" fmla="*/ 0 w 877"/>
              <a:gd name="T13" fmla="*/ 0 h 1305"/>
              <a:gd name="T14" fmla="*/ 877 w 877"/>
              <a:gd name="T15" fmla="*/ 1305 h 1305"/>
            </a:gdLst>
            <a:ahLst/>
            <a:cxnLst>
              <a:cxn ang="T8">
                <a:pos x="T0" y="T1"/>
              </a:cxn>
              <a:cxn ang="T9">
                <a:pos x="T2" y="T3"/>
              </a:cxn>
              <a:cxn ang="T10">
                <a:pos x="T4" y="T5"/>
              </a:cxn>
              <a:cxn ang="T11">
                <a:pos x="T6" y="T7"/>
              </a:cxn>
            </a:cxnLst>
            <a:rect l="T12" t="T13" r="T14" b="T15"/>
            <a:pathLst>
              <a:path w="877" h="1305">
                <a:moveTo>
                  <a:pt x="0" y="1305"/>
                </a:moveTo>
                <a:lnTo>
                  <a:pt x="518" y="1305"/>
                </a:lnTo>
                <a:lnTo>
                  <a:pt x="525" y="0"/>
                </a:lnTo>
                <a:lnTo>
                  <a:pt x="877"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 name="Freeform 24"/>
          <p:cNvSpPr>
            <a:spLocks/>
          </p:cNvSpPr>
          <p:nvPr/>
        </p:nvSpPr>
        <p:spPr bwMode="auto">
          <a:xfrm>
            <a:off x="3217069" y="2938463"/>
            <a:ext cx="1406525" cy="782637"/>
          </a:xfrm>
          <a:custGeom>
            <a:avLst/>
            <a:gdLst>
              <a:gd name="T0" fmla="*/ 0 w 883"/>
              <a:gd name="T1" fmla="*/ 0 h 1254"/>
              <a:gd name="T2" fmla="*/ 2147483647 w 883"/>
              <a:gd name="T3" fmla="*/ 0 h 1254"/>
              <a:gd name="T4" fmla="*/ 2147483647 w 883"/>
              <a:gd name="T5" fmla="*/ 2147483647 h 1254"/>
              <a:gd name="T6" fmla="*/ 2147483647 w 883"/>
              <a:gd name="T7" fmla="*/ 2147483647 h 1254"/>
              <a:gd name="T8" fmla="*/ 0 60000 65536"/>
              <a:gd name="T9" fmla="*/ 0 60000 65536"/>
              <a:gd name="T10" fmla="*/ 0 60000 65536"/>
              <a:gd name="T11" fmla="*/ 0 60000 65536"/>
              <a:gd name="T12" fmla="*/ 0 w 883"/>
              <a:gd name="T13" fmla="*/ 0 h 1254"/>
              <a:gd name="T14" fmla="*/ 883 w 883"/>
              <a:gd name="T15" fmla="*/ 1254 h 1254"/>
            </a:gdLst>
            <a:ahLst/>
            <a:cxnLst>
              <a:cxn ang="T8">
                <a:pos x="T0" y="T1"/>
              </a:cxn>
              <a:cxn ang="T9">
                <a:pos x="T2" y="T3"/>
              </a:cxn>
              <a:cxn ang="T10">
                <a:pos x="T4" y="T5"/>
              </a:cxn>
              <a:cxn ang="T11">
                <a:pos x="T6" y="T7"/>
              </a:cxn>
            </a:cxnLst>
            <a:rect l="T12" t="T13" r="T14" b="T15"/>
            <a:pathLst>
              <a:path w="883" h="1254">
                <a:moveTo>
                  <a:pt x="0" y="0"/>
                </a:moveTo>
                <a:lnTo>
                  <a:pt x="281" y="0"/>
                </a:lnTo>
                <a:lnTo>
                  <a:pt x="288" y="1254"/>
                </a:lnTo>
                <a:lnTo>
                  <a:pt x="883" y="124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 name="Text Box 25"/>
          <p:cNvSpPr txBox="1">
            <a:spLocks noChangeArrowheads="1"/>
          </p:cNvSpPr>
          <p:nvPr/>
        </p:nvSpPr>
        <p:spPr bwMode="auto">
          <a:xfrm>
            <a:off x="4276725" y="3444876"/>
            <a:ext cx="2952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a:t>
            </a:r>
          </a:p>
        </p:txBody>
      </p:sp>
      <p:sp>
        <p:nvSpPr>
          <p:cNvPr id="26" name="Line 26"/>
          <p:cNvSpPr>
            <a:spLocks noChangeShapeType="1"/>
          </p:cNvSpPr>
          <p:nvPr/>
        </p:nvSpPr>
        <p:spPr bwMode="auto">
          <a:xfrm>
            <a:off x="4344988" y="3481388"/>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Text Box 27"/>
          <p:cNvSpPr txBox="1">
            <a:spLocks noChangeArrowheads="1"/>
          </p:cNvSpPr>
          <p:nvPr/>
        </p:nvSpPr>
        <p:spPr bwMode="auto">
          <a:xfrm>
            <a:off x="4315619" y="2898775"/>
            <a:ext cx="2952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dirty="0"/>
              <a:t>B</a:t>
            </a:r>
          </a:p>
        </p:txBody>
      </p:sp>
      <p:sp>
        <p:nvSpPr>
          <p:cNvPr id="28" name="Line 28"/>
          <p:cNvSpPr>
            <a:spLocks noChangeShapeType="1"/>
          </p:cNvSpPr>
          <p:nvPr/>
        </p:nvSpPr>
        <p:spPr bwMode="auto">
          <a:xfrm>
            <a:off x="4382294" y="2935288"/>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Text Box 29"/>
          <p:cNvSpPr txBox="1">
            <a:spLocks noChangeArrowheads="1"/>
          </p:cNvSpPr>
          <p:nvPr/>
        </p:nvSpPr>
        <p:spPr bwMode="auto">
          <a:xfrm>
            <a:off x="4266407" y="2133600"/>
            <a:ext cx="2952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a:t>
            </a:r>
          </a:p>
        </p:txBody>
      </p:sp>
      <p:sp>
        <p:nvSpPr>
          <p:cNvPr id="30" name="Text Box 30"/>
          <p:cNvSpPr txBox="1">
            <a:spLocks noChangeArrowheads="1"/>
          </p:cNvSpPr>
          <p:nvPr/>
        </p:nvSpPr>
        <p:spPr bwMode="auto">
          <a:xfrm>
            <a:off x="4267994" y="4097338"/>
            <a:ext cx="2952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31" name="Freeform 31"/>
          <p:cNvSpPr>
            <a:spLocks/>
          </p:cNvSpPr>
          <p:nvPr/>
        </p:nvSpPr>
        <p:spPr bwMode="auto">
          <a:xfrm>
            <a:off x="5471319" y="3473450"/>
            <a:ext cx="1179513" cy="393700"/>
          </a:xfrm>
          <a:custGeom>
            <a:avLst/>
            <a:gdLst>
              <a:gd name="T0" fmla="*/ 0 w 743"/>
              <a:gd name="T1" fmla="*/ 2147483647 h 781"/>
              <a:gd name="T2" fmla="*/ 2147483647 w 743"/>
              <a:gd name="T3" fmla="*/ 2147483647 h 781"/>
              <a:gd name="T4" fmla="*/ 2147483647 w 743"/>
              <a:gd name="T5" fmla="*/ 0 h 781"/>
              <a:gd name="T6" fmla="*/ 2147483647 w 743"/>
              <a:gd name="T7" fmla="*/ 0 h 781"/>
              <a:gd name="T8" fmla="*/ 0 60000 65536"/>
              <a:gd name="T9" fmla="*/ 0 60000 65536"/>
              <a:gd name="T10" fmla="*/ 0 60000 65536"/>
              <a:gd name="T11" fmla="*/ 0 60000 65536"/>
              <a:gd name="T12" fmla="*/ 0 w 743"/>
              <a:gd name="T13" fmla="*/ 0 h 781"/>
              <a:gd name="T14" fmla="*/ 743 w 743"/>
              <a:gd name="T15" fmla="*/ 781 h 781"/>
            </a:gdLst>
            <a:ahLst/>
            <a:cxnLst>
              <a:cxn ang="T8">
                <a:pos x="T0" y="T1"/>
              </a:cxn>
              <a:cxn ang="T9">
                <a:pos x="T2" y="T3"/>
              </a:cxn>
              <a:cxn ang="T10">
                <a:pos x="T4" y="T5"/>
              </a:cxn>
              <a:cxn ang="T11">
                <a:pos x="T6" y="T7"/>
              </a:cxn>
            </a:cxnLst>
            <a:rect l="T12" t="T13" r="T14" b="T15"/>
            <a:pathLst>
              <a:path w="743" h="781">
                <a:moveTo>
                  <a:pt x="0" y="781"/>
                </a:moveTo>
                <a:lnTo>
                  <a:pt x="404" y="781"/>
                </a:lnTo>
                <a:lnTo>
                  <a:pt x="404" y="0"/>
                </a:lnTo>
                <a:lnTo>
                  <a:pt x="743"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 name="Freeform 32"/>
          <p:cNvSpPr>
            <a:spLocks/>
          </p:cNvSpPr>
          <p:nvPr/>
        </p:nvSpPr>
        <p:spPr bwMode="auto">
          <a:xfrm flipV="1">
            <a:off x="5482432" y="2692400"/>
            <a:ext cx="1179512" cy="446088"/>
          </a:xfrm>
          <a:custGeom>
            <a:avLst/>
            <a:gdLst>
              <a:gd name="T0" fmla="*/ 0 w 743"/>
              <a:gd name="T1" fmla="*/ 2147483647 h 781"/>
              <a:gd name="T2" fmla="*/ 2147483647 w 743"/>
              <a:gd name="T3" fmla="*/ 2147483647 h 781"/>
              <a:gd name="T4" fmla="*/ 2147483647 w 743"/>
              <a:gd name="T5" fmla="*/ 0 h 781"/>
              <a:gd name="T6" fmla="*/ 2147483647 w 743"/>
              <a:gd name="T7" fmla="*/ 0 h 781"/>
              <a:gd name="T8" fmla="*/ 0 60000 65536"/>
              <a:gd name="T9" fmla="*/ 0 60000 65536"/>
              <a:gd name="T10" fmla="*/ 0 60000 65536"/>
              <a:gd name="T11" fmla="*/ 0 60000 65536"/>
              <a:gd name="T12" fmla="*/ 0 w 743"/>
              <a:gd name="T13" fmla="*/ 0 h 781"/>
              <a:gd name="T14" fmla="*/ 743 w 743"/>
              <a:gd name="T15" fmla="*/ 781 h 781"/>
            </a:gdLst>
            <a:ahLst/>
            <a:cxnLst>
              <a:cxn ang="T8">
                <a:pos x="T0" y="T1"/>
              </a:cxn>
              <a:cxn ang="T9">
                <a:pos x="T2" y="T3"/>
              </a:cxn>
              <a:cxn ang="T10">
                <a:pos x="T4" y="T5"/>
              </a:cxn>
              <a:cxn ang="T11">
                <a:pos x="T6" y="T7"/>
              </a:cxn>
            </a:cxnLst>
            <a:rect l="T12" t="T13" r="T14" b="T15"/>
            <a:pathLst>
              <a:path w="743" h="781">
                <a:moveTo>
                  <a:pt x="0" y="781"/>
                </a:moveTo>
                <a:lnTo>
                  <a:pt x="404" y="781"/>
                </a:lnTo>
                <a:lnTo>
                  <a:pt x="404" y="0"/>
                </a:lnTo>
                <a:lnTo>
                  <a:pt x="743"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 name="Text Box 33"/>
          <p:cNvSpPr txBox="1">
            <a:spLocks noChangeArrowheads="1"/>
          </p:cNvSpPr>
          <p:nvPr/>
        </p:nvSpPr>
        <p:spPr bwMode="auto">
          <a:xfrm>
            <a:off x="5525294" y="2360613"/>
            <a:ext cx="35401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a:t>
            </a:r>
          </a:p>
        </p:txBody>
      </p:sp>
      <p:sp>
        <p:nvSpPr>
          <p:cNvPr id="34" name="Text Box 34"/>
          <p:cNvSpPr txBox="1">
            <a:spLocks noChangeArrowheads="1"/>
          </p:cNvSpPr>
          <p:nvPr/>
        </p:nvSpPr>
        <p:spPr bwMode="auto">
          <a:xfrm>
            <a:off x="5747544" y="2363788"/>
            <a:ext cx="2952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dirty="0"/>
              <a:t>B</a:t>
            </a:r>
          </a:p>
        </p:txBody>
      </p:sp>
      <p:sp>
        <p:nvSpPr>
          <p:cNvPr id="35" name="Line 35"/>
          <p:cNvSpPr>
            <a:spLocks noChangeShapeType="1"/>
          </p:cNvSpPr>
          <p:nvPr/>
        </p:nvSpPr>
        <p:spPr bwMode="auto">
          <a:xfrm>
            <a:off x="5814219" y="2411413"/>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Text Box 36"/>
          <p:cNvSpPr txBox="1">
            <a:spLocks noChangeArrowheads="1"/>
          </p:cNvSpPr>
          <p:nvPr/>
        </p:nvSpPr>
        <p:spPr bwMode="auto">
          <a:xfrm>
            <a:off x="5520532" y="3957638"/>
            <a:ext cx="39211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 *</a:t>
            </a:r>
          </a:p>
        </p:txBody>
      </p:sp>
      <p:sp>
        <p:nvSpPr>
          <p:cNvPr id="37" name="Line 37"/>
          <p:cNvSpPr>
            <a:spLocks noChangeShapeType="1"/>
          </p:cNvSpPr>
          <p:nvPr/>
        </p:nvSpPr>
        <p:spPr bwMode="auto">
          <a:xfrm>
            <a:off x="5574507" y="3994150"/>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Text Box 38"/>
          <p:cNvSpPr txBox="1">
            <a:spLocks noChangeArrowheads="1"/>
          </p:cNvSpPr>
          <p:nvPr/>
        </p:nvSpPr>
        <p:spPr bwMode="auto">
          <a:xfrm>
            <a:off x="5812632" y="3948113"/>
            <a:ext cx="2952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39" name="Line 39"/>
          <p:cNvSpPr>
            <a:spLocks noChangeShapeType="1"/>
          </p:cNvSpPr>
          <p:nvPr/>
        </p:nvSpPr>
        <p:spPr bwMode="auto">
          <a:xfrm>
            <a:off x="7281069" y="3290888"/>
            <a:ext cx="6191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Text Box 40"/>
          <p:cNvSpPr txBox="1">
            <a:spLocks noChangeArrowheads="1"/>
          </p:cNvSpPr>
          <p:nvPr/>
        </p:nvSpPr>
        <p:spPr bwMode="auto">
          <a:xfrm>
            <a:off x="7848600" y="3113088"/>
            <a:ext cx="2936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C</a:t>
            </a:r>
          </a:p>
        </p:txBody>
      </p:sp>
      <p:sp>
        <p:nvSpPr>
          <p:cNvPr id="41" name="Text Box 41"/>
          <p:cNvSpPr txBox="1">
            <a:spLocks noChangeArrowheads="1"/>
          </p:cNvSpPr>
          <p:nvPr/>
        </p:nvSpPr>
        <p:spPr bwMode="auto">
          <a:xfrm>
            <a:off x="4873625" y="5353050"/>
            <a:ext cx="4730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C = </a:t>
            </a:r>
          </a:p>
        </p:txBody>
      </p:sp>
      <p:sp>
        <p:nvSpPr>
          <p:cNvPr id="42" name="Text Box 42"/>
          <p:cNvSpPr txBox="1">
            <a:spLocks noChangeArrowheads="1"/>
          </p:cNvSpPr>
          <p:nvPr/>
        </p:nvSpPr>
        <p:spPr bwMode="auto">
          <a:xfrm>
            <a:off x="5265738" y="5353050"/>
            <a:ext cx="3937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 *</a:t>
            </a:r>
          </a:p>
        </p:txBody>
      </p:sp>
      <p:sp>
        <p:nvSpPr>
          <p:cNvPr id="43" name="Text Box 43"/>
          <p:cNvSpPr txBox="1">
            <a:spLocks noChangeArrowheads="1"/>
          </p:cNvSpPr>
          <p:nvPr/>
        </p:nvSpPr>
        <p:spPr bwMode="auto">
          <a:xfrm>
            <a:off x="5484813" y="5351462"/>
            <a:ext cx="339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 B</a:t>
            </a:r>
          </a:p>
        </p:txBody>
      </p:sp>
      <p:sp>
        <p:nvSpPr>
          <p:cNvPr id="44" name="Line 44"/>
          <p:cNvSpPr>
            <a:spLocks noChangeShapeType="1"/>
          </p:cNvSpPr>
          <p:nvPr/>
        </p:nvSpPr>
        <p:spPr bwMode="auto">
          <a:xfrm>
            <a:off x="5602288" y="5386387"/>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Text Box 45"/>
          <p:cNvSpPr txBox="1">
            <a:spLocks noChangeArrowheads="1"/>
          </p:cNvSpPr>
          <p:nvPr/>
        </p:nvSpPr>
        <p:spPr bwMode="auto">
          <a:xfrm>
            <a:off x="5802313" y="5362575"/>
            <a:ext cx="2746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t>
            </a:r>
          </a:p>
        </p:txBody>
      </p:sp>
      <p:sp>
        <p:nvSpPr>
          <p:cNvPr id="46" name="Text Box 46"/>
          <p:cNvSpPr txBox="1">
            <a:spLocks noChangeArrowheads="1"/>
          </p:cNvSpPr>
          <p:nvPr/>
        </p:nvSpPr>
        <p:spPr bwMode="auto">
          <a:xfrm>
            <a:off x="6118225" y="5353050"/>
            <a:ext cx="3937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 *</a:t>
            </a:r>
          </a:p>
        </p:txBody>
      </p:sp>
      <p:sp>
        <p:nvSpPr>
          <p:cNvPr id="47" name="Line 47"/>
          <p:cNvSpPr>
            <a:spLocks noChangeShapeType="1"/>
          </p:cNvSpPr>
          <p:nvPr/>
        </p:nvSpPr>
        <p:spPr bwMode="auto">
          <a:xfrm>
            <a:off x="6184900" y="5400675"/>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Text Box 48"/>
          <p:cNvSpPr txBox="1">
            <a:spLocks noChangeArrowheads="1"/>
          </p:cNvSpPr>
          <p:nvPr/>
        </p:nvSpPr>
        <p:spPr bwMode="auto">
          <a:xfrm>
            <a:off x="6411913" y="5343525"/>
            <a:ext cx="2936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60" name="Oval 71"/>
          <p:cNvSpPr>
            <a:spLocks noChangeArrowheads="1"/>
          </p:cNvSpPr>
          <p:nvPr/>
        </p:nvSpPr>
        <p:spPr bwMode="auto">
          <a:xfrm>
            <a:off x="5396707" y="5698807"/>
            <a:ext cx="193675" cy="214312"/>
          </a:xfrm>
          <a:prstGeom prst="ellipse">
            <a:avLst/>
          </a:prstGeom>
          <a:solidFill>
            <a:srgbClr val="FFFFFF"/>
          </a:solidFill>
          <a:ln w="19050">
            <a:solidFill>
              <a:schemeClr val="tx1"/>
            </a:solidFill>
            <a:round/>
            <a:headEnd/>
            <a:tailEnd/>
          </a:ln>
        </p:spPr>
        <p:txBody>
          <a:bodyPr wrap="none" anchor="ctr"/>
          <a:lstStyle/>
          <a:p>
            <a:endParaRPr lang="en-US" sz="1200" b="1"/>
          </a:p>
        </p:txBody>
      </p:sp>
      <p:sp>
        <p:nvSpPr>
          <p:cNvPr id="61" name="Text Box 72"/>
          <p:cNvSpPr txBox="1">
            <a:spLocks noChangeArrowheads="1"/>
          </p:cNvSpPr>
          <p:nvPr/>
        </p:nvSpPr>
        <p:spPr bwMode="auto">
          <a:xfrm>
            <a:off x="4894263" y="5663882"/>
            <a:ext cx="9445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dirty="0"/>
              <a:t>C = A  +  B</a:t>
            </a:r>
          </a:p>
        </p:txBody>
      </p:sp>
      <p:sp>
        <p:nvSpPr>
          <p:cNvPr id="62" name="Freeform 23"/>
          <p:cNvSpPr>
            <a:spLocks/>
          </p:cNvSpPr>
          <p:nvPr/>
        </p:nvSpPr>
        <p:spPr bwMode="auto">
          <a:xfrm>
            <a:off x="3550444" y="4030663"/>
            <a:ext cx="1087438" cy="835025"/>
          </a:xfrm>
          <a:custGeom>
            <a:avLst/>
            <a:gdLst>
              <a:gd name="T0" fmla="*/ 0 w 877"/>
              <a:gd name="T1" fmla="*/ 2147483647 h 1305"/>
              <a:gd name="T2" fmla="*/ 2147483647 w 877"/>
              <a:gd name="T3" fmla="*/ 2147483647 h 1305"/>
              <a:gd name="T4" fmla="*/ 2147483647 w 877"/>
              <a:gd name="T5" fmla="*/ 0 h 1305"/>
              <a:gd name="T6" fmla="*/ 2147483647 w 877"/>
              <a:gd name="T7" fmla="*/ 0 h 1305"/>
              <a:gd name="T8" fmla="*/ 0 60000 65536"/>
              <a:gd name="T9" fmla="*/ 0 60000 65536"/>
              <a:gd name="T10" fmla="*/ 0 60000 65536"/>
              <a:gd name="T11" fmla="*/ 0 60000 65536"/>
              <a:gd name="T12" fmla="*/ 0 w 877"/>
              <a:gd name="T13" fmla="*/ 0 h 1305"/>
              <a:gd name="T14" fmla="*/ 877 w 877"/>
              <a:gd name="T15" fmla="*/ 1305 h 1305"/>
            </a:gdLst>
            <a:ahLst/>
            <a:cxnLst>
              <a:cxn ang="T8">
                <a:pos x="T0" y="T1"/>
              </a:cxn>
              <a:cxn ang="T9">
                <a:pos x="T2" y="T3"/>
              </a:cxn>
              <a:cxn ang="T10">
                <a:pos x="T4" y="T5"/>
              </a:cxn>
              <a:cxn ang="T11">
                <a:pos x="T6" y="T7"/>
              </a:cxn>
            </a:cxnLst>
            <a:rect l="T12" t="T13" r="T14" b="T15"/>
            <a:pathLst>
              <a:path w="877" h="1305">
                <a:moveTo>
                  <a:pt x="0" y="1305"/>
                </a:moveTo>
                <a:lnTo>
                  <a:pt x="518" y="1305"/>
                </a:lnTo>
                <a:lnTo>
                  <a:pt x="525" y="0"/>
                </a:lnTo>
                <a:lnTo>
                  <a:pt x="877"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 name="Freeform 23"/>
          <p:cNvSpPr>
            <a:spLocks/>
          </p:cNvSpPr>
          <p:nvPr/>
        </p:nvSpPr>
        <p:spPr bwMode="auto">
          <a:xfrm flipV="1">
            <a:off x="3561557" y="1739900"/>
            <a:ext cx="1077912" cy="723900"/>
          </a:xfrm>
          <a:custGeom>
            <a:avLst/>
            <a:gdLst>
              <a:gd name="T0" fmla="*/ 0 w 877"/>
              <a:gd name="T1" fmla="*/ 2147483647 h 1305"/>
              <a:gd name="T2" fmla="*/ 2147483647 w 877"/>
              <a:gd name="T3" fmla="*/ 2147483647 h 1305"/>
              <a:gd name="T4" fmla="*/ 2147483647 w 877"/>
              <a:gd name="T5" fmla="*/ 0 h 1305"/>
              <a:gd name="T6" fmla="*/ 2147483647 w 877"/>
              <a:gd name="T7" fmla="*/ 0 h 1305"/>
              <a:gd name="T8" fmla="*/ 0 60000 65536"/>
              <a:gd name="T9" fmla="*/ 0 60000 65536"/>
              <a:gd name="T10" fmla="*/ 0 60000 65536"/>
              <a:gd name="T11" fmla="*/ 0 60000 65536"/>
              <a:gd name="T12" fmla="*/ 0 w 877"/>
              <a:gd name="T13" fmla="*/ 0 h 1305"/>
              <a:gd name="T14" fmla="*/ 877 w 877"/>
              <a:gd name="T15" fmla="*/ 1305 h 1305"/>
            </a:gdLst>
            <a:ahLst/>
            <a:cxnLst>
              <a:cxn ang="T8">
                <a:pos x="T0" y="T1"/>
              </a:cxn>
              <a:cxn ang="T9">
                <a:pos x="T2" y="T3"/>
              </a:cxn>
              <a:cxn ang="T10">
                <a:pos x="T4" y="T5"/>
              </a:cxn>
              <a:cxn ang="T11">
                <a:pos x="T6" y="T7"/>
              </a:cxn>
            </a:cxnLst>
            <a:rect l="T12" t="T13" r="T14" b="T15"/>
            <a:pathLst>
              <a:path w="877" h="1305">
                <a:moveTo>
                  <a:pt x="0" y="1305"/>
                </a:moveTo>
                <a:lnTo>
                  <a:pt x="518" y="1305"/>
                </a:lnTo>
                <a:lnTo>
                  <a:pt x="525" y="0"/>
                </a:lnTo>
                <a:lnTo>
                  <a:pt x="877"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 name="TextBox 2"/>
          <p:cNvSpPr txBox="1"/>
          <p:nvPr/>
        </p:nvSpPr>
        <p:spPr>
          <a:xfrm>
            <a:off x="2514600" y="6629400"/>
            <a:ext cx="2932699" cy="215444"/>
          </a:xfrm>
          <a:prstGeom prst="rect">
            <a:avLst/>
          </a:prstGeom>
          <a:noFill/>
        </p:spPr>
        <p:txBody>
          <a:bodyPr wrap="square" rtlCol="0">
            <a:spAutoFit/>
          </a:bodyPr>
          <a:lstStyle/>
          <a:p>
            <a:r>
              <a:rPr lang="en-US" sz="800" dirty="0" smtClean="0"/>
              <a:t>(Source: Arnie Berger’s Slides on Digital Logic)</a:t>
            </a:r>
            <a:endParaRPr lang="en-US" sz="800" dirty="0"/>
          </a:p>
        </p:txBody>
      </p:sp>
      <p:graphicFrame>
        <p:nvGraphicFramePr>
          <p:cNvPr id="54" name="Table 53"/>
          <p:cNvGraphicFramePr>
            <a:graphicFrameLocks noGrp="1"/>
          </p:cNvGraphicFramePr>
          <p:nvPr>
            <p:extLst>
              <p:ext uri="{D42A27DB-BD31-4B8C-83A1-F6EECF244321}">
                <p14:modId xmlns:p14="http://schemas.microsoft.com/office/powerpoint/2010/main" val="540769327"/>
              </p:ext>
            </p:extLst>
          </p:nvPr>
        </p:nvGraphicFramePr>
        <p:xfrm>
          <a:off x="6858000" y="4495800"/>
          <a:ext cx="2057400" cy="1828800"/>
        </p:xfrm>
        <a:graphic>
          <a:graphicData uri="http://schemas.openxmlformats.org/drawingml/2006/table">
            <a:tbl>
              <a:tblPr firstRow="1" bandRow="1">
                <a:tableStyleId>{5C22544A-7EE6-4342-B048-85BDC9FD1C3A}</a:tableStyleId>
              </a:tblPr>
              <a:tblGrid>
                <a:gridCol w="685800"/>
                <a:gridCol w="685800"/>
                <a:gridCol w="685800"/>
              </a:tblGrid>
              <a:tr h="320040">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r>
              <a:tr h="3200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200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200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200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bl>
          </a:graphicData>
        </a:graphic>
      </p:graphicFrame>
      <p:sp>
        <p:nvSpPr>
          <p:cNvPr id="53" name="Text Box 25"/>
          <p:cNvSpPr txBox="1">
            <a:spLocks noChangeArrowheads="1"/>
          </p:cNvSpPr>
          <p:nvPr/>
        </p:nvSpPr>
        <p:spPr bwMode="auto">
          <a:xfrm>
            <a:off x="3276600" y="2606676"/>
            <a:ext cx="2952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a:t>
            </a:r>
          </a:p>
        </p:txBody>
      </p:sp>
      <p:sp>
        <p:nvSpPr>
          <p:cNvPr id="55" name="Line 26"/>
          <p:cNvSpPr>
            <a:spLocks noChangeShapeType="1"/>
          </p:cNvSpPr>
          <p:nvPr/>
        </p:nvSpPr>
        <p:spPr bwMode="auto">
          <a:xfrm>
            <a:off x="3344863" y="2643188"/>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 name="Text Box 27"/>
          <p:cNvSpPr txBox="1">
            <a:spLocks noChangeArrowheads="1"/>
          </p:cNvSpPr>
          <p:nvPr/>
        </p:nvSpPr>
        <p:spPr bwMode="auto">
          <a:xfrm>
            <a:off x="3276600" y="3673475"/>
            <a:ext cx="2952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dirty="0"/>
              <a:t>B</a:t>
            </a:r>
          </a:p>
        </p:txBody>
      </p:sp>
      <p:sp>
        <p:nvSpPr>
          <p:cNvPr id="59" name="Line 28"/>
          <p:cNvSpPr>
            <a:spLocks noChangeShapeType="1"/>
          </p:cNvSpPr>
          <p:nvPr/>
        </p:nvSpPr>
        <p:spPr bwMode="auto">
          <a:xfrm>
            <a:off x="3343275" y="3709988"/>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TextBox 1"/>
          <p:cNvSpPr txBox="1"/>
          <p:nvPr/>
        </p:nvSpPr>
        <p:spPr>
          <a:xfrm>
            <a:off x="7162800" y="2579688"/>
            <a:ext cx="1295400" cy="369332"/>
          </a:xfrm>
          <a:prstGeom prst="rect">
            <a:avLst/>
          </a:prstGeom>
          <a:noFill/>
        </p:spPr>
        <p:txBody>
          <a:bodyPr wrap="square" rtlCol="0">
            <a:spAutoFit/>
          </a:bodyPr>
          <a:lstStyle/>
          <a:p>
            <a:r>
              <a:rPr lang="en-US" dirty="0" smtClean="0"/>
              <a:t>C= A XOR B</a:t>
            </a:r>
            <a:endParaRPr lang="en-US" dirty="0"/>
          </a:p>
        </p:txBody>
      </p:sp>
      <p:sp>
        <p:nvSpPr>
          <p:cNvPr id="4" name="TextBox 3"/>
          <p:cNvSpPr txBox="1"/>
          <p:nvPr/>
        </p:nvSpPr>
        <p:spPr>
          <a:xfrm>
            <a:off x="220980" y="6172215"/>
            <a:ext cx="1844040" cy="36483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smtClean="0"/>
              <a:t>On Building XOR</a:t>
            </a:r>
            <a:endParaRPr lang="en-US" b="1" dirty="0"/>
          </a:p>
        </p:txBody>
      </p:sp>
      <p:sp>
        <p:nvSpPr>
          <p:cNvPr id="65" name="TextBox 64"/>
          <p:cNvSpPr txBox="1"/>
          <p:nvPr/>
        </p:nvSpPr>
        <p:spPr>
          <a:xfrm>
            <a:off x="2549236" y="5181600"/>
            <a:ext cx="1870364" cy="646331"/>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en-US" dirty="0" smtClean="0"/>
              <a:t>Build Once, Then Black Box OK</a:t>
            </a:r>
            <a:endParaRPr lang="en-US" dirty="0"/>
          </a:p>
        </p:txBody>
      </p:sp>
      <p:cxnSp>
        <p:nvCxnSpPr>
          <p:cNvPr id="67" name="Straight Connector 66"/>
          <p:cNvCxnSpPr/>
          <p:nvPr/>
        </p:nvCxnSpPr>
        <p:spPr>
          <a:xfrm>
            <a:off x="2438400" y="6019799"/>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a:off x="2438400" y="6476999"/>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a:xfrm>
            <a:off x="4038600" y="6248399"/>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70" name="Block Arc 69"/>
          <p:cNvSpPr/>
          <p:nvPr/>
        </p:nvSpPr>
        <p:spPr>
          <a:xfrm rot="5400000">
            <a:off x="3048000" y="6172199"/>
            <a:ext cx="609600" cy="152400"/>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1" name="TextBox 70"/>
          <p:cNvSpPr txBox="1"/>
          <p:nvPr/>
        </p:nvSpPr>
        <p:spPr>
          <a:xfrm>
            <a:off x="4675909" y="914400"/>
            <a:ext cx="360218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err="1" smtClean="0"/>
              <a:t>XOR_Function</a:t>
            </a:r>
            <a:r>
              <a:rPr lang="en-US" dirty="0" smtClean="0"/>
              <a:t>(A,B) = A*~B + ~A*B</a:t>
            </a:r>
          </a:p>
        </p:txBody>
      </p:sp>
      <p:sp>
        <p:nvSpPr>
          <p:cNvPr id="5" name="Curved Left Arrow 4"/>
          <p:cNvSpPr/>
          <p:nvPr/>
        </p:nvSpPr>
        <p:spPr>
          <a:xfrm rot="8655737">
            <a:off x="1792799" y="4942724"/>
            <a:ext cx="688207" cy="858753"/>
          </a:xfrm>
          <a:prstGeom prst="curved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2" name="Curved Left Arrow 71"/>
          <p:cNvSpPr/>
          <p:nvPr/>
        </p:nvSpPr>
        <p:spPr>
          <a:xfrm rot="18751794">
            <a:off x="4242269" y="5326988"/>
            <a:ext cx="518386" cy="780687"/>
          </a:xfrm>
          <a:prstGeom prst="curved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66" name="Stored Data 65"/>
          <p:cNvSpPr/>
          <p:nvPr/>
        </p:nvSpPr>
        <p:spPr>
          <a:xfrm rot="10800000">
            <a:off x="3429000" y="5943599"/>
            <a:ext cx="9144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spTree>
    <p:extLst>
      <p:ext uri="{BB962C8B-B14F-4D97-AF65-F5344CB8AC3E}">
        <p14:creationId xmlns:p14="http://schemas.microsoft.com/office/powerpoint/2010/main" val="3276907975"/>
      </p:ext>
    </p:extLst>
  </p:cSld>
  <p:clrMapOvr>
    <a:masterClrMapping/>
  </p:clrMapOvr>
  <p:transition xmlns:p14="http://schemas.microsoft.com/office/powerpoint/2010/main" spd="slow"/>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ipe(down)">
                                      <p:cBhvr>
                                        <p:cTn id="7" dur="500"/>
                                        <p:tgtEl>
                                          <p:spTgt spid="6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6"/>
                                        </p:tgtEl>
                                        <p:attrNameLst>
                                          <p:attrName>style.visibility</p:attrName>
                                        </p:attrNameLst>
                                      </p:cBhvr>
                                      <p:to>
                                        <p:strVal val="visible"/>
                                      </p:to>
                                    </p:set>
                                    <p:animEffect transition="in" filter="wipe(down)">
                                      <p:cBhvr>
                                        <p:cTn id="10" dur="500"/>
                                        <p:tgtEl>
                                          <p:spTgt spid="66"/>
                                        </p:tgtEl>
                                      </p:cBhvr>
                                    </p:animEffect>
                                  </p:childTnLst>
                                </p:cTn>
                              </p:par>
                              <p:par>
                                <p:cTn id="11" presetID="22" presetClass="entr" presetSubtype="4" fill="hold" nodeType="withEffect">
                                  <p:stCondLst>
                                    <p:cond delay="0"/>
                                  </p:stCondLst>
                                  <p:childTnLst>
                                    <p:set>
                                      <p:cBhvr>
                                        <p:cTn id="12" dur="1" fill="hold">
                                          <p:stCondLst>
                                            <p:cond delay="0"/>
                                          </p:stCondLst>
                                        </p:cTn>
                                        <p:tgtEl>
                                          <p:spTgt spid="67"/>
                                        </p:tgtEl>
                                        <p:attrNameLst>
                                          <p:attrName>style.visibility</p:attrName>
                                        </p:attrNameLst>
                                      </p:cBhvr>
                                      <p:to>
                                        <p:strVal val="visible"/>
                                      </p:to>
                                    </p:set>
                                    <p:animEffect transition="in" filter="wipe(down)">
                                      <p:cBhvr>
                                        <p:cTn id="13" dur="500"/>
                                        <p:tgtEl>
                                          <p:spTgt spid="67"/>
                                        </p:tgtEl>
                                      </p:cBhvr>
                                    </p:animEffect>
                                  </p:childTnLst>
                                </p:cTn>
                              </p:par>
                              <p:par>
                                <p:cTn id="14" presetID="22" presetClass="entr" presetSubtype="4" fill="hold" nodeType="with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wipe(down)">
                                      <p:cBhvr>
                                        <p:cTn id="16" dur="500"/>
                                        <p:tgtEl>
                                          <p:spTgt spid="68"/>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70"/>
                                        </p:tgtEl>
                                        <p:attrNameLst>
                                          <p:attrName>style.visibility</p:attrName>
                                        </p:attrNameLst>
                                      </p:cBhvr>
                                      <p:to>
                                        <p:strVal val="visible"/>
                                      </p:to>
                                    </p:set>
                                    <p:animEffect transition="in" filter="wipe(down)">
                                      <p:cBhvr>
                                        <p:cTn id="19" dur="500"/>
                                        <p:tgtEl>
                                          <p:spTgt spid="7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animEffect transition="in" filter="wipe(down)">
                                      <p:cBhvr>
                                        <p:cTn id="25" dur="500"/>
                                        <p:tgtEl>
                                          <p:spTgt spid="72"/>
                                        </p:tgtEl>
                                      </p:cBhvr>
                                    </p:animEffect>
                                  </p:childTnLst>
                                </p:cTn>
                              </p:par>
                              <p:par>
                                <p:cTn id="26" presetID="22" presetClass="entr" presetSubtype="4" fill="hold" nodeType="withEffect">
                                  <p:stCondLst>
                                    <p:cond delay="0"/>
                                  </p:stCondLst>
                                  <p:childTnLst>
                                    <p:set>
                                      <p:cBhvr>
                                        <p:cTn id="27" dur="1" fill="hold">
                                          <p:stCondLst>
                                            <p:cond delay="0"/>
                                          </p:stCondLst>
                                        </p:cTn>
                                        <p:tgtEl>
                                          <p:spTgt spid="69"/>
                                        </p:tgtEl>
                                        <p:attrNameLst>
                                          <p:attrName>style.visibility</p:attrName>
                                        </p:attrNameLst>
                                      </p:cBhvr>
                                      <p:to>
                                        <p:strVal val="visible"/>
                                      </p:to>
                                    </p:set>
                                    <p:animEffect transition="in" filter="wipe(down)">
                                      <p:cBhvr>
                                        <p:cTn id="28"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70" grpId="0" animBg="1"/>
      <p:bldP spid="5" grpId="0" animBg="1"/>
      <p:bldP spid="72" grpId="0" animBg="1"/>
      <p:bldP spid="6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XNOR Gate</a:t>
            </a:r>
            <a:endParaRPr lang="en-US" dirty="0"/>
          </a:p>
        </p:txBody>
      </p:sp>
      <p:sp>
        <p:nvSpPr>
          <p:cNvPr id="3" name="Content Placeholder 2"/>
          <p:cNvSpPr>
            <a:spLocks noGrp="1"/>
          </p:cNvSpPr>
          <p:nvPr>
            <p:ph idx="1"/>
          </p:nvPr>
        </p:nvSpPr>
        <p:spPr/>
        <p:txBody>
          <a:bodyPr>
            <a:normAutofit/>
          </a:bodyPr>
          <a:lstStyle/>
          <a:p>
            <a:r>
              <a:rPr lang="en-US" b="1" dirty="0" smtClean="0">
                <a:solidFill>
                  <a:srgbClr val="3366FF"/>
                </a:solidFill>
              </a:rPr>
              <a:t>Design Choice</a:t>
            </a:r>
            <a:r>
              <a:rPr lang="en-US" dirty="0" smtClean="0"/>
              <a:t> here! </a:t>
            </a:r>
            <a:r>
              <a:rPr lang="en-US" b="1" dirty="0" smtClean="0">
                <a:solidFill>
                  <a:srgbClr val="3366FF"/>
                </a:solidFill>
              </a:rPr>
              <a:t>Reuse</a:t>
            </a:r>
            <a:r>
              <a:rPr lang="en-US" dirty="0" smtClean="0"/>
              <a:t>?</a:t>
            </a:r>
          </a:p>
          <a:p>
            <a:pPr marL="868680" lvl="1" indent="-457200">
              <a:buFont typeface="+mj-lt"/>
              <a:buAutoNum type="arabicPeriod"/>
            </a:pPr>
            <a:r>
              <a:rPr lang="en-US" dirty="0" smtClean="0"/>
              <a:t>Given AND and OR, make the XNOR Gate</a:t>
            </a:r>
          </a:p>
          <a:p>
            <a:pPr marL="868680" lvl="1" indent="-457200">
              <a:buFont typeface="+mj-lt"/>
              <a:buAutoNum type="arabicPeriod"/>
            </a:pPr>
            <a:r>
              <a:rPr lang="en-US" dirty="0" smtClean="0"/>
              <a:t>OR, </a:t>
            </a:r>
            <a:r>
              <a:rPr lang="en-US" b="1" dirty="0" smtClean="0">
                <a:solidFill>
                  <a:srgbClr val="3366FF"/>
                </a:solidFill>
              </a:rPr>
              <a:t>reuse</a:t>
            </a:r>
            <a:r>
              <a:rPr lang="en-US" dirty="0" smtClean="0"/>
              <a:t> your previous design and a NOT, make the XNOR</a:t>
            </a:r>
          </a:p>
          <a:p>
            <a:pPr lvl="2"/>
            <a:r>
              <a:rPr lang="en-US" b="1" dirty="0" smtClean="0">
                <a:solidFill>
                  <a:srgbClr val="FF0000"/>
                </a:solidFill>
              </a:rPr>
              <a:t>Q:</a:t>
            </a:r>
            <a:r>
              <a:rPr lang="en-US" dirty="0" smtClean="0"/>
              <a:t> Which </a:t>
            </a:r>
            <a:r>
              <a:rPr lang="en-US" dirty="0"/>
              <a:t>is the better approach?</a:t>
            </a:r>
          </a:p>
          <a:p>
            <a:pPr lvl="3"/>
            <a:r>
              <a:rPr lang="en-US" dirty="0"/>
              <a:t>One might be </a:t>
            </a:r>
            <a:r>
              <a:rPr lang="en-US" dirty="0">
                <a:solidFill>
                  <a:srgbClr val="FF6600"/>
                </a:solidFill>
              </a:rPr>
              <a:t>simpler to build </a:t>
            </a:r>
            <a:r>
              <a:rPr lang="en-US" dirty="0" smtClean="0">
                <a:solidFill>
                  <a:srgbClr val="FF6600"/>
                </a:solidFill>
              </a:rPr>
              <a:t>conceptually</a:t>
            </a:r>
          </a:p>
          <a:p>
            <a:pPr lvl="3"/>
            <a:r>
              <a:rPr lang="en-US" dirty="0" smtClean="0"/>
              <a:t>The </a:t>
            </a:r>
            <a:r>
              <a:rPr lang="en-US" dirty="0"/>
              <a:t>other may require </a:t>
            </a:r>
            <a:r>
              <a:rPr lang="en-US" dirty="0">
                <a:solidFill>
                  <a:srgbClr val="FF6600"/>
                </a:solidFill>
              </a:rPr>
              <a:t>less gates</a:t>
            </a:r>
            <a:r>
              <a:rPr lang="en-US" dirty="0"/>
              <a:t> – a </a:t>
            </a:r>
            <a:r>
              <a:rPr lang="en-US" dirty="0">
                <a:solidFill>
                  <a:srgbClr val="FF0000"/>
                </a:solidFill>
              </a:rPr>
              <a:t>tradeoff</a:t>
            </a:r>
            <a:r>
              <a:rPr lang="en-US" dirty="0"/>
              <a:t>!</a:t>
            </a:r>
          </a:p>
          <a:p>
            <a:pPr lvl="2"/>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p:txBody>
      </p:sp>
      <p:graphicFrame>
        <p:nvGraphicFramePr>
          <p:cNvPr id="4" name="Table 3"/>
          <p:cNvGraphicFramePr>
            <a:graphicFrameLocks noGrp="1"/>
          </p:cNvGraphicFramePr>
          <p:nvPr>
            <p:extLst>
              <p:ext uri="{D42A27DB-BD31-4B8C-83A1-F6EECF244321}">
                <p14:modId xmlns:p14="http://schemas.microsoft.com/office/powerpoint/2010/main" val="1714372653"/>
              </p:ext>
            </p:extLst>
          </p:nvPr>
        </p:nvGraphicFramePr>
        <p:xfrm>
          <a:off x="914400" y="3733800"/>
          <a:ext cx="6096000" cy="1854200"/>
        </p:xfrm>
        <a:graphic>
          <a:graphicData uri="http://schemas.openxmlformats.org/drawingml/2006/table">
            <a:tbl>
              <a:tblPr firstRow="1" bandRow="1">
                <a:tableStyleId>{5C22544A-7EE6-4342-B048-85BDC9FD1C3A}</a:tableStyleId>
              </a:tblPr>
              <a:tblGrid>
                <a:gridCol w="1524000"/>
                <a:gridCol w="1524000"/>
                <a:gridCol w="1524000"/>
                <a:gridCol w="1524000"/>
              </a:tblGrid>
              <a:tr h="370840">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 XOR B</a:t>
                      </a:r>
                      <a:endParaRPr lang="en-US" dirty="0"/>
                    </a:p>
                  </a:txBody>
                  <a:tcPr/>
                </a:tc>
                <a:tc>
                  <a:txBody>
                    <a:bodyPr/>
                    <a:lstStyle/>
                    <a:p>
                      <a:r>
                        <a:rPr lang="en-US" dirty="0" smtClean="0"/>
                        <a:t>A</a:t>
                      </a:r>
                      <a:r>
                        <a:rPr lang="en-US" baseline="0" dirty="0" smtClean="0"/>
                        <a:t> NXOR B</a:t>
                      </a:r>
                      <a:endParaRPr lang="en-US" dirty="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bl>
          </a:graphicData>
        </a:graphic>
      </p:graphicFrame>
      <p:sp>
        <p:nvSpPr>
          <p:cNvPr id="5" name="Stored Data 4"/>
          <p:cNvSpPr/>
          <p:nvPr/>
        </p:nvSpPr>
        <p:spPr>
          <a:xfrm rot="10800000">
            <a:off x="5943600" y="457200"/>
            <a:ext cx="9144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6" name="Straight Connector 5"/>
          <p:cNvCxnSpPr/>
          <p:nvPr/>
        </p:nvCxnSpPr>
        <p:spPr>
          <a:xfrm>
            <a:off x="4953000" y="5334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4953000" y="9906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6553200" y="762000"/>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9" name="Block Arc 8"/>
          <p:cNvSpPr/>
          <p:nvPr/>
        </p:nvSpPr>
        <p:spPr>
          <a:xfrm rot="5400000">
            <a:off x="5562600" y="685800"/>
            <a:ext cx="609600" cy="152400"/>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0" name="Oval 9"/>
          <p:cNvSpPr/>
          <p:nvPr/>
        </p:nvSpPr>
        <p:spPr>
          <a:xfrm>
            <a:off x="6858000" y="685800"/>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1" name="TextBox 10"/>
          <p:cNvSpPr txBox="1"/>
          <p:nvPr/>
        </p:nvSpPr>
        <p:spPr>
          <a:xfrm>
            <a:off x="914400" y="5802868"/>
            <a:ext cx="6172200" cy="369332"/>
          </a:xfrm>
          <a:prstGeom prst="rect">
            <a:avLst/>
          </a:prstGeom>
          <a:noFill/>
        </p:spPr>
        <p:txBody>
          <a:bodyPr wrap="square" rtlCol="0">
            <a:spAutoFit/>
          </a:bodyPr>
          <a:lstStyle/>
          <a:p>
            <a:pPr marL="285750" indent="-285750">
              <a:buFont typeface="Arial"/>
              <a:buChar char="•"/>
            </a:pPr>
            <a:r>
              <a:rPr lang="en-US" dirty="0" smtClean="0"/>
              <a:t>XNOR = A*B + ~A*~B   //built from the 1’s in TT above</a:t>
            </a:r>
          </a:p>
        </p:txBody>
      </p:sp>
      <p:sp>
        <p:nvSpPr>
          <p:cNvPr id="12" name="TextBox 11"/>
          <p:cNvSpPr txBox="1"/>
          <p:nvPr/>
        </p:nvSpPr>
        <p:spPr>
          <a:xfrm>
            <a:off x="304800" y="6260068"/>
            <a:ext cx="1828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smtClean="0"/>
              <a:t>Building XNOR</a:t>
            </a:r>
            <a:endParaRPr lang="en-US" b="1" dirty="0"/>
          </a:p>
        </p:txBody>
      </p:sp>
      <p:sp>
        <p:nvSpPr>
          <p:cNvPr id="13" name="TextBox 12"/>
          <p:cNvSpPr txBox="1"/>
          <p:nvPr/>
        </p:nvSpPr>
        <p:spPr>
          <a:xfrm>
            <a:off x="7260936" y="38100"/>
            <a:ext cx="1870364" cy="646331"/>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en-US" dirty="0" smtClean="0"/>
              <a:t>Build Once, Then Black Box OK</a:t>
            </a:r>
            <a:endParaRPr lang="en-US" dirty="0"/>
          </a:p>
        </p:txBody>
      </p:sp>
    </p:spTree>
    <p:extLst>
      <p:ext uri="{BB962C8B-B14F-4D97-AF65-F5344CB8AC3E}">
        <p14:creationId xmlns:p14="http://schemas.microsoft.com/office/powerpoint/2010/main" val="3963824289"/>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431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sz="1400" b="1"/>
          </a:p>
        </p:txBody>
      </p:sp>
      <p:sp>
        <p:nvSpPr>
          <p:cNvPr id="36867" name="Rectangle 3"/>
          <p:cNvSpPr>
            <a:spLocks noGrp="1" noChangeArrowheads="1"/>
          </p:cNvSpPr>
          <p:nvPr>
            <p:ph type="title"/>
          </p:nvPr>
        </p:nvSpPr>
        <p:spPr>
          <a:xfrm>
            <a:off x="152400" y="76200"/>
            <a:ext cx="8458200" cy="1143000"/>
          </a:xfrm>
        </p:spPr>
        <p:txBody>
          <a:bodyPr lIns="89275" tIns="43854" rIns="89275" bIns="43854"/>
          <a:lstStyle/>
          <a:p>
            <a:r>
              <a:rPr lang="en-US" dirty="0" smtClean="0"/>
              <a:t>V1: Add a NOT to Produce XNOR (6 Gates)</a:t>
            </a:r>
          </a:p>
        </p:txBody>
      </p:sp>
      <p:grpSp>
        <p:nvGrpSpPr>
          <p:cNvPr id="6" name="Group 3"/>
          <p:cNvGrpSpPr>
            <a:grpSpLocks/>
          </p:cNvGrpSpPr>
          <p:nvPr/>
        </p:nvGrpSpPr>
        <p:grpSpPr bwMode="auto">
          <a:xfrm>
            <a:off x="2274094" y="2746375"/>
            <a:ext cx="969963" cy="874712"/>
            <a:chOff x="1860" y="1413"/>
            <a:chExt cx="611" cy="551"/>
          </a:xfrm>
        </p:grpSpPr>
        <p:sp>
          <p:nvSpPr>
            <p:cNvPr id="7" name="AutoShape 4"/>
            <p:cNvSpPr>
              <a:spLocks noChangeArrowheads="1"/>
            </p:cNvSpPr>
            <p:nvPr/>
          </p:nvSpPr>
          <p:spPr bwMode="auto">
            <a:xfrm rot="5400000">
              <a:off x="1870" y="1403"/>
              <a:ext cx="551" cy="571"/>
            </a:xfrm>
            <a:prstGeom prst="triangle">
              <a:avLst>
                <a:gd name="adj" fmla="val 50000"/>
              </a:avLst>
            </a:prstGeom>
            <a:solidFill>
              <a:srgbClr val="FFFFFF"/>
            </a:solidFill>
            <a:ln w="28575">
              <a:solidFill>
                <a:schemeClr val="tx1"/>
              </a:solidFill>
              <a:miter lim="800000"/>
              <a:headEnd/>
              <a:tailEnd/>
            </a:ln>
          </p:spPr>
          <p:txBody>
            <a:bodyPr wrap="none" anchor="ctr"/>
            <a:lstStyle/>
            <a:p>
              <a:endParaRPr lang="en-US" sz="1200" b="1"/>
            </a:p>
          </p:txBody>
        </p:sp>
        <p:sp>
          <p:nvSpPr>
            <p:cNvPr id="8" name="Oval 5"/>
            <p:cNvSpPr>
              <a:spLocks noChangeArrowheads="1"/>
            </p:cNvSpPr>
            <p:nvPr/>
          </p:nvSpPr>
          <p:spPr bwMode="auto">
            <a:xfrm flipH="1">
              <a:off x="2409" y="1654"/>
              <a:ext cx="62" cy="62"/>
            </a:xfrm>
            <a:prstGeom prst="ellipse">
              <a:avLst/>
            </a:prstGeom>
            <a:solidFill>
              <a:srgbClr val="FFFFFF"/>
            </a:solidFill>
            <a:ln w="19050">
              <a:solidFill>
                <a:schemeClr val="tx1"/>
              </a:solidFill>
              <a:round/>
              <a:headEnd/>
              <a:tailEnd/>
            </a:ln>
          </p:spPr>
          <p:txBody>
            <a:bodyPr wrap="none" anchor="ctr"/>
            <a:lstStyle/>
            <a:p>
              <a:endParaRPr lang="en-US" sz="1200" b="1"/>
            </a:p>
          </p:txBody>
        </p:sp>
      </p:grpSp>
      <p:sp>
        <p:nvSpPr>
          <p:cNvPr id="9" name="AutoShape 6"/>
          <p:cNvSpPr>
            <a:spLocks noChangeArrowheads="1"/>
          </p:cNvSpPr>
          <p:nvPr/>
        </p:nvSpPr>
        <p:spPr bwMode="auto">
          <a:xfrm>
            <a:off x="4634707" y="2590800"/>
            <a:ext cx="838200" cy="685800"/>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b="1"/>
          </a:p>
        </p:txBody>
      </p:sp>
      <p:sp>
        <p:nvSpPr>
          <p:cNvPr id="10" name="AutoShape 7"/>
          <p:cNvSpPr>
            <a:spLocks noChangeArrowheads="1"/>
          </p:cNvSpPr>
          <p:nvPr/>
        </p:nvSpPr>
        <p:spPr bwMode="auto">
          <a:xfrm flipH="1">
            <a:off x="6493669" y="3182937"/>
            <a:ext cx="785813" cy="708025"/>
          </a:xfrm>
          <a:prstGeom prst="moon">
            <a:avLst>
              <a:gd name="adj" fmla="val 73810"/>
            </a:avLst>
          </a:prstGeom>
          <a:solidFill>
            <a:srgbClr val="FFFFFF"/>
          </a:solidFill>
          <a:ln w="28575">
            <a:solidFill>
              <a:schemeClr val="tx1"/>
            </a:solidFill>
            <a:miter lim="800000"/>
            <a:headEnd/>
            <a:tailEnd/>
          </a:ln>
        </p:spPr>
        <p:txBody>
          <a:bodyPr wrap="none" anchor="ctr"/>
          <a:lstStyle/>
          <a:p>
            <a:endParaRPr lang="en-US" sz="1200" b="1"/>
          </a:p>
        </p:txBody>
      </p:sp>
      <p:sp>
        <p:nvSpPr>
          <p:cNvPr id="11" name="Line 8"/>
          <p:cNvSpPr>
            <a:spLocks noChangeShapeType="1"/>
          </p:cNvSpPr>
          <p:nvPr/>
        </p:nvSpPr>
        <p:spPr bwMode="auto">
          <a:xfrm flipH="1" flipV="1">
            <a:off x="1307307" y="1976437"/>
            <a:ext cx="2894012"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Text Box 9"/>
          <p:cNvSpPr txBox="1">
            <a:spLocks noChangeArrowheads="1"/>
          </p:cNvSpPr>
          <p:nvPr/>
        </p:nvSpPr>
        <p:spPr bwMode="auto">
          <a:xfrm>
            <a:off x="1058069" y="1839912"/>
            <a:ext cx="2936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a:t>
            </a:r>
          </a:p>
        </p:txBody>
      </p:sp>
      <p:sp>
        <p:nvSpPr>
          <p:cNvPr id="13" name="Freeform 10"/>
          <p:cNvSpPr>
            <a:spLocks/>
          </p:cNvSpPr>
          <p:nvPr/>
        </p:nvSpPr>
        <p:spPr bwMode="auto">
          <a:xfrm>
            <a:off x="1753394" y="1976437"/>
            <a:ext cx="498475" cy="1201738"/>
          </a:xfrm>
          <a:custGeom>
            <a:avLst/>
            <a:gdLst>
              <a:gd name="T0" fmla="*/ 0 w 320"/>
              <a:gd name="T1" fmla="*/ 0 h 435"/>
              <a:gd name="T2" fmla="*/ 0 w 320"/>
              <a:gd name="T3" fmla="*/ 2147483647 h 435"/>
              <a:gd name="T4" fmla="*/ 2147483647 w 320"/>
              <a:gd name="T5" fmla="*/ 2147483647 h 435"/>
              <a:gd name="T6" fmla="*/ 0 60000 65536"/>
              <a:gd name="T7" fmla="*/ 0 60000 65536"/>
              <a:gd name="T8" fmla="*/ 0 60000 65536"/>
              <a:gd name="T9" fmla="*/ 0 w 320"/>
              <a:gd name="T10" fmla="*/ 0 h 435"/>
              <a:gd name="T11" fmla="*/ 320 w 320"/>
              <a:gd name="T12" fmla="*/ 435 h 435"/>
            </a:gdLst>
            <a:ahLst/>
            <a:cxnLst>
              <a:cxn ang="T6">
                <a:pos x="T0" y="T1"/>
              </a:cxn>
              <a:cxn ang="T7">
                <a:pos x="T2" y="T3"/>
              </a:cxn>
              <a:cxn ang="T8">
                <a:pos x="T4" y="T5"/>
              </a:cxn>
            </a:cxnLst>
            <a:rect l="T9" t="T10" r="T11" b="T12"/>
            <a:pathLst>
              <a:path w="320" h="435">
                <a:moveTo>
                  <a:pt x="0" y="0"/>
                </a:moveTo>
                <a:lnTo>
                  <a:pt x="0" y="435"/>
                </a:lnTo>
                <a:lnTo>
                  <a:pt x="320" y="435"/>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Oval 11"/>
          <p:cNvSpPr>
            <a:spLocks noChangeArrowheads="1"/>
          </p:cNvSpPr>
          <p:nvPr/>
        </p:nvSpPr>
        <p:spPr bwMode="auto">
          <a:xfrm>
            <a:off x="1693069" y="1906587"/>
            <a:ext cx="131763" cy="131763"/>
          </a:xfrm>
          <a:prstGeom prst="ellipse">
            <a:avLst/>
          </a:prstGeom>
          <a:solidFill>
            <a:schemeClr val="tx1"/>
          </a:solidFill>
          <a:ln w="19050">
            <a:solidFill>
              <a:schemeClr val="tx1"/>
            </a:solidFill>
            <a:round/>
            <a:headEnd/>
            <a:tailEnd/>
          </a:ln>
        </p:spPr>
        <p:txBody>
          <a:bodyPr wrap="none" anchor="ctr"/>
          <a:lstStyle/>
          <a:p>
            <a:endParaRPr lang="en-US" sz="1200" b="1"/>
          </a:p>
        </p:txBody>
      </p:sp>
      <p:sp>
        <p:nvSpPr>
          <p:cNvPr id="15" name="AutoShape 12"/>
          <p:cNvSpPr>
            <a:spLocks noChangeArrowheads="1"/>
          </p:cNvSpPr>
          <p:nvPr/>
        </p:nvSpPr>
        <p:spPr bwMode="auto">
          <a:xfrm>
            <a:off x="4652169" y="3768725"/>
            <a:ext cx="838200" cy="685800"/>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b="1"/>
          </a:p>
        </p:txBody>
      </p:sp>
      <p:grpSp>
        <p:nvGrpSpPr>
          <p:cNvPr id="16" name="Group 13"/>
          <p:cNvGrpSpPr>
            <a:grpSpLocks/>
          </p:cNvGrpSpPr>
          <p:nvPr/>
        </p:nvGrpSpPr>
        <p:grpSpPr bwMode="auto">
          <a:xfrm>
            <a:off x="2267744" y="3767137"/>
            <a:ext cx="969963" cy="874713"/>
            <a:chOff x="1860" y="1413"/>
            <a:chExt cx="611" cy="551"/>
          </a:xfrm>
        </p:grpSpPr>
        <p:sp>
          <p:nvSpPr>
            <p:cNvPr id="17" name="AutoShape 14"/>
            <p:cNvSpPr>
              <a:spLocks noChangeArrowheads="1"/>
            </p:cNvSpPr>
            <p:nvPr/>
          </p:nvSpPr>
          <p:spPr bwMode="auto">
            <a:xfrm rot="5400000">
              <a:off x="1870" y="1403"/>
              <a:ext cx="551" cy="571"/>
            </a:xfrm>
            <a:prstGeom prst="triangle">
              <a:avLst>
                <a:gd name="adj" fmla="val 50000"/>
              </a:avLst>
            </a:prstGeom>
            <a:solidFill>
              <a:srgbClr val="FFFFFF"/>
            </a:solidFill>
            <a:ln w="28575">
              <a:solidFill>
                <a:schemeClr val="tx1"/>
              </a:solidFill>
              <a:miter lim="800000"/>
              <a:headEnd/>
              <a:tailEnd/>
            </a:ln>
          </p:spPr>
          <p:txBody>
            <a:bodyPr wrap="none" anchor="ctr"/>
            <a:lstStyle/>
            <a:p>
              <a:endParaRPr lang="en-US" sz="1200" b="1"/>
            </a:p>
          </p:txBody>
        </p:sp>
        <p:sp>
          <p:nvSpPr>
            <p:cNvPr id="18" name="Oval 15"/>
            <p:cNvSpPr>
              <a:spLocks noChangeArrowheads="1"/>
            </p:cNvSpPr>
            <p:nvPr/>
          </p:nvSpPr>
          <p:spPr bwMode="auto">
            <a:xfrm flipH="1">
              <a:off x="2409" y="1654"/>
              <a:ext cx="62" cy="62"/>
            </a:xfrm>
            <a:prstGeom prst="ellipse">
              <a:avLst/>
            </a:prstGeom>
            <a:solidFill>
              <a:srgbClr val="FFFFFF"/>
            </a:solidFill>
            <a:ln w="19050">
              <a:solidFill>
                <a:schemeClr val="tx1"/>
              </a:solidFill>
              <a:round/>
              <a:headEnd/>
              <a:tailEnd/>
            </a:ln>
          </p:spPr>
          <p:txBody>
            <a:bodyPr wrap="none" anchor="ctr"/>
            <a:lstStyle/>
            <a:p>
              <a:endParaRPr lang="en-US" sz="1200" b="1"/>
            </a:p>
          </p:txBody>
        </p:sp>
      </p:grpSp>
      <p:sp>
        <p:nvSpPr>
          <p:cNvPr id="19" name="Line 16"/>
          <p:cNvSpPr>
            <a:spLocks noChangeShapeType="1"/>
          </p:cNvSpPr>
          <p:nvPr/>
        </p:nvSpPr>
        <p:spPr bwMode="auto">
          <a:xfrm flipH="1" flipV="1">
            <a:off x="1334294" y="5100637"/>
            <a:ext cx="2828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Freeform 17"/>
          <p:cNvSpPr>
            <a:spLocks/>
          </p:cNvSpPr>
          <p:nvPr/>
        </p:nvSpPr>
        <p:spPr bwMode="auto">
          <a:xfrm flipV="1">
            <a:off x="1713707" y="4217987"/>
            <a:ext cx="554037" cy="901700"/>
          </a:xfrm>
          <a:custGeom>
            <a:avLst/>
            <a:gdLst>
              <a:gd name="T0" fmla="*/ 0 w 320"/>
              <a:gd name="T1" fmla="*/ 0 h 435"/>
              <a:gd name="T2" fmla="*/ 0 w 320"/>
              <a:gd name="T3" fmla="*/ 2147483647 h 435"/>
              <a:gd name="T4" fmla="*/ 2147483647 w 320"/>
              <a:gd name="T5" fmla="*/ 2147483647 h 435"/>
              <a:gd name="T6" fmla="*/ 0 60000 65536"/>
              <a:gd name="T7" fmla="*/ 0 60000 65536"/>
              <a:gd name="T8" fmla="*/ 0 60000 65536"/>
              <a:gd name="T9" fmla="*/ 0 w 320"/>
              <a:gd name="T10" fmla="*/ 0 h 435"/>
              <a:gd name="T11" fmla="*/ 320 w 320"/>
              <a:gd name="T12" fmla="*/ 435 h 435"/>
            </a:gdLst>
            <a:ahLst/>
            <a:cxnLst>
              <a:cxn ang="T6">
                <a:pos x="T0" y="T1"/>
              </a:cxn>
              <a:cxn ang="T7">
                <a:pos x="T2" y="T3"/>
              </a:cxn>
              <a:cxn ang="T8">
                <a:pos x="T4" y="T5"/>
              </a:cxn>
            </a:cxnLst>
            <a:rect l="T9" t="T10" r="T11" b="T12"/>
            <a:pathLst>
              <a:path w="320" h="435">
                <a:moveTo>
                  <a:pt x="0" y="0"/>
                </a:moveTo>
                <a:lnTo>
                  <a:pt x="0" y="435"/>
                </a:lnTo>
                <a:lnTo>
                  <a:pt x="320" y="435"/>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 name="Oval 18"/>
          <p:cNvSpPr>
            <a:spLocks noChangeArrowheads="1"/>
          </p:cNvSpPr>
          <p:nvPr/>
        </p:nvSpPr>
        <p:spPr bwMode="auto">
          <a:xfrm flipV="1">
            <a:off x="1662907" y="5037137"/>
            <a:ext cx="109537" cy="131763"/>
          </a:xfrm>
          <a:prstGeom prst="ellipse">
            <a:avLst/>
          </a:prstGeom>
          <a:solidFill>
            <a:schemeClr val="tx1"/>
          </a:solidFill>
          <a:ln w="19050">
            <a:solidFill>
              <a:schemeClr val="tx1"/>
            </a:solidFill>
            <a:round/>
            <a:headEnd/>
            <a:tailEnd/>
          </a:ln>
        </p:spPr>
        <p:txBody>
          <a:bodyPr wrap="none" anchor="ctr"/>
          <a:lstStyle/>
          <a:p>
            <a:endParaRPr lang="en-US" sz="1200" b="1"/>
          </a:p>
        </p:txBody>
      </p:sp>
      <p:sp>
        <p:nvSpPr>
          <p:cNvPr id="22" name="Text Box 20"/>
          <p:cNvSpPr txBox="1">
            <a:spLocks noChangeArrowheads="1"/>
          </p:cNvSpPr>
          <p:nvPr/>
        </p:nvSpPr>
        <p:spPr bwMode="auto">
          <a:xfrm>
            <a:off x="956469" y="4989512"/>
            <a:ext cx="2936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23" name="Freeform 23"/>
          <p:cNvSpPr>
            <a:spLocks/>
          </p:cNvSpPr>
          <p:nvPr/>
        </p:nvSpPr>
        <p:spPr bwMode="auto">
          <a:xfrm>
            <a:off x="3247232" y="3082925"/>
            <a:ext cx="1392237" cy="1119187"/>
          </a:xfrm>
          <a:custGeom>
            <a:avLst/>
            <a:gdLst>
              <a:gd name="T0" fmla="*/ 0 w 877"/>
              <a:gd name="T1" fmla="*/ 2147483647 h 1305"/>
              <a:gd name="T2" fmla="*/ 2147483647 w 877"/>
              <a:gd name="T3" fmla="*/ 2147483647 h 1305"/>
              <a:gd name="T4" fmla="*/ 2147483647 w 877"/>
              <a:gd name="T5" fmla="*/ 0 h 1305"/>
              <a:gd name="T6" fmla="*/ 2147483647 w 877"/>
              <a:gd name="T7" fmla="*/ 0 h 1305"/>
              <a:gd name="T8" fmla="*/ 0 60000 65536"/>
              <a:gd name="T9" fmla="*/ 0 60000 65536"/>
              <a:gd name="T10" fmla="*/ 0 60000 65536"/>
              <a:gd name="T11" fmla="*/ 0 60000 65536"/>
              <a:gd name="T12" fmla="*/ 0 w 877"/>
              <a:gd name="T13" fmla="*/ 0 h 1305"/>
              <a:gd name="T14" fmla="*/ 877 w 877"/>
              <a:gd name="T15" fmla="*/ 1305 h 1305"/>
            </a:gdLst>
            <a:ahLst/>
            <a:cxnLst>
              <a:cxn ang="T8">
                <a:pos x="T0" y="T1"/>
              </a:cxn>
              <a:cxn ang="T9">
                <a:pos x="T2" y="T3"/>
              </a:cxn>
              <a:cxn ang="T10">
                <a:pos x="T4" y="T5"/>
              </a:cxn>
              <a:cxn ang="T11">
                <a:pos x="T6" y="T7"/>
              </a:cxn>
            </a:cxnLst>
            <a:rect l="T12" t="T13" r="T14" b="T15"/>
            <a:pathLst>
              <a:path w="877" h="1305">
                <a:moveTo>
                  <a:pt x="0" y="1305"/>
                </a:moveTo>
                <a:lnTo>
                  <a:pt x="518" y="1305"/>
                </a:lnTo>
                <a:lnTo>
                  <a:pt x="525" y="0"/>
                </a:lnTo>
                <a:lnTo>
                  <a:pt x="877"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 name="Freeform 24"/>
          <p:cNvSpPr>
            <a:spLocks/>
          </p:cNvSpPr>
          <p:nvPr/>
        </p:nvSpPr>
        <p:spPr bwMode="auto">
          <a:xfrm>
            <a:off x="3217069" y="3178175"/>
            <a:ext cx="1406525" cy="782637"/>
          </a:xfrm>
          <a:custGeom>
            <a:avLst/>
            <a:gdLst>
              <a:gd name="T0" fmla="*/ 0 w 883"/>
              <a:gd name="T1" fmla="*/ 0 h 1254"/>
              <a:gd name="T2" fmla="*/ 2147483647 w 883"/>
              <a:gd name="T3" fmla="*/ 0 h 1254"/>
              <a:gd name="T4" fmla="*/ 2147483647 w 883"/>
              <a:gd name="T5" fmla="*/ 2147483647 h 1254"/>
              <a:gd name="T6" fmla="*/ 2147483647 w 883"/>
              <a:gd name="T7" fmla="*/ 2147483647 h 1254"/>
              <a:gd name="T8" fmla="*/ 0 60000 65536"/>
              <a:gd name="T9" fmla="*/ 0 60000 65536"/>
              <a:gd name="T10" fmla="*/ 0 60000 65536"/>
              <a:gd name="T11" fmla="*/ 0 60000 65536"/>
              <a:gd name="T12" fmla="*/ 0 w 883"/>
              <a:gd name="T13" fmla="*/ 0 h 1254"/>
              <a:gd name="T14" fmla="*/ 883 w 883"/>
              <a:gd name="T15" fmla="*/ 1254 h 1254"/>
            </a:gdLst>
            <a:ahLst/>
            <a:cxnLst>
              <a:cxn ang="T8">
                <a:pos x="T0" y="T1"/>
              </a:cxn>
              <a:cxn ang="T9">
                <a:pos x="T2" y="T3"/>
              </a:cxn>
              <a:cxn ang="T10">
                <a:pos x="T4" y="T5"/>
              </a:cxn>
              <a:cxn ang="T11">
                <a:pos x="T6" y="T7"/>
              </a:cxn>
            </a:cxnLst>
            <a:rect l="T12" t="T13" r="T14" b="T15"/>
            <a:pathLst>
              <a:path w="883" h="1254">
                <a:moveTo>
                  <a:pt x="0" y="0"/>
                </a:moveTo>
                <a:lnTo>
                  <a:pt x="281" y="0"/>
                </a:lnTo>
                <a:lnTo>
                  <a:pt x="288" y="1254"/>
                </a:lnTo>
                <a:lnTo>
                  <a:pt x="883" y="124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 name="Text Box 25"/>
          <p:cNvSpPr txBox="1">
            <a:spLocks noChangeArrowheads="1"/>
          </p:cNvSpPr>
          <p:nvPr/>
        </p:nvSpPr>
        <p:spPr bwMode="auto">
          <a:xfrm>
            <a:off x="4287044" y="3597275"/>
            <a:ext cx="2952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a:t>
            </a:r>
          </a:p>
        </p:txBody>
      </p:sp>
      <p:sp>
        <p:nvSpPr>
          <p:cNvPr id="26" name="Line 26"/>
          <p:cNvSpPr>
            <a:spLocks noChangeShapeType="1"/>
          </p:cNvSpPr>
          <p:nvPr/>
        </p:nvSpPr>
        <p:spPr bwMode="auto">
          <a:xfrm>
            <a:off x="4355307" y="3633787"/>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Text Box 27"/>
          <p:cNvSpPr txBox="1">
            <a:spLocks noChangeArrowheads="1"/>
          </p:cNvSpPr>
          <p:nvPr/>
        </p:nvSpPr>
        <p:spPr bwMode="auto">
          <a:xfrm>
            <a:off x="4315619" y="3138487"/>
            <a:ext cx="2952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28" name="Line 28"/>
          <p:cNvSpPr>
            <a:spLocks noChangeShapeType="1"/>
          </p:cNvSpPr>
          <p:nvPr/>
        </p:nvSpPr>
        <p:spPr bwMode="auto">
          <a:xfrm>
            <a:off x="4382294" y="3175000"/>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Text Box 29"/>
          <p:cNvSpPr txBox="1">
            <a:spLocks noChangeArrowheads="1"/>
          </p:cNvSpPr>
          <p:nvPr/>
        </p:nvSpPr>
        <p:spPr bwMode="auto">
          <a:xfrm>
            <a:off x="4266407" y="2373312"/>
            <a:ext cx="2952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a:t>
            </a:r>
          </a:p>
        </p:txBody>
      </p:sp>
      <p:sp>
        <p:nvSpPr>
          <p:cNvPr id="30" name="Text Box 30"/>
          <p:cNvSpPr txBox="1">
            <a:spLocks noChangeArrowheads="1"/>
          </p:cNvSpPr>
          <p:nvPr/>
        </p:nvSpPr>
        <p:spPr bwMode="auto">
          <a:xfrm>
            <a:off x="4267994" y="4337050"/>
            <a:ext cx="2952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31" name="Freeform 31"/>
          <p:cNvSpPr>
            <a:spLocks/>
          </p:cNvSpPr>
          <p:nvPr/>
        </p:nvSpPr>
        <p:spPr bwMode="auto">
          <a:xfrm>
            <a:off x="5471319" y="3713162"/>
            <a:ext cx="1179513" cy="393700"/>
          </a:xfrm>
          <a:custGeom>
            <a:avLst/>
            <a:gdLst>
              <a:gd name="T0" fmla="*/ 0 w 743"/>
              <a:gd name="T1" fmla="*/ 2147483647 h 781"/>
              <a:gd name="T2" fmla="*/ 2147483647 w 743"/>
              <a:gd name="T3" fmla="*/ 2147483647 h 781"/>
              <a:gd name="T4" fmla="*/ 2147483647 w 743"/>
              <a:gd name="T5" fmla="*/ 0 h 781"/>
              <a:gd name="T6" fmla="*/ 2147483647 w 743"/>
              <a:gd name="T7" fmla="*/ 0 h 781"/>
              <a:gd name="T8" fmla="*/ 0 60000 65536"/>
              <a:gd name="T9" fmla="*/ 0 60000 65536"/>
              <a:gd name="T10" fmla="*/ 0 60000 65536"/>
              <a:gd name="T11" fmla="*/ 0 60000 65536"/>
              <a:gd name="T12" fmla="*/ 0 w 743"/>
              <a:gd name="T13" fmla="*/ 0 h 781"/>
              <a:gd name="T14" fmla="*/ 743 w 743"/>
              <a:gd name="T15" fmla="*/ 781 h 781"/>
            </a:gdLst>
            <a:ahLst/>
            <a:cxnLst>
              <a:cxn ang="T8">
                <a:pos x="T0" y="T1"/>
              </a:cxn>
              <a:cxn ang="T9">
                <a:pos x="T2" y="T3"/>
              </a:cxn>
              <a:cxn ang="T10">
                <a:pos x="T4" y="T5"/>
              </a:cxn>
              <a:cxn ang="T11">
                <a:pos x="T6" y="T7"/>
              </a:cxn>
            </a:cxnLst>
            <a:rect l="T12" t="T13" r="T14" b="T15"/>
            <a:pathLst>
              <a:path w="743" h="781">
                <a:moveTo>
                  <a:pt x="0" y="781"/>
                </a:moveTo>
                <a:lnTo>
                  <a:pt x="404" y="781"/>
                </a:lnTo>
                <a:lnTo>
                  <a:pt x="404" y="0"/>
                </a:lnTo>
                <a:lnTo>
                  <a:pt x="743"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 name="Freeform 32"/>
          <p:cNvSpPr>
            <a:spLocks/>
          </p:cNvSpPr>
          <p:nvPr/>
        </p:nvSpPr>
        <p:spPr bwMode="auto">
          <a:xfrm flipV="1">
            <a:off x="5482432" y="2932112"/>
            <a:ext cx="1179512" cy="446088"/>
          </a:xfrm>
          <a:custGeom>
            <a:avLst/>
            <a:gdLst>
              <a:gd name="T0" fmla="*/ 0 w 743"/>
              <a:gd name="T1" fmla="*/ 2147483647 h 781"/>
              <a:gd name="T2" fmla="*/ 2147483647 w 743"/>
              <a:gd name="T3" fmla="*/ 2147483647 h 781"/>
              <a:gd name="T4" fmla="*/ 2147483647 w 743"/>
              <a:gd name="T5" fmla="*/ 0 h 781"/>
              <a:gd name="T6" fmla="*/ 2147483647 w 743"/>
              <a:gd name="T7" fmla="*/ 0 h 781"/>
              <a:gd name="T8" fmla="*/ 0 60000 65536"/>
              <a:gd name="T9" fmla="*/ 0 60000 65536"/>
              <a:gd name="T10" fmla="*/ 0 60000 65536"/>
              <a:gd name="T11" fmla="*/ 0 60000 65536"/>
              <a:gd name="T12" fmla="*/ 0 w 743"/>
              <a:gd name="T13" fmla="*/ 0 h 781"/>
              <a:gd name="T14" fmla="*/ 743 w 743"/>
              <a:gd name="T15" fmla="*/ 781 h 781"/>
            </a:gdLst>
            <a:ahLst/>
            <a:cxnLst>
              <a:cxn ang="T8">
                <a:pos x="T0" y="T1"/>
              </a:cxn>
              <a:cxn ang="T9">
                <a:pos x="T2" y="T3"/>
              </a:cxn>
              <a:cxn ang="T10">
                <a:pos x="T4" y="T5"/>
              </a:cxn>
              <a:cxn ang="T11">
                <a:pos x="T6" y="T7"/>
              </a:cxn>
            </a:cxnLst>
            <a:rect l="T12" t="T13" r="T14" b="T15"/>
            <a:pathLst>
              <a:path w="743" h="781">
                <a:moveTo>
                  <a:pt x="0" y="781"/>
                </a:moveTo>
                <a:lnTo>
                  <a:pt x="404" y="781"/>
                </a:lnTo>
                <a:lnTo>
                  <a:pt x="404" y="0"/>
                </a:lnTo>
                <a:lnTo>
                  <a:pt x="743"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 name="Text Box 33"/>
          <p:cNvSpPr txBox="1">
            <a:spLocks noChangeArrowheads="1"/>
          </p:cNvSpPr>
          <p:nvPr/>
        </p:nvSpPr>
        <p:spPr bwMode="auto">
          <a:xfrm>
            <a:off x="5525294" y="2600325"/>
            <a:ext cx="35401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a:t>
            </a:r>
          </a:p>
        </p:txBody>
      </p:sp>
      <p:sp>
        <p:nvSpPr>
          <p:cNvPr id="34" name="Text Box 34"/>
          <p:cNvSpPr txBox="1">
            <a:spLocks noChangeArrowheads="1"/>
          </p:cNvSpPr>
          <p:nvPr/>
        </p:nvSpPr>
        <p:spPr bwMode="auto">
          <a:xfrm>
            <a:off x="5747544" y="2617787"/>
            <a:ext cx="2952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35" name="Line 35"/>
          <p:cNvSpPr>
            <a:spLocks noChangeShapeType="1"/>
          </p:cNvSpPr>
          <p:nvPr/>
        </p:nvSpPr>
        <p:spPr bwMode="auto">
          <a:xfrm>
            <a:off x="5814219" y="2625725"/>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Text Box 36"/>
          <p:cNvSpPr txBox="1">
            <a:spLocks noChangeArrowheads="1"/>
          </p:cNvSpPr>
          <p:nvPr/>
        </p:nvSpPr>
        <p:spPr bwMode="auto">
          <a:xfrm>
            <a:off x="5520532" y="4197350"/>
            <a:ext cx="39211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 *</a:t>
            </a:r>
          </a:p>
        </p:txBody>
      </p:sp>
      <p:sp>
        <p:nvSpPr>
          <p:cNvPr id="37" name="Line 37"/>
          <p:cNvSpPr>
            <a:spLocks noChangeShapeType="1"/>
          </p:cNvSpPr>
          <p:nvPr/>
        </p:nvSpPr>
        <p:spPr bwMode="auto">
          <a:xfrm>
            <a:off x="5574507" y="4233862"/>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Text Box 38"/>
          <p:cNvSpPr txBox="1">
            <a:spLocks noChangeArrowheads="1"/>
          </p:cNvSpPr>
          <p:nvPr/>
        </p:nvSpPr>
        <p:spPr bwMode="auto">
          <a:xfrm>
            <a:off x="5812632" y="4187825"/>
            <a:ext cx="2952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39" name="Line 39"/>
          <p:cNvSpPr>
            <a:spLocks noChangeShapeType="1"/>
          </p:cNvSpPr>
          <p:nvPr/>
        </p:nvSpPr>
        <p:spPr bwMode="auto">
          <a:xfrm>
            <a:off x="7281069" y="3530600"/>
            <a:ext cx="6191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Text Box 40"/>
          <p:cNvSpPr txBox="1">
            <a:spLocks noChangeArrowheads="1"/>
          </p:cNvSpPr>
          <p:nvPr/>
        </p:nvSpPr>
        <p:spPr bwMode="auto">
          <a:xfrm>
            <a:off x="7936707" y="3405187"/>
            <a:ext cx="2936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C</a:t>
            </a:r>
          </a:p>
        </p:txBody>
      </p:sp>
      <p:sp>
        <p:nvSpPr>
          <p:cNvPr id="41" name="Text Box 41"/>
          <p:cNvSpPr txBox="1">
            <a:spLocks noChangeArrowheads="1"/>
          </p:cNvSpPr>
          <p:nvPr/>
        </p:nvSpPr>
        <p:spPr bwMode="auto">
          <a:xfrm>
            <a:off x="3886200" y="5352663"/>
            <a:ext cx="51829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dirty="0" smtClean="0"/>
              <a:t>~C </a:t>
            </a:r>
            <a:r>
              <a:rPr lang="en-US" sz="1200" b="1" dirty="0"/>
              <a:t>= </a:t>
            </a:r>
          </a:p>
        </p:txBody>
      </p:sp>
      <p:sp>
        <p:nvSpPr>
          <p:cNvPr id="42" name="Text Box 42"/>
          <p:cNvSpPr txBox="1">
            <a:spLocks noChangeArrowheads="1"/>
          </p:cNvSpPr>
          <p:nvPr/>
        </p:nvSpPr>
        <p:spPr bwMode="auto">
          <a:xfrm>
            <a:off x="4300921" y="5353050"/>
            <a:ext cx="3937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 *</a:t>
            </a:r>
          </a:p>
        </p:txBody>
      </p:sp>
      <p:sp>
        <p:nvSpPr>
          <p:cNvPr id="43" name="Text Box 43"/>
          <p:cNvSpPr txBox="1">
            <a:spLocks noChangeArrowheads="1"/>
          </p:cNvSpPr>
          <p:nvPr/>
        </p:nvSpPr>
        <p:spPr bwMode="auto">
          <a:xfrm>
            <a:off x="4519996" y="5351462"/>
            <a:ext cx="339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 B</a:t>
            </a:r>
          </a:p>
        </p:txBody>
      </p:sp>
      <p:sp>
        <p:nvSpPr>
          <p:cNvPr id="44" name="Line 44"/>
          <p:cNvSpPr>
            <a:spLocks noChangeShapeType="1"/>
          </p:cNvSpPr>
          <p:nvPr/>
        </p:nvSpPr>
        <p:spPr bwMode="auto">
          <a:xfrm>
            <a:off x="4650171" y="5386387"/>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Text Box 45"/>
          <p:cNvSpPr txBox="1">
            <a:spLocks noChangeArrowheads="1"/>
          </p:cNvSpPr>
          <p:nvPr/>
        </p:nvSpPr>
        <p:spPr bwMode="auto">
          <a:xfrm>
            <a:off x="4837496" y="5362575"/>
            <a:ext cx="2746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t>
            </a:r>
          </a:p>
        </p:txBody>
      </p:sp>
      <p:sp>
        <p:nvSpPr>
          <p:cNvPr id="46" name="Text Box 46"/>
          <p:cNvSpPr txBox="1">
            <a:spLocks noChangeArrowheads="1"/>
          </p:cNvSpPr>
          <p:nvPr/>
        </p:nvSpPr>
        <p:spPr bwMode="auto">
          <a:xfrm>
            <a:off x="5153408" y="5353050"/>
            <a:ext cx="3937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 *</a:t>
            </a:r>
          </a:p>
        </p:txBody>
      </p:sp>
      <p:sp>
        <p:nvSpPr>
          <p:cNvPr id="47" name="Line 47"/>
          <p:cNvSpPr>
            <a:spLocks noChangeShapeType="1"/>
          </p:cNvSpPr>
          <p:nvPr/>
        </p:nvSpPr>
        <p:spPr bwMode="auto">
          <a:xfrm>
            <a:off x="5207383" y="5387975"/>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Text Box 48"/>
          <p:cNvSpPr txBox="1">
            <a:spLocks noChangeArrowheads="1"/>
          </p:cNvSpPr>
          <p:nvPr/>
        </p:nvSpPr>
        <p:spPr bwMode="auto">
          <a:xfrm>
            <a:off x="5447096" y="5343525"/>
            <a:ext cx="2936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60" name="Oval 71"/>
          <p:cNvSpPr>
            <a:spLocks noChangeArrowheads="1"/>
          </p:cNvSpPr>
          <p:nvPr/>
        </p:nvSpPr>
        <p:spPr bwMode="auto">
          <a:xfrm>
            <a:off x="4622800" y="5698807"/>
            <a:ext cx="193675" cy="214312"/>
          </a:xfrm>
          <a:prstGeom prst="ellipse">
            <a:avLst/>
          </a:prstGeom>
          <a:solidFill>
            <a:srgbClr val="FFFFFF"/>
          </a:solidFill>
          <a:ln w="19050">
            <a:solidFill>
              <a:schemeClr val="tx1"/>
            </a:solidFill>
            <a:round/>
            <a:headEnd/>
            <a:tailEnd/>
          </a:ln>
        </p:spPr>
        <p:txBody>
          <a:bodyPr wrap="none" anchor="ctr"/>
          <a:lstStyle/>
          <a:p>
            <a:endParaRPr lang="en-US" sz="1200" b="1"/>
          </a:p>
        </p:txBody>
      </p:sp>
      <p:sp>
        <p:nvSpPr>
          <p:cNvPr id="61" name="Text Box 72"/>
          <p:cNvSpPr txBox="1">
            <a:spLocks noChangeArrowheads="1"/>
          </p:cNvSpPr>
          <p:nvPr/>
        </p:nvSpPr>
        <p:spPr bwMode="auto">
          <a:xfrm>
            <a:off x="3975100" y="5575300"/>
            <a:ext cx="48163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eaLnBrk="1" hangingPunct="1"/>
            <a:r>
              <a:rPr lang="en-US" sz="1200" b="1" dirty="0"/>
              <a:t>C = </a:t>
            </a:r>
            <a:r>
              <a:rPr lang="en-US" sz="1200" b="1" dirty="0" smtClean="0"/>
              <a:t>~(A  </a:t>
            </a:r>
            <a:r>
              <a:rPr lang="en-US" sz="1200" b="1" dirty="0"/>
              <a:t>+  </a:t>
            </a:r>
            <a:r>
              <a:rPr lang="en-US" sz="1200" b="1" dirty="0" smtClean="0"/>
              <a:t>B)  //6 gates above to realize the Black Box below</a:t>
            </a:r>
            <a:endParaRPr lang="en-US" sz="1200" b="1" dirty="0"/>
          </a:p>
        </p:txBody>
      </p:sp>
      <p:sp>
        <p:nvSpPr>
          <p:cNvPr id="62" name="Freeform 23"/>
          <p:cNvSpPr>
            <a:spLocks/>
          </p:cNvSpPr>
          <p:nvPr/>
        </p:nvSpPr>
        <p:spPr bwMode="auto">
          <a:xfrm>
            <a:off x="3550444" y="4270375"/>
            <a:ext cx="1087438" cy="835025"/>
          </a:xfrm>
          <a:custGeom>
            <a:avLst/>
            <a:gdLst>
              <a:gd name="T0" fmla="*/ 0 w 877"/>
              <a:gd name="T1" fmla="*/ 2147483647 h 1305"/>
              <a:gd name="T2" fmla="*/ 2147483647 w 877"/>
              <a:gd name="T3" fmla="*/ 2147483647 h 1305"/>
              <a:gd name="T4" fmla="*/ 2147483647 w 877"/>
              <a:gd name="T5" fmla="*/ 0 h 1305"/>
              <a:gd name="T6" fmla="*/ 2147483647 w 877"/>
              <a:gd name="T7" fmla="*/ 0 h 1305"/>
              <a:gd name="T8" fmla="*/ 0 60000 65536"/>
              <a:gd name="T9" fmla="*/ 0 60000 65536"/>
              <a:gd name="T10" fmla="*/ 0 60000 65536"/>
              <a:gd name="T11" fmla="*/ 0 60000 65536"/>
              <a:gd name="T12" fmla="*/ 0 w 877"/>
              <a:gd name="T13" fmla="*/ 0 h 1305"/>
              <a:gd name="T14" fmla="*/ 877 w 877"/>
              <a:gd name="T15" fmla="*/ 1305 h 1305"/>
            </a:gdLst>
            <a:ahLst/>
            <a:cxnLst>
              <a:cxn ang="T8">
                <a:pos x="T0" y="T1"/>
              </a:cxn>
              <a:cxn ang="T9">
                <a:pos x="T2" y="T3"/>
              </a:cxn>
              <a:cxn ang="T10">
                <a:pos x="T4" y="T5"/>
              </a:cxn>
              <a:cxn ang="T11">
                <a:pos x="T6" y="T7"/>
              </a:cxn>
            </a:cxnLst>
            <a:rect l="T12" t="T13" r="T14" b="T15"/>
            <a:pathLst>
              <a:path w="877" h="1305">
                <a:moveTo>
                  <a:pt x="0" y="1305"/>
                </a:moveTo>
                <a:lnTo>
                  <a:pt x="518" y="1305"/>
                </a:lnTo>
                <a:lnTo>
                  <a:pt x="525" y="0"/>
                </a:lnTo>
                <a:lnTo>
                  <a:pt x="877"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 name="Freeform 23"/>
          <p:cNvSpPr>
            <a:spLocks/>
          </p:cNvSpPr>
          <p:nvPr/>
        </p:nvSpPr>
        <p:spPr bwMode="auto">
          <a:xfrm flipV="1">
            <a:off x="3561557" y="1979612"/>
            <a:ext cx="1077912" cy="723900"/>
          </a:xfrm>
          <a:custGeom>
            <a:avLst/>
            <a:gdLst>
              <a:gd name="T0" fmla="*/ 0 w 877"/>
              <a:gd name="T1" fmla="*/ 2147483647 h 1305"/>
              <a:gd name="T2" fmla="*/ 2147483647 w 877"/>
              <a:gd name="T3" fmla="*/ 2147483647 h 1305"/>
              <a:gd name="T4" fmla="*/ 2147483647 w 877"/>
              <a:gd name="T5" fmla="*/ 0 h 1305"/>
              <a:gd name="T6" fmla="*/ 2147483647 w 877"/>
              <a:gd name="T7" fmla="*/ 0 h 1305"/>
              <a:gd name="T8" fmla="*/ 0 60000 65536"/>
              <a:gd name="T9" fmla="*/ 0 60000 65536"/>
              <a:gd name="T10" fmla="*/ 0 60000 65536"/>
              <a:gd name="T11" fmla="*/ 0 60000 65536"/>
              <a:gd name="T12" fmla="*/ 0 w 877"/>
              <a:gd name="T13" fmla="*/ 0 h 1305"/>
              <a:gd name="T14" fmla="*/ 877 w 877"/>
              <a:gd name="T15" fmla="*/ 1305 h 1305"/>
            </a:gdLst>
            <a:ahLst/>
            <a:cxnLst>
              <a:cxn ang="T8">
                <a:pos x="T0" y="T1"/>
              </a:cxn>
              <a:cxn ang="T9">
                <a:pos x="T2" y="T3"/>
              </a:cxn>
              <a:cxn ang="T10">
                <a:pos x="T4" y="T5"/>
              </a:cxn>
              <a:cxn ang="T11">
                <a:pos x="T6" y="T7"/>
              </a:cxn>
            </a:cxnLst>
            <a:rect l="T12" t="T13" r="T14" b="T15"/>
            <a:pathLst>
              <a:path w="877" h="1305">
                <a:moveTo>
                  <a:pt x="0" y="1305"/>
                </a:moveTo>
                <a:lnTo>
                  <a:pt x="518" y="1305"/>
                </a:lnTo>
                <a:lnTo>
                  <a:pt x="525" y="0"/>
                </a:lnTo>
                <a:lnTo>
                  <a:pt x="877"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 name="TextBox 2"/>
          <p:cNvSpPr txBox="1"/>
          <p:nvPr/>
        </p:nvSpPr>
        <p:spPr>
          <a:xfrm>
            <a:off x="2743200" y="6475968"/>
            <a:ext cx="5715000" cy="184666"/>
          </a:xfrm>
          <a:prstGeom prst="rect">
            <a:avLst/>
          </a:prstGeom>
          <a:noFill/>
        </p:spPr>
        <p:txBody>
          <a:bodyPr wrap="square" rtlCol="0">
            <a:spAutoFit/>
          </a:bodyPr>
          <a:lstStyle/>
          <a:p>
            <a:r>
              <a:rPr lang="en-US" sz="600" dirty="0" smtClean="0"/>
              <a:t>(Source: Arnie Berger’s Slides on Digital Logic)</a:t>
            </a:r>
            <a:endParaRPr lang="en-US" sz="600" dirty="0"/>
          </a:p>
        </p:txBody>
      </p:sp>
      <p:sp>
        <p:nvSpPr>
          <p:cNvPr id="53" name="Extract 52"/>
          <p:cNvSpPr/>
          <p:nvPr/>
        </p:nvSpPr>
        <p:spPr>
          <a:xfrm rot="5400000">
            <a:off x="7391400" y="3200400"/>
            <a:ext cx="838200" cy="685800"/>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a:t>
            </a:r>
            <a:endParaRPr lang="en-US" dirty="0"/>
          </a:p>
        </p:txBody>
      </p:sp>
      <p:sp>
        <p:nvSpPr>
          <p:cNvPr id="56" name="Oval 55"/>
          <p:cNvSpPr/>
          <p:nvPr/>
        </p:nvSpPr>
        <p:spPr>
          <a:xfrm>
            <a:off x="8077200" y="3429000"/>
            <a:ext cx="228600" cy="22900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7" name="Straight Connector 56"/>
          <p:cNvCxnSpPr/>
          <p:nvPr/>
        </p:nvCxnSpPr>
        <p:spPr>
          <a:xfrm>
            <a:off x="8305800" y="3543300"/>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0" y="762000"/>
            <a:ext cx="5735021" cy="923330"/>
          </a:xfrm>
          <a:prstGeom prst="rect">
            <a:avLst/>
          </a:prstGeom>
          <a:noFill/>
        </p:spPr>
        <p:txBody>
          <a:bodyPr wrap="square" rtlCol="0">
            <a:spAutoFit/>
          </a:bodyPr>
          <a:lstStyle/>
          <a:p>
            <a:r>
              <a:rPr lang="en-US" dirty="0" smtClean="0">
                <a:solidFill>
                  <a:srgbClr val="FF0000"/>
                </a:solidFill>
              </a:rPr>
              <a:t>Q:</a:t>
            </a:r>
            <a:r>
              <a:rPr lang="en-US" dirty="0" smtClean="0"/>
              <a:t> Can we reduce the gate count? Maybe?</a:t>
            </a:r>
          </a:p>
          <a:p>
            <a:r>
              <a:rPr lang="en-US" dirty="0"/>
              <a:t>	</a:t>
            </a:r>
            <a:r>
              <a:rPr lang="en-US" dirty="0" smtClean="0"/>
              <a:t>Hint: Look at the truth table and extract a B.E.</a:t>
            </a:r>
          </a:p>
          <a:p>
            <a:r>
              <a:rPr lang="en-US" dirty="0" smtClean="0">
                <a:solidFill>
                  <a:srgbClr val="FF0000"/>
                </a:solidFill>
              </a:rPr>
              <a:t>Q:</a:t>
            </a:r>
            <a:r>
              <a:rPr lang="en-US" dirty="0" smtClean="0"/>
              <a:t> If only we had a regular method or approach to do this!</a:t>
            </a:r>
            <a:endParaRPr lang="en-US" dirty="0"/>
          </a:p>
        </p:txBody>
      </p:sp>
      <p:sp>
        <p:nvSpPr>
          <p:cNvPr id="58" name="TextBox 57"/>
          <p:cNvSpPr txBox="1"/>
          <p:nvPr/>
        </p:nvSpPr>
        <p:spPr>
          <a:xfrm>
            <a:off x="304800" y="6260068"/>
            <a:ext cx="1828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smtClean="0"/>
              <a:t>Building XNOR</a:t>
            </a:r>
            <a:endParaRPr lang="en-US" b="1" dirty="0"/>
          </a:p>
        </p:txBody>
      </p:sp>
      <p:sp>
        <p:nvSpPr>
          <p:cNvPr id="59" name="Stored Data 58"/>
          <p:cNvSpPr/>
          <p:nvPr/>
        </p:nvSpPr>
        <p:spPr>
          <a:xfrm rot="10800000">
            <a:off x="6324600" y="6095999"/>
            <a:ext cx="9144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64" name="Straight Connector 63"/>
          <p:cNvCxnSpPr/>
          <p:nvPr/>
        </p:nvCxnSpPr>
        <p:spPr>
          <a:xfrm>
            <a:off x="5334000" y="6172199"/>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5" name="Straight Connector 64"/>
          <p:cNvCxnSpPr/>
          <p:nvPr/>
        </p:nvCxnSpPr>
        <p:spPr>
          <a:xfrm>
            <a:off x="5334000" y="6629399"/>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6934200" y="6400799"/>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67" name="Block Arc 66"/>
          <p:cNvSpPr/>
          <p:nvPr/>
        </p:nvSpPr>
        <p:spPr>
          <a:xfrm rot="5400000">
            <a:off x="5943600" y="6324599"/>
            <a:ext cx="609600" cy="152400"/>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68" name="Oval 67"/>
          <p:cNvSpPr/>
          <p:nvPr/>
        </p:nvSpPr>
        <p:spPr>
          <a:xfrm>
            <a:off x="7239000" y="6324599"/>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 name="TextBox 1"/>
          <p:cNvSpPr txBox="1"/>
          <p:nvPr/>
        </p:nvSpPr>
        <p:spPr>
          <a:xfrm>
            <a:off x="2819400" y="6045200"/>
            <a:ext cx="1870364" cy="646331"/>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en-US" dirty="0" smtClean="0"/>
              <a:t>Build Once, Then Black Box OK</a:t>
            </a:r>
            <a:endParaRPr lang="en-US" dirty="0"/>
          </a:p>
        </p:txBody>
      </p:sp>
      <p:sp>
        <p:nvSpPr>
          <p:cNvPr id="69" name="Curved Left Arrow 68"/>
          <p:cNvSpPr/>
          <p:nvPr/>
        </p:nvSpPr>
        <p:spPr>
          <a:xfrm rot="8655737">
            <a:off x="2031616" y="5125143"/>
            <a:ext cx="517060" cy="1383030"/>
          </a:xfrm>
          <a:prstGeom prst="curved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5" name="Right Arrow 4"/>
          <p:cNvSpPr/>
          <p:nvPr/>
        </p:nvSpPr>
        <p:spPr>
          <a:xfrm>
            <a:off x="4648200" y="6248400"/>
            <a:ext cx="609600" cy="3048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846990"/>
      </p:ext>
    </p:extLst>
  </p:cSld>
  <p:clrMapOvr>
    <a:masterClrMapping/>
  </p:clrMapOvr>
  <p:transition xmlns:p14="http://schemas.microsoft.com/office/powerpoint/2010/main" spd="slow"/>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59"/>
                                        </p:tgtEl>
                                        <p:attrNameLst>
                                          <p:attrName>style.visibility</p:attrName>
                                        </p:attrNameLst>
                                      </p:cBhvr>
                                      <p:to>
                                        <p:strVal val="visible"/>
                                      </p:to>
                                    </p:set>
                                    <p:anim calcmode="lin" valueType="num">
                                      <p:cBhvr>
                                        <p:cTn id="12" dur="1000" fill="hold"/>
                                        <p:tgtEl>
                                          <p:spTgt spid="59"/>
                                        </p:tgtEl>
                                        <p:attrNameLst>
                                          <p:attrName>ppt_w</p:attrName>
                                        </p:attrNameLst>
                                      </p:cBhvr>
                                      <p:tavLst>
                                        <p:tav tm="0">
                                          <p:val>
                                            <p:strVal val="#ppt_w*0.70"/>
                                          </p:val>
                                        </p:tav>
                                        <p:tav tm="100000">
                                          <p:val>
                                            <p:strVal val="#ppt_w"/>
                                          </p:val>
                                        </p:tav>
                                      </p:tavLst>
                                    </p:anim>
                                    <p:anim calcmode="lin" valueType="num">
                                      <p:cBhvr>
                                        <p:cTn id="13" dur="1000" fill="hold"/>
                                        <p:tgtEl>
                                          <p:spTgt spid="59"/>
                                        </p:tgtEl>
                                        <p:attrNameLst>
                                          <p:attrName>ppt_h</p:attrName>
                                        </p:attrNameLst>
                                      </p:cBhvr>
                                      <p:tavLst>
                                        <p:tav tm="0">
                                          <p:val>
                                            <p:strVal val="#ppt_h"/>
                                          </p:val>
                                        </p:tav>
                                        <p:tav tm="100000">
                                          <p:val>
                                            <p:strVal val="#ppt_h"/>
                                          </p:val>
                                        </p:tav>
                                      </p:tavLst>
                                    </p:anim>
                                    <p:animEffect transition="in" filter="fade">
                                      <p:cBhvr>
                                        <p:cTn id="14" dur="1000"/>
                                        <p:tgtEl>
                                          <p:spTgt spid="59"/>
                                        </p:tgtEl>
                                      </p:cBhvr>
                                    </p:animEffect>
                                  </p:childTnLst>
                                </p:cTn>
                              </p:par>
                              <p:par>
                                <p:cTn id="15" presetID="55" presetClass="entr" presetSubtype="0" fill="hold" nodeType="withEffect">
                                  <p:stCondLst>
                                    <p:cond delay="0"/>
                                  </p:stCondLst>
                                  <p:childTnLst>
                                    <p:set>
                                      <p:cBhvr>
                                        <p:cTn id="16" dur="1" fill="hold">
                                          <p:stCondLst>
                                            <p:cond delay="0"/>
                                          </p:stCondLst>
                                        </p:cTn>
                                        <p:tgtEl>
                                          <p:spTgt spid="64"/>
                                        </p:tgtEl>
                                        <p:attrNameLst>
                                          <p:attrName>style.visibility</p:attrName>
                                        </p:attrNameLst>
                                      </p:cBhvr>
                                      <p:to>
                                        <p:strVal val="visible"/>
                                      </p:to>
                                    </p:set>
                                    <p:anim calcmode="lin" valueType="num">
                                      <p:cBhvr>
                                        <p:cTn id="17" dur="1000" fill="hold"/>
                                        <p:tgtEl>
                                          <p:spTgt spid="64"/>
                                        </p:tgtEl>
                                        <p:attrNameLst>
                                          <p:attrName>ppt_w</p:attrName>
                                        </p:attrNameLst>
                                      </p:cBhvr>
                                      <p:tavLst>
                                        <p:tav tm="0">
                                          <p:val>
                                            <p:strVal val="#ppt_w*0.70"/>
                                          </p:val>
                                        </p:tav>
                                        <p:tav tm="100000">
                                          <p:val>
                                            <p:strVal val="#ppt_w"/>
                                          </p:val>
                                        </p:tav>
                                      </p:tavLst>
                                    </p:anim>
                                    <p:anim calcmode="lin" valueType="num">
                                      <p:cBhvr>
                                        <p:cTn id="18" dur="1000" fill="hold"/>
                                        <p:tgtEl>
                                          <p:spTgt spid="64"/>
                                        </p:tgtEl>
                                        <p:attrNameLst>
                                          <p:attrName>ppt_h</p:attrName>
                                        </p:attrNameLst>
                                      </p:cBhvr>
                                      <p:tavLst>
                                        <p:tav tm="0">
                                          <p:val>
                                            <p:strVal val="#ppt_h"/>
                                          </p:val>
                                        </p:tav>
                                        <p:tav tm="100000">
                                          <p:val>
                                            <p:strVal val="#ppt_h"/>
                                          </p:val>
                                        </p:tav>
                                      </p:tavLst>
                                    </p:anim>
                                    <p:animEffect transition="in" filter="fade">
                                      <p:cBhvr>
                                        <p:cTn id="19" dur="1000"/>
                                        <p:tgtEl>
                                          <p:spTgt spid="64"/>
                                        </p:tgtEl>
                                      </p:cBhvr>
                                    </p:animEffect>
                                  </p:childTnLst>
                                </p:cTn>
                              </p:par>
                              <p:par>
                                <p:cTn id="20" presetID="55" presetClass="entr" presetSubtype="0" fill="hold" nodeType="withEffect">
                                  <p:stCondLst>
                                    <p:cond delay="0"/>
                                  </p:stCondLst>
                                  <p:childTnLst>
                                    <p:set>
                                      <p:cBhvr>
                                        <p:cTn id="21" dur="1" fill="hold">
                                          <p:stCondLst>
                                            <p:cond delay="0"/>
                                          </p:stCondLst>
                                        </p:cTn>
                                        <p:tgtEl>
                                          <p:spTgt spid="65"/>
                                        </p:tgtEl>
                                        <p:attrNameLst>
                                          <p:attrName>style.visibility</p:attrName>
                                        </p:attrNameLst>
                                      </p:cBhvr>
                                      <p:to>
                                        <p:strVal val="visible"/>
                                      </p:to>
                                    </p:set>
                                    <p:anim calcmode="lin" valueType="num">
                                      <p:cBhvr>
                                        <p:cTn id="22" dur="1000" fill="hold"/>
                                        <p:tgtEl>
                                          <p:spTgt spid="65"/>
                                        </p:tgtEl>
                                        <p:attrNameLst>
                                          <p:attrName>ppt_w</p:attrName>
                                        </p:attrNameLst>
                                      </p:cBhvr>
                                      <p:tavLst>
                                        <p:tav tm="0">
                                          <p:val>
                                            <p:strVal val="#ppt_w*0.70"/>
                                          </p:val>
                                        </p:tav>
                                        <p:tav tm="100000">
                                          <p:val>
                                            <p:strVal val="#ppt_w"/>
                                          </p:val>
                                        </p:tav>
                                      </p:tavLst>
                                    </p:anim>
                                    <p:anim calcmode="lin" valueType="num">
                                      <p:cBhvr>
                                        <p:cTn id="23" dur="1000" fill="hold"/>
                                        <p:tgtEl>
                                          <p:spTgt spid="65"/>
                                        </p:tgtEl>
                                        <p:attrNameLst>
                                          <p:attrName>ppt_h</p:attrName>
                                        </p:attrNameLst>
                                      </p:cBhvr>
                                      <p:tavLst>
                                        <p:tav tm="0">
                                          <p:val>
                                            <p:strVal val="#ppt_h"/>
                                          </p:val>
                                        </p:tav>
                                        <p:tav tm="100000">
                                          <p:val>
                                            <p:strVal val="#ppt_h"/>
                                          </p:val>
                                        </p:tav>
                                      </p:tavLst>
                                    </p:anim>
                                    <p:animEffect transition="in" filter="fade">
                                      <p:cBhvr>
                                        <p:cTn id="24" dur="1000"/>
                                        <p:tgtEl>
                                          <p:spTgt spid="65"/>
                                        </p:tgtEl>
                                      </p:cBhvr>
                                    </p:animEffect>
                                  </p:childTnLst>
                                </p:cTn>
                              </p:par>
                              <p:par>
                                <p:cTn id="25" presetID="55" presetClass="entr" presetSubtype="0" fill="hold" nodeType="withEffect">
                                  <p:stCondLst>
                                    <p:cond delay="0"/>
                                  </p:stCondLst>
                                  <p:childTnLst>
                                    <p:set>
                                      <p:cBhvr>
                                        <p:cTn id="26" dur="1" fill="hold">
                                          <p:stCondLst>
                                            <p:cond delay="0"/>
                                          </p:stCondLst>
                                        </p:cTn>
                                        <p:tgtEl>
                                          <p:spTgt spid="66"/>
                                        </p:tgtEl>
                                        <p:attrNameLst>
                                          <p:attrName>style.visibility</p:attrName>
                                        </p:attrNameLst>
                                      </p:cBhvr>
                                      <p:to>
                                        <p:strVal val="visible"/>
                                      </p:to>
                                    </p:set>
                                    <p:anim calcmode="lin" valueType="num">
                                      <p:cBhvr>
                                        <p:cTn id="27" dur="1000" fill="hold"/>
                                        <p:tgtEl>
                                          <p:spTgt spid="66"/>
                                        </p:tgtEl>
                                        <p:attrNameLst>
                                          <p:attrName>ppt_w</p:attrName>
                                        </p:attrNameLst>
                                      </p:cBhvr>
                                      <p:tavLst>
                                        <p:tav tm="0">
                                          <p:val>
                                            <p:strVal val="#ppt_w*0.70"/>
                                          </p:val>
                                        </p:tav>
                                        <p:tav tm="100000">
                                          <p:val>
                                            <p:strVal val="#ppt_w"/>
                                          </p:val>
                                        </p:tav>
                                      </p:tavLst>
                                    </p:anim>
                                    <p:anim calcmode="lin" valueType="num">
                                      <p:cBhvr>
                                        <p:cTn id="28" dur="1000" fill="hold"/>
                                        <p:tgtEl>
                                          <p:spTgt spid="66"/>
                                        </p:tgtEl>
                                        <p:attrNameLst>
                                          <p:attrName>ppt_h</p:attrName>
                                        </p:attrNameLst>
                                      </p:cBhvr>
                                      <p:tavLst>
                                        <p:tav tm="0">
                                          <p:val>
                                            <p:strVal val="#ppt_h"/>
                                          </p:val>
                                        </p:tav>
                                        <p:tav tm="100000">
                                          <p:val>
                                            <p:strVal val="#ppt_h"/>
                                          </p:val>
                                        </p:tav>
                                      </p:tavLst>
                                    </p:anim>
                                    <p:animEffect transition="in" filter="fade">
                                      <p:cBhvr>
                                        <p:cTn id="29" dur="1000"/>
                                        <p:tgtEl>
                                          <p:spTgt spid="66"/>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67"/>
                                        </p:tgtEl>
                                        <p:attrNameLst>
                                          <p:attrName>style.visibility</p:attrName>
                                        </p:attrNameLst>
                                      </p:cBhvr>
                                      <p:to>
                                        <p:strVal val="visible"/>
                                      </p:to>
                                    </p:set>
                                    <p:anim calcmode="lin" valueType="num">
                                      <p:cBhvr>
                                        <p:cTn id="32" dur="1000" fill="hold"/>
                                        <p:tgtEl>
                                          <p:spTgt spid="67"/>
                                        </p:tgtEl>
                                        <p:attrNameLst>
                                          <p:attrName>ppt_w</p:attrName>
                                        </p:attrNameLst>
                                      </p:cBhvr>
                                      <p:tavLst>
                                        <p:tav tm="0">
                                          <p:val>
                                            <p:strVal val="#ppt_w*0.70"/>
                                          </p:val>
                                        </p:tav>
                                        <p:tav tm="100000">
                                          <p:val>
                                            <p:strVal val="#ppt_w"/>
                                          </p:val>
                                        </p:tav>
                                      </p:tavLst>
                                    </p:anim>
                                    <p:anim calcmode="lin" valueType="num">
                                      <p:cBhvr>
                                        <p:cTn id="33" dur="1000" fill="hold"/>
                                        <p:tgtEl>
                                          <p:spTgt spid="67"/>
                                        </p:tgtEl>
                                        <p:attrNameLst>
                                          <p:attrName>ppt_h</p:attrName>
                                        </p:attrNameLst>
                                      </p:cBhvr>
                                      <p:tavLst>
                                        <p:tav tm="0">
                                          <p:val>
                                            <p:strVal val="#ppt_h"/>
                                          </p:val>
                                        </p:tav>
                                        <p:tav tm="100000">
                                          <p:val>
                                            <p:strVal val="#ppt_h"/>
                                          </p:val>
                                        </p:tav>
                                      </p:tavLst>
                                    </p:anim>
                                    <p:animEffect transition="in" filter="fade">
                                      <p:cBhvr>
                                        <p:cTn id="34" dur="1000"/>
                                        <p:tgtEl>
                                          <p:spTgt spid="67"/>
                                        </p:tgtEl>
                                      </p:cBhvr>
                                    </p:animEffect>
                                  </p:childTnLst>
                                </p:cTn>
                              </p:par>
                              <p:par>
                                <p:cTn id="35" presetID="55" presetClass="entr" presetSubtype="0" fill="hold" grpId="0" nodeType="withEffect">
                                  <p:stCondLst>
                                    <p:cond delay="0"/>
                                  </p:stCondLst>
                                  <p:childTnLst>
                                    <p:set>
                                      <p:cBhvr>
                                        <p:cTn id="36" dur="1" fill="hold">
                                          <p:stCondLst>
                                            <p:cond delay="0"/>
                                          </p:stCondLst>
                                        </p:cTn>
                                        <p:tgtEl>
                                          <p:spTgt spid="68"/>
                                        </p:tgtEl>
                                        <p:attrNameLst>
                                          <p:attrName>style.visibility</p:attrName>
                                        </p:attrNameLst>
                                      </p:cBhvr>
                                      <p:to>
                                        <p:strVal val="visible"/>
                                      </p:to>
                                    </p:set>
                                    <p:anim calcmode="lin" valueType="num">
                                      <p:cBhvr>
                                        <p:cTn id="37" dur="1000" fill="hold"/>
                                        <p:tgtEl>
                                          <p:spTgt spid="68"/>
                                        </p:tgtEl>
                                        <p:attrNameLst>
                                          <p:attrName>ppt_w</p:attrName>
                                        </p:attrNameLst>
                                      </p:cBhvr>
                                      <p:tavLst>
                                        <p:tav tm="0">
                                          <p:val>
                                            <p:strVal val="#ppt_w*0.70"/>
                                          </p:val>
                                        </p:tav>
                                        <p:tav tm="100000">
                                          <p:val>
                                            <p:strVal val="#ppt_w"/>
                                          </p:val>
                                        </p:tav>
                                      </p:tavLst>
                                    </p:anim>
                                    <p:anim calcmode="lin" valueType="num">
                                      <p:cBhvr>
                                        <p:cTn id="38" dur="1000" fill="hold"/>
                                        <p:tgtEl>
                                          <p:spTgt spid="68"/>
                                        </p:tgtEl>
                                        <p:attrNameLst>
                                          <p:attrName>ppt_h</p:attrName>
                                        </p:attrNameLst>
                                      </p:cBhvr>
                                      <p:tavLst>
                                        <p:tav tm="0">
                                          <p:val>
                                            <p:strVal val="#ppt_h"/>
                                          </p:val>
                                        </p:tav>
                                        <p:tav tm="100000">
                                          <p:val>
                                            <p:strVal val="#ppt_h"/>
                                          </p:val>
                                        </p:tav>
                                      </p:tavLst>
                                    </p:anim>
                                    <p:animEffect transition="in" filter="fade">
                                      <p:cBhvr>
                                        <p:cTn id="39" dur="1000"/>
                                        <p:tgtEl>
                                          <p:spTgt spid="68"/>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p:cTn id="42" dur="1000" fill="hold"/>
                                        <p:tgtEl>
                                          <p:spTgt spid="2"/>
                                        </p:tgtEl>
                                        <p:attrNameLst>
                                          <p:attrName>ppt_w</p:attrName>
                                        </p:attrNameLst>
                                      </p:cBhvr>
                                      <p:tavLst>
                                        <p:tav tm="0">
                                          <p:val>
                                            <p:strVal val="#ppt_w*0.70"/>
                                          </p:val>
                                        </p:tav>
                                        <p:tav tm="100000">
                                          <p:val>
                                            <p:strVal val="#ppt_w"/>
                                          </p:val>
                                        </p:tav>
                                      </p:tavLst>
                                    </p:anim>
                                    <p:anim calcmode="lin" valueType="num">
                                      <p:cBhvr>
                                        <p:cTn id="43" dur="1000" fill="hold"/>
                                        <p:tgtEl>
                                          <p:spTgt spid="2"/>
                                        </p:tgtEl>
                                        <p:attrNameLst>
                                          <p:attrName>ppt_h</p:attrName>
                                        </p:attrNameLst>
                                      </p:cBhvr>
                                      <p:tavLst>
                                        <p:tav tm="0">
                                          <p:val>
                                            <p:strVal val="#ppt_h"/>
                                          </p:val>
                                        </p:tav>
                                        <p:tav tm="100000">
                                          <p:val>
                                            <p:strVal val="#ppt_h"/>
                                          </p:val>
                                        </p:tav>
                                      </p:tavLst>
                                    </p:anim>
                                    <p:animEffect transition="in" filter="fade">
                                      <p:cBhvr>
                                        <p:cTn id="44" dur="1000"/>
                                        <p:tgtEl>
                                          <p:spTgt spid="2"/>
                                        </p:tgtEl>
                                      </p:cBhvr>
                                    </p:animEffect>
                                  </p:childTnLst>
                                </p:cTn>
                              </p:par>
                              <p:par>
                                <p:cTn id="45" presetID="55" presetClass="entr" presetSubtype="0" fill="hold" grpId="0" nodeType="with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p:cTn id="47" dur="1000" fill="hold"/>
                                        <p:tgtEl>
                                          <p:spTgt spid="5"/>
                                        </p:tgtEl>
                                        <p:attrNameLst>
                                          <p:attrName>ppt_w</p:attrName>
                                        </p:attrNameLst>
                                      </p:cBhvr>
                                      <p:tavLst>
                                        <p:tav tm="0">
                                          <p:val>
                                            <p:strVal val="#ppt_w*0.70"/>
                                          </p:val>
                                        </p:tav>
                                        <p:tav tm="100000">
                                          <p:val>
                                            <p:strVal val="#ppt_w"/>
                                          </p:val>
                                        </p:tav>
                                      </p:tavLst>
                                    </p:anim>
                                    <p:anim calcmode="lin" valueType="num">
                                      <p:cBhvr>
                                        <p:cTn id="48" dur="1000" fill="hold"/>
                                        <p:tgtEl>
                                          <p:spTgt spid="5"/>
                                        </p:tgtEl>
                                        <p:attrNameLst>
                                          <p:attrName>ppt_h</p:attrName>
                                        </p:attrNameLst>
                                      </p:cBhvr>
                                      <p:tavLst>
                                        <p:tav tm="0">
                                          <p:val>
                                            <p:strVal val="#ppt_h"/>
                                          </p:val>
                                        </p:tav>
                                        <p:tav tm="100000">
                                          <p:val>
                                            <p:strVal val="#ppt_h"/>
                                          </p:val>
                                        </p:tav>
                                      </p:tavLst>
                                    </p:anim>
                                    <p:animEffect transition="in" filter="fade">
                                      <p:cBhvr>
                                        <p:cTn id="49" dur="1000"/>
                                        <p:tgtEl>
                                          <p:spTgt spid="5"/>
                                        </p:tgtEl>
                                      </p:cBhvr>
                                    </p:animEffect>
                                  </p:childTnLst>
                                </p:cTn>
                              </p:par>
                              <p:par>
                                <p:cTn id="50" presetID="55" presetClass="entr" presetSubtype="0" fill="hold" grpId="0" nodeType="withEffect">
                                  <p:stCondLst>
                                    <p:cond delay="0"/>
                                  </p:stCondLst>
                                  <p:childTnLst>
                                    <p:set>
                                      <p:cBhvr>
                                        <p:cTn id="51" dur="1" fill="hold">
                                          <p:stCondLst>
                                            <p:cond delay="0"/>
                                          </p:stCondLst>
                                        </p:cTn>
                                        <p:tgtEl>
                                          <p:spTgt spid="69"/>
                                        </p:tgtEl>
                                        <p:attrNameLst>
                                          <p:attrName>style.visibility</p:attrName>
                                        </p:attrNameLst>
                                      </p:cBhvr>
                                      <p:to>
                                        <p:strVal val="visible"/>
                                      </p:to>
                                    </p:set>
                                    <p:anim calcmode="lin" valueType="num">
                                      <p:cBhvr>
                                        <p:cTn id="52" dur="1000" fill="hold"/>
                                        <p:tgtEl>
                                          <p:spTgt spid="69"/>
                                        </p:tgtEl>
                                        <p:attrNameLst>
                                          <p:attrName>ppt_w</p:attrName>
                                        </p:attrNameLst>
                                      </p:cBhvr>
                                      <p:tavLst>
                                        <p:tav tm="0">
                                          <p:val>
                                            <p:strVal val="#ppt_w*0.70"/>
                                          </p:val>
                                        </p:tav>
                                        <p:tav tm="100000">
                                          <p:val>
                                            <p:strVal val="#ppt_w"/>
                                          </p:val>
                                        </p:tav>
                                      </p:tavLst>
                                    </p:anim>
                                    <p:anim calcmode="lin" valueType="num">
                                      <p:cBhvr>
                                        <p:cTn id="53" dur="1000" fill="hold"/>
                                        <p:tgtEl>
                                          <p:spTgt spid="69"/>
                                        </p:tgtEl>
                                        <p:attrNameLst>
                                          <p:attrName>ppt_h</p:attrName>
                                        </p:attrNameLst>
                                      </p:cBhvr>
                                      <p:tavLst>
                                        <p:tav tm="0">
                                          <p:val>
                                            <p:strVal val="#ppt_h"/>
                                          </p:val>
                                        </p:tav>
                                        <p:tav tm="100000">
                                          <p:val>
                                            <p:strVal val="#ppt_h"/>
                                          </p:val>
                                        </p:tav>
                                      </p:tavLst>
                                    </p:anim>
                                    <p:animEffect transition="in" filter="fade">
                                      <p:cBhvr>
                                        <p:cTn id="54" dur="10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9" grpId="0" animBg="1"/>
      <p:bldP spid="67" grpId="0" animBg="1"/>
      <p:bldP spid="68" grpId="0" animBg="1"/>
      <p:bldP spid="2" grpId="0" animBg="1"/>
      <p:bldP spid="69" grpId="0" animBg="1"/>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PQuestion"/>
          <p:cNvSpPr>
            <a:spLocks noGrp="1"/>
          </p:cNvSpPr>
          <p:nvPr>
            <p:ph type="title"/>
          </p:nvPr>
        </p:nvSpPr>
        <p:spPr>
          <a:xfrm>
            <a:off x="381000" y="0"/>
            <a:ext cx="7937500" cy="1143000"/>
          </a:xfrm>
        </p:spPr>
        <p:txBody>
          <a:bodyPr/>
          <a:lstStyle/>
          <a:p>
            <a:pPr eaLnBrk="1" hangingPunct="1"/>
            <a:r>
              <a:rPr lang="en-US" sz="1600" dirty="0" smtClean="0">
                <a:solidFill>
                  <a:schemeClr val="tx1"/>
                </a:solidFill>
                <a:latin typeface="Calibri" charset="0"/>
                <a:ea typeface="MS PGothic" charset="0"/>
              </a:rPr>
              <a:t>(Never too early to discuss performance (# gates affects cost, power consumption, size on die (==speed))</a:t>
            </a:r>
            <a:r>
              <a:rPr lang="en-US" dirty="0" smtClean="0">
                <a:solidFill>
                  <a:schemeClr val="tx1"/>
                </a:solidFill>
                <a:latin typeface="Calibri" charset="0"/>
                <a:ea typeface="MS PGothic" charset="0"/>
              </a:rPr>
              <a:t/>
            </a:r>
            <a:br>
              <a:rPr lang="en-US" dirty="0" smtClean="0">
                <a:solidFill>
                  <a:schemeClr val="tx1"/>
                </a:solidFill>
                <a:latin typeface="Calibri" charset="0"/>
                <a:ea typeface="MS PGothic" charset="0"/>
              </a:rPr>
            </a:br>
            <a:r>
              <a:rPr lang="en-US" dirty="0" smtClean="0">
                <a:solidFill>
                  <a:srgbClr val="FF0000"/>
                </a:solidFill>
                <a:latin typeface="Calibri" charset="0"/>
                <a:ea typeface="MS PGothic" charset="0"/>
              </a:rPr>
              <a:t>Q: </a:t>
            </a:r>
            <a:r>
              <a:rPr lang="en-US" dirty="0" smtClean="0">
                <a:latin typeface="Calibri" charset="0"/>
                <a:ea typeface="MS PGothic" charset="0"/>
              </a:rPr>
              <a:t>This XNOR is in Reduced Form?</a:t>
            </a:r>
            <a:endParaRPr lang="en-US" dirty="0">
              <a:latin typeface="Calibri" charset="0"/>
              <a:ea typeface="MS PGothic" charset="0"/>
            </a:endParaRPr>
          </a:p>
        </p:txBody>
      </p:sp>
      <p:sp>
        <p:nvSpPr>
          <p:cNvPr id="2051" name="TPAnswers"/>
          <p:cNvSpPr>
            <a:spLocks noGrp="1"/>
          </p:cNvSpPr>
          <p:nvPr>
            <p:ph idx="1"/>
            <p:custDataLst>
              <p:tags r:id="rId2"/>
            </p:custDataLst>
          </p:nvPr>
        </p:nvSpPr>
        <p:spPr>
          <a:xfrm>
            <a:off x="457200" y="1066800"/>
            <a:ext cx="4114800" cy="4525963"/>
          </a:xfrm>
        </p:spPr>
        <p:txBody>
          <a:bodyPr/>
          <a:lstStyle/>
          <a:p>
            <a:pPr marL="514350" indent="-514350" eaLnBrk="1" hangingPunct="1">
              <a:buFont typeface="Arial" charset="0"/>
              <a:buAutoNum type="alphaUcPeriod"/>
            </a:pPr>
            <a:r>
              <a:rPr lang="en-US" dirty="0" smtClean="0">
                <a:latin typeface="Calibri" charset="0"/>
                <a:ea typeface="MS PGothic" charset="0"/>
              </a:rPr>
              <a:t>True</a:t>
            </a:r>
          </a:p>
          <a:p>
            <a:pPr marL="514350" indent="-514350" eaLnBrk="1" hangingPunct="1">
              <a:buFont typeface="Arial" charset="0"/>
              <a:buAutoNum type="alphaUcPeriod"/>
            </a:pPr>
            <a:r>
              <a:rPr lang="en-US" dirty="0" smtClean="0">
                <a:latin typeface="Calibri" charset="0"/>
                <a:ea typeface="MS PGothic" charset="0"/>
              </a:rPr>
              <a:t>False</a:t>
            </a:r>
            <a:endParaRPr lang="en-US" dirty="0">
              <a:latin typeface="Calibri" charset="0"/>
              <a:ea typeface="MS PGothic" charset="0"/>
            </a:endParaRPr>
          </a:p>
        </p:txBody>
      </p:sp>
      <p:sp>
        <p:nvSpPr>
          <p:cNvPr id="3" name="CAI1" hidden="1"/>
          <p:cNvSpPr/>
          <p:nvPr>
            <p:custDataLst>
              <p:tags r:id="rId3"/>
            </p:custDataLst>
          </p:nvPr>
        </p:nvSpPr>
        <p:spPr>
          <a:xfrm>
            <a:off x="243840" y="2070100"/>
            <a:ext cx="266700" cy="266700"/>
          </a:xfrm>
          <a:prstGeom prst="star5">
            <a:avLst/>
          </a:prstGeom>
          <a:gradFill flip="none" rotWithShape="1">
            <a:gsLst>
              <a:gs pos="0">
                <a:srgbClr val="FFFF00"/>
              </a:gs>
              <a:gs pos="100000">
                <a:srgbClr val="FFFFFF"/>
              </a:gs>
            </a:gsLst>
            <a:path path="rect">
              <a:fillToRect l="50000" t="50000" r="50000" b="50000"/>
            </a:path>
            <a:tileRect/>
          </a:gradFill>
          <a:ln w="12700" cap="flat" cmpd="sng" algn="ctr">
            <a:noFill/>
            <a:prstDash val="solid"/>
          </a:ln>
          <a:effectLst>
            <a:outerShdw blurRad="50800" dist="25400" algn="bl" rotWithShape="0">
              <a:srgbClr val="000000">
                <a:alpha val="60000"/>
              </a:srgbClr>
            </a:outerShdw>
          </a:effectLst>
          <a:extLst>
            <a:ext uri="{91240B29-F687-4f45-9708-019B960494DF}">
              <a14:hiddenLine xmlns:a14="http://schemas.microsoft.com/office/drawing/2010/main" w="12700"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0" name="Group 3"/>
          <p:cNvGrpSpPr>
            <a:grpSpLocks/>
          </p:cNvGrpSpPr>
          <p:nvPr/>
        </p:nvGrpSpPr>
        <p:grpSpPr bwMode="auto">
          <a:xfrm>
            <a:off x="1546225" y="2963863"/>
            <a:ext cx="969963" cy="874712"/>
            <a:chOff x="1860" y="1413"/>
            <a:chExt cx="611" cy="551"/>
          </a:xfrm>
        </p:grpSpPr>
        <p:sp>
          <p:nvSpPr>
            <p:cNvPr id="11" name="AutoShape 4"/>
            <p:cNvSpPr>
              <a:spLocks noChangeArrowheads="1"/>
            </p:cNvSpPr>
            <p:nvPr/>
          </p:nvSpPr>
          <p:spPr bwMode="auto">
            <a:xfrm rot="5400000">
              <a:off x="1870" y="1403"/>
              <a:ext cx="551" cy="571"/>
            </a:xfrm>
            <a:prstGeom prst="triangle">
              <a:avLst>
                <a:gd name="adj" fmla="val 50000"/>
              </a:avLst>
            </a:prstGeom>
            <a:solidFill>
              <a:srgbClr val="FFFFFF"/>
            </a:solidFill>
            <a:ln w="28575">
              <a:solidFill>
                <a:schemeClr val="tx1"/>
              </a:solidFill>
              <a:miter lim="800000"/>
              <a:headEnd/>
              <a:tailEnd/>
            </a:ln>
          </p:spPr>
          <p:txBody>
            <a:bodyPr wrap="none" anchor="ctr"/>
            <a:lstStyle/>
            <a:p>
              <a:endParaRPr lang="en-US" sz="1200" b="1"/>
            </a:p>
          </p:txBody>
        </p:sp>
        <p:sp>
          <p:nvSpPr>
            <p:cNvPr id="12" name="Oval 5"/>
            <p:cNvSpPr>
              <a:spLocks noChangeArrowheads="1"/>
            </p:cNvSpPr>
            <p:nvPr/>
          </p:nvSpPr>
          <p:spPr bwMode="auto">
            <a:xfrm flipH="1">
              <a:off x="2409" y="1654"/>
              <a:ext cx="62" cy="62"/>
            </a:xfrm>
            <a:prstGeom prst="ellipse">
              <a:avLst/>
            </a:prstGeom>
            <a:solidFill>
              <a:srgbClr val="FFFFFF"/>
            </a:solidFill>
            <a:ln w="19050">
              <a:solidFill>
                <a:schemeClr val="tx1"/>
              </a:solidFill>
              <a:round/>
              <a:headEnd/>
              <a:tailEnd/>
            </a:ln>
          </p:spPr>
          <p:txBody>
            <a:bodyPr wrap="none" anchor="ctr"/>
            <a:lstStyle/>
            <a:p>
              <a:endParaRPr lang="en-US" sz="1200" b="1"/>
            </a:p>
          </p:txBody>
        </p:sp>
      </p:grpSp>
      <p:sp>
        <p:nvSpPr>
          <p:cNvPr id="13" name="AutoShape 6"/>
          <p:cNvSpPr>
            <a:spLocks noChangeArrowheads="1"/>
          </p:cNvSpPr>
          <p:nvPr/>
        </p:nvSpPr>
        <p:spPr bwMode="auto">
          <a:xfrm>
            <a:off x="3906838" y="2808288"/>
            <a:ext cx="838200" cy="685800"/>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b="1"/>
          </a:p>
        </p:txBody>
      </p:sp>
      <p:sp>
        <p:nvSpPr>
          <p:cNvPr id="14" name="AutoShape 7"/>
          <p:cNvSpPr>
            <a:spLocks noChangeArrowheads="1"/>
          </p:cNvSpPr>
          <p:nvPr/>
        </p:nvSpPr>
        <p:spPr bwMode="auto">
          <a:xfrm flipH="1">
            <a:off x="5765800" y="3400425"/>
            <a:ext cx="785813" cy="708025"/>
          </a:xfrm>
          <a:prstGeom prst="moon">
            <a:avLst>
              <a:gd name="adj" fmla="val 73810"/>
            </a:avLst>
          </a:prstGeom>
          <a:solidFill>
            <a:srgbClr val="FFFFFF"/>
          </a:solidFill>
          <a:ln w="28575">
            <a:solidFill>
              <a:schemeClr val="tx1"/>
            </a:solidFill>
            <a:miter lim="800000"/>
            <a:headEnd/>
            <a:tailEnd/>
          </a:ln>
        </p:spPr>
        <p:txBody>
          <a:bodyPr wrap="none" anchor="ctr"/>
          <a:lstStyle/>
          <a:p>
            <a:endParaRPr lang="en-US" sz="1200" b="1"/>
          </a:p>
        </p:txBody>
      </p:sp>
      <p:sp>
        <p:nvSpPr>
          <p:cNvPr id="15" name="Line 8"/>
          <p:cNvSpPr>
            <a:spLocks noChangeShapeType="1"/>
          </p:cNvSpPr>
          <p:nvPr/>
        </p:nvSpPr>
        <p:spPr bwMode="auto">
          <a:xfrm flipH="1" flipV="1">
            <a:off x="579438" y="2193925"/>
            <a:ext cx="2894012"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Text Box 9"/>
          <p:cNvSpPr txBox="1">
            <a:spLocks noChangeArrowheads="1"/>
          </p:cNvSpPr>
          <p:nvPr/>
        </p:nvSpPr>
        <p:spPr bwMode="auto">
          <a:xfrm>
            <a:off x="330200" y="2057400"/>
            <a:ext cx="2936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a:t>
            </a:r>
          </a:p>
        </p:txBody>
      </p:sp>
      <p:sp>
        <p:nvSpPr>
          <p:cNvPr id="17" name="Freeform 10"/>
          <p:cNvSpPr>
            <a:spLocks/>
          </p:cNvSpPr>
          <p:nvPr/>
        </p:nvSpPr>
        <p:spPr bwMode="auto">
          <a:xfrm>
            <a:off x="1025525" y="2193925"/>
            <a:ext cx="498475" cy="1201738"/>
          </a:xfrm>
          <a:custGeom>
            <a:avLst/>
            <a:gdLst>
              <a:gd name="T0" fmla="*/ 0 w 320"/>
              <a:gd name="T1" fmla="*/ 0 h 435"/>
              <a:gd name="T2" fmla="*/ 0 w 320"/>
              <a:gd name="T3" fmla="*/ 2147483647 h 435"/>
              <a:gd name="T4" fmla="*/ 2147483647 w 320"/>
              <a:gd name="T5" fmla="*/ 2147483647 h 435"/>
              <a:gd name="T6" fmla="*/ 0 60000 65536"/>
              <a:gd name="T7" fmla="*/ 0 60000 65536"/>
              <a:gd name="T8" fmla="*/ 0 60000 65536"/>
              <a:gd name="T9" fmla="*/ 0 w 320"/>
              <a:gd name="T10" fmla="*/ 0 h 435"/>
              <a:gd name="T11" fmla="*/ 320 w 320"/>
              <a:gd name="T12" fmla="*/ 435 h 435"/>
            </a:gdLst>
            <a:ahLst/>
            <a:cxnLst>
              <a:cxn ang="T6">
                <a:pos x="T0" y="T1"/>
              </a:cxn>
              <a:cxn ang="T7">
                <a:pos x="T2" y="T3"/>
              </a:cxn>
              <a:cxn ang="T8">
                <a:pos x="T4" y="T5"/>
              </a:cxn>
            </a:cxnLst>
            <a:rect l="T9" t="T10" r="T11" b="T12"/>
            <a:pathLst>
              <a:path w="320" h="435">
                <a:moveTo>
                  <a:pt x="0" y="0"/>
                </a:moveTo>
                <a:lnTo>
                  <a:pt x="0" y="435"/>
                </a:lnTo>
                <a:lnTo>
                  <a:pt x="320" y="435"/>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Oval 11"/>
          <p:cNvSpPr>
            <a:spLocks noChangeArrowheads="1"/>
          </p:cNvSpPr>
          <p:nvPr/>
        </p:nvSpPr>
        <p:spPr bwMode="auto">
          <a:xfrm>
            <a:off x="965200" y="2124075"/>
            <a:ext cx="131763" cy="131763"/>
          </a:xfrm>
          <a:prstGeom prst="ellipse">
            <a:avLst/>
          </a:prstGeom>
          <a:solidFill>
            <a:schemeClr val="tx1"/>
          </a:solidFill>
          <a:ln w="19050">
            <a:solidFill>
              <a:schemeClr val="tx1"/>
            </a:solidFill>
            <a:round/>
            <a:headEnd/>
            <a:tailEnd/>
          </a:ln>
        </p:spPr>
        <p:txBody>
          <a:bodyPr wrap="none" anchor="ctr"/>
          <a:lstStyle/>
          <a:p>
            <a:endParaRPr lang="en-US" sz="1200" b="1"/>
          </a:p>
        </p:txBody>
      </p:sp>
      <p:sp>
        <p:nvSpPr>
          <p:cNvPr id="19" name="AutoShape 12"/>
          <p:cNvSpPr>
            <a:spLocks noChangeArrowheads="1"/>
          </p:cNvSpPr>
          <p:nvPr/>
        </p:nvSpPr>
        <p:spPr bwMode="auto">
          <a:xfrm>
            <a:off x="3924300" y="3986213"/>
            <a:ext cx="838200" cy="685800"/>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b="1"/>
          </a:p>
        </p:txBody>
      </p:sp>
      <p:grpSp>
        <p:nvGrpSpPr>
          <p:cNvPr id="20" name="Group 13"/>
          <p:cNvGrpSpPr>
            <a:grpSpLocks/>
          </p:cNvGrpSpPr>
          <p:nvPr/>
        </p:nvGrpSpPr>
        <p:grpSpPr bwMode="auto">
          <a:xfrm>
            <a:off x="1539875" y="3984625"/>
            <a:ext cx="969963" cy="874713"/>
            <a:chOff x="1860" y="1413"/>
            <a:chExt cx="611" cy="551"/>
          </a:xfrm>
        </p:grpSpPr>
        <p:sp>
          <p:nvSpPr>
            <p:cNvPr id="21" name="AutoShape 14"/>
            <p:cNvSpPr>
              <a:spLocks noChangeArrowheads="1"/>
            </p:cNvSpPr>
            <p:nvPr/>
          </p:nvSpPr>
          <p:spPr bwMode="auto">
            <a:xfrm rot="5400000">
              <a:off x="1870" y="1403"/>
              <a:ext cx="551" cy="571"/>
            </a:xfrm>
            <a:prstGeom prst="triangle">
              <a:avLst>
                <a:gd name="adj" fmla="val 50000"/>
              </a:avLst>
            </a:prstGeom>
            <a:solidFill>
              <a:srgbClr val="FFFFFF"/>
            </a:solidFill>
            <a:ln w="28575">
              <a:solidFill>
                <a:schemeClr val="tx1"/>
              </a:solidFill>
              <a:miter lim="800000"/>
              <a:headEnd/>
              <a:tailEnd/>
            </a:ln>
          </p:spPr>
          <p:txBody>
            <a:bodyPr wrap="none" anchor="ctr"/>
            <a:lstStyle/>
            <a:p>
              <a:endParaRPr lang="en-US" sz="1200" b="1"/>
            </a:p>
          </p:txBody>
        </p:sp>
        <p:sp>
          <p:nvSpPr>
            <p:cNvPr id="22" name="Oval 15"/>
            <p:cNvSpPr>
              <a:spLocks noChangeArrowheads="1"/>
            </p:cNvSpPr>
            <p:nvPr/>
          </p:nvSpPr>
          <p:spPr bwMode="auto">
            <a:xfrm flipH="1">
              <a:off x="2409" y="1654"/>
              <a:ext cx="62" cy="62"/>
            </a:xfrm>
            <a:prstGeom prst="ellipse">
              <a:avLst/>
            </a:prstGeom>
            <a:solidFill>
              <a:srgbClr val="FFFFFF"/>
            </a:solidFill>
            <a:ln w="19050">
              <a:solidFill>
                <a:schemeClr val="tx1"/>
              </a:solidFill>
              <a:round/>
              <a:headEnd/>
              <a:tailEnd/>
            </a:ln>
          </p:spPr>
          <p:txBody>
            <a:bodyPr wrap="none" anchor="ctr"/>
            <a:lstStyle/>
            <a:p>
              <a:endParaRPr lang="en-US" sz="1200" b="1"/>
            </a:p>
          </p:txBody>
        </p:sp>
      </p:grpSp>
      <p:sp>
        <p:nvSpPr>
          <p:cNvPr id="23" name="Line 16"/>
          <p:cNvSpPr>
            <a:spLocks noChangeShapeType="1"/>
          </p:cNvSpPr>
          <p:nvPr/>
        </p:nvSpPr>
        <p:spPr bwMode="auto">
          <a:xfrm flipH="1" flipV="1">
            <a:off x="606425" y="5318125"/>
            <a:ext cx="2828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Freeform 17"/>
          <p:cNvSpPr>
            <a:spLocks/>
          </p:cNvSpPr>
          <p:nvPr/>
        </p:nvSpPr>
        <p:spPr bwMode="auto">
          <a:xfrm flipV="1">
            <a:off x="985838" y="4435475"/>
            <a:ext cx="554037" cy="901700"/>
          </a:xfrm>
          <a:custGeom>
            <a:avLst/>
            <a:gdLst>
              <a:gd name="T0" fmla="*/ 0 w 320"/>
              <a:gd name="T1" fmla="*/ 0 h 435"/>
              <a:gd name="T2" fmla="*/ 0 w 320"/>
              <a:gd name="T3" fmla="*/ 2147483647 h 435"/>
              <a:gd name="T4" fmla="*/ 2147483647 w 320"/>
              <a:gd name="T5" fmla="*/ 2147483647 h 435"/>
              <a:gd name="T6" fmla="*/ 0 60000 65536"/>
              <a:gd name="T7" fmla="*/ 0 60000 65536"/>
              <a:gd name="T8" fmla="*/ 0 60000 65536"/>
              <a:gd name="T9" fmla="*/ 0 w 320"/>
              <a:gd name="T10" fmla="*/ 0 h 435"/>
              <a:gd name="T11" fmla="*/ 320 w 320"/>
              <a:gd name="T12" fmla="*/ 435 h 435"/>
            </a:gdLst>
            <a:ahLst/>
            <a:cxnLst>
              <a:cxn ang="T6">
                <a:pos x="T0" y="T1"/>
              </a:cxn>
              <a:cxn ang="T7">
                <a:pos x="T2" y="T3"/>
              </a:cxn>
              <a:cxn ang="T8">
                <a:pos x="T4" y="T5"/>
              </a:cxn>
            </a:cxnLst>
            <a:rect l="T9" t="T10" r="T11" b="T12"/>
            <a:pathLst>
              <a:path w="320" h="435">
                <a:moveTo>
                  <a:pt x="0" y="0"/>
                </a:moveTo>
                <a:lnTo>
                  <a:pt x="0" y="435"/>
                </a:lnTo>
                <a:lnTo>
                  <a:pt x="320" y="435"/>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 name="Oval 18"/>
          <p:cNvSpPr>
            <a:spLocks noChangeArrowheads="1"/>
          </p:cNvSpPr>
          <p:nvPr/>
        </p:nvSpPr>
        <p:spPr bwMode="auto">
          <a:xfrm flipV="1">
            <a:off x="935038" y="5254625"/>
            <a:ext cx="109537" cy="131763"/>
          </a:xfrm>
          <a:prstGeom prst="ellipse">
            <a:avLst/>
          </a:prstGeom>
          <a:solidFill>
            <a:schemeClr val="tx1"/>
          </a:solidFill>
          <a:ln w="19050">
            <a:solidFill>
              <a:schemeClr val="tx1"/>
            </a:solidFill>
            <a:round/>
            <a:headEnd/>
            <a:tailEnd/>
          </a:ln>
        </p:spPr>
        <p:txBody>
          <a:bodyPr wrap="none" anchor="ctr"/>
          <a:lstStyle/>
          <a:p>
            <a:endParaRPr lang="en-US" sz="1200" b="1"/>
          </a:p>
        </p:txBody>
      </p:sp>
      <p:sp>
        <p:nvSpPr>
          <p:cNvPr id="26" name="Text Box 20"/>
          <p:cNvSpPr txBox="1">
            <a:spLocks noChangeArrowheads="1"/>
          </p:cNvSpPr>
          <p:nvPr/>
        </p:nvSpPr>
        <p:spPr bwMode="auto">
          <a:xfrm>
            <a:off x="315912" y="5181600"/>
            <a:ext cx="2936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27" name="Freeform 23"/>
          <p:cNvSpPr>
            <a:spLocks/>
          </p:cNvSpPr>
          <p:nvPr/>
        </p:nvSpPr>
        <p:spPr bwMode="auto">
          <a:xfrm>
            <a:off x="2519363" y="3300413"/>
            <a:ext cx="1392237" cy="1119187"/>
          </a:xfrm>
          <a:custGeom>
            <a:avLst/>
            <a:gdLst>
              <a:gd name="T0" fmla="*/ 0 w 877"/>
              <a:gd name="T1" fmla="*/ 2147483647 h 1305"/>
              <a:gd name="T2" fmla="*/ 2147483647 w 877"/>
              <a:gd name="T3" fmla="*/ 2147483647 h 1305"/>
              <a:gd name="T4" fmla="*/ 2147483647 w 877"/>
              <a:gd name="T5" fmla="*/ 0 h 1305"/>
              <a:gd name="T6" fmla="*/ 2147483647 w 877"/>
              <a:gd name="T7" fmla="*/ 0 h 1305"/>
              <a:gd name="T8" fmla="*/ 0 60000 65536"/>
              <a:gd name="T9" fmla="*/ 0 60000 65536"/>
              <a:gd name="T10" fmla="*/ 0 60000 65536"/>
              <a:gd name="T11" fmla="*/ 0 60000 65536"/>
              <a:gd name="T12" fmla="*/ 0 w 877"/>
              <a:gd name="T13" fmla="*/ 0 h 1305"/>
              <a:gd name="T14" fmla="*/ 877 w 877"/>
              <a:gd name="T15" fmla="*/ 1305 h 1305"/>
            </a:gdLst>
            <a:ahLst/>
            <a:cxnLst>
              <a:cxn ang="T8">
                <a:pos x="T0" y="T1"/>
              </a:cxn>
              <a:cxn ang="T9">
                <a:pos x="T2" y="T3"/>
              </a:cxn>
              <a:cxn ang="T10">
                <a:pos x="T4" y="T5"/>
              </a:cxn>
              <a:cxn ang="T11">
                <a:pos x="T6" y="T7"/>
              </a:cxn>
            </a:cxnLst>
            <a:rect l="T12" t="T13" r="T14" b="T15"/>
            <a:pathLst>
              <a:path w="877" h="1305">
                <a:moveTo>
                  <a:pt x="0" y="1305"/>
                </a:moveTo>
                <a:lnTo>
                  <a:pt x="518" y="1305"/>
                </a:lnTo>
                <a:lnTo>
                  <a:pt x="525" y="0"/>
                </a:lnTo>
                <a:lnTo>
                  <a:pt x="877"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 name="Freeform 24"/>
          <p:cNvSpPr>
            <a:spLocks/>
          </p:cNvSpPr>
          <p:nvPr/>
        </p:nvSpPr>
        <p:spPr bwMode="auto">
          <a:xfrm>
            <a:off x="2489200" y="3395663"/>
            <a:ext cx="1406525" cy="782637"/>
          </a:xfrm>
          <a:custGeom>
            <a:avLst/>
            <a:gdLst>
              <a:gd name="T0" fmla="*/ 0 w 883"/>
              <a:gd name="T1" fmla="*/ 0 h 1254"/>
              <a:gd name="T2" fmla="*/ 2147483647 w 883"/>
              <a:gd name="T3" fmla="*/ 0 h 1254"/>
              <a:gd name="T4" fmla="*/ 2147483647 w 883"/>
              <a:gd name="T5" fmla="*/ 2147483647 h 1254"/>
              <a:gd name="T6" fmla="*/ 2147483647 w 883"/>
              <a:gd name="T7" fmla="*/ 2147483647 h 1254"/>
              <a:gd name="T8" fmla="*/ 0 60000 65536"/>
              <a:gd name="T9" fmla="*/ 0 60000 65536"/>
              <a:gd name="T10" fmla="*/ 0 60000 65536"/>
              <a:gd name="T11" fmla="*/ 0 60000 65536"/>
              <a:gd name="T12" fmla="*/ 0 w 883"/>
              <a:gd name="T13" fmla="*/ 0 h 1254"/>
              <a:gd name="T14" fmla="*/ 883 w 883"/>
              <a:gd name="T15" fmla="*/ 1254 h 1254"/>
            </a:gdLst>
            <a:ahLst/>
            <a:cxnLst>
              <a:cxn ang="T8">
                <a:pos x="T0" y="T1"/>
              </a:cxn>
              <a:cxn ang="T9">
                <a:pos x="T2" y="T3"/>
              </a:cxn>
              <a:cxn ang="T10">
                <a:pos x="T4" y="T5"/>
              </a:cxn>
              <a:cxn ang="T11">
                <a:pos x="T6" y="T7"/>
              </a:cxn>
            </a:cxnLst>
            <a:rect l="T12" t="T13" r="T14" b="T15"/>
            <a:pathLst>
              <a:path w="883" h="1254">
                <a:moveTo>
                  <a:pt x="0" y="0"/>
                </a:moveTo>
                <a:lnTo>
                  <a:pt x="281" y="0"/>
                </a:lnTo>
                <a:lnTo>
                  <a:pt x="288" y="1254"/>
                </a:lnTo>
                <a:lnTo>
                  <a:pt x="883" y="124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 name="Text Box 25"/>
          <p:cNvSpPr txBox="1">
            <a:spLocks noChangeArrowheads="1"/>
          </p:cNvSpPr>
          <p:nvPr/>
        </p:nvSpPr>
        <p:spPr bwMode="auto">
          <a:xfrm>
            <a:off x="3559175" y="3814763"/>
            <a:ext cx="2952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a:t>
            </a:r>
          </a:p>
        </p:txBody>
      </p:sp>
      <p:sp>
        <p:nvSpPr>
          <p:cNvPr id="30" name="Line 26"/>
          <p:cNvSpPr>
            <a:spLocks noChangeShapeType="1"/>
          </p:cNvSpPr>
          <p:nvPr/>
        </p:nvSpPr>
        <p:spPr bwMode="auto">
          <a:xfrm>
            <a:off x="3627438" y="3851275"/>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Text Box 27"/>
          <p:cNvSpPr txBox="1">
            <a:spLocks noChangeArrowheads="1"/>
          </p:cNvSpPr>
          <p:nvPr/>
        </p:nvSpPr>
        <p:spPr bwMode="auto">
          <a:xfrm>
            <a:off x="3587750" y="3355975"/>
            <a:ext cx="2952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32" name="Line 28"/>
          <p:cNvSpPr>
            <a:spLocks noChangeShapeType="1"/>
          </p:cNvSpPr>
          <p:nvPr/>
        </p:nvSpPr>
        <p:spPr bwMode="auto">
          <a:xfrm>
            <a:off x="3654425" y="3392488"/>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Text Box 29"/>
          <p:cNvSpPr txBox="1">
            <a:spLocks noChangeArrowheads="1"/>
          </p:cNvSpPr>
          <p:nvPr/>
        </p:nvSpPr>
        <p:spPr bwMode="auto">
          <a:xfrm>
            <a:off x="3538538" y="2590800"/>
            <a:ext cx="2952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a:t>
            </a:r>
          </a:p>
        </p:txBody>
      </p:sp>
      <p:sp>
        <p:nvSpPr>
          <p:cNvPr id="34" name="Text Box 30"/>
          <p:cNvSpPr txBox="1">
            <a:spLocks noChangeArrowheads="1"/>
          </p:cNvSpPr>
          <p:nvPr/>
        </p:nvSpPr>
        <p:spPr bwMode="auto">
          <a:xfrm>
            <a:off x="3540125" y="4554538"/>
            <a:ext cx="2952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35" name="Freeform 31"/>
          <p:cNvSpPr>
            <a:spLocks/>
          </p:cNvSpPr>
          <p:nvPr/>
        </p:nvSpPr>
        <p:spPr bwMode="auto">
          <a:xfrm>
            <a:off x="4743450" y="3930650"/>
            <a:ext cx="1179513" cy="393700"/>
          </a:xfrm>
          <a:custGeom>
            <a:avLst/>
            <a:gdLst>
              <a:gd name="T0" fmla="*/ 0 w 743"/>
              <a:gd name="T1" fmla="*/ 2147483647 h 781"/>
              <a:gd name="T2" fmla="*/ 2147483647 w 743"/>
              <a:gd name="T3" fmla="*/ 2147483647 h 781"/>
              <a:gd name="T4" fmla="*/ 2147483647 w 743"/>
              <a:gd name="T5" fmla="*/ 0 h 781"/>
              <a:gd name="T6" fmla="*/ 2147483647 w 743"/>
              <a:gd name="T7" fmla="*/ 0 h 781"/>
              <a:gd name="T8" fmla="*/ 0 60000 65536"/>
              <a:gd name="T9" fmla="*/ 0 60000 65536"/>
              <a:gd name="T10" fmla="*/ 0 60000 65536"/>
              <a:gd name="T11" fmla="*/ 0 60000 65536"/>
              <a:gd name="T12" fmla="*/ 0 w 743"/>
              <a:gd name="T13" fmla="*/ 0 h 781"/>
              <a:gd name="T14" fmla="*/ 743 w 743"/>
              <a:gd name="T15" fmla="*/ 781 h 781"/>
            </a:gdLst>
            <a:ahLst/>
            <a:cxnLst>
              <a:cxn ang="T8">
                <a:pos x="T0" y="T1"/>
              </a:cxn>
              <a:cxn ang="T9">
                <a:pos x="T2" y="T3"/>
              </a:cxn>
              <a:cxn ang="T10">
                <a:pos x="T4" y="T5"/>
              </a:cxn>
              <a:cxn ang="T11">
                <a:pos x="T6" y="T7"/>
              </a:cxn>
            </a:cxnLst>
            <a:rect l="T12" t="T13" r="T14" b="T15"/>
            <a:pathLst>
              <a:path w="743" h="781">
                <a:moveTo>
                  <a:pt x="0" y="781"/>
                </a:moveTo>
                <a:lnTo>
                  <a:pt x="404" y="781"/>
                </a:lnTo>
                <a:lnTo>
                  <a:pt x="404" y="0"/>
                </a:lnTo>
                <a:lnTo>
                  <a:pt x="743"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Freeform 32"/>
          <p:cNvSpPr>
            <a:spLocks/>
          </p:cNvSpPr>
          <p:nvPr/>
        </p:nvSpPr>
        <p:spPr bwMode="auto">
          <a:xfrm flipV="1">
            <a:off x="4754563" y="3149600"/>
            <a:ext cx="1179512" cy="446088"/>
          </a:xfrm>
          <a:custGeom>
            <a:avLst/>
            <a:gdLst>
              <a:gd name="T0" fmla="*/ 0 w 743"/>
              <a:gd name="T1" fmla="*/ 2147483647 h 781"/>
              <a:gd name="T2" fmla="*/ 2147483647 w 743"/>
              <a:gd name="T3" fmla="*/ 2147483647 h 781"/>
              <a:gd name="T4" fmla="*/ 2147483647 w 743"/>
              <a:gd name="T5" fmla="*/ 0 h 781"/>
              <a:gd name="T6" fmla="*/ 2147483647 w 743"/>
              <a:gd name="T7" fmla="*/ 0 h 781"/>
              <a:gd name="T8" fmla="*/ 0 60000 65536"/>
              <a:gd name="T9" fmla="*/ 0 60000 65536"/>
              <a:gd name="T10" fmla="*/ 0 60000 65536"/>
              <a:gd name="T11" fmla="*/ 0 60000 65536"/>
              <a:gd name="T12" fmla="*/ 0 w 743"/>
              <a:gd name="T13" fmla="*/ 0 h 781"/>
              <a:gd name="T14" fmla="*/ 743 w 743"/>
              <a:gd name="T15" fmla="*/ 781 h 781"/>
            </a:gdLst>
            <a:ahLst/>
            <a:cxnLst>
              <a:cxn ang="T8">
                <a:pos x="T0" y="T1"/>
              </a:cxn>
              <a:cxn ang="T9">
                <a:pos x="T2" y="T3"/>
              </a:cxn>
              <a:cxn ang="T10">
                <a:pos x="T4" y="T5"/>
              </a:cxn>
              <a:cxn ang="T11">
                <a:pos x="T6" y="T7"/>
              </a:cxn>
            </a:cxnLst>
            <a:rect l="T12" t="T13" r="T14" b="T15"/>
            <a:pathLst>
              <a:path w="743" h="781">
                <a:moveTo>
                  <a:pt x="0" y="781"/>
                </a:moveTo>
                <a:lnTo>
                  <a:pt x="404" y="781"/>
                </a:lnTo>
                <a:lnTo>
                  <a:pt x="404" y="0"/>
                </a:lnTo>
                <a:lnTo>
                  <a:pt x="743"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 name="Text Box 33"/>
          <p:cNvSpPr txBox="1">
            <a:spLocks noChangeArrowheads="1"/>
          </p:cNvSpPr>
          <p:nvPr/>
        </p:nvSpPr>
        <p:spPr bwMode="auto">
          <a:xfrm>
            <a:off x="4797425" y="2817813"/>
            <a:ext cx="35401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a:t>
            </a:r>
          </a:p>
        </p:txBody>
      </p:sp>
      <p:sp>
        <p:nvSpPr>
          <p:cNvPr id="38" name="Text Box 34"/>
          <p:cNvSpPr txBox="1">
            <a:spLocks noChangeArrowheads="1"/>
          </p:cNvSpPr>
          <p:nvPr/>
        </p:nvSpPr>
        <p:spPr bwMode="auto">
          <a:xfrm>
            <a:off x="5019675" y="2835275"/>
            <a:ext cx="2952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39" name="Line 35"/>
          <p:cNvSpPr>
            <a:spLocks noChangeShapeType="1"/>
          </p:cNvSpPr>
          <p:nvPr/>
        </p:nvSpPr>
        <p:spPr bwMode="auto">
          <a:xfrm>
            <a:off x="5086350" y="2843213"/>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Text Box 36"/>
          <p:cNvSpPr txBox="1">
            <a:spLocks noChangeArrowheads="1"/>
          </p:cNvSpPr>
          <p:nvPr/>
        </p:nvSpPr>
        <p:spPr bwMode="auto">
          <a:xfrm>
            <a:off x="4792663" y="4414838"/>
            <a:ext cx="39211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 *</a:t>
            </a:r>
          </a:p>
        </p:txBody>
      </p:sp>
      <p:sp>
        <p:nvSpPr>
          <p:cNvPr id="41" name="Line 37"/>
          <p:cNvSpPr>
            <a:spLocks noChangeShapeType="1"/>
          </p:cNvSpPr>
          <p:nvPr/>
        </p:nvSpPr>
        <p:spPr bwMode="auto">
          <a:xfrm>
            <a:off x="4846638" y="4451350"/>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Text Box 38"/>
          <p:cNvSpPr txBox="1">
            <a:spLocks noChangeArrowheads="1"/>
          </p:cNvSpPr>
          <p:nvPr/>
        </p:nvSpPr>
        <p:spPr bwMode="auto">
          <a:xfrm>
            <a:off x="5084763" y="4405313"/>
            <a:ext cx="2952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43" name="Line 39"/>
          <p:cNvSpPr>
            <a:spLocks noChangeShapeType="1"/>
          </p:cNvSpPr>
          <p:nvPr/>
        </p:nvSpPr>
        <p:spPr bwMode="auto">
          <a:xfrm>
            <a:off x="6553200" y="3748088"/>
            <a:ext cx="6191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Text Box 40"/>
          <p:cNvSpPr txBox="1">
            <a:spLocks noChangeArrowheads="1"/>
          </p:cNvSpPr>
          <p:nvPr/>
        </p:nvSpPr>
        <p:spPr bwMode="auto">
          <a:xfrm>
            <a:off x="7208838" y="3622675"/>
            <a:ext cx="2936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C</a:t>
            </a:r>
          </a:p>
        </p:txBody>
      </p:sp>
      <p:sp>
        <p:nvSpPr>
          <p:cNvPr id="45" name="Line 44"/>
          <p:cNvSpPr>
            <a:spLocks noChangeShapeType="1"/>
          </p:cNvSpPr>
          <p:nvPr/>
        </p:nvSpPr>
        <p:spPr bwMode="auto">
          <a:xfrm>
            <a:off x="4556126" y="6216332"/>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47"/>
          <p:cNvSpPr>
            <a:spLocks noChangeShapeType="1"/>
          </p:cNvSpPr>
          <p:nvPr/>
        </p:nvSpPr>
        <p:spPr bwMode="auto">
          <a:xfrm>
            <a:off x="5113338" y="6217920"/>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Freeform 23"/>
          <p:cNvSpPr>
            <a:spLocks/>
          </p:cNvSpPr>
          <p:nvPr/>
        </p:nvSpPr>
        <p:spPr bwMode="auto">
          <a:xfrm>
            <a:off x="2822575" y="4487863"/>
            <a:ext cx="1087438" cy="835025"/>
          </a:xfrm>
          <a:custGeom>
            <a:avLst/>
            <a:gdLst>
              <a:gd name="T0" fmla="*/ 0 w 877"/>
              <a:gd name="T1" fmla="*/ 2147483647 h 1305"/>
              <a:gd name="T2" fmla="*/ 2147483647 w 877"/>
              <a:gd name="T3" fmla="*/ 2147483647 h 1305"/>
              <a:gd name="T4" fmla="*/ 2147483647 w 877"/>
              <a:gd name="T5" fmla="*/ 0 h 1305"/>
              <a:gd name="T6" fmla="*/ 2147483647 w 877"/>
              <a:gd name="T7" fmla="*/ 0 h 1305"/>
              <a:gd name="T8" fmla="*/ 0 60000 65536"/>
              <a:gd name="T9" fmla="*/ 0 60000 65536"/>
              <a:gd name="T10" fmla="*/ 0 60000 65536"/>
              <a:gd name="T11" fmla="*/ 0 60000 65536"/>
              <a:gd name="T12" fmla="*/ 0 w 877"/>
              <a:gd name="T13" fmla="*/ 0 h 1305"/>
              <a:gd name="T14" fmla="*/ 877 w 877"/>
              <a:gd name="T15" fmla="*/ 1305 h 1305"/>
            </a:gdLst>
            <a:ahLst/>
            <a:cxnLst>
              <a:cxn ang="T8">
                <a:pos x="T0" y="T1"/>
              </a:cxn>
              <a:cxn ang="T9">
                <a:pos x="T2" y="T3"/>
              </a:cxn>
              <a:cxn ang="T10">
                <a:pos x="T4" y="T5"/>
              </a:cxn>
              <a:cxn ang="T11">
                <a:pos x="T6" y="T7"/>
              </a:cxn>
            </a:cxnLst>
            <a:rect l="T12" t="T13" r="T14" b="T15"/>
            <a:pathLst>
              <a:path w="877" h="1305">
                <a:moveTo>
                  <a:pt x="0" y="1305"/>
                </a:moveTo>
                <a:lnTo>
                  <a:pt x="518" y="1305"/>
                </a:lnTo>
                <a:lnTo>
                  <a:pt x="525" y="0"/>
                </a:lnTo>
                <a:lnTo>
                  <a:pt x="877"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 name="Freeform 23"/>
          <p:cNvSpPr>
            <a:spLocks/>
          </p:cNvSpPr>
          <p:nvPr/>
        </p:nvSpPr>
        <p:spPr bwMode="auto">
          <a:xfrm flipV="1">
            <a:off x="2833688" y="2197100"/>
            <a:ext cx="1077912" cy="723900"/>
          </a:xfrm>
          <a:custGeom>
            <a:avLst/>
            <a:gdLst>
              <a:gd name="T0" fmla="*/ 0 w 877"/>
              <a:gd name="T1" fmla="*/ 2147483647 h 1305"/>
              <a:gd name="T2" fmla="*/ 2147483647 w 877"/>
              <a:gd name="T3" fmla="*/ 2147483647 h 1305"/>
              <a:gd name="T4" fmla="*/ 2147483647 w 877"/>
              <a:gd name="T5" fmla="*/ 0 h 1305"/>
              <a:gd name="T6" fmla="*/ 2147483647 w 877"/>
              <a:gd name="T7" fmla="*/ 0 h 1305"/>
              <a:gd name="T8" fmla="*/ 0 60000 65536"/>
              <a:gd name="T9" fmla="*/ 0 60000 65536"/>
              <a:gd name="T10" fmla="*/ 0 60000 65536"/>
              <a:gd name="T11" fmla="*/ 0 60000 65536"/>
              <a:gd name="T12" fmla="*/ 0 w 877"/>
              <a:gd name="T13" fmla="*/ 0 h 1305"/>
              <a:gd name="T14" fmla="*/ 877 w 877"/>
              <a:gd name="T15" fmla="*/ 1305 h 1305"/>
            </a:gdLst>
            <a:ahLst/>
            <a:cxnLst>
              <a:cxn ang="T8">
                <a:pos x="T0" y="T1"/>
              </a:cxn>
              <a:cxn ang="T9">
                <a:pos x="T2" y="T3"/>
              </a:cxn>
              <a:cxn ang="T10">
                <a:pos x="T4" y="T5"/>
              </a:cxn>
              <a:cxn ang="T11">
                <a:pos x="T6" y="T7"/>
              </a:cxn>
            </a:cxnLst>
            <a:rect l="T12" t="T13" r="T14" b="T15"/>
            <a:pathLst>
              <a:path w="877" h="1305">
                <a:moveTo>
                  <a:pt x="0" y="1305"/>
                </a:moveTo>
                <a:lnTo>
                  <a:pt x="518" y="1305"/>
                </a:lnTo>
                <a:lnTo>
                  <a:pt x="525" y="0"/>
                </a:lnTo>
                <a:lnTo>
                  <a:pt x="877"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 name="Extract 48"/>
          <p:cNvSpPr/>
          <p:nvPr/>
        </p:nvSpPr>
        <p:spPr>
          <a:xfrm rot="5400000">
            <a:off x="6663531" y="3417888"/>
            <a:ext cx="838200" cy="685800"/>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a:t>
            </a:r>
            <a:endParaRPr lang="en-US" dirty="0"/>
          </a:p>
        </p:txBody>
      </p:sp>
      <p:sp>
        <p:nvSpPr>
          <p:cNvPr id="50" name="Oval 49"/>
          <p:cNvSpPr/>
          <p:nvPr/>
        </p:nvSpPr>
        <p:spPr>
          <a:xfrm>
            <a:off x="7349331" y="3646488"/>
            <a:ext cx="228600" cy="22900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7577931" y="3798888"/>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53" name="Text Box 41"/>
          <p:cNvSpPr txBox="1">
            <a:spLocks noChangeArrowheads="1"/>
          </p:cNvSpPr>
          <p:nvPr/>
        </p:nvSpPr>
        <p:spPr bwMode="auto">
          <a:xfrm>
            <a:off x="3581400" y="1152138"/>
            <a:ext cx="51829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dirty="0" smtClean="0"/>
              <a:t>~C </a:t>
            </a:r>
            <a:r>
              <a:rPr lang="en-US" sz="1200" b="1" dirty="0"/>
              <a:t>= </a:t>
            </a:r>
          </a:p>
        </p:txBody>
      </p:sp>
      <p:sp>
        <p:nvSpPr>
          <p:cNvPr id="54" name="Text Box 42"/>
          <p:cNvSpPr txBox="1">
            <a:spLocks noChangeArrowheads="1"/>
          </p:cNvSpPr>
          <p:nvPr/>
        </p:nvSpPr>
        <p:spPr bwMode="auto">
          <a:xfrm>
            <a:off x="3996121" y="1152525"/>
            <a:ext cx="3937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 *</a:t>
            </a:r>
          </a:p>
        </p:txBody>
      </p:sp>
      <p:sp>
        <p:nvSpPr>
          <p:cNvPr id="55" name="Text Box 43"/>
          <p:cNvSpPr txBox="1">
            <a:spLocks noChangeArrowheads="1"/>
          </p:cNvSpPr>
          <p:nvPr/>
        </p:nvSpPr>
        <p:spPr bwMode="auto">
          <a:xfrm>
            <a:off x="4215196" y="1150937"/>
            <a:ext cx="339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 B</a:t>
            </a:r>
          </a:p>
        </p:txBody>
      </p:sp>
      <p:sp>
        <p:nvSpPr>
          <p:cNvPr id="56" name="Line 44"/>
          <p:cNvSpPr>
            <a:spLocks noChangeShapeType="1"/>
          </p:cNvSpPr>
          <p:nvPr/>
        </p:nvSpPr>
        <p:spPr bwMode="auto">
          <a:xfrm>
            <a:off x="4345371" y="1185862"/>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Text Box 45"/>
          <p:cNvSpPr txBox="1">
            <a:spLocks noChangeArrowheads="1"/>
          </p:cNvSpPr>
          <p:nvPr/>
        </p:nvSpPr>
        <p:spPr bwMode="auto">
          <a:xfrm>
            <a:off x="4532696" y="1162050"/>
            <a:ext cx="2746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t>
            </a:r>
          </a:p>
        </p:txBody>
      </p:sp>
      <p:sp>
        <p:nvSpPr>
          <p:cNvPr id="58" name="Text Box 46"/>
          <p:cNvSpPr txBox="1">
            <a:spLocks noChangeArrowheads="1"/>
          </p:cNvSpPr>
          <p:nvPr/>
        </p:nvSpPr>
        <p:spPr bwMode="auto">
          <a:xfrm>
            <a:off x="4848608" y="1152525"/>
            <a:ext cx="3937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 *</a:t>
            </a:r>
          </a:p>
        </p:txBody>
      </p:sp>
      <p:sp>
        <p:nvSpPr>
          <p:cNvPr id="59" name="Line 47"/>
          <p:cNvSpPr>
            <a:spLocks noChangeShapeType="1"/>
          </p:cNvSpPr>
          <p:nvPr/>
        </p:nvSpPr>
        <p:spPr bwMode="auto">
          <a:xfrm>
            <a:off x="4902583" y="1187450"/>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 name="Text Box 48"/>
          <p:cNvSpPr txBox="1">
            <a:spLocks noChangeArrowheads="1"/>
          </p:cNvSpPr>
          <p:nvPr/>
        </p:nvSpPr>
        <p:spPr bwMode="auto">
          <a:xfrm>
            <a:off x="5142296" y="1143000"/>
            <a:ext cx="2936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63" name="Text Box 41"/>
          <p:cNvSpPr txBox="1">
            <a:spLocks noChangeArrowheads="1"/>
          </p:cNvSpPr>
          <p:nvPr/>
        </p:nvSpPr>
        <p:spPr bwMode="auto">
          <a:xfrm>
            <a:off x="3555617" y="1375976"/>
            <a:ext cx="6858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dirty="0" smtClean="0"/>
              <a:t>C = ~( </a:t>
            </a:r>
            <a:endParaRPr lang="en-US" sz="1200" b="1" dirty="0"/>
          </a:p>
        </p:txBody>
      </p:sp>
      <p:sp>
        <p:nvSpPr>
          <p:cNvPr id="64" name="Text Box 42"/>
          <p:cNvSpPr txBox="1">
            <a:spLocks noChangeArrowheads="1"/>
          </p:cNvSpPr>
          <p:nvPr/>
        </p:nvSpPr>
        <p:spPr bwMode="auto">
          <a:xfrm>
            <a:off x="4046538" y="1381125"/>
            <a:ext cx="3937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dirty="0"/>
              <a:t>A *</a:t>
            </a:r>
          </a:p>
        </p:txBody>
      </p:sp>
      <p:sp>
        <p:nvSpPr>
          <p:cNvPr id="65" name="Text Box 43"/>
          <p:cNvSpPr txBox="1">
            <a:spLocks noChangeArrowheads="1"/>
          </p:cNvSpPr>
          <p:nvPr/>
        </p:nvSpPr>
        <p:spPr bwMode="auto">
          <a:xfrm>
            <a:off x="4265613" y="1379537"/>
            <a:ext cx="339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 B</a:t>
            </a:r>
          </a:p>
        </p:txBody>
      </p:sp>
      <p:sp>
        <p:nvSpPr>
          <p:cNvPr id="66" name="Line 44"/>
          <p:cNvSpPr>
            <a:spLocks noChangeShapeType="1"/>
          </p:cNvSpPr>
          <p:nvPr/>
        </p:nvSpPr>
        <p:spPr bwMode="auto">
          <a:xfrm>
            <a:off x="4395788" y="1414462"/>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 name="Text Box 45"/>
          <p:cNvSpPr txBox="1">
            <a:spLocks noChangeArrowheads="1"/>
          </p:cNvSpPr>
          <p:nvPr/>
        </p:nvSpPr>
        <p:spPr bwMode="auto">
          <a:xfrm>
            <a:off x="4583113" y="1390650"/>
            <a:ext cx="2746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t>
            </a:r>
          </a:p>
        </p:txBody>
      </p:sp>
      <p:sp>
        <p:nvSpPr>
          <p:cNvPr id="68" name="Text Box 46"/>
          <p:cNvSpPr txBox="1">
            <a:spLocks noChangeArrowheads="1"/>
          </p:cNvSpPr>
          <p:nvPr/>
        </p:nvSpPr>
        <p:spPr bwMode="auto">
          <a:xfrm>
            <a:off x="4899025" y="1381125"/>
            <a:ext cx="3937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A *</a:t>
            </a:r>
          </a:p>
        </p:txBody>
      </p:sp>
      <p:sp>
        <p:nvSpPr>
          <p:cNvPr id="69" name="Line 47"/>
          <p:cNvSpPr>
            <a:spLocks noChangeShapeType="1"/>
          </p:cNvSpPr>
          <p:nvPr/>
        </p:nvSpPr>
        <p:spPr bwMode="auto">
          <a:xfrm>
            <a:off x="4953000" y="1416050"/>
            <a:ext cx="1619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 name="Text Box 48"/>
          <p:cNvSpPr txBox="1">
            <a:spLocks noChangeArrowheads="1"/>
          </p:cNvSpPr>
          <p:nvPr/>
        </p:nvSpPr>
        <p:spPr bwMode="auto">
          <a:xfrm>
            <a:off x="5192713" y="1371600"/>
            <a:ext cx="2936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a:t>B</a:t>
            </a:r>
          </a:p>
        </p:txBody>
      </p:sp>
      <p:sp>
        <p:nvSpPr>
          <p:cNvPr id="80" name="Text Box 41"/>
          <p:cNvSpPr txBox="1">
            <a:spLocks noChangeArrowheads="1"/>
          </p:cNvSpPr>
          <p:nvPr/>
        </p:nvSpPr>
        <p:spPr bwMode="auto">
          <a:xfrm>
            <a:off x="5105400" y="1371600"/>
            <a:ext cx="6858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nchor="ctr">
            <a:spAutoFit/>
          </a:bodyPr>
          <a:lstStyle>
            <a:lvl1pPr eaLnBrk="0" hangingPunct="0">
              <a:defRPr>
                <a:solidFill>
                  <a:schemeClr val="tx1"/>
                </a:solidFill>
                <a:latin typeface="Frutiger 55 Roman" charset="0"/>
                <a:ea typeface="ＭＳ Ｐゴシック" pitchFamily="34" charset="-128"/>
              </a:defRPr>
            </a:lvl1pPr>
            <a:lvl2pPr marL="742950" indent="-285750" eaLnBrk="0" hangingPunct="0">
              <a:defRPr>
                <a:solidFill>
                  <a:schemeClr val="tx1"/>
                </a:solidFill>
                <a:latin typeface="Frutiger 55 Roman" charset="0"/>
                <a:ea typeface="ＭＳ Ｐゴシック" pitchFamily="34" charset="-128"/>
              </a:defRPr>
            </a:lvl2pPr>
            <a:lvl3pPr marL="1143000" indent="-228600" eaLnBrk="0" hangingPunct="0">
              <a:defRPr>
                <a:solidFill>
                  <a:schemeClr val="tx1"/>
                </a:solidFill>
                <a:latin typeface="Frutiger 55 Roman" charset="0"/>
                <a:ea typeface="ＭＳ Ｐゴシック" pitchFamily="34" charset="-128"/>
              </a:defRPr>
            </a:lvl3pPr>
            <a:lvl4pPr marL="1600200" indent="-228600" eaLnBrk="0" hangingPunct="0">
              <a:defRPr>
                <a:solidFill>
                  <a:schemeClr val="tx1"/>
                </a:solidFill>
                <a:latin typeface="Frutiger 55 Roman" charset="0"/>
                <a:ea typeface="ＭＳ Ｐゴシック" pitchFamily="34" charset="-128"/>
              </a:defRPr>
            </a:lvl4pPr>
            <a:lvl5pPr marL="2057400" indent="-228600" eaLnBrk="0" hangingPunct="0">
              <a:defRPr>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a:solidFill>
                  <a:schemeClr val="tx1"/>
                </a:solidFill>
                <a:latin typeface="Frutiger 55 Roman" charset="0"/>
                <a:ea typeface="ＭＳ Ｐゴシック" pitchFamily="34" charset="-128"/>
              </a:defRPr>
            </a:lvl9pPr>
          </a:lstStyle>
          <a:p>
            <a:pPr algn="ctr" eaLnBrk="1" hangingPunct="1"/>
            <a:r>
              <a:rPr lang="en-US" sz="1200" b="1" dirty="0" smtClean="0"/>
              <a:t>)</a:t>
            </a:r>
            <a:endParaRPr lang="en-US" sz="1200" b="1" dirty="0"/>
          </a:p>
        </p:txBody>
      </p:sp>
      <p:sp>
        <p:nvSpPr>
          <p:cNvPr id="2048" name="TextBox 2047"/>
          <p:cNvSpPr txBox="1"/>
          <p:nvPr/>
        </p:nvSpPr>
        <p:spPr>
          <a:xfrm>
            <a:off x="5562600" y="1106269"/>
            <a:ext cx="289560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Hint: Work with the Algebra</a:t>
            </a:r>
          </a:p>
          <a:p>
            <a:r>
              <a:rPr lang="en-US" dirty="0" smtClean="0"/>
              <a:t>Hint: Look at a Truth Table</a:t>
            </a:r>
            <a:endParaRPr lang="en-US" dirty="0"/>
          </a:p>
        </p:txBody>
      </p:sp>
      <p:pic>
        <p:nvPicPr>
          <p:cNvPr id="4" name="TPGrid" descr="pp_response.png" hidden="1"/>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2438400" y="1371600"/>
            <a:ext cx="927100" cy="1168400"/>
          </a:xfrm>
          <a:prstGeom prst="rect">
            <a:avLst/>
          </a:prstGeom>
        </p:spPr>
      </p:pic>
      <p:grpSp>
        <p:nvGrpSpPr>
          <p:cNvPr id="7" name="TPCountdown" hidden="1"/>
          <p:cNvGrpSpPr/>
          <p:nvPr>
            <p:custDataLst>
              <p:tags r:id="rId5"/>
            </p:custDataLst>
          </p:nvPr>
        </p:nvGrpSpPr>
        <p:grpSpPr>
          <a:xfrm>
            <a:off x="7543800" y="457200"/>
            <a:ext cx="635000" cy="635000"/>
            <a:chOff x="8318500" y="6032500"/>
            <a:chExt cx="635000" cy="635000"/>
          </a:xfrm>
        </p:grpSpPr>
        <p:sp>
          <p:nvSpPr>
            <p:cNvPr id="6" name="CountdownShape" hidden="1"/>
            <p:cNvSpPr/>
            <p:nvPr/>
          </p:nvSpPr>
          <p:spPr>
            <a:xfrm>
              <a:off x="8318500" y="6032500"/>
              <a:ext cx="635000" cy="635000"/>
            </a:xfrm>
            <a:prstGeom prst="bevel">
              <a:avLst/>
            </a:prstGeom>
            <a:effectLst/>
            <a:extLst>
              <a:ext uri="{AF507438-7753-43e0-B8FC-AC1667EBCBE1}">
                <a14:hiddenEffects xmlns:a14="http://schemas.microsoft.com/office/drawing/2010/main">
                  <a:effectLst>
                    <a:outerShdw blurRad="50800" dist="25400" algn="bl" rotWithShape="0">
                      <a:srgbClr val="000000">
                        <a:alpha val="60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CountdownText" hidden="1"/>
            <p:cNvSpPr txBox="1"/>
            <p:nvPr/>
          </p:nvSpPr>
          <p:spPr>
            <a:xfrm>
              <a:off x="8318500" y="6032500"/>
              <a:ext cx="635000" cy="635000"/>
            </a:xfrm>
            <a:prstGeom prst="rect">
              <a:avLst/>
            </a:prstGeom>
            <a:noFill/>
            <a:effectLst/>
            <a:extLst>
              <a:ext uri="{AF507438-7753-43e0-B8FC-AC1667EBCBE1}">
                <a14:hiddenEffects xmlns:a14="http://schemas.microsoft.com/office/drawing/2010/main">
                  <a:effectLst/>
                </a14:hiddenEffects>
              </a:ext>
            </a:extLst>
          </p:spPr>
          <p:txBody>
            <a:bodyPr vert="horz" rtlCol="0" anchor="ctr" anchorCtr="1">
              <a:noAutofit/>
            </a:bodyPr>
            <a:lstStyle/>
            <a:p>
              <a:pPr algn="r"/>
              <a:r>
                <a:rPr lang="en-US" sz="2400" b="1" smtClean="0">
                  <a:latin typeface="Tahoma"/>
                </a:rPr>
                <a:t>2</a:t>
              </a:r>
              <a:endParaRPr lang="en-US" sz="2400" b="1">
                <a:latin typeface="Tahoma"/>
              </a:endParaRPr>
            </a:p>
          </p:txBody>
        </p:sp>
      </p:grpSp>
      <p:sp>
        <p:nvSpPr>
          <p:cNvPr id="71" name="TextBox 70"/>
          <p:cNvSpPr txBox="1"/>
          <p:nvPr/>
        </p:nvSpPr>
        <p:spPr>
          <a:xfrm>
            <a:off x="304800" y="6260068"/>
            <a:ext cx="1828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smtClean="0"/>
              <a:t>Building XNOR</a:t>
            </a:r>
            <a:endParaRPr lang="en-US" b="1" dirty="0"/>
          </a:p>
        </p:txBody>
      </p:sp>
      <p:pic>
        <p:nvPicPr>
          <p:cNvPr id="8" name="TPChart" descr="078A286F263D4D50B2E899ADCA75D6BEChart20141005132916465.png"/>
          <p:cNvPicPr>
            <a:picLocks/>
          </p:cNvPicPr>
          <p:nvPr>
            <p:custDataLst>
              <p:tags r:id="rId6"/>
            </p:custDataLst>
          </p:nvPr>
        </p:nvPicPr>
        <p:blipFill>
          <a:blip r:embed="rId10" cstate="print">
            <a:extLst>
              <a:ext uri="{28A0092B-C50C-407E-A947-70E740481C1C}">
                <a14:useLocalDpi xmlns:a14="http://schemas.microsoft.com/office/drawing/2010/main" val="0"/>
              </a:ext>
            </a:extLst>
          </a:blip>
          <a:stretch>
            <a:fillRect/>
          </a:stretch>
        </p:blipFill>
        <p:spPr>
          <a:xfrm>
            <a:off x="4508500" y="1600200"/>
            <a:ext cx="4572000" cy="5143500"/>
          </a:xfrm>
          <a:prstGeom prst="rect">
            <a:avLst/>
          </a:prstGeom>
        </p:spPr>
      </p:pic>
    </p:spTree>
    <p:custDataLst>
      <p:tags r:id="rId1"/>
    </p:custData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15400" cy="1143000"/>
          </a:xfrm>
        </p:spPr>
        <p:txBody>
          <a:bodyPr/>
          <a:lstStyle/>
          <a:p>
            <a:r>
              <a:rPr lang="en-US" dirty="0" smtClean="0"/>
              <a:t>Build XNOR With Only These Gates</a:t>
            </a:r>
            <a:endParaRPr lang="en-US" dirty="0"/>
          </a:p>
        </p:txBody>
      </p:sp>
      <p:cxnSp>
        <p:nvCxnSpPr>
          <p:cNvPr id="5" name="Straight Connector 4"/>
          <p:cNvCxnSpPr/>
          <p:nvPr/>
        </p:nvCxnSpPr>
        <p:spPr>
          <a:xfrm>
            <a:off x="914400" y="2438400"/>
            <a:ext cx="2514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1676400" y="2438400"/>
            <a:ext cx="0" cy="762000"/>
          </a:xfrm>
          <a:prstGeom prst="line">
            <a:avLst/>
          </a:prstGeom>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600200" y="23622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1676400" y="3200400"/>
            <a:ext cx="381000"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Extract 10"/>
          <p:cNvSpPr/>
          <p:nvPr/>
        </p:nvSpPr>
        <p:spPr>
          <a:xfrm rot="5400000">
            <a:off x="1752600" y="2819400"/>
            <a:ext cx="838200" cy="685800"/>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a:t>
            </a:r>
            <a:endParaRPr lang="en-US" dirty="0"/>
          </a:p>
        </p:txBody>
      </p:sp>
      <p:sp>
        <p:nvSpPr>
          <p:cNvPr id="13" name="Oval 12"/>
          <p:cNvSpPr/>
          <p:nvPr/>
        </p:nvSpPr>
        <p:spPr>
          <a:xfrm>
            <a:off x="2438400" y="3048000"/>
            <a:ext cx="228600" cy="22900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2667000" y="3199998"/>
            <a:ext cx="762000" cy="402"/>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895600" y="2057400"/>
            <a:ext cx="609600" cy="381000"/>
          </a:xfrm>
          <a:prstGeom prst="rect">
            <a:avLst/>
          </a:prstGeom>
          <a:noFill/>
        </p:spPr>
        <p:txBody>
          <a:bodyPr wrap="square" rtlCol="0">
            <a:spAutoFit/>
          </a:bodyPr>
          <a:lstStyle/>
          <a:p>
            <a:r>
              <a:rPr lang="en-US" dirty="0" smtClean="0"/>
              <a:t>A</a:t>
            </a:r>
            <a:endParaRPr lang="en-US" dirty="0"/>
          </a:p>
        </p:txBody>
      </p:sp>
      <p:sp>
        <p:nvSpPr>
          <p:cNvPr id="18" name="TextBox 17"/>
          <p:cNvSpPr txBox="1"/>
          <p:nvPr/>
        </p:nvSpPr>
        <p:spPr>
          <a:xfrm>
            <a:off x="2819400" y="2895600"/>
            <a:ext cx="609600" cy="381000"/>
          </a:xfrm>
          <a:prstGeom prst="rect">
            <a:avLst/>
          </a:prstGeom>
          <a:noFill/>
        </p:spPr>
        <p:txBody>
          <a:bodyPr wrap="square" rtlCol="0">
            <a:spAutoFit/>
          </a:bodyPr>
          <a:lstStyle/>
          <a:p>
            <a:r>
              <a:rPr lang="en-US" dirty="0" smtClean="0"/>
              <a:t>~A</a:t>
            </a:r>
            <a:endParaRPr lang="en-US" dirty="0"/>
          </a:p>
        </p:txBody>
      </p:sp>
      <p:sp>
        <p:nvSpPr>
          <p:cNvPr id="19" name="TextBox 18"/>
          <p:cNvSpPr txBox="1"/>
          <p:nvPr/>
        </p:nvSpPr>
        <p:spPr>
          <a:xfrm>
            <a:off x="990600" y="2057400"/>
            <a:ext cx="609600" cy="381000"/>
          </a:xfrm>
          <a:prstGeom prst="rect">
            <a:avLst/>
          </a:prstGeom>
          <a:noFill/>
        </p:spPr>
        <p:txBody>
          <a:bodyPr wrap="square" rtlCol="0">
            <a:spAutoFit/>
          </a:bodyPr>
          <a:lstStyle/>
          <a:p>
            <a:r>
              <a:rPr lang="en-US" dirty="0" smtClean="0"/>
              <a:t>A</a:t>
            </a:r>
            <a:endParaRPr lang="en-US" dirty="0"/>
          </a:p>
        </p:txBody>
      </p:sp>
      <p:cxnSp>
        <p:nvCxnSpPr>
          <p:cNvPr id="20" name="Straight Connector 19"/>
          <p:cNvCxnSpPr/>
          <p:nvPr/>
        </p:nvCxnSpPr>
        <p:spPr>
          <a:xfrm>
            <a:off x="914400" y="4343400"/>
            <a:ext cx="2514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1676400" y="4343400"/>
            <a:ext cx="0" cy="762000"/>
          </a:xfrm>
          <a:prstGeom prst="line">
            <a:avLst/>
          </a:prstGeom>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600200" y="42672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Connector 22"/>
          <p:cNvCxnSpPr/>
          <p:nvPr/>
        </p:nvCxnSpPr>
        <p:spPr>
          <a:xfrm>
            <a:off x="1676400" y="5105400"/>
            <a:ext cx="381000" cy="0"/>
          </a:xfrm>
          <a:prstGeom prst="line">
            <a:avLst/>
          </a:prstGeom>
        </p:spPr>
        <p:style>
          <a:lnRef idx="2">
            <a:schemeClr val="accent1"/>
          </a:lnRef>
          <a:fillRef idx="0">
            <a:schemeClr val="accent1"/>
          </a:fillRef>
          <a:effectRef idx="1">
            <a:schemeClr val="accent1"/>
          </a:effectRef>
          <a:fontRef idx="minor">
            <a:schemeClr val="tx1"/>
          </a:fontRef>
        </p:style>
      </p:cxnSp>
      <p:sp>
        <p:nvSpPr>
          <p:cNvPr id="24" name="Extract 23"/>
          <p:cNvSpPr/>
          <p:nvPr/>
        </p:nvSpPr>
        <p:spPr>
          <a:xfrm rot="5400000">
            <a:off x="1752600" y="4724400"/>
            <a:ext cx="838200" cy="685800"/>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a:t>
            </a:r>
            <a:endParaRPr lang="en-US" dirty="0"/>
          </a:p>
        </p:txBody>
      </p:sp>
      <p:sp>
        <p:nvSpPr>
          <p:cNvPr id="25" name="Oval 24"/>
          <p:cNvSpPr/>
          <p:nvPr/>
        </p:nvSpPr>
        <p:spPr>
          <a:xfrm>
            <a:off x="2438400" y="4953000"/>
            <a:ext cx="228600" cy="22900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Straight Connector 25"/>
          <p:cNvCxnSpPr/>
          <p:nvPr/>
        </p:nvCxnSpPr>
        <p:spPr>
          <a:xfrm>
            <a:off x="2667000" y="5104998"/>
            <a:ext cx="762000" cy="402"/>
          </a:xfrm>
          <a:prstGeom prst="line">
            <a:avLst/>
          </a:prstGeom>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895600" y="3962400"/>
            <a:ext cx="609600" cy="381000"/>
          </a:xfrm>
          <a:prstGeom prst="rect">
            <a:avLst/>
          </a:prstGeom>
          <a:noFill/>
        </p:spPr>
        <p:txBody>
          <a:bodyPr wrap="square" rtlCol="0">
            <a:spAutoFit/>
          </a:bodyPr>
          <a:lstStyle/>
          <a:p>
            <a:r>
              <a:rPr lang="en-US" dirty="0"/>
              <a:t>B</a:t>
            </a:r>
          </a:p>
        </p:txBody>
      </p:sp>
      <p:sp>
        <p:nvSpPr>
          <p:cNvPr id="28" name="TextBox 27"/>
          <p:cNvSpPr txBox="1"/>
          <p:nvPr/>
        </p:nvSpPr>
        <p:spPr>
          <a:xfrm>
            <a:off x="2819400" y="4800600"/>
            <a:ext cx="609600" cy="381000"/>
          </a:xfrm>
          <a:prstGeom prst="rect">
            <a:avLst/>
          </a:prstGeom>
          <a:noFill/>
        </p:spPr>
        <p:txBody>
          <a:bodyPr wrap="square" rtlCol="0">
            <a:spAutoFit/>
          </a:bodyPr>
          <a:lstStyle/>
          <a:p>
            <a:r>
              <a:rPr lang="en-US" dirty="0" smtClean="0"/>
              <a:t>~B</a:t>
            </a:r>
            <a:endParaRPr lang="en-US" dirty="0"/>
          </a:p>
        </p:txBody>
      </p:sp>
      <p:sp>
        <p:nvSpPr>
          <p:cNvPr id="29" name="TextBox 28"/>
          <p:cNvSpPr txBox="1"/>
          <p:nvPr/>
        </p:nvSpPr>
        <p:spPr>
          <a:xfrm>
            <a:off x="990600" y="3962400"/>
            <a:ext cx="609600" cy="381000"/>
          </a:xfrm>
          <a:prstGeom prst="rect">
            <a:avLst/>
          </a:prstGeom>
          <a:noFill/>
        </p:spPr>
        <p:txBody>
          <a:bodyPr wrap="square" rtlCol="0">
            <a:spAutoFit/>
          </a:bodyPr>
          <a:lstStyle/>
          <a:p>
            <a:r>
              <a:rPr lang="en-US" dirty="0"/>
              <a:t>B</a:t>
            </a:r>
          </a:p>
        </p:txBody>
      </p:sp>
      <p:sp>
        <p:nvSpPr>
          <p:cNvPr id="42" name="TextBox 41"/>
          <p:cNvSpPr txBox="1"/>
          <p:nvPr/>
        </p:nvSpPr>
        <p:spPr>
          <a:xfrm>
            <a:off x="2209800" y="6059269"/>
            <a:ext cx="617220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XNOR</a:t>
            </a:r>
            <a:r>
              <a:rPr lang="en-US" dirty="0"/>
              <a:t>= </a:t>
            </a:r>
            <a:r>
              <a:rPr lang="en-US" dirty="0" smtClean="0"/>
              <a:t>(~A </a:t>
            </a:r>
            <a:r>
              <a:rPr lang="en-US" dirty="0"/>
              <a:t>+ </a:t>
            </a:r>
            <a:r>
              <a:rPr lang="en-US" dirty="0" smtClean="0"/>
              <a:t>B) </a:t>
            </a:r>
            <a:r>
              <a:rPr lang="en-US" dirty="0"/>
              <a:t>* </a:t>
            </a:r>
            <a:r>
              <a:rPr lang="en-US" dirty="0" smtClean="0"/>
              <a:t>(A </a:t>
            </a:r>
            <a:r>
              <a:rPr lang="en-US" dirty="0"/>
              <a:t>+ ~</a:t>
            </a:r>
            <a:r>
              <a:rPr lang="en-US" dirty="0" smtClean="0"/>
              <a:t>B)     //</a:t>
            </a:r>
            <a:r>
              <a:rPr lang="en-US" b="1" dirty="0" smtClean="0">
                <a:solidFill>
                  <a:srgbClr val="FF0000"/>
                </a:solidFill>
              </a:rPr>
              <a:t>derive on board</a:t>
            </a:r>
          </a:p>
          <a:p>
            <a:r>
              <a:rPr lang="en-US" dirty="0" smtClean="0"/>
              <a:t>//above was derived by negating the XOR Boolean Equation</a:t>
            </a:r>
          </a:p>
        </p:txBody>
      </p:sp>
      <p:sp>
        <p:nvSpPr>
          <p:cNvPr id="33" name="Stored Data 32"/>
          <p:cNvSpPr/>
          <p:nvPr/>
        </p:nvSpPr>
        <p:spPr>
          <a:xfrm rot="10800000">
            <a:off x="5334000" y="4953000"/>
            <a:ext cx="6858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a:t>
            </a:r>
            <a:endParaRPr lang="en-US" dirty="0"/>
          </a:p>
        </p:txBody>
      </p:sp>
      <p:cxnSp>
        <p:nvCxnSpPr>
          <p:cNvPr id="34" name="Straight Connector 33"/>
          <p:cNvCxnSpPr/>
          <p:nvPr/>
        </p:nvCxnSpPr>
        <p:spPr>
          <a:xfrm>
            <a:off x="4648200" y="51054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4648200" y="54102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5943600" y="5257800"/>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38" name="Delay 37"/>
          <p:cNvSpPr/>
          <p:nvPr/>
        </p:nvSpPr>
        <p:spPr>
          <a:xfrm>
            <a:off x="5334000" y="2286000"/>
            <a:ext cx="838200" cy="685800"/>
          </a:xfrm>
          <a:prstGeom prst="flowChartDelay">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t>
            </a:r>
            <a:endParaRPr lang="en-US" dirty="0"/>
          </a:p>
        </p:txBody>
      </p:sp>
      <p:cxnSp>
        <p:nvCxnSpPr>
          <p:cNvPr id="39" name="Straight Connector 38"/>
          <p:cNvCxnSpPr/>
          <p:nvPr/>
        </p:nvCxnSpPr>
        <p:spPr>
          <a:xfrm>
            <a:off x="4495800" y="24384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a:off x="4495800" y="28194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6172200" y="2666999"/>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43" name="Stored Data 42"/>
          <p:cNvSpPr/>
          <p:nvPr/>
        </p:nvSpPr>
        <p:spPr>
          <a:xfrm rot="10800000">
            <a:off x="5334000" y="3810000"/>
            <a:ext cx="6858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a:t>
            </a:r>
            <a:endParaRPr lang="en-US" dirty="0"/>
          </a:p>
        </p:txBody>
      </p:sp>
      <p:cxnSp>
        <p:nvCxnSpPr>
          <p:cNvPr id="44" name="Straight Connector 43"/>
          <p:cNvCxnSpPr/>
          <p:nvPr/>
        </p:nvCxnSpPr>
        <p:spPr>
          <a:xfrm>
            <a:off x="4648200" y="39624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a:off x="4648200" y="42672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a:off x="5943600" y="4114800"/>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04800" y="6260068"/>
            <a:ext cx="1828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smtClean="0"/>
              <a:t>Building XNOR</a:t>
            </a:r>
            <a:endParaRPr lang="en-US" b="1" dirty="0"/>
          </a:p>
        </p:txBody>
      </p:sp>
    </p:spTree>
    <p:extLst>
      <p:ext uri="{BB962C8B-B14F-4D97-AF65-F5344CB8AC3E}">
        <p14:creationId xmlns:p14="http://schemas.microsoft.com/office/powerpoint/2010/main" val="941565324"/>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Reduced XNOR With 5 Gates</a:t>
            </a:r>
            <a:endParaRPr lang="en-US" dirty="0"/>
          </a:p>
        </p:txBody>
      </p:sp>
      <p:cxnSp>
        <p:nvCxnSpPr>
          <p:cNvPr id="5" name="Straight Connector 4"/>
          <p:cNvCxnSpPr/>
          <p:nvPr/>
        </p:nvCxnSpPr>
        <p:spPr>
          <a:xfrm>
            <a:off x="914400" y="2438400"/>
            <a:ext cx="2743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1676400" y="2438400"/>
            <a:ext cx="0" cy="762000"/>
          </a:xfrm>
          <a:prstGeom prst="line">
            <a:avLst/>
          </a:prstGeom>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600200" y="23622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1676400" y="3200400"/>
            <a:ext cx="381000"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Extract 10"/>
          <p:cNvSpPr/>
          <p:nvPr/>
        </p:nvSpPr>
        <p:spPr>
          <a:xfrm rot="5400000">
            <a:off x="1752600" y="2819400"/>
            <a:ext cx="838200" cy="685800"/>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a:t>
            </a:r>
            <a:endParaRPr lang="en-US" dirty="0"/>
          </a:p>
        </p:txBody>
      </p:sp>
      <p:sp>
        <p:nvSpPr>
          <p:cNvPr id="13" name="Oval 12"/>
          <p:cNvSpPr/>
          <p:nvPr/>
        </p:nvSpPr>
        <p:spPr>
          <a:xfrm>
            <a:off x="2438400" y="3048000"/>
            <a:ext cx="228600" cy="22900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2667000" y="3199998"/>
            <a:ext cx="762000" cy="402"/>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895600" y="2057400"/>
            <a:ext cx="609600" cy="381000"/>
          </a:xfrm>
          <a:prstGeom prst="rect">
            <a:avLst/>
          </a:prstGeom>
          <a:noFill/>
        </p:spPr>
        <p:txBody>
          <a:bodyPr wrap="square" rtlCol="0">
            <a:spAutoFit/>
          </a:bodyPr>
          <a:lstStyle/>
          <a:p>
            <a:r>
              <a:rPr lang="en-US" dirty="0" smtClean="0"/>
              <a:t>A</a:t>
            </a:r>
            <a:endParaRPr lang="en-US" dirty="0"/>
          </a:p>
        </p:txBody>
      </p:sp>
      <p:sp>
        <p:nvSpPr>
          <p:cNvPr id="18" name="TextBox 17"/>
          <p:cNvSpPr txBox="1"/>
          <p:nvPr/>
        </p:nvSpPr>
        <p:spPr>
          <a:xfrm>
            <a:off x="2819400" y="2895600"/>
            <a:ext cx="609600" cy="381000"/>
          </a:xfrm>
          <a:prstGeom prst="rect">
            <a:avLst/>
          </a:prstGeom>
          <a:noFill/>
        </p:spPr>
        <p:txBody>
          <a:bodyPr wrap="square" rtlCol="0">
            <a:spAutoFit/>
          </a:bodyPr>
          <a:lstStyle/>
          <a:p>
            <a:r>
              <a:rPr lang="en-US" dirty="0" smtClean="0"/>
              <a:t>~A</a:t>
            </a:r>
            <a:endParaRPr lang="en-US" dirty="0"/>
          </a:p>
        </p:txBody>
      </p:sp>
      <p:sp>
        <p:nvSpPr>
          <p:cNvPr id="19" name="TextBox 18"/>
          <p:cNvSpPr txBox="1"/>
          <p:nvPr/>
        </p:nvSpPr>
        <p:spPr>
          <a:xfrm>
            <a:off x="990600" y="2057400"/>
            <a:ext cx="609600" cy="381000"/>
          </a:xfrm>
          <a:prstGeom prst="rect">
            <a:avLst/>
          </a:prstGeom>
          <a:noFill/>
        </p:spPr>
        <p:txBody>
          <a:bodyPr wrap="square" rtlCol="0">
            <a:spAutoFit/>
          </a:bodyPr>
          <a:lstStyle/>
          <a:p>
            <a:r>
              <a:rPr lang="en-US" dirty="0" smtClean="0"/>
              <a:t>A</a:t>
            </a:r>
            <a:endParaRPr lang="en-US" dirty="0"/>
          </a:p>
        </p:txBody>
      </p:sp>
      <p:cxnSp>
        <p:nvCxnSpPr>
          <p:cNvPr id="20" name="Straight Connector 19"/>
          <p:cNvCxnSpPr/>
          <p:nvPr/>
        </p:nvCxnSpPr>
        <p:spPr>
          <a:xfrm>
            <a:off x="914400" y="4343400"/>
            <a:ext cx="2438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1676400" y="4343400"/>
            <a:ext cx="0" cy="762000"/>
          </a:xfrm>
          <a:prstGeom prst="line">
            <a:avLst/>
          </a:prstGeom>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600200" y="42672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Connector 22"/>
          <p:cNvCxnSpPr/>
          <p:nvPr/>
        </p:nvCxnSpPr>
        <p:spPr>
          <a:xfrm>
            <a:off x="1676400" y="5105400"/>
            <a:ext cx="381000" cy="0"/>
          </a:xfrm>
          <a:prstGeom prst="line">
            <a:avLst/>
          </a:prstGeom>
        </p:spPr>
        <p:style>
          <a:lnRef idx="2">
            <a:schemeClr val="accent1"/>
          </a:lnRef>
          <a:fillRef idx="0">
            <a:schemeClr val="accent1"/>
          </a:fillRef>
          <a:effectRef idx="1">
            <a:schemeClr val="accent1"/>
          </a:effectRef>
          <a:fontRef idx="minor">
            <a:schemeClr val="tx1"/>
          </a:fontRef>
        </p:style>
      </p:cxnSp>
      <p:sp>
        <p:nvSpPr>
          <p:cNvPr id="24" name="Extract 23"/>
          <p:cNvSpPr/>
          <p:nvPr/>
        </p:nvSpPr>
        <p:spPr>
          <a:xfrm rot="5400000">
            <a:off x="1752600" y="4724400"/>
            <a:ext cx="838200" cy="685800"/>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a:t>
            </a:r>
            <a:endParaRPr lang="en-US" dirty="0"/>
          </a:p>
        </p:txBody>
      </p:sp>
      <p:sp>
        <p:nvSpPr>
          <p:cNvPr id="25" name="Oval 24"/>
          <p:cNvSpPr/>
          <p:nvPr/>
        </p:nvSpPr>
        <p:spPr>
          <a:xfrm>
            <a:off x="2438400" y="4953000"/>
            <a:ext cx="228600" cy="22900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Straight Connector 25"/>
          <p:cNvCxnSpPr/>
          <p:nvPr/>
        </p:nvCxnSpPr>
        <p:spPr>
          <a:xfrm>
            <a:off x="2667000" y="5104998"/>
            <a:ext cx="762000" cy="402"/>
          </a:xfrm>
          <a:prstGeom prst="line">
            <a:avLst/>
          </a:prstGeom>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895600" y="3962400"/>
            <a:ext cx="609600" cy="381000"/>
          </a:xfrm>
          <a:prstGeom prst="rect">
            <a:avLst/>
          </a:prstGeom>
          <a:noFill/>
        </p:spPr>
        <p:txBody>
          <a:bodyPr wrap="square" rtlCol="0">
            <a:spAutoFit/>
          </a:bodyPr>
          <a:lstStyle/>
          <a:p>
            <a:r>
              <a:rPr lang="en-US" dirty="0"/>
              <a:t>B</a:t>
            </a:r>
          </a:p>
        </p:txBody>
      </p:sp>
      <p:sp>
        <p:nvSpPr>
          <p:cNvPr id="28" name="TextBox 27"/>
          <p:cNvSpPr txBox="1"/>
          <p:nvPr/>
        </p:nvSpPr>
        <p:spPr>
          <a:xfrm>
            <a:off x="2819400" y="4800600"/>
            <a:ext cx="609600" cy="381000"/>
          </a:xfrm>
          <a:prstGeom prst="rect">
            <a:avLst/>
          </a:prstGeom>
          <a:noFill/>
        </p:spPr>
        <p:txBody>
          <a:bodyPr wrap="square" rtlCol="0">
            <a:spAutoFit/>
          </a:bodyPr>
          <a:lstStyle/>
          <a:p>
            <a:r>
              <a:rPr lang="en-US" dirty="0" smtClean="0"/>
              <a:t>~B</a:t>
            </a:r>
            <a:endParaRPr lang="en-US" dirty="0"/>
          </a:p>
        </p:txBody>
      </p:sp>
      <p:sp>
        <p:nvSpPr>
          <p:cNvPr id="29" name="TextBox 28"/>
          <p:cNvSpPr txBox="1"/>
          <p:nvPr/>
        </p:nvSpPr>
        <p:spPr>
          <a:xfrm>
            <a:off x="990600" y="3962400"/>
            <a:ext cx="609600" cy="381000"/>
          </a:xfrm>
          <a:prstGeom prst="rect">
            <a:avLst/>
          </a:prstGeom>
          <a:noFill/>
        </p:spPr>
        <p:txBody>
          <a:bodyPr wrap="square" rtlCol="0">
            <a:spAutoFit/>
          </a:bodyPr>
          <a:lstStyle/>
          <a:p>
            <a:r>
              <a:rPr lang="en-US" dirty="0"/>
              <a:t>B</a:t>
            </a:r>
          </a:p>
        </p:txBody>
      </p:sp>
      <p:sp>
        <p:nvSpPr>
          <p:cNvPr id="42" name="TextBox 41"/>
          <p:cNvSpPr txBox="1"/>
          <p:nvPr/>
        </p:nvSpPr>
        <p:spPr>
          <a:xfrm>
            <a:off x="3276600" y="5486400"/>
            <a:ext cx="5105400"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a:buChar char="•"/>
            </a:pPr>
            <a:r>
              <a:rPr lang="en-US" dirty="0" smtClean="0"/>
              <a:t>XNOR</a:t>
            </a:r>
            <a:r>
              <a:rPr lang="en-US" dirty="0"/>
              <a:t>= </a:t>
            </a:r>
            <a:r>
              <a:rPr lang="en-US" dirty="0" smtClean="0"/>
              <a:t>(~</a:t>
            </a:r>
            <a:r>
              <a:rPr lang="en-US" dirty="0"/>
              <a:t>A + </a:t>
            </a:r>
            <a:r>
              <a:rPr lang="en-US" dirty="0" smtClean="0"/>
              <a:t>B) </a:t>
            </a:r>
            <a:r>
              <a:rPr lang="en-US" dirty="0"/>
              <a:t>* </a:t>
            </a:r>
            <a:r>
              <a:rPr lang="en-US" dirty="0" smtClean="0"/>
              <a:t>(A </a:t>
            </a:r>
            <a:r>
              <a:rPr lang="en-US" dirty="0"/>
              <a:t>+ ~</a:t>
            </a:r>
            <a:r>
              <a:rPr lang="en-US" dirty="0" smtClean="0"/>
              <a:t>B)   </a:t>
            </a:r>
          </a:p>
          <a:p>
            <a:pPr marL="285750" indent="-285750">
              <a:buFont typeface="Arial"/>
              <a:buChar char="•"/>
            </a:pPr>
            <a:r>
              <a:rPr lang="en-US" dirty="0" smtClean="0"/>
              <a:t>XNOR = A*B + ~A*~B  based on the truth table</a:t>
            </a:r>
            <a:r>
              <a:rPr lang="mr-IN" dirty="0" smtClean="0"/>
              <a:t>…</a:t>
            </a:r>
            <a:endParaRPr lang="en-US" dirty="0" smtClean="0"/>
          </a:p>
          <a:p>
            <a:pPr marL="742950" lvl="1" indent="-285750">
              <a:buFont typeface="Arial"/>
              <a:buChar char="•"/>
            </a:pPr>
            <a:r>
              <a:rPr lang="en-US" dirty="0" smtClean="0"/>
              <a:t>So, the truth table confirms logical equality</a:t>
            </a:r>
          </a:p>
          <a:p>
            <a:pPr marL="742950" lvl="1" indent="-285750">
              <a:buFont typeface="Arial"/>
              <a:buChar char="•"/>
            </a:pPr>
            <a:r>
              <a:rPr lang="en-US" b="1" dirty="0" smtClean="0">
                <a:solidFill>
                  <a:srgbClr val="FF0000"/>
                </a:solidFill>
              </a:rPr>
              <a:t>Q:</a:t>
            </a:r>
            <a:r>
              <a:rPr lang="en-US" dirty="0" smtClean="0"/>
              <a:t> Same amount of gates here?</a:t>
            </a:r>
          </a:p>
        </p:txBody>
      </p:sp>
      <p:sp>
        <p:nvSpPr>
          <p:cNvPr id="33" name="Stored Data 32"/>
          <p:cNvSpPr/>
          <p:nvPr/>
        </p:nvSpPr>
        <p:spPr>
          <a:xfrm rot="10800000">
            <a:off x="4114800" y="4648199"/>
            <a:ext cx="6858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a:t>
            </a:r>
            <a:endParaRPr lang="en-US" dirty="0"/>
          </a:p>
        </p:txBody>
      </p:sp>
      <p:cxnSp>
        <p:nvCxnSpPr>
          <p:cNvPr id="34" name="Straight Connector 33"/>
          <p:cNvCxnSpPr/>
          <p:nvPr/>
        </p:nvCxnSpPr>
        <p:spPr>
          <a:xfrm flipV="1">
            <a:off x="3657600" y="4800599"/>
            <a:ext cx="706582"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3429000" y="5105399"/>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4724400" y="4952999"/>
            <a:ext cx="762000" cy="1"/>
          </a:xfrm>
          <a:prstGeom prst="line">
            <a:avLst/>
          </a:prstGeom>
        </p:spPr>
        <p:style>
          <a:lnRef idx="2">
            <a:schemeClr val="accent1"/>
          </a:lnRef>
          <a:fillRef idx="0">
            <a:schemeClr val="accent1"/>
          </a:fillRef>
          <a:effectRef idx="1">
            <a:schemeClr val="accent1"/>
          </a:effectRef>
          <a:fontRef idx="minor">
            <a:schemeClr val="tx1"/>
          </a:fontRef>
        </p:style>
      </p:cxnSp>
      <p:sp>
        <p:nvSpPr>
          <p:cNvPr id="38" name="Delay 37"/>
          <p:cNvSpPr/>
          <p:nvPr/>
        </p:nvSpPr>
        <p:spPr>
          <a:xfrm>
            <a:off x="6421582" y="3200400"/>
            <a:ext cx="838200" cy="685800"/>
          </a:xfrm>
          <a:prstGeom prst="flowChartDelay">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t>
            </a:r>
            <a:endParaRPr lang="en-US" dirty="0"/>
          </a:p>
        </p:txBody>
      </p:sp>
      <p:cxnSp>
        <p:nvCxnSpPr>
          <p:cNvPr id="39" name="Straight Connector 38"/>
          <p:cNvCxnSpPr/>
          <p:nvPr/>
        </p:nvCxnSpPr>
        <p:spPr>
          <a:xfrm>
            <a:off x="5486400" y="33528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a:off x="5486400" y="37338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7259782" y="3505200"/>
            <a:ext cx="665018" cy="1"/>
          </a:xfrm>
          <a:prstGeom prst="line">
            <a:avLst/>
          </a:prstGeom>
        </p:spPr>
        <p:style>
          <a:lnRef idx="2">
            <a:schemeClr val="accent1"/>
          </a:lnRef>
          <a:fillRef idx="0">
            <a:schemeClr val="accent1"/>
          </a:fillRef>
          <a:effectRef idx="1">
            <a:schemeClr val="accent1"/>
          </a:effectRef>
          <a:fontRef idx="minor">
            <a:schemeClr val="tx1"/>
          </a:fontRef>
        </p:style>
      </p:cxnSp>
      <p:sp>
        <p:nvSpPr>
          <p:cNvPr id="43" name="Stored Data 42"/>
          <p:cNvSpPr/>
          <p:nvPr/>
        </p:nvSpPr>
        <p:spPr>
          <a:xfrm rot="10800000">
            <a:off x="4038600" y="3047999"/>
            <a:ext cx="6858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a:t>
            </a:r>
            <a:endParaRPr lang="en-US" dirty="0"/>
          </a:p>
        </p:txBody>
      </p:sp>
      <p:cxnSp>
        <p:nvCxnSpPr>
          <p:cNvPr id="44" name="Straight Connector 43"/>
          <p:cNvCxnSpPr/>
          <p:nvPr/>
        </p:nvCxnSpPr>
        <p:spPr>
          <a:xfrm>
            <a:off x="3352800" y="3200399"/>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a:off x="3352800" y="3505199"/>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a:off x="4648200" y="3352799"/>
            <a:ext cx="1447800"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5486400" y="3733800"/>
            <a:ext cx="0" cy="1219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3352800" y="3505200"/>
            <a:ext cx="0" cy="838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a:off x="3657600" y="2438400"/>
            <a:ext cx="0" cy="2362200"/>
          </a:xfrm>
          <a:prstGeom prst="line">
            <a:avLst/>
          </a:prstGeom>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04800" y="6260068"/>
            <a:ext cx="1828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smtClean="0"/>
              <a:t>Building XNOR</a:t>
            </a:r>
            <a:endParaRPr lang="en-US" b="1" dirty="0"/>
          </a:p>
        </p:txBody>
      </p:sp>
      <p:sp>
        <p:nvSpPr>
          <p:cNvPr id="3" name="TextBox 2"/>
          <p:cNvSpPr txBox="1"/>
          <p:nvPr/>
        </p:nvSpPr>
        <p:spPr>
          <a:xfrm>
            <a:off x="7239000" y="2971800"/>
            <a:ext cx="19050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(~A + B) * (A + ~B) </a:t>
            </a:r>
          </a:p>
        </p:txBody>
      </p:sp>
    </p:spTree>
    <p:extLst>
      <p:ext uri="{BB962C8B-B14F-4D97-AF65-F5344CB8AC3E}">
        <p14:creationId xmlns:p14="http://schemas.microsoft.com/office/powerpoint/2010/main" val="3917742365"/>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382000" cy="1143000"/>
          </a:xfrm>
        </p:spPr>
        <p:txBody>
          <a:bodyPr/>
          <a:lstStyle/>
          <a:p>
            <a:r>
              <a:rPr lang="en-US" dirty="0" smtClean="0"/>
              <a:t>Alternate XNOR Implementation in Just 4 Gates!</a:t>
            </a:r>
            <a:endParaRPr lang="en-US" dirty="0"/>
          </a:p>
        </p:txBody>
      </p:sp>
      <p:cxnSp>
        <p:nvCxnSpPr>
          <p:cNvPr id="4" name="Straight Connector 3"/>
          <p:cNvCxnSpPr/>
          <p:nvPr/>
        </p:nvCxnSpPr>
        <p:spPr>
          <a:xfrm>
            <a:off x="1371600" y="2438400"/>
            <a:ext cx="27432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3581400" y="23622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3886200" y="4495800"/>
            <a:ext cx="609600" cy="381000"/>
          </a:xfrm>
          <a:prstGeom prst="rect">
            <a:avLst/>
          </a:prstGeom>
          <a:noFill/>
        </p:spPr>
        <p:txBody>
          <a:bodyPr wrap="square" rtlCol="0">
            <a:spAutoFit/>
          </a:bodyPr>
          <a:lstStyle/>
          <a:p>
            <a:r>
              <a:rPr lang="en-US" dirty="0" smtClean="0"/>
              <a:t>A </a:t>
            </a:r>
            <a:endParaRPr lang="en-US" dirty="0"/>
          </a:p>
        </p:txBody>
      </p:sp>
      <p:sp>
        <p:nvSpPr>
          <p:cNvPr id="13" name="TextBox 12"/>
          <p:cNvSpPr txBox="1"/>
          <p:nvPr/>
        </p:nvSpPr>
        <p:spPr>
          <a:xfrm>
            <a:off x="1295400" y="2057400"/>
            <a:ext cx="609600" cy="381000"/>
          </a:xfrm>
          <a:prstGeom prst="rect">
            <a:avLst/>
          </a:prstGeom>
          <a:noFill/>
        </p:spPr>
        <p:txBody>
          <a:bodyPr wrap="square" rtlCol="0">
            <a:spAutoFit/>
          </a:bodyPr>
          <a:lstStyle/>
          <a:p>
            <a:r>
              <a:rPr lang="en-US" dirty="0" smtClean="0"/>
              <a:t>A</a:t>
            </a:r>
            <a:endParaRPr lang="en-US" dirty="0"/>
          </a:p>
        </p:txBody>
      </p:sp>
      <p:cxnSp>
        <p:nvCxnSpPr>
          <p:cNvPr id="14" name="Straight Connector 13"/>
          <p:cNvCxnSpPr>
            <a:stCxn id="20" idx="2"/>
          </p:cNvCxnSpPr>
          <p:nvPr/>
        </p:nvCxnSpPr>
        <p:spPr>
          <a:xfrm>
            <a:off x="1524000" y="4343400"/>
            <a:ext cx="2895600" cy="0"/>
          </a:xfrm>
          <a:prstGeom prst="line">
            <a:avLst/>
          </a:prstGeom>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2971800" y="42672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4800600" y="2667000"/>
            <a:ext cx="762000" cy="402"/>
          </a:xfrm>
          <a:prstGeom prst="line">
            <a:avLst/>
          </a:prstGeom>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810000" y="2438400"/>
            <a:ext cx="609600" cy="381000"/>
          </a:xfrm>
          <a:prstGeom prst="rect">
            <a:avLst/>
          </a:prstGeom>
          <a:noFill/>
        </p:spPr>
        <p:txBody>
          <a:bodyPr wrap="square" rtlCol="0">
            <a:spAutoFit/>
          </a:bodyPr>
          <a:lstStyle/>
          <a:p>
            <a:r>
              <a:rPr lang="en-US" dirty="0"/>
              <a:t>B</a:t>
            </a:r>
          </a:p>
        </p:txBody>
      </p:sp>
      <p:sp>
        <p:nvSpPr>
          <p:cNvPr id="20" name="TextBox 19"/>
          <p:cNvSpPr txBox="1"/>
          <p:nvPr/>
        </p:nvSpPr>
        <p:spPr>
          <a:xfrm>
            <a:off x="1219200" y="3962400"/>
            <a:ext cx="609600" cy="381000"/>
          </a:xfrm>
          <a:prstGeom prst="rect">
            <a:avLst/>
          </a:prstGeom>
          <a:noFill/>
        </p:spPr>
        <p:txBody>
          <a:bodyPr wrap="square" rtlCol="0">
            <a:spAutoFit/>
          </a:bodyPr>
          <a:lstStyle/>
          <a:p>
            <a:r>
              <a:rPr lang="en-US" dirty="0"/>
              <a:t>B</a:t>
            </a:r>
          </a:p>
        </p:txBody>
      </p:sp>
      <p:cxnSp>
        <p:nvCxnSpPr>
          <p:cNvPr id="21" name="Straight Connector 20"/>
          <p:cNvCxnSpPr/>
          <p:nvPr/>
        </p:nvCxnSpPr>
        <p:spPr>
          <a:xfrm flipV="1">
            <a:off x="3657600" y="4800599"/>
            <a:ext cx="706582"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4800600" y="4572000"/>
            <a:ext cx="762000" cy="1"/>
          </a:xfrm>
          <a:prstGeom prst="line">
            <a:avLst/>
          </a:prstGeom>
        </p:spPr>
        <p:style>
          <a:lnRef idx="2">
            <a:schemeClr val="accent1"/>
          </a:lnRef>
          <a:fillRef idx="0">
            <a:schemeClr val="accent1"/>
          </a:fillRef>
          <a:effectRef idx="1">
            <a:schemeClr val="accent1"/>
          </a:effectRef>
          <a:fontRef idx="minor">
            <a:schemeClr val="tx1"/>
          </a:fontRef>
        </p:style>
      </p:cxnSp>
      <p:sp>
        <p:nvSpPr>
          <p:cNvPr id="24" name="Stored Data 23"/>
          <p:cNvSpPr/>
          <p:nvPr/>
        </p:nvSpPr>
        <p:spPr>
          <a:xfrm rot="10800000">
            <a:off x="4114800" y="4267200"/>
            <a:ext cx="6858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a:t>
            </a:r>
            <a:endParaRPr lang="en-US" dirty="0"/>
          </a:p>
        </p:txBody>
      </p:sp>
      <p:cxnSp>
        <p:nvCxnSpPr>
          <p:cNvPr id="27" name="Straight Connector 26"/>
          <p:cNvCxnSpPr/>
          <p:nvPr/>
        </p:nvCxnSpPr>
        <p:spPr>
          <a:xfrm>
            <a:off x="3048000" y="2743200"/>
            <a:ext cx="0" cy="1600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3657600" y="2438400"/>
            <a:ext cx="0" cy="2362200"/>
          </a:xfrm>
          <a:prstGeom prst="line">
            <a:avLst/>
          </a:prstGeom>
        </p:spPr>
        <p:style>
          <a:lnRef idx="2">
            <a:schemeClr val="accent1"/>
          </a:lnRef>
          <a:fillRef idx="0">
            <a:schemeClr val="accent1"/>
          </a:fillRef>
          <a:effectRef idx="1">
            <a:schemeClr val="accent1"/>
          </a:effectRef>
          <a:fontRef idx="minor">
            <a:schemeClr val="tx1"/>
          </a:fontRef>
        </p:style>
      </p:cxnSp>
      <p:sp>
        <p:nvSpPr>
          <p:cNvPr id="30" name="Delay 29"/>
          <p:cNvSpPr/>
          <p:nvPr/>
        </p:nvSpPr>
        <p:spPr>
          <a:xfrm>
            <a:off x="4114800" y="2286000"/>
            <a:ext cx="838200" cy="685800"/>
          </a:xfrm>
          <a:prstGeom prst="flowChartDelay">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t>
            </a:r>
            <a:endParaRPr lang="en-US" dirty="0"/>
          </a:p>
        </p:txBody>
      </p:sp>
      <p:cxnSp>
        <p:nvCxnSpPr>
          <p:cNvPr id="32" name="Straight Connector 31"/>
          <p:cNvCxnSpPr/>
          <p:nvPr/>
        </p:nvCxnSpPr>
        <p:spPr>
          <a:xfrm>
            <a:off x="3048000" y="2743200"/>
            <a:ext cx="1066800" cy="0"/>
          </a:xfrm>
          <a:prstGeom prst="line">
            <a:avLst/>
          </a:prstGeom>
        </p:spPr>
        <p:style>
          <a:lnRef idx="2">
            <a:schemeClr val="accent1"/>
          </a:lnRef>
          <a:fillRef idx="0">
            <a:schemeClr val="accent1"/>
          </a:fillRef>
          <a:effectRef idx="1">
            <a:schemeClr val="accent1"/>
          </a:effectRef>
          <a:fontRef idx="minor">
            <a:schemeClr val="tx1"/>
          </a:fontRef>
        </p:style>
      </p:cxnSp>
      <p:sp>
        <p:nvSpPr>
          <p:cNvPr id="38" name="Right Brace 37"/>
          <p:cNvSpPr/>
          <p:nvPr/>
        </p:nvSpPr>
        <p:spPr>
          <a:xfrm rot="5400000">
            <a:off x="2767400" y="3438162"/>
            <a:ext cx="899361" cy="3624238"/>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39" name="Extract 38"/>
          <p:cNvSpPr/>
          <p:nvPr/>
        </p:nvSpPr>
        <p:spPr>
          <a:xfrm rot="5400000">
            <a:off x="6934200" y="2590800"/>
            <a:ext cx="838200" cy="685800"/>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t>~</a:t>
            </a:r>
            <a:endParaRPr lang="en-US" dirty="0"/>
          </a:p>
        </p:txBody>
      </p:sp>
      <p:sp>
        <p:nvSpPr>
          <p:cNvPr id="40" name="Oval 39"/>
          <p:cNvSpPr/>
          <p:nvPr/>
        </p:nvSpPr>
        <p:spPr>
          <a:xfrm>
            <a:off x="7620000" y="2819400"/>
            <a:ext cx="228600" cy="22900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TextBox 43"/>
          <p:cNvSpPr txBox="1"/>
          <p:nvPr/>
        </p:nvSpPr>
        <p:spPr>
          <a:xfrm>
            <a:off x="1447800" y="5562600"/>
            <a:ext cx="3532909"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dirty="0" smtClean="0"/>
              <a:t>Don’t edit this portion of the circuit</a:t>
            </a:r>
            <a:endParaRPr lang="en-US" dirty="0"/>
          </a:p>
        </p:txBody>
      </p:sp>
      <p:sp>
        <p:nvSpPr>
          <p:cNvPr id="3" name="TextBox 2"/>
          <p:cNvSpPr txBox="1"/>
          <p:nvPr/>
        </p:nvSpPr>
        <p:spPr>
          <a:xfrm>
            <a:off x="457200" y="6135469"/>
            <a:ext cx="4822756" cy="64633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dirty="0"/>
              <a:t>A*B + !A*!</a:t>
            </a:r>
            <a:r>
              <a:rPr lang="en-US" dirty="0" smtClean="0"/>
              <a:t>B == A*B + !( ? )    </a:t>
            </a:r>
          </a:p>
          <a:p>
            <a:r>
              <a:rPr lang="en-US" dirty="0" smtClean="0"/>
              <a:t>//hint: extract the negation in the second term</a:t>
            </a:r>
            <a:endParaRPr lang="en-US" dirty="0"/>
          </a:p>
        </p:txBody>
      </p:sp>
      <p:sp>
        <p:nvSpPr>
          <p:cNvPr id="28" name="TextBox 27"/>
          <p:cNvSpPr txBox="1"/>
          <p:nvPr/>
        </p:nvSpPr>
        <p:spPr>
          <a:xfrm>
            <a:off x="457200" y="6146800"/>
            <a:ext cx="5791200" cy="64633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dirty="0"/>
              <a:t>A*B + !A*!</a:t>
            </a:r>
            <a:r>
              <a:rPr lang="en-US" dirty="0" smtClean="0"/>
              <a:t>B == A*B + !( A + B )    //further BE refinement</a:t>
            </a:r>
          </a:p>
          <a:p>
            <a:r>
              <a:rPr lang="en-US" dirty="0" smtClean="0"/>
              <a:t>//</a:t>
            </a:r>
            <a:r>
              <a:rPr lang="en-US" b="1" dirty="0" smtClean="0"/>
              <a:t>hint:</a:t>
            </a:r>
            <a:r>
              <a:rPr lang="en-US" dirty="0" smtClean="0"/>
              <a:t> extract the negation in the second term</a:t>
            </a:r>
            <a:endParaRPr lang="en-US" dirty="0"/>
          </a:p>
        </p:txBody>
      </p:sp>
      <p:sp>
        <p:nvSpPr>
          <p:cNvPr id="26" name="Stored Data 25"/>
          <p:cNvSpPr/>
          <p:nvPr/>
        </p:nvSpPr>
        <p:spPr>
          <a:xfrm rot="10800000">
            <a:off x="7010400" y="4114800"/>
            <a:ext cx="6858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a:t>
            </a:r>
            <a:endParaRPr lang="en-US" dirty="0"/>
          </a:p>
        </p:txBody>
      </p:sp>
    </p:spTree>
    <p:extLst>
      <p:ext uri="{BB962C8B-B14F-4D97-AF65-F5344CB8AC3E}">
        <p14:creationId xmlns:p14="http://schemas.microsoft.com/office/powerpoint/2010/main" val="175344254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1000" fill="hold"/>
                                        <p:tgtEl>
                                          <p:spTgt spid="28"/>
                                        </p:tgtEl>
                                        <p:attrNameLst>
                                          <p:attrName>ppt_w</p:attrName>
                                        </p:attrNameLst>
                                      </p:cBhvr>
                                      <p:tavLst>
                                        <p:tav tm="0">
                                          <p:val>
                                            <p:strVal val="#ppt_w*0.70"/>
                                          </p:val>
                                        </p:tav>
                                        <p:tav tm="100000">
                                          <p:val>
                                            <p:strVal val="#ppt_w"/>
                                          </p:val>
                                        </p:tav>
                                      </p:tavLst>
                                    </p:anim>
                                    <p:anim calcmode="lin" valueType="num">
                                      <p:cBhvr>
                                        <p:cTn id="8" dur="1000" fill="hold"/>
                                        <p:tgtEl>
                                          <p:spTgt spid="28"/>
                                        </p:tgtEl>
                                        <p:attrNameLst>
                                          <p:attrName>ppt_h</p:attrName>
                                        </p:attrNameLst>
                                      </p:cBhvr>
                                      <p:tavLst>
                                        <p:tav tm="0">
                                          <p:val>
                                            <p:strVal val="#ppt_h"/>
                                          </p:val>
                                        </p:tav>
                                        <p:tav tm="100000">
                                          <p:val>
                                            <p:strVal val="#ppt_h"/>
                                          </p:val>
                                        </p:tav>
                                      </p:tavLst>
                                    </p:anim>
                                    <p:animEffect transition="in" filter="fade">
                                      <p:cBhvr>
                                        <p:cTn id="9"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PQuestion"/>
          <p:cNvSpPr>
            <a:spLocks noGrp="1"/>
          </p:cNvSpPr>
          <p:nvPr>
            <p:ph type="title"/>
          </p:nvPr>
        </p:nvSpPr>
        <p:spPr/>
        <p:txBody>
          <a:bodyPr/>
          <a:lstStyle/>
          <a:p>
            <a:r>
              <a:rPr lang="en-US" dirty="0"/>
              <a:t>6 </a:t>
            </a:r>
            <a:r>
              <a:rPr lang="en-US" dirty="0" smtClean="0"/>
              <a:t>VS 5 VS 4 </a:t>
            </a:r>
            <a:r>
              <a:rPr lang="en-US" dirty="0"/>
              <a:t>Gates – </a:t>
            </a:r>
            <a:r>
              <a:rPr lang="en-US" dirty="0" smtClean="0"/>
              <a:t>Why Care?</a:t>
            </a:r>
            <a:endParaRPr lang="en-US" dirty="0">
              <a:latin typeface="Calibri" charset="0"/>
              <a:ea typeface="MS PGothic" charset="0"/>
            </a:endParaRPr>
          </a:p>
        </p:txBody>
      </p:sp>
      <p:sp>
        <p:nvSpPr>
          <p:cNvPr id="2051" name="TPAnswers"/>
          <p:cNvSpPr>
            <a:spLocks noGrp="1"/>
          </p:cNvSpPr>
          <p:nvPr>
            <p:ph idx="1"/>
            <p:custDataLst>
              <p:tags r:id="rId2"/>
            </p:custDataLst>
          </p:nvPr>
        </p:nvSpPr>
        <p:spPr>
          <a:xfrm>
            <a:off x="76200" y="1600200"/>
            <a:ext cx="4800600" cy="4525963"/>
          </a:xfrm>
        </p:spPr>
        <p:txBody>
          <a:bodyPr/>
          <a:lstStyle/>
          <a:p>
            <a:pPr marL="514350" indent="-514350">
              <a:buFont typeface="Arial" charset="0"/>
              <a:buAutoNum type="alphaUcPeriod"/>
            </a:pPr>
            <a:r>
              <a:rPr lang="en-US" dirty="0" smtClean="0">
                <a:latin typeface="Calibri" charset="0"/>
                <a:ea typeface="MS PGothic" charset="0"/>
              </a:rPr>
              <a:t>To help build a better ISA</a:t>
            </a:r>
          </a:p>
          <a:p>
            <a:pPr marL="514350" indent="-514350">
              <a:buFont typeface="Arial" charset="0"/>
              <a:buAutoNum type="alphaUcPeriod"/>
            </a:pPr>
            <a:r>
              <a:rPr lang="en-US" dirty="0" smtClean="0">
                <a:latin typeface="Calibri" charset="0"/>
                <a:ea typeface="MS PGothic" charset="0"/>
              </a:rPr>
              <a:t>To conserve </a:t>
            </a:r>
            <a:r>
              <a:rPr lang="en-US" dirty="0"/>
              <a:t>s</a:t>
            </a:r>
            <a:r>
              <a:rPr lang="en-US" dirty="0" smtClean="0"/>
              <a:t>pace </a:t>
            </a:r>
            <a:r>
              <a:rPr lang="en-US" dirty="0"/>
              <a:t>on the die</a:t>
            </a:r>
          </a:p>
          <a:p>
            <a:pPr marL="514350" indent="-514350" eaLnBrk="1" hangingPunct="1">
              <a:buFont typeface="Arial" charset="0"/>
              <a:buAutoNum type="alphaUcPeriod"/>
            </a:pPr>
            <a:r>
              <a:rPr lang="en-US" dirty="0" smtClean="0">
                <a:latin typeface="Calibri" charset="0"/>
                <a:ea typeface="MS PGothic" charset="0"/>
              </a:rPr>
              <a:t>To minimize on heat and current</a:t>
            </a:r>
          </a:p>
          <a:p>
            <a:pPr marL="514350" indent="-514350" eaLnBrk="1" hangingPunct="1">
              <a:buFont typeface="Arial" charset="0"/>
              <a:buAutoNum type="alphaUcPeriod"/>
            </a:pPr>
            <a:r>
              <a:rPr lang="en-US" dirty="0" smtClean="0">
                <a:latin typeface="Calibri" charset="0"/>
                <a:ea typeface="MS PGothic" charset="0"/>
              </a:rPr>
              <a:t>To minimize the propagation delay</a:t>
            </a:r>
          </a:p>
          <a:p>
            <a:pPr marL="514350" indent="-514350" eaLnBrk="1" hangingPunct="1">
              <a:buFont typeface="Arial" charset="0"/>
              <a:buAutoNum type="alphaUcPeriod"/>
            </a:pPr>
            <a:r>
              <a:rPr lang="en-US" dirty="0" smtClean="0">
                <a:latin typeface="Calibri" charset="0"/>
                <a:ea typeface="MS PGothic" charset="0"/>
              </a:rPr>
              <a:t>To maximize on clock speed</a:t>
            </a:r>
          </a:p>
          <a:p>
            <a:pPr marL="514350" indent="-514350" eaLnBrk="1" hangingPunct="1">
              <a:buFont typeface="Arial" charset="0"/>
              <a:buAutoNum type="alphaUcPeriod"/>
            </a:pPr>
            <a:r>
              <a:rPr lang="en-US" dirty="0" smtClean="0">
                <a:latin typeface="Calibri" charset="0"/>
                <a:ea typeface="MS PGothic" charset="0"/>
              </a:rPr>
              <a:t>To save on die cost</a:t>
            </a:r>
          </a:p>
          <a:p>
            <a:pPr marL="514350" indent="-514350" eaLnBrk="1" hangingPunct="1">
              <a:buFont typeface="Arial" charset="0"/>
              <a:buAutoNum type="alphaUcPeriod"/>
            </a:pPr>
            <a:r>
              <a:rPr lang="en-US" dirty="0" smtClean="0">
                <a:latin typeface="Calibri" charset="0"/>
                <a:ea typeface="MS PGothic" charset="0"/>
              </a:rPr>
              <a:t>To save on time to market</a:t>
            </a:r>
            <a:endParaRPr lang="en-US" dirty="0">
              <a:latin typeface="Calibri" charset="0"/>
              <a:ea typeface="MS PGothic" charset="0"/>
            </a:endParaRPr>
          </a:p>
        </p:txBody>
      </p:sp>
      <p:pic>
        <p:nvPicPr>
          <p:cNvPr id="3" name="TPChart" descr="597D24BFB1DB4A40A3201AFA587CB534Chart20141005132916482.png"/>
          <p:cNvPicPr>
            <a:picLocks/>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2209800" y="1600200"/>
            <a:ext cx="5638800" cy="5143500"/>
          </a:xfrm>
          <a:prstGeom prst="rect">
            <a:avLst/>
          </a:prstGeom>
        </p:spPr>
      </p:pic>
      <p:sp>
        <p:nvSpPr>
          <p:cNvPr id="6" name="CAI1" hidden="1"/>
          <p:cNvSpPr/>
          <p:nvPr>
            <p:custDataLst>
              <p:tags r:id="rId4"/>
            </p:custDataLst>
          </p:nvPr>
        </p:nvSpPr>
        <p:spPr>
          <a:xfrm rot="10800000">
            <a:off x="381001" y="2070100"/>
            <a:ext cx="266700" cy="266700"/>
          </a:xfrm>
          <a:custGeom>
            <a:avLst/>
            <a:gdLst/>
            <a:ahLst/>
            <a:cxnLst/>
            <a:rect l="0" t="0" r="0" b="0"/>
            <a:pathLst>
              <a:path w="1524001" h="1752601">
                <a:moveTo>
                  <a:pt x="1295400" y="1066800"/>
                </a:moveTo>
                <a:lnTo>
                  <a:pt x="1524000" y="533400"/>
                </a:lnTo>
                <a:lnTo>
                  <a:pt x="914400" y="0"/>
                </a:lnTo>
                <a:lnTo>
                  <a:pt x="0" y="1447800"/>
                </a:lnTo>
                <a:lnTo>
                  <a:pt x="0" y="1752600"/>
                </a:lnTo>
                <a:lnTo>
                  <a:pt x="990600" y="533400"/>
                </a:lnTo>
                <a:close/>
              </a:path>
            </a:pathLst>
          </a:custGeom>
          <a:solidFill>
            <a:srgbClr val="00C800"/>
          </a:solidFill>
          <a:ln w="12700" cap="flat" cmpd="sng" algn="ctr">
            <a:noFill/>
            <a:prstDash val="solid"/>
          </a:ln>
          <a:effectLst>
            <a:outerShdw blurRad="50800" dist="25400" algn="bl" rotWithShape="0">
              <a:srgbClr val="000000">
                <a:alpha val="60000"/>
              </a:srgbClr>
            </a:outerShdw>
          </a:effectLst>
          <a:extLst>
            <a:ext uri="{91240B29-F687-4f45-9708-019B960494DF}">
              <a14:hiddenLine xmlns:a14="http://schemas.microsoft.com/office/drawing/2010/main" w="12700"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CAI2" hidden="1"/>
          <p:cNvSpPr/>
          <p:nvPr>
            <p:custDataLst>
              <p:tags r:id="rId5"/>
            </p:custDataLst>
          </p:nvPr>
        </p:nvSpPr>
        <p:spPr>
          <a:xfrm rot="10800000">
            <a:off x="381001" y="2472436"/>
            <a:ext cx="266700" cy="266700"/>
          </a:xfrm>
          <a:custGeom>
            <a:avLst/>
            <a:gdLst/>
            <a:ahLst/>
            <a:cxnLst/>
            <a:rect l="0" t="0" r="0" b="0"/>
            <a:pathLst>
              <a:path w="1524001" h="1752601">
                <a:moveTo>
                  <a:pt x="1295400" y="1066800"/>
                </a:moveTo>
                <a:lnTo>
                  <a:pt x="1524000" y="533400"/>
                </a:lnTo>
                <a:lnTo>
                  <a:pt x="914400" y="0"/>
                </a:lnTo>
                <a:lnTo>
                  <a:pt x="0" y="1447800"/>
                </a:lnTo>
                <a:lnTo>
                  <a:pt x="0" y="1752600"/>
                </a:lnTo>
                <a:lnTo>
                  <a:pt x="990600" y="533400"/>
                </a:lnTo>
                <a:close/>
              </a:path>
            </a:pathLst>
          </a:custGeom>
          <a:solidFill>
            <a:srgbClr val="00C800"/>
          </a:solidFill>
          <a:ln w="12700" cap="flat" cmpd="sng" algn="ctr">
            <a:noFill/>
            <a:prstDash val="solid"/>
          </a:ln>
          <a:effectLst>
            <a:outerShdw blurRad="50800" dist="25400" algn="bl" rotWithShape="0">
              <a:srgbClr val="000000">
                <a:alpha val="60000"/>
              </a:srgbClr>
            </a:outerShdw>
          </a:effectLst>
          <a:extLst>
            <a:ext uri="{91240B29-F687-4f45-9708-019B960494DF}">
              <a14:hiddenLine xmlns:a14="http://schemas.microsoft.com/office/drawing/2010/main" w="12700"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CAI3" hidden="1"/>
          <p:cNvSpPr/>
          <p:nvPr>
            <p:custDataLst>
              <p:tags r:id="rId6"/>
            </p:custDataLst>
          </p:nvPr>
        </p:nvSpPr>
        <p:spPr>
          <a:xfrm rot="10800000">
            <a:off x="381001" y="2874772"/>
            <a:ext cx="266700" cy="266700"/>
          </a:xfrm>
          <a:custGeom>
            <a:avLst/>
            <a:gdLst/>
            <a:ahLst/>
            <a:cxnLst/>
            <a:rect l="0" t="0" r="0" b="0"/>
            <a:pathLst>
              <a:path w="1524001" h="1752601">
                <a:moveTo>
                  <a:pt x="1295400" y="1066800"/>
                </a:moveTo>
                <a:lnTo>
                  <a:pt x="1524000" y="533400"/>
                </a:lnTo>
                <a:lnTo>
                  <a:pt x="914400" y="0"/>
                </a:lnTo>
                <a:lnTo>
                  <a:pt x="0" y="1447800"/>
                </a:lnTo>
                <a:lnTo>
                  <a:pt x="0" y="1752600"/>
                </a:lnTo>
                <a:lnTo>
                  <a:pt x="990600" y="533400"/>
                </a:lnTo>
                <a:close/>
              </a:path>
            </a:pathLst>
          </a:custGeom>
          <a:solidFill>
            <a:srgbClr val="00C800"/>
          </a:solidFill>
          <a:ln w="12700" cap="flat" cmpd="sng" algn="ctr">
            <a:noFill/>
            <a:prstDash val="solid"/>
          </a:ln>
          <a:effectLst>
            <a:outerShdw blurRad="50800" dist="25400" algn="bl" rotWithShape="0">
              <a:srgbClr val="000000">
                <a:alpha val="60000"/>
              </a:srgbClr>
            </a:outerShdw>
          </a:effectLst>
          <a:extLst>
            <a:ext uri="{91240B29-F687-4f45-9708-019B960494DF}">
              <a14:hiddenLine xmlns:a14="http://schemas.microsoft.com/office/drawing/2010/main" w="12700"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CAI4" hidden="1"/>
          <p:cNvSpPr/>
          <p:nvPr>
            <p:custDataLst>
              <p:tags r:id="rId7"/>
            </p:custDataLst>
          </p:nvPr>
        </p:nvSpPr>
        <p:spPr>
          <a:xfrm rot="10800000">
            <a:off x="381001" y="3277108"/>
            <a:ext cx="266700" cy="266700"/>
          </a:xfrm>
          <a:custGeom>
            <a:avLst/>
            <a:gdLst/>
            <a:ahLst/>
            <a:cxnLst/>
            <a:rect l="0" t="0" r="0" b="0"/>
            <a:pathLst>
              <a:path w="1524001" h="1752601">
                <a:moveTo>
                  <a:pt x="1295400" y="1066800"/>
                </a:moveTo>
                <a:lnTo>
                  <a:pt x="1524000" y="533400"/>
                </a:lnTo>
                <a:lnTo>
                  <a:pt x="914400" y="0"/>
                </a:lnTo>
                <a:lnTo>
                  <a:pt x="0" y="1447800"/>
                </a:lnTo>
                <a:lnTo>
                  <a:pt x="0" y="1752600"/>
                </a:lnTo>
                <a:lnTo>
                  <a:pt x="990600" y="533400"/>
                </a:lnTo>
                <a:close/>
              </a:path>
            </a:pathLst>
          </a:custGeom>
          <a:solidFill>
            <a:srgbClr val="00C800"/>
          </a:solidFill>
          <a:ln w="12700" cap="flat" cmpd="sng" algn="ctr">
            <a:noFill/>
            <a:prstDash val="solid"/>
          </a:ln>
          <a:effectLst>
            <a:outerShdw blurRad="50800" dist="25400" algn="bl" rotWithShape="0">
              <a:srgbClr val="000000">
                <a:alpha val="60000"/>
              </a:srgbClr>
            </a:outerShdw>
          </a:effectLst>
          <a:extLst>
            <a:ext uri="{91240B29-F687-4f45-9708-019B960494DF}">
              <a14:hiddenLine xmlns:a14="http://schemas.microsoft.com/office/drawing/2010/main" w="12700"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CAI5" hidden="1"/>
          <p:cNvSpPr/>
          <p:nvPr>
            <p:custDataLst>
              <p:tags r:id="rId8"/>
            </p:custDataLst>
          </p:nvPr>
        </p:nvSpPr>
        <p:spPr>
          <a:xfrm rot="10800000">
            <a:off x="381001" y="3679444"/>
            <a:ext cx="266700" cy="266700"/>
          </a:xfrm>
          <a:custGeom>
            <a:avLst/>
            <a:gdLst/>
            <a:ahLst/>
            <a:cxnLst/>
            <a:rect l="0" t="0" r="0" b="0"/>
            <a:pathLst>
              <a:path w="1524001" h="1752601">
                <a:moveTo>
                  <a:pt x="1295400" y="1066800"/>
                </a:moveTo>
                <a:lnTo>
                  <a:pt x="1524000" y="533400"/>
                </a:lnTo>
                <a:lnTo>
                  <a:pt x="914400" y="0"/>
                </a:lnTo>
                <a:lnTo>
                  <a:pt x="0" y="1447800"/>
                </a:lnTo>
                <a:lnTo>
                  <a:pt x="0" y="1752600"/>
                </a:lnTo>
                <a:lnTo>
                  <a:pt x="990600" y="533400"/>
                </a:lnTo>
                <a:close/>
              </a:path>
            </a:pathLst>
          </a:custGeom>
          <a:solidFill>
            <a:srgbClr val="00C800"/>
          </a:solidFill>
          <a:ln w="12700" cap="flat" cmpd="sng" algn="ctr">
            <a:noFill/>
            <a:prstDash val="solid"/>
          </a:ln>
          <a:effectLst>
            <a:outerShdw blurRad="50800" dist="25400" algn="bl" rotWithShape="0">
              <a:srgbClr val="000000">
                <a:alpha val="60000"/>
              </a:srgbClr>
            </a:outerShdw>
          </a:effectLst>
          <a:extLst>
            <a:ext uri="{91240B29-F687-4f45-9708-019B960494DF}">
              <a14:hiddenLine xmlns:a14="http://schemas.microsoft.com/office/drawing/2010/main" w="12700"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CAI6" hidden="1"/>
          <p:cNvSpPr/>
          <p:nvPr>
            <p:custDataLst>
              <p:tags r:id="rId9"/>
            </p:custDataLst>
          </p:nvPr>
        </p:nvSpPr>
        <p:spPr>
          <a:xfrm rot="10800000">
            <a:off x="381001" y="4081780"/>
            <a:ext cx="266700" cy="266700"/>
          </a:xfrm>
          <a:custGeom>
            <a:avLst/>
            <a:gdLst/>
            <a:ahLst/>
            <a:cxnLst/>
            <a:rect l="0" t="0" r="0" b="0"/>
            <a:pathLst>
              <a:path w="1524001" h="1752601">
                <a:moveTo>
                  <a:pt x="1295400" y="1066800"/>
                </a:moveTo>
                <a:lnTo>
                  <a:pt x="1524000" y="533400"/>
                </a:lnTo>
                <a:lnTo>
                  <a:pt x="914400" y="0"/>
                </a:lnTo>
                <a:lnTo>
                  <a:pt x="0" y="1447800"/>
                </a:lnTo>
                <a:lnTo>
                  <a:pt x="0" y="1752600"/>
                </a:lnTo>
                <a:lnTo>
                  <a:pt x="990600" y="533400"/>
                </a:lnTo>
                <a:close/>
              </a:path>
            </a:pathLst>
          </a:custGeom>
          <a:solidFill>
            <a:srgbClr val="00C800"/>
          </a:solidFill>
          <a:ln w="12700" cap="flat" cmpd="sng" algn="ctr">
            <a:noFill/>
            <a:prstDash val="solid"/>
          </a:ln>
          <a:effectLst>
            <a:outerShdw blurRad="50800" dist="25400" algn="bl" rotWithShape="0">
              <a:srgbClr val="000000">
                <a:alpha val="60000"/>
              </a:srgbClr>
            </a:outerShdw>
          </a:effectLst>
          <a:extLst>
            <a:ext uri="{91240B29-F687-4f45-9708-019B960494DF}">
              <a14:hiddenLine xmlns:a14="http://schemas.microsoft.com/office/drawing/2010/main" w="12700"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ustDataLst>
      <p:tags r:id="rId1"/>
    </p:custData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 VS 5 VS 4 Gates – Who Cares?</a:t>
            </a:r>
            <a:endParaRPr lang="en-US" dirty="0"/>
          </a:p>
        </p:txBody>
      </p:sp>
      <p:sp>
        <p:nvSpPr>
          <p:cNvPr id="3" name="Content Placeholder 2"/>
          <p:cNvSpPr>
            <a:spLocks noGrp="1"/>
          </p:cNvSpPr>
          <p:nvPr>
            <p:ph idx="1"/>
          </p:nvPr>
        </p:nvSpPr>
        <p:spPr/>
        <p:txBody>
          <a:bodyPr/>
          <a:lstStyle/>
          <a:p>
            <a:endParaRPr lang="en-US" dirty="0" smtClean="0"/>
          </a:p>
          <a:p>
            <a:r>
              <a:rPr lang="en-US" dirty="0" smtClean="0"/>
              <a:t>Space on the die</a:t>
            </a:r>
          </a:p>
          <a:p>
            <a:pPr lvl="1"/>
            <a:r>
              <a:rPr lang="en-US" dirty="0" smtClean="0"/>
              <a:t>SRAM V.S. DRAM</a:t>
            </a:r>
          </a:p>
          <a:p>
            <a:r>
              <a:rPr lang="en-US" dirty="0" smtClean="0"/>
              <a:t>Heat generated</a:t>
            </a:r>
          </a:p>
          <a:p>
            <a:pPr lvl="1"/>
            <a:r>
              <a:rPr lang="en-US" dirty="0" smtClean="0"/>
              <a:t>Relates also to space on the die.</a:t>
            </a:r>
          </a:p>
          <a:p>
            <a:pPr lvl="1"/>
            <a:r>
              <a:rPr lang="en-US" dirty="0" smtClean="0"/>
              <a:t>Extra heat and wasted current.</a:t>
            </a:r>
          </a:p>
          <a:p>
            <a:r>
              <a:rPr lang="en-US" dirty="0" smtClean="0"/>
              <a:t>Speed (or propagation delay) is worse</a:t>
            </a:r>
            <a:endParaRPr lang="en-US" dirty="0"/>
          </a:p>
        </p:txBody>
      </p:sp>
    </p:spTree>
    <p:extLst>
      <p:ext uri="{BB962C8B-B14F-4D97-AF65-F5344CB8AC3E}">
        <p14:creationId xmlns:p14="http://schemas.microsoft.com/office/powerpoint/2010/main" val="1273025136"/>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Approach Uses 3 Gates</a:t>
            </a:r>
            <a:r>
              <a:rPr lang="en-US" baseline="30000" dirty="0" smtClean="0"/>
              <a:t>*</a:t>
            </a:r>
            <a:r>
              <a:rPr lang="en-US" dirty="0" smtClean="0"/>
              <a:t/>
            </a:r>
            <a:br>
              <a:rPr lang="en-US" dirty="0" smtClean="0"/>
            </a:br>
            <a:r>
              <a:rPr lang="en-US" sz="2200" dirty="0" smtClean="0"/>
              <a:t>(</a:t>
            </a:r>
            <a:r>
              <a:rPr lang="en-US" sz="2200" baseline="30000" dirty="0" smtClean="0"/>
              <a:t>*</a:t>
            </a:r>
            <a:r>
              <a:rPr lang="en-US" sz="2200" dirty="0" smtClean="0"/>
              <a:t>Note the use of compound gates)</a:t>
            </a:r>
            <a:endParaRPr lang="en-US" sz="2200" dirty="0"/>
          </a:p>
        </p:txBody>
      </p:sp>
      <p:pic>
        <p:nvPicPr>
          <p:cNvPr id="5" name="Picture 4"/>
          <p:cNvPicPr>
            <a:picLocks noChangeAspect="1"/>
          </p:cNvPicPr>
          <p:nvPr/>
        </p:nvPicPr>
        <p:blipFill>
          <a:blip r:embed="rId2"/>
          <a:stretch>
            <a:fillRect/>
          </a:stretch>
        </p:blipFill>
        <p:spPr>
          <a:xfrm>
            <a:off x="1397000" y="2209800"/>
            <a:ext cx="5232400" cy="2438400"/>
          </a:xfrm>
          <a:prstGeom prst="rect">
            <a:avLst/>
          </a:prstGeom>
        </p:spPr>
      </p:pic>
      <p:sp>
        <p:nvSpPr>
          <p:cNvPr id="6" name="TextBox 5"/>
          <p:cNvSpPr txBox="1"/>
          <p:nvPr/>
        </p:nvSpPr>
        <p:spPr>
          <a:xfrm>
            <a:off x="3627339" y="6490156"/>
            <a:ext cx="1279723" cy="215444"/>
          </a:xfrm>
          <a:prstGeom prst="rect">
            <a:avLst/>
          </a:prstGeom>
          <a:noFill/>
        </p:spPr>
        <p:txBody>
          <a:bodyPr wrap="square" rtlCol="0">
            <a:spAutoFit/>
          </a:bodyPr>
          <a:lstStyle/>
          <a:p>
            <a:r>
              <a:rPr lang="en-US" sz="800" dirty="0" smtClean="0"/>
              <a:t>Image Source:</a:t>
            </a:r>
            <a:r>
              <a:rPr lang="en-US" sz="800" dirty="0"/>
              <a:t> </a:t>
            </a:r>
            <a:r>
              <a:rPr lang="en-US" sz="800" dirty="0" smtClean="0"/>
              <a:t>Wikipedia</a:t>
            </a:r>
            <a:endParaRPr lang="en-US" sz="800" dirty="0"/>
          </a:p>
        </p:txBody>
      </p:sp>
    </p:spTree>
    <p:extLst>
      <p:ext uri="{BB962C8B-B14F-4D97-AF65-F5344CB8AC3E}">
        <p14:creationId xmlns:p14="http://schemas.microsoft.com/office/powerpoint/2010/main" val="2900802923"/>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PQuestion"/>
          <p:cNvSpPr>
            <a:spLocks noGrp="1"/>
          </p:cNvSpPr>
          <p:nvPr>
            <p:ph type="title"/>
          </p:nvPr>
        </p:nvSpPr>
        <p:spPr>
          <a:xfrm>
            <a:off x="304800" y="0"/>
            <a:ext cx="9525000" cy="1143000"/>
          </a:xfrm>
        </p:spPr>
        <p:txBody>
          <a:bodyPr/>
          <a:lstStyle/>
          <a:p>
            <a:pPr eaLnBrk="1" hangingPunct="1"/>
            <a:r>
              <a:rPr lang="en-US" dirty="0" smtClean="0">
                <a:latin typeface="Calibri" charset="0"/>
                <a:ea typeface="MS PGothic" charset="0"/>
              </a:rPr>
              <a:t>What Does the XNOR Implement?</a:t>
            </a:r>
            <a:endParaRPr lang="en-US" dirty="0">
              <a:latin typeface="Calibri" charset="0"/>
              <a:ea typeface="MS PGothic" charset="0"/>
            </a:endParaRPr>
          </a:p>
        </p:txBody>
      </p:sp>
      <p:sp>
        <p:nvSpPr>
          <p:cNvPr id="2051" name="TPAnswers"/>
          <p:cNvSpPr>
            <a:spLocks noGrp="1"/>
          </p:cNvSpPr>
          <p:nvPr>
            <p:ph idx="1"/>
            <p:custDataLst>
              <p:tags r:id="rId2"/>
            </p:custDataLst>
          </p:nvPr>
        </p:nvSpPr>
        <p:spPr>
          <a:xfrm>
            <a:off x="457200" y="1600200"/>
            <a:ext cx="4114800" cy="4525963"/>
          </a:xfrm>
        </p:spPr>
        <p:txBody>
          <a:bodyPr/>
          <a:lstStyle/>
          <a:p>
            <a:pPr marL="514350" indent="-514350" eaLnBrk="1" hangingPunct="1">
              <a:buFont typeface="Arial" charset="0"/>
              <a:buAutoNum type="alphaUcPeriod"/>
            </a:pPr>
            <a:r>
              <a:rPr lang="en-US" dirty="0" smtClean="0">
                <a:latin typeface="Calibri" charset="0"/>
                <a:ea typeface="MS PGothic" charset="0"/>
              </a:rPr>
              <a:t>An Adder</a:t>
            </a:r>
          </a:p>
          <a:p>
            <a:pPr marL="514350" indent="-514350" eaLnBrk="1" hangingPunct="1">
              <a:buFont typeface="Arial" charset="0"/>
              <a:buAutoNum type="alphaUcPeriod"/>
            </a:pPr>
            <a:r>
              <a:rPr lang="en-US" dirty="0" smtClean="0">
                <a:latin typeface="Calibri" charset="0"/>
                <a:ea typeface="MS PGothic" charset="0"/>
              </a:rPr>
              <a:t>A Ripple Counter</a:t>
            </a:r>
          </a:p>
          <a:p>
            <a:pPr marL="514350" indent="-514350" eaLnBrk="1" hangingPunct="1">
              <a:buFont typeface="Arial" charset="0"/>
              <a:buAutoNum type="alphaUcPeriod"/>
            </a:pPr>
            <a:r>
              <a:rPr lang="en-US" dirty="0" smtClean="0">
                <a:latin typeface="Calibri" charset="0"/>
                <a:ea typeface="MS PGothic" charset="0"/>
              </a:rPr>
              <a:t>A Multiplexor/Switch</a:t>
            </a:r>
          </a:p>
          <a:p>
            <a:pPr marL="514350" indent="-514350" eaLnBrk="1" hangingPunct="1">
              <a:buFont typeface="Arial" charset="0"/>
              <a:buAutoNum type="alphaUcPeriod"/>
            </a:pPr>
            <a:r>
              <a:rPr lang="en-US" dirty="0" smtClean="0">
                <a:latin typeface="Calibri" charset="0"/>
                <a:ea typeface="MS PGothic" charset="0"/>
              </a:rPr>
              <a:t>A Comparator</a:t>
            </a:r>
          </a:p>
          <a:p>
            <a:pPr marL="514350" indent="-514350" eaLnBrk="1" hangingPunct="1">
              <a:buFont typeface="Arial" charset="0"/>
              <a:buAutoNum type="alphaUcPeriod"/>
            </a:pPr>
            <a:r>
              <a:rPr lang="en-US" dirty="0" smtClean="0">
                <a:latin typeface="Calibri" charset="0"/>
                <a:ea typeface="MS PGothic" charset="0"/>
              </a:rPr>
              <a:t>An Encoder</a:t>
            </a:r>
            <a:endParaRPr lang="en-US" dirty="0">
              <a:latin typeface="Calibri" charset="0"/>
              <a:ea typeface="MS PGothic" charset="0"/>
            </a:endParaRPr>
          </a:p>
        </p:txBody>
      </p:sp>
      <p:pic>
        <p:nvPicPr>
          <p:cNvPr id="3" name="TPChart" descr="367A4D2D79704E9F94BB317478105E39Chart20141005132916486.png"/>
          <p:cNvPicPr>
            <a:picLocks/>
          </p:cNvPicPr>
          <p:nvPr>
            <p:custDataLst>
              <p:tags r:id="rId3"/>
            </p:custDataLst>
          </p:nvPr>
        </p:nvPicPr>
        <p:blipFill>
          <a:blip r:embed="rId5" cstate="print">
            <a:extLst>
              <a:ext uri="{28A0092B-C50C-407E-A947-70E740481C1C}">
                <a14:useLocalDpi xmlns:a14="http://schemas.microsoft.com/office/drawing/2010/main" val="0"/>
              </a:ext>
            </a:extLst>
          </a:blip>
          <a:stretch>
            <a:fillRect/>
          </a:stretch>
        </p:blipFill>
        <p:spPr>
          <a:xfrm>
            <a:off x="4508500" y="1600200"/>
            <a:ext cx="4572000" cy="5143500"/>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336996649"/>
              </p:ext>
            </p:extLst>
          </p:nvPr>
        </p:nvGraphicFramePr>
        <p:xfrm>
          <a:off x="152400" y="4191000"/>
          <a:ext cx="4572000" cy="1854200"/>
        </p:xfrm>
        <a:graphic>
          <a:graphicData uri="http://schemas.openxmlformats.org/drawingml/2006/table">
            <a:tbl>
              <a:tblPr firstRow="1" bandRow="1">
                <a:tableStyleId>{5C22544A-7EE6-4342-B048-85BDC9FD1C3A}</a:tableStyleId>
              </a:tblPr>
              <a:tblGrid>
                <a:gridCol w="1524000"/>
                <a:gridCol w="1524000"/>
                <a:gridCol w="1524000"/>
              </a:tblGrid>
              <a:tr h="370840">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r>
                        <a:rPr lang="en-US" baseline="0" dirty="0" smtClean="0"/>
                        <a:t> NXOR B</a:t>
                      </a:r>
                      <a:endParaRPr lang="en-US" dirty="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bl>
          </a:graphicData>
        </a:graphic>
      </p:graphicFrame>
      <p:sp>
        <p:nvSpPr>
          <p:cNvPr id="2" name="Frame 1"/>
          <p:cNvSpPr/>
          <p:nvPr/>
        </p:nvSpPr>
        <p:spPr>
          <a:xfrm>
            <a:off x="419100" y="2895600"/>
            <a:ext cx="457200" cy="304800"/>
          </a:xfrm>
          <a:prstGeom prst="fram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custDataLst>
      <p:tags r:id="rId1"/>
    </p:custData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620000" cy="1143000"/>
          </a:xfrm>
        </p:spPr>
        <p:txBody>
          <a:bodyPr/>
          <a:lstStyle/>
          <a:p>
            <a:r>
              <a:rPr lang="en-US" dirty="0" smtClean="0"/>
              <a:t>Multi-bit </a:t>
            </a:r>
            <a:br>
              <a:rPr lang="en-US" dirty="0" smtClean="0"/>
            </a:br>
            <a:r>
              <a:rPr lang="en-US" dirty="0" smtClean="0"/>
              <a:t>XNOR Gate</a:t>
            </a:r>
            <a:endParaRPr lang="en-US" dirty="0"/>
          </a:p>
        </p:txBody>
      </p:sp>
      <p:sp>
        <p:nvSpPr>
          <p:cNvPr id="3" name="Content Placeholder 2"/>
          <p:cNvSpPr>
            <a:spLocks noGrp="1"/>
          </p:cNvSpPr>
          <p:nvPr>
            <p:ph idx="1"/>
          </p:nvPr>
        </p:nvSpPr>
        <p:spPr>
          <a:xfrm>
            <a:off x="457200" y="1371600"/>
            <a:ext cx="7620000" cy="4800600"/>
          </a:xfrm>
        </p:spPr>
        <p:txBody>
          <a:bodyPr>
            <a:normAutofit/>
          </a:bodyPr>
          <a:lstStyle/>
          <a:p>
            <a:endParaRPr lang="en-US" dirty="0" smtClean="0"/>
          </a:p>
          <a:p>
            <a:endParaRPr lang="en-US" dirty="0"/>
          </a:p>
          <a:p>
            <a:endParaRPr lang="en-US" dirty="0" smtClean="0"/>
          </a:p>
          <a:p>
            <a:endParaRPr lang="en-US" dirty="0"/>
          </a:p>
          <a:p>
            <a:pPr marL="114300" indent="0">
              <a:buNone/>
            </a:pPr>
            <a:endParaRPr lang="en-US" dirty="0" smtClean="0"/>
          </a:p>
          <a:p>
            <a:r>
              <a:rPr lang="en-US" dirty="0" smtClean="0">
                <a:solidFill>
                  <a:srgbClr val="FF0000"/>
                </a:solidFill>
              </a:rPr>
              <a:t>Q:</a:t>
            </a:r>
            <a:r>
              <a:rPr lang="en-US" dirty="0" smtClean="0"/>
              <a:t> What if I wanted to do this to 4,8 or 32 bits? </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p:txBody>
      </p:sp>
      <p:graphicFrame>
        <p:nvGraphicFramePr>
          <p:cNvPr id="4" name="Table 3"/>
          <p:cNvGraphicFramePr>
            <a:graphicFrameLocks noGrp="1"/>
          </p:cNvGraphicFramePr>
          <p:nvPr>
            <p:extLst>
              <p:ext uri="{D42A27DB-BD31-4B8C-83A1-F6EECF244321}">
                <p14:modId xmlns:p14="http://schemas.microsoft.com/office/powerpoint/2010/main" val="689521238"/>
              </p:ext>
            </p:extLst>
          </p:nvPr>
        </p:nvGraphicFramePr>
        <p:xfrm>
          <a:off x="609600" y="1447800"/>
          <a:ext cx="6096000" cy="1854200"/>
        </p:xfrm>
        <a:graphic>
          <a:graphicData uri="http://schemas.openxmlformats.org/drawingml/2006/table">
            <a:tbl>
              <a:tblPr firstRow="1" bandRow="1">
                <a:tableStyleId>{5C22544A-7EE6-4342-B048-85BDC9FD1C3A}</a:tableStyleId>
              </a:tblPr>
              <a:tblGrid>
                <a:gridCol w="1524000"/>
                <a:gridCol w="1524000"/>
                <a:gridCol w="1524000"/>
                <a:gridCol w="1524000"/>
              </a:tblGrid>
              <a:tr h="370840">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 XOR B</a:t>
                      </a:r>
                      <a:endParaRPr lang="en-US" dirty="0"/>
                    </a:p>
                  </a:txBody>
                  <a:tcPr/>
                </a:tc>
                <a:tc>
                  <a:txBody>
                    <a:bodyPr/>
                    <a:lstStyle/>
                    <a:p>
                      <a:r>
                        <a:rPr lang="en-US" dirty="0" smtClean="0"/>
                        <a:t>A</a:t>
                      </a:r>
                      <a:r>
                        <a:rPr lang="en-US" baseline="0" dirty="0" smtClean="0"/>
                        <a:t> NXOR B</a:t>
                      </a:r>
                      <a:endParaRPr lang="en-US" dirty="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bl>
          </a:graphicData>
        </a:graphic>
      </p:graphicFrame>
      <p:sp>
        <p:nvSpPr>
          <p:cNvPr id="5" name="Stored Data 4"/>
          <p:cNvSpPr/>
          <p:nvPr/>
        </p:nvSpPr>
        <p:spPr>
          <a:xfrm rot="10800000">
            <a:off x="5943600" y="457200"/>
            <a:ext cx="9144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6" name="Straight Connector 5"/>
          <p:cNvCxnSpPr/>
          <p:nvPr/>
        </p:nvCxnSpPr>
        <p:spPr>
          <a:xfrm>
            <a:off x="4953000" y="5334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4953000" y="990600"/>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6553200" y="762000"/>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9" name="Block Arc 8"/>
          <p:cNvSpPr/>
          <p:nvPr/>
        </p:nvSpPr>
        <p:spPr>
          <a:xfrm rot="5400000">
            <a:off x="5562600" y="685800"/>
            <a:ext cx="609600" cy="152400"/>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0" name="Oval 9"/>
          <p:cNvSpPr/>
          <p:nvPr/>
        </p:nvSpPr>
        <p:spPr>
          <a:xfrm>
            <a:off x="6858000" y="685800"/>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1" name="Stored Data 10"/>
          <p:cNvSpPr/>
          <p:nvPr/>
        </p:nvSpPr>
        <p:spPr>
          <a:xfrm rot="10800000">
            <a:off x="3352800" y="4038601"/>
            <a:ext cx="228600" cy="3810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12" name="Straight Connector 11"/>
          <p:cNvCxnSpPr/>
          <p:nvPr/>
        </p:nvCxnSpPr>
        <p:spPr>
          <a:xfrm>
            <a:off x="2514600" y="4114801"/>
            <a:ext cx="7013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2514600" y="4343401"/>
            <a:ext cx="7013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3638550" y="4210051"/>
            <a:ext cx="1085850" cy="1"/>
          </a:xfrm>
          <a:prstGeom prst="line">
            <a:avLst/>
          </a:prstGeom>
        </p:spPr>
        <p:style>
          <a:lnRef idx="2">
            <a:schemeClr val="accent1"/>
          </a:lnRef>
          <a:fillRef idx="0">
            <a:schemeClr val="accent1"/>
          </a:fillRef>
          <a:effectRef idx="1">
            <a:schemeClr val="accent1"/>
          </a:effectRef>
          <a:fontRef idx="minor">
            <a:schemeClr val="tx1"/>
          </a:fontRef>
        </p:style>
      </p:cxnSp>
      <p:sp>
        <p:nvSpPr>
          <p:cNvPr id="15" name="Block Arc 14"/>
          <p:cNvSpPr/>
          <p:nvPr/>
        </p:nvSpPr>
        <p:spPr>
          <a:xfrm rot="5400000">
            <a:off x="3032760" y="4206241"/>
            <a:ext cx="381000" cy="45719"/>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6" name="Oval 15"/>
          <p:cNvSpPr/>
          <p:nvPr/>
        </p:nvSpPr>
        <p:spPr>
          <a:xfrm>
            <a:off x="3581400" y="4191001"/>
            <a:ext cx="45719" cy="9525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0" name="Stored Data 19"/>
          <p:cNvSpPr/>
          <p:nvPr/>
        </p:nvSpPr>
        <p:spPr>
          <a:xfrm rot="10800000">
            <a:off x="3352800" y="4572000"/>
            <a:ext cx="228600" cy="3810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21" name="Straight Connector 20"/>
          <p:cNvCxnSpPr/>
          <p:nvPr/>
        </p:nvCxnSpPr>
        <p:spPr>
          <a:xfrm>
            <a:off x="2514600" y="4648200"/>
            <a:ext cx="7013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2514600" y="4876800"/>
            <a:ext cx="7013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3638550" y="4743450"/>
            <a:ext cx="1085850" cy="1"/>
          </a:xfrm>
          <a:prstGeom prst="line">
            <a:avLst/>
          </a:prstGeom>
        </p:spPr>
        <p:style>
          <a:lnRef idx="2">
            <a:schemeClr val="accent1"/>
          </a:lnRef>
          <a:fillRef idx="0">
            <a:schemeClr val="accent1"/>
          </a:fillRef>
          <a:effectRef idx="1">
            <a:schemeClr val="accent1"/>
          </a:effectRef>
          <a:fontRef idx="minor">
            <a:schemeClr val="tx1"/>
          </a:fontRef>
        </p:style>
      </p:cxnSp>
      <p:sp>
        <p:nvSpPr>
          <p:cNvPr id="24" name="Block Arc 23"/>
          <p:cNvSpPr/>
          <p:nvPr/>
        </p:nvSpPr>
        <p:spPr>
          <a:xfrm rot="5400000">
            <a:off x="3032760" y="4739640"/>
            <a:ext cx="381000" cy="45719"/>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5" name="Oval 24"/>
          <p:cNvSpPr/>
          <p:nvPr/>
        </p:nvSpPr>
        <p:spPr>
          <a:xfrm>
            <a:off x="3581400" y="4724400"/>
            <a:ext cx="45719" cy="9525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6" name="Stored Data 25"/>
          <p:cNvSpPr/>
          <p:nvPr/>
        </p:nvSpPr>
        <p:spPr>
          <a:xfrm rot="10800000">
            <a:off x="3352800" y="5105401"/>
            <a:ext cx="228600" cy="3810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27" name="Straight Connector 26"/>
          <p:cNvCxnSpPr/>
          <p:nvPr/>
        </p:nvCxnSpPr>
        <p:spPr>
          <a:xfrm>
            <a:off x="2514600" y="5181601"/>
            <a:ext cx="7013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2514600" y="5410201"/>
            <a:ext cx="7013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3638550" y="5276851"/>
            <a:ext cx="1085850" cy="1"/>
          </a:xfrm>
          <a:prstGeom prst="line">
            <a:avLst/>
          </a:prstGeom>
        </p:spPr>
        <p:style>
          <a:lnRef idx="2">
            <a:schemeClr val="accent1"/>
          </a:lnRef>
          <a:fillRef idx="0">
            <a:schemeClr val="accent1"/>
          </a:fillRef>
          <a:effectRef idx="1">
            <a:schemeClr val="accent1"/>
          </a:effectRef>
          <a:fontRef idx="minor">
            <a:schemeClr val="tx1"/>
          </a:fontRef>
        </p:style>
      </p:cxnSp>
      <p:sp>
        <p:nvSpPr>
          <p:cNvPr id="30" name="Block Arc 29"/>
          <p:cNvSpPr/>
          <p:nvPr/>
        </p:nvSpPr>
        <p:spPr>
          <a:xfrm rot="5400000">
            <a:off x="3032760" y="5273041"/>
            <a:ext cx="381000" cy="45719"/>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1" name="Oval 30"/>
          <p:cNvSpPr/>
          <p:nvPr/>
        </p:nvSpPr>
        <p:spPr>
          <a:xfrm>
            <a:off x="3581400" y="5257801"/>
            <a:ext cx="45719" cy="9525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2" name="Stored Data 31"/>
          <p:cNvSpPr/>
          <p:nvPr/>
        </p:nvSpPr>
        <p:spPr>
          <a:xfrm rot="10800000">
            <a:off x="3352800" y="5638801"/>
            <a:ext cx="228600" cy="3810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33" name="Straight Connector 32"/>
          <p:cNvCxnSpPr/>
          <p:nvPr/>
        </p:nvCxnSpPr>
        <p:spPr>
          <a:xfrm>
            <a:off x="2514600" y="5715001"/>
            <a:ext cx="7013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514600" y="5943601"/>
            <a:ext cx="7013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3638550" y="5810251"/>
            <a:ext cx="1085850" cy="1"/>
          </a:xfrm>
          <a:prstGeom prst="line">
            <a:avLst/>
          </a:prstGeom>
        </p:spPr>
        <p:style>
          <a:lnRef idx="2">
            <a:schemeClr val="accent1"/>
          </a:lnRef>
          <a:fillRef idx="0">
            <a:schemeClr val="accent1"/>
          </a:fillRef>
          <a:effectRef idx="1">
            <a:schemeClr val="accent1"/>
          </a:effectRef>
          <a:fontRef idx="minor">
            <a:schemeClr val="tx1"/>
          </a:fontRef>
        </p:style>
      </p:cxnSp>
      <p:sp>
        <p:nvSpPr>
          <p:cNvPr id="36" name="Block Arc 35"/>
          <p:cNvSpPr/>
          <p:nvPr/>
        </p:nvSpPr>
        <p:spPr>
          <a:xfrm rot="5400000">
            <a:off x="3032760" y="5806441"/>
            <a:ext cx="381000" cy="45719"/>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7" name="Oval 36"/>
          <p:cNvSpPr/>
          <p:nvPr/>
        </p:nvSpPr>
        <p:spPr>
          <a:xfrm>
            <a:off x="3581400" y="5791201"/>
            <a:ext cx="45719" cy="9525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8" name="TextBox 37"/>
          <p:cNvSpPr txBox="1"/>
          <p:nvPr/>
        </p:nvSpPr>
        <p:spPr>
          <a:xfrm>
            <a:off x="4648200" y="3962400"/>
            <a:ext cx="838200" cy="369332"/>
          </a:xfrm>
          <a:prstGeom prst="rect">
            <a:avLst/>
          </a:prstGeom>
          <a:noFill/>
        </p:spPr>
        <p:txBody>
          <a:bodyPr wrap="square" rtlCol="0">
            <a:spAutoFit/>
          </a:bodyPr>
          <a:lstStyle/>
          <a:p>
            <a:r>
              <a:rPr lang="en-US" dirty="0" smtClean="0"/>
              <a:t>out0</a:t>
            </a:r>
            <a:endParaRPr lang="en-US" dirty="0"/>
          </a:p>
        </p:txBody>
      </p:sp>
      <p:sp>
        <p:nvSpPr>
          <p:cNvPr id="51" name="TextBox 50"/>
          <p:cNvSpPr txBox="1"/>
          <p:nvPr/>
        </p:nvSpPr>
        <p:spPr>
          <a:xfrm>
            <a:off x="4648200" y="4507468"/>
            <a:ext cx="762000" cy="369332"/>
          </a:xfrm>
          <a:prstGeom prst="rect">
            <a:avLst/>
          </a:prstGeom>
          <a:noFill/>
        </p:spPr>
        <p:txBody>
          <a:bodyPr wrap="square" rtlCol="0">
            <a:spAutoFit/>
          </a:bodyPr>
          <a:lstStyle/>
          <a:p>
            <a:r>
              <a:rPr lang="en-US" dirty="0" smtClean="0"/>
              <a:t>out1</a:t>
            </a:r>
            <a:endParaRPr lang="en-US" dirty="0"/>
          </a:p>
        </p:txBody>
      </p:sp>
      <p:sp>
        <p:nvSpPr>
          <p:cNvPr id="52" name="TextBox 51"/>
          <p:cNvSpPr txBox="1"/>
          <p:nvPr/>
        </p:nvSpPr>
        <p:spPr>
          <a:xfrm>
            <a:off x="4648200" y="5562600"/>
            <a:ext cx="838200" cy="369332"/>
          </a:xfrm>
          <a:prstGeom prst="rect">
            <a:avLst/>
          </a:prstGeom>
          <a:noFill/>
        </p:spPr>
        <p:txBody>
          <a:bodyPr wrap="square" rtlCol="0">
            <a:spAutoFit/>
          </a:bodyPr>
          <a:lstStyle/>
          <a:p>
            <a:r>
              <a:rPr lang="en-US" dirty="0" smtClean="0"/>
              <a:t>out3</a:t>
            </a:r>
            <a:endParaRPr lang="en-US" dirty="0"/>
          </a:p>
        </p:txBody>
      </p:sp>
      <p:sp>
        <p:nvSpPr>
          <p:cNvPr id="53" name="TextBox 52"/>
          <p:cNvSpPr txBox="1"/>
          <p:nvPr/>
        </p:nvSpPr>
        <p:spPr>
          <a:xfrm>
            <a:off x="4648200" y="5029200"/>
            <a:ext cx="838200" cy="369332"/>
          </a:xfrm>
          <a:prstGeom prst="rect">
            <a:avLst/>
          </a:prstGeom>
          <a:noFill/>
        </p:spPr>
        <p:txBody>
          <a:bodyPr wrap="square" rtlCol="0">
            <a:spAutoFit/>
          </a:bodyPr>
          <a:lstStyle/>
          <a:p>
            <a:r>
              <a:rPr lang="en-US" dirty="0" smtClean="0"/>
              <a:t>out2</a:t>
            </a:r>
            <a:endParaRPr lang="en-US" dirty="0"/>
          </a:p>
        </p:txBody>
      </p:sp>
      <p:sp>
        <p:nvSpPr>
          <p:cNvPr id="54" name="TextBox 53"/>
          <p:cNvSpPr txBox="1"/>
          <p:nvPr/>
        </p:nvSpPr>
        <p:spPr>
          <a:xfrm>
            <a:off x="2286000" y="3962400"/>
            <a:ext cx="609600" cy="230832"/>
          </a:xfrm>
          <a:prstGeom prst="rect">
            <a:avLst/>
          </a:prstGeom>
          <a:noFill/>
        </p:spPr>
        <p:txBody>
          <a:bodyPr wrap="square" rtlCol="0">
            <a:spAutoFit/>
          </a:bodyPr>
          <a:lstStyle/>
          <a:p>
            <a:r>
              <a:rPr lang="en-US" sz="900" dirty="0" smtClean="0"/>
              <a:t>A</a:t>
            </a:r>
            <a:r>
              <a:rPr lang="en-US" sz="900" dirty="0"/>
              <a:t>0</a:t>
            </a:r>
          </a:p>
        </p:txBody>
      </p:sp>
      <p:sp>
        <p:nvSpPr>
          <p:cNvPr id="55" name="TextBox 54"/>
          <p:cNvSpPr txBox="1"/>
          <p:nvPr/>
        </p:nvSpPr>
        <p:spPr>
          <a:xfrm>
            <a:off x="2286000" y="4495800"/>
            <a:ext cx="609600" cy="230832"/>
          </a:xfrm>
          <a:prstGeom prst="rect">
            <a:avLst/>
          </a:prstGeom>
          <a:noFill/>
        </p:spPr>
        <p:txBody>
          <a:bodyPr wrap="square" rtlCol="0">
            <a:spAutoFit/>
          </a:bodyPr>
          <a:lstStyle/>
          <a:p>
            <a:r>
              <a:rPr lang="en-US" sz="900" dirty="0" smtClean="0"/>
              <a:t>A1</a:t>
            </a:r>
            <a:endParaRPr lang="en-US" sz="900" dirty="0"/>
          </a:p>
        </p:txBody>
      </p:sp>
      <p:sp>
        <p:nvSpPr>
          <p:cNvPr id="56" name="TextBox 55"/>
          <p:cNvSpPr txBox="1"/>
          <p:nvPr/>
        </p:nvSpPr>
        <p:spPr>
          <a:xfrm>
            <a:off x="2286000" y="5026968"/>
            <a:ext cx="609600" cy="230832"/>
          </a:xfrm>
          <a:prstGeom prst="rect">
            <a:avLst/>
          </a:prstGeom>
          <a:noFill/>
        </p:spPr>
        <p:txBody>
          <a:bodyPr wrap="square" rtlCol="0">
            <a:spAutoFit/>
          </a:bodyPr>
          <a:lstStyle/>
          <a:p>
            <a:r>
              <a:rPr lang="en-US" sz="900" dirty="0" smtClean="0"/>
              <a:t>A2</a:t>
            </a:r>
            <a:endParaRPr lang="en-US" sz="900" dirty="0"/>
          </a:p>
        </p:txBody>
      </p:sp>
      <p:sp>
        <p:nvSpPr>
          <p:cNvPr id="57" name="TextBox 56"/>
          <p:cNvSpPr txBox="1"/>
          <p:nvPr/>
        </p:nvSpPr>
        <p:spPr>
          <a:xfrm>
            <a:off x="2286000" y="5560368"/>
            <a:ext cx="609600" cy="230832"/>
          </a:xfrm>
          <a:prstGeom prst="rect">
            <a:avLst/>
          </a:prstGeom>
          <a:noFill/>
        </p:spPr>
        <p:txBody>
          <a:bodyPr wrap="square" rtlCol="0">
            <a:spAutoFit/>
          </a:bodyPr>
          <a:lstStyle/>
          <a:p>
            <a:r>
              <a:rPr lang="en-US" sz="900" dirty="0" smtClean="0"/>
              <a:t>A3</a:t>
            </a:r>
            <a:endParaRPr lang="en-US" sz="900" dirty="0"/>
          </a:p>
        </p:txBody>
      </p:sp>
      <p:sp>
        <p:nvSpPr>
          <p:cNvPr id="58" name="TextBox 57"/>
          <p:cNvSpPr txBox="1"/>
          <p:nvPr/>
        </p:nvSpPr>
        <p:spPr>
          <a:xfrm>
            <a:off x="2286000" y="4188768"/>
            <a:ext cx="609600" cy="230832"/>
          </a:xfrm>
          <a:prstGeom prst="rect">
            <a:avLst/>
          </a:prstGeom>
          <a:noFill/>
        </p:spPr>
        <p:txBody>
          <a:bodyPr wrap="square" rtlCol="0">
            <a:spAutoFit/>
          </a:bodyPr>
          <a:lstStyle/>
          <a:p>
            <a:r>
              <a:rPr lang="en-US" sz="900" dirty="0"/>
              <a:t>B</a:t>
            </a:r>
            <a:r>
              <a:rPr lang="en-US" sz="900" dirty="0" smtClean="0"/>
              <a:t>0</a:t>
            </a:r>
            <a:endParaRPr lang="en-US" sz="900" dirty="0"/>
          </a:p>
        </p:txBody>
      </p:sp>
      <p:sp>
        <p:nvSpPr>
          <p:cNvPr id="59" name="TextBox 58"/>
          <p:cNvSpPr txBox="1"/>
          <p:nvPr/>
        </p:nvSpPr>
        <p:spPr>
          <a:xfrm>
            <a:off x="2286000" y="4722168"/>
            <a:ext cx="609600" cy="230832"/>
          </a:xfrm>
          <a:prstGeom prst="rect">
            <a:avLst/>
          </a:prstGeom>
          <a:noFill/>
        </p:spPr>
        <p:txBody>
          <a:bodyPr wrap="square" rtlCol="0">
            <a:spAutoFit/>
          </a:bodyPr>
          <a:lstStyle/>
          <a:p>
            <a:r>
              <a:rPr lang="en-US" sz="900" dirty="0" smtClean="0"/>
              <a:t>B1</a:t>
            </a:r>
            <a:endParaRPr lang="en-US" sz="900" dirty="0"/>
          </a:p>
        </p:txBody>
      </p:sp>
      <p:sp>
        <p:nvSpPr>
          <p:cNvPr id="60" name="TextBox 59"/>
          <p:cNvSpPr txBox="1"/>
          <p:nvPr/>
        </p:nvSpPr>
        <p:spPr>
          <a:xfrm>
            <a:off x="2286000" y="5257800"/>
            <a:ext cx="609600" cy="230832"/>
          </a:xfrm>
          <a:prstGeom prst="rect">
            <a:avLst/>
          </a:prstGeom>
          <a:noFill/>
        </p:spPr>
        <p:txBody>
          <a:bodyPr wrap="square" rtlCol="0">
            <a:spAutoFit/>
          </a:bodyPr>
          <a:lstStyle/>
          <a:p>
            <a:r>
              <a:rPr lang="en-US" sz="900" dirty="0" smtClean="0"/>
              <a:t>B</a:t>
            </a:r>
            <a:r>
              <a:rPr lang="en-US" sz="900" dirty="0"/>
              <a:t>2</a:t>
            </a:r>
          </a:p>
        </p:txBody>
      </p:sp>
      <p:sp>
        <p:nvSpPr>
          <p:cNvPr id="61" name="TextBox 60"/>
          <p:cNvSpPr txBox="1"/>
          <p:nvPr/>
        </p:nvSpPr>
        <p:spPr>
          <a:xfrm>
            <a:off x="2286000" y="5788968"/>
            <a:ext cx="609600" cy="230832"/>
          </a:xfrm>
          <a:prstGeom prst="rect">
            <a:avLst/>
          </a:prstGeom>
          <a:noFill/>
        </p:spPr>
        <p:txBody>
          <a:bodyPr wrap="square" rtlCol="0">
            <a:spAutoFit/>
          </a:bodyPr>
          <a:lstStyle/>
          <a:p>
            <a:r>
              <a:rPr lang="en-US" sz="900" dirty="0" smtClean="0"/>
              <a:t>B</a:t>
            </a:r>
            <a:r>
              <a:rPr lang="en-US" sz="900" dirty="0"/>
              <a:t>3</a:t>
            </a:r>
          </a:p>
        </p:txBody>
      </p:sp>
      <p:sp>
        <p:nvSpPr>
          <p:cNvPr id="17" name="Rectangle 16"/>
          <p:cNvSpPr/>
          <p:nvPr/>
        </p:nvSpPr>
        <p:spPr>
          <a:xfrm>
            <a:off x="0" y="6195259"/>
            <a:ext cx="3657600" cy="586541"/>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smtClean="0"/>
              <a:t>Cut-and-Paste Black Boxes</a:t>
            </a:r>
          </a:p>
          <a:p>
            <a:pPr algn="ctr"/>
            <a:r>
              <a:rPr lang="en-US" dirty="0" smtClean="0"/>
              <a:t>AND together for a 4 bit Comparator</a:t>
            </a:r>
            <a:endParaRPr lang="en-US" dirty="0"/>
          </a:p>
        </p:txBody>
      </p:sp>
      <p:cxnSp>
        <p:nvCxnSpPr>
          <p:cNvPr id="49" name="Straight Connector 48"/>
          <p:cNvCxnSpPr/>
          <p:nvPr/>
        </p:nvCxnSpPr>
        <p:spPr>
          <a:xfrm>
            <a:off x="6019800" y="5029200"/>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18" name="Curved Right Arrow 17"/>
          <p:cNvSpPr/>
          <p:nvPr/>
        </p:nvSpPr>
        <p:spPr>
          <a:xfrm rot="13000369">
            <a:off x="3243786" y="6072238"/>
            <a:ext cx="346364" cy="515252"/>
          </a:xfrm>
          <a:prstGeom prst="curv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63" name="Delay 62"/>
          <p:cNvSpPr/>
          <p:nvPr/>
        </p:nvSpPr>
        <p:spPr>
          <a:xfrm>
            <a:off x="5181600" y="4038600"/>
            <a:ext cx="838200" cy="1905000"/>
          </a:xfrm>
          <a:prstGeom prst="flowChartDelay">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AND</a:t>
            </a:r>
            <a:endParaRPr lang="en-US" dirty="0"/>
          </a:p>
        </p:txBody>
      </p:sp>
      <p:sp>
        <p:nvSpPr>
          <p:cNvPr id="19" name="TextBox 18"/>
          <p:cNvSpPr txBox="1"/>
          <p:nvPr/>
        </p:nvSpPr>
        <p:spPr>
          <a:xfrm>
            <a:off x="6400800" y="4659868"/>
            <a:ext cx="1371600" cy="369332"/>
          </a:xfrm>
          <a:prstGeom prst="rect">
            <a:avLst/>
          </a:prstGeom>
          <a:noFill/>
        </p:spPr>
        <p:txBody>
          <a:bodyPr wrap="square" rtlCol="0">
            <a:spAutoFit/>
          </a:bodyPr>
          <a:lstStyle/>
          <a:p>
            <a:r>
              <a:rPr lang="en-US" dirty="0" smtClean="0"/>
              <a:t>“A Equals B”</a:t>
            </a:r>
            <a:endParaRPr lang="en-US" dirty="0"/>
          </a:p>
        </p:txBody>
      </p:sp>
      <p:sp>
        <p:nvSpPr>
          <p:cNvPr id="62" name="Curved Right Arrow 61"/>
          <p:cNvSpPr/>
          <p:nvPr/>
        </p:nvSpPr>
        <p:spPr>
          <a:xfrm rot="14686057">
            <a:off x="4543996" y="5193563"/>
            <a:ext cx="461010" cy="2367571"/>
          </a:xfrm>
          <a:prstGeom prst="curv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8053729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par>
                                <p:cTn id="14" presetID="10" presetClass="entr" presetSubtype="0" fill="hold" nodeType="with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fade">
                                      <p:cBhvr>
                                        <p:cTn id="16" dur="500"/>
                                        <p:tgtEl>
                                          <p:spTgt spid="4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fade">
                                      <p:cBhvr>
                                        <p:cTn id="22" dur="500"/>
                                        <p:tgtEl>
                                          <p:spTgt spid="6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par>
                                <p:cTn id="47" presetID="10"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par>
                                <p:cTn id="50" presetID="10" presetClass="entr" presetSubtype="0" fill="hold"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500"/>
                                        <p:tgtEl>
                                          <p:spTgt spid="3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500"/>
                                        <p:tgtEl>
                                          <p:spTgt spid="3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500"/>
                                        <p:tgtEl>
                                          <p:spTgt spid="32"/>
                                        </p:tgtEl>
                                      </p:cBhvr>
                                    </p:animEffect>
                                  </p:childTnLst>
                                </p:cTn>
                              </p:par>
                              <p:par>
                                <p:cTn id="62" presetID="10" presetClass="entr" presetSubtype="0" fill="hold" nodeType="with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500"/>
                                        <p:tgtEl>
                                          <p:spTgt spid="33"/>
                                        </p:tgtEl>
                                      </p:cBhvr>
                                    </p:animEffect>
                                  </p:childTnLst>
                                </p:cTn>
                              </p:par>
                              <p:par>
                                <p:cTn id="65" presetID="10" presetClass="entr" presetSubtype="0" fill="hold" nodeType="with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500"/>
                                        <p:tgtEl>
                                          <p:spTgt spid="34"/>
                                        </p:tgtEl>
                                      </p:cBhvr>
                                    </p:animEffect>
                                  </p:childTnLst>
                                </p:cTn>
                              </p:par>
                              <p:par>
                                <p:cTn id="68" presetID="10" presetClass="entr" presetSubtype="0" fill="hold"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500"/>
                                        <p:tgtEl>
                                          <p:spTgt spid="3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500"/>
                                        <p:tgtEl>
                                          <p:spTgt spid="3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500"/>
                                        <p:tgtEl>
                                          <p:spTgt spid="3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5"/>
                                        </p:tgtEl>
                                        <p:attrNameLst>
                                          <p:attrName>style.visibility</p:attrName>
                                        </p:attrNameLst>
                                      </p:cBhvr>
                                      <p:to>
                                        <p:strVal val="visible"/>
                                      </p:to>
                                    </p:set>
                                    <p:animEffect transition="in" filter="fade">
                                      <p:cBhvr>
                                        <p:cTn id="79" dur="500"/>
                                        <p:tgtEl>
                                          <p:spTgt spid="55"/>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fade">
                                      <p:cBhvr>
                                        <p:cTn id="82" dur="500"/>
                                        <p:tgtEl>
                                          <p:spTgt spid="5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7"/>
                                        </p:tgtEl>
                                        <p:attrNameLst>
                                          <p:attrName>style.visibility</p:attrName>
                                        </p:attrNameLst>
                                      </p:cBhvr>
                                      <p:to>
                                        <p:strVal val="visible"/>
                                      </p:to>
                                    </p:set>
                                    <p:animEffect transition="in" filter="fade">
                                      <p:cBhvr>
                                        <p:cTn id="85" dur="500"/>
                                        <p:tgtEl>
                                          <p:spTgt spid="5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9"/>
                                        </p:tgtEl>
                                        <p:attrNameLst>
                                          <p:attrName>style.visibility</p:attrName>
                                        </p:attrNameLst>
                                      </p:cBhvr>
                                      <p:to>
                                        <p:strVal val="visible"/>
                                      </p:to>
                                    </p:set>
                                    <p:animEffect transition="in" filter="fade">
                                      <p:cBhvr>
                                        <p:cTn id="88" dur="500"/>
                                        <p:tgtEl>
                                          <p:spTgt spid="5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0"/>
                                        </p:tgtEl>
                                        <p:attrNameLst>
                                          <p:attrName>style.visibility</p:attrName>
                                        </p:attrNameLst>
                                      </p:cBhvr>
                                      <p:to>
                                        <p:strVal val="visible"/>
                                      </p:to>
                                    </p:set>
                                    <p:animEffect transition="in" filter="fade">
                                      <p:cBhvr>
                                        <p:cTn id="91" dur="500"/>
                                        <p:tgtEl>
                                          <p:spTgt spid="6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1"/>
                                        </p:tgtEl>
                                        <p:attrNameLst>
                                          <p:attrName>style.visibility</p:attrName>
                                        </p:attrNameLst>
                                      </p:cBhvr>
                                      <p:to>
                                        <p:strVal val="visible"/>
                                      </p:to>
                                    </p:set>
                                    <p:animEffect transition="in" filter="fade">
                                      <p:cBhvr>
                                        <p:cTn id="94" dur="500"/>
                                        <p:tgtEl>
                                          <p:spTgt spid="6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500"/>
                                        <p:tgtEl>
                                          <p:spTgt spid="18"/>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2"/>
                                        </p:tgtEl>
                                        <p:attrNameLst>
                                          <p:attrName>style.visibility</p:attrName>
                                        </p:attrNameLst>
                                      </p:cBhvr>
                                      <p:to>
                                        <p:strVal val="visible"/>
                                      </p:to>
                                    </p:set>
                                    <p:animEffect transition="in" filter="fade">
                                      <p:cBhvr>
                                        <p:cTn id="100" dur="500"/>
                                        <p:tgtEl>
                                          <p:spTgt spid="6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7"/>
                                        </p:tgtEl>
                                        <p:attrNameLst>
                                          <p:attrName>style.visibility</p:attrName>
                                        </p:attrNameLst>
                                      </p:cBhvr>
                                      <p:to>
                                        <p:strVal val="visible"/>
                                      </p:to>
                                    </p:set>
                                    <p:animEffect transition="in" filter="fade">
                                      <p:cBhvr>
                                        <p:cTn id="10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4" grpId="0" animBg="1"/>
      <p:bldP spid="25" grpId="0" animBg="1"/>
      <p:bldP spid="26" grpId="0" animBg="1"/>
      <p:bldP spid="30" grpId="0" animBg="1"/>
      <p:bldP spid="31" grpId="0" animBg="1"/>
      <p:bldP spid="32" grpId="0" animBg="1"/>
      <p:bldP spid="36" grpId="0" animBg="1"/>
      <p:bldP spid="37" grpId="0" animBg="1"/>
      <p:bldP spid="51" grpId="0"/>
      <p:bldP spid="52" grpId="0"/>
      <p:bldP spid="53" grpId="0"/>
      <p:bldP spid="55" grpId="0"/>
      <p:bldP spid="56" grpId="0"/>
      <p:bldP spid="57" grpId="0"/>
      <p:bldP spid="59" grpId="0"/>
      <p:bldP spid="60" grpId="0"/>
      <p:bldP spid="61" grpId="0"/>
      <p:bldP spid="17" grpId="0" animBg="1"/>
      <p:bldP spid="18" grpId="0" animBg="1"/>
      <p:bldP spid="63" grpId="0" animBg="1"/>
      <p:bldP spid="19" grpId="0"/>
      <p:bldP spid="6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8534400" cy="1143000"/>
          </a:xfrm>
        </p:spPr>
        <p:txBody>
          <a:bodyPr/>
          <a:lstStyle/>
          <a:p>
            <a:r>
              <a:rPr lang="en-US" sz="4200" dirty="0" smtClean="0"/>
              <a:t>From Gates to </a:t>
            </a:r>
            <a:r>
              <a:rPr lang="en-US" sz="4200" dirty="0" smtClean="0">
                <a:solidFill>
                  <a:srgbClr val="0000FF"/>
                </a:solidFill>
              </a:rPr>
              <a:t>Combinational Circuits</a:t>
            </a:r>
            <a:r>
              <a:rPr lang="en-US" sz="4200" dirty="0" smtClean="0"/>
              <a:t>: </a:t>
            </a:r>
            <a:br>
              <a:rPr lang="en-US" sz="4200" dirty="0" smtClean="0"/>
            </a:br>
            <a:r>
              <a:rPr lang="en-US" sz="4200" dirty="0" smtClean="0"/>
              <a:t>The Comparator (4b)  </a:t>
            </a:r>
            <a:r>
              <a:rPr lang="en-US" sz="2000" dirty="0" smtClean="0"/>
              <a:t>(A.K.A “equals”)</a:t>
            </a:r>
            <a:endParaRPr lang="en-US" sz="20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6975" y="1990725"/>
            <a:ext cx="4210050" cy="425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800600" y="6260068"/>
            <a:ext cx="3352800" cy="369332"/>
          </a:xfrm>
          <a:prstGeom prst="rect">
            <a:avLst/>
          </a:prstGeom>
          <a:noFill/>
        </p:spPr>
        <p:txBody>
          <a:bodyPr wrap="square" rtlCol="0">
            <a:spAutoFit/>
          </a:bodyPr>
          <a:lstStyle/>
          <a:p>
            <a:r>
              <a:rPr lang="en-US" dirty="0" smtClean="0"/>
              <a:t>(Courtesy of Arnie Berger’s Slides)</a:t>
            </a:r>
            <a:endParaRPr lang="en-US" dirty="0"/>
          </a:p>
        </p:txBody>
      </p:sp>
    </p:spTree>
    <p:extLst>
      <p:ext uri="{BB962C8B-B14F-4D97-AF65-F5344CB8AC3E}">
        <p14:creationId xmlns:p14="http://schemas.microsoft.com/office/powerpoint/2010/main" val="4042133387"/>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15400" cy="1143000"/>
          </a:xfrm>
        </p:spPr>
        <p:txBody>
          <a:bodyPr/>
          <a:lstStyle/>
          <a:p>
            <a:r>
              <a:rPr lang="en-US" dirty="0" smtClean="0">
                <a:solidFill>
                  <a:srgbClr val="0000FF"/>
                </a:solidFill>
              </a:rPr>
              <a:t>Combinational Circuits are Gates:</a:t>
            </a:r>
            <a:r>
              <a:rPr lang="en-US" dirty="0"/>
              <a:t/>
            </a:r>
            <a:br>
              <a:rPr lang="en-US" dirty="0"/>
            </a:br>
            <a:r>
              <a:rPr lang="en-US" dirty="0" smtClean="0"/>
              <a:t>“Equals” is The Comparator is </a:t>
            </a:r>
            <a:r>
              <a:rPr lang="mr-IN" dirty="0" smtClean="0"/>
              <a:t>…</a:t>
            </a:r>
            <a:endParaRPr lang="en-US" dirty="0"/>
          </a:p>
        </p:txBody>
      </p:sp>
      <p:sp>
        <p:nvSpPr>
          <p:cNvPr id="3" name="Content Placeholder 2"/>
          <p:cNvSpPr>
            <a:spLocks noGrp="1"/>
          </p:cNvSpPr>
          <p:nvPr>
            <p:ph idx="1"/>
          </p:nvPr>
        </p:nvSpPr>
        <p:spPr/>
        <p:txBody>
          <a:bodyPr/>
          <a:lstStyle/>
          <a:p>
            <a:r>
              <a:rPr lang="en-US" dirty="0" smtClean="0"/>
              <a:t>We use this to determine equality and implement “==“ </a:t>
            </a:r>
          </a:p>
          <a:p>
            <a:r>
              <a:rPr lang="en-US" dirty="0" smtClean="0">
                <a:solidFill>
                  <a:srgbClr val="FF0000"/>
                </a:solidFill>
              </a:rPr>
              <a:t>Q:</a:t>
            </a:r>
            <a:r>
              <a:rPr lang="en-US" dirty="0" smtClean="0"/>
              <a:t> How is this directly implemented in hardware?</a:t>
            </a:r>
          </a:p>
          <a:p>
            <a:pPr lvl="1"/>
            <a:r>
              <a:rPr lang="en-US" dirty="0" smtClean="0">
                <a:solidFill>
                  <a:srgbClr val="FF0000"/>
                </a:solidFill>
              </a:rPr>
              <a:t>Q Again: </a:t>
            </a:r>
            <a:r>
              <a:rPr lang="en-US" dirty="0" smtClean="0"/>
              <a:t>What goes inside the black box below? </a:t>
            </a:r>
          </a:p>
          <a:p>
            <a:pPr lvl="2"/>
            <a:r>
              <a:rPr lang="en-US" dirty="0" smtClean="0"/>
              <a:t>Hint: This is how you practice</a:t>
            </a:r>
          </a:p>
          <a:p>
            <a:pPr lvl="2"/>
            <a:r>
              <a:rPr lang="en-US" dirty="0" smtClean="0"/>
              <a:t>Hint: (XNOR)</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955545523"/>
              </p:ext>
            </p:extLst>
          </p:nvPr>
        </p:nvGraphicFramePr>
        <p:xfrm>
          <a:off x="838200" y="3479800"/>
          <a:ext cx="2667000" cy="1930400"/>
        </p:xfrm>
        <a:graphic>
          <a:graphicData uri="http://schemas.openxmlformats.org/drawingml/2006/table">
            <a:tbl>
              <a:tblPr firstRow="1" bandRow="1">
                <a:tableStyleId>{3C2FFA5D-87B4-456A-9821-1D502468CF0F}</a:tableStyleId>
              </a:tblPr>
              <a:tblGrid>
                <a:gridCol w="889000"/>
                <a:gridCol w="889000"/>
                <a:gridCol w="889000"/>
              </a:tblGrid>
              <a:tr h="386080">
                <a:tc>
                  <a:txBody>
                    <a:bodyPr/>
                    <a:lstStyle/>
                    <a:p>
                      <a:pPr algn="ctr"/>
                      <a:r>
                        <a:rPr lang="en-US" dirty="0" smtClean="0"/>
                        <a:t>A</a:t>
                      </a:r>
                      <a:endParaRPr lang="en-US" dirty="0"/>
                    </a:p>
                  </a:txBody>
                  <a:tcPr/>
                </a:tc>
                <a:tc>
                  <a:txBody>
                    <a:bodyPr/>
                    <a:lstStyle/>
                    <a:p>
                      <a:pPr algn="ctr"/>
                      <a:r>
                        <a:rPr lang="en-US" dirty="0" smtClean="0"/>
                        <a:t>B</a:t>
                      </a:r>
                      <a:endParaRPr lang="en-US" dirty="0"/>
                    </a:p>
                  </a:txBody>
                  <a:tcPr/>
                </a:tc>
                <a:tc>
                  <a:txBody>
                    <a:bodyPr/>
                    <a:lstStyle/>
                    <a:p>
                      <a:pPr algn="ctr"/>
                      <a:r>
                        <a:rPr lang="en-US" dirty="0" smtClean="0"/>
                        <a:t>A == B</a:t>
                      </a:r>
                      <a:endParaRPr lang="en-US" dirty="0"/>
                    </a:p>
                  </a:txBody>
                  <a:tcPr/>
                </a:tc>
              </a:tr>
              <a:tr h="38608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8608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8608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8608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bl>
          </a:graphicData>
        </a:graphic>
      </p:graphicFrame>
      <p:sp>
        <p:nvSpPr>
          <p:cNvPr id="5" name="Rectangle 4"/>
          <p:cNvSpPr/>
          <p:nvPr/>
        </p:nvSpPr>
        <p:spPr>
          <a:xfrm>
            <a:off x="4572000" y="3429000"/>
            <a:ext cx="2819400" cy="19812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sz="6000" b="1" dirty="0" smtClean="0"/>
              <a:t>XNOR</a:t>
            </a:r>
            <a:endParaRPr lang="en-US" sz="6000" b="1" dirty="0"/>
          </a:p>
        </p:txBody>
      </p:sp>
      <p:cxnSp>
        <p:nvCxnSpPr>
          <p:cNvPr id="7" name="Straight Connector 6"/>
          <p:cNvCxnSpPr/>
          <p:nvPr/>
        </p:nvCxnSpPr>
        <p:spPr>
          <a:xfrm>
            <a:off x="4191000" y="4038600"/>
            <a:ext cx="381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4191000" y="4572000"/>
            <a:ext cx="381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p:cNvCxnSpPr>
          <p:nvPr/>
        </p:nvCxnSpPr>
        <p:spPr>
          <a:xfrm>
            <a:off x="7391400" y="4419600"/>
            <a:ext cx="685800"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91400" y="4076700"/>
            <a:ext cx="914400" cy="369332"/>
          </a:xfrm>
          <a:prstGeom prst="rect">
            <a:avLst/>
          </a:prstGeom>
          <a:noFill/>
        </p:spPr>
        <p:txBody>
          <a:bodyPr wrap="square" rtlCol="0">
            <a:spAutoFit/>
          </a:bodyPr>
          <a:lstStyle/>
          <a:p>
            <a:r>
              <a:rPr lang="en-US" dirty="0" smtClean="0"/>
              <a:t>Output</a:t>
            </a:r>
            <a:endParaRPr lang="en-US" dirty="0"/>
          </a:p>
        </p:txBody>
      </p:sp>
      <p:sp>
        <p:nvSpPr>
          <p:cNvPr id="13" name="TextBox 12"/>
          <p:cNvSpPr txBox="1"/>
          <p:nvPr/>
        </p:nvSpPr>
        <p:spPr>
          <a:xfrm>
            <a:off x="4191000" y="3669268"/>
            <a:ext cx="304800" cy="369332"/>
          </a:xfrm>
          <a:prstGeom prst="rect">
            <a:avLst/>
          </a:prstGeom>
          <a:noFill/>
        </p:spPr>
        <p:txBody>
          <a:bodyPr wrap="square" rtlCol="0">
            <a:spAutoFit/>
          </a:bodyPr>
          <a:lstStyle/>
          <a:p>
            <a:r>
              <a:rPr lang="en-US" dirty="0" smtClean="0"/>
              <a:t>A</a:t>
            </a:r>
            <a:endParaRPr lang="en-US" dirty="0"/>
          </a:p>
        </p:txBody>
      </p:sp>
      <p:sp>
        <p:nvSpPr>
          <p:cNvPr id="14" name="TextBox 13"/>
          <p:cNvSpPr txBox="1"/>
          <p:nvPr/>
        </p:nvSpPr>
        <p:spPr>
          <a:xfrm>
            <a:off x="4191000" y="4202668"/>
            <a:ext cx="304800" cy="369332"/>
          </a:xfrm>
          <a:prstGeom prst="rect">
            <a:avLst/>
          </a:prstGeom>
          <a:noFill/>
        </p:spPr>
        <p:txBody>
          <a:bodyPr wrap="square" rtlCol="0">
            <a:spAutoFit/>
          </a:bodyPr>
          <a:lstStyle/>
          <a:p>
            <a:r>
              <a:rPr lang="en-US" dirty="0"/>
              <a:t>B</a:t>
            </a:r>
          </a:p>
        </p:txBody>
      </p:sp>
    </p:spTree>
    <p:extLst>
      <p:ext uri="{BB962C8B-B14F-4D97-AF65-F5344CB8AC3E}">
        <p14:creationId xmlns:p14="http://schemas.microsoft.com/office/powerpoint/2010/main" val="2100888878"/>
      </p:ext>
    </p:extLst>
  </p:cSld>
  <p:clrMapOvr>
    <a:masterClrMapping/>
  </p:clrMapOvr>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8991600" cy="1143000"/>
          </a:xfrm>
        </p:spPr>
        <p:txBody>
          <a:bodyPr/>
          <a:lstStyle/>
          <a:p>
            <a:r>
              <a:rPr lang="en-US" dirty="0" smtClean="0"/>
              <a:t>Building </a:t>
            </a:r>
            <a:r>
              <a:rPr lang="en-US" dirty="0" smtClean="0">
                <a:solidFill>
                  <a:srgbClr val="0000FF"/>
                </a:solidFill>
              </a:rPr>
              <a:t>Combinational Circuits</a:t>
            </a:r>
            <a:endParaRPr lang="en-US" dirty="0">
              <a:solidFill>
                <a:srgbClr val="0000FF"/>
              </a:solidFill>
            </a:endParaRPr>
          </a:p>
        </p:txBody>
      </p:sp>
      <p:sp>
        <p:nvSpPr>
          <p:cNvPr id="3" name="Content Placeholder 2"/>
          <p:cNvSpPr>
            <a:spLocks noGrp="1"/>
          </p:cNvSpPr>
          <p:nvPr>
            <p:ph idx="1"/>
          </p:nvPr>
        </p:nvSpPr>
        <p:spPr/>
        <p:txBody>
          <a:bodyPr>
            <a:normAutofit/>
          </a:bodyPr>
          <a:lstStyle/>
          <a:p>
            <a:r>
              <a:rPr lang="en-US" dirty="0" smtClean="0"/>
              <a:t>Combine two or more fundamental building blocks (gates)</a:t>
            </a:r>
          </a:p>
          <a:p>
            <a:pPr lvl="1"/>
            <a:r>
              <a:rPr lang="en-US" dirty="0"/>
              <a:t>t</a:t>
            </a:r>
            <a:r>
              <a:rPr lang="en-US" dirty="0" smtClean="0"/>
              <a:t>o produce heavily used logical functions such as:</a:t>
            </a:r>
          </a:p>
          <a:p>
            <a:pPr lvl="2"/>
            <a:r>
              <a:rPr lang="en-US" dirty="0" smtClean="0"/>
              <a:t>Comparators</a:t>
            </a:r>
          </a:p>
          <a:p>
            <a:pPr lvl="2"/>
            <a:r>
              <a:rPr lang="en-US" dirty="0" smtClean="0"/>
              <a:t>Counters (&amp; Ripple Counters)</a:t>
            </a:r>
          </a:p>
          <a:p>
            <a:pPr lvl="2"/>
            <a:r>
              <a:rPr lang="en-US" dirty="0" smtClean="0"/>
              <a:t>Encoders</a:t>
            </a:r>
          </a:p>
          <a:p>
            <a:pPr lvl="2"/>
            <a:r>
              <a:rPr lang="en-US" dirty="0" smtClean="0"/>
              <a:t>Multiplexors</a:t>
            </a:r>
          </a:p>
          <a:p>
            <a:pPr lvl="2"/>
            <a:r>
              <a:rPr lang="en-US" dirty="0" smtClean="0"/>
              <a:t>Decoders</a:t>
            </a:r>
          </a:p>
          <a:p>
            <a:pPr lvl="2"/>
            <a:r>
              <a:rPr lang="en-US" dirty="0" smtClean="0"/>
              <a:t>1-bit adders-&gt;n-bit adders</a:t>
            </a:r>
          </a:p>
          <a:p>
            <a:pPr lvl="3"/>
            <a:r>
              <a:rPr lang="en-US" dirty="0" smtClean="0"/>
              <a:t>Adders/</a:t>
            </a:r>
            <a:r>
              <a:rPr lang="en-US" dirty="0" err="1" smtClean="0"/>
              <a:t>Subtractors</a:t>
            </a:r>
            <a:r>
              <a:rPr lang="en-US" dirty="0" smtClean="0"/>
              <a:t> </a:t>
            </a:r>
          </a:p>
          <a:p>
            <a:pPr lvl="2"/>
            <a:r>
              <a:rPr lang="en-US" dirty="0" smtClean="0"/>
              <a:t>Shifter Registers &amp; Multipliers</a:t>
            </a:r>
          </a:p>
          <a:p>
            <a:pPr lvl="2"/>
            <a:r>
              <a:rPr lang="en-US" dirty="0" smtClean="0"/>
              <a:t>Memory (DRAM, SRAM, DDR, SIMM, EDO)</a:t>
            </a:r>
          </a:p>
          <a:p>
            <a:pPr lvl="3"/>
            <a:r>
              <a:rPr lang="en-US" dirty="0" smtClean="0"/>
              <a:t>SR-FF</a:t>
            </a:r>
          </a:p>
          <a:p>
            <a:pPr lvl="3"/>
            <a:r>
              <a:rPr lang="en-US" dirty="0" smtClean="0"/>
              <a:t>JK-FF</a:t>
            </a:r>
          </a:p>
          <a:p>
            <a:pPr lvl="3"/>
            <a:r>
              <a:rPr lang="en-US" dirty="0" smtClean="0"/>
              <a:t>D-FF</a:t>
            </a:r>
            <a:endParaRPr lang="en-US" dirty="0"/>
          </a:p>
        </p:txBody>
      </p:sp>
      <p:sp>
        <p:nvSpPr>
          <p:cNvPr id="4" name="Rectangle 3"/>
          <p:cNvSpPr/>
          <p:nvPr/>
        </p:nvSpPr>
        <p:spPr>
          <a:xfrm>
            <a:off x="1447800" y="2362200"/>
            <a:ext cx="4648200" cy="2286000"/>
          </a:xfrm>
          <a:prstGeom prst="rect">
            <a:avLst/>
          </a:prstGeom>
          <a:solidFill>
            <a:schemeClr val="accent1">
              <a:alpha val="6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Practice this week</a:t>
            </a:r>
            <a:endParaRPr lang="en-US" dirty="0">
              <a:solidFill>
                <a:schemeClr val="tx1"/>
              </a:solidFill>
            </a:endParaRPr>
          </a:p>
        </p:txBody>
      </p:sp>
      <p:sp>
        <p:nvSpPr>
          <p:cNvPr id="5" name="Rounded Rectangle 4"/>
          <p:cNvSpPr/>
          <p:nvPr/>
        </p:nvSpPr>
        <p:spPr>
          <a:xfrm>
            <a:off x="1524000" y="3733800"/>
            <a:ext cx="4343400" cy="838200"/>
          </a:xfrm>
          <a:prstGeom prst="roundRect">
            <a:avLst/>
          </a:prstGeom>
          <a:solidFill>
            <a:schemeClr val="accent1">
              <a:alpha val="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                                              </a:t>
            </a:r>
            <a:r>
              <a:rPr lang="en-US" b="1" dirty="0" smtClean="0">
                <a:solidFill>
                  <a:srgbClr val="2F2B20"/>
                </a:solidFill>
              </a:rPr>
              <a:t>HW 1</a:t>
            </a:r>
            <a:endParaRPr lang="en-US" b="1" dirty="0">
              <a:solidFill>
                <a:srgbClr val="2F2B20"/>
              </a:solidFill>
            </a:endParaRPr>
          </a:p>
        </p:txBody>
      </p:sp>
      <p:sp>
        <p:nvSpPr>
          <p:cNvPr id="6" name="Rectangle 5"/>
          <p:cNvSpPr/>
          <p:nvPr/>
        </p:nvSpPr>
        <p:spPr>
          <a:xfrm>
            <a:off x="1447800" y="4648200"/>
            <a:ext cx="4648200" cy="2057400"/>
          </a:xfrm>
          <a:prstGeom prst="rect">
            <a:avLst/>
          </a:prstGeom>
          <a:solidFill>
            <a:schemeClr val="accent2">
              <a:alpha val="24000"/>
            </a:schemeClr>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smtClean="0"/>
              <a:t>Week 2/3, HW 2</a:t>
            </a:r>
            <a:endParaRPr lang="en-US" b="1" dirty="0"/>
          </a:p>
        </p:txBody>
      </p:sp>
      <p:sp>
        <p:nvSpPr>
          <p:cNvPr id="7" name="Down Arrow 6"/>
          <p:cNvSpPr/>
          <p:nvPr/>
        </p:nvSpPr>
        <p:spPr>
          <a:xfrm>
            <a:off x="6477000" y="2438400"/>
            <a:ext cx="533400" cy="42672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Complexity</a:t>
            </a:r>
            <a:endParaRPr lang="en-US" dirty="0"/>
          </a:p>
        </p:txBody>
      </p:sp>
    </p:spTree>
    <p:extLst>
      <p:ext uri="{BB962C8B-B14F-4D97-AF65-F5344CB8AC3E}">
        <p14:creationId xmlns:p14="http://schemas.microsoft.com/office/powerpoint/2010/main" val="1802344217"/>
      </p:ext>
    </p:extLst>
  </p:cSld>
  <p:clrMapOvr>
    <a:masterClrMapping/>
  </p:clrMapOvr>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00FF"/>
                </a:solidFill>
              </a:rPr>
              <a:t>Combinational Circuits</a:t>
            </a:r>
            <a:r>
              <a:rPr lang="en-US" dirty="0" smtClean="0"/>
              <a:t>: </a:t>
            </a:r>
            <a:br>
              <a:rPr lang="en-US" dirty="0" smtClean="0"/>
            </a:br>
            <a:r>
              <a:rPr lang="en-US" dirty="0" smtClean="0"/>
              <a:t>Clear/Reset Line</a:t>
            </a:r>
            <a:endParaRPr lang="en-US" dirty="0"/>
          </a:p>
        </p:txBody>
      </p:sp>
      <p:sp>
        <p:nvSpPr>
          <p:cNvPr id="3" name="Content Placeholder 2"/>
          <p:cNvSpPr>
            <a:spLocks noGrp="1"/>
          </p:cNvSpPr>
          <p:nvPr>
            <p:ph idx="1"/>
          </p:nvPr>
        </p:nvSpPr>
        <p:spPr>
          <a:xfrm>
            <a:off x="457200" y="1676400"/>
            <a:ext cx="7620000" cy="1752600"/>
          </a:xfrm>
        </p:spPr>
        <p:txBody>
          <a:bodyPr>
            <a:normAutofit/>
          </a:bodyPr>
          <a:lstStyle/>
          <a:p>
            <a:r>
              <a:rPr lang="en-US" dirty="0" smtClean="0"/>
              <a:t>x = 0; //</a:t>
            </a:r>
            <a:r>
              <a:rPr lang="en-US" dirty="0"/>
              <a:t>t</a:t>
            </a:r>
            <a:r>
              <a:rPr lang="en-US" dirty="0" smtClean="0"/>
              <a:t>his is just an XOR again!</a:t>
            </a:r>
          </a:p>
          <a:p>
            <a:r>
              <a:rPr lang="en-US" dirty="0" smtClean="0"/>
              <a:t>An easy way to set a signal to 0, regardless of it’s value</a:t>
            </a:r>
          </a:p>
          <a:p>
            <a:pPr marL="114300" indent="0">
              <a:buNone/>
            </a:pPr>
            <a:endParaRPr lang="en-US" dirty="0"/>
          </a:p>
          <a:p>
            <a:endParaRPr lang="en-US" dirty="0"/>
          </a:p>
        </p:txBody>
      </p:sp>
      <p:sp>
        <p:nvSpPr>
          <p:cNvPr id="11" name="Stored Data 10"/>
          <p:cNvSpPr/>
          <p:nvPr/>
        </p:nvSpPr>
        <p:spPr>
          <a:xfrm rot="10800000">
            <a:off x="5486400" y="4648199"/>
            <a:ext cx="9144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12" name="Straight Connector 11"/>
          <p:cNvCxnSpPr/>
          <p:nvPr/>
        </p:nvCxnSpPr>
        <p:spPr>
          <a:xfrm>
            <a:off x="3352800" y="4724399"/>
            <a:ext cx="2078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4191000" y="5178558"/>
            <a:ext cx="1239982" cy="3041"/>
          </a:xfrm>
          <a:prstGeom prst="line">
            <a:avLst/>
          </a:prstGeom>
        </p:spPr>
        <p:style>
          <a:lnRef idx="2">
            <a:schemeClr val="accent1"/>
          </a:lnRef>
          <a:fillRef idx="0">
            <a:schemeClr val="accent1"/>
          </a:fillRef>
          <a:effectRef idx="1">
            <a:schemeClr val="accent1"/>
          </a:effectRef>
          <a:fontRef idx="minor">
            <a:schemeClr val="tx1"/>
          </a:fontRef>
        </p:style>
      </p:cxnSp>
      <p:sp>
        <p:nvSpPr>
          <p:cNvPr id="14" name="Block Arc 13"/>
          <p:cNvSpPr/>
          <p:nvPr/>
        </p:nvSpPr>
        <p:spPr>
          <a:xfrm rot="5400000">
            <a:off x="5105400" y="4876799"/>
            <a:ext cx="609600" cy="152400"/>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6" name="TextBox 15"/>
          <p:cNvSpPr txBox="1"/>
          <p:nvPr/>
        </p:nvSpPr>
        <p:spPr>
          <a:xfrm>
            <a:off x="3200400" y="4343399"/>
            <a:ext cx="1371600" cy="369332"/>
          </a:xfrm>
          <a:prstGeom prst="rect">
            <a:avLst/>
          </a:prstGeom>
          <a:noFill/>
        </p:spPr>
        <p:txBody>
          <a:bodyPr wrap="square" rtlCol="0">
            <a:spAutoFit/>
          </a:bodyPr>
          <a:lstStyle/>
          <a:p>
            <a:r>
              <a:rPr lang="en-US" dirty="0" smtClean="0"/>
              <a:t>A</a:t>
            </a:r>
            <a:endParaRPr lang="en-US" dirty="0"/>
          </a:p>
        </p:txBody>
      </p:sp>
      <p:cxnSp>
        <p:nvCxnSpPr>
          <p:cNvPr id="19" name="Straight Connector 18"/>
          <p:cNvCxnSpPr/>
          <p:nvPr/>
        </p:nvCxnSpPr>
        <p:spPr>
          <a:xfrm>
            <a:off x="6227618" y="4952999"/>
            <a:ext cx="1087582" cy="0"/>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705600" y="4498840"/>
            <a:ext cx="1371600" cy="369332"/>
          </a:xfrm>
          <a:prstGeom prst="rect">
            <a:avLst/>
          </a:prstGeom>
          <a:noFill/>
        </p:spPr>
        <p:txBody>
          <a:bodyPr wrap="square" rtlCol="0">
            <a:spAutoFit/>
          </a:bodyPr>
          <a:lstStyle/>
          <a:p>
            <a:r>
              <a:rPr lang="en-US" dirty="0" smtClean="0"/>
              <a:t>0</a:t>
            </a:r>
            <a:endParaRPr lang="en-US" dirty="0"/>
          </a:p>
        </p:txBody>
      </p:sp>
      <p:graphicFrame>
        <p:nvGraphicFramePr>
          <p:cNvPr id="21" name="Table 20"/>
          <p:cNvGraphicFramePr>
            <a:graphicFrameLocks noGrp="1"/>
          </p:cNvGraphicFramePr>
          <p:nvPr>
            <p:extLst>
              <p:ext uri="{D42A27DB-BD31-4B8C-83A1-F6EECF244321}">
                <p14:modId xmlns:p14="http://schemas.microsoft.com/office/powerpoint/2010/main" val="1956031631"/>
              </p:ext>
            </p:extLst>
          </p:nvPr>
        </p:nvGraphicFramePr>
        <p:xfrm>
          <a:off x="975889" y="3733800"/>
          <a:ext cx="1386311" cy="2282959"/>
        </p:xfrm>
        <a:graphic>
          <a:graphicData uri="http://schemas.openxmlformats.org/drawingml/2006/table">
            <a:tbl>
              <a:tblPr firstRow="1" bandRow="1">
                <a:tableStyleId>{5C22544A-7EE6-4342-B048-85BDC9FD1C3A}</a:tableStyleId>
              </a:tblPr>
              <a:tblGrid>
                <a:gridCol w="355563"/>
                <a:gridCol w="1030748"/>
              </a:tblGrid>
              <a:tr h="819919">
                <a:tc>
                  <a:txBody>
                    <a:bodyPr/>
                    <a:lstStyle/>
                    <a:p>
                      <a:r>
                        <a:rPr lang="en-US" dirty="0" smtClean="0"/>
                        <a:t>A</a:t>
                      </a:r>
                      <a:endParaRPr lang="en-US" dirty="0"/>
                    </a:p>
                  </a:txBody>
                  <a:tcPr/>
                </a:tc>
                <a:tc>
                  <a:txBody>
                    <a:bodyPr/>
                    <a:lstStyle/>
                    <a:p>
                      <a:r>
                        <a:rPr lang="en-US" dirty="0" smtClean="0"/>
                        <a:t>Output</a:t>
                      </a:r>
                      <a:endParaRPr lang="en-US" dirty="0"/>
                    </a:p>
                  </a:txBody>
                  <a:tcPr/>
                </a:tc>
              </a:tr>
              <a:tr h="290320">
                <a:tc>
                  <a:txBody>
                    <a:bodyPr/>
                    <a:lstStyle/>
                    <a:p>
                      <a:r>
                        <a:rPr lang="en-US" dirty="0" smtClean="0"/>
                        <a:t>0</a:t>
                      </a:r>
                      <a:endParaRPr lang="en-US" dirty="0"/>
                    </a:p>
                  </a:txBody>
                  <a:tcPr/>
                </a:tc>
                <a:tc>
                  <a:txBody>
                    <a:bodyPr/>
                    <a:lstStyle/>
                    <a:p>
                      <a:r>
                        <a:rPr lang="en-US" dirty="0" smtClean="0"/>
                        <a:t>0</a:t>
                      </a:r>
                      <a:endParaRPr lang="en-US" dirty="0"/>
                    </a:p>
                  </a:txBody>
                  <a:tcPr/>
                </a:tc>
              </a:tr>
              <a:tr h="290320">
                <a:tc>
                  <a:txBody>
                    <a:bodyPr/>
                    <a:lstStyle/>
                    <a:p>
                      <a:r>
                        <a:rPr lang="en-US" dirty="0" smtClean="0"/>
                        <a:t>0</a:t>
                      </a:r>
                      <a:endParaRPr lang="en-US" dirty="0"/>
                    </a:p>
                  </a:txBody>
                  <a:tcPr/>
                </a:tc>
                <a:tc>
                  <a:txBody>
                    <a:bodyPr/>
                    <a:lstStyle/>
                    <a:p>
                      <a:r>
                        <a:rPr lang="en-US" dirty="0" smtClean="0"/>
                        <a:t>0</a:t>
                      </a:r>
                      <a:endParaRPr lang="en-US" dirty="0"/>
                    </a:p>
                  </a:txBody>
                  <a:tcPr/>
                </a:tc>
              </a:tr>
              <a:tr h="290320">
                <a:tc>
                  <a:txBody>
                    <a:bodyPr/>
                    <a:lstStyle/>
                    <a:p>
                      <a:r>
                        <a:rPr lang="en-US" dirty="0" smtClean="0"/>
                        <a:t>1</a:t>
                      </a:r>
                      <a:endParaRPr lang="en-US" dirty="0"/>
                    </a:p>
                  </a:txBody>
                  <a:tcPr/>
                </a:tc>
                <a:tc>
                  <a:txBody>
                    <a:bodyPr/>
                    <a:lstStyle/>
                    <a:p>
                      <a:r>
                        <a:rPr lang="en-US" dirty="0" smtClean="0"/>
                        <a:t>0</a:t>
                      </a:r>
                      <a:endParaRPr lang="en-US" dirty="0"/>
                    </a:p>
                  </a:txBody>
                  <a:tcPr/>
                </a:tc>
              </a:tr>
              <a:tr h="290320">
                <a:tc>
                  <a:txBody>
                    <a:bodyPr/>
                    <a:lstStyle/>
                    <a:p>
                      <a:r>
                        <a:rPr lang="en-US" dirty="0" smtClean="0"/>
                        <a:t>1</a:t>
                      </a:r>
                      <a:endParaRPr lang="en-US" dirty="0"/>
                    </a:p>
                  </a:txBody>
                  <a:tcPr/>
                </a:tc>
                <a:tc>
                  <a:txBody>
                    <a:bodyPr/>
                    <a:lstStyle/>
                    <a:p>
                      <a:r>
                        <a:rPr lang="en-US" dirty="0" smtClean="0"/>
                        <a:t>0</a:t>
                      </a:r>
                      <a:endParaRPr lang="en-US" dirty="0"/>
                    </a:p>
                  </a:txBody>
                  <a:tcPr/>
                </a:tc>
              </a:tr>
            </a:tbl>
          </a:graphicData>
        </a:graphic>
      </p:graphicFrame>
      <p:cxnSp>
        <p:nvCxnSpPr>
          <p:cNvPr id="22" name="Straight Connector 21"/>
          <p:cNvCxnSpPr/>
          <p:nvPr/>
        </p:nvCxnSpPr>
        <p:spPr>
          <a:xfrm flipV="1">
            <a:off x="4191000" y="4721358"/>
            <a:ext cx="0" cy="457200"/>
          </a:xfrm>
          <a:prstGeom prst="line">
            <a:avLst/>
          </a:prstGeom>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114800" y="4645158"/>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4128100"/>
      </p:ext>
    </p:extLst>
  </p:cSld>
  <p:clrMapOvr>
    <a:masterClrMapping/>
  </p:clrMapOvr>
  <p:timing>
    <p:tnLst>
      <p:par>
        <p:cTn xmlns:p14="http://schemas.microsoft.com/office/powerpoint/2010/mai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00FF"/>
                </a:solidFill>
              </a:rPr>
              <a:t>Combinational Circuits</a:t>
            </a:r>
            <a:r>
              <a:rPr lang="en-US" dirty="0" smtClean="0"/>
              <a:t>: </a:t>
            </a:r>
            <a:br>
              <a:rPr lang="en-US" dirty="0" smtClean="0"/>
            </a:br>
            <a:r>
              <a:rPr lang="en-US" dirty="0" smtClean="0"/>
              <a:t>Complement With Control Line</a:t>
            </a:r>
            <a:endParaRPr lang="en-US" dirty="0"/>
          </a:p>
        </p:txBody>
      </p:sp>
      <p:sp>
        <p:nvSpPr>
          <p:cNvPr id="3" name="Content Placeholder 2"/>
          <p:cNvSpPr>
            <a:spLocks noGrp="1"/>
          </p:cNvSpPr>
          <p:nvPr>
            <p:ph idx="1"/>
          </p:nvPr>
        </p:nvSpPr>
        <p:spPr>
          <a:xfrm>
            <a:off x="457200" y="1676400"/>
            <a:ext cx="7620000" cy="5181600"/>
          </a:xfrm>
        </p:spPr>
        <p:txBody>
          <a:bodyPr>
            <a:normAutofit/>
          </a:bodyPr>
          <a:lstStyle/>
          <a:p>
            <a:r>
              <a:rPr lang="en-US" dirty="0" smtClean="0"/>
              <a:t>This is just an XOR again!</a:t>
            </a:r>
          </a:p>
          <a:p>
            <a:pPr lvl="1"/>
            <a:r>
              <a:rPr lang="en-US" dirty="0" smtClean="0"/>
              <a:t>And, depending on your control line “</a:t>
            </a:r>
            <a:r>
              <a:rPr lang="en-US" dirty="0" err="1" smtClean="0"/>
              <a:t>invertInput</a:t>
            </a:r>
            <a:r>
              <a:rPr lang="en-US" dirty="0" smtClean="0"/>
              <a:t>”</a:t>
            </a:r>
          </a:p>
          <a:p>
            <a:pPr lvl="2"/>
            <a:r>
              <a:rPr lang="en-US" dirty="0" smtClean="0"/>
              <a:t>This is an easy way to use the input line A or its inverse</a:t>
            </a:r>
          </a:p>
          <a:p>
            <a:pPr lvl="3"/>
            <a:r>
              <a:rPr lang="en-US" dirty="0" smtClean="0"/>
              <a:t>Look at the half-adder and use B as the control line – what happens to A?</a:t>
            </a:r>
          </a:p>
          <a:p>
            <a:pPr marL="114300" indent="0">
              <a:buNone/>
            </a:pPr>
            <a:endParaRPr lang="en-US" dirty="0"/>
          </a:p>
          <a:p>
            <a:endParaRPr lang="en-US" dirty="0"/>
          </a:p>
        </p:txBody>
      </p:sp>
      <p:sp>
        <p:nvSpPr>
          <p:cNvPr id="11" name="Stored Data 10"/>
          <p:cNvSpPr/>
          <p:nvPr/>
        </p:nvSpPr>
        <p:spPr>
          <a:xfrm rot="10800000">
            <a:off x="6172200" y="5105399"/>
            <a:ext cx="9144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12" name="Straight Connector 11"/>
          <p:cNvCxnSpPr/>
          <p:nvPr/>
        </p:nvCxnSpPr>
        <p:spPr>
          <a:xfrm>
            <a:off x="4038600" y="5181599"/>
            <a:ext cx="2078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4038600" y="5638799"/>
            <a:ext cx="2078182"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Block Arc 13"/>
          <p:cNvSpPr/>
          <p:nvPr/>
        </p:nvSpPr>
        <p:spPr>
          <a:xfrm rot="5400000">
            <a:off x="5791200" y="5333999"/>
            <a:ext cx="609600" cy="152400"/>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6" name="TextBox 15"/>
          <p:cNvSpPr txBox="1"/>
          <p:nvPr/>
        </p:nvSpPr>
        <p:spPr>
          <a:xfrm>
            <a:off x="3886200" y="4800599"/>
            <a:ext cx="1371600" cy="369332"/>
          </a:xfrm>
          <a:prstGeom prst="rect">
            <a:avLst/>
          </a:prstGeom>
          <a:noFill/>
        </p:spPr>
        <p:txBody>
          <a:bodyPr wrap="square" rtlCol="0">
            <a:spAutoFit/>
          </a:bodyPr>
          <a:lstStyle/>
          <a:p>
            <a:r>
              <a:rPr lang="en-US" dirty="0" smtClean="0"/>
              <a:t>A</a:t>
            </a:r>
            <a:endParaRPr lang="en-US" dirty="0"/>
          </a:p>
        </p:txBody>
      </p:sp>
      <p:sp>
        <p:nvSpPr>
          <p:cNvPr id="17" name="TextBox 16"/>
          <p:cNvSpPr txBox="1"/>
          <p:nvPr/>
        </p:nvSpPr>
        <p:spPr>
          <a:xfrm>
            <a:off x="3886200" y="5269467"/>
            <a:ext cx="1828800" cy="369332"/>
          </a:xfrm>
          <a:prstGeom prst="rect">
            <a:avLst/>
          </a:prstGeom>
          <a:noFill/>
        </p:spPr>
        <p:txBody>
          <a:bodyPr wrap="square" rtlCol="0">
            <a:spAutoFit/>
          </a:bodyPr>
          <a:lstStyle/>
          <a:p>
            <a:r>
              <a:rPr lang="en-US" dirty="0" err="1" smtClean="0"/>
              <a:t>invertInput</a:t>
            </a:r>
            <a:r>
              <a:rPr lang="en-US" dirty="0" smtClean="0"/>
              <a:t> (B)</a:t>
            </a:r>
            <a:endParaRPr lang="en-US" dirty="0"/>
          </a:p>
        </p:txBody>
      </p:sp>
      <p:cxnSp>
        <p:nvCxnSpPr>
          <p:cNvPr id="19" name="Straight Connector 18"/>
          <p:cNvCxnSpPr/>
          <p:nvPr/>
        </p:nvCxnSpPr>
        <p:spPr>
          <a:xfrm>
            <a:off x="6913418" y="5410199"/>
            <a:ext cx="1087582" cy="0"/>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91400" y="5029199"/>
            <a:ext cx="914400" cy="369332"/>
          </a:xfrm>
          <a:prstGeom prst="rect">
            <a:avLst/>
          </a:prstGeom>
          <a:noFill/>
        </p:spPr>
        <p:txBody>
          <a:bodyPr wrap="square" rtlCol="0">
            <a:spAutoFit/>
          </a:bodyPr>
          <a:lstStyle/>
          <a:p>
            <a:r>
              <a:rPr lang="en-US" dirty="0" smtClean="0"/>
              <a:t>A or !A</a:t>
            </a:r>
            <a:endParaRPr lang="en-US" dirty="0"/>
          </a:p>
        </p:txBody>
      </p:sp>
      <p:graphicFrame>
        <p:nvGraphicFramePr>
          <p:cNvPr id="21" name="Table 20"/>
          <p:cNvGraphicFramePr>
            <a:graphicFrameLocks noGrp="1"/>
          </p:cNvGraphicFramePr>
          <p:nvPr>
            <p:extLst>
              <p:ext uri="{D42A27DB-BD31-4B8C-83A1-F6EECF244321}">
                <p14:modId xmlns:p14="http://schemas.microsoft.com/office/powerpoint/2010/main" val="3069068273"/>
              </p:ext>
            </p:extLst>
          </p:nvPr>
        </p:nvGraphicFramePr>
        <p:xfrm>
          <a:off x="228600" y="4346441"/>
          <a:ext cx="3200400" cy="2282959"/>
        </p:xfrm>
        <a:graphic>
          <a:graphicData uri="http://schemas.openxmlformats.org/drawingml/2006/table">
            <a:tbl>
              <a:tblPr firstRow="1" bandRow="1">
                <a:tableStyleId>{5C22544A-7EE6-4342-B048-85BDC9FD1C3A}</a:tableStyleId>
              </a:tblPr>
              <a:tblGrid>
                <a:gridCol w="492370"/>
                <a:gridCol w="1280689"/>
                <a:gridCol w="1427341"/>
              </a:tblGrid>
              <a:tr h="819919">
                <a:tc>
                  <a:txBody>
                    <a:bodyPr/>
                    <a:lstStyle/>
                    <a:p>
                      <a:r>
                        <a:rPr lang="en-US" dirty="0" smtClean="0"/>
                        <a:t>A</a:t>
                      </a:r>
                      <a:endParaRPr lang="en-US" dirty="0"/>
                    </a:p>
                  </a:txBody>
                  <a:tcPr/>
                </a:tc>
                <a:tc>
                  <a:txBody>
                    <a:bodyPr/>
                    <a:lstStyle/>
                    <a:p>
                      <a:r>
                        <a:rPr lang="en-US" dirty="0" err="1" smtClean="0"/>
                        <a:t>invertInput</a:t>
                      </a:r>
                      <a:endParaRPr lang="en-US" dirty="0" smtClean="0"/>
                    </a:p>
                    <a:p>
                      <a:r>
                        <a:rPr lang="en-US" dirty="0" smtClean="0"/>
                        <a:t>(or B)</a:t>
                      </a:r>
                      <a:endParaRPr lang="en-US" dirty="0"/>
                    </a:p>
                  </a:txBody>
                  <a:tcPr/>
                </a:tc>
                <a:tc>
                  <a:txBody>
                    <a:bodyPr/>
                    <a:lstStyle/>
                    <a:p>
                      <a:r>
                        <a:rPr lang="en-US" dirty="0" smtClean="0"/>
                        <a:t>Output</a:t>
                      </a:r>
                      <a:r>
                        <a:rPr lang="en-US" baseline="0" dirty="0" smtClean="0"/>
                        <a:t> </a:t>
                      </a:r>
                      <a:r>
                        <a:rPr lang="en-US" dirty="0" smtClean="0"/>
                        <a:t>is now A or !A</a:t>
                      </a:r>
                      <a:endParaRPr lang="en-US" dirty="0"/>
                    </a:p>
                  </a:txBody>
                  <a:tcPr/>
                </a:tc>
              </a:tr>
              <a:tr h="29032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29032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29032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29032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bl>
          </a:graphicData>
        </a:graphic>
      </p:graphicFrame>
    </p:spTree>
    <p:extLst>
      <p:ext uri="{BB962C8B-B14F-4D97-AF65-F5344CB8AC3E}">
        <p14:creationId xmlns:p14="http://schemas.microsoft.com/office/powerpoint/2010/main" val="2488619341"/>
      </p:ext>
    </p:extLst>
  </p:cSld>
  <p:clrMapOvr>
    <a:masterClrMapping/>
  </p:clrMapOvr>
  <p:timing>
    <p:tnLst>
      <p:par>
        <p:cTn xmlns:p14="http://schemas.microsoft.com/office/powerpoint/2010/mai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a:t>
            </a:r>
            <a:r>
              <a:rPr lang="en-US" dirty="0" smtClean="0">
                <a:solidFill>
                  <a:srgbClr val="0000FF"/>
                </a:solidFill>
              </a:rPr>
              <a:t>Combinational Circuits</a:t>
            </a:r>
            <a:r>
              <a:rPr lang="en-US" dirty="0" smtClean="0"/>
              <a:t>: </a:t>
            </a:r>
            <a:br>
              <a:rPr lang="en-US" dirty="0" smtClean="0"/>
            </a:br>
            <a:r>
              <a:rPr lang="en-US" dirty="0" smtClean="0"/>
              <a:t>Swap with XOR</a:t>
            </a:r>
            <a:endParaRPr lang="en-US" dirty="0"/>
          </a:p>
        </p:txBody>
      </p:sp>
      <p:sp>
        <p:nvSpPr>
          <p:cNvPr id="3" name="Content Placeholder 2"/>
          <p:cNvSpPr>
            <a:spLocks noGrp="1"/>
          </p:cNvSpPr>
          <p:nvPr>
            <p:ph idx="1"/>
          </p:nvPr>
        </p:nvSpPr>
        <p:spPr>
          <a:xfrm>
            <a:off x="457200" y="1676400"/>
            <a:ext cx="7620000" cy="5181600"/>
          </a:xfrm>
        </p:spPr>
        <p:txBody>
          <a:bodyPr>
            <a:normAutofit/>
          </a:bodyPr>
          <a:lstStyle/>
          <a:p>
            <a:r>
              <a:rPr lang="en-US" dirty="0" err="1" smtClean="0"/>
              <a:t>int</a:t>
            </a:r>
            <a:r>
              <a:rPr lang="en-US" dirty="0" smtClean="0"/>
              <a:t> temp=a; a=b; b=temp; //this is just an XOR again!</a:t>
            </a:r>
          </a:p>
          <a:p>
            <a:r>
              <a:rPr lang="en-US" dirty="0"/>
              <a:t>A = A XOR B</a:t>
            </a:r>
          </a:p>
          <a:p>
            <a:r>
              <a:rPr lang="en-US" dirty="0"/>
              <a:t>B = A XOR B</a:t>
            </a:r>
          </a:p>
          <a:p>
            <a:r>
              <a:rPr lang="en-US" dirty="0"/>
              <a:t>A = A XOR B</a:t>
            </a:r>
          </a:p>
          <a:p>
            <a:endParaRPr lang="en-US" dirty="0" smtClean="0"/>
          </a:p>
          <a:p>
            <a:pPr marL="114300" indent="0">
              <a:buNone/>
            </a:pPr>
            <a:endParaRPr lang="en-US" dirty="0"/>
          </a:p>
          <a:p>
            <a:endParaRPr lang="en-US" dirty="0"/>
          </a:p>
        </p:txBody>
      </p:sp>
      <p:sp>
        <p:nvSpPr>
          <p:cNvPr id="11" name="Stored Data 10"/>
          <p:cNvSpPr/>
          <p:nvPr/>
        </p:nvSpPr>
        <p:spPr>
          <a:xfrm rot="10800000">
            <a:off x="4343400" y="3484418"/>
            <a:ext cx="9144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12" name="Straight Connector 11"/>
          <p:cNvCxnSpPr/>
          <p:nvPr/>
        </p:nvCxnSpPr>
        <p:spPr>
          <a:xfrm>
            <a:off x="2209800" y="3560618"/>
            <a:ext cx="2078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2209800" y="4017818"/>
            <a:ext cx="2078182"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Block Arc 13"/>
          <p:cNvSpPr/>
          <p:nvPr/>
        </p:nvSpPr>
        <p:spPr>
          <a:xfrm rot="5400000">
            <a:off x="3962400" y="3713018"/>
            <a:ext cx="609600" cy="152400"/>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6" name="TextBox 15"/>
          <p:cNvSpPr txBox="1"/>
          <p:nvPr/>
        </p:nvSpPr>
        <p:spPr>
          <a:xfrm>
            <a:off x="2057400" y="3179618"/>
            <a:ext cx="1371600" cy="369332"/>
          </a:xfrm>
          <a:prstGeom prst="rect">
            <a:avLst/>
          </a:prstGeom>
          <a:noFill/>
        </p:spPr>
        <p:txBody>
          <a:bodyPr wrap="square" rtlCol="0">
            <a:spAutoFit/>
          </a:bodyPr>
          <a:lstStyle/>
          <a:p>
            <a:r>
              <a:rPr lang="en-US" dirty="0" smtClean="0"/>
              <a:t>A</a:t>
            </a:r>
            <a:endParaRPr lang="en-US" dirty="0"/>
          </a:p>
        </p:txBody>
      </p:sp>
      <p:sp>
        <p:nvSpPr>
          <p:cNvPr id="17" name="TextBox 16"/>
          <p:cNvSpPr txBox="1"/>
          <p:nvPr/>
        </p:nvSpPr>
        <p:spPr>
          <a:xfrm>
            <a:off x="2057400" y="3648486"/>
            <a:ext cx="1371600" cy="369332"/>
          </a:xfrm>
          <a:prstGeom prst="rect">
            <a:avLst/>
          </a:prstGeom>
          <a:noFill/>
        </p:spPr>
        <p:txBody>
          <a:bodyPr wrap="square" rtlCol="0">
            <a:spAutoFit/>
          </a:bodyPr>
          <a:lstStyle/>
          <a:p>
            <a:r>
              <a:rPr lang="en-US" dirty="0"/>
              <a:t>B</a:t>
            </a:r>
          </a:p>
        </p:txBody>
      </p:sp>
      <p:cxnSp>
        <p:nvCxnSpPr>
          <p:cNvPr id="19" name="Straight Connector 18"/>
          <p:cNvCxnSpPr/>
          <p:nvPr/>
        </p:nvCxnSpPr>
        <p:spPr>
          <a:xfrm>
            <a:off x="5003673" y="3789218"/>
            <a:ext cx="1244727" cy="0"/>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620000" y="3593068"/>
            <a:ext cx="1447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smtClean="0"/>
              <a:t>Out1 holds B</a:t>
            </a:r>
            <a:endParaRPr lang="en-US" dirty="0"/>
          </a:p>
        </p:txBody>
      </p:sp>
      <p:graphicFrame>
        <p:nvGraphicFramePr>
          <p:cNvPr id="21" name="Table 20"/>
          <p:cNvGraphicFramePr>
            <a:graphicFrameLocks noGrp="1"/>
          </p:cNvGraphicFramePr>
          <p:nvPr>
            <p:extLst>
              <p:ext uri="{D42A27DB-BD31-4B8C-83A1-F6EECF244321}">
                <p14:modId xmlns:p14="http://schemas.microsoft.com/office/powerpoint/2010/main" val="624969152"/>
              </p:ext>
            </p:extLst>
          </p:nvPr>
        </p:nvGraphicFramePr>
        <p:xfrm>
          <a:off x="228600" y="4346441"/>
          <a:ext cx="2362200" cy="2282959"/>
        </p:xfrm>
        <a:graphic>
          <a:graphicData uri="http://schemas.openxmlformats.org/drawingml/2006/table">
            <a:tbl>
              <a:tblPr firstRow="1" bandRow="1">
                <a:tableStyleId>{5C22544A-7EE6-4342-B048-85BDC9FD1C3A}</a:tableStyleId>
              </a:tblPr>
              <a:tblGrid>
                <a:gridCol w="506789"/>
                <a:gridCol w="422324"/>
                <a:gridCol w="675719"/>
                <a:gridCol w="757368"/>
              </a:tblGrid>
              <a:tr h="819919">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Out1</a:t>
                      </a:r>
                      <a:endParaRPr lang="en-US" dirty="0"/>
                    </a:p>
                  </a:txBody>
                  <a:tcPr/>
                </a:tc>
                <a:tc>
                  <a:txBody>
                    <a:bodyPr/>
                    <a:lstStyle/>
                    <a:p>
                      <a:r>
                        <a:rPr lang="en-US" dirty="0" smtClean="0"/>
                        <a:t>Out2</a:t>
                      </a:r>
                      <a:endParaRPr lang="en-US" dirty="0"/>
                    </a:p>
                  </a:txBody>
                  <a:tcPr/>
                </a:tc>
              </a:tr>
              <a:tr h="29032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29032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29032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29032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bl>
          </a:graphicData>
        </a:graphic>
      </p:graphicFrame>
      <p:cxnSp>
        <p:nvCxnSpPr>
          <p:cNvPr id="22" name="Straight Connector 21"/>
          <p:cNvCxnSpPr/>
          <p:nvPr/>
        </p:nvCxnSpPr>
        <p:spPr>
          <a:xfrm>
            <a:off x="3581400" y="4017818"/>
            <a:ext cx="0" cy="249382"/>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3505200" y="3941618"/>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 name="Straight Connector 23"/>
          <p:cNvCxnSpPr/>
          <p:nvPr/>
        </p:nvCxnSpPr>
        <p:spPr>
          <a:xfrm flipH="1">
            <a:off x="3568700" y="4259118"/>
            <a:ext cx="2667000" cy="0"/>
          </a:xfrm>
          <a:prstGeom prst="line">
            <a:avLst/>
          </a:prstGeom>
        </p:spPr>
        <p:style>
          <a:lnRef idx="2">
            <a:schemeClr val="accent1"/>
          </a:lnRef>
          <a:fillRef idx="0">
            <a:schemeClr val="accent1"/>
          </a:fillRef>
          <a:effectRef idx="1">
            <a:schemeClr val="accent1"/>
          </a:effectRef>
          <a:fontRef idx="minor">
            <a:schemeClr val="tx1"/>
          </a:fontRef>
        </p:style>
      </p:cxnSp>
      <p:sp>
        <p:nvSpPr>
          <p:cNvPr id="29" name="Stored Data 28"/>
          <p:cNvSpPr/>
          <p:nvPr/>
        </p:nvSpPr>
        <p:spPr>
          <a:xfrm rot="10800000">
            <a:off x="6299200" y="3713019"/>
            <a:ext cx="9144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sp>
        <p:nvSpPr>
          <p:cNvPr id="30" name="Block Arc 29"/>
          <p:cNvSpPr/>
          <p:nvPr/>
        </p:nvSpPr>
        <p:spPr>
          <a:xfrm rot="5400000">
            <a:off x="5918200" y="3941619"/>
            <a:ext cx="609600" cy="152400"/>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cxnSp>
        <p:nvCxnSpPr>
          <p:cNvPr id="34" name="Straight Connector 33"/>
          <p:cNvCxnSpPr/>
          <p:nvPr/>
        </p:nvCxnSpPr>
        <p:spPr>
          <a:xfrm>
            <a:off x="7137273" y="4017818"/>
            <a:ext cx="2006727" cy="20782"/>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5791200" y="3810000"/>
            <a:ext cx="0" cy="1676400"/>
          </a:xfrm>
          <a:prstGeom prst="line">
            <a:avLst/>
          </a:prstGeom>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5715000" y="37338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7" name="Straight Connector 36"/>
          <p:cNvCxnSpPr/>
          <p:nvPr/>
        </p:nvCxnSpPr>
        <p:spPr>
          <a:xfrm flipH="1">
            <a:off x="5791200" y="5486400"/>
            <a:ext cx="1981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467600" y="4017818"/>
            <a:ext cx="0" cy="1011382"/>
          </a:xfrm>
          <a:prstGeom prst="line">
            <a:avLst/>
          </a:prstGeom>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7391400" y="3941618"/>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7" name="Straight Connector 46"/>
          <p:cNvCxnSpPr/>
          <p:nvPr/>
        </p:nvCxnSpPr>
        <p:spPr>
          <a:xfrm flipH="1">
            <a:off x="7467600" y="5029200"/>
            <a:ext cx="304800" cy="0"/>
          </a:xfrm>
          <a:prstGeom prst="line">
            <a:avLst/>
          </a:prstGeom>
        </p:spPr>
        <p:style>
          <a:lnRef idx="2">
            <a:schemeClr val="accent1"/>
          </a:lnRef>
          <a:fillRef idx="0">
            <a:schemeClr val="accent1"/>
          </a:fillRef>
          <a:effectRef idx="1">
            <a:schemeClr val="accent1"/>
          </a:effectRef>
          <a:fontRef idx="minor">
            <a:schemeClr val="tx1"/>
          </a:fontRef>
        </p:style>
      </p:cxnSp>
      <p:sp>
        <p:nvSpPr>
          <p:cNvPr id="51" name="Stored Data 50"/>
          <p:cNvSpPr/>
          <p:nvPr/>
        </p:nvSpPr>
        <p:spPr>
          <a:xfrm rot="10800000">
            <a:off x="7772400" y="4952999"/>
            <a:ext cx="9144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sp>
        <p:nvSpPr>
          <p:cNvPr id="52" name="Block Arc 51"/>
          <p:cNvSpPr/>
          <p:nvPr/>
        </p:nvSpPr>
        <p:spPr>
          <a:xfrm rot="5400000">
            <a:off x="7391400" y="5181599"/>
            <a:ext cx="609600" cy="152400"/>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cxnSp>
        <p:nvCxnSpPr>
          <p:cNvPr id="53" name="Straight Connector 52"/>
          <p:cNvCxnSpPr/>
          <p:nvPr/>
        </p:nvCxnSpPr>
        <p:spPr>
          <a:xfrm>
            <a:off x="8610473" y="5257798"/>
            <a:ext cx="533527" cy="2"/>
          </a:xfrm>
          <a:prstGeom prst="line">
            <a:avLst/>
          </a:prstGeom>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7543800" y="5638800"/>
            <a:ext cx="15240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smtClean="0"/>
              <a:t>Out2 holds A</a:t>
            </a:r>
            <a:endParaRPr lang="en-US" dirty="0"/>
          </a:p>
        </p:txBody>
      </p:sp>
    </p:spTree>
    <p:extLst>
      <p:ext uri="{BB962C8B-B14F-4D97-AF65-F5344CB8AC3E}">
        <p14:creationId xmlns:p14="http://schemas.microsoft.com/office/powerpoint/2010/main" val="3498353165"/>
      </p:ext>
    </p:extLst>
  </p:cSld>
  <p:clrMapOvr>
    <a:masterClrMapping/>
  </p:clrMapOvr>
  <p:timing>
    <p:tnLst>
      <p:par>
        <p:cTn xmlns:p14="http://schemas.microsoft.com/office/powerpoint/2010/mai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10600" cy="1143000"/>
          </a:xfrm>
        </p:spPr>
        <p:txBody>
          <a:bodyPr/>
          <a:lstStyle/>
          <a:p>
            <a:r>
              <a:rPr lang="en-US" dirty="0" smtClean="0">
                <a:solidFill>
                  <a:srgbClr val="0000FF"/>
                </a:solidFill>
              </a:rPr>
              <a:t>Combinational Circuits</a:t>
            </a:r>
            <a:r>
              <a:rPr lang="en-US" dirty="0" smtClean="0"/>
              <a:t>:</a:t>
            </a:r>
            <a:br>
              <a:rPr lang="en-US" dirty="0" smtClean="0"/>
            </a:br>
            <a:r>
              <a:rPr lang="en-US" dirty="0" smtClean="0"/>
              <a:t>Half-Adder (is XOR)</a:t>
            </a:r>
            <a:endParaRPr lang="en-US" dirty="0"/>
          </a:p>
        </p:txBody>
      </p:sp>
      <p:sp>
        <p:nvSpPr>
          <p:cNvPr id="3" name="Content Placeholder 2"/>
          <p:cNvSpPr>
            <a:spLocks noGrp="1"/>
          </p:cNvSpPr>
          <p:nvPr>
            <p:ph idx="1"/>
          </p:nvPr>
        </p:nvSpPr>
        <p:spPr/>
        <p:txBody>
          <a:bodyPr/>
          <a:lstStyle/>
          <a:p>
            <a:r>
              <a:rPr lang="en-US" dirty="0" smtClean="0"/>
              <a:t>Takes two input bits and generates a sum and carry out</a:t>
            </a:r>
          </a:p>
          <a:p>
            <a:pPr lvl="1"/>
            <a:r>
              <a:rPr lang="en-US" dirty="0" smtClean="0"/>
              <a:t>Has no carry in, the defining feature of a full-adder</a:t>
            </a:r>
          </a:p>
          <a:p>
            <a:endParaRPr lang="en-US" dirty="0"/>
          </a:p>
          <a:p>
            <a:endParaRPr lang="en-US" dirty="0"/>
          </a:p>
        </p:txBody>
      </p:sp>
      <p:sp>
        <p:nvSpPr>
          <p:cNvPr id="4" name="Delay 3"/>
          <p:cNvSpPr/>
          <p:nvPr/>
        </p:nvSpPr>
        <p:spPr>
          <a:xfrm rot="5400000">
            <a:off x="3352800" y="4114800"/>
            <a:ext cx="838200" cy="685800"/>
          </a:xfrm>
          <a:prstGeom prst="flowChartDelay">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t>
            </a:r>
            <a:endParaRPr lang="en-US" dirty="0"/>
          </a:p>
        </p:txBody>
      </p:sp>
      <p:cxnSp>
        <p:nvCxnSpPr>
          <p:cNvPr id="5" name="Straight Connector 4"/>
          <p:cNvCxnSpPr/>
          <p:nvPr/>
        </p:nvCxnSpPr>
        <p:spPr>
          <a:xfrm rot="5400000">
            <a:off x="3571009" y="3896591"/>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rot="5400000">
            <a:off x="3342409" y="5344391"/>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rot="5400000">
            <a:off x="2857500" y="3695700"/>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505200" y="5715000"/>
            <a:ext cx="1371600" cy="369332"/>
          </a:xfrm>
          <a:prstGeom prst="rect">
            <a:avLst/>
          </a:prstGeom>
          <a:noFill/>
        </p:spPr>
        <p:txBody>
          <a:bodyPr wrap="square" rtlCol="0">
            <a:spAutoFit/>
          </a:bodyPr>
          <a:lstStyle/>
          <a:p>
            <a:r>
              <a:rPr lang="en-US" dirty="0" smtClean="0"/>
              <a:t>Carry Out</a:t>
            </a:r>
            <a:endParaRPr lang="en-US" dirty="0"/>
          </a:p>
        </p:txBody>
      </p:sp>
      <p:sp>
        <p:nvSpPr>
          <p:cNvPr id="12" name="Stored Data 11"/>
          <p:cNvSpPr/>
          <p:nvPr/>
        </p:nvSpPr>
        <p:spPr>
          <a:xfrm rot="10800000">
            <a:off x="4876800" y="2895600"/>
            <a:ext cx="9144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13" name="Straight Connector 12"/>
          <p:cNvCxnSpPr/>
          <p:nvPr/>
        </p:nvCxnSpPr>
        <p:spPr>
          <a:xfrm>
            <a:off x="2743200" y="2971800"/>
            <a:ext cx="2078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2743200" y="3429000"/>
            <a:ext cx="2078182"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Block Arc 14"/>
          <p:cNvSpPr/>
          <p:nvPr/>
        </p:nvSpPr>
        <p:spPr>
          <a:xfrm rot="5400000">
            <a:off x="4495800" y="3124200"/>
            <a:ext cx="609600" cy="152400"/>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6" name="Oval 15"/>
          <p:cNvSpPr/>
          <p:nvPr/>
        </p:nvSpPr>
        <p:spPr>
          <a:xfrm>
            <a:off x="3505200" y="28956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p:cNvSpPr txBox="1"/>
          <p:nvPr/>
        </p:nvSpPr>
        <p:spPr>
          <a:xfrm>
            <a:off x="2590800" y="2590800"/>
            <a:ext cx="1371600" cy="369332"/>
          </a:xfrm>
          <a:prstGeom prst="rect">
            <a:avLst/>
          </a:prstGeom>
          <a:noFill/>
        </p:spPr>
        <p:txBody>
          <a:bodyPr wrap="square" rtlCol="0">
            <a:spAutoFit/>
          </a:bodyPr>
          <a:lstStyle/>
          <a:p>
            <a:r>
              <a:rPr lang="en-US" dirty="0" smtClean="0"/>
              <a:t>A</a:t>
            </a:r>
            <a:endParaRPr lang="en-US" dirty="0"/>
          </a:p>
        </p:txBody>
      </p:sp>
      <p:sp>
        <p:nvSpPr>
          <p:cNvPr id="20" name="TextBox 19"/>
          <p:cNvSpPr txBox="1"/>
          <p:nvPr/>
        </p:nvSpPr>
        <p:spPr>
          <a:xfrm>
            <a:off x="2590800" y="3059668"/>
            <a:ext cx="1371600" cy="369332"/>
          </a:xfrm>
          <a:prstGeom prst="rect">
            <a:avLst/>
          </a:prstGeom>
          <a:noFill/>
        </p:spPr>
        <p:txBody>
          <a:bodyPr wrap="square" rtlCol="0">
            <a:spAutoFit/>
          </a:bodyPr>
          <a:lstStyle/>
          <a:p>
            <a:r>
              <a:rPr lang="en-US" dirty="0"/>
              <a:t>B</a:t>
            </a:r>
          </a:p>
        </p:txBody>
      </p:sp>
      <p:sp>
        <p:nvSpPr>
          <p:cNvPr id="21" name="Oval 20"/>
          <p:cNvSpPr/>
          <p:nvPr/>
        </p:nvSpPr>
        <p:spPr>
          <a:xfrm>
            <a:off x="3962400" y="33528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p:nvPr/>
        </p:nvCxnSpPr>
        <p:spPr>
          <a:xfrm>
            <a:off x="5618018" y="3200400"/>
            <a:ext cx="1087582" cy="0"/>
          </a:xfrm>
          <a:prstGeom prst="line">
            <a:avLst/>
          </a:prstGeom>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096000" y="2819400"/>
            <a:ext cx="1371600" cy="369332"/>
          </a:xfrm>
          <a:prstGeom prst="rect">
            <a:avLst/>
          </a:prstGeom>
          <a:noFill/>
        </p:spPr>
        <p:txBody>
          <a:bodyPr wrap="square" rtlCol="0">
            <a:spAutoFit/>
          </a:bodyPr>
          <a:lstStyle/>
          <a:p>
            <a:r>
              <a:rPr lang="en-US" dirty="0" smtClean="0"/>
              <a:t>Sum</a:t>
            </a:r>
            <a:endParaRPr lang="en-US" dirty="0"/>
          </a:p>
        </p:txBody>
      </p:sp>
      <p:graphicFrame>
        <p:nvGraphicFramePr>
          <p:cNvPr id="25" name="Table 24"/>
          <p:cNvGraphicFramePr>
            <a:graphicFrameLocks noGrp="1"/>
          </p:cNvGraphicFramePr>
          <p:nvPr>
            <p:extLst>
              <p:ext uri="{D42A27DB-BD31-4B8C-83A1-F6EECF244321}">
                <p14:modId xmlns:p14="http://schemas.microsoft.com/office/powerpoint/2010/main" val="2300032303"/>
              </p:ext>
            </p:extLst>
          </p:nvPr>
        </p:nvGraphicFramePr>
        <p:xfrm>
          <a:off x="304800" y="4038600"/>
          <a:ext cx="2590800" cy="2282959"/>
        </p:xfrm>
        <a:graphic>
          <a:graphicData uri="http://schemas.openxmlformats.org/drawingml/2006/table">
            <a:tbl>
              <a:tblPr firstRow="1" bandRow="1">
                <a:tableStyleId>{5C22544A-7EE6-4342-B048-85BDC9FD1C3A}</a:tableStyleId>
              </a:tblPr>
              <a:tblGrid>
                <a:gridCol w="546793"/>
                <a:gridCol w="410096"/>
                <a:gridCol w="770311"/>
                <a:gridCol w="863600"/>
              </a:tblGrid>
              <a:tr h="819919">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Sum</a:t>
                      </a:r>
                      <a:endParaRPr lang="en-US" dirty="0"/>
                    </a:p>
                  </a:txBody>
                  <a:tcPr/>
                </a:tc>
                <a:tc>
                  <a:txBody>
                    <a:bodyPr/>
                    <a:lstStyle/>
                    <a:p>
                      <a:r>
                        <a:rPr lang="en-US" dirty="0" smtClean="0"/>
                        <a:t>Carry Out</a:t>
                      </a:r>
                      <a:endParaRPr lang="en-US" dirty="0"/>
                    </a:p>
                  </a:txBody>
                  <a:tcPr/>
                </a:tc>
              </a:tr>
              <a:tr h="29032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29032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29032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29032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bl>
          </a:graphicData>
        </a:graphic>
      </p:graphicFrame>
    </p:spTree>
    <p:extLst>
      <p:ext uri="{BB962C8B-B14F-4D97-AF65-F5344CB8AC3E}">
        <p14:creationId xmlns:p14="http://schemas.microsoft.com/office/powerpoint/2010/main" val="4256730933"/>
      </p:ext>
    </p:extLst>
  </p:cSld>
  <p:clrMapOvr>
    <a:masterClrMapping/>
  </p:clrMapOvr>
  <p:timing>
    <p:tnLst>
      <p:par>
        <p:cTn xmlns:p14="http://schemas.microsoft.com/office/powerpoint/2010/mai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620000" cy="1417638"/>
          </a:xfrm>
        </p:spPr>
        <p:txBody>
          <a:bodyPr/>
          <a:lstStyle/>
          <a:p>
            <a:r>
              <a:rPr lang="en-US" dirty="0" smtClean="0">
                <a:solidFill>
                  <a:srgbClr val="0000FF"/>
                </a:solidFill>
              </a:rPr>
              <a:t>Combinations of Circuits:</a:t>
            </a:r>
            <a:br>
              <a:rPr lang="en-US" dirty="0" smtClean="0">
                <a:solidFill>
                  <a:srgbClr val="0000FF"/>
                </a:solidFill>
              </a:rPr>
            </a:br>
            <a:r>
              <a:rPr lang="en-US" dirty="0" smtClean="0"/>
              <a:t>Full-Adder (is 2 Half-Adders)</a:t>
            </a:r>
            <a:endParaRPr lang="en-US" dirty="0"/>
          </a:p>
        </p:txBody>
      </p:sp>
      <p:sp>
        <p:nvSpPr>
          <p:cNvPr id="3" name="Content Placeholder 2"/>
          <p:cNvSpPr>
            <a:spLocks noGrp="1"/>
          </p:cNvSpPr>
          <p:nvPr>
            <p:ph idx="1"/>
          </p:nvPr>
        </p:nvSpPr>
        <p:spPr>
          <a:xfrm>
            <a:off x="228600" y="1143000"/>
            <a:ext cx="7620000" cy="4800600"/>
          </a:xfrm>
        </p:spPr>
        <p:txBody>
          <a:bodyPr/>
          <a:lstStyle/>
          <a:p>
            <a:r>
              <a:rPr lang="en-US" dirty="0" smtClean="0"/>
              <a:t>Adds two bits but also accounts for a </a:t>
            </a:r>
            <a:r>
              <a:rPr lang="en-US" i="1" dirty="0" smtClean="0"/>
              <a:t>carry-in</a:t>
            </a:r>
            <a:endParaRPr lang="en-US" i="1" dirty="0"/>
          </a:p>
        </p:txBody>
      </p:sp>
      <p:sp>
        <p:nvSpPr>
          <p:cNvPr id="4" name="Delay 3"/>
          <p:cNvSpPr/>
          <p:nvPr/>
        </p:nvSpPr>
        <p:spPr>
          <a:xfrm rot="5400000">
            <a:off x="762000" y="3657600"/>
            <a:ext cx="838200" cy="685800"/>
          </a:xfrm>
          <a:prstGeom prst="flowChartDelay">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t>
            </a:r>
            <a:endParaRPr lang="en-US" dirty="0"/>
          </a:p>
        </p:txBody>
      </p:sp>
      <p:cxnSp>
        <p:nvCxnSpPr>
          <p:cNvPr id="5" name="Straight Connector 4"/>
          <p:cNvCxnSpPr/>
          <p:nvPr/>
        </p:nvCxnSpPr>
        <p:spPr>
          <a:xfrm rot="5400000">
            <a:off x="980209" y="3439391"/>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1219200" y="4419600"/>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rot="5400000">
            <a:off x="266700" y="3238500"/>
            <a:ext cx="1447800" cy="1"/>
          </a:xfrm>
          <a:prstGeom prst="line">
            <a:avLst/>
          </a:prstGeom>
        </p:spPr>
        <p:style>
          <a:lnRef idx="2">
            <a:schemeClr val="accent1"/>
          </a:lnRef>
          <a:fillRef idx="0">
            <a:schemeClr val="accent1"/>
          </a:fillRef>
          <a:effectRef idx="1">
            <a:schemeClr val="accent1"/>
          </a:effectRef>
          <a:fontRef idx="minor">
            <a:schemeClr val="tx1"/>
          </a:fontRef>
        </p:style>
      </p:cxnSp>
      <p:sp>
        <p:nvSpPr>
          <p:cNvPr id="9" name="Stored Data 8"/>
          <p:cNvSpPr/>
          <p:nvPr/>
        </p:nvSpPr>
        <p:spPr>
          <a:xfrm rot="10800000">
            <a:off x="2286000" y="2438400"/>
            <a:ext cx="9144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10" name="Straight Connector 9"/>
          <p:cNvCxnSpPr/>
          <p:nvPr/>
        </p:nvCxnSpPr>
        <p:spPr>
          <a:xfrm>
            <a:off x="152400" y="2514600"/>
            <a:ext cx="2078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152400" y="2971800"/>
            <a:ext cx="2078182"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Block Arc 11"/>
          <p:cNvSpPr/>
          <p:nvPr/>
        </p:nvSpPr>
        <p:spPr>
          <a:xfrm rot="5400000">
            <a:off x="1905000" y="2667000"/>
            <a:ext cx="609600" cy="152400"/>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3" name="Oval 12"/>
          <p:cNvSpPr/>
          <p:nvPr/>
        </p:nvSpPr>
        <p:spPr>
          <a:xfrm>
            <a:off x="914400" y="24384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p:cNvSpPr txBox="1"/>
          <p:nvPr/>
        </p:nvSpPr>
        <p:spPr>
          <a:xfrm>
            <a:off x="0" y="2221468"/>
            <a:ext cx="3048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A</a:t>
            </a:r>
            <a:endParaRPr lang="en-US" dirty="0"/>
          </a:p>
        </p:txBody>
      </p:sp>
      <p:sp>
        <p:nvSpPr>
          <p:cNvPr id="15" name="TextBox 14"/>
          <p:cNvSpPr txBox="1"/>
          <p:nvPr/>
        </p:nvSpPr>
        <p:spPr>
          <a:xfrm>
            <a:off x="0" y="2678668"/>
            <a:ext cx="3048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B</a:t>
            </a:r>
          </a:p>
        </p:txBody>
      </p:sp>
      <p:sp>
        <p:nvSpPr>
          <p:cNvPr id="16" name="Oval 15"/>
          <p:cNvSpPr/>
          <p:nvPr/>
        </p:nvSpPr>
        <p:spPr>
          <a:xfrm>
            <a:off x="1371600" y="28956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3027218" y="2743200"/>
            <a:ext cx="1087582" cy="0"/>
          </a:xfrm>
          <a:prstGeom prst="line">
            <a:avLst/>
          </a:prstGeom>
        </p:spPr>
        <p:style>
          <a:lnRef idx="2">
            <a:schemeClr val="accent1"/>
          </a:lnRef>
          <a:fillRef idx="0">
            <a:schemeClr val="accent1"/>
          </a:fillRef>
          <a:effectRef idx="1">
            <a:schemeClr val="accent1"/>
          </a:effectRef>
          <a:fontRef idx="minor">
            <a:schemeClr val="tx1"/>
          </a:fontRef>
        </p:style>
      </p:cxnSp>
      <p:sp>
        <p:nvSpPr>
          <p:cNvPr id="19" name="Delay 18"/>
          <p:cNvSpPr/>
          <p:nvPr/>
        </p:nvSpPr>
        <p:spPr>
          <a:xfrm rot="5400000">
            <a:off x="4343400" y="3429000"/>
            <a:ext cx="838200" cy="685800"/>
          </a:xfrm>
          <a:prstGeom prst="flowChartDelay">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t>
            </a:r>
            <a:endParaRPr lang="en-US" dirty="0"/>
          </a:p>
        </p:txBody>
      </p:sp>
      <p:cxnSp>
        <p:nvCxnSpPr>
          <p:cNvPr id="20" name="Straight Connector 19"/>
          <p:cNvCxnSpPr/>
          <p:nvPr/>
        </p:nvCxnSpPr>
        <p:spPr>
          <a:xfrm rot="5400000">
            <a:off x="4561609" y="3210791"/>
            <a:ext cx="935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4800600" y="4191000"/>
            <a:ext cx="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4572000" y="1752602"/>
            <a:ext cx="0" cy="1981199"/>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971800" y="5802868"/>
            <a:ext cx="13716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Carry Out</a:t>
            </a:r>
            <a:endParaRPr lang="en-US" dirty="0"/>
          </a:p>
        </p:txBody>
      </p:sp>
      <p:sp>
        <p:nvSpPr>
          <p:cNvPr id="24" name="Stored Data 23"/>
          <p:cNvSpPr/>
          <p:nvPr/>
        </p:nvSpPr>
        <p:spPr>
          <a:xfrm rot="10800000">
            <a:off x="5867400" y="2209800"/>
            <a:ext cx="9144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XOR</a:t>
            </a:r>
            <a:endParaRPr lang="en-US" dirty="0"/>
          </a:p>
        </p:txBody>
      </p:sp>
      <p:cxnSp>
        <p:nvCxnSpPr>
          <p:cNvPr id="25" name="Straight Connector 24"/>
          <p:cNvCxnSpPr/>
          <p:nvPr/>
        </p:nvCxnSpPr>
        <p:spPr>
          <a:xfrm>
            <a:off x="3733800" y="2286000"/>
            <a:ext cx="20781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3733800" y="2743200"/>
            <a:ext cx="2078182" cy="0"/>
          </a:xfrm>
          <a:prstGeom prst="line">
            <a:avLst/>
          </a:prstGeom>
        </p:spPr>
        <p:style>
          <a:lnRef idx="2">
            <a:schemeClr val="accent1"/>
          </a:lnRef>
          <a:fillRef idx="0">
            <a:schemeClr val="accent1"/>
          </a:fillRef>
          <a:effectRef idx="1">
            <a:schemeClr val="accent1"/>
          </a:effectRef>
          <a:fontRef idx="minor">
            <a:schemeClr val="tx1"/>
          </a:fontRef>
        </p:style>
      </p:cxnSp>
      <p:sp>
        <p:nvSpPr>
          <p:cNvPr id="27" name="Block Arc 26"/>
          <p:cNvSpPr/>
          <p:nvPr/>
        </p:nvSpPr>
        <p:spPr>
          <a:xfrm rot="5400000">
            <a:off x="5486400" y="2438400"/>
            <a:ext cx="609600" cy="152400"/>
          </a:xfrm>
          <a:prstGeom prst="blockArc">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8" name="Oval 27"/>
          <p:cNvSpPr/>
          <p:nvPr/>
        </p:nvSpPr>
        <p:spPr>
          <a:xfrm>
            <a:off x="4495800" y="22098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p:cNvSpPr txBox="1"/>
          <p:nvPr/>
        </p:nvSpPr>
        <p:spPr>
          <a:xfrm>
            <a:off x="4495800" y="1535668"/>
            <a:ext cx="13716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Carry In</a:t>
            </a:r>
            <a:endParaRPr lang="en-US" dirty="0"/>
          </a:p>
        </p:txBody>
      </p:sp>
      <p:sp>
        <p:nvSpPr>
          <p:cNvPr id="31" name="Oval 30"/>
          <p:cNvSpPr/>
          <p:nvPr/>
        </p:nvSpPr>
        <p:spPr>
          <a:xfrm>
            <a:off x="4953000" y="2667000"/>
            <a:ext cx="152400" cy="152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Straight Connector 31"/>
          <p:cNvCxnSpPr/>
          <p:nvPr/>
        </p:nvCxnSpPr>
        <p:spPr>
          <a:xfrm>
            <a:off x="6608618" y="2514600"/>
            <a:ext cx="1087582" cy="0"/>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162800" y="2145268"/>
            <a:ext cx="8382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Sum</a:t>
            </a:r>
            <a:endParaRPr lang="en-US" dirty="0"/>
          </a:p>
        </p:txBody>
      </p:sp>
      <p:cxnSp>
        <p:nvCxnSpPr>
          <p:cNvPr id="35" name="Straight Connector 34"/>
          <p:cNvCxnSpPr/>
          <p:nvPr/>
        </p:nvCxnSpPr>
        <p:spPr>
          <a:xfrm>
            <a:off x="1219200" y="4648200"/>
            <a:ext cx="1524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a:off x="3276600" y="4648200"/>
            <a:ext cx="1524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a:off x="2743200" y="4648200"/>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3276600" y="4648200"/>
            <a:ext cx="0" cy="228600"/>
          </a:xfrm>
          <a:prstGeom prst="line">
            <a:avLst/>
          </a:prstGeom>
        </p:spPr>
        <p:style>
          <a:lnRef idx="2">
            <a:schemeClr val="accent1"/>
          </a:lnRef>
          <a:fillRef idx="0">
            <a:schemeClr val="accent1"/>
          </a:fillRef>
          <a:effectRef idx="1">
            <a:schemeClr val="accent1"/>
          </a:effectRef>
          <a:fontRef idx="minor">
            <a:schemeClr val="tx1"/>
          </a:fontRef>
        </p:style>
      </p:cxnSp>
      <p:sp>
        <p:nvSpPr>
          <p:cNvPr id="45" name="Stored Data 44"/>
          <p:cNvSpPr/>
          <p:nvPr/>
        </p:nvSpPr>
        <p:spPr>
          <a:xfrm rot="16200000">
            <a:off x="2628899" y="4838700"/>
            <a:ext cx="685800" cy="609600"/>
          </a:xfrm>
          <a:prstGeom prst="flowChartOnlineStorage">
            <a:avLst/>
          </a:prstGeom>
        </p:spPr>
        <p:style>
          <a:lnRef idx="1">
            <a:schemeClr val="accent1"/>
          </a:lnRef>
          <a:fillRef idx="3">
            <a:schemeClr val="accent1"/>
          </a:fillRef>
          <a:effectRef idx="2">
            <a:schemeClr val="accent1"/>
          </a:effectRef>
          <a:fontRef idx="minor">
            <a:schemeClr val="lt1"/>
          </a:fontRef>
        </p:style>
        <p:txBody>
          <a:bodyPr rtlCol="0" anchor="ctr">
            <a:scene3d>
              <a:camera prst="orthographicFront">
                <a:rot lat="0" lon="0" rev="10800000"/>
              </a:camera>
              <a:lightRig rig="threePt" dir="t"/>
            </a:scene3d>
          </a:bodyPr>
          <a:lstStyle/>
          <a:p>
            <a:pPr algn="ctr"/>
            <a:r>
              <a:rPr lang="en-US" dirty="0" smtClean="0"/>
              <a:t>+</a:t>
            </a:r>
            <a:endParaRPr lang="en-US" dirty="0"/>
          </a:p>
        </p:txBody>
      </p:sp>
      <p:cxnSp>
        <p:nvCxnSpPr>
          <p:cNvPr id="55" name="Straight Connector 54"/>
          <p:cNvCxnSpPr/>
          <p:nvPr/>
        </p:nvCxnSpPr>
        <p:spPr>
          <a:xfrm rot="5400000">
            <a:off x="2504209" y="5704609"/>
            <a:ext cx="935182"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56" name="Table 55"/>
          <p:cNvGraphicFramePr>
            <a:graphicFrameLocks noGrp="1"/>
          </p:cNvGraphicFramePr>
          <p:nvPr>
            <p:extLst>
              <p:ext uri="{D42A27DB-BD31-4B8C-83A1-F6EECF244321}">
                <p14:modId xmlns:p14="http://schemas.microsoft.com/office/powerpoint/2010/main" val="2945348652"/>
              </p:ext>
            </p:extLst>
          </p:nvPr>
        </p:nvGraphicFramePr>
        <p:xfrm>
          <a:off x="5410200" y="3139440"/>
          <a:ext cx="3657600" cy="3566160"/>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547077">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err="1" smtClean="0"/>
                        <a:t>CarryIn</a:t>
                      </a:r>
                      <a:endParaRPr lang="en-US" dirty="0"/>
                    </a:p>
                  </a:txBody>
                  <a:tcPr/>
                </a:tc>
                <a:tc>
                  <a:txBody>
                    <a:bodyPr/>
                    <a:lstStyle/>
                    <a:p>
                      <a:r>
                        <a:rPr lang="en-US" dirty="0" smtClean="0"/>
                        <a:t>Sum</a:t>
                      </a:r>
                      <a:endParaRPr lang="en-US" dirty="0"/>
                    </a:p>
                  </a:txBody>
                  <a:tcPr/>
                </a:tc>
                <a:tc>
                  <a:txBody>
                    <a:bodyPr/>
                    <a:lstStyle/>
                    <a:p>
                      <a:r>
                        <a:rPr lang="en-US" dirty="0" err="1" smtClean="0"/>
                        <a:t>CarryOut</a:t>
                      </a:r>
                      <a:endParaRPr lang="en-US" dirty="0"/>
                    </a:p>
                  </a:txBody>
                  <a:tcPr/>
                </a:tc>
              </a:tr>
              <a:tr h="312615">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12615">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12615">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12615">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12615">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12615">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12615">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12615">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bl>
          </a:graphicData>
        </a:graphic>
      </p:graphicFrame>
    </p:spTree>
    <p:extLst>
      <p:ext uri="{BB962C8B-B14F-4D97-AF65-F5344CB8AC3E}">
        <p14:creationId xmlns:p14="http://schemas.microsoft.com/office/powerpoint/2010/main" val="1418712591"/>
      </p:ext>
    </p:extLst>
  </p:cSld>
  <p:clrMapOvr>
    <a:masterClrMapping/>
  </p:clrMapOvr>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457200"/>
            <a:ext cx="8801100" cy="1521333"/>
          </a:xfrm>
        </p:spPr>
        <p:txBody>
          <a:bodyPr/>
          <a:lstStyle/>
          <a:p>
            <a:r>
              <a:rPr lang="en-US" dirty="0" smtClean="0">
                <a:solidFill>
                  <a:srgbClr val="0000FF"/>
                </a:solidFill>
              </a:rPr>
              <a:t>Combinational Circuit: </a:t>
            </a:r>
            <a:r>
              <a:rPr lang="en-US" dirty="0" smtClean="0"/>
              <a:t>1-bit ALU</a:t>
            </a:r>
            <a:endParaRPr lang="en-US"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525" y="762000"/>
            <a:ext cx="7000875" cy="611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3500" y="2590800"/>
            <a:ext cx="2451100" cy="92333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b="1" dirty="0" smtClean="0">
                <a:solidFill>
                  <a:srgbClr val="FF0000"/>
                </a:solidFill>
              </a:rPr>
              <a:t>TODO</a:t>
            </a:r>
          </a:p>
          <a:p>
            <a:pPr marL="342900" indent="-342900">
              <a:buFont typeface="+mj-lt"/>
              <a:buAutoNum type="arabicPeriod"/>
            </a:pPr>
            <a:r>
              <a:rPr lang="en-US" b="1" dirty="0" smtClean="0">
                <a:solidFill>
                  <a:srgbClr val="FF0000"/>
                </a:solidFill>
              </a:rPr>
              <a:t>Make EX0_NAND</a:t>
            </a:r>
          </a:p>
          <a:p>
            <a:pPr marL="342900" indent="-342900">
              <a:buFont typeface="+mj-lt"/>
              <a:buAutoNum type="arabicPeriod"/>
            </a:pPr>
            <a:r>
              <a:rPr lang="en-US" b="1" dirty="0" smtClean="0">
                <a:solidFill>
                  <a:srgbClr val="FF0000"/>
                </a:solidFill>
              </a:rPr>
              <a:t>Then, make this! </a:t>
            </a:r>
            <a:endParaRPr lang="en-US" b="1" dirty="0">
              <a:solidFill>
                <a:srgbClr val="FF0000"/>
              </a:solidFill>
            </a:endParaRPr>
          </a:p>
        </p:txBody>
      </p:sp>
      <p:cxnSp>
        <p:nvCxnSpPr>
          <p:cNvPr id="5" name="Straight Arrow Connector 4"/>
          <p:cNvCxnSpPr/>
          <p:nvPr/>
        </p:nvCxnSpPr>
        <p:spPr>
          <a:xfrm>
            <a:off x="762000" y="914400"/>
            <a:ext cx="990600" cy="99060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6" name="Straight Arrow Connector 5"/>
          <p:cNvCxnSpPr/>
          <p:nvPr/>
        </p:nvCxnSpPr>
        <p:spPr>
          <a:xfrm>
            <a:off x="762000" y="4114800"/>
            <a:ext cx="1066800" cy="11430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7" name="Straight Arrow Connector 6"/>
          <p:cNvCxnSpPr>
            <a:stCxn id="9" idx="2"/>
          </p:cNvCxnSpPr>
          <p:nvPr/>
        </p:nvCxnSpPr>
        <p:spPr>
          <a:xfrm>
            <a:off x="800100" y="4089400"/>
            <a:ext cx="4000500" cy="3810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8" name="TextBox 7"/>
          <p:cNvSpPr txBox="1"/>
          <p:nvPr/>
        </p:nvSpPr>
        <p:spPr>
          <a:xfrm>
            <a:off x="76200" y="609600"/>
            <a:ext cx="1371600" cy="338554"/>
          </a:xfrm>
          <a:prstGeom prst="rect">
            <a:avLst/>
          </a:prstGeom>
          <a:noFill/>
        </p:spPr>
        <p:txBody>
          <a:bodyPr wrap="square" rtlCol="0">
            <a:spAutoFit/>
          </a:bodyPr>
          <a:lstStyle/>
          <a:p>
            <a:r>
              <a:rPr lang="en-US" sz="1600" dirty="0" smtClean="0"/>
              <a:t>The Beginning</a:t>
            </a:r>
            <a:endParaRPr lang="en-US" sz="1600" dirty="0"/>
          </a:p>
        </p:txBody>
      </p:sp>
      <p:sp>
        <p:nvSpPr>
          <p:cNvPr id="9" name="TextBox 8"/>
          <p:cNvSpPr txBox="1"/>
          <p:nvPr/>
        </p:nvSpPr>
        <p:spPr>
          <a:xfrm>
            <a:off x="76200" y="3504624"/>
            <a:ext cx="1447800" cy="58477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600" dirty="0" smtClean="0"/>
              <a:t>Combinational Logic </a:t>
            </a:r>
          </a:p>
        </p:txBody>
      </p:sp>
      <p:sp>
        <p:nvSpPr>
          <p:cNvPr id="10" name="Left Brace 9"/>
          <p:cNvSpPr/>
          <p:nvPr/>
        </p:nvSpPr>
        <p:spPr>
          <a:xfrm rot="10800000">
            <a:off x="7519987" y="762000"/>
            <a:ext cx="557213" cy="601980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17" name="TextBox 16"/>
          <p:cNvSpPr txBox="1"/>
          <p:nvPr/>
        </p:nvSpPr>
        <p:spPr>
          <a:xfrm>
            <a:off x="7848600" y="3556000"/>
            <a:ext cx="838200" cy="276999"/>
          </a:xfrm>
          <a:prstGeom prst="rect">
            <a:avLst/>
          </a:prstGeom>
          <a:noFill/>
        </p:spPr>
        <p:txBody>
          <a:bodyPr wrap="square" rtlCol="0">
            <a:spAutoFit/>
          </a:bodyPr>
          <a:lstStyle/>
          <a:p>
            <a:r>
              <a:rPr lang="en-US" b="1" dirty="0" smtClean="0"/>
              <a:t>HW1</a:t>
            </a:r>
            <a:endParaRPr lang="en-US" b="1" dirty="0"/>
          </a:p>
        </p:txBody>
      </p:sp>
    </p:spTree>
    <p:extLst>
      <p:ext uri="{BB962C8B-B14F-4D97-AF65-F5344CB8AC3E}">
        <p14:creationId xmlns:p14="http://schemas.microsoft.com/office/powerpoint/2010/main" val="3407666599"/>
      </p:ext>
    </p:extLst>
  </p:cSld>
  <p:clrMapOvr>
    <a:masterClrMapping/>
  </p:clrMapOvr>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Interrupt!</a:t>
            </a:r>
            <a:endParaRPr lang="en-US" dirty="0"/>
          </a:p>
        </p:txBody>
      </p:sp>
      <p:sp>
        <p:nvSpPr>
          <p:cNvPr id="3" name="Content Placeholder 2"/>
          <p:cNvSpPr>
            <a:spLocks noGrp="1"/>
          </p:cNvSpPr>
          <p:nvPr>
            <p:ph idx="1"/>
          </p:nvPr>
        </p:nvSpPr>
        <p:spPr/>
        <p:txBody>
          <a:bodyPr/>
          <a:lstStyle/>
          <a:p>
            <a:r>
              <a:rPr lang="en-US" dirty="0" smtClean="0"/>
              <a:t>Servicing now.  </a:t>
            </a:r>
          </a:p>
          <a:p>
            <a:pPr lvl="1"/>
            <a:r>
              <a:rPr lang="en-US" dirty="0" smtClean="0"/>
              <a:t>Missing forward requirements</a:t>
            </a:r>
          </a:p>
          <a:p>
            <a:pPr lvl="2"/>
            <a:r>
              <a:rPr lang="en-US" dirty="0" smtClean="0"/>
              <a:t>Jumping to Boolean Algebra and K-Maps.</a:t>
            </a:r>
          </a:p>
          <a:p>
            <a:pPr lvl="1"/>
            <a:endParaRPr lang="en-US" dirty="0"/>
          </a:p>
          <a:p>
            <a:pPr lvl="1"/>
            <a:endParaRPr lang="en-US" dirty="0" smtClean="0"/>
          </a:p>
          <a:p>
            <a:pPr lvl="1"/>
            <a:endParaRPr lang="en-US" dirty="0"/>
          </a:p>
          <a:p>
            <a:r>
              <a:rPr lang="en-US" dirty="0" smtClean="0"/>
              <a:t>Forward requirements: </a:t>
            </a:r>
          </a:p>
          <a:p>
            <a:pPr lvl="1"/>
            <a:r>
              <a:rPr lang="en-US" dirty="0" smtClean="0"/>
              <a:t>Mastery of Boolean Algebra laws</a:t>
            </a:r>
          </a:p>
          <a:p>
            <a:pPr lvl="1"/>
            <a:r>
              <a:rPr lang="en-US" dirty="0" smtClean="0"/>
              <a:t>Knowledge of K-Maps</a:t>
            </a:r>
            <a:endParaRPr lang="en-US" dirty="0"/>
          </a:p>
        </p:txBody>
      </p:sp>
    </p:spTree>
    <p:extLst>
      <p:ext uri="{BB962C8B-B14F-4D97-AF65-F5344CB8AC3E}">
        <p14:creationId xmlns:p14="http://schemas.microsoft.com/office/powerpoint/2010/main" val="966683464"/>
      </p:ext>
    </p:extLst>
  </p:cSld>
  <p:clrMapOvr>
    <a:masterClrMapping/>
  </p:clrMapOvr>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 2 </a:t>
            </a:r>
            <a:r>
              <a:rPr lang="mr-IN" dirty="0" smtClean="0"/>
              <a:t>–</a:t>
            </a:r>
            <a:r>
              <a:rPr lang="en-US" dirty="0" smtClean="0"/>
              <a:t> More Advanced Combinations of Gates</a:t>
            </a:r>
            <a:endParaRPr lang="en-US" dirty="0"/>
          </a:p>
        </p:txBody>
      </p:sp>
      <p:sp>
        <p:nvSpPr>
          <p:cNvPr id="3" name="Content Placeholder 2"/>
          <p:cNvSpPr>
            <a:spLocks noGrp="1"/>
          </p:cNvSpPr>
          <p:nvPr>
            <p:ph idx="1"/>
          </p:nvPr>
        </p:nvSpPr>
        <p:spPr/>
        <p:txBody>
          <a:bodyPr/>
          <a:lstStyle/>
          <a:p>
            <a:r>
              <a:rPr lang="en-US" dirty="0" smtClean="0"/>
              <a:t>We left off with basic Half-Adders </a:t>
            </a:r>
          </a:p>
          <a:p>
            <a:r>
              <a:rPr lang="en-US" dirty="0" smtClean="0"/>
              <a:t>HW1</a:t>
            </a:r>
          </a:p>
          <a:p>
            <a:r>
              <a:rPr lang="en-US" dirty="0" smtClean="0"/>
              <a:t>“Kick, Punch, it’s all in the mind.”</a:t>
            </a:r>
          </a:p>
          <a:p>
            <a:pPr lvl="1"/>
            <a:r>
              <a:rPr lang="en-US" dirty="0" smtClean="0"/>
              <a:t>Now, lets see more advanced combos?</a:t>
            </a:r>
            <a:endParaRPr lang="en-US" dirty="0"/>
          </a:p>
        </p:txBody>
      </p:sp>
    </p:spTree>
    <p:extLst>
      <p:ext uri="{BB962C8B-B14F-4D97-AF65-F5344CB8AC3E}">
        <p14:creationId xmlns:p14="http://schemas.microsoft.com/office/powerpoint/2010/main" val="622208498"/>
      </p:ext>
    </p:extLst>
  </p:cSld>
  <p:clrMapOvr>
    <a:masterClrMapping/>
  </p:clrMapOvr>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620000" cy="1143000"/>
          </a:xfrm>
        </p:spPr>
        <p:txBody>
          <a:bodyPr/>
          <a:lstStyle/>
          <a:p>
            <a:r>
              <a:rPr lang="en-US" dirty="0" smtClean="0">
                <a:solidFill>
                  <a:srgbClr val="0000FF"/>
                </a:solidFill>
              </a:rPr>
              <a:t>Combinational Circuits</a:t>
            </a:r>
            <a:r>
              <a:rPr lang="en-US" dirty="0" smtClean="0"/>
              <a:t>:</a:t>
            </a:r>
            <a:br>
              <a:rPr lang="en-US" dirty="0" smtClean="0"/>
            </a:br>
            <a:r>
              <a:rPr lang="en-US" dirty="0" smtClean="0">
                <a:solidFill>
                  <a:srgbClr val="0000FF"/>
                </a:solidFill>
              </a:rPr>
              <a:t>Ripple Carry Adders </a:t>
            </a:r>
            <a:r>
              <a:rPr lang="en-US" dirty="0" smtClean="0"/>
              <a:t>(8-bit)</a:t>
            </a:r>
            <a:endParaRPr lang="en-US" dirty="0"/>
          </a:p>
        </p:txBody>
      </p:sp>
      <p:pic>
        <p:nvPicPr>
          <p:cNvPr id="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71122" b="-71122"/>
          <a:stretch>
            <a:fillRect/>
          </a:stretch>
        </p:blipFill>
        <p:spPr bwMode="auto">
          <a:xfrm>
            <a:off x="304800" y="2133600"/>
            <a:ext cx="76200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838200" y="1473875"/>
            <a:ext cx="6019800" cy="2031325"/>
          </a:xfrm>
          <a:prstGeom prst="rect">
            <a:avLst/>
          </a:prstGeom>
          <a:noFill/>
        </p:spPr>
        <p:txBody>
          <a:bodyPr wrap="square" rtlCol="0">
            <a:spAutoFit/>
          </a:bodyPr>
          <a:lstStyle/>
          <a:p>
            <a:pPr marL="285750" indent="-285750">
              <a:buFont typeface="Arial"/>
              <a:buChar char="•"/>
            </a:pPr>
            <a:r>
              <a:rPr lang="en-US" dirty="0" smtClean="0"/>
              <a:t>8 1-bit ALUs (or Full-Adders) wired together via carry in’s and carry outs</a:t>
            </a:r>
          </a:p>
          <a:p>
            <a:pPr marL="285750" indent="-285750">
              <a:buFont typeface="Arial"/>
              <a:buChar char="•"/>
            </a:pPr>
            <a:r>
              <a:rPr lang="en-US" dirty="0" smtClean="0"/>
              <a:t>Note the ripple comes from the propagation delay </a:t>
            </a:r>
          </a:p>
          <a:p>
            <a:pPr marL="742950" lvl="1" indent="-285750">
              <a:buFont typeface="Arial"/>
              <a:buChar char="•"/>
            </a:pPr>
            <a:r>
              <a:rPr lang="en-US" dirty="0" smtClean="0"/>
              <a:t>Slow, most adders try to improve on this </a:t>
            </a:r>
          </a:p>
          <a:p>
            <a:pPr marL="1200150" lvl="2" indent="-285750">
              <a:buFont typeface="Arial"/>
              <a:buChar char="•"/>
            </a:pPr>
            <a:r>
              <a:rPr lang="en-US" dirty="0" smtClean="0"/>
              <a:t>Carry-look-ahead, carry-save, carry-select</a:t>
            </a:r>
          </a:p>
          <a:p>
            <a:pPr marL="1657350" lvl="3" indent="-285750">
              <a:buFont typeface="Arial"/>
              <a:buChar char="•"/>
            </a:pPr>
            <a:r>
              <a:rPr lang="en-US" dirty="0" smtClean="0"/>
              <a:t>Parallel additions for speed</a:t>
            </a:r>
          </a:p>
          <a:p>
            <a:pPr marL="1657350" lvl="3" indent="-285750">
              <a:buFont typeface="Arial"/>
              <a:buChar char="•"/>
            </a:pPr>
            <a:r>
              <a:rPr lang="en-US" dirty="0" smtClean="0"/>
              <a:t>Reducing maximum carry path</a:t>
            </a:r>
            <a:endParaRPr lang="en-US" dirty="0"/>
          </a:p>
        </p:txBody>
      </p:sp>
      <p:sp>
        <p:nvSpPr>
          <p:cNvPr id="6" name="TextBox 5"/>
          <p:cNvSpPr txBox="1"/>
          <p:nvPr/>
        </p:nvSpPr>
        <p:spPr>
          <a:xfrm>
            <a:off x="1143000" y="6412468"/>
            <a:ext cx="4800600" cy="215444"/>
          </a:xfrm>
          <a:prstGeom prst="rect">
            <a:avLst/>
          </a:prstGeom>
          <a:noFill/>
        </p:spPr>
        <p:txBody>
          <a:bodyPr wrap="square" rtlCol="0">
            <a:spAutoFit/>
          </a:bodyPr>
          <a:lstStyle/>
          <a:p>
            <a:r>
              <a:rPr lang="en-US" sz="800" dirty="0" smtClean="0"/>
              <a:t>(Circuit from Arnie Berger’s Digital Logic Slides)</a:t>
            </a:r>
            <a:endParaRPr lang="en-US" sz="800" dirty="0"/>
          </a:p>
        </p:txBody>
      </p:sp>
    </p:spTree>
    <p:extLst>
      <p:ext uri="{BB962C8B-B14F-4D97-AF65-F5344CB8AC3E}">
        <p14:creationId xmlns:p14="http://schemas.microsoft.com/office/powerpoint/2010/main" val="2643816352"/>
      </p:ext>
    </p:extLst>
  </p:cSld>
  <p:clrMapOvr>
    <a:masterClrMapping/>
  </p:clrMapOvr>
  <p:timing>
    <p:tnLst>
      <p:par>
        <p:cTn xmlns:p14="http://schemas.microsoft.com/office/powerpoint/2010/mai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153400" cy="1143000"/>
          </a:xfrm>
        </p:spPr>
        <p:txBody>
          <a:bodyPr/>
          <a:lstStyle/>
          <a:p>
            <a:r>
              <a:rPr lang="en-US" dirty="0" smtClean="0">
                <a:solidFill>
                  <a:srgbClr val="0000FF"/>
                </a:solidFill>
              </a:rPr>
              <a:t>Combinational Circuits</a:t>
            </a:r>
            <a:r>
              <a:rPr lang="en-US" dirty="0" smtClean="0"/>
              <a:t>: </a:t>
            </a:r>
            <a:r>
              <a:rPr lang="en-US" dirty="0" smtClean="0">
                <a:solidFill>
                  <a:srgbClr val="0000FF"/>
                </a:solidFill>
              </a:rPr>
              <a:t>Decoder</a:t>
            </a:r>
            <a:endParaRPr lang="en-US" dirty="0">
              <a:solidFill>
                <a:srgbClr val="0000FF"/>
              </a:solidFill>
            </a:endParaRPr>
          </a:p>
        </p:txBody>
      </p:sp>
      <p:sp>
        <p:nvSpPr>
          <p:cNvPr id="3" name="Content Placeholder 2"/>
          <p:cNvSpPr>
            <a:spLocks noGrp="1"/>
          </p:cNvSpPr>
          <p:nvPr>
            <p:ph idx="1"/>
          </p:nvPr>
        </p:nvSpPr>
        <p:spPr>
          <a:xfrm>
            <a:off x="76200" y="1600200"/>
            <a:ext cx="8534400" cy="4800600"/>
          </a:xfrm>
        </p:spPr>
        <p:txBody>
          <a:bodyPr>
            <a:normAutofit/>
          </a:bodyPr>
          <a:lstStyle/>
          <a:p>
            <a:r>
              <a:rPr lang="en-US" dirty="0" smtClean="0"/>
              <a:t>3-to-8 Example: </a:t>
            </a:r>
            <a:r>
              <a:rPr lang="en-US" b="1" dirty="0" smtClean="0">
                <a:solidFill>
                  <a:srgbClr val="FF6600"/>
                </a:solidFill>
              </a:rPr>
              <a:t>Picks</a:t>
            </a:r>
            <a:r>
              <a:rPr lang="en-US" dirty="0" smtClean="0">
                <a:solidFill>
                  <a:srgbClr val="FF6600"/>
                </a:solidFill>
              </a:rPr>
              <a:t> </a:t>
            </a:r>
            <a:r>
              <a:rPr lang="en-US" dirty="0" smtClean="0"/>
              <a:t>one line to assert and all others stay low</a:t>
            </a:r>
          </a:p>
          <a:p>
            <a:pPr lvl="1"/>
            <a:r>
              <a:rPr lang="en-US" dirty="0" smtClean="0"/>
              <a:t>“</a:t>
            </a:r>
            <a:r>
              <a:rPr lang="en-US" dirty="0" smtClean="0">
                <a:solidFill>
                  <a:srgbClr val="660066"/>
                </a:solidFill>
              </a:rPr>
              <a:t>Launch </a:t>
            </a:r>
            <a:r>
              <a:rPr lang="en-US" i="1" dirty="0" smtClean="0">
                <a:solidFill>
                  <a:srgbClr val="660066"/>
                </a:solidFill>
              </a:rPr>
              <a:t>every</a:t>
            </a:r>
            <a:r>
              <a:rPr lang="en-US" dirty="0" smtClean="0">
                <a:solidFill>
                  <a:srgbClr val="660066"/>
                </a:solidFill>
              </a:rPr>
              <a:t> </a:t>
            </a:r>
            <a:r>
              <a:rPr lang="en-US" dirty="0" err="1" smtClean="0">
                <a:solidFill>
                  <a:srgbClr val="660066"/>
                </a:solidFill>
              </a:rPr>
              <a:t>zig</a:t>
            </a:r>
            <a:r>
              <a:rPr lang="en-US" dirty="0" smtClean="0">
                <a:solidFill>
                  <a:srgbClr val="660066"/>
                </a:solidFill>
              </a:rPr>
              <a:t> for great justice?  Or, </a:t>
            </a:r>
            <a:r>
              <a:rPr lang="en-US" dirty="0" err="1" smtClean="0">
                <a:solidFill>
                  <a:srgbClr val="660066"/>
                </a:solidFill>
              </a:rPr>
              <a:t>zigs</a:t>
            </a:r>
            <a:r>
              <a:rPr lang="en-US" dirty="0" smtClean="0">
                <a:solidFill>
                  <a:srgbClr val="660066"/>
                </a:solidFill>
              </a:rPr>
              <a:t> 0 and 6? (000,110)</a:t>
            </a:r>
            <a:r>
              <a:rPr lang="en-US" dirty="0" smtClean="0"/>
              <a:t>”</a:t>
            </a:r>
          </a:p>
          <a:p>
            <a:r>
              <a:rPr lang="en-US" dirty="0" smtClean="0"/>
              <a:t>Used to pick “one” from a set of things</a:t>
            </a:r>
          </a:p>
          <a:p>
            <a:pPr lvl="1"/>
            <a:r>
              <a:rPr lang="en-US" dirty="0" smtClean="0"/>
              <a:t>Need to </a:t>
            </a:r>
            <a:r>
              <a:rPr lang="en-US" b="1" dirty="0" smtClean="0">
                <a:solidFill>
                  <a:srgbClr val="FF6600"/>
                </a:solidFill>
              </a:rPr>
              <a:t>pick</a:t>
            </a:r>
            <a:r>
              <a:rPr lang="en-US" dirty="0" smtClean="0">
                <a:solidFill>
                  <a:srgbClr val="FF6600"/>
                </a:solidFill>
              </a:rPr>
              <a:t> which function </a:t>
            </a:r>
            <a:r>
              <a:rPr lang="en-US" dirty="0" smtClean="0"/>
              <a:t>your ALU should do? ADD or AND?</a:t>
            </a:r>
          </a:p>
          <a:p>
            <a:pPr lvl="2"/>
            <a:r>
              <a:rPr lang="en-US" dirty="0" smtClean="0"/>
              <a:t>Use control lines (f0 and f1 in HW1) and a decoder to enable or disable portions of your ALU chip</a:t>
            </a:r>
          </a:p>
          <a:p>
            <a:pPr lvl="1"/>
            <a:r>
              <a:rPr lang="en-US" dirty="0"/>
              <a:t>Need to </a:t>
            </a:r>
            <a:r>
              <a:rPr lang="en-US" b="1" dirty="0" smtClean="0">
                <a:solidFill>
                  <a:srgbClr val="FF6600"/>
                </a:solidFill>
              </a:rPr>
              <a:t>put</a:t>
            </a:r>
            <a:r>
              <a:rPr lang="en-US" dirty="0" smtClean="0">
                <a:solidFill>
                  <a:srgbClr val="FF6600"/>
                </a:solidFill>
              </a:rPr>
              <a:t> something in memory</a:t>
            </a:r>
            <a:r>
              <a:rPr lang="en-US" dirty="0" smtClean="0"/>
              <a:t>? At Addr0 or Addr1?</a:t>
            </a:r>
            <a:endParaRPr lang="en-US" dirty="0"/>
          </a:p>
          <a:p>
            <a:pPr lvl="2"/>
            <a:r>
              <a:rPr lang="en-US" dirty="0"/>
              <a:t>Use a decoder to output only </a:t>
            </a:r>
            <a:r>
              <a:rPr lang="en-US" dirty="0" smtClean="0"/>
              <a:t>to the memory cell based on an address</a:t>
            </a:r>
            <a:endParaRPr lang="en-US" dirty="0"/>
          </a:p>
          <a:p>
            <a:pPr lvl="3"/>
            <a:r>
              <a:rPr lang="en-US" dirty="0"/>
              <a:t>Use of a decoder and AND to do this, like in </a:t>
            </a:r>
            <a:r>
              <a:rPr lang="en-US" dirty="0" smtClean="0"/>
              <a:t>HW1</a:t>
            </a:r>
          </a:p>
          <a:p>
            <a:pPr lvl="1"/>
            <a:r>
              <a:rPr lang="en-US" dirty="0" smtClean="0">
                <a:solidFill>
                  <a:srgbClr val="FF6600"/>
                </a:solidFill>
              </a:rPr>
              <a:t>Need 8 GB of </a:t>
            </a:r>
            <a:r>
              <a:rPr lang="en-US" b="1" dirty="0" smtClean="0">
                <a:solidFill>
                  <a:srgbClr val="FF6600"/>
                </a:solidFill>
              </a:rPr>
              <a:t>RAM</a:t>
            </a:r>
            <a:r>
              <a:rPr lang="en-US" dirty="0" smtClean="0"/>
              <a:t>?</a:t>
            </a:r>
          </a:p>
          <a:p>
            <a:pPr lvl="2"/>
            <a:r>
              <a:rPr lang="en-US" dirty="0" smtClean="0"/>
              <a:t>Use 2 separate 4GB SIMMs and a decoder as a chip select</a:t>
            </a:r>
          </a:p>
          <a:p>
            <a:pPr lvl="3"/>
            <a:r>
              <a:rPr lang="en-US" dirty="0" smtClean="0"/>
              <a:t>We build </a:t>
            </a:r>
            <a:r>
              <a:rPr lang="en-US" b="1" i="1" dirty="0" smtClean="0">
                <a:solidFill>
                  <a:srgbClr val="008000"/>
                </a:solidFill>
              </a:rPr>
              <a:t>larger memories </a:t>
            </a:r>
            <a:r>
              <a:rPr lang="en-US" dirty="0" smtClean="0"/>
              <a:t>composed of </a:t>
            </a:r>
            <a:r>
              <a:rPr lang="en-US" b="1" i="1" dirty="0" smtClean="0">
                <a:solidFill>
                  <a:srgbClr val="008000"/>
                </a:solidFill>
              </a:rPr>
              <a:t>smaller chips </a:t>
            </a:r>
            <a:r>
              <a:rPr lang="en-US" dirty="0" smtClean="0"/>
              <a:t>all the time!</a:t>
            </a:r>
          </a:p>
          <a:p>
            <a:pPr lvl="3"/>
            <a:r>
              <a:rPr lang="en-US" dirty="0" smtClean="0"/>
              <a:t>8GB = 2</a:t>
            </a:r>
            <a:r>
              <a:rPr lang="en-US" baseline="30000" dirty="0" smtClean="0"/>
              <a:t>33</a:t>
            </a:r>
            <a:r>
              <a:rPr lang="en-US" dirty="0" smtClean="0"/>
              <a:t>, and 4GB=2</a:t>
            </a:r>
            <a:r>
              <a:rPr lang="en-US" baseline="30000" dirty="0" smtClean="0"/>
              <a:t>32</a:t>
            </a:r>
            <a:r>
              <a:rPr lang="en-US" dirty="0" smtClean="0"/>
              <a:t>, so our address is 33 bits with the MSb selecting which chip</a:t>
            </a:r>
          </a:p>
          <a:p>
            <a:pPr lvl="2"/>
            <a:r>
              <a:rPr lang="en-US" dirty="0" smtClean="0"/>
              <a:t>Turning on the 33</a:t>
            </a:r>
            <a:r>
              <a:rPr lang="en-US" baseline="30000" dirty="0" smtClean="0"/>
              <a:t>rd</a:t>
            </a:r>
            <a:r>
              <a:rPr lang="en-US" dirty="0" smtClean="0"/>
              <a:t> wire turns on one </a:t>
            </a:r>
            <a:r>
              <a:rPr lang="en-US" smtClean="0"/>
              <a:t>of two memory chips</a:t>
            </a:r>
            <a:endParaRPr lang="en-US" dirty="0" smtClean="0"/>
          </a:p>
          <a:p>
            <a:pPr lvl="3"/>
            <a:endParaRPr lang="en-US" dirty="0"/>
          </a:p>
          <a:p>
            <a:pPr marL="114300" indent="0">
              <a:buNone/>
            </a:pPr>
            <a:endParaRPr lang="en-US" dirty="0" smtClean="0"/>
          </a:p>
        </p:txBody>
      </p:sp>
      <p:sp>
        <p:nvSpPr>
          <p:cNvPr id="4" name="Rounded Rectangle 3"/>
          <p:cNvSpPr/>
          <p:nvPr/>
        </p:nvSpPr>
        <p:spPr>
          <a:xfrm>
            <a:off x="5067300" y="3175000"/>
            <a:ext cx="762000" cy="304800"/>
          </a:xfrm>
          <a:prstGeom prst="roundRect">
            <a:avLst/>
          </a:prstGeom>
          <a:solidFill>
            <a:schemeClr val="accent1">
              <a:alpha val="3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ounded Rectangle 4"/>
          <p:cNvSpPr/>
          <p:nvPr/>
        </p:nvSpPr>
        <p:spPr>
          <a:xfrm>
            <a:off x="1727200" y="4152900"/>
            <a:ext cx="762000" cy="304800"/>
          </a:xfrm>
          <a:prstGeom prst="roundRect">
            <a:avLst/>
          </a:prstGeom>
          <a:solidFill>
            <a:schemeClr val="accent1">
              <a:alpha val="3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ounded Rectangle 5"/>
          <p:cNvSpPr/>
          <p:nvPr/>
        </p:nvSpPr>
        <p:spPr>
          <a:xfrm>
            <a:off x="4279900" y="5130800"/>
            <a:ext cx="762000" cy="304800"/>
          </a:xfrm>
          <a:prstGeom prst="roundRect">
            <a:avLst/>
          </a:prstGeom>
          <a:solidFill>
            <a:schemeClr val="accent1">
              <a:alpha val="3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5677168"/>
      </p:ext>
    </p:extLst>
  </p:cSld>
  <p:clrMapOvr>
    <a:masterClrMapping/>
  </p:clrMapOvr>
  <p:timing>
    <p:tnLst>
      <p:par>
        <p:cTn xmlns:p14="http://schemas.microsoft.com/office/powerpoint/2010/mai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458200" cy="1143000"/>
          </a:xfrm>
        </p:spPr>
        <p:txBody>
          <a:bodyPr/>
          <a:lstStyle/>
          <a:p>
            <a:r>
              <a:rPr lang="en-US" dirty="0" smtClean="0">
                <a:solidFill>
                  <a:srgbClr val="0000FF"/>
                </a:solidFill>
              </a:rPr>
              <a:t>Combinational Circuits</a:t>
            </a:r>
            <a:r>
              <a:rPr lang="en-US" dirty="0" smtClean="0"/>
              <a:t>: </a:t>
            </a:r>
            <a:r>
              <a:rPr lang="en-US" dirty="0" smtClean="0">
                <a:solidFill>
                  <a:srgbClr val="0000FF"/>
                </a:solidFill>
              </a:rPr>
              <a:t>Decoder</a:t>
            </a:r>
            <a:endParaRPr lang="en-US" dirty="0">
              <a:solidFill>
                <a:srgbClr val="0000FF"/>
              </a:solidFill>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524000"/>
            <a:ext cx="5156200" cy="459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524000" y="6412468"/>
            <a:ext cx="4800600" cy="369332"/>
          </a:xfrm>
          <a:prstGeom prst="rect">
            <a:avLst/>
          </a:prstGeom>
          <a:noFill/>
        </p:spPr>
        <p:txBody>
          <a:bodyPr wrap="square" rtlCol="0">
            <a:spAutoFit/>
          </a:bodyPr>
          <a:lstStyle/>
          <a:p>
            <a:r>
              <a:rPr lang="en-US" dirty="0" smtClean="0"/>
              <a:t>(Circuit from Arnie Berger’s Digital Logic Slides)</a:t>
            </a:r>
            <a:endParaRPr lang="en-US" dirty="0"/>
          </a:p>
        </p:txBody>
      </p:sp>
      <p:grpSp>
        <p:nvGrpSpPr>
          <p:cNvPr id="6" name="Group 5"/>
          <p:cNvGrpSpPr/>
          <p:nvPr/>
        </p:nvGrpSpPr>
        <p:grpSpPr>
          <a:xfrm>
            <a:off x="660398" y="1346200"/>
            <a:ext cx="6426202" cy="5012925"/>
            <a:chOff x="2285385" y="2865437"/>
            <a:chExt cx="3940791" cy="2163763"/>
          </a:xfrm>
        </p:grpSpPr>
        <p:sp>
          <p:nvSpPr>
            <p:cNvPr id="7" name="Rectangle 16"/>
            <p:cNvSpPr>
              <a:spLocks noChangeArrowheads="1"/>
            </p:cNvSpPr>
            <p:nvPr/>
          </p:nvSpPr>
          <p:spPr bwMode="auto">
            <a:xfrm>
              <a:off x="2989263" y="2865437"/>
              <a:ext cx="2586037" cy="2163763"/>
            </a:xfrm>
            <a:prstGeom prst="rect">
              <a:avLst/>
            </a:prstGeom>
            <a:solidFill>
              <a:srgbClr val="DDDDDD"/>
            </a:solidFill>
            <a:ln w="19050">
              <a:solidFill>
                <a:schemeClr val="tx1"/>
              </a:solidFill>
              <a:miter lim="800000"/>
              <a:headEnd/>
              <a:tailEnd/>
            </a:ln>
          </p:spPr>
          <p:txBody>
            <a:bodyPr wrap="none" anchor="ctr">
              <a:noAutofit/>
            </a:bodyPr>
            <a:lstStyle/>
            <a:p>
              <a:pPr algn="ctr"/>
              <a:r>
                <a:rPr lang="en-US" sz="1400" b="1" dirty="0"/>
                <a:t>3</a:t>
              </a:r>
              <a:r>
                <a:rPr lang="en-US" sz="1400" b="1" dirty="0" smtClean="0"/>
                <a:t> X 8 line decoder</a:t>
              </a:r>
              <a:endParaRPr lang="en-US" sz="1400" b="1" dirty="0"/>
            </a:p>
          </p:txBody>
        </p:sp>
        <p:sp>
          <p:nvSpPr>
            <p:cNvPr id="8" name="Rectangle 7"/>
            <p:cNvSpPr>
              <a:spLocks noChangeArrowheads="1"/>
            </p:cNvSpPr>
            <p:nvPr/>
          </p:nvSpPr>
          <p:spPr bwMode="auto">
            <a:xfrm>
              <a:off x="2984500" y="2865437"/>
              <a:ext cx="2592388" cy="21637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sz="1400" b="1"/>
            </a:p>
          </p:txBody>
        </p:sp>
        <p:sp>
          <p:nvSpPr>
            <p:cNvPr id="9" name="Line 5"/>
            <p:cNvSpPr>
              <a:spLocks noChangeShapeType="1"/>
            </p:cNvSpPr>
            <p:nvPr/>
          </p:nvSpPr>
          <p:spPr bwMode="auto">
            <a:xfrm>
              <a:off x="2335213" y="3127375"/>
              <a:ext cx="6492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10" name="Line 6"/>
            <p:cNvSpPr>
              <a:spLocks noChangeShapeType="1"/>
            </p:cNvSpPr>
            <p:nvPr/>
          </p:nvSpPr>
          <p:spPr bwMode="auto">
            <a:xfrm>
              <a:off x="2362994" y="4799012"/>
              <a:ext cx="6508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12" name="Line 17"/>
            <p:cNvSpPr>
              <a:spLocks noChangeShapeType="1"/>
            </p:cNvSpPr>
            <p:nvPr/>
          </p:nvSpPr>
          <p:spPr bwMode="auto">
            <a:xfrm>
              <a:off x="5576888" y="3099822"/>
              <a:ext cx="649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13" name="Line 18"/>
            <p:cNvSpPr>
              <a:spLocks noChangeShapeType="1"/>
            </p:cNvSpPr>
            <p:nvPr/>
          </p:nvSpPr>
          <p:spPr bwMode="auto">
            <a:xfrm>
              <a:off x="5573713" y="3350647"/>
              <a:ext cx="6508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14" name="Line 19"/>
            <p:cNvSpPr>
              <a:spLocks noChangeShapeType="1"/>
            </p:cNvSpPr>
            <p:nvPr/>
          </p:nvSpPr>
          <p:spPr bwMode="auto">
            <a:xfrm>
              <a:off x="5573713" y="3596709"/>
              <a:ext cx="6508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16" name="Line 19"/>
            <p:cNvSpPr>
              <a:spLocks noChangeShapeType="1"/>
            </p:cNvSpPr>
            <p:nvPr/>
          </p:nvSpPr>
          <p:spPr bwMode="auto">
            <a:xfrm>
              <a:off x="5565776" y="3838009"/>
              <a:ext cx="6508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17" name="Line 5"/>
            <p:cNvSpPr>
              <a:spLocks noChangeShapeType="1"/>
            </p:cNvSpPr>
            <p:nvPr/>
          </p:nvSpPr>
          <p:spPr bwMode="auto">
            <a:xfrm>
              <a:off x="2335212" y="3884987"/>
              <a:ext cx="6492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18" name="Line 17"/>
            <p:cNvSpPr>
              <a:spLocks noChangeShapeType="1"/>
            </p:cNvSpPr>
            <p:nvPr/>
          </p:nvSpPr>
          <p:spPr bwMode="auto">
            <a:xfrm>
              <a:off x="5576888" y="4056653"/>
              <a:ext cx="649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19" name="Line 18"/>
            <p:cNvSpPr>
              <a:spLocks noChangeShapeType="1"/>
            </p:cNvSpPr>
            <p:nvPr/>
          </p:nvSpPr>
          <p:spPr bwMode="auto">
            <a:xfrm>
              <a:off x="5573713" y="4307478"/>
              <a:ext cx="6508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20" name="Line 19"/>
            <p:cNvSpPr>
              <a:spLocks noChangeShapeType="1"/>
            </p:cNvSpPr>
            <p:nvPr/>
          </p:nvSpPr>
          <p:spPr bwMode="auto">
            <a:xfrm>
              <a:off x="5573713" y="4553540"/>
              <a:ext cx="6508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22" name="Line 19"/>
            <p:cNvSpPr>
              <a:spLocks noChangeShapeType="1"/>
            </p:cNvSpPr>
            <p:nvPr/>
          </p:nvSpPr>
          <p:spPr bwMode="auto">
            <a:xfrm>
              <a:off x="5565776" y="4794840"/>
              <a:ext cx="6508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11" name="Text Box 14"/>
            <p:cNvSpPr txBox="1">
              <a:spLocks noChangeArrowheads="1"/>
            </p:cNvSpPr>
            <p:nvPr/>
          </p:nvSpPr>
          <p:spPr bwMode="auto">
            <a:xfrm>
              <a:off x="2285385" y="2969591"/>
              <a:ext cx="185757" cy="14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lnSpc>
                  <a:spcPct val="135000"/>
                </a:lnSpc>
              </a:pPr>
              <a:r>
                <a:rPr lang="en-US" b="1" dirty="0" smtClean="0"/>
                <a:t>A</a:t>
              </a:r>
            </a:p>
          </p:txBody>
        </p:sp>
      </p:grpSp>
      <p:sp>
        <p:nvSpPr>
          <p:cNvPr id="23" name="Text Box 14"/>
          <p:cNvSpPr txBox="1">
            <a:spLocks noChangeArrowheads="1"/>
          </p:cNvSpPr>
          <p:nvPr/>
        </p:nvSpPr>
        <p:spPr bwMode="auto">
          <a:xfrm>
            <a:off x="685800" y="3352800"/>
            <a:ext cx="295799" cy="33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lnSpc>
                <a:spcPct val="135000"/>
              </a:lnSpc>
            </a:pPr>
            <a:r>
              <a:rPr lang="en-US" b="1" dirty="0"/>
              <a:t>B</a:t>
            </a:r>
            <a:endParaRPr lang="en-US" b="1" dirty="0" smtClean="0"/>
          </a:p>
        </p:txBody>
      </p:sp>
      <p:sp>
        <p:nvSpPr>
          <p:cNvPr id="24" name="Text Box 14"/>
          <p:cNvSpPr txBox="1">
            <a:spLocks noChangeArrowheads="1"/>
          </p:cNvSpPr>
          <p:nvPr/>
        </p:nvSpPr>
        <p:spPr bwMode="auto">
          <a:xfrm>
            <a:off x="762000" y="5486400"/>
            <a:ext cx="295799" cy="33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lnSpc>
                <a:spcPct val="135000"/>
              </a:lnSpc>
            </a:pPr>
            <a:r>
              <a:rPr lang="en-US" b="1" dirty="0" smtClean="0"/>
              <a:t>C</a:t>
            </a:r>
          </a:p>
        </p:txBody>
      </p:sp>
    </p:spTree>
    <p:extLst>
      <p:ext uri="{BB962C8B-B14F-4D97-AF65-F5344CB8AC3E}">
        <p14:creationId xmlns:p14="http://schemas.microsoft.com/office/powerpoint/2010/main" val="388441316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23"/>
                                        </p:tgtEl>
                                      </p:cBhvr>
                                    </p:animEffect>
                                    <p:set>
                                      <p:cBhvr>
                                        <p:cTn id="10" dur="1" fill="hold">
                                          <p:stCondLst>
                                            <p:cond delay="499"/>
                                          </p:stCondLst>
                                        </p:cTn>
                                        <p:tgtEl>
                                          <p:spTgt spid="23"/>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24"/>
                                        </p:tgtEl>
                                      </p:cBhvr>
                                    </p:animEffect>
                                    <p:set>
                                      <p:cBhvr>
                                        <p:cTn id="13"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dirty="0" smtClean="0"/>
              <a:t>Designing a 3 x 8 Line </a:t>
            </a:r>
            <a:r>
              <a:rPr lang="en-US" dirty="0">
                <a:solidFill>
                  <a:srgbClr val="0000FF"/>
                </a:solidFill>
              </a:rPr>
              <a:t>D</a:t>
            </a:r>
            <a:r>
              <a:rPr lang="en-US" dirty="0" smtClean="0">
                <a:solidFill>
                  <a:srgbClr val="0000FF"/>
                </a:solidFill>
              </a:rPr>
              <a:t>ecoder</a:t>
            </a:r>
          </a:p>
        </p:txBody>
      </p:sp>
      <p:sp>
        <p:nvSpPr>
          <p:cNvPr id="31747" name="Rectangle 3"/>
          <p:cNvSpPr>
            <a:spLocks noGrp="1" noChangeArrowheads="1"/>
          </p:cNvSpPr>
          <p:nvPr>
            <p:ph type="body" idx="1"/>
          </p:nvPr>
        </p:nvSpPr>
        <p:spPr>
          <a:xfrm>
            <a:off x="381000" y="1295400"/>
            <a:ext cx="8636000" cy="5057775"/>
          </a:xfrm>
        </p:spPr>
        <p:txBody>
          <a:bodyPr/>
          <a:lstStyle/>
          <a:p>
            <a:pPr>
              <a:buFont typeface="+mj-lt"/>
              <a:buAutoNum type="arabicPeriod" startAt="2"/>
            </a:pPr>
            <a:r>
              <a:rPr lang="en-US" sz="1800" dirty="0"/>
              <a:t>Draw a truth table for each input combination and output combination </a:t>
            </a:r>
          </a:p>
          <a:p>
            <a:pPr marL="457200" lvl="1" indent="0">
              <a:buNone/>
            </a:pPr>
            <a:endParaRPr lang="en-US" sz="1800" dirty="0"/>
          </a:p>
          <a:p>
            <a:pPr marL="457200" lvl="1" indent="0">
              <a:buNone/>
            </a:pPr>
            <a:endParaRPr lang="en-US" sz="1800" dirty="0" smtClean="0"/>
          </a:p>
          <a:p>
            <a:pPr>
              <a:buFont typeface="+mj-lt"/>
              <a:buAutoNum type="arabicPeriod" startAt="2"/>
            </a:pPr>
            <a:endParaRPr lang="en-US" sz="1800" dirty="0" smtClean="0"/>
          </a:p>
        </p:txBody>
      </p:sp>
      <p:graphicFrame>
        <p:nvGraphicFramePr>
          <p:cNvPr id="3" name="Table 2"/>
          <p:cNvGraphicFramePr>
            <a:graphicFrameLocks noGrp="1"/>
          </p:cNvGraphicFramePr>
          <p:nvPr>
            <p:extLst>
              <p:ext uri="{D42A27DB-BD31-4B8C-83A1-F6EECF244321}">
                <p14:modId xmlns:p14="http://schemas.microsoft.com/office/powerpoint/2010/main" val="4139903783"/>
              </p:ext>
            </p:extLst>
          </p:nvPr>
        </p:nvGraphicFramePr>
        <p:xfrm>
          <a:off x="3250501" y="1752600"/>
          <a:ext cx="5360091" cy="4017163"/>
        </p:xfrm>
        <a:graphic>
          <a:graphicData uri="http://schemas.openxmlformats.org/drawingml/2006/table">
            <a:tbl>
              <a:tblPr firstRow="1" bandRow="1">
                <a:tableStyleId>{5C22544A-7EE6-4342-B048-85BDC9FD1C3A}</a:tableStyleId>
              </a:tblPr>
              <a:tblGrid>
                <a:gridCol w="487281"/>
                <a:gridCol w="487281"/>
                <a:gridCol w="487281"/>
                <a:gridCol w="487281"/>
                <a:gridCol w="487281"/>
                <a:gridCol w="487281"/>
                <a:gridCol w="487281"/>
                <a:gridCol w="487281"/>
                <a:gridCol w="487281"/>
                <a:gridCol w="487281"/>
                <a:gridCol w="487281"/>
              </a:tblGrid>
              <a:tr h="621793">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D0</a:t>
                      </a:r>
                      <a:endParaRPr lang="en-US" dirty="0"/>
                    </a:p>
                  </a:txBody>
                  <a:tcPr>
                    <a:solidFill>
                      <a:schemeClr val="accent6">
                        <a:lumMod val="75000"/>
                      </a:schemeClr>
                    </a:solidFill>
                  </a:tcPr>
                </a:tc>
                <a:tc>
                  <a:txBody>
                    <a:bodyPr/>
                    <a:lstStyle/>
                    <a:p>
                      <a:r>
                        <a:rPr lang="en-US" dirty="0" smtClean="0"/>
                        <a:t>D1</a:t>
                      </a:r>
                      <a:endParaRPr lang="en-US" dirty="0"/>
                    </a:p>
                  </a:txBody>
                  <a:tcPr>
                    <a:solidFill>
                      <a:schemeClr val="accent6">
                        <a:lumMod val="75000"/>
                      </a:schemeClr>
                    </a:solidFill>
                  </a:tcPr>
                </a:tc>
                <a:tc>
                  <a:txBody>
                    <a:bodyPr/>
                    <a:lstStyle/>
                    <a:p>
                      <a:r>
                        <a:rPr lang="en-US" dirty="0" smtClean="0"/>
                        <a:t>D2</a:t>
                      </a:r>
                      <a:endParaRPr lang="en-US" dirty="0"/>
                    </a:p>
                  </a:txBody>
                  <a:tcPr>
                    <a:solidFill>
                      <a:schemeClr val="accent6">
                        <a:lumMod val="75000"/>
                      </a:schemeClr>
                    </a:solidFill>
                  </a:tcPr>
                </a:tc>
                <a:tc>
                  <a:txBody>
                    <a:bodyPr/>
                    <a:lstStyle/>
                    <a:p>
                      <a:r>
                        <a:rPr lang="en-US" dirty="0" smtClean="0"/>
                        <a:t>D3</a:t>
                      </a:r>
                      <a:endParaRPr lang="en-US" dirty="0"/>
                    </a:p>
                  </a:txBody>
                  <a:tcPr>
                    <a:solidFill>
                      <a:schemeClr val="accent6">
                        <a:lumMod val="75000"/>
                      </a:schemeClr>
                    </a:solidFill>
                  </a:tcPr>
                </a:tc>
                <a:tc>
                  <a:txBody>
                    <a:bodyPr/>
                    <a:lstStyle/>
                    <a:p>
                      <a:r>
                        <a:rPr lang="en-US" dirty="0" smtClean="0"/>
                        <a:t>D4</a:t>
                      </a:r>
                      <a:endParaRPr lang="en-US" dirty="0"/>
                    </a:p>
                  </a:txBody>
                  <a:tcPr>
                    <a:solidFill>
                      <a:schemeClr val="accent6">
                        <a:lumMod val="75000"/>
                      </a:schemeClr>
                    </a:solidFill>
                  </a:tcPr>
                </a:tc>
                <a:tc>
                  <a:txBody>
                    <a:bodyPr/>
                    <a:lstStyle/>
                    <a:p>
                      <a:r>
                        <a:rPr lang="en-US" dirty="0" smtClean="0"/>
                        <a:t>D5</a:t>
                      </a:r>
                      <a:endParaRPr lang="en-US" dirty="0"/>
                    </a:p>
                  </a:txBody>
                  <a:tcPr>
                    <a:solidFill>
                      <a:schemeClr val="accent6">
                        <a:lumMod val="75000"/>
                      </a:schemeClr>
                    </a:solidFill>
                  </a:tcPr>
                </a:tc>
                <a:tc>
                  <a:txBody>
                    <a:bodyPr/>
                    <a:lstStyle/>
                    <a:p>
                      <a:r>
                        <a:rPr lang="en-US" dirty="0" smtClean="0"/>
                        <a:t>D6</a:t>
                      </a:r>
                      <a:endParaRPr lang="en-US" dirty="0"/>
                    </a:p>
                  </a:txBody>
                  <a:tcPr>
                    <a:solidFill>
                      <a:schemeClr val="accent6">
                        <a:lumMod val="75000"/>
                      </a:schemeClr>
                    </a:solidFill>
                  </a:tcPr>
                </a:tc>
                <a:tc>
                  <a:txBody>
                    <a:bodyPr/>
                    <a:lstStyle/>
                    <a:p>
                      <a:r>
                        <a:rPr lang="en-US" dirty="0" smtClean="0"/>
                        <a:t>D7</a:t>
                      </a:r>
                      <a:endParaRPr lang="en-US" dirty="0"/>
                    </a:p>
                  </a:txBody>
                  <a:tcPr>
                    <a:solidFill>
                      <a:schemeClr val="accent6">
                        <a:lumMod val="75000"/>
                      </a:schemeClr>
                    </a:solidFill>
                  </a:tcPr>
                </a:tc>
              </a:tr>
              <a:tr h="46106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r>
              <a:tr h="46106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6106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1</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r>
              <a:tr h="40243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r>
            </a:tbl>
          </a:graphicData>
        </a:graphic>
      </p:graphicFrame>
      <p:sp>
        <p:nvSpPr>
          <p:cNvPr id="34" name="Rectangle 33"/>
          <p:cNvSpPr/>
          <p:nvPr/>
        </p:nvSpPr>
        <p:spPr>
          <a:xfrm>
            <a:off x="-113664" y="3128675"/>
            <a:ext cx="3085464" cy="1169551"/>
          </a:xfrm>
          <a:prstGeom prst="rect">
            <a:avLst/>
          </a:prstGeom>
        </p:spPr>
        <p:txBody>
          <a:bodyPr wrap="square">
            <a:spAutoFit/>
          </a:bodyPr>
          <a:lstStyle/>
          <a:p>
            <a:pPr lvl="2">
              <a:lnSpc>
                <a:spcPct val="110000"/>
              </a:lnSpc>
              <a:spcBef>
                <a:spcPct val="20000"/>
              </a:spcBef>
              <a:buClr>
                <a:srgbClr val="0033CC"/>
              </a:buClr>
            </a:pPr>
            <a:r>
              <a:rPr kumimoji="1" lang="en-US" sz="1400" dirty="0" err="1">
                <a:latin typeface="Tahoma" pitchFamily="34" charset="0"/>
              </a:rPr>
              <a:t>abc</a:t>
            </a:r>
            <a:r>
              <a:rPr kumimoji="1" lang="en-US" sz="1400" dirty="0">
                <a:latin typeface="Tahoma" pitchFamily="34" charset="0"/>
              </a:rPr>
              <a:t> = </a:t>
            </a:r>
            <a:r>
              <a:rPr kumimoji="1" lang="en-US" sz="1400" dirty="0" smtClean="0">
                <a:latin typeface="Tahoma" pitchFamily="34" charset="0"/>
              </a:rPr>
              <a:t>100 </a:t>
            </a:r>
            <a:r>
              <a:rPr kumimoji="1" lang="en-US" sz="1400" dirty="0">
                <a:latin typeface="Tahoma" pitchFamily="34" charset="0"/>
              </a:rPr>
              <a:t>---</a:t>
            </a:r>
            <a:r>
              <a:rPr kumimoji="1" lang="en-US" sz="1400" dirty="0">
                <a:latin typeface="Tahoma" pitchFamily="34" charset="0"/>
                <a:sym typeface="Wingdings" pitchFamily="2" charset="2"/>
              </a:rPr>
              <a:t> </a:t>
            </a:r>
            <a:r>
              <a:rPr kumimoji="1" lang="en-US" sz="1400" dirty="0" smtClean="0">
                <a:latin typeface="Tahoma" pitchFamily="34" charset="0"/>
                <a:sym typeface="Wingdings" pitchFamily="2" charset="2"/>
              </a:rPr>
              <a:t>D4 </a:t>
            </a:r>
            <a:r>
              <a:rPr kumimoji="1" lang="en-US" sz="1400" dirty="0">
                <a:latin typeface="Tahoma" pitchFamily="34" charset="0"/>
                <a:sym typeface="Wingdings" pitchFamily="2" charset="2"/>
              </a:rPr>
              <a:t>=1</a:t>
            </a:r>
          </a:p>
          <a:p>
            <a:pPr lvl="2">
              <a:lnSpc>
                <a:spcPct val="110000"/>
              </a:lnSpc>
              <a:spcBef>
                <a:spcPct val="20000"/>
              </a:spcBef>
              <a:buClr>
                <a:srgbClr val="0033CC"/>
              </a:buClr>
            </a:pPr>
            <a:r>
              <a:rPr kumimoji="1" lang="en-US" sz="1400" dirty="0" err="1">
                <a:latin typeface="Tahoma" pitchFamily="34" charset="0"/>
                <a:sym typeface="Wingdings" pitchFamily="2" charset="2"/>
              </a:rPr>
              <a:t>abc</a:t>
            </a:r>
            <a:r>
              <a:rPr kumimoji="1" lang="en-US" sz="1400" dirty="0">
                <a:latin typeface="Tahoma" pitchFamily="34" charset="0"/>
                <a:sym typeface="Wingdings" pitchFamily="2" charset="2"/>
              </a:rPr>
              <a:t> = </a:t>
            </a:r>
            <a:r>
              <a:rPr kumimoji="1" lang="en-US" sz="1400" dirty="0" smtClean="0">
                <a:latin typeface="Tahoma" pitchFamily="34" charset="0"/>
                <a:sym typeface="Wingdings" pitchFamily="2" charset="2"/>
              </a:rPr>
              <a:t>101 </a:t>
            </a:r>
            <a:r>
              <a:rPr kumimoji="1" lang="en-US" sz="1400" dirty="0">
                <a:latin typeface="Tahoma" pitchFamily="34" charset="0"/>
                <a:sym typeface="Wingdings" pitchFamily="2" charset="2"/>
              </a:rPr>
              <a:t>--- </a:t>
            </a:r>
            <a:r>
              <a:rPr kumimoji="1" lang="en-US" sz="1400" dirty="0" smtClean="0">
                <a:latin typeface="Tahoma" pitchFamily="34" charset="0"/>
                <a:sym typeface="Wingdings" pitchFamily="2" charset="2"/>
              </a:rPr>
              <a:t>D5 =1</a:t>
            </a:r>
            <a:endParaRPr kumimoji="1" lang="en-US" sz="1400" dirty="0">
              <a:latin typeface="Tahoma" pitchFamily="34" charset="0"/>
              <a:sym typeface="Wingdings" pitchFamily="2" charset="2"/>
            </a:endParaRPr>
          </a:p>
          <a:p>
            <a:pPr lvl="2">
              <a:lnSpc>
                <a:spcPct val="110000"/>
              </a:lnSpc>
              <a:spcBef>
                <a:spcPct val="20000"/>
              </a:spcBef>
              <a:buClr>
                <a:srgbClr val="0033CC"/>
              </a:buClr>
            </a:pPr>
            <a:r>
              <a:rPr kumimoji="1" lang="en-US" sz="1400" dirty="0" err="1">
                <a:latin typeface="Tahoma" pitchFamily="34" charset="0"/>
                <a:sym typeface="Wingdings" pitchFamily="2" charset="2"/>
              </a:rPr>
              <a:t>abc</a:t>
            </a:r>
            <a:r>
              <a:rPr kumimoji="1" lang="en-US" sz="1400" dirty="0">
                <a:latin typeface="Tahoma" pitchFamily="34" charset="0"/>
                <a:sym typeface="Wingdings" pitchFamily="2" charset="2"/>
              </a:rPr>
              <a:t> = </a:t>
            </a:r>
            <a:r>
              <a:rPr kumimoji="1" lang="en-US" sz="1400" dirty="0" smtClean="0">
                <a:latin typeface="Tahoma" pitchFamily="34" charset="0"/>
                <a:sym typeface="Wingdings" pitchFamily="2" charset="2"/>
              </a:rPr>
              <a:t>110 </a:t>
            </a:r>
            <a:r>
              <a:rPr kumimoji="1" lang="en-US" sz="1400" dirty="0">
                <a:latin typeface="Tahoma" pitchFamily="34" charset="0"/>
                <a:sym typeface="Wingdings" pitchFamily="2" charset="2"/>
              </a:rPr>
              <a:t>--- </a:t>
            </a:r>
            <a:r>
              <a:rPr kumimoji="1" lang="en-US" sz="1400" dirty="0" smtClean="0">
                <a:latin typeface="Tahoma" pitchFamily="34" charset="0"/>
                <a:sym typeface="Wingdings" pitchFamily="2" charset="2"/>
              </a:rPr>
              <a:t>D6= </a:t>
            </a:r>
            <a:r>
              <a:rPr kumimoji="1" lang="en-US" sz="1400" dirty="0">
                <a:latin typeface="Tahoma" pitchFamily="34" charset="0"/>
                <a:sym typeface="Wingdings" pitchFamily="2" charset="2"/>
              </a:rPr>
              <a:t>1</a:t>
            </a:r>
          </a:p>
          <a:p>
            <a:pPr lvl="2">
              <a:lnSpc>
                <a:spcPct val="110000"/>
              </a:lnSpc>
              <a:spcBef>
                <a:spcPct val="20000"/>
              </a:spcBef>
              <a:buClr>
                <a:srgbClr val="0033CC"/>
              </a:buClr>
            </a:pPr>
            <a:r>
              <a:rPr kumimoji="1" lang="en-US" sz="1400" dirty="0" err="1">
                <a:latin typeface="Tahoma" pitchFamily="34" charset="0"/>
                <a:sym typeface="Wingdings" pitchFamily="2" charset="2"/>
              </a:rPr>
              <a:t>abc</a:t>
            </a:r>
            <a:r>
              <a:rPr kumimoji="1" lang="en-US" sz="1400" dirty="0">
                <a:latin typeface="Tahoma" pitchFamily="34" charset="0"/>
                <a:sym typeface="Wingdings" pitchFamily="2" charset="2"/>
              </a:rPr>
              <a:t> = </a:t>
            </a:r>
            <a:r>
              <a:rPr kumimoji="1" lang="en-US" sz="1400" dirty="0" smtClean="0">
                <a:latin typeface="Tahoma" pitchFamily="34" charset="0"/>
                <a:sym typeface="Wingdings" pitchFamily="2" charset="2"/>
              </a:rPr>
              <a:t>111 </a:t>
            </a:r>
            <a:r>
              <a:rPr kumimoji="1" lang="en-US" sz="1400" dirty="0">
                <a:latin typeface="Tahoma" pitchFamily="34" charset="0"/>
                <a:sym typeface="Wingdings" pitchFamily="2" charset="2"/>
              </a:rPr>
              <a:t>--- </a:t>
            </a:r>
            <a:r>
              <a:rPr kumimoji="1" lang="en-US" sz="1400" dirty="0" smtClean="0">
                <a:latin typeface="Tahoma" pitchFamily="34" charset="0"/>
                <a:sym typeface="Wingdings" pitchFamily="2" charset="2"/>
              </a:rPr>
              <a:t>D7= 1</a:t>
            </a:r>
            <a:endParaRPr kumimoji="1" lang="en-US" sz="1400" dirty="0">
              <a:latin typeface="Tahoma" pitchFamily="34" charset="0"/>
            </a:endParaRPr>
          </a:p>
        </p:txBody>
      </p:sp>
      <p:sp>
        <p:nvSpPr>
          <p:cNvPr id="35" name="Rectangle 34"/>
          <p:cNvSpPr/>
          <p:nvPr/>
        </p:nvSpPr>
        <p:spPr>
          <a:xfrm>
            <a:off x="0" y="1959124"/>
            <a:ext cx="3250499" cy="1169551"/>
          </a:xfrm>
          <a:prstGeom prst="rect">
            <a:avLst/>
          </a:prstGeom>
        </p:spPr>
        <p:txBody>
          <a:bodyPr wrap="square" lIns="0" rIns="0">
            <a:spAutoFit/>
          </a:bodyPr>
          <a:lstStyle/>
          <a:p>
            <a:pPr lvl="2">
              <a:lnSpc>
                <a:spcPct val="110000"/>
              </a:lnSpc>
              <a:spcBef>
                <a:spcPct val="20000"/>
              </a:spcBef>
              <a:buClr>
                <a:srgbClr val="0033CC"/>
              </a:buClr>
            </a:pPr>
            <a:r>
              <a:rPr kumimoji="1" lang="en-US" sz="1400" dirty="0" err="1">
                <a:latin typeface="Tahoma" pitchFamily="34" charset="0"/>
              </a:rPr>
              <a:t>abc</a:t>
            </a:r>
            <a:r>
              <a:rPr kumimoji="1" lang="en-US" sz="1400" dirty="0">
                <a:latin typeface="Tahoma" pitchFamily="34" charset="0"/>
              </a:rPr>
              <a:t> = 000 ---</a:t>
            </a:r>
            <a:r>
              <a:rPr kumimoji="1" lang="en-US" sz="1400" dirty="0">
                <a:latin typeface="Tahoma" pitchFamily="34" charset="0"/>
                <a:sym typeface="Wingdings" pitchFamily="2" charset="2"/>
              </a:rPr>
              <a:t> D0 =1                  </a:t>
            </a:r>
          </a:p>
          <a:p>
            <a:pPr lvl="2">
              <a:lnSpc>
                <a:spcPct val="110000"/>
              </a:lnSpc>
              <a:spcBef>
                <a:spcPct val="20000"/>
              </a:spcBef>
              <a:buClr>
                <a:srgbClr val="0033CC"/>
              </a:buClr>
            </a:pPr>
            <a:r>
              <a:rPr kumimoji="1" lang="en-US" sz="1400" dirty="0" err="1">
                <a:latin typeface="Tahoma" pitchFamily="34" charset="0"/>
                <a:sym typeface="Wingdings" pitchFamily="2" charset="2"/>
              </a:rPr>
              <a:t>abc</a:t>
            </a:r>
            <a:r>
              <a:rPr kumimoji="1" lang="en-US" sz="1400" dirty="0">
                <a:latin typeface="Tahoma" pitchFamily="34" charset="0"/>
                <a:sym typeface="Wingdings" pitchFamily="2" charset="2"/>
              </a:rPr>
              <a:t> = 001 --- D1 </a:t>
            </a:r>
            <a:r>
              <a:rPr kumimoji="1" lang="en-US" sz="1400" dirty="0" smtClean="0">
                <a:latin typeface="Tahoma" pitchFamily="34" charset="0"/>
                <a:sym typeface="Wingdings" pitchFamily="2" charset="2"/>
              </a:rPr>
              <a:t>=1</a:t>
            </a:r>
            <a:endParaRPr kumimoji="1" lang="en-US" sz="1400" dirty="0">
              <a:latin typeface="Tahoma" pitchFamily="34" charset="0"/>
              <a:sym typeface="Wingdings" pitchFamily="2" charset="2"/>
            </a:endParaRPr>
          </a:p>
          <a:p>
            <a:pPr lvl="2">
              <a:lnSpc>
                <a:spcPct val="110000"/>
              </a:lnSpc>
              <a:spcBef>
                <a:spcPct val="20000"/>
              </a:spcBef>
              <a:buClr>
                <a:srgbClr val="0033CC"/>
              </a:buClr>
            </a:pPr>
            <a:r>
              <a:rPr kumimoji="1" lang="en-US" sz="1400" dirty="0" err="1">
                <a:latin typeface="Tahoma" pitchFamily="34" charset="0"/>
                <a:sym typeface="Wingdings" pitchFamily="2" charset="2"/>
              </a:rPr>
              <a:t>abc</a:t>
            </a:r>
            <a:r>
              <a:rPr kumimoji="1" lang="en-US" sz="1400" dirty="0">
                <a:latin typeface="Tahoma" pitchFamily="34" charset="0"/>
                <a:sym typeface="Wingdings" pitchFamily="2" charset="2"/>
              </a:rPr>
              <a:t> = 010 --- D2= 1</a:t>
            </a:r>
          </a:p>
          <a:p>
            <a:pPr lvl="2">
              <a:lnSpc>
                <a:spcPct val="110000"/>
              </a:lnSpc>
              <a:spcBef>
                <a:spcPct val="20000"/>
              </a:spcBef>
              <a:buClr>
                <a:srgbClr val="0033CC"/>
              </a:buClr>
            </a:pPr>
            <a:r>
              <a:rPr kumimoji="1" lang="en-US" sz="1400" dirty="0" err="1">
                <a:latin typeface="Tahoma" pitchFamily="34" charset="0"/>
                <a:sym typeface="Wingdings" pitchFamily="2" charset="2"/>
              </a:rPr>
              <a:t>abc</a:t>
            </a:r>
            <a:r>
              <a:rPr kumimoji="1" lang="en-US" sz="1400" dirty="0">
                <a:latin typeface="Tahoma" pitchFamily="34" charset="0"/>
                <a:sym typeface="Wingdings" pitchFamily="2" charset="2"/>
              </a:rPr>
              <a:t> = 011 --- D3= 1</a:t>
            </a:r>
          </a:p>
        </p:txBody>
      </p:sp>
    </p:spTree>
    <p:extLst>
      <p:ext uri="{BB962C8B-B14F-4D97-AF65-F5344CB8AC3E}">
        <p14:creationId xmlns:p14="http://schemas.microsoft.com/office/powerpoint/2010/main" val="575544534"/>
      </p:ext>
    </p:extLst>
  </p:cSld>
  <p:clrMapOvr>
    <a:masterClrMapping/>
  </p:clrMapOvr>
  <p:transition xmlns:p14="http://schemas.microsoft.com/office/powerpoint/2010/main" spd="slow"/>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1"/>
          </p:nvPr>
        </p:nvSpPr>
        <p:spPr>
          <a:xfrm>
            <a:off x="381000" y="990600"/>
            <a:ext cx="8636000" cy="5057775"/>
          </a:xfrm>
        </p:spPr>
        <p:txBody>
          <a:bodyPr/>
          <a:lstStyle/>
          <a:p>
            <a:r>
              <a:rPr lang="en-US" sz="1800" dirty="0" smtClean="0"/>
              <a:t>Derive </a:t>
            </a:r>
            <a:r>
              <a:rPr lang="en-US" sz="1800" dirty="0"/>
              <a:t>a Boolean equation for each </a:t>
            </a:r>
            <a:r>
              <a:rPr lang="en-US" sz="1800" dirty="0" smtClean="0"/>
              <a:t>output; </a:t>
            </a:r>
          </a:p>
          <a:p>
            <a:r>
              <a:rPr lang="en-US" sz="1800" dirty="0" smtClean="0"/>
              <a:t>Attempt KMap reduction</a:t>
            </a:r>
          </a:p>
          <a:p>
            <a:pPr lvl="1"/>
            <a:r>
              <a:rPr lang="en-US" sz="1600" dirty="0" smtClean="0"/>
              <a:t>Per output, so 8 maps</a:t>
            </a:r>
            <a:endParaRPr lang="en-US" sz="1600" dirty="0"/>
          </a:p>
          <a:p>
            <a:pPr marL="0" indent="0">
              <a:buNone/>
            </a:pPr>
            <a:endParaRPr lang="en-US" sz="1800" dirty="0"/>
          </a:p>
          <a:p>
            <a:pPr marL="457200" lvl="1" indent="0">
              <a:buNone/>
            </a:pPr>
            <a:endParaRPr lang="en-US" sz="1800" dirty="0"/>
          </a:p>
          <a:p>
            <a:pPr marL="457200" lvl="1" indent="0">
              <a:buNone/>
            </a:pPr>
            <a:endParaRPr lang="en-US" sz="1800" dirty="0" smtClean="0"/>
          </a:p>
          <a:p>
            <a:pPr>
              <a:buFont typeface="+mj-lt"/>
              <a:buAutoNum type="arabicPeriod" startAt="3"/>
            </a:pPr>
            <a:endParaRPr lang="en-US" sz="1800" dirty="0" smtClean="0"/>
          </a:p>
        </p:txBody>
      </p:sp>
      <p:graphicFrame>
        <p:nvGraphicFramePr>
          <p:cNvPr id="3" name="Table 2"/>
          <p:cNvGraphicFramePr>
            <a:graphicFrameLocks noGrp="1"/>
          </p:cNvGraphicFramePr>
          <p:nvPr>
            <p:extLst>
              <p:ext uri="{D42A27DB-BD31-4B8C-83A1-F6EECF244321}">
                <p14:modId xmlns:p14="http://schemas.microsoft.com/office/powerpoint/2010/main" val="312419127"/>
              </p:ext>
            </p:extLst>
          </p:nvPr>
        </p:nvGraphicFramePr>
        <p:xfrm>
          <a:off x="3250501" y="1752600"/>
          <a:ext cx="5360091" cy="4017163"/>
        </p:xfrm>
        <a:graphic>
          <a:graphicData uri="http://schemas.openxmlformats.org/drawingml/2006/table">
            <a:tbl>
              <a:tblPr firstRow="1" bandRow="1">
                <a:tableStyleId>{5C22544A-7EE6-4342-B048-85BDC9FD1C3A}</a:tableStyleId>
              </a:tblPr>
              <a:tblGrid>
                <a:gridCol w="487281"/>
                <a:gridCol w="487281"/>
                <a:gridCol w="487281"/>
                <a:gridCol w="487281"/>
                <a:gridCol w="487281"/>
                <a:gridCol w="487281"/>
                <a:gridCol w="487281"/>
                <a:gridCol w="487281"/>
                <a:gridCol w="487281"/>
                <a:gridCol w="487281"/>
                <a:gridCol w="487281"/>
              </a:tblGrid>
              <a:tr h="621793">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D0</a:t>
                      </a:r>
                      <a:endParaRPr lang="en-US" dirty="0"/>
                    </a:p>
                  </a:txBody>
                  <a:tcPr>
                    <a:solidFill>
                      <a:schemeClr val="accent6">
                        <a:lumMod val="75000"/>
                      </a:schemeClr>
                    </a:solidFill>
                  </a:tcPr>
                </a:tc>
                <a:tc>
                  <a:txBody>
                    <a:bodyPr/>
                    <a:lstStyle/>
                    <a:p>
                      <a:r>
                        <a:rPr lang="en-US" dirty="0" smtClean="0"/>
                        <a:t>D1</a:t>
                      </a:r>
                      <a:endParaRPr lang="en-US" dirty="0"/>
                    </a:p>
                  </a:txBody>
                  <a:tcPr>
                    <a:solidFill>
                      <a:schemeClr val="accent6">
                        <a:lumMod val="75000"/>
                      </a:schemeClr>
                    </a:solidFill>
                  </a:tcPr>
                </a:tc>
                <a:tc>
                  <a:txBody>
                    <a:bodyPr/>
                    <a:lstStyle/>
                    <a:p>
                      <a:r>
                        <a:rPr lang="en-US" dirty="0" smtClean="0"/>
                        <a:t>D2</a:t>
                      </a:r>
                      <a:endParaRPr lang="en-US" dirty="0"/>
                    </a:p>
                  </a:txBody>
                  <a:tcPr>
                    <a:solidFill>
                      <a:schemeClr val="accent6">
                        <a:lumMod val="75000"/>
                      </a:schemeClr>
                    </a:solidFill>
                  </a:tcPr>
                </a:tc>
                <a:tc>
                  <a:txBody>
                    <a:bodyPr/>
                    <a:lstStyle/>
                    <a:p>
                      <a:r>
                        <a:rPr lang="en-US" dirty="0" smtClean="0"/>
                        <a:t>D3</a:t>
                      </a:r>
                      <a:endParaRPr lang="en-US" dirty="0"/>
                    </a:p>
                  </a:txBody>
                  <a:tcPr>
                    <a:solidFill>
                      <a:schemeClr val="accent6">
                        <a:lumMod val="75000"/>
                      </a:schemeClr>
                    </a:solidFill>
                  </a:tcPr>
                </a:tc>
                <a:tc>
                  <a:txBody>
                    <a:bodyPr/>
                    <a:lstStyle/>
                    <a:p>
                      <a:r>
                        <a:rPr lang="en-US" dirty="0" smtClean="0"/>
                        <a:t>D4</a:t>
                      </a:r>
                      <a:endParaRPr lang="en-US" dirty="0"/>
                    </a:p>
                  </a:txBody>
                  <a:tcPr>
                    <a:solidFill>
                      <a:schemeClr val="accent6">
                        <a:lumMod val="75000"/>
                      </a:schemeClr>
                    </a:solidFill>
                  </a:tcPr>
                </a:tc>
                <a:tc>
                  <a:txBody>
                    <a:bodyPr/>
                    <a:lstStyle/>
                    <a:p>
                      <a:r>
                        <a:rPr lang="en-US" dirty="0" smtClean="0"/>
                        <a:t>D5</a:t>
                      </a:r>
                      <a:endParaRPr lang="en-US" dirty="0"/>
                    </a:p>
                  </a:txBody>
                  <a:tcPr>
                    <a:solidFill>
                      <a:schemeClr val="accent6">
                        <a:lumMod val="75000"/>
                      </a:schemeClr>
                    </a:solidFill>
                  </a:tcPr>
                </a:tc>
                <a:tc>
                  <a:txBody>
                    <a:bodyPr/>
                    <a:lstStyle/>
                    <a:p>
                      <a:r>
                        <a:rPr lang="en-US" dirty="0" smtClean="0"/>
                        <a:t>D6</a:t>
                      </a:r>
                      <a:endParaRPr lang="en-US" dirty="0"/>
                    </a:p>
                  </a:txBody>
                  <a:tcPr>
                    <a:solidFill>
                      <a:schemeClr val="accent6">
                        <a:lumMod val="75000"/>
                      </a:schemeClr>
                    </a:solidFill>
                  </a:tcPr>
                </a:tc>
                <a:tc>
                  <a:txBody>
                    <a:bodyPr/>
                    <a:lstStyle/>
                    <a:p>
                      <a:r>
                        <a:rPr lang="en-US" dirty="0" smtClean="0"/>
                        <a:t>D7</a:t>
                      </a:r>
                      <a:endParaRPr lang="en-US" dirty="0"/>
                    </a:p>
                  </a:txBody>
                  <a:tcPr>
                    <a:solidFill>
                      <a:schemeClr val="accent6">
                        <a:lumMod val="75000"/>
                      </a:schemeClr>
                    </a:solidFill>
                  </a:tcPr>
                </a:tc>
              </a:tr>
              <a:tr h="46106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r>
              <a:tr h="46106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6106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1</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r>
              <a:tr h="40243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r>
            </a:tbl>
          </a:graphicData>
        </a:graphic>
      </p:graphicFrame>
      <p:sp>
        <p:nvSpPr>
          <p:cNvPr id="35" name="Rectangle 34"/>
          <p:cNvSpPr/>
          <p:nvPr/>
        </p:nvSpPr>
        <p:spPr>
          <a:xfrm>
            <a:off x="0" y="1959124"/>
            <a:ext cx="3250499" cy="2289858"/>
          </a:xfrm>
          <a:prstGeom prst="rect">
            <a:avLst/>
          </a:prstGeom>
        </p:spPr>
        <p:txBody>
          <a:bodyPr wrap="square" lIns="0" rIns="0">
            <a:spAutoFit/>
          </a:bodyPr>
          <a:lstStyle/>
          <a:p>
            <a:pPr lvl="2">
              <a:lnSpc>
                <a:spcPct val="110000"/>
              </a:lnSpc>
              <a:spcBef>
                <a:spcPct val="20000"/>
              </a:spcBef>
              <a:buClr>
                <a:srgbClr val="0033CC"/>
              </a:buClr>
            </a:pPr>
            <a:r>
              <a:rPr kumimoji="1" lang="en-US" sz="1400" dirty="0" smtClean="0">
                <a:latin typeface="Tahoma" pitchFamily="34" charset="0"/>
              </a:rPr>
              <a:t>D0 =  </a:t>
            </a:r>
          </a:p>
          <a:p>
            <a:pPr lvl="2">
              <a:lnSpc>
                <a:spcPct val="110000"/>
              </a:lnSpc>
              <a:spcBef>
                <a:spcPct val="20000"/>
              </a:spcBef>
              <a:buClr>
                <a:srgbClr val="0033CC"/>
              </a:buClr>
            </a:pPr>
            <a:r>
              <a:rPr kumimoji="1" lang="en-US" sz="1400" dirty="0" smtClean="0">
                <a:latin typeface="Tahoma" pitchFamily="34" charset="0"/>
                <a:sym typeface="Wingdings" pitchFamily="2" charset="2"/>
              </a:rPr>
              <a:t>D1 = </a:t>
            </a:r>
          </a:p>
          <a:p>
            <a:pPr lvl="2">
              <a:lnSpc>
                <a:spcPct val="110000"/>
              </a:lnSpc>
              <a:spcBef>
                <a:spcPct val="20000"/>
              </a:spcBef>
              <a:buClr>
                <a:srgbClr val="0033CC"/>
              </a:buClr>
            </a:pPr>
            <a:r>
              <a:rPr kumimoji="1" lang="en-US" sz="1400" dirty="0" smtClean="0">
                <a:latin typeface="Tahoma" pitchFamily="34" charset="0"/>
                <a:sym typeface="Wingdings" pitchFamily="2" charset="2"/>
              </a:rPr>
              <a:t>D2= </a:t>
            </a:r>
          </a:p>
          <a:p>
            <a:pPr lvl="2">
              <a:lnSpc>
                <a:spcPct val="110000"/>
              </a:lnSpc>
              <a:spcBef>
                <a:spcPct val="20000"/>
              </a:spcBef>
              <a:buClr>
                <a:srgbClr val="0033CC"/>
              </a:buClr>
            </a:pPr>
            <a:r>
              <a:rPr kumimoji="1" lang="en-US" sz="1400" dirty="0" smtClean="0">
                <a:latin typeface="Tahoma" pitchFamily="34" charset="0"/>
                <a:sym typeface="Wingdings" pitchFamily="2" charset="2"/>
              </a:rPr>
              <a:t>D3 =</a:t>
            </a:r>
          </a:p>
          <a:p>
            <a:pPr lvl="2">
              <a:lnSpc>
                <a:spcPct val="110000"/>
              </a:lnSpc>
              <a:spcBef>
                <a:spcPct val="20000"/>
              </a:spcBef>
              <a:buClr>
                <a:srgbClr val="0033CC"/>
              </a:buClr>
            </a:pPr>
            <a:r>
              <a:rPr kumimoji="1" lang="en-US" sz="1400" dirty="0" smtClean="0">
                <a:latin typeface="Tahoma" pitchFamily="34" charset="0"/>
                <a:sym typeface="Wingdings" pitchFamily="2" charset="2"/>
              </a:rPr>
              <a:t>D4 = </a:t>
            </a:r>
          </a:p>
          <a:p>
            <a:pPr lvl="2">
              <a:lnSpc>
                <a:spcPct val="110000"/>
              </a:lnSpc>
              <a:spcBef>
                <a:spcPct val="20000"/>
              </a:spcBef>
              <a:buClr>
                <a:srgbClr val="0033CC"/>
              </a:buClr>
            </a:pPr>
            <a:r>
              <a:rPr kumimoji="1" lang="en-US" sz="1400" dirty="0" smtClean="0">
                <a:latin typeface="Tahoma" pitchFamily="34" charset="0"/>
                <a:sym typeface="Wingdings" pitchFamily="2" charset="2"/>
              </a:rPr>
              <a:t>D5 = </a:t>
            </a:r>
          </a:p>
          <a:p>
            <a:pPr lvl="2">
              <a:lnSpc>
                <a:spcPct val="110000"/>
              </a:lnSpc>
              <a:spcBef>
                <a:spcPct val="20000"/>
              </a:spcBef>
              <a:buClr>
                <a:srgbClr val="0033CC"/>
              </a:buClr>
            </a:pPr>
            <a:r>
              <a:rPr kumimoji="1" lang="en-US" sz="1400" dirty="0" smtClean="0">
                <a:latin typeface="Tahoma" pitchFamily="34" charset="0"/>
                <a:sym typeface="Wingdings" pitchFamily="2" charset="2"/>
              </a:rPr>
              <a:t>D6 = </a:t>
            </a:r>
          </a:p>
          <a:p>
            <a:pPr lvl="2">
              <a:lnSpc>
                <a:spcPct val="110000"/>
              </a:lnSpc>
              <a:spcBef>
                <a:spcPct val="20000"/>
              </a:spcBef>
              <a:buClr>
                <a:srgbClr val="0033CC"/>
              </a:buClr>
            </a:pPr>
            <a:r>
              <a:rPr kumimoji="1" lang="en-US" sz="1400" dirty="0" smtClean="0">
                <a:latin typeface="Tahoma" pitchFamily="34" charset="0"/>
                <a:sym typeface="Wingdings" pitchFamily="2" charset="2"/>
              </a:rPr>
              <a:t>D7 = </a:t>
            </a:r>
            <a:endParaRPr kumimoji="1" lang="en-US" sz="1400" dirty="0">
              <a:latin typeface="Tahoma" pitchFamily="34" charset="0"/>
              <a:sym typeface="Wingdings" pitchFamily="2" charset="2"/>
            </a:endParaRPr>
          </a:p>
        </p:txBody>
      </p:sp>
      <p:sp>
        <p:nvSpPr>
          <p:cNvPr id="7" name="Rectangle 2"/>
          <p:cNvSpPr txBox="1">
            <a:spLocks noChangeArrowheads="1"/>
          </p:cNvSpPr>
          <p:nvPr/>
        </p:nvSpPr>
        <p:spPr>
          <a:xfrm>
            <a:off x="609600" y="-76200"/>
            <a:ext cx="76200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n-US" dirty="0" smtClean="0"/>
              <a:t>Designing a 3 x 8 Line Decoder</a:t>
            </a:r>
          </a:p>
        </p:txBody>
      </p:sp>
    </p:spTree>
    <p:extLst>
      <p:ext uri="{BB962C8B-B14F-4D97-AF65-F5344CB8AC3E}">
        <p14:creationId xmlns:p14="http://schemas.microsoft.com/office/powerpoint/2010/main" val="446330590"/>
      </p:ext>
    </p:extLst>
  </p:cSld>
  <p:clrMapOvr>
    <a:masterClrMapping/>
  </p:clrMapOvr>
  <p:transition xmlns:p14="http://schemas.microsoft.com/office/powerpoint/2010/main" spd="slow"/>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1"/>
          </p:nvPr>
        </p:nvSpPr>
        <p:spPr>
          <a:xfrm>
            <a:off x="381000" y="1295400"/>
            <a:ext cx="8636000" cy="5057775"/>
          </a:xfrm>
        </p:spPr>
        <p:txBody>
          <a:bodyPr/>
          <a:lstStyle/>
          <a:p>
            <a:pPr>
              <a:buFont typeface="+mj-lt"/>
              <a:buAutoNum type="arabicPeriod" startAt="3"/>
            </a:pPr>
            <a:r>
              <a:rPr lang="en-US" sz="1800" dirty="0" smtClean="0"/>
              <a:t>Derive </a:t>
            </a:r>
            <a:r>
              <a:rPr lang="en-US" sz="1800" dirty="0"/>
              <a:t>a Boolean equation for each output</a:t>
            </a:r>
          </a:p>
          <a:p>
            <a:pPr marL="0" indent="0">
              <a:buNone/>
            </a:pPr>
            <a:endParaRPr lang="en-US" sz="1800" dirty="0"/>
          </a:p>
          <a:p>
            <a:pPr marL="457200" lvl="1" indent="0">
              <a:buNone/>
            </a:pPr>
            <a:endParaRPr lang="en-US" sz="1800" dirty="0"/>
          </a:p>
          <a:p>
            <a:pPr marL="457200" lvl="1" indent="0">
              <a:buNone/>
            </a:pPr>
            <a:endParaRPr lang="en-US" sz="1800" dirty="0" smtClean="0"/>
          </a:p>
          <a:p>
            <a:pPr>
              <a:buFont typeface="+mj-lt"/>
              <a:buAutoNum type="arabicPeriod" startAt="3"/>
            </a:pPr>
            <a:endParaRPr lang="en-US" sz="1800" dirty="0" smtClean="0"/>
          </a:p>
        </p:txBody>
      </p:sp>
      <p:graphicFrame>
        <p:nvGraphicFramePr>
          <p:cNvPr id="3" name="Table 2"/>
          <p:cNvGraphicFramePr>
            <a:graphicFrameLocks noGrp="1"/>
          </p:cNvGraphicFramePr>
          <p:nvPr>
            <p:extLst>
              <p:ext uri="{D42A27DB-BD31-4B8C-83A1-F6EECF244321}">
                <p14:modId xmlns:p14="http://schemas.microsoft.com/office/powerpoint/2010/main" val="887092970"/>
              </p:ext>
            </p:extLst>
          </p:nvPr>
        </p:nvGraphicFramePr>
        <p:xfrm>
          <a:off x="5638800" y="1690293"/>
          <a:ext cx="1949124" cy="4017163"/>
        </p:xfrm>
        <a:graphic>
          <a:graphicData uri="http://schemas.openxmlformats.org/drawingml/2006/table">
            <a:tbl>
              <a:tblPr firstRow="1" bandRow="1">
                <a:tableStyleId>{5C22544A-7EE6-4342-B048-85BDC9FD1C3A}</a:tableStyleId>
              </a:tblPr>
              <a:tblGrid>
                <a:gridCol w="487281"/>
                <a:gridCol w="487281"/>
                <a:gridCol w="487281"/>
                <a:gridCol w="487281"/>
              </a:tblGrid>
              <a:tr h="621793">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D0</a:t>
                      </a:r>
                      <a:endParaRPr lang="en-US" dirty="0"/>
                    </a:p>
                  </a:txBody>
                  <a:tcPr>
                    <a:solidFill>
                      <a:schemeClr val="accent6">
                        <a:lumMod val="75000"/>
                      </a:schemeClr>
                    </a:solidFill>
                  </a:tcPr>
                </a:tc>
              </a:tr>
              <a:tr h="46106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solidFill>
                      <a:schemeClr val="accent2">
                        <a:lumMod val="40000"/>
                        <a:lumOff val="60000"/>
                      </a:schemeClr>
                    </a:solidFill>
                  </a:tcPr>
                </a:tc>
              </a:tr>
              <a:tr h="46106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r>
              <a:tr h="46106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40000"/>
                        <a:lumOff val="60000"/>
                      </a:schemeClr>
                    </a:solidFill>
                  </a:tcPr>
                </a:tc>
              </a:tr>
              <a:tr h="40243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r>
            </a:tbl>
          </a:graphicData>
        </a:graphic>
      </p:graphicFrame>
      <p:sp>
        <p:nvSpPr>
          <p:cNvPr id="35" name="Rectangle 34"/>
          <p:cNvSpPr/>
          <p:nvPr/>
        </p:nvSpPr>
        <p:spPr>
          <a:xfrm>
            <a:off x="79218" y="3962400"/>
            <a:ext cx="5105400" cy="2142125"/>
          </a:xfrm>
          <a:prstGeom prst="rect">
            <a:avLst/>
          </a:prstGeom>
        </p:spPr>
        <p:txBody>
          <a:bodyPr wrap="square" lIns="0" rIns="0">
            <a:spAutoFit/>
          </a:bodyPr>
          <a:lstStyle/>
          <a:p>
            <a:pPr lvl="2">
              <a:lnSpc>
                <a:spcPct val="110000"/>
              </a:lnSpc>
              <a:spcBef>
                <a:spcPct val="20000"/>
              </a:spcBef>
              <a:buClr>
                <a:srgbClr val="0033CC"/>
              </a:buClr>
            </a:pPr>
            <a:r>
              <a:rPr kumimoji="1" lang="en-US" sz="1800" dirty="0" smtClean="0">
                <a:latin typeface="Tahoma" pitchFamily="34" charset="0"/>
              </a:rPr>
              <a:t>Focus only one output (D0) at a time </a:t>
            </a:r>
          </a:p>
          <a:p>
            <a:pPr marL="1257300" lvl="2" indent="-342900">
              <a:lnSpc>
                <a:spcPct val="110000"/>
              </a:lnSpc>
              <a:spcBef>
                <a:spcPct val="20000"/>
              </a:spcBef>
              <a:buClr>
                <a:srgbClr val="0033CC"/>
              </a:buClr>
              <a:buAutoNum type="arabicPeriod"/>
            </a:pPr>
            <a:r>
              <a:rPr kumimoji="1" lang="en-US" sz="1800" dirty="0" smtClean="0">
                <a:latin typeface="Tahoma" pitchFamily="34" charset="0"/>
              </a:rPr>
              <a:t>Fill out the cells which have 1 only (others are zero)</a:t>
            </a:r>
          </a:p>
          <a:p>
            <a:pPr marL="1257300" lvl="2" indent="-342900">
              <a:lnSpc>
                <a:spcPct val="110000"/>
              </a:lnSpc>
              <a:spcBef>
                <a:spcPct val="20000"/>
              </a:spcBef>
              <a:buClr>
                <a:srgbClr val="0033CC"/>
              </a:buClr>
              <a:buAutoNum type="arabicPeriod"/>
            </a:pPr>
            <a:r>
              <a:rPr kumimoji="1" lang="en-US" sz="1800" dirty="0" smtClean="0">
                <a:latin typeface="Tahoma" pitchFamily="34" charset="0"/>
              </a:rPr>
              <a:t>Read the cell with 1: D0 = a   b   c</a:t>
            </a:r>
          </a:p>
          <a:p>
            <a:pPr lvl="2">
              <a:lnSpc>
                <a:spcPct val="110000"/>
              </a:lnSpc>
              <a:spcBef>
                <a:spcPct val="20000"/>
              </a:spcBef>
              <a:buClr>
                <a:srgbClr val="0033CC"/>
              </a:buClr>
            </a:pPr>
            <a:r>
              <a:rPr kumimoji="1" lang="en-US" sz="1800" dirty="0" smtClean="0">
                <a:latin typeface="Tahoma" pitchFamily="34" charset="0"/>
              </a:rPr>
              <a:t>Note: </a:t>
            </a:r>
            <a:r>
              <a:rPr kumimoji="1" lang="en-US" sz="1800" dirty="0" err="1" smtClean="0">
                <a:latin typeface="Tahoma" pitchFamily="34" charset="0"/>
              </a:rPr>
              <a:t>ab</a:t>
            </a:r>
            <a:r>
              <a:rPr kumimoji="1" lang="en-US" sz="1800" dirty="0" smtClean="0">
                <a:latin typeface="Tahoma" pitchFamily="34" charset="0"/>
              </a:rPr>
              <a:t>  is not equal to a  b </a:t>
            </a:r>
          </a:p>
          <a:p>
            <a:pPr lvl="2">
              <a:lnSpc>
                <a:spcPct val="110000"/>
              </a:lnSpc>
              <a:spcBef>
                <a:spcPct val="20000"/>
              </a:spcBef>
              <a:buClr>
                <a:srgbClr val="0033CC"/>
              </a:buClr>
            </a:pPr>
            <a:r>
              <a:rPr kumimoji="1" lang="en-US" sz="1800" dirty="0" smtClean="0">
                <a:latin typeface="Tahoma" pitchFamily="34" charset="0"/>
              </a:rPr>
              <a:t>     </a:t>
            </a:r>
            <a:r>
              <a:rPr kumimoji="1" lang="en-US" sz="1800" dirty="0" err="1" smtClean="0">
                <a:latin typeface="Tahoma" pitchFamily="34" charset="0"/>
              </a:rPr>
              <a:t>ab</a:t>
            </a:r>
            <a:r>
              <a:rPr kumimoji="1" lang="en-US" sz="1800" dirty="0" smtClean="0">
                <a:latin typeface="Tahoma" pitchFamily="34" charset="0"/>
              </a:rPr>
              <a:t>     = a + b</a:t>
            </a:r>
          </a:p>
        </p:txBody>
      </p:sp>
      <p:grpSp>
        <p:nvGrpSpPr>
          <p:cNvPr id="6" name="Group 12"/>
          <p:cNvGrpSpPr>
            <a:grpSpLocks/>
          </p:cNvGrpSpPr>
          <p:nvPr/>
        </p:nvGrpSpPr>
        <p:grpSpPr bwMode="auto">
          <a:xfrm>
            <a:off x="1565911" y="2898140"/>
            <a:ext cx="1708150" cy="836612"/>
            <a:chOff x="749" y="1126"/>
            <a:chExt cx="1076" cy="527"/>
          </a:xfrm>
        </p:grpSpPr>
        <p:sp>
          <p:nvSpPr>
            <p:cNvPr id="7" name="Rectangle 3"/>
            <p:cNvSpPr>
              <a:spLocks noChangeArrowheads="1"/>
            </p:cNvSpPr>
            <p:nvPr/>
          </p:nvSpPr>
          <p:spPr bwMode="auto">
            <a:xfrm>
              <a:off x="749" y="1126"/>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8" name="Rectangle 5"/>
            <p:cNvSpPr>
              <a:spLocks noChangeArrowheads="1"/>
            </p:cNvSpPr>
            <p:nvPr/>
          </p:nvSpPr>
          <p:spPr bwMode="auto">
            <a:xfrm>
              <a:off x="1019" y="1126"/>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9" name="Rectangle 6"/>
            <p:cNvSpPr>
              <a:spLocks noChangeArrowheads="1"/>
            </p:cNvSpPr>
            <p:nvPr/>
          </p:nvSpPr>
          <p:spPr bwMode="auto">
            <a:xfrm>
              <a:off x="1286" y="1126"/>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10" name="Rectangle 7"/>
            <p:cNvSpPr>
              <a:spLocks noChangeArrowheads="1"/>
            </p:cNvSpPr>
            <p:nvPr/>
          </p:nvSpPr>
          <p:spPr bwMode="auto">
            <a:xfrm>
              <a:off x="1556" y="1126"/>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11" name="Rectangle 8"/>
            <p:cNvSpPr>
              <a:spLocks noChangeArrowheads="1"/>
            </p:cNvSpPr>
            <p:nvPr/>
          </p:nvSpPr>
          <p:spPr bwMode="auto">
            <a:xfrm>
              <a:off x="749" y="1390"/>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12" name="Rectangle 9"/>
            <p:cNvSpPr>
              <a:spLocks noChangeArrowheads="1"/>
            </p:cNvSpPr>
            <p:nvPr/>
          </p:nvSpPr>
          <p:spPr bwMode="auto">
            <a:xfrm>
              <a:off x="1019" y="1390"/>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13" name="Rectangle 10"/>
            <p:cNvSpPr>
              <a:spLocks noChangeArrowheads="1"/>
            </p:cNvSpPr>
            <p:nvPr/>
          </p:nvSpPr>
          <p:spPr bwMode="auto">
            <a:xfrm>
              <a:off x="1286" y="1390"/>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14" name="Rectangle 11"/>
            <p:cNvSpPr>
              <a:spLocks noChangeArrowheads="1"/>
            </p:cNvSpPr>
            <p:nvPr/>
          </p:nvSpPr>
          <p:spPr bwMode="auto">
            <a:xfrm>
              <a:off x="1556" y="1390"/>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sp>
        <p:nvSpPr>
          <p:cNvPr id="15" name="Text Box 14"/>
          <p:cNvSpPr txBox="1">
            <a:spLocks noChangeArrowheads="1"/>
          </p:cNvSpPr>
          <p:nvPr/>
        </p:nvSpPr>
        <p:spPr bwMode="auto">
          <a:xfrm>
            <a:off x="1529399" y="2591852"/>
            <a:ext cx="19623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r>
              <a:rPr lang="en-US" sz="1400" b="1" dirty="0" smtClean="0"/>
              <a:t>a  b   a b    </a:t>
            </a:r>
            <a:r>
              <a:rPr lang="en-US" sz="1400" b="1" dirty="0" err="1" smtClean="0"/>
              <a:t>ab</a:t>
            </a:r>
            <a:r>
              <a:rPr lang="en-US" sz="1400" b="1" dirty="0" smtClean="0"/>
              <a:t>    a  b   </a:t>
            </a:r>
            <a:endParaRPr lang="en-US" sz="1400" b="1" dirty="0"/>
          </a:p>
        </p:txBody>
      </p:sp>
      <p:sp>
        <p:nvSpPr>
          <p:cNvPr id="16" name="Line 15"/>
          <p:cNvSpPr>
            <a:spLocks noChangeShapeType="1"/>
          </p:cNvSpPr>
          <p:nvPr/>
        </p:nvSpPr>
        <p:spPr bwMode="auto">
          <a:xfrm>
            <a:off x="1249999" y="2960052"/>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7" name="Line 16"/>
          <p:cNvSpPr>
            <a:spLocks noChangeShapeType="1"/>
          </p:cNvSpPr>
          <p:nvPr/>
        </p:nvSpPr>
        <p:spPr bwMode="auto">
          <a:xfrm>
            <a:off x="2918461" y="2660015"/>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 name="Line 17"/>
          <p:cNvSpPr>
            <a:spLocks noChangeShapeType="1"/>
          </p:cNvSpPr>
          <p:nvPr/>
        </p:nvSpPr>
        <p:spPr bwMode="auto">
          <a:xfrm>
            <a:off x="2197100" y="2641600"/>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 name="Line 18"/>
          <p:cNvSpPr>
            <a:spLocks noChangeShapeType="1"/>
          </p:cNvSpPr>
          <p:nvPr/>
        </p:nvSpPr>
        <p:spPr bwMode="auto">
          <a:xfrm>
            <a:off x="1777049" y="2645727"/>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0" name="Line 19"/>
          <p:cNvSpPr>
            <a:spLocks noChangeShapeType="1"/>
          </p:cNvSpPr>
          <p:nvPr/>
        </p:nvSpPr>
        <p:spPr bwMode="auto">
          <a:xfrm>
            <a:off x="1596074" y="2644140"/>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1" name="Text Box 20"/>
          <p:cNvSpPr txBox="1">
            <a:spLocks noChangeArrowheads="1"/>
          </p:cNvSpPr>
          <p:nvPr/>
        </p:nvSpPr>
        <p:spPr bwMode="auto">
          <a:xfrm>
            <a:off x="1180204" y="2935208"/>
            <a:ext cx="28405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algn="ctr" eaLnBrk="1" hangingPunct="1"/>
            <a:r>
              <a:rPr lang="en-US" sz="1400" b="1" dirty="0"/>
              <a:t>c</a:t>
            </a:r>
          </a:p>
          <a:p>
            <a:pPr algn="ctr" eaLnBrk="1" hangingPunct="1"/>
            <a:endParaRPr lang="en-US" sz="1400" b="1" dirty="0"/>
          </a:p>
          <a:p>
            <a:pPr algn="ctr" eaLnBrk="1" hangingPunct="1"/>
            <a:r>
              <a:rPr lang="en-US" sz="1400" b="1" dirty="0"/>
              <a:t>c</a:t>
            </a:r>
          </a:p>
        </p:txBody>
      </p:sp>
      <p:sp>
        <p:nvSpPr>
          <p:cNvPr id="2" name="Rectangle 1"/>
          <p:cNvSpPr/>
          <p:nvPr/>
        </p:nvSpPr>
        <p:spPr>
          <a:xfrm>
            <a:off x="1659823" y="2968396"/>
            <a:ext cx="269626" cy="276999"/>
          </a:xfrm>
          <a:prstGeom prst="rect">
            <a:avLst/>
          </a:prstGeom>
        </p:spPr>
        <p:txBody>
          <a:bodyPr wrap="none">
            <a:spAutoFit/>
          </a:bodyPr>
          <a:lstStyle/>
          <a:p>
            <a:r>
              <a:rPr lang="en-US" dirty="0"/>
              <a:t>1</a:t>
            </a:r>
          </a:p>
        </p:txBody>
      </p:sp>
      <p:sp>
        <p:nvSpPr>
          <p:cNvPr id="23" name="Line 19"/>
          <p:cNvSpPr>
            <a:spLocks noChangeShapeType="1"/>
          </p:cNvSpPr>
          <p:nvPr/>
        </p:nvSpPr>
        <p:spPr bwMode="auto">
          <a:xfrm>
            <a:off x="1529399" y="5410652"/>
            <a:ext cx="400049" cy="335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sp>
        <p:nvSpPr>
          <p:cNvPr id="24" name="Line 19"/>
          <p:cNvSpPr>
            <a:spLocks noChangeShapeType="1"/>
          </p:cNvSpPr>
          <p:nvPr/>
        </p:nvSpPr>
        <p:spPr bwMode="auto">
          <a:xfrm>
            <a:off x="4038600" y="5033462"/>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5" name="Line 19"/>
          <p:cNvSpPr>
            <a:spLocks noChangeShapeType="1"/>
          </p:cNvSpPr>
          <p:nvPr/>
        </p:nvSpPr>
        <p:spPr bwMode="auto">
          <a:xfrm>
            <a:off x="4419600" y="5033462"/>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6" name="Line 19"/>
          <p:cNvSpPr>
            <a:spLocks noChangeShapeType="1"/>
          </p:cNvSpPr>
          <p:nvPr/>
        </p:nvSpPr>
        <p:spPr bwMode="auto">
          <a:xfrm>
            <a:off x="4724400" y="5033462"/>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7" name="Line 19"/>
          <p:cNvSpPr>
            <a:spLocks noChangeShapeType="1"/>
          </p:cNvSpPr>
          <p:nvPr/>
        </p:nvSpPr>
        <p:spPr bwMode="auto">
          <a:xfrm>
            <a:off x="3491796" y="5414010"/>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8" name="Line 19"/>
          <p:cNvSpPr>
            <a:spLocks noChangeShapeType="1"/>
          </p:cNvSpPr>
          <p:nvPr/>
        </p:nvSpPr>
        <p:spPr bwMode="auto">
          <a:xfrm>
            <a:off x="3733800" y="5410652"/>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9" name="Line 19"/>
          <p:cNvSpPr>
            <a:spLocks noChangeShapeType="1"/>
          </p:cNvSpPr>
          <p:nvPr/>
        </p:nvSpPr>
        <p:spPr bwMode="auto">
          <a:xfrm>
            <a:off x="1320009" y="5715000"/>
            <a:ext cx="400049" cy="335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sp>
        <p:nvSpPr>
          <p:cNvPr id="30" name="Line 19"/>
          <p:cNvSpPr>
            <a:spLocks noChangeShapeType="1"/>
          </p:cNvSpPr>
          <p:nvPr/>
        </p:nvSpPr>
        <p:spPr bwMode="auto">
          <a:xfrm>
            <a:off x="2183064" y="5729788"/>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1" name="Line 19"/>
          <p:cNvSpPr>
            <a:spLocks noChangeShapeType="1"/>
          </p:cNvSpPr>
          <p:nvPr/>
        </p:nvSpPr>
        <p:spPr bwMode="auto">
          <a:xfrm>
            <a:off x="2555718" y="5729788"/>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2" name="Text Box 21"/>
          <p:cNvSpPr txBox="1">
            <a:spLocks noChangeArrowheads="1"/>
          </p:cNvSpPr>
          <p:nvPr/>
        </p:nvSpPr>
        <p:spPr bwMode="auto">
          <a:xfrm>
            <a:off x="1276350" y="1981200"/>
            <a:ext cx="24574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algn="ctr" eaLnBrk="1" hangingPunct="1"/>
            <a:r>
              <a:rPr lang="en-US" sz="1400" b="1" dirty="0"/>
              <a:t>K-Map for 3 input variables</a:t>
            </a:r>
          </a:p>
        </p:txBody>
      </p:sp>
      <p:sp>
        <p:nvSpPr>
          <p:cNvPr id="34" name="Rectangle 2"/>
          <p:cNvSpPr>
            <a:spLocks noGrp="1" noChangeArrowheads="1"/>
          </p:cNvSpPr>
          <p:nvPr>
            <p:ph type="title"/>
          </p:nvPr>
        </p:nvSpPr>
        <p:spPr>
          <a:xfrm>
            <a:off x="457200" y="274638"/>
            <a:ext cx="7620000" cy="1143000"/>
          </a:xfrm>
        </p:spPr>
        <p:txBody>
          <a:bodyPr/>
          <a:lstStyle/>
          <a:p>
            <a:r>
              <a:rPr lang="en-US" dirty="0" smtClean="0"/>
              <a:t>Designing a 3 x 8 Line </a:t>
            </a:r>
            <a:r>
              <a:rPr lang="en-US" dirty="0"/>
              <a:t>D</a:t>
            </a:r>
            <a:r>
              <a:rPr lang="en-US" dirty="0" smtClean="0"/>
              <a:t>ecoder</a:t>
            </a:r>
          </a:p>
        </p:txBody>
      </p:sp>
    </p:spTree>
    <p:extLst>
      <p:ext uri="{BB962C8B-B14F-4D97-AF65-F5344CB8AC3E}">
        <p14:creationId xmlns:p14="http://schemas.microsoft.com/office/powerpoint/2010/main" val="4209042048"/>
      </p:ext>
    </p:extLst>
  </p:cSld>
  <p:clrMapOvr>
    <a:masterClrMapping/>
  </p:clrMapOvr>
  <p:transition xmlns:p14="http://schemas.microsoft.com/office/powerpoint/2010/main" spd="slow"/>
  <p:timing>
    <p:tnLst>
      <p:par>
        <p:cTn xmlns:p14="http://schemas.microsoft.com/office/powerpoint/2010/mai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1"/>
          </p:nvPr>
        </p:nvSpPr>
        <p:spPr>
          <a:xfrm>
            <a:off x="381000" y="1295400"/>
            <a:ext cx="8636000" cy="5057775"/>
          </a:xfrm>
        </p:spPr>
        <p:txBody>
          <a:bodyPr/>
          <a:lstStyle/>
          <a:p>
            <a:r>
              <a:rPr lang="en-US" sz="1800" dirty="0" smtClean="0"/>
              <a:t>Do it for each output</a:t>
            </a:r>
            <a:endParaRPr lang="en-US" sz="1800" dirty="0"/>
          </a:p>
          <a:p>
            <a:pPr marL="457200" lvl="1" indent="0">
              <a:buNone/>
            </a:pPr>
            <a:endParaRPr lang="en-US" sz="1800" dirty="0"/>
          </a:p>
          <a:p>
            <a:pPr marL="457200" lvl="1" indent="0">
              <a:buNone/>
            </a:pPr>
            <a:endParaRPr lang="en-US" sz="1800" dirty="0" smtClean="0"/>
          </a:p>
          <a:p>
            <a:pPr>
              <a:buFont typeface="+mj-lt"/>
              <a:buAutoNum type="arabicPeriod" startAt="3"/>
            </a:pPr>
            <a:endParaRPr lang="en-US" sz="1800" dirty="0" smtClean="0"/>
          </a:p>
        </p:txBody>
      </p:sp>
      <p:graphicFrame>
        <p:nvGraphicFramePr>
          <p:cNvPr id="3" name="Table 2"/>
          <p:cNvGraphicFramePr>
            <a:graphicFrameLocks noGrp="1"/>
          </p:cNvGraphicFramePr>
          <p:nvPr>
            <p:extLst>
              <p:ext uri="{D42A27DB-BD31-4B8C-83A1-F6EECF244321}">
                <p14:modId xmlns:p14="http://schemas.microsoft.com/office/powerpoint/2010/main" val="3212505237"/>
              </p:ext>
            </p:extLst>
          </p:nvPr>
        </p:nvGraphicFramePr>
        <p:xfrm>
          <a:off x="5638800" y="1690293"/>
          <a:ext cx="1949124" cy="4017163"/>
        </p:xfrm>
        <a:graphic>
          <a:graphicData uri="http://schemas.openxmlformats.org/drawingml/2006/table">
            <a:tbl>
              <a:tblPr firstRow="1" bandRow="1">
                <a:tableStyleId>{5C22544A-7EE6-4342-B048-85BDC9FD1C3A}</a:tableStyleId>
              </a:tblPr>
              <a:tblGrid>
                <a:gridCol w="487281"/>
                <a:gridCol w="487281"/>
                <a:gridCol w="487281"/>
                <a:gridCol w="487281"/>
              </a:tblGrid>
              <a:tr h="621793">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D1</a:t>
                      </a:r>
                      <a:endParaRPr lang="en-US" dirty="0"/>
                    </a:p>
                  </a:txBody>
                  <a:tcPr>
                    <a:solidFill>
                      <a:schemeClr val="accent6">
                        <a:lumMod val="75000"/>
                      </a:schemeClr>
                    </a:solidFill>
                  </a:tcPr>
                </a:tc>
              </a:tr>
              <a:tr h="46106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40000"/>
                        <a:lumOff val="60000"/>
                      </a:schemeClr>
                    </a:solidFill>
                  </a:tcPr>
                </a:tc>
              </a:tr>
              <a:tr h="46106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solidFill>
                      <a:schemeClr val="accent2">
                        <a:lumMod val="20000"/>
                        <a:lumOff val="80000"/>
                      </a:schemeClr>
                    </a:solidFill>
                  </a:tcPr>
                </a:tc>
              </a:tr>
              <a:tr h="46106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40000"/>
                        <a:lumOff val="60000"/>
                      </a:schemeClr>
                    </a:solidFill>
                  </a:tcPr>
                </a:tc>
              </a:tr>
              <a:tr h="40243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r>
            </a:tbl>
          </a:graphicData>
        </a:graphic>
      </p:graphicFrame>
      <p:sp>
        <p:nvSpPr>
          <p:cNvPr id="35" name="Rectangle 34"/>
          <p:cNvSpPr/>
          <p:nvPr/>
        </p:nvSpPr>
        <p:spPr>
          <a:xfrm>
            <a:off x="79218" y="3962400"/>
            <a:ext cx="5105400" cy="752514"/>
          </a:xfrm>
          <a:prstGeom prst="rect">
            <a:avLst/>
          </a:prstGeom>
        </p:spPr>
        <p:txBody>
          <a:bodyPr wrap="square" lIns="0" rIns="0">
            <a:spAutoFit/>
          </a:bodyPr>
          <a:lstStyle/>
          <a:p>
            <a:pPr lvl="2">
              <a:lnSpc>
                <a:spcPct val="110000"/>
              </a:lnSpc>
              <a:spcBef>
                <a:spcPct val="20000"/>
              </a:spcBef>
              <a:buClr>
                <a:srgbClr val="0033CC"/>
              </a:buClr>
            </a:pPr>
            <a:r>
              <a:rPr kumimoji="1" lang="en-US" sz="1800" dirty="0" smtClean="0">
                <a:latin typeface="Tahoma" pitchFamily="34" charset="0"/>
              </a:rPr>
              <a:t>D1 = ~a ~b c </a:t>
            </a:r>
          </a:p>
          <a:p>
            <a:pPr lvl="2">
              <a:lnSpc>
                <a:spcPct val="110000"/>
              </a:lnSpc>
              <a:spcBef>
                <a:spcPct val="20000"/>
              </a:spcBef>
              <a:buClr>
                <a:srgbClr val="0033CC"/>
              </a:buClr>
            </a:pPr>
            <a:endParaRPr kumimoji="1" lang="en-US" sz="1800" dirty="0">
              <a:latin typeface="Tahoma" pitchFamily="34" charset="0"/>
            </a:endParaRPr>
          </a:p>
        </p:txBody>
      </p:sp>
      <p:grpSp>
        <p:nvGrpSpPr>
          <p:cNvPr id="6" name="Group 12"/>
          <p:cNvGrpSpPr>
            <a:grpSpLocks/>
          </p:cNvGrpSpPr>
          <p:nvPr/>
        </p:nvGrpSpPr>
        <p:grpSpPr bwMode="auto">
          <a:xfrm>
            <a:off x="1565911" y="2898140"/>
            <a:ext cx="1708150" cy="836612"/>
            <a:chOff x="749" y="1126"/>
            <a:chExt cx="1076" cy="527"/>
          </a:xfrm>
        </p:grpSpPr>
        <p:sp>
          <p:nvSpPr>
            <p:cNvPr id="7" name="Rectangle 3"/>
            <p:cNvSpPr>
              <a:spLocks noChangeArrowheads="1"/>
            </p:cNvSpPr>
            <p:nvPr/>
          </p:nvSpPr>
          <p:spPr bwMode="auto">
            <a:xfrm>
              <a:off x="749" y="1126"/>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8" name="Rectangle 5"/>
            <p:cNvSpPr>
              <a:spLocks noChangeArrowheads="1"/>
            </p:cNvSpPr>
            <p:nvPr/>
          </p:nvSpPr>
          <p:spPr bwMode="auto">
            <a:xfrm>
              <a:off x="1019" y="1126"/>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9" name="Rectangle 6"/>
            <p:cNvSpPr>
              <a:spLocks noChangeArrowheads="1"/>
            </p:cNvSpPr>
            <p:nvPr/>
          </p:nvSpPr>
          <p:spPr bwMode="auto">
            <a:xfrm>
              <a:off x="1286" y="1126"/>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10" name="Rectangle 7"/>
            <p:cNvSpPr>
              <a:spLocks noChangeArrowheads="1"/>
            </p:cNvSpPr>
            <p:nvPr/>
          </p:nvSpPr>
          <p:spPr bwMode="auto">
            <a:xfrm>
              <a:off x="1556" y="1126"/>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11" name="Rectangle 8"/>
            <p:cNvSpPr>
              <a:spLocks noChangeArrowheads="1"/>
            </p:cNvSpPr>
            <p:nvPr/>
          </p:nvSpPr>
          <p:spPr bwMode="auto">
            <a:xfrm>
              <a:off x="749" y="1390"/>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12" name="Rectangle 9"/>
            <p:cNvSpPr>
              <a:spLocks noChangeArrowheads="1"/>
            </p:cNvSpPr>
            <p:nvPr/>
          </p:nvSpPr>
          <p:spPr bwMode="auto">
            <a:xfrm>
              <a:off x="1019" y="1390"/>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13" name="Rectangle 10"/>
            <p:cNvSpPr>
              <a:spLocks noChangeArrowheads="1"/>
            </p:cNvSpPr>
            <p:nvPr/>
          </p:nvSpPr>
          <p:spPr bwMode="auto">
            <a:xfrm>
              <a:off x="1286" y="1390"/>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14" name="Rectangle 11"/>
            <p:cNvSpPr>
              <a:spLocks noChangeArrowheads="1"/>
            </p:cNvSpPr>
            <p:nvPr/>
          </p:nvSpPr>
          <p:spPr bwMode="auto">
            <a:xfrm>
              <a:off x="1556" y="1390"/>
              <a:ext cx="269" cy="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sp>
        <p:nvSpPr>
          <p:cNvPr id="15" name="Text Box 14"/>
          <p:cNvSpPr txBox="1">
            <a:spLocks noChangeArrowheads="1"/>
          </p:cNvSpPr>
          <p:nvPr/>
        </p:nvSpPr>
        <p:spPr bwMode="auto">
          <a:xfrm>
            <a:off x="1529399" y="2591852"/>
            <a:ext cx="19623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r>
              <a:rPr lang="en-US" sz="1400" b="1" dirty="0" smtClean="0"/>
              <a:t>a  b   a b    </a:t>
            </a:r>
            <a:r>
              <a:rPr lang="en-US" sz="1400" b="1" dirty="0" err="1" smtClean="0"/>
              <a:t>ab</a:t>
            </a:r>
            <a:r>
              <a:rPr lang="en-US" sz="1400" b="1" dirty="0" smtClean="0"/>
              <a:t>    a  b   </a:t>
            </a:r>
            <a:endParaRPr lang="en-US" sz="1400" b="1" dirty="0"/>
          </a:p>
        </p:txBody>
      </p:sp>
      <p:sp>
        <p:nvSpPr>
          <p:cNvPr id="16" name="Line 15"/>
          <p:cNvSpPr>
            <a:spLocks noChangeShapeType="1"/>
          </p:cNvSpPr>
          <p:nvPr/>
        </p:nvSpPr>
        <p:spPr bwMode="auto">
          <a:xfrm>
            <a:off x="1249999" y="2960052"/>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7" name="Line 16"/>
          <p:cNvSpPr>
            <a:spLocks noChangeShapeType="1"/>
          </p:cNvSpPr>
          <p:nvPr/>
        </p:nvSpPr>
        <p:spPr bwMode="auto">
          <a:xfrm>
            <a:off x="2918461" y="2634615"/>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 name="Line 17"/>
          <p:cNvSpPr>
            <a:spLocks noChangeShapeType="1"/>
          </p:cNvSpPr>
          <p:nvPr/>
        </p:nvSpPr>
        <p:spPr bwMode="auto">
          <a:xfrm>
            <a:off x="2209800" y="2625090"/>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 name="Line 18"/>
          <p:cNvSpPr>
            <a:spLocks noChangeShapeType="1"/>
          </p:cNvSpPr>
          <p:nvPr/>
        </p:nvSpPr>
        <p:spPr bwMode="auto">
          <a:xfrm>
            <a:off x="1777049" y="2645727"/>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0" name="Line 19"/>
          <p:cNvSpPr>
            <a:spLocks noChangeShapeType="1"/>
          </p:cNvSpPr>
          <p:nvPr/>
        </p:nvSpPr>
        <p:spPr bwMode="auto">
          <a:xfrm>
            <a:off x="1596074" y="2644140"/>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1" name="Text Box 20"/>
          <p:cNvSpPr txBox="1">
            <a:spLocks noChangeArrowheads="1"/>
          </p:cNvSpPr>
          <p:nvPr/>
        </p:nvSpPr>
        <p:spPr bwMode="auto">
          <a:xfrm>
            <a:off x="1180204" y="2935208"/>
            <a:ext cx="28405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algn="ctr" eaLnBrk="1" hangingPunct="1"/>
            <a:r>
              <a:rPr lang="en-US" sz="1400" b="1" dirty="0"/>
              <a:t>c</a:t>
            </a:r>
          </a:p>
          <a:p>
            <a:pPr algn="ctr" eaLnBrk="1" hangingPunct="1"/>
            <a:endParaRPr lang="en-US" sz="1400" b="1" dirty="0"/>
          </a:p>
          <a:p>
            <a:pPr algn="ctr" eaLnBrk="1" hangingPunct="1"/>
            <a:r>
              <a:rPr lang="en-US" sz="1400" b="1" dirty="0"/>
              <a:t>c</a:t>
            </a:r>
          </a:p>
        </p:txBody>
      </p:sp>
      <p:sp>
        <p:nvSpPr>
          <p:cNvPr id="2" name="Rectangle 1"/>
          <p:cNvSpPr/>
          <p:nvPr/>
        </p:nvSpPr>
        <p:spPr>
          <a:xfrm>
            <a:off x="1642236" y="3387496"/>
            <a:ext cx="269626" cy="276999"/>
          </a:xfrm>
          <a:prstGeom prst="rect">
            <a:avLst/>
          </a:prstGeom>
        </p:spPr>
        <p:txBody>
          <a:bodyPr wrap="none">
            <a:spAutoFit/>
          </a:bodyPr>
          <a:lstStyle/>
          <a:p>
            <a:r>
              <a:rPr lang="en-US" dirty="0"/>
              <a:t>1</a:t>
            </a:r>
          </a:p>
        </p:txBody>
      </p:sp>
      <p:sp>
        <p:nvSpPr>
          <p:cNvPr id="33" name="Text Box 21"/>
          <p:cNvSpPr txBox="1">
            <a:spLocks noChangeArrowheads="1"/>
          </p:cNvSpPr>
          <p:nvPr/>
        </p:nvSpPr>
        <p:spPr bwMode="auto">
          <a:xfrm>
            <a:off x="1049587" y="2057400"/>
            <a:ext cx="24574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algn="ctr" eaLnBrk="1" hangingPunct="1"/>
            <a:r>
              <a:rPr lang="en-US" sz="1400" b="1" dirty="0"/>
              <a:t>K-Map for 3 input variables</a:t>
            </a:r>
          </a:p>
        </p:txBody>
      </p:sp>
      <p:sp>
        <p:nvSpPr>
          <p:cNvPr id="26" name="Rectangle 2"/>
          <p:cNvSpPr>
            <a:spLocks noGrp="1" noChangeArrowheads="1"/>
          </p:cNvSpPr>
          <p:nvPr>
            <p:ph type="title"/>
          </p:nvPr>
        </p:nvSpPr>
        <p:spPr>
          <a:xfrm>
            <a:off x="457200" y="274638"/>
            <a:ext cx="7620000" cy="1143000"/>
          </a:xfrm>
        </p:spPr>
        <p:txBody>
          <a:bodyPr/>
          <a:lstStyle/>
          <a:p>
            <a:r>
              <a:rPr lang="en-US" dirty="0" smtClean="0"/>
              <a:t>Designing a 3 x 8 Line </a:t>
            </a:r>
            <a:r>
              <a:rPr lang="en-US" dirty="0"/>
              <a:t>D</a:t>
            </a:r>
            <a:r>
              <a:rPr lang="en-US" dirty="0" smtClean="0"/>
              <a:t>ecoder</a:t>
            </a:r>
          </a:p>
        </p:txBody>
      </p:sp>
    </p:spTree>
    <p:extLst>
      <p:ext uri="{BB962C8B-B14F-4D97-AF65-F5344CB8AC3E}">
        <p14:creationId xmlns:p14="http://schemas.microsoft.com/office/powerpoint/2010/main" val="550076832"/>
      </p:ext>
    </p:extLst>
  </p:cSld>
  <p:clrMapOvr>
    <a:masterClrMapping/>
  </p:clrMapOvr>
  <p:transition xmlns:p14="http://schemas.microsoft.com/office/powerpoint/2010/main" spd="slow"/>
  <p:timing>
    <p:tnLst>
      <p:par>
        <p:cTn xmlns:p14="http://schemas.microsoft.com/office/powerpoint/2010/mai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1"/>
          </p:nvPr>
        </p:nvSpPr>
        <p:spPr>
          <a:xfrm>
            <a:off x="381000" y="1295400"/>
            <a:ext cx="8991600" cy="5057775"/>
          </a:xfrm>
        </p:spPr>
        <p:txBody>
          <a:bodyPr/>
          <a:lstStyle/>
          <a:p>
            <a:r>
              <a:rPr lang="en-US" sz="1800" dirty="0" smtClean="0"/>
              <a:t>Lack of 1s per column presents us with </a:t>
            </a:r>
            <a:r>
              <a:rPr lang="en-US" sz="1800" b="1" i="1" dirty="0" smtClean="0"/>
              <a:t>no KMap reduction possibilities</a:t>
            </a:r>
            <a:endParaRPr lang="en-US" sz="1800" b="1" i="1" dirty="0" smtClean="0"/>
          </a:p>
          <a:p>
            <a:endParaRPr lang="en-US" sz="1800" dirty="0"/>
          </a:p>
          <a:p>
            <a:endParaRPr lang="en-US" sz="1800" dirty="0" smtClean="0"/>
          </a:p>
          <a:p>
            <a:endParaRPr lang="en-US" sz="1800" dirty="0"/>
          </a:p>
          <a:p>
            <a:endParaRPr lang="en-US" sz="1800" dirty="0" smtClean="0"/>
          </a:p>
          <a:p>
            <a:endParaRPr lang="en-US" sz="1800" dirty="0"/>
          </a:p>
          <a:p>
            <a:endParaRPr lang="en-US" sz="1800" dirty="0" smtClean="0"/>
          </a:p>
          <a:p>
            <a:endParaRPr lang="en-US" sz="1800" dirty="0"/>
          </a:p>
          <a:p>
            <a:endParaRPr lang="en-US" sz="1800" dirty="0" smtClean="0"/>
          </a:p>
          <a:p>
            <a:endParaRPr lang="en-US" sz="1800" dirty="0"/>
          </a:p>
          <a:p>
            <a:endParaRPr lang="en-US" sz="1800" dirty="0" smtClean="0"/>
          </a:p>
          <a:p>
            <a:endParaRPr lang="en-US" sz="1800" dirty="0"/>
          </a:p>
          <a:p>
            <a:endParaRPr lang="en-US" sz="1800" dirty="0" smtClean="0"/>
          </a:p>
          <a:p>
            <a:endParaRPr lang="en-US" sz="1800" dirty="0"/>
          </a:p>
          <a:p>
            <a:r>
              <a:rPr lang="en-US" sz="1800" dirty="0" smtClean="0"/>
              <a:t>Now build it in hardware!  (3 input wires, 8 output wires, transitions defined above)</a:t>
            </a:r>
            <a:endParaRPr lang="en-US" sz="1800" dirty="0"/>
          </a:p>
          <a:p>
            <a:pPr marL="457200" lvl="1" indent="0">
              <a:buNone/>
            </a:pPr>
            <a:endParaRPr lang="en-US" sz="1800" dirty="0"/>
          </a:p>
          <a:p>
            <a:pPr marL="457200" lvl="1" indent="0">
              <a:buNone/>
            </a:pPr>
            <a:endParaRPr lang="en-US" sz="1800" dirty="0" smtClean="0"/>
          </a:p>
          <a:p>
            <a:pPr>
              <a:buFont typeface="+mj-lt"/>
              <a:buAutoNum type="arabicPeriod" startAt="3"/>
            </a:pPr>
            <a:endParaRPr lang="en-US" sz="1800" dirty="0" smtClean="0"/>
          </a:p>
        </p:txBody>
      </p:sp>
      <p:sp>
        <p:nvSpPr>
          <p:cNvPr id="35" name="Rectangle 34"/>
          <p:cNvSpPr/>
          <p:nvPr/>
        </p:nvSpPr>
        <p:spPr>
          <a:xfrm>
            <a:off x="90648" y="1981200"/>
            <a:ext cx="5105400" cy="3998018"/>
          </a:xfrm>
          <a:prstGeom prst="rect">
            <a:avLst/>
          </a:prstGeom>
        </p:spPr>
        <p:txBody>
          <a:bodyPr wrap="square" lIns="0" rIns="0">
            <a:spAutoFit/>
          </a:bodyPr>
          <a:lstStyle/>
          <a:p>
            <a:pPr lvl="2">
              <a:lnSpc>
                <a:spcPct val="110000"/>
              </a:lnSpc>
              <a:spcBef>
                <a:spcPct val="20000"/>
              </a:spcBef>
              <a:buClr>
                <a:srgbClr val="0033CC"/>
              </a:buClr>
            </a:pPr>
            <a:r>
              <a:rPr kumimoji="1" lang="en-US" sz="1800" dirty="0" smtClean="0">
                <a:latin typeface="Tahoma" pitchFamily="34" charset="0"/>
              </a:rPr>
              <a:t>D0 = ~a ~b ~c</a:t>
            </a:r>
          </a:p>
          <a:p>
            <a:pPr lvl="2">
              <a:lnSpc>
                <a:spcPct val="110000"/>
              </a:lnSpc>
              <a:spcBef>
                <a:spcPct val="20000"/>
              </a:spcBef>
              <a:buClr>
                <a:srgbClr val="0033CC"/>
              </a:buClr>
            </a:pPr>
            <a:r>
              <a:rPr kumimoji="1" lang="en-US" sz="1800" dirty="0" smtClean="0">
                <a:latin typeface="Tahoma" pitchFamily="34" charset="0"/>
              </a:rPr>
              <a:t>D1 = ~a ~b c</a:t>
            </a:r>
          </a:p>
          <a:p>
            <a:pPr lvl="2">
              <a:lnSpc>
                <a:spcPct val="110000"/>
              </a:lnSpc>
              <a:spcBef>
                <a:spcPct val="20000"/>
              </a:spcBef>
              <a:buClr>
                <a:srgbClr val="0033CC"/>
              </a:buClr>
            </a:pPr>
            <a:r>
              <a:rPr kumimoji="1" lang="en-US" sz="1800" dirty="0" smtClean="0">
                <a:latin typeface="Tahoma" pitchFamily="34" charset="0"/>
              </a:rPr>
              <a:t>D2 = ~a b ~c</a:t>
            </a:r>
          </a:p>
          <a:p>
            <a:pPr lvl="2">
              <a:lnSpc>
                <a:spcPct val="110000"/>
              </a:lnSpc>
              <a:spcBef>
                <a:spcPct val="20000"/>
              </a:spcBef>
              <a:buClr>
                <a:srgbClr val="0033CC"/>
              </a:buClr>
            </a:pPr>
            <a:r>
              <a:rPr kumimoji="1" lang="en-US" sz="1800" dirty="0" smtClean="0">
                <a:latin typeface="Tahoma" pitchFamily="34" charset="0"/>
              </a:rPr>
              <a:t>D3 = ~a b c</a:t>
            </a:r>
          </a:p>
          <a:p>
            <a:pPr lvl="2">
              <a:lnSpc>
                <a:spcPct val="110000"/>
              </a:lnSpc>
              <a:spcBef>
                <a:spcPct val="20000"/>
              </a:spcBef>
              <a:buClr>
                <a:srgbClr val="0033CC"/>
              </a:buClr>
            </a:pPr>
            <a:r>
              <a:rPr kumimoji="1" lang="en-US" sz="1800" dirty="0" smtClean="0">
                <a:latin typeface="Tahoma" pitchFamily="34" charset="0"/>
              </a:rPr>
              <a:t>D4 = </a:t>
            </a:r>
            <a:r>
              <a:rPr kumimoji="1" lang="en-US" sz="1800" dirty="0">
                <a:latin typeface="Tahoma" pitchFamily="34" charset="0"/>
              </a:rPr>
              <a:t>a ~b ~c</a:t>
            </a:r>
          </a:p>
          <a:p>
            <a:pPr lvl="2">
              <a:lnSpc>
                <a:spcPct val="110000"/>
              </a:lnSpc>
              <a:spcBef>
                <a:spcPct val="20000"/>
              </a:spcBef>
              <a:buClr>
                <a:srgbClr val="0033CC"/>
              </a:buClr>
            </a:pPr>
            <a:r>
              <a:rPr kumimoji="1" lang="en-US" sz="1800" dirty="0" smtClean="0">
                <a:latin typeface="Tahoma" pitchFamily="34" charset="0"/>
              </a:rPr>
              <a:t>D5 = </a:t>
            </a:r>
            <a:r>
              <a:rPr kumimoji="1" lang="en-US" sz="1800" dirty="0">
                <a:latin typeface="Tahoma" pitchFamily="34" charset="0"/>
              </a:rPr>
              <a:t>a ~b </a:t>
            </a:r>
            <a:r>
              <a:rPr kumimoji="1" lang="en-US" sz="1800" dirty="0" smtClean="0">
                <a:latin typeface="Tahoma" pitchFamily="34" charset="0"/>
              </a:rPr>
              <a:t>c</a:t>
            </a:r>
            <a:endParaRPr kumimoji="1" lang="en-US" sz="1800" dirty="0">
              <a:latin typeface="Tahoma" pitchFamily="34" charset="0"/>
            </a:endParaRPr>
          </a:p>
          <a:p>
            <a:pPr lvl="2">
              <a:lnSpc>
                <a:spcPct val="110000"/>
              </a:lnSpc>
              <a:spcBef>
                <a:spcPct val="20000"/>
              </a:spcBef>
              <a:buClr>
                <a:srgbClr val="0033CC"/>
              </a:buClr>
            </a:pPr>
            <a:r>
              <a:rPr kumimoji="1" lang="en-US" sz="1800" dirty="0" smtClean="0">
                <a:latin typeface="Tahoma" pitchFamily="34" charset="0"/>
              </a:rPr>
              <a:t>D6 = </a:t>
            </a:r>
            <a:r>
              <a:rPr kumimoji="1" lang="en-US" sz="1800" dirty="0">
                <a:latin typeface="Tahoma" pitchFamily="34" charset="0"/>
              </a:rPr>
              <a:t>a </a:t>
            </a:r>
            <a:r>
              <a:rPr kumimoji="1" lang="en-US" sz="1800" dirty="0" smtClean="0">
                <a:latin typeface="Tahoma" pitchFamily="34" charset="0"/>
              </a:rPr>
              <a:t>b </a:t>
            </a:r>
            <a:r>
              <a:rPr kumimoji="1" lang="en-US" sz="1800" dirty="0">
                <a:latin typeface="Tahoma" pitchFamily="34" charset="0"/>
              </a:rPr>
              <a:t>~c</a:t>
            </a:r>
          </a:p>
          <a:p>
            <a:pPr lvl="2">
              <a:lnSpc>
                <a:spcPct val="110000"/>
              </a:lnSpc>
              <a:spcBef>
                <a:spcPct val="20000"/>
              </a:spcBef>
              <a:buClr>
                <a:srgbClr val="0033CC"/>
              </a:buClr>
            </a:pPr>
            <a:r>
              <a:rPr kumimoji="1" lang="en-US" sz="1800" dirty="0" smtClean="0">
                <a:latin typeface="Tahoma" pitchFamily="34" charset="0"/>
              </a:rPr>
              <a:t>D7 = </a:t>
            </a:r>
            <a:r>
              <a:rPr kumimoji="1" lang="en-US" sz="1800" dirty="0">
                <a:latin typeface="Tahoma" pitchFamily="34" charset="0"/>
              </a:rPr>
              <a:t>a </a:t>
            </a:r>
            <a:r>
              <a:rPr kumimoji="1" lang="en-US" sz="1800" dirty="0" smtClean="0">
                <a:latin typeface="Tahoma" pitchFamily="34" charset="0"/>
              </a:rPr>
              <a:t>b c</a:t>
            </a:r>
            <a:endParaRPr kumimoji="1" lang="en-US" sz="1800" dirty="0">
              <a:latin typeface="Tahoma" pitchFamily="34" charset="0"/>
            </a:endParaRPr>
          </a:p>
          <a:p>
            <a:pPr lvl="2">
              <a:lnSpc>
                <a:spcPct val="110000"/>
              </a:lnSpc>
              <a:spcBef>
                <a:spcPct val="20000"/>
              </a:spcBef>
              <a:buClr>
                <a:srgbClr val="0033CC"/>
              </a:buClr>
            </a:pPr>
            <a:endParaRPr kumimoji="1" lang="en-US" sz="1800" dirty="0" smtClean="0">
              <a:latin typeface="Tahoma" pitchFamily="34" charset="0"/>
            </a:endParaRPr>
          </a:p>
          <a:p>
            <a:pPr lvl="2">
              <a:lnSpc>
                <a:spcPct val="110000"/>
              </a:lnSpc>
              <a:spcBef>
                <a:spcPct val="20000"/>
              </a:spcBef>
              <a:buClr>
                <a:srgbClr val="0033CC"/>
              </a:buClr>
            </a:pPr>
            <a:endParaRPr kumimoji="1" lang="en-US" sz="1800" dirty="0" smtClean="0">
              <a:latin typeface="Tahoma" pitchFamily="34" charset="0"/>
            </a:endParaRPr>
          </a:p>
          <a:p>
            <a:pPr lvl="2">
              <a:lnSpc>
                <a:spcPct val="110000"/>
              </a:lnSpc>
              <a:spcBef>
                <a:spcPct val="20000"/>
              </a:spcBef>
              <a:buClr>
                <a:srgbClr val="0033CC"/>
              </a:buClr>
            </a:pPr>
            <a:endParaRPr kumimoji="1" lang="en-US" sz="1800" dirty="0" smtClean="0">
              <a:latin typeface="Tahoma"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091398693"/>
              </p:ext>
            </p:extLst>
          </p:nvPr>
        </p:nvGraphicFramePr>
        <p:xfrm>
          <a:off x="3250501" y="1752600"/>
          <a:ext cx="5360091" cy="4017163"/>
        </p:xfrm>
        <a:graphic>
          <a:graphicData uri="http://schemas.openxmlformats.org/drawingml/2006/table">
            <a:tbl>
              <a:tblPr firstRow="1" bandRow="1">
                <a:tableStyleId>{5C22544A-7EE6-4342-B048-85BDC9FD1C3A}</a:tableStyleId>
              </a:tblPr>
              <a:tblGrid>
                <a:gridCol w="487281"/>
                <a:gridCol w="487281"/>
                <a:gridCol w="487281"/>
                <a:gridCol w="487281"/>
                <a:gridCol w="487281"/>
                <a:gridCol w="487281"/>
                <a:gridCol w="487281"/>
                <a:gridCol w="487281"/>
                <a:gridCol w="487281"/>
                <a:gridCol w="487281"/>
                <a:gridCol w="487281"/>
              </a:tblGrid>
              <a:tr h="621793">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D0</a:t>
                      </a:r>
                      <a:endParaRPr lang="en-US" dirty="0"/>
                    </a:p>
                  </a:txBody>
                  <a:tcPr>
                    <a:solidFill>
                      <a:schemeClr val="accent6">
                        <a:lumMod val="75000"/>
                      </a:schemeClr>
                    </a:solidFill>
                  </a:tcPr>
                </a:tc>
                <a:tc>
                  <a:txBody>
                    <a:bodyPr/>
                    <a:lstStyle/>
                    <a:p>
                      <a:r>
                        <a:rPr lang="en-US" dirty="0" smtClean="0"/>
                        <a:t>D1</a:t>
                      </a:r>
                      <a:endParaRPr lang="en-US" dirty="0"/>
                    </a:p>
                  </a:txBody>
                  <a:tcPr>
                    <a:solidFill>
                      <a:schemeClr val="accent6">
                        <a:lumMod val="75000"/>
                      </a:schemeClr>
                    </a:solidFill>
                  </a:tcPr>
                </a:tc>
                <a:tc>
                  <a:txBody>
                    <a:bodyPr/>
                    <a:lstStyle/>
                    <a:p>
                      <a:r>
                        <a:rPr lang="en-US" dirty="0" smtClean="0"/>
                        <a:t>D2</a:t>
                      </a:r>
                      <a:endParaRPr lang="en-US" dirty="0"/>
                    </a:p>
                  </a:txBody>
                  <a:tcPr>
                    <a:solidFill>
                      <a:schemeClr val="accent6">
                        <a:lumMod val="75000"/>
                      </a:schemeClr>
                    </a:solidFill>
                  </a:tcPr>
                </a:tc>
                <a:tc>
                  <a:txBody>
                    <a:bodyPr/>
                    <a:lstStyle/>
                    <a:p>
                      <a:r>
                        <a:rPr lang="en-US" dirty="0" smtClean="0"/>
                        <a:t>D3</a:t>
                      </a:r>
                      <a:endParaRPr lang="en-US" dirty="0"/>
                    </a:p>
                  </a:txBody>
                  <a:tcPr>
                    <a:solidFill>
                      <a:schemeClr val="accent6">
                        <a:lumMod val="75000"/>
                      </a:schemeClr>
                    </a:solidFill>
                  </a:tcPr>
                </a:tc>
                <a:tc>
                  <a:txBody>
                    <a:bodyPr/>
                    <a:lstStyle/>
                    <a:p>
                      <a:r>
                        <a:rPr lang="en-US" dirty="0" smtClean="0"/>
                        <a:t>D4</a:t>
                      </a:r>
                      <a:endParaRPr lang="en-US" dirty="0"/>
                    </a:p>
                  </a:txBody>
                  <a:tcPr>
                    <a:solidFill>
                      <a:schemeClr val="accent6">
                        <a:lumMod val="75000"/>
                      </a:schemeClr>
                    </a:solidFill>
                  </a:tcPr>
                </a:tc>
                <a:tc>
                  <a:txBody>
                    <a:bodyPr/>
                    <a:lstStyle/>
                    <a:p>
                      <a:r>
                        <a:rPr lang="en-US" dirty="0" smtClean="0"/>
                        <a:t>D5</a:t>
                      </a:r>
                      <a:endParaRPr lang="en-US" dirty="0"/>
                    </a:p>
                  </a:txBody>
                  <a:tcPr>
                    <a:solidFill>
                      <a:schemeClr val="accent6">
                        <a:lumMod val="75000"/>
                      </a:schemeClr>
                    </a:solidFill>
                  </a:tcPr>
                </a:tc>
                <a:tc>
                  <a:txBody>
                    <a:bodyPr/>
                    <a:lstStyle/>
                    <a:p>
                      <a:r>
                        <a:rPr lang="en-US" dirty="0" smtClean="0"/>
                        <a:t>D6</a:t>
                      </a:r>
                      <a:endParaRPr lang="en-US" dirty="0"/>
                    </a:p>
                  </a:txBody>
                  <a:tcPr>
                    <a:solidFill>
                      <a:schemeClr val="accent6">
                        <a:lumMod val="75000"/>
                      </a:schemeClr>
                    </a:solidFill>
                  </a:tcPr>
                </a:tc>
                <a:tc>
                  <a:txBody>
                    <a:bodyPr/>
                    <a:lstStyle/>
                    <a:p>
                      <a:r>
                        <a:rPr lang="en-US" dirty="0" smtClean="0"/>
                        <a:t>D7</a:t>
                      </a:r>
                      <a:endParaRPr lang="en-US" dirty="0"/>
                    </a:p>
                  </a:txBody>
                  <a:tcPr>
                    <a:solidFill>
                      <a:schemeClr val="accent6">
                        <a:lumMod val="75000"/>
                      </a:schemeClr>
                    </a:solidFill>
                  </a:tcPr>
                </a:tc>
              </a:tr>
              <a:tr h="46106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r>
              <a:tr h="46106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6106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1</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c>
                  <a:txBody>
                    <a:bodyPr/>
                    <a:lstStyle/>
                    <a:p>
                      <a:r>
                        <a:rPr lang="en-US" dirty="0" smtClean="0"/>
                        <a:t>0</a:t>
                      </a:r>
                      <a:endParaRPr lang="en-US" dirty="0"/>
                    </a:p>
                  </a:txBody>
                  <a:tcPr>
                    <a:solidFill>
                      <a:schemeClr val="accent2">
                        <a:lumMod val="40000"/>
                        <a:lumOff val="60000"/>
                      </a:schemeClr>
                    </a:solidFill>
                  </a:tcPr>
                </a:tc>
              </a:tr>
              <a:tr h="402438">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r>
              <a:tr h="402438">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0</a:t>
                      </a:r>
                      <a:endParaRPr lang="en-US" dirty="0"/>
                    </a:p>
                  </a:txBody>
                  <a:tcPr>
                    <a:solidFill>
                      <a:schemeClr val="accent2">
                        <a:lumMod val="20000"/>
                        <a:lumOff val="80000"/>
                      </a:schemeClr>
                    </a:solidFill>
                  </a:tcPr>
                </a:tc>
                <a:tc>
                  <a:txBody>
                    <a:bodyPr/>
                    <a:lstStyle/>
                    <a:p>
                      <a:r>
                        <a:rPr lang="en-US" dirty="0" smtClean="0"/>
                        <a:t>1</a:t>
                      </a:r>
                      <a:endParaRPr lang="en-US" dirty="0"/>
                    </a:p>
                  </a:txBody>
                  <a:tcPr>
                    <a:solidFill>
                      <a:schemeClr val="accent2">
                        <a:lumMod val="20000"/>
                        <a:lumOff val="80000"/>
                      </a:schemeClr>
                    </a:solidFill>
                  </a:tcPr>
                </a:tc>
              </a:tr>
            </a:tbl>
          </a:graphicData>
        </a:graphic>
      </p:graphicFrame>
      <p:sp>
        <p:nvSpPr>
          <p:cNvPr id="7" name="Rectangle 2"/>
          <p:cNvSpPr>
            <a:spLocks noGrp="1" noChangeArrowheads="1"/>
          </p:cNvSpPr>
          <p:nvPr>
            <p:ph type="title"/>
          </p:nvPr>
        </p:nvSpPr>
        <p:spPr>
          <a:xfrm>
            <a:off x="457200" y="274638"/>
            <a:ext cx="7620000" cy="1143000"/>
          </a:xfrm>
        </p:spPr>
        <p:txBody>
          <a:bodyPr/>
          <a:lstStyle/>
          <a:p>
            <a:r>
              <a:rPr lang="en-US" dirty="0" smtClean="0"/>
              <a:t>Designing a 3 x 8 Line </a:t>
            </a:r>
            <a:r>
              <a:rPr lang="en-US" dirty="0"/>
              <a:t>D</a:t>
            </a:r>
            <a:r>
              <a:rPr lang="en-US" dirty="0" smtClean="0"/>
              <a:t>ecoder</a:t>
            </a:r>
          </a:p>
        </p:txBody>
      </p:sp>
    </p:spTree>
    <p:extLst>
      <p:ext uri="{BB962C8B-B14F-4D97-AF65-F5344CB8AC3E}">
        <p14:creationId xmlns:p14="http://schemas.microsoft.com/office/powerpoint/2010/main" val="155639185"/>
      </p:ext>
    </p:extLst>
  </p:cSld>
  <p:clrMapOvr>
    <a:masterClrMapping/>
  </p:clrMapOvr>
  <p:transition xmlns:p14="http://schemas.microsoft.com/office/powerpoint/2010/main" spd="slow"/>
  <p:timing>
    <p:tnLst>
      <p:par>
        <p:cTn xmlns:p14="http://schemas.microsoft.com/office/powerpoint/2010/mai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1"/>
          </p:nvPr>
        </p:nvSpPr>
        <p:spPr>
          <a:xfrm>
            <a:off x="381000" y="1295400"/>
            <a:ext cx="8636000" cy="5057775"/>
          </a:xfrm>
        </p:spPr>
        <p:txBody>
          <a:bodyPr/>
          <a:lstStyle/>
          <a:p>
            <a:pPr marL="457200" indent="-457200"/>
            <a:r>
              <a:rPr lang="en-US" sz="1800" dirty="0"/>
              <a:t>Connect inputs to </a:t>
            </a:r>
            <a:r>
              <a:rPr lang="en-US" sz="1800" dirty="0" smtClean="0"/>
              <a:t>outputs </a:t>
            </a:r>
            <a:r>
              <a:rPr lang="en-US" sz="1800" dirty="0"/>
              <a:t>using logic </a:t>
            </a:r>
            <a:r>
              <a:rPr lang="en-US" sz="1800" dirty="0" smtClean="0"/>
              <a:t>gates (a Combination Circuit)</a:t>
            </a:r>
            <a:endParaRPr lang="en-US" sz="1800" dirty="0" smtClean="0"/>
          </a:p>
          <a:p>
            <a:pPr marL="457200" lvl="1" indent="0">
              <a:buNone/>
            </a:pPr>
            <a:endParaRPr lang="en-US" sz="1800" dirty="0"/>
          </a:p>
          <a:p>
            <a:pPr marL="457200" lvl="1" indent="0">
              <a:buNone/>
            </a:pPr>
            <a:endParaRPr lang="en-US" sz="1800" dirty="0" smtClean="0"/>
          </a:p>
          <a:p>
            <a:pPr>
              <a:buFont typeface="+mj-lt"/>
              <a:buAutoNum type="arabicPeriod" startAt="3"/>
            </a:pPr>
            <a:endParaRPr lang="en-US" sz="1800" dirty="0" smtClean="0"/>
          </a:p>
        </p:txBody>
      </p:sp>
      <p:sp>
        <p:nvSpPr>
          <p:cNvPr id="35" name="Rectangle 34"/>
          <p:cNvSpPr/>
          <p:nvPr/>
        </p:nvSpPr>
        <p:spPr>
          <a:xfrm>
            <a:off x="90648" y="1981200"/>
            <a:ext cx="5105400" cy="3998018"/>
          </a:xfrm>
          <a:prstGeom prst="rect">
            <a:avLst/>
          </a:prstGeom>
        </p:spPr>
        <p:txBody>
          <a:bodyPr wrap="square" lIns="0" rIns="0">
            <a:spAutoFit/>
          </a:bodyPr>
          <a:lstStyle/>
          <a:p>
            <a:pPr lvl="2">
              <a:lnSpc>
                <a:spcPct val="110000"/>
              </a:lnSpc>
              <a:spcBef>
                <a:spcPct val="20000"/>
              </a:spcBef>
              <a:buClr>
                <a:srgbClr val="0033CC"/>
              </a:buClr>
            </a:pPr>
            <a:r>
              <a:rPr kumimoji="1" lang="en-US" sz="1800" dirty="0" smtClean="0">
                <a:latin typeface="Tahoma" pitchFamily="34" charset="0"/>
              </a:rPr>
              <a:t>D0 = ~a ~b ~c</a:t>
            </a:r>
          </a:p>
          <a:p>
            <a:pPr lvl="2">
              <a:lnSpc>
                <a:spcPct val="110000"/>
              </a:lnSpc>
              <a:spcBef>
                <a:spcPct val="20000"/>
              </a:spcBef>
              <a:buClr>
                <a:srgbClr val="0033CC"/>
              </a:buClr>
            </a:pPr>
            <a:r>
              <a:rPr kumimoji="1" lang="en-US" sz="1800" dirty="0" smtClean="0">
                <a:latin typeface="Tahoma" pitchFamily="34" charset="0"/>
              </a:rPr>
              <a:t>D1 = ~a ~b c</a:t>
            </a:r>
          </a:p>
          <a:p>
            <a:pPr lvl="2">
              <a:lnSpc>
                <a:spcPct val="110000"/>
              </a:lnSpc>
              <a:spcBef>
                <a:spcPct val="20000"/>
              </a:spcBef>
              <a:buClr>
                <a:srgbClr val="0033CC"/>
              </a:buClr>
            </a:pPr>
            <a:r>
              <a:rPr kumimoji="1" lang="en-US" sz="1800" dirty="0" smtClean="0">
                <a:latin typeface="Tahoma" pitchFamily="34" charset="0"/>
              </a:rPr>
              <a:t>D2 = ~a b ~c</a:t>
            </a:r>
          </a:p>
          <a:p>
            <a:pPr lvl="2">
              <a:lnSpc>
                <a:spcPct val="110000"/>
              </a:lnSpc>
              <a:spcBef>
                <a:spcPct val="20000"/>
              </a:spcBef>
              <a:buClr>
                <a:srgbClr val="0033CC"/>
              </a:buClr>
            </a:pPr>
            <a:r>
              <a:rPr kumimoji="1" lang="en-US" sz="1800" dirty="0" smtClean="0">
                <a:latin typeface="Tahoma" pitchFamily="34" charset="0"/>
              </a:rPr>
              <a:t>D3 = ~a b c</a:t>
            </a:r>
          </a:p>
          <a:p>
            <a:pPr lvl="2">
              <a:lnSpc>
                <a:spcPct val="110000"/>
              </a:lnSpc>
              <a:spcBef>
                <a:spcPct val="20000"/>
              </a:spcBef>
              <a:buClr>
                <a:srgbClr val="0033CC"/>
              </a:buClr>
            </a:pPr>
            <a:r>
              <a:rPr kumimoji="1" lang="en-US" sz="1800" dirty="0" smtClean="0">
                <a:latin typeface="Tahoma" pitchFamily="34" charset="0"/>
              </a:rPr>
              <a:t>D4 = </a:t>
            </a:r>
            <a:r>
              <a:rPr kumimoji="1" lang="en-US" sz="1800" dirty="0">
                <a:latin typeface="Tahoma" pitchFamily="34" charset="0"/>
              </a:rPr>
              <a:t>a ~b ~c</a:t>
            </a:r>
          </a:p>
          <a:p>
            <a:pPr lvl="2">
              <a:lnSpc>
                <a:spcPct val="110000"/>
              </a:lnSpc>
              <a:spcBef>
                <a:spcPct val="20000"/>
              </a:spcBef>
              <a:buClr>
                <a:srgbClr val="0033CC"/>
              </a:buClr>
            </a:pPr>
            <a:r>
              <a:rPr kumimoji="1" lang="en-US" sz="1800" dirty="0" smtClean="0">
                <a:latin typeface="Tahoma" pitchFamily="34" charset="0"/>
              </a:rPr>
              <a:t>D5 = </a:t>
            </a:r>
            <a:r>
              <a:rPr kumimoji="1" lang="en-US" sz="1800" dirty="0">
                <a:latin typeface="Tahoma" pitchFamily="34" charset="0"/>
              </a:rPr>
              <a:t>a ~b </a:t>
            </a:r>
            <a:r>
              <a:rPr kumimoji="1" lang="en-US" sz="1800" dirty="0" smtClean="0">
                <a:latin typeface="Tahoma" pitchFamily="34" charset="0"/>
              </a:rPr>
              <a:t>c</a:t>
            </a:r>
            <a:endParaRPr kumimoji="1" lang="en-US" sz="1800" dirty="0">
              <a:latin typeface="Tahoma" pitchFamily="34" charset="0"/>
            </a:endParaRPr>
          </a:p>
          <a:p>
            <a:pPr lvl="2">
              <a:lnSpc>
                <a:spcPct val="110000"/>
              </a:lnSpc>
              <a:spcBef>
                <a:spcPct val="20000"/>
              </a:spcBef>
              <a:buClr>
                <a:srgbClr val="0033CC"/>
              </a:buClr>
            </a:pPr>
            <a:r>
              <a:rPr kumimoji="1" lang="en-US" sz="1800" dirty="0" smtClean="0">
                <a:latin typeface="Tahoma" pitchFamily="34" charset="0"/>
              </a:rPr>
              <a:t>D6 = </a:t>
            </a:r>
            <a:r>
              <a:rPr kumimoji="1" lang="en-US" sz="1800" dirty="0">
                <a:latin typeface="Tahoma" pitchFamily="34" charset="0"/>
              </a:rPr>
              <a:t>a </a:t>
            </a:r>
            <a:r>
              <a:rPr kumimoji="1" lang="en-US" sz="1800" dirty="0" smtClean="0">
                <a:latin typeface="Tahoma" pitchFamily="34" charset="0"/>
              </a:rPr>
              <a:t>b </a:t>
            </a:r>
            <a:r>
              <a:rPr kumimoji="1" lang="en-US" sz="1800" dirty="0">
                <a:latin typeface="Tahoma" pitchFamily="34" charset="0"/>
              </a:rPr>
              <a:t>~c</a:t>
            </a:r>
          </a:p>
          <a:p>
            <a:pPr lvl="2">
              <a:lnSpc>
                <a:spcPct val="110000"/>
              </a:lnSpc>
              <a:spcBef>
                <a:spcPct val="20000"/>
              </a:spcBef>
              <a:buClr>
                <a:srgbClr val="0033CC"/>
              </a:buClr>
            </a:pPr>
            <a:r>
              <a:rPr kumimoji="1" lang="en-US" sz="1800" dirty="0" smtClean="0">
                <a:latin typeface="Tahoma" pitchFamily="34" charset="0"/>
              </a:rPr>
              <a:t>D7 = </a:t>
            </a:r>
            <a:r>
              <a:rPr kumimoji="1" lang="en-US" sz="1800" dirty="0">
                <a:latin typeface="Tahoma" pitchFamily="34" charset="0"/>
              </a:rPr>
              <a:t>a </a:t>
            </a:r>
            <a:r>
              <a:rPr kumimoji="1" lang="en-US" sz="1800" dirty="0" smtClean="0">
                <a:latin typeface="Tahoma" pitchFamily="34" charset="0"/>
              </a:rPr>
              <a:t>b c</a:t>
            </a:r>
            <a:endParaRPr kumimoji="1" lang="en-US" sz="1800" dirty="0">
              <a:latin typeface="Tahoma" pitchFamily="34" charset="0"/>
            </a:endParaRPr>
          </a:p>
          <a:p>
            <a:pPr lvl="2">
              <a:lnSpc>
                <a:spcPct val="110000"/>
              </a:lnSpc>
              <a:spcBef>
                <a:spcPct val="20000"/>
              </a:spcBef>
              <a:buClr>
                <a:srgbClr val="0033CC"/>
              </a:buClr>
            </a:pPr>
            <a:endParaRPr kumimoji="1" lang="en-US" sz="1800" dirty="0" smtClean="0">
              <a:latin typeface="Tahoma" pitchFamily="34" charset="0"/>
            </a:endParaRPr>
          </a:p>
          <a:p>
            <a:pPr lvl="2">
              <a:lnSpc>
                <a:spcPct val="110000"/>
              </a:lnSpc>
              <a:spcBef>
                <a:spcPct val="20000"/>
              </a:spcBef>
              <a:buClr>
                <a:srgbClr val="0033CC"/>
              </a:buClr>
            </a:pPr>
            <a:endParaRPr kumimoji="1" lang="en-US" sz="1800" dirty="0" smtClean="0">
              <a:latin typeface="Tahoma" pitchFamily="34" charset="0"/>
            </a:endParaRPr>
          </a:p>
          <a:p>
            <a:pPr lvl="2">
              <a:lnSpc>
                <a:spcPct val="110000"/>
              </a:lnSpc>
              <a:spcBef>
                <a:spcPct val="20000"/>
              </a:spcBef>
              <a:buClr>
                <a:srgbClr val="0033CC"/>
              </a:buClr>
            </a:pPr>
            <a:endParaRPr kumimoji="1" lang="en-US" sz="1800" dirty="0" smtClean="0">
              <a:latin typeface="Tahoma" pitchFamily="34" charset="0"/>
            </a:endParaRPr>
          </a:p>
        </p:txBody>
      </p:sp>
      <p:pic>
        <p:nvPicPr>
          <p:cNvPr id="5" name="Picture 4" descr="f15.pdf"/>
          <p:cNvPicPr>
            <a:picLocks noChangeAspect="1"/>
          </p:cNvPicPr>
          <p:nvPr/>
        </p:nvPicPr>
        <p:blipFill>
          <a:blip r:embed="rId2"/>
          <a:stretch>
            <a:fillRect/>
          </a:stretch>
        </p:blipFill>
        <p:spPr>
          <a:xfrm>
            <a:off x="3124200" y="1143000"/>
            <a:ext cx="5299364" cy="6858000"/>
          </a:xfrm>
          <a:prstGeom prst="rect">
            <a:avLst/>
          </a:prstGeom>
        </p:spPr>
      </p:pic>
      <p:sp>
        <p:nvSpPr>
          <p:cNvPr id="7" name="Rectangle 2"/>
          <p:cNvSpPr>
            <a:spLocks noGrp="1" noChangeArrowheads="1"/>
          </p:cNvSpPr>
          <p:nvPr>
            <p:ph type="title"/>
          </p:nvPr>
        </p:nvSpPr>
        <p:spPr>
          <a:xfrm>
            <a:off x="457200" y="274638"/>
            <a:ext cx="7620000" cy="1143000"/>
          </a:xfrm>
        </p:spPr>
        <p:txBody>
          <a:bodyPr/>
          <a:lstStyle/>
          <a:p>
            <a:r>
              <a:rPr lang="en-US" dirty="0" smtClean="0"/>
              <a:t>Designing a 3 x 8 Line </a:t>
            </a:r>
            <a:r>
              <a:rPr lang="en-US" dirty="0"/>
              <a:t>D</a:t>
            </a:r>
            <a:r>
              <a:rPr lang="en-US" dirty="0" smtClean="0"/>
              <a:t>ecoder</a:t>
            </a:r>
          </a:p>
        </p:txBody>
      </p:sp>
    </p:spTree>
    <p:extLst>
      <p:ext uri="{BB962C8B-B14F-4D97-AF65-F5344CB8AC3E}">
        <p14:creationId xmlns:p14="http://schemas.microsoft.com/office/powerpoint/2010/main" val="510538805"/>
      </p:ext>
    </p:extLst>
  </p:cSld>
  <p:clrMapOvr>
    <a:masterClrMapping/>
  </p:clrMapOvr>
  <p:transition xmlns:p14="http://schemas.microsoft.com/office/powerpoint/2010/main" spd="slow"/>
  <p:timing>
    <p:tnLst>
      <p:par>
        <p:cTn xmlns:p14="http://schemas.microsoft.com/office/powerpoint/2010/mai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1"/>
          </p:nvPr>
        </p:nvSpPr>
        <p:spPr>
          <a:xfrm>
            <a:off x="381000" y="1295400"/>
            <a:ext cx="8636000" cy="5057775"/>
          </a:xfrm>
        </p:spPr>
        <p:txBody>
          <a:bodyPr/>
          <a:lstStyle/>
          <a:p>
            <a:pPr marL="457200" indent="-457200"/>
            <a:r>
              <a:rPr lang="en-US" sz="1800" dirty="0" smtClean="0"/>
              <a:t>Final Step: Test</a:t>
            </a:r>
            <a:r>
              <a:rPr lang="en-US" sz="1800" dirty="0" smtClean="0"/>
              <a:t>! (Paper </a:t>
            </a:r>
            <a:r>
              <a:rPr lang="en-US" sz="1800" dirty="0" smtClean="0"/>
              <a:t>and</a:t>
            </a:r>
            <a:r>
              <a:rPr lang="en-US" sz="1800" dirty="0" smtClean="0"/>
              <a:t> </a:t>
            </a:r>
            <a:r>
              <a:rPr lang="en-US" sz="1800" dirty="0" smtClean="0"/>
              <a:t>Logisim)</a:t>
            </a:r>
            <a:endParaRPr lang="en-US" sz="1800" dirty="0"/>
          </a:p>
          <a:p>
            <a:pPr marL="457200" lvl="1" indent="0">
              <a:buNone/>
            </a:pPr>
            <a:endParaRPr lang="en-US" sz="1800" dirty="0"/>
          </a:p>
          <a:p>
            <a:pPr marL="457200" lvl="1" indent="0">
              <a:buNone/>
            </a:pPr>
            <a:endParaRPr lang="en-US" sz="1800" dirty="0" smtClean="0"/>
          </a:p>
          <a:p>
            <a:pPr>
              <a:buFont typeface="+mj-lt"/>
              <a:buAutoNum type="arabicPeriod" startAt="3"/>
            </a:pPr>
            <a:endParaRPr lang="en-US" sz="1800" dirty="0" smtClean="0"/>
          </a:p>
        </p:txBody>
      </p:sp>
      <p:pic>
        <p:nvPicPr>
          <p:cNvPr id="5" name="Picture 4" descr="f15.pdf"/>
          <p:cNvPicPr>
            <a:picLocks noChangeAspect="1"/>
          </p:cNvPicPr>
          <p:nvPr/>
        </p:nvPicPr>
        <p:blipFill>
          <a:blip r:embed="rId2"/>
          <a:stretch>
            <a:fillRect/>
          </a:stretch>
        </p:blipFill>
        <p:spPr>
          <a:xfrm>
            <a:off x="3124200" y="1143000"/>
            <a:ext cx="5299364" cy="6858000"/>
          </a:xfrm>
          <a:prstGeom prst="rect">
            <a:avLst/>
          </a:prstGeom>
        </p:spPr>
      </p:pic>
      <p:sp>
        <p:nvSpPr>
          <p:cNvPr id="6" name="Rectangle 5"/>
          <p:cNvSpPr/>
          <p:nvPr/>
        </p:nvSpPr>
        <p:spPr>
          <a:xfrm>
            <a:off x="-113664" y="3128675"/>
            <a:ext cx="3085464" cy="1169551"/>
          </a:xfrm>
          <a:prstGeom prst="rect">
            <a:avLst/>
          </a:prstGeom>
        </p:spPr>
        <p:txBody>
          <a:bodyPr wrap="square">
            <a:spAutoFit/>
          </a:bodyPr>
          <a:lstStyle/>
          <a:p>
            <a:pPr lvl="2">
              <a:lnSpc>
                <a:spcPct val="110000"/>
              </a:lnSpc>
              <a:spcBef>
                <a:spcPct val="20000"/>
              </a:spcBef>
              <a:buClr>
                <a:srgbClr val="0033CC"/>
              </a:buClr>
            </a:pPr>
            <a:r>
              <a:rPr kumimoji="1" lang="en-US" sz="1400" dirty="0" err="1">
                <a:latin typeface="Tahoma" pitchFamily="34" charset="0"/>
              </a:rPr>
              <a:t>abc</a:t>
            </a:r>
            <a:r>
              <a:rPr kumimoji="1" lang="en-US" sz="1400" dirty="0">
                <a:latin typeface="Tahoma" pitchFamily="34" charset="0"/>
              </a:rPr>
              <a:t> = </a:t>
            </a:r>
            <a:r>
              <a:rPr kumimoji="1" lang="en-US" sz="1400" dirty="0" smtClean="0">
                <a:latin typeface="Tahoma" pitchFamily="34" charset="0"/>
              </a:rPr>
              <a:t>100 </a:t>
            </a:r>
            <a:r>
              <a:rPr kumimoji="1" lang="en-US" sz="1400" dirty="0">
                <a:latin typeface="Tahoma" pitchFamily="34" charset="0"/>
              </a:rPr>
              <a:t>---</a:t>
            </a:r>
            <a:r>
              <a:rPr kumimoji="1" lang="en-US" sz="1400" dirty="0">
                <a:latin typeface="Tahoma" pitchFamily="34" charset="0"/>
                <a:sym typeface="Wingdings" pitchFamily="2" charset="2"/>
              </a:rPr>
              <a:t> </a:t>
            </a:r>
            <a:r>
              <a:rPr kumimoji="1" lang="en-US" sz="1400" dirty="0" smtClean="0">
                <a:latin typeface="Tahoma" pitchFamily="34" charset="0"/>
                <a:sym typeface="Wingdings" pitchFamily="2" charset="2"/>
              </a:rPr>
              <a:t>D4 </a:t>
            </a:r>
            <a:r>
              <a:rPr kumimoji="1" lang="en-US" sz="1400" dirty="0">
                <a:latin typeface="Tahoma" pitchFamily="34" charset="0"/>
                <a:sym typeface="Wingdings" pitchFamily="2" charset="2"/>
              </a:rPr>
              <a:t>=1</a:t>
            </a:r>
          </a:p>
          <a:p>
            <a:pPr lvl="2">
              <a:lnSpc>
                <a:spcPct val="110000"/>
              </a:lnSpc>
              <a:spcBef>
                <a:spcPct val="20000"/>
              </a:spcBef>
              <a:buClr>
                <a:srgbClr val="0033CC"/>
              </a:buClr>
            </a:pPr>
            <a:r>
              <a:rPr kumimoji="1" lang="en-US" sz="1400" dirty="0" err="1">
                <a:latin typeface="Tahoma" pitchFamily="34" charset="0"/>
                <a:sym typeface="Wingdings" pitchFamily="2" charset="2"/>
              </a:rPr>
              <a:t>abc</a:t>
            </a:r>
            <a:r>
              <a:rPr kumimoji="1" lang="en-US" sz="1400" dirty="0">
                <a:latin typeface="Tahoma" pitchFamily="34" charset="0"/>
                <a:sym typeface="Wingdings" pitchFamily="2" charset="2"/>
              </a:rPr>
              <a:t> = </a:t>
            </a:r>
            <a:r>
              <a:rPr kumimoji="1" lang="en-US" sz="1400" dirty="0" smtClean="0">
                <a:latin typeface="Tahoma" pitchFamily="34" charset="0"/>
                <a:sym typeface="Wingdings" pitchFamily="2" charset="2"/>
              </a:rPr>
              <a:t>101 </a:t>
            </a:r>
            <a:r>
              <a:rPr kumimoji="1" lang="en-US" sz="1400" dirty="0">
                <a:latin typeface="Tahoma" pitchFamily="34" charset="0"/>
                <a:sym typeface="Wingdings" pitchFamily="2" charset="2"/>
              </a:rPr>
              <a:t>--- </a:t>
            </a:r>
            <a:r>
              <a:rPr kumimoji="1" lang="en-US" sz="1400" dirty="0" smtClean="0">
                <a:latin typeface="Tahoma" pitchFamily="34" charset="0"/>
                <a:sym typeface="Wingdings" pitchFamily="2" charset="2"/>
              </a:rPr>
              <a:t>D5 =1</a:t>
            </a:r>
            <a:endParaRPr kumimoji="1" lang="en-US" sz="1400" dirty="0">
              <a:latin typeface="Tahoma" pitchFamily="34" charset="0"/>
              <a:sym typeface="Wingdings" pitchFamily="2" charset="2"/>
            </a:endParaRPr>
          </a:p>
          <a:p>
            <a:pPr lvl="2">
              <a:lnSpc>
                <a:spcPct val="110000"/>
              </a:lnSpc>
              <a:spcBef>
                <a:spcPct val="20000"/>
              </a:spcBef>
              <a:buClr>
                <a:srgbClr val="0033CC"/>
              </a:buClr>
            </a:pPr>
            <a:r>
              <a:rPr kumimoji="1" lang="en-US" sz="1400" dirty="0" err="1">
                <a:latin typeface="Tahoma" pitchFamily="34" charset="0"/>
                <a:sym typeface="Wingdings" pitchFamily="2" charset="2"/>
              </a:rPr>
              <a:t>abc</a:t>
            </a:r>
            <a:r>
              <a:rPr kumimoji="1" lang="en-US" sz="1400" dirty="0">
                <a:latin typeface="Tahoma" pitchFamily="34" charset="0"/>
                <a:sym typeface="Wingdings" pitchFamily="2" charset="2"/>
              </a:rPr>
              <a:t> = </a:t>
            </a:r>
            <a:r>
              <a:rPr kumimoji="1" lang="en-US" sz="1400" dirty="0" smtClean="0">
                <a:latin typeface="Tahoma" pitchFamily="34" charset="0"/>
                <a:sym typeface="Wingdings" pitchFamily="2" charset="2"/>
              </a:rPr>
              <a:t>110 </a:t>
            </a:r>
            <a:r>
              <a:rPr kumimoji="1" lang="en-US" sz="1400" dirty="0">
                <a:latin typeface="Tahoma" pitchFamily="34" charset="0"/>
                <a:sym typeface="Wingdings" pitchFamily="2" charset="2"/>
              </a:rPr>
              <a:t>--- </a:t>
            </a:r>
            <a:r>
              <a:rPr kumimoji="1" lang="en-US" sz="1400" dirty="0" smtClean="0">
                <a:latin typeface="Tahoma" pitchFamily="34" charset="0"/>
                <a:sym typeface="Wingdings" pitchFamily="2" charset="2"/>
              </a:rPr>
              <a:t>D6= </a:t>
            </a:r>
            <a:r>
              <a:rPr kumimoji="1" lang="en-US" sz="1400" dirty="0">
                <a:latin typeface="Tahoma" pitchFamily="34" charset="0"/>
                <a:sym typeface="Wingdings" pitchFamily="2" charset="2"/>
              </a:rPr>
              <a:t>1</a:t>
            </a:r>
          </a:p>
          <a:p>
            <a:pPr lvl="2">
              <a:lnSpc>
                <a:spcPct val="110000"/>
              </a:lnSpc>
              <a:spcBef>
                <a:spcPct val="20000"/>
              </a:spcBef>
              <a:buClr>
                <a:srgbClr val="0033CC"/>
              </a:buClr>
            </a:pPr>
            <a:r>
              <a:rPr kumimoji="1" lang="en-US" sz="1400" dirty="0" err="1">
                <a:latin typeface="Tahoma" pitchFamily="34" charset="0"/>
                <a:sym typeface="Wingdings" pitchFamily="2" charset="2"/>
              </a:rPr>
              <a:t>abc</a:t>
            </a:r>
            <a:r>
              <a:rPr kumimoji="1" lang="en-US" sz="1400" dirty="0">
                <a:latin typeface="Tahoma" pitchFamily="34" charset="0"/>
                <a:sym typeface="Wingdings" pitchFamily="2" charset="2"/>
              </a:rPr>
              <a:t> = </a:t>
            </a:r>
            <a:r>
              <a:rPr kumimoji="1" lang="en-US" sz="1400" dirty="0" smtClean="0">
                <a:latin typeface="Tahoma" pitchFamily="34" charset="0"/>
                <a:sym typeface="Wingdings" pitchFamily="2" charset="2"/>
              </a:rPr>
              <a:t>111 </a:t>
            </a:r>
            <a:r>
              <a:rPr kumimoji="1" lang="en-US" sz="1400" dirty="0">
                <a:latin typeface="Tahoma" pitchFamily="34" charset="0"/>
                <a:sym typeface="Wingdings" pitchFamily="2" charset="2"/>
              </a:rPr>
              <a:t>--- </a:t>
            </a:r>
            <a:r>
              <a:rPr kumimoji="1" lang="en-US" sz="1400" dirty="0" smtClean="0">
                <a:latin typeface="Tahoma" pitchFamily="34" charset="0"/>
                <a:sym typeface="Wingdings" pitchFamily="2" charset="2"/>
              </a:rPr>
              <a:t>D7= 1</a:t>
            </a:r>
            <a:endParaRPr kumimoji="1" lang="en-US" sz="1400" dirty="0">
              <a:latin typeface="Tahoma" pitchFamily="34" charset="0"/>
            </a:endParaRPr>
          </a:p>
        </p:txBody>
      </p:sp>
      <p:sp>
        <p:nvSpPr>
          <p:cNvPr id="7" name="Rectangle 6"/>
          <p:cNvSpPr/>
          <p:nvPr/>
        </p:nvSpPr>
        <p:spPr>
          <a:xfrm>
            <a:off x="0" y="1959124"/>
            <a:ext cx="3250499" cy="1169551"/>
          </a:xfrm>
          <a:prstGeom prst="rect">
            <a:avLst/>
          </a:prstGeom>
        </p:spPr>
        <p:txBody>
          <a:bodyPr wrap="square" lIns="0" rIns="0">
            <a:spAutoFit/>
          </a:bodyPr>
          <a:lstStyle/>
          <a:p>
            <a:pPr lvl="2">
              <a:lnSpc>
                <a:spcPct val="110000"/>
              </a:lnSpc>
              <a:spcBef>
                <a:spcPct val="20000"/>
              </a:spcBef>
              <a:buClr>
                <a:srgbClr val="0033CC"/>
              </a:buClr>
            </a:pPr>
            <a:r>
              <a:rPr kumimoji="1" lang="en-US" sz="1400" dirty="0" err="1">
                <a:latin typeface="Tahoma" pitchFamily="34" charset="0"/>
              </a:rPr>
              <a:t>abc</a:t>
            </a:r>
            <a:r>
              <a:rPr kumimoji="1" lang="en-US" sz="1400" dirty="0">
                <a:latin typeface="Tahoma" pitchFamily="34" charset="0"/>
              </a:rPr>
              <a:t> = 000 ---</a:t>
            </a:r>
            <a:r>
              <a:rPr kumimoji="1" lang="en-US" sz="1400" dirty="0">
                <a:latin typeface="Tahoma" pitchFamily="34" charset="0"/>
                <a:sym typeface="Wingdings" pitchFamily="2" charset="2"/>
              </a:rPr>
              <a:t> D0 =1                  </a:t>
            </a:r>
          </a:p>
          <a:p>
            <a:pPr lvl="2">
              <a:lnSpc>
                <a:spcPct val="110000"/>
              </a:lnSpc>
              <a:spcBef>
                <a:spcPct val="20000"/>
              </a:spcBef>
              <a:buClr>
                <a:srgbClr val="0033CC"/>
              </a:buClr>
            </a:pPr>
            <a:r>
              <a:rPr kumimoji="1" lang="en-US" sz="1400" dirty="0" err="1">
                <a:latin typeface="Tahoma" pitchFamily="34" charset="0"/>
                <a:sym typeface="Wingdings" pitchFamily="2" charset="2"/>
              </a:rPr>
              <a:t>abc</a:t>
            </a:r>
            <a:r>
              <a:rPr kumimoji="1" lang="en-US" sz="1400" dirty="0">
                <a:latin typeface="Tahoma" pitchFamily="34" charset="0"/>
                <a:sym typeface="Wingdings" pitchFamily="2" charset="2"/>
              </a:rPr>
              <a:t> = 001 --- D1 </a:t>
            </a:r>
            <a:r>
              <a:rPr kumimoji="1" lang="en-US" sz="1400" dirty="0" smtClean="0">
                <a:latin typeface="Tahoma" pitchFamily="34" charset="0"/>
                <a:sym typeface="Wingdings" pitchFamily="2" charset="2"/>
              </a:rPr>
              <a:t>=1</a:t>
            </a:r>
            <a:endParaRPr kumimoji="1" lang="en-US" sz="1400" dirty="0">
              <a:latin typeface="Tahoma" pitchFamily="34" charset="0"/>
              <a:sym typeface="Wingdings" pitchFamily="2" charset="2"/>
            </a:endParaRPr>
          </a:p>
          <a:p>
            <a:pPr lvl="2">
              <a:lnSpc>
                <a:spcPct val="110000"/>
              </a:lnSpc>
              <a:spcBef>
                <a:spcPct val="20000"/>
              </a:spcBef>
              <a:buClr>
                <a:srgbClr val="0033CC"/>
              </a:buClr>
            </a:pPr>
            <a:r>
              <a:rPr kumimoji="1" lang="en-US" sz="1400" dirty="0" err="1">
                <a:latin typeface="Tahoma" pitchFamily="34" charset="0"/>
                <a:sym typeface="Wingdings" pitchFamily="2" charset="2"/>
              </a:rPr>
              <a:t>abc</a:t>
            </a:r>
            <a:r>
              <a:rPr kumimoji="1" lang="en-US" sz="1400" dirty="0">
                <a:latin typeface="Tahoma" pitchFamily="34" charset="0"/>
                <a:sym typeface="Wingdings" pitchFamily="2" charset="2"/>
              </a:rPr>
              <a:t> = 010 --- D2= 1</a:t>
            </a:r>
          </a:p>
          <a:p>
            <a:pPr lvl="2">
              <a:lnSpc>
                <a:spcPct val="110000"/>
              </a:lnSpc>
              <a:spcBef>
                <a:spcPct val="20000"/>
              </a:spcBef>
              <a:buClr>
                <a:srgbClr val="0033CC"/>
              </a:buClr>
            </a:pPr>
            <a:r>
              <a:rPr kumimoji="1" lang="en-US" sz="1400" dirty="0" err="1">
                <a:latin typeface="Tahoma" pitchFamily="34" charset="0"/>
                <a:sym typeface="Wingdings" pitchFamily="2" charset="2"/>
              </a:rPr>
              <a:t>abc</a:t>
            </a:r>
            <a:r>
              <a:rPr kumimoji="1" lang="en-US" sz="1400" dirty="0">
                <a:latin typeface="Tahoma" pitchFamily="34" charset="0"/>
                <a:sym typeface="Wingdings" pitchFamily="2" charset="2"/>
              </a:rPr>
              <a:t> = 011 --- D3= 1</a:t>
            </a:r>
          </a:p>
        </p:txBody>
      </p:sp>
      <p:sp>
        <p:nvSpPr>
          <p:cNvPr id="8" name="Rectangle 2"/>
          <p:cNvSpPr>
            <a:spLocks noGrp="1" noChangeArrowheads="1"/>
          </p:cNvSpPr>
          <p:nvPr>
            <p:ph type="title"/>
          </p:nvPr>
        </p:nvSpPr>
        <p:spPr>
          <a:xfrm>
            <a:off x="457200" y="274638"/>
            <a:ext cx="7620000" cy="1143000"/>
          </a:xfrm>
        </p:spPr>
        <p:txBody>
          <a:bodyPr/>
          <a:lstStyle/>
          <a:p>
            <a:r>
              <a:rPr lang="en-US" dirty="0" smtClean="0"/>
              <a:t>Designing a 3 x 8 Line </a:t>
            </a:r>
            <a:r>
              <a:rPr lang="en-US" dirty="0"/>
              <a:t>D</a:t>
            </a:r>
            <a:r>
              <a:rPr lang="en-US" dirty="0" smtClean="0"/>
              <a:t>ecoder</a:t>
            </a:r>
          </a:p>
        </p:txBody>
      </p:sp>
    </p:spTree>
    <p:extLst>
      <p:ext uri="{BB962C8B-B14F-4D97-AF65-F5344CB8AC3E}">
        <p14:creationId xmlns:p14="http://schemas.microsoft.com/office/powerpoint/2010/main" val="2495372033"/>
      </p:ext>
    </p:extLst>
  </p:cSld>
  <p:clrMapOvr>
    <a:masterClrMapping/>
  </p:clrMapOvr>
  <p:transition xmlns:p14="http://schemas.microsoft.com/office/powerpoint/2010/main" spd="slow"/>
  <p:timing>
    <p:tnLst>
      <p:par>
        <p:cTn xmlns:p14="http://schemas.microsoft.com/office/powerpoint/2010/mai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8915400" cy="1143000"/>
          </a:xfrm>
        </p:spPr>
        <p:txBody>
          <a:bodyPr/>
          <a:lstStyle/>
          <a:p>
            <a:r>
              <a:rPr lang="en-US" dirty="0" smtClean="0"/>
              <a:t>More </a:t>
            </a:r>
            <a:r>
              <a:rPr lang="en-US" dirty="0" smtClean="0">
                <a:solidFill>
                  <a:srgbClr val="0000FF"/>
                </a:solidFill>
              </a:rPr>
              <a:t>Gate Combinations</a:t>
            </a:r>
            <a:r>
              <a:rPr lang="en-US" dirty="0" smtClean="0"/>
              <a:t>: </a:t>
            </a:r>
            <a:r>
              <a:rPr lang="en-US" dirty="0" smtClean="0">
                <a:solidFill>
                  <a:srgbClr val="0000FF"/>
                </a:solidFill>
              </a:rPr>
              <a:t>Encoders</a:t>
            </a:r>
            <a:endParaRPr lang="en-US" dirty="0">
              <a:solidFill>
                <a:srgbClr val="0000FF"/>
              </a:solidFill>
            </a:endParaRPr>
          </a:p>
        </p:txBody>
      </p:sp>
      <p:sp>
        <p:nvSpPr>
          <p:cNvPr id="3" name="Content Placeholder 2"/>
          <p:cNvSpPr>
            <a:spLocks noGrp="1"/>
          </p:cNvSpPr>
          <p:nvPr>
            <p:ph idx="1"/>
          </p:nvPr>
        </p:nvSpPr>
        <p:spPr>
          <a:xfrm>
            <a:off x="457200" y="1600200"/>
            <a:ext cx="7620000" cy="5257800"/>
          </a:xfrm>
        </p:spPr>
        <p:txBody>
          <a:bodyPr/>
          <a:lstStyle/>
          <a:p>
            <a:r>
              <a:rPr lang="en-US" dirty="0" smtClean="0"/>
              <a:t>8-to-3, output based on the single asserted line</a:t>
            </a:r>
          </a:p>
          <a:p>
            <a:r>
              <a:rPr lang="en-US" dirty="0" smtClean="0"/>
              <a:t>Inverse operation of decoders; </a:t>
            </a:r>
            <a:r>
              <a:rPr lang="en-US" b="1" i="1" dirty="0" smtClean="0">
                <a:solidFill>
                  <a:srgbClr val="0000FF"/>
                </a:solidFill>
              </a:rPr>
              <a:t>encodes selection in binary</a:t>
            </a:r>
          </a:p>
          <a:p>
            <a:r>
              <a:rPr lang="en-US" dirty="0" smtClean="0"/>
              <a:t>Given a line is asserted from a set of n input lines, this produces the output p such that log</a:t>
            </a:r>
            <a:r>
              <a:rPr lang="en-US" baseline="-25000" dirty="0" smtClean="0"/>
              <a:t>2</a:t>
            </a:r>
            <a:r>
              <a:rPr lang="en-US" dirty="0"/>
              <a:t>n</a:t>
            </a:r>
            <a:r>
              <a:rPr lang="en-US" dirty="0" smtClean="0"/>
              <a:t> = p</a:t>
            </a:r>
          </a:p>
          <a:p>
            <a:pPr lvl="1"/>
            <a:r>
              <a:rPr lang="en-US" dirty="0" smtClean="0"/>
              <a:t>In our 8-to-3 example, n is 8, </a:t>
            </a:r>
            <a:r>
              <a:rPr lang="en-US" dirty="0"/>
              <a:t>p</a:t>
            </a:r>
            <a:r>
              <a:rPr lang="en-US" dirty="0" smtClean="0"/>
              <a:t> is 3, and log</a:t>
            </a:r>
            <a:r>
              <a:rPr lang="en-US" baseline="-25000" dirty="0" smtClean="0"/>
              <a:t>2</a:t>
            </a:r>
            <a:r>
              <a:rPr lang="en-US" dirty="0" smtClean="0"/>
              <a:t>8 = 3</a:t>
            </a:r>
          </a:p>
          <a:p>
            <a:r>
              <a:rPr lang="en-US" dirty="0" smtClean="0"/>
              <a:t>Said another way: the encoder encodes the relative position of the input line that was asserted in the output</a:t>
            </a:r>
          </a:p>
          <a:p>
            <a:endParaRPr lang="en-US" dirty="0"/>
          </a:p>
          <a:p>
            <a:pPr marL="114300" indent="0">
              <a:buNone/>
            </a:pPr>
            <a:endParaRPr lang="en-US" dirty="0" smtClean="0"/>
          </a:p>
          <a:p>
            <a:r>
              <a:rPr lang="en-US" dirty="0"/>
              <a:t>Modified </a:t>
            </a:r>
            <a:r>
              <a:rPr lang="en-US" dirty="0" smtClean="0"/>
              <a:t>versions:</a:t>
            </a:r>
          </a:p>
          <a:p>
            <a:pPr lvl="1"/>
            <a:r>
              <a:rPr lang="en-US" dirty="0" smtClean="0"/>
              <a:t>priority encoders</a:t>
            </a:r>
          </a:p>
          <a:p>
            <a:pPr lvl="2"/>
            <a:r>
              <a:rPr lang="en-US" dirty="0" smtClean="0"/>
              <a:t>if more than one wire is asserted, pick priority</a:t>
            </a:r>
          </a:p>
          <a:p>
            <a:pPr lvl="2"/>
            <a:r>
              <a:rPr lang="en-US" dirty="0" smtClean="0"/>
              <a:t>Uses “</a:t>
            </a:r>
            <a:r>
              <a:rPr lang="en-US" b="1" dirty="0" smtClean="0"/>
              <a:t>don</a:t>
            </a:r>
            <a:r>
              <a:rPr lang="mr-IN" b="1" dirty="0" smtClean="0"/>
              <a:t>’</a:t>
            </a:r>
            <a:r>
              <a:rPr lang="en-US" b="1" dirty="0" smtClean="0"/>
              <a:t>t cares</a:t>
            </a:r>
            <a:r>
              <a:rPr lang="en-US" dirty="0" smtClean="0"/>
              <a:t>”</a:t>
            </a:r>
          </a:p>
          <a:p>
            <a:pPr lvl="2"/>
            <a:endParaRPr lang="en-US" dirty="0" smtClean="0"/>
          </a:p>
          <a:p>
            <a:pPr lvl="2"/>
            <a:endParaRPr lang="en-US" dirty="0"/>
          </a:p>
          <a:p>
            <a:pPr lvl="1"/>
            <a:endParaRPr lang="en-US"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4191000"/>
            <a:ext cx="2438399" cy="2172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791200" y="4419600"/>
            <a:ext cx="1007604"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dirty="0" smtClean="0"/>
              <a:t>Decoder</a:t>
            </a:r>
            <a:endParaRPr lang="en-US" dirty="0"/>
          </a:p>
        </p:txBody>
      </p:sp>
    </p:spTree>
    <p:extLst>
      <p:ext uri="{BB962C8B-B14F-4D97-AF65-F5344CB8AC3E}">
        <p14:creationId xmlns:p14="http://schemas.microsoft.com/office/powerpoint/2010/main" val="2699237785"/>
      </p:ext>
    </p:extLst>
  </p:cSld>
  <p:clrMapOvr>
    <a:masterClrMapping/>
  </p:clrMapOvr>
  <p:timing>
    <p:tnLst>
      <p:par>
        <p:cTn xmlns:p14="http://schemas.microsoft.com/office/powerpoint/2010/mai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620000" cy="1143000"/>
          </a:xfrm>
        </p:spPr>
        <p:txBody>
          <a:bodyPr/>
          <a:lstStyle/>
          <a:p>
            <a:r>
              <a:rPr lang="en-US" dirty="0" smtClean="0"/>
              <a:t>8x3</a:t>
            </a:r>
            <a:br>
              <a:rPr lang="en-US" dirty="0" smtClean="0"/>
            </a:br>
            <a:r>
              <a:rPr lang="en-US" dirty="0" smtClean="0"/>
              <a:t>Encoder</a:t>
            </a:r>
            <a:endParaRPr lang="en-US" dirty="0"/>
          </a:p>
        </p:txBody>
      </p:sp>
      <p:pic>
        <p:nvPicPr>
          <p:cNvPr id="7" name="Picture 6" descr="encode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1468" y="0"/>
            <a:ext cx="6106732" cy="6858000"/>
          </a:xfrm>
          <a:prstGeom prst="rect">
            <a:avLst/>
          </a:prstGeom>
        </p:spPr>
      </p:pic>
      <p:sp>
        <p:nvSpPr>
          <p:cNvPr id="8" name="TextBox 7"/>
          <p:cNvSpPr txBox="1"/>
          <p:nvPr/>
        </p:nvSpPr>
        <p:spPr>
          <a:xfrm>
            <a:off x="0" y="6642556"/>
            <a:ext cx="2743200" cy="215444"/>
          </a:xfrm>
          <a:prstGeom prst="rect">
            <a:avLst/>
          </a:prstGeom>
          <a:noFill/>
        </p:spPr>
        <p:txBody>
          <a:bodyPr wrap="square" rtlCol="0">
            <a:spAutoFit/>
          </a:bodyPr>
          <a:lstStyle/>
          <a:p>
            <a:r>
              <a:rPr lang="en-US" sz="800" dirty="0" smtClean="0"/>
              <a:t>Image source:</a:t>
            </a:r>
            <a:r>
              <a:rPr lang="en-US" sz="800" dirty="0"/>
              <a:t> http://</a:t>
            </a:r>
            <a:r>
              <a:rPr lang="en-US" sz="800" dirty="0" err="1" smtClean="0"/>
              <a:t>www.electronicsengineering.nbcafe.in</a:t>
            </a:r>
            <a:endParaRPr lang="en-US" sz="800" dirty="0"/>
          </a:p>
        </p:txBody>
      </p:sp>
    </p:spTree>
    <p:extLst>
      <p:ext uri="{BB962C8B-B14F-4D97-AF65-F5344CB8AC3E}">
        <p14:creationId xmlns:p14="http://schemas.microsoft.com/office/powerpoint/2010/main" val="1216813501"/>
      </p:ext>
    </p:extLst>
  </p:cSld>
  <p:clrMapOvr>
    <a:masterClrMapping/>
  </p:clrMapOvr>
  <p:timing>
    <p:tnLst>
      <p:par>
        <p:cTn xmlns:p14="http://schemas.microsoft.com/office/powerpoint/2010/mai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Read-Only Memory (</a:t>
            </a:r>
            <a:r>
              <a:rPr lang="en-US" b="1" dirty="0" smtClean="0">
                <a:solidFill>
                  <a:srgbClr val="0000FF"/>
                </a:solidFill>
              </a:rPr>
              <a:t>ROM</a:t>
            </a:r>
            <a:r>
              <a:rPr lang="en-US" dirty="0" smtClean="0"/>
              <a:t>)</a:t>
            </a:r>
            <a:endParaRPr lang="en-US" dirty="0"/>
          </a:p>
        </p:txBody>
      </p:sp>
      <p:sp>
        <p:nvSpPr>
          <p:cNvPr id="3" name="Content Placeholder 2"/>
          <p:cNvSpPr>
            <a:spLocks noGrp="1"/>
          </p:cNvSpPr>
          <p:nvPr>
            <p:ph idx="1"/>
          </p:nvPr>
        </p:nvSpPr>
        <p:spPr/>
        <p:txBody>
          <a:bodyPr/>
          <a:lstStyle/>
          <a:p>
            <a:r>
              <a:rPr lang="en-US" sz="1800" dirty="0" smtClean="0"/>
              <a:t>Memory that is implemented with </a:t>
            </a:r>
            <a:r>
              <a:rPr lang="en-US" sz="1800" b="1" dirty="0" smtClean="0">
                <a:solidFill>
                  <a:srgbClr val="0000FF"/>
                </a:solidFill>
              </a:rPr>
              <a:t>combinational circuits</a:t>
            </a:r>
          </a:p>
          <a:p>
            <a:pPr lvl="1"/>
            <a:r>
              <a:rPr lang="en-US" sz="1800" dirty="0" smtClean="0"/>
              <a:t>Combinational circuits are often referred to as “memoryless” circuits because their output depends only on their current input and no history of prior inputs is retained</a:t>
            </a:r>
          </a:p>
          <a:p>
            <a:pPr lvl="1"/>
            <a:endParaRPr lang="en-US" sz="1800" dirty="0" smtClean="0"/>
          </a:p>
          <a:p>
            <a:r>
              <a:rPr lang="en-US" sz="1800" dirty="0" smtClean="0"/>
              <a:t>Memory unit that performs </a:t>
            </a:r>
            <a:r>
              <a:rPr lang="en-US" sz="1800" b="1" dirty="0" smtClean="0">
                <a:solidFill>
                  <a:srgbClr val="0000FF"/>
                </a:solidFill>
              </a:rPr>
              <a:t>only the read </a:t>
            </a:r>
            <a:r>
              <a:rPr lang="en-US" sz="1800" dirty="0" smtClean="0"/>
              <a:t>operation</a:t>
            </a:r>
          </a:p>
          <a:p>
            <a:pPr lvl="1"/>
            <a:r>
              <a:rPr lang="en-US" sz="1800" dirty="0" smtClean="0"/>
              <a:t>Binary information stored in a ROM is permanent and is created during the fabrication process</a:t>
            </a:r>
          </a:p>
          <a:p>
            <a:pPr lvl="1"/>
            <a:r>
              <a:rPr lang="en-US" sz="1800" dirty="0" smtClean="0"/>
              <a:t>A given input to the ROM (</a:t>
            </a:r>
            <a:r>
              <a:rPr lang="en-US" sz="1800" dirty="0" smtClean="0">
                <a:solidFill>
                  <a:srgbClr val="FF6600"/>
                </a:solidFill>
              </a:rPr>
              <a:t>address </a:t>
            </a:r>
            <a:r>
              <a:rPr lang="en-US" sz="1800" b="1" dirty="0" smtClean="0">
                <a:solidFill>
                  <a:srgbClr val="FF6600"/>
                </a:solidFill>
              </a:rPr>
              <a:t>input</a:t>
            </a:r>
            <a:r>
              <a:rPr lang="en-US" sz="1800" dirty="0" smtClean="0">
                <a:solidFill>
                  <a:srgbClr val="FF6600"/>
                </a:solidFill>
              </a:rPr>
              <a:t> </a:t>
            </a:r>
            <a:r>
              <a:rPr lang="en-US" sz="1800" dirty="0" smtClean="0">
                <a:solidFill>
                  <a:srgbClr val="FF6600"/>
                </a:solidFill>
              </a:rPr>
              <a:t>lines</a:t>
            </a:r>
            <a:r>
              <a:rPr lang="en-US" sz="1800" dirty="0" smtClean="0"/>
              <a:t>) always produces the same output (</a:t>
            </a:r>
            <a:r>
              <a:rPr lang="en-US" sz="1800" dirty="0" smtClean="0">
                <a:solidFill>
                  <a:srgbClr val="FF6600"/>
                </a:solidFill>
              </a:rPr>
              <a:t>data </a:t>
            </a:r>
            <a:r>
              <a:rPr lang="en-US" sz="1800" b="1" dirty="0" smtClean="0">
                <a:solidFill>
                  <a:srgbClr val="FF6600"/>
                </a:solidFill>
              </a:rPr>
              <a:t>output</a:t>
            </a:r>
            <a:r>
              <a:rPr lang="en-US" sz="1800" dirty="0" smtClean="0">
                <a:solidFill>
                  <a:srgbClr val="FF6600"/>
                </a:solidFill>
              </a:rPr>
              <a:t> lines</a:t>
            </a:r>
            <a:r>
              <a:rPr lang="en-US" sz="1800" dirty="0" smtClean="0"/>
              <a:t>)</a:t>
            </a:r>
          </a:p>
          <a:p>
            <a:pPr lvl="2"/>
            <a:r>
              <a:rPr lang="en-US" sz="1600" b="1" i="1" dirty="0" smtClean="0">
                <a:solidFill>
                  <a:srgbClr val="FF6600"/>
                </a:solidFill>
              </a:rPr>
              <a:t>“Hard-wired”</a:t>
            </a:r>
            <a:r>
              <a:rPr lang="en-US" sz="1600" dirty="0" smtClean="0"/>
              <a:t> to either ground or </a:t>
            </a:r>
            <a:r>
              <a:rPr lang="en-US" sz="1600" dirty="0" err="1" smtClean="0"/>
              <a:t>Vcc</a:t>
            </a:r>
            <a:endParaRPr lang="en-US" sz="1600" dirty="0" smtClean="0"/>
          </a:p>
          <a:p>
            <a:pPr lvl="1"/>
            <a:r>
              <a:rPr lang="en-US" sz="1800" dirty="0" smtClean="0"/>
              <a:t>Because the outputs are a function only of the present inputs, ROM is a </a:t>
            </a:r>
            <a:r>
              <a:rPr lang="en-US" sz="1800" b="1" dirty="0" smtClean="0">
                <a:solidFill>
                  <a:srgbClr val="0000FF"/>
                </a:solidFill>
              </a:rPr>
              <a:t>combinational circuit</a:t>
            </a:r>
            <a:endParaRPr lang="en-US" sz="1800" b="1" dirty="0">
              <a:solidFill>
                <a:srgbClr val="0000FF"/>
              </a:solidFill>
            </a:endParaRPr>
          </a:p>
        </p:txBody>
      </p:sp>
    </p:spTree>
    <p:extLst>
      <p:ext uri="{BB962C8B-B14F-4D97-AF65-F5344CB8AC3E}">
        <p14:creationId xmlns:p14="http://schemas.microsoft.com/office/powerpoint/2010/main" val="1343796528"/>
      </p:ext>
    </p:extLst>
  </p:cSld>
  <p:clrMapOvr>
    <a:masterClrMapping/>
  </p:clrMapOvr>
  <p:timing>
    <p:tnLst>
      <p:par>
        <p:cTn xmlns:p14="http://schemas.microsoft.com/office/powerpoint/2010/mai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381000" y="0"/>
            <a:ext cx="8382000" cy="1143000"/>
          </a:xfrm>
        </p:spPr>
        <p:txBody>
          <a:bodyPr/>
          <a:lstStyle/>
          <a:p>
            <a:r>
              <a:rPr lang="en-US" dirty="0" smtClean="0"/>
              <a:t>Memory as a Logical Component </a:t>
            </a:r>
            <a:r>
              <a:rPr lang="en-US" sz="2200" dirty="0" smtClean="0"/>
              <a:t>(</a:t>
            </a:r>
            <a:r>
              <a:rPr lang="en-US" sz="2200" dirty="0" err="1" smtClean="0"/>
              <a:t>v.s</a:t>
            </a:r>
            <a:r>
              <a:rPr lang="en-US" sz="2200" dirty="0" smtClean="0"/>
              <a:t>. Internal Gate Logic to Build a Memory Cell (coming soon!))</a:t>
            </a:r>
          </a:p>
        </p:txBody>
      </p:sp>
      <p:grpSp>
        <p:nvGrpSpPr>
          <p:cNvPr id="43011" name="Group 3"/>
          <p:cNvGrpSpPr>
            <a:grpSpLocks/>
          </p:cNvGrpSpPr>
          <p:nvPr/>
        </p:nvGrpSpPr>
        <p:grpSpPr bwMode="auto">
          <a:xfrm>
            <a:off x="2987675" y="2339975"/>
            <a:ext cx="914400" cy="3657600"/>
            <a:chOff x="720" y="816"/>
            <a:chExt cx="576" cy="2304"/>
          </a:xfrm>
        </p:grpSpPr>
        <p:grpSp>
          <p:nvGrpSpPr>
            <p:cNvPr id="43035" name="Group 4"/>
            <p:cNvGrpSpPr>
              <a:grpSpLocks/>
            </p:cNvGrpSpPr>
            <p:nvPr/>
          </p:nvGrpSpPr>
          <p:grpSpPr bwMode="auto">
            <a:xfrm>
              <a:off x="720" y="816"/>
              <a:ext cx="576" cy="576"/>
              <a:chOff x="720" y="816"/>
              <a:chExt cx="576" cy="576"/>
            </a:xfrm>
          </p:grpSpPr>
          <p:grpSp>
            <p:nvGrpSpPr>
              <p:cNvPr id="43075" name="Group 5"/>
              <p:cNvGrpSpPr>
                <a:grpSpLocks/>
              </p:cNvGrpSpPr>
              <p:nvPr/>
            </p:nvGrpSpPr>
            <p:grpSpPr bwMode="auto">
              <a:xfrm>
                <a:off x="720" y="816"/>
                <a:ext cx="576" cy="144"/>
                <a:chOff x="720" y="816"/>
                <a:chExt cx="576" cy="144"/>
              </a:xfrm>
            </p:grpSpPr>
            <p:sp>
              <p:nvSpPr>
                <p:cNvPr id="43085" name="Rectangle 6"/>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86" name="Rectangle 7"/>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nvGrpSpPr>
              <p:cNvPr id="43076" name="Group 8"/>
              <p:cNvGrpSpPr>
                <a:grpSpLocks/>
              </p:cNvGrpSpPr>
              <p:nvPr/>
            </p:nvGrpSpPr>
            <p:grpSpPr bwMode="auto">
              <a:xfrm>
                <a:off x="720" y="960"/>
                <a:ext cx="576" cy="144"/>
                <a:chOff x="720" y="816"/>
                <a:chExt cx="576" cy="144"/>
              </a:xfrm>
            </p:grpSpPr>
            <p:sp>
              <p:nvSpPr>
                <p:cNvPr id="43083" name="Rectangle 9"/>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84" name="Rectangle 10"/>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nvGrpSpPr>
              <p:cNvPr id="43077" name="Group 11"/>
              <p:cNvGrpSpPr>
                <a:grpSpLocks/>
              </p:cNvGrpSpPr>
              <p:nvPr/>
            </p:nvGrpSpPr>
            <p:grpSpPr bwMode="auto">
              <a:xfrm>
                <a:off x="720" y="1104"/>
                <a:ext cx="576" cy="144"/>
                <a:chOff x="720" y="816"/>
                <a:chExt cx="576" cy="144"/>
              </a:xfrm>
            </p:grpSpPr>
            <p:sp>
              <p:nvSpPr>
                <p:cNvPr id="43081" name="Rectangle 12"/>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82" name="Rectangle 13"/>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nvGrpSpPr>
              <p:cNvPr id="43078" name="Group 14"/>
              <p:cNvGrpSpPr>
                <a:grpSpLocks/>
              </p:cNvGrpSpPr>
              <p:nvPr/>
            </p:nvGrpSpPr>
            <p:grpSpPr bwMode="auto">
              <a:xfrm>
                <a:off x="720" y="1248"/>
                <a:ext cx="576" cy="144"/>
                <a:chOff x="720" y="816"/>
                <a:chExt cx="576" cy="144"/>
              </a:xfrm>
            </p:grpSpPr>
            <p:sp>
              <p:nvSpPr>
                <p:cNvPr id="43079" name="Rectangle 15"/>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80" name="Rectangle 16"/>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grpSp>
          <p:nvGrpSpPr>
            <p:cNvPr id="43036" name="Group 17"/>
            <p:cNvGrpSpPr>
              <a:grpSpLocks/>
            </p:cNvGrpSpPr>
            <p:nvPr/>
          </p:nvGrpSpPr>
          <p:grpSpPr bwMode="auto">
            <a:xfrm>
              <a:off x="720" y="1392"/>
              <a:ext cx="576" cy="576"/>
              <a:chOff x="720" y="816"/>
              <a:chExt cx="576" cy="576"/>
            </a:xfrm>
          </p:grpSpPr>
          <p:grpSp>
            <p:nvGrpSpPr>
              <p:cNvPr id="43063" name="Group 18"/>
              <p:cNvGrpSpPr>
                <a:grpSpLocks/>
              </p:cNvGrpSpPr>
              <p:nvPr/>
            </p:nvGrpSpPr>
            <p:grpSpPr bwMode="auto">
              <a:xfrm>
                <a:off x="720" y="816"/>
                <a:ext cx="576" cy="144"/>
                <a:chOff x="720" y="816"/>
                <a:chExt cx="576" cy="144"/>
              </a:xfrm>
            </p:grpSpPr>
            <p:sp>
              <p:nvSpPr>
                <p:cNvPr id="43073" name="Rectangle 19"/>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74" name="Rectangle 20"/>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nvGrpSpPr>
              <p:cNvPr id="43064" name="Group 21"/>
              <p:cNvGrpSpPr>
                <a:grpSpLocks/>
              </p:cNvGrpSpPr>
              <p:nvPr/>
            </p:nvGrpSpPr>
            <p:grpSpPr bwMode="auto">
              <a:xfrm>
                <a:off x="720" y="960"/>
                <a:ext cx="576" cy="144"/>
                <a:chOff x="720" y="816"/>
                <a:chExt cx="576" cy="144"/>
              </a:xfrm>
            </p:grpSpPr>
            <p:sp>
              <p:nvSpPr>
                <p:cNvPr id="43071" name="Rectangle 22"/>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72" name="Rectangle 23"/>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nvGrpSpPr>
              <p:cNvPr id="43065" name="Group 24"/>
              <p:cNvGrpSpPr>
                <a:grpSpLocks/>
              </p:cNvGrpSpPr>
              <p:nvPr/>
            </p:nvGrpSpPr>
            <p:grpSpPr bwMode="auto">
              <a:xfrm>
                <a:off x="720" y="1104"/>
                <a:ext cx="576" cy="144"/>
                <a:chOff x="720" y="816"/>
                <a:chExt cx="576" cy="144"/>
              </a:xfrm>
            </p:grpSpPr>
            <p:sp>
              <p:nvSpPr>
                <p:cNvPr id="43069" name="Rectangle 25"/>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70" name="Rectangle 26"/>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nvGrpSpPr>
              <p:cNvPr id="43066" name="Group 27"/>
              <p:cNvGrpSpPr>
                <a:grpSpLocks/>
              </p:cNvGrpSpPr>
              <p:nvPr/>
            </p:nvGrpSpPr>
            <p:grpSpPr bwMode="auto">
              <a:xfrm>
                <a:off x="720" y="1248"/>
                <a:ext cx="576" cy="144"/>
                <a:chOff x="720" y="816"/>
                <a:chExt cx="576" cy="144"/>
              </a:xfrm>
            </p:grpSpPr>
            <p:sp>
              <p:nvSpPr>
                <p:cNvPr id="43067" name="Rectangle 28"/>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68" name="Rectangle 29"/>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grpSp>
          <p:nvGrpSpPr>
            <p:cNvPr id="43037" name="Group 30"/>
            <p:cNvGrpSpPr>
              <a:grpSpLocks/>
            </p:cNvGrpSpPr>
            <p:nvPr/>
          </p:nvGrpSpPr>
          <p:grpSpPr bwMode="auto">
            <a:xfrm>
              <a:off x="720" y="1968"/>
              <a:ext cx="576" cy="576"/>
              <a:chOff x="720" y="816"/>
              <a:chExt cx="576" cy="576"/>
            </a:xfrm>
          </p:grpSpPr>
          <p:grpSp>
            <p:nvGrpSpPr>
              <p:cNvPr id="43051" name="Group 31"/>
              <p:cNvGrpSpPr>
                <a:grpSpLocks/>
              </p:cNvGrpSpPr>
              <p:nvPr/>
            </p:nvGrpSpPr>
            <p:grpSpPr bwMode="auto">
              <a:xfrm>
                <a:off x="720" y="816"/>
                <a:ext cx="576" cy="144"/>
                <a:chOff x="720" y="816"/>
                <a:chExt cx="576" cy="144"/>
              </a:xfrm>
            </p:grpSpPr>
            <p:sp>
              <p:nvSpPr>
                <p:cNvPr id="43061" name="Rectangle 32"/>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62" name="Rectangle 33"/>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nvGrpSpPr>
              <p:cNvPr id="43052" name="Group 34"/>
              <p:cNvGrpSpPr>
                <a:grpSpLocks/>
              </p:cNvGrpSpPr>
              <p:nvPr/>
            </p:nvGrpSpPr>
            <p:grpSpPr bwMode="auto">
              <a:xfrm>
                <a:off x="720" y="960"/>
                <a:ext cx="576" cy="144"/>
                <a:chOff x="720" y="816"/>
                <a:chExt cx="576" cy="144"/>
              </a:xfrm>
            </p:grpSpPr>
            <p:sp>
              <p:nvSpPr>
                <p:cNvPr id="43059" name="Rectangle 35"/>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60" name="Rectangle 36"/>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nvGrpSpPr>
              <p:cNvPr id="43053" name="Group 37"/>
              <p:cNvGrpSpPr>
                <a:grpSpLocks/>
              </p:cNvGrpSpPr>
              <p:nvPr/>
            </p:nvGrpSpPr>
            <p:grpSpPr bwMode="auto">
              <a:xfrm>
                <a:off x="720" y="1104"/>
                <a:ext cx="576" cy="144"/>
                <a:chOff x="720" y="816"/>
                <a:chExt cx="576" cy="144"/>
              </a:xfrm>
            </p:grpSpPr>
            <p:sp>
              <p:nvSpPr>
                <p:cNvPr id="43057" name="Rectangle 38"/>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58" name="Rectangle 39"/>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nvGrpSpPr>
              <p:cNvPr id="43054" name="Group 40"/>
              <p:cNvGrpSpPr>
                <a:grpSpLocks/>
              </p:cNvGrpSpPr>
              <p:nvPr/>
            </p:nvGrpSpPr>
            <p:grpSpPr bwMode="auto">
              <a:xfrm>
                <a:off x="720" y="1248"/>
                <a:ext cx="576" cy="144"/>
                <a:chOff x="720" y="816"/>
                <a:chExt cx="576" cy="144"/>
              </a:xfrm>
            </p:grpSpPr>
            <p:sp>
              <p:nvSpPr>
                <p:cNvPr id="43055" name="Rectangle 41"/>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56" name="Rectangle 42"/>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grpSp>
          <p:nvGrpSpPr>
            <p:cNvPr id="43038" name="Group 43"/>
            <p:cNvGrpSpPr>
              <a:grpSpLocks/>
            </p:cNvGrpSpPr>
            <p:nvPr/>
          </p:nvGrpSpPr>
          <p:grpSpPr bwMode="auto">
            <a:xfrm>
              <a:off x="720" y="2544"/>
              <a:ext cx="576" cy="576"/>
              <a:chOff x="720" y="816"/>
              <a:chExt cx="576" cy="576"/>
            </a:xfrm>
          </p:grpSpPr>
          <p:grpSp>
            <p:nvGrpSpPr>
              <p:cNvPr id="43039" name="Group 44"/>
              <p:cNvGrpSpPr>
                <a:grpSpLocks/>
              </p:cNvGrpSpPr>
              <p:nvPr/>
            </p:nvGrpSpPr>
            <p:grpSpPr bwMode="auto">
              <a:xfrm>
                <a:off x="720" y="816"/>
                <a:ext cx="576" cy="144"/>
                <a:chOff x="720" y="816"/>
                <a:chExt cx="576" cy="144"/>
              </a:xfrm>
            </p:grpSpPr>
            <p:sp>
              <p:nvSpPr>
                <p:cNvPr id="43049" name="Rectangle 45"/>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50" name="Rectangle 46"/>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nvGrpSpPr>
              <p:cNvPr id="43040" name="Group 47"/>
              <p:cNvGrpSpPr>
                <a:grpSpLocks/>
              </p:cNvGrpSpPr>
              <p:nvPr/>
            </p:nvGrpSpPr>
            <p:grpSpPr bwMode="auto">
              <a:xfrm>
                <a:off x="720" y="960"/>
                <a:ext cx="576" cy="144"/>
                <a:chOff x="720" y="816"/>
                <a:chExt cx="576" cy="144"/>
              </a:xfrm>
            </p:grpSpPr>
            <p:sp>
              <p:nvSpPr>
                <p:cNvPr id="43047" name="Rectangle 48"/>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48" name="Rectangle 49"/>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nvGrpSpPr>
              <p:cNvPr id="43041" name="Group 50"/>
              <p:cNvGrpSpPr>
                <a:grpSpLocks/>
              </p:cNvGrpSpPr>
              <p:nvPr/>
            </p:nvGrpSpPr>
            <p:grpSpPr bwMode="auto">
              <a:xfrm>
                <a:off x="720" y="1104"/>
                <a:ext cx="576" cy="144"/>
                <a:chOff x="720" y="816"/>
                <a:chExt cx="576" cy="144"/>
              </a:xfrm>
            </p:grpSpPr>
            <p:sp>
              <p:nvSpPr>
                <p:cNvPr id="43045" name="Rectangle 51"/>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46" name="Rectangle 52"/>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nvGrpSpPr>
              <p:cNvPr id="43042" name="Group 53"/>
              <p:cNvGrpSpPr>
                <a:grpSpLocks/>
              </p:cNvGrpSpPr>
              <p:nvPr/>
            </p:nvGrpSpPr>
            <p:grpSpPr bwMode="auto">
              <a:xfrm>
                <a:off x="720" y="1248"/>
                <a:ext cx="576" cy="144"/>
                <a:chOff x="720" y="816"/>
                <a:chExt cx="576" cy="144"/>
              </a:xfrm>
            </p:grpSpPr>
            <p:sp>
              <p:nvSpPr>
                <p:cNvPr id="43043" name="Rectangle 54"/>
                <p:cNvSpPr>
                  <a:spLocks noChangeArrowheads="1"/>
                </p:cNvSpPr>
                <p:nvPr/>
              </p:nvSpPr>
              <p:spPr bwMode="auto">
                <a:xfrm>
                  <a:off x="720"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sp>
              <p:nvSpPr>
                <p:cNvPr id="43044" name="Rectangle 55"/>
                <p:cNvSpPr>
                  <a:spLocks noChangeArrowheads="1"/>
                </p:cNvSpPr>
                <p:nvPr/>
              </p:nvSpPr>
              <p:spPr bwMode="auto">
                <a:xfrm>
                  <a:off x="1008" y="816"/>
                  <a:ext cx="288" cy="14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sz="1400" b="1"/>
                </a:p>
              </p:txBody>
            </p:sp>
          </p:grpSp>
        </p:grpSp>
      </p:grpSp>
      <p:sp>
        <p:nvSpPr>
          <p:cNvPr id="43012" name="Text Box 57"/>
          <p:cNvSpPr txBox="1">
            <a:spLocks noChangeArrowheads="1"/>
          </p:cNvSpPr>
          <p:nvPr/>
        </p:nvSpPr>
        <p:spPr bwMode="auto">
          <a:xfrm>
            <a:off x="2066925" y="2335213"/>
            <a:ext cx="828675"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algn="r" eaLnBrk="1" hangingPunct="1">
              <a:lnSpc>
                <a:spcPct val="125000"/>
              </a:lnSpc>
            </a:pPr>
            <a:r>
              <a:rPr lang="en-US">
                <a:latin typeface="Courier New" pitchFamily="49" charset="0"/>
              </a:rPr>
              <a:t>0 0 0 0</a:t>
            </a:r>
          </a:p>
          <a:p>
            <a:pPr algn="r" eaLnBrk="1" hangingPunct="1">
              <a:lnSpc>
                <a:spcPct val="125000"/>
              </a:lnSpc>
            </a:pPr>
            <a:r>
              <a:rPr lang="en-US">
                <a:latin typeface="Courier New" pitchFamily="49" charset="0"/>
              </a:rPr>
              <a:t>0 0 0 1</a:t>
            </a:r>
          </a:p>
          <a:p>
            <a:pPr algn="r" eaLnBrk="1" hangingPunct="1">
              <a:lnSpc>
                <a:spcPct val="125000"/>
              </a:lnSpc>
            </a:pPr>
            <a:r>
              <a:rPr lang="en-US">
                <a:latin typeface="Courier New" pitchFamily="49" charset="0"/>
              </a:rPr>
              <a:t>0 0 1 0</a:t>
            </a:r>
          </a:p>
          <a:p>
            <a:pPr algn="r" eaLnBrk="1" hangingPunct="1">
              <a:lnSpc>
                <a:spcPct val="125000"/>
              </a:lnSpc>
            </a:pPr>
            <a:r>
              <a:rPr lang="en-US">
                <a:latin typeface="Courier New" pitchFamily="49" charset="0"/>
              </a:rPr>
              <a:t>0 0 1 1</a:t>
            </a:r>
          </a:p>
          <a:p>
            <a:pPr algn="r" eaLnBrk="1" hangingPunct="1">
              <a:lnSpc>
                <a:spcPct val="125000"/>
              </a:lnSpc>
            </a:pPr>
            <a:r>
              <a:rPr lang="en-US">
                <a:latin typeface="Courier New" pitchFamily="49" charset="0"/>
              </a:rPr>
              <a:t>0 1 0 0</a:t>
            </a:r>
          </a:p>
          <a:p>
            <a:pPr algn="r" eaLnBrk="1" hangingPunct="1">
              <a:lnSpc>
                <a:spcPct val="125000"/>
              </a:lnSpc>
            </a:pPr>
            <a:r>
              <a:rPr lang="en-US">
                <a:latin typeface="Courier New" pitchFamily="49" charset="0"/>
              </a:rPr>
              <a:t>0 1 0 1</a:t>
            </a:r>
          </a:p>
          <a:p>
            <a:pPr algn="r" eaLnBrk="1" hangingPunct="1">
              <a:lnSpc>
                <a:spcPct val="125000"/>
              </a:lnSpc>
            </a:pPr>
            <a:r>
              <a:rPr lang="en-US">
                <a:latin typeface="Courier New" pitchFamily="49" charset="0"/>
              </a:rPr>
              <a:t>0 1 1 0</a:t>
            </a:r>
          </a:p>
          <a:p>
            <a:pPr algn="r" eaLnBrk="1" hangingPunct="1">
              <a:lnSpc>
                <a:spcPct val="125000"/>
              </a:lnSpc>
            </a:pPr>
            <a:r>
              <a:rPr lang="en-US">
                <a:latin typeface="Courier New" pitchFamily="49" charset="0"/>
              </a:rPr>
              <a:t>0 1 1 1</a:t>
            </a:r>
          </a:p>
          <a:p>
            <a:pPr algn="r" eaLnBrk="1" hangingPunct="1">
              <a:lnSpc>
                <a:spcPct val="125000"/>
              </a:lnSpc>
            </a:pPr>
            <a:r>
              <a:rPr lang="en-US">
                <a:latin typeface="Courier New" pitchFamily="49" charset="0"/>
              </a:rPr>
              <a:t>1 0 0 0</a:t>
            </a:r>
          </a:p>
          <a:p>
            <a:pPr algn="r" eaLnBrk="1" hangingPunct="1">
              <a:lnSpc>
                <a:spcPct val="125000"/>
              </a:lnSpc>
            </a:pPr>
            <a:r>
              <a:rPr lang="en-US">
                <a:latin typeface="Courier New" pitchFamily="49" charset="0"/>
              </a:rPr>
              <a:t>1 0 0 1</a:t>
            </a:r>
          </a:p>
          <a:p>
            <a:pPr algn="r" eaLnBrk="1" hangingPunct="1">
              <a:lnSpc>
                <a:spcPct val="125000"/>
              </a:lnSpc>
            </a:pPr>
            <a:r>
              <a:rPr lang="en-US">
                <a:latin typeface="Courier New" pitchFamily="49" charset="0"/>
              </a:rPr>
              <a:t>1 0 1 0</a:t>
            </a:r>
          </a:p>
          <a:p>
            <a:pPr algn="r" eaLnBrk="1" hangingPunct="1">
              <a:lnSpc>
                <a:spcPct val="125000"/>
              </a:lnSpc>
            </a:pPr>
            <a:r>
              <a:rPr lang="en-US">
                <a:latin typeface="Courier New" pitchFamily="49" charset="0"/>
              </a:rPr>
              <a:t>1 0 1 1</a:t>
            </a:r>
          </a:p>
          <a:p>
            <a:pPr algn="r" eaLnBrk="1" hangingPunct="1">
              <a:lnSpc>
                <a:spcPct val="125000"/>
              </a:lnSpc>
            </a:pPr>
            <a:r>
              <a:rPr lang="en-US">
                <a:latin typeface="Courier New" pitchFamily="49" charset="0"/>
              </a:rPr>
              <a:t>1 1 0 0</a:t>
            </a:r>
          </a:p>
          <a:p>
            <a:pPr algn="r" eaLnBrk="1" hangingPunct="1">
              <a:lnSpc>
                <a:spcPct val="125000"/>
              </a:lnSpc>
            </a:pPr>
            <a:r>
              <a:rPr lang="en-US">
                <a:latin typeface="Courier New" pitchFamily="49" charset="0"/>
              </a:rPr>
              <a:t>1 1 0 1</a:t>
            </a:r>
          </a:p>
          <a:p>
            <a:pPr algn="r" eaLnBrk="1" hangingPunct="1">
              <a:lnSpc>
                <a:spcPct val="125000"/>
              </a:lnSpc>
            </a:pPr>
            <a:r>
              <a:rPr lang="en-US">
                <a:latin typeface="Courier New" pitchFamily="49" charset="0"/>
              </a:rPr>
              <a:t>1 1 1 0</a:t>
            </a:r>
          </a:p>
          <a:p>
            <a:pPr algn="r" eaLnBrk="1" hangingPunct="1">
              <a:lnSpc>
                <a:spcPct val="125000"/>
              </a:lnSpc>
            </a:pPr>
            <a:r>
              <a:rPr lang="en-US">
                <a:latin typeface="Courier New" pitchFamily="49" charset="0"/>
              </a:rPr>
              <a:t>1 1 1 1</a:t>
            </a:r>
          </a:p>
        </p:txBody>
      </p:sp>
      <p:sp>
        <p:nvSpPr>
          <p:cNvPr id="43013" name="Line 59"/>
          <p:cNvSpPr>
            <a:spLocks noChangeShapeType="1"/>
          </p:cNvSpPr>
          <p:nvPr/>
        </p:nvSpPr>
        <p:spPr bwMode="auto">
          <a:xfrm>
            <a:off x="1189038" y="1903413"/>
            <a:ext cx="10048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3014" name="Text Box 62"/>
          <p:cNvSpPr txBox="1">
            <a:spLocks noChangeArrowheads="1"/>
          </p:cNvSpPr>
          <p:nvPr/>
        </p:nvSpPr>
        <p:spPr bwMode="auto">
          <a:xfrm>
            <a:off x="476250" y="1209675"/>
            <a:ext cx="396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r>
              <a:rPr lang="en-US" sz="1400">
                <a:latin typeface="Courier New" pitchFamily="49" charset="0"/>
              </a:rPr>
              <a:t>A0</a:t>
            </a:r>
          </a:p>
        </p:txBody>
      </p:sp>
      <p:sp>
        <p:nvSpPr>
          <p:cNvPr id="43015" name="Text Box 63"/>
          <p:cNvSpPr txBox="1">
            <a:spLocks noChangeArrowheads="1"/>
          </p:cNvSpPr>
          <p:nvPr/>
        </p:nvSpPr>
        <p:spPr bwMode="auto">
          <a:xfrm>
            <a:off x="901700" y="1423988"/>
            <a:ext cx="449263"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r>
              <a:rPr lang="en-US" sz="1400">
                <a:latin typeface="Courier New" pitchFamily="49" charset="0"/>
              </a:rPr>
              <a:t>A1</a:t>
            </a:r>
          </a:p>
        </p:txBody>
      </p:sp>
      <p:sp>
        <p:nvSpPr>
          <p:cNvPr id="43016" name="Text Box 64"/>
          <p:cNvSpPr txBox="1">
            <a:spLocks noChangeArrowheads="1"/>
          </p:cNvSpPr>
          <p:nvPr/>
        </p:nvSpPr>
        <p:spPr bwMode="auto">
          <a:xfrm>
            <a:off x="457200" y="1538288"/>
            <a:ext cx="396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r>
              <a:rPr lang="en-US" sz="1400">
                <a:latin typeface="Courier New" pitchFamily="49" charset="0"/>
              </a:rPr>
              <a:t>A2</a:t>
            </a:r>
          </a:p>
        </p:txBody>
      </p:sp>
      <p:sp>
        <p:nvSpPr>
          <p:cNvPr id="43017" name="Text Box 65"/>
          <p:cNvSpPr txBox="1">
            <a:spLocks noChangeArrowheads="1"/>
          </p:cNvSpPr>
          <p:nvPr/>
        </p:nvSpPr>
        <p:spPr bwMode="auto">
          <a:xfrm>
            <a:off x="882650" y="1766888"/>
            <a:ext cx="396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r>
              <a:rPr lang="en-US" sz="1400">
                <a:latin typeface="Courier New" pitchFamily="49" charset="0"/>
              </a:rPr>
              <a:t>A3</a:t>
            </a:r>
          </a:p>
        </p:txBody>
      </p:sp>
      <p:sp>
        <p:nvSpPr>
          <p:cNvPr id="43018" name="Text Box 68"/>
          <p:cNvSpPr txBox="1">
            <a:spLocks noChangeArrowheads="1"/>
          </p:cNvSpPr>
          <p:nvPr/>
        </p:nvSpPr>
        <p:spPr bwMode="auto">
          <a:xfrm>
            <a:off x="4846638" y="3686175"/>
            <a:ext cx="1369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r>
              <a:rPr lang="en-US" sz="1400" dirty="0">
                <a:latin typeface="Courier New" pitchFamily="49" charset="0"/>
              </a:rPr>
              <a:t>DATA BIT </a:t>
            </a:r>
            <a:r>
              <a:rPr lang="en-US" sz="1400" dirty="0" smtClean="0">
                <a:latin typeface="Courier New" pitchFamily="49" charset="0"/>
              </a:rPr>
              <a:t>D1</a:t>
            </a:r>
            <a:endParaRPr lang="en-US" sz="1400" dirty="0">
              <a:latin typeface="Courier New" pitchFamily="49" charset="0"/>
            </a:endParaRPr>
          </a:p>
        </p:txBody>
      </p:sp>
      <p:sp>
        <p:nvSpPr>
          <p:cNvPr id="43019" name="Text Box 69"/>
          <p:cNvSpPr txBox="1">
            <a:spLocks noChangeArrowheads="1"/>
          </p:cNvSpPr>
          <p:nvPr/>
        </p:nvSpPr>
        <p:spPr bwMode="auto">
          <a:xfrm>
            <a:off x="4846638" y="4646613"/>
            <a:ext cx="1369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r>
              <a:rPr lang="en-US" sz="1400" dirty="0">
                <a:latin typeface="Courier New" pitchFamily="49" charset="0"/>
              </a:rPr>
              <a:t>DATA BIT </a:t>
            </a:r>
            <a:r>
              <a:rPr lang="en-US" sz="1400" dirty="0" smtClean="0">
                <a:latin typeface="Courier New" pitchFamily="49" charset="0"/>
              </a:rPr>
              <a:t>D0</a:t>
            </a:r>
            <a:endParaRPr lang="en-US" sz="1400" dirty="0">
              <a:latin typeface="Courier New" pitchFamily="49" charset="0"/>
            </a:endParaRPr>
          </a:p>
        </p:txBody>
      </p:sp>
      <p:sp>
        <p:nvSpPr>
          <p:cNvPr id="43020" name="Text Box 70"/>
          <p:cNvSpPr txBox="1">
            <a:spLocks noChangeArrowheads="1"/>
          </p:cNvSpPr>
          <p:nvPr/>
        </p:nvSpPr>
        <p:spPr bwMode="auto">
          <a:xfrm>
            <a:off x="3063875" y="2324100"/>
            <a:ext cx="276225"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1</a:t>
            </a:r>
          </a:p>
          <a:p>
            <a:pPr eaLnBrk="1" hangingPunct="1">
              <a:lnSpc>
                <a:spcPct val="125000"/>
              </a:lnSpc>
            </a:pPr>
            <a:r>
              <a:rPr lang="en-US">
                <a:latin typeface="Courier New" pitchFamily="49" charset="0"/>
              </a:rPr>
              <a:t>1</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1</a:t>
            </a:r>
          </a:p>
        </p:txBody>
      </p:sp>
      <p:sp>
        <p:nvSpPr>
          <p:cNvPr id="43021" name="Text Box 71"/>
          <p:cNvSpPr txBox="1">
            <a:spLocks noChangeArrowheads="1"/>
          </p:cNvSpPr>
          <p:nvPr/>
        </p:nvSpPr>
        <p:spPr bwMode="auto">
          <a:xfrm>
            <a:off x="3549650" y="2324100"/>
            <a:ext cx="276225"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lnSpc>
                <a:spcPct val="125000"/>
              </a:lnSpc>
            </a:pPr>
            <a:r>
              <a:rPr lang="en-US">
                <a:latin typeface="Courier New" pitchFamily="49" charset="0"/>
              </a:rPr>
              <a:t>1</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1</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a:p>
            <a:pPr eaLnBrk="1" hangingPunct="1">
              <a:lnSpc>
                <a:spcPct val="125000"/>
              </a:lnSpc>
            </a:pPr>
            <a:r>
              <a:rPr lang="en-US">
                <a:latin typeface="Courier New" pitchFamily="49" charset="0"/>
              </a:rPr>
              <a:t>0</a:t>
            </a:r>
          </a:p>
        </p:txBody>
      </p:sp>
      <p:sp>
        <p:nvSpPr>
          <p:cNvPr id="43022" name="Text Box 72"/>
          <p:cNvSpPr txBox="1">
            <a:spLocks noChangeArrowheads="1"/>
          </p:cNvSpPr>
          <p:nvPr/>
        </p:nvSpPr>
        <p:spPr bwMode="auto">
          <a:xfrm>
            <a:off x="5638800" y="1492250"/>
            <a:ext cx="3048000" cy="923330"/>
          </a:xfrm>
          <a:prstGeom prst="rect">
            <a:avLst/>
          </a:prstGeom>
          <a:solidFill>
            <a:srgbClr val="FFFFCC"/>
          </a:solidFill>
          <a:ln w="19050">
            <a:solidFill>
              <a:schemeClr val="tx1"/>
            </a:solidFill>
            <a:miter lim="800000"/>
            <a:headEnd/>
            <a:tailEnd/>
          </a:ln>
          <a:effectLst>
            <a:outerShdw dist="107763" dir="2700000" algn="ctr" rotWithShape="0">
              <a:schemeClr val="bg2">
                <a:alpha val="50000"/>
              </a:schemeClr>
            </a:outerShdw>
          </a:effectLst>
        </p:spPr>
        <p:txBody>
          <a:bodyPr>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buFontTx/>
              <a:buChar char="•"/>
            </a:pPr>
            <a:r>
              <a:rPr lang="en-US" sz="1800" dirty="0">
                <a:latin typeface="Arial" pitchFamily="34" charset="0"/>
              </a:rPr>
              <a:t> </a:t>
            </a:r>
            <a:r>
              <a:rPr lang="en-US" sz="1800" dirty="0" smtClean="0">
                <a:solidFill>
                  <a:srgbClr val="F13535"/>
                </a:solidFill>
                <a:latin typeface="Arial" pitchFamily="34" charset="0"/>
              </a:rPr>
              <a:t>Q: </a:t>
            </a:r>
            <a:r>
              <a:rPr lang="en-US" sz="1800" dirty="0" smtClean="0">
                <a:latin typeface="Arial" pitchFamily="34" charset="0"/>
              </a:rPr>
              <a:t>How many memory location you can have if you have four input bits?</a:t>
            </a:r>
            <a:endParaRPr lang="en-US" sz="1800" dirty="0">
              <a:latin typeface="Arial" pitchFamily="34" charset="0"/>
            </a:endParaRPr>
          </a:p>
        </p:txBody>
      </p:sp>
      <p:sp>
        <p:nvSpPr>
          <p:cNvPr id="43024" name="Rectangle 78"/>
          <p:cNvSpPr>
            <a:spLocks noChangeArrowheads="1"/>
          </p:cNvSpPr>
          <p:nvPr/>
        </p:nvSpPr>
        <p:spPr bwMode="auto">
          <a:xfrm>
            <a:off x="2019300" y="2151063"/>
            <a:ext cx="2784475" cy="4325937"/>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endParaRPr lang="en-US" sz="1400" b="1">
              <a:latin typeface="Arial" pitchFamily="34" charset="0"/>
            </a:endParaRPr>
          </a:p>
        </p:txBody>
      </p:sp>
      <p:cxnSp>
        <p:nvCxnSpPr>
          <p:cNvPr id="43025" name="Straight Arrow Connector 86"/>
          <p:cNvCxnSpPr>
            <a:cxnSpLocks noChangeShapeType="1"/>
          </p:cNvCxnSpPr>
          <p:nvPr/>
        </p:nvCxnSpPr>
        <p:spPr bwMode="auto">
          <a:xfrm>
            <a:off x="2757488" y="1373188"/>
            <a:ext cx="0" cy="790575"/>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3026" name="Straight Connector 88"/>
          <p:cNvCxnSpPr>
            <a:cxnSpLocks noChangeShapeType="1"/>
          </p:cNvCxnSpPr>
          <p:nvPr/>
        </p:nvCxnSpPr>
        <p:spPr bwMode="auto">
          <a:xfrm flipH="1">
            <a:off x="831850" y="1362075"/>
            <a:ext cx="1925638"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43027" name="Straight Arrow Connector 90"/>
          <p:cNvCxnSpPr>
            <a:cxnSpLocks noChangeShapeType="1"/>
          </p:cNvCxnSpPr>
          <p:nvPr/>
        </p:nvCxnSpPr>
        <p:spPr bwMode="auto">
          <a:xfrm>
            <a:off x="2579688" y="1563688"/>
            <a:ext cx="1587" cy="603250"/>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3028" name="Straight Connector 93"/>
          <p:cNvCxnSpPr>
            <a:cxnSpLocks noChangeShapeType="1"/>
          </p:cNvCxnSpPr>
          <p:nvPr/>
        </p:nvCxnSpPr>
        <p:spPr bwMode="auto">
          <a:xfrm flipH="1" flipV="1">
            <a:off x="1206500" y="1558925"/>
            <a:ext cx="137795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43029" name="Straight Arrow Connector 111"/>
          <p:cNvCxnSpPr>
            <a:cxnSpLocks noChangeShapeType="1"/>
          </p:cNvCxnSpPr>
          <p:nvPr/>
        </p:nvCxnSpPr>
        <p:spPr bwMode="auto">
          <a:xfrm>
            <a:off x="2378075" y="1720850"/>
            <a:ext cx="0" cy="457200"/>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3030" name="Straight Connector 113"/>
          <p:cNvCxnSpPr>
            <a:cxnSpLocks noChangeShapeType="1"/>
          </p:cNvCxnSpPr>
          <p:nvPr/>
        </p:nvCxnSpPr>
        <p:spPr bwMode="auto">
          <a:xfrm flipH="1">
            <a:off x="822325" y="1720850"/>
            <a:ext cx="155575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43031" name="Straight Arrow Connector 114"/>
          <p:cNvCxnSpPr>
            <a:cxnSpLocks noChangeShapeType="1"/>
          </p:cNvCxnSpPr>
          <p:nvPr/>
        </p:nvCxnSpPr>
        <p:spPr bwMode="auto">
          <a:xfrm>
            <a:off x="2193925" y="1903413"/>
            <a:ext cx="0" cy="274637"/>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3032" name="TextBox 116"/>
          <p:cNvSpPr txBox="1">
            <a:spLocks noChangeArrowheads="1"/>
          </p:cNvSpPr>
          <p:nvPr/>
        </p:nvSpPr>
        <p:spPr bwMode="auto">
          <a:xfrm>
            <a:off x="274638" y="2041525"/>
            <a:ext cx="10287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r>
              <a:rPr lang="en-US" sz="1800"/>
              <a:t>Address bits</a:t>
            </a:r>
          </a:p>
        </p:txBody>
      </p:sp>
      <p:sp>
        <p:nvSpPr>
          <p:cNvPr id="43033" name="Freeform 117"/>
          <p:cNvSpPr>
            <a:spLocks/>
          </p:cNvSpPr>
          <p:nvPr/>
        </p:nvSpPr>
        <p:spPr bwMode="auto">
          <a:xfrm>
            <a:off x="3700463" y="3860800"/>
            <a:ext cx="1095375" cy="2301875"/>
          </a:xfrm>
          <a:custGeom>
            <a:avLst/>
            <a:gdLst>
              <a:gd name="T0" fmla="*/ 0 w 1095555"/>
              <a:gd name="T1" fmla="*/ 2145408 h 2303253"/>
              <a:gd name="T2" fmla="*/ 0 w 1095555"/>
              <a:gd name="T3" fmla="*/ 2300498 h 2303253"/>
              <a:gd name="T4" fmla="*/ 431179 w 1095555"/>
              <a:gd name="T5" fmla="*/ 2300498 h 2303253"/>
              <a:gd name="T6" fmla="*/ 439803 w 1095555"/>
              <a:gd name="T7" fmla="*/ 0 h 2303253"/>
              <a:gd name="T8" fmla="*/ 1095195 w 1095555"/>
              <a:gd name="T9" fmla="*/ 0 h 23032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5555" h="2303253">
                <a:moveTo>
                  <a:pt x="0" y="2147977"/>
                </a:moveTo>
                <a:lnTo>
                  <a:pt x="0" y="2303253"/>
                </a:lnTo>
                <a:lnTo>
                  <a:pt x="431321" y="2303253"/>
                </a:lnTo>
                <a:cubicBezTo>
                  <a:pt x="434196" y="1535502"/>
                  <a:pt x="437072" y="767751"/>
                  <a:pt x="439947" y="0"/>
                </a:cubicBezTo>
                <a:lnTo>
                  <a:pt x="1095555" y="0"/>
                </a:lnTo>
              </a:path>
            </a:pathLst>
          </a:cu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3034" name="Freeform 118"/>
          <p:cNvSpPr>
            <a:spLocks/>
          </p:cNvSpPr>
          <p:nvPr/>
        </p:nvSpPr>
        <p:spPr bwMode="auto">
          <a:xfrm>
            <a:off x="3192463" y="4826000"/>
            <a:ext cx="1620837" cy="1519238"/>
          </a:xfrm>
          <a:custGeom>
            <a:avLst/>
            <a:gdLst>
              <a:gd name="T0" fmla="*/ 0 w 1621766"/>
              <a:gd name="T1" fmla="*/ 1174722 h 1518249"/>
              <a:gd name="T2" fmla="*/ 0 w 1621766"/>
              <a:gd name="T3" fmla="*/ 1520228 h 1518249"/>
              <a:gd name="T4" fmla="*/ 1094299 w 1621766"/>
              <a:gd name="T5" fmla="*/ 1520228 h 1518249"/>
              <a:gd name="T6" fmla="*/ 1094299 w 1621766"/>
              <a:gd name="T7" fmla="*/ 0 h 1518249"/>
              <a:gd name="T8" fmla="*/ 1619909 w 1621766"/>
              <a:gd name="T9" fmla="*/ 0 h 15182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21766" h="1518249">
                <a:moveTo>
                  <a:pt x="0" y="1173193"/>
                </a:moveTo>
                <a:lnTo>
                  <a:pt x="0" y="1518249"/>
                </a:lnTo>
                <a:lnTo>
                  <a:pt x="1095554" y="1518249"/>
                </a:lnTo>
                <a:lnTo>
                  <a:pt x="1095554" y="0"/>
                </a:lnTo>
                <a:lnTo>
                  <a:pt x="1621766" y="0"/>
                </a:lnTo>
              </a:path>
            </a:pathLst>
          </a:cu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Tree>
    <p:extLst>
      <p:ext uri="{BB962C8B-B14F-4D97-AF65-F5344CB8AC3E}">
        <p14:creationId xmlns:p14="http://schemas.microsoft.com/office/powerpoint/2010/main" val="2582649472"/>
      </p:ext>
    </p:extLst>
  </p:cSld>
  <p:clrMapOvr>
    <a:masterClrMapping/>
  </p:clrMapOvr>
  <p:transition xmlns:p14="http://schemas.microsoft.com/office/powerpoint/2010/main" spd="slow"/>
  <p:timing>
    <p:tnLst>
      <p:par>
        <p:cTn xmlns:p14="http://schemas.microsoft.com/office/powerpoint/2010/mai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6443" y="5562600"/>
            <a:ext cx="6191157" cy="833718"/>
          </a:xfrm>
        </p:spPr>
        <p:txBody>
          <a:bodyPr/>
          <a:lstStyle/>
          <a:p>
            <a:r>
              <a:rPr lang="en-US" dirty="0" smtClean="0"/>
              <a:t>Truth Table for an Arbitrary ROM</a:t>
            </a:r>
            <a:endParaRPr lang="en-US" dirty="0"/>
          </a:p>
        </p:txBody>
      </p:sp>
      <p:graphicFrame>
        <p:nvGraphicFramePr>
          <p:cNvPr id="248834" name="Object 2"/>
          <p:cNvGraphicFramePr>
            <a:graphicFrameLocks noChangeAspect="1"/>
          </p:cNvGraphicFramePr>
          <p:nvPr>
            <p:extLst>
              <p:ext uri="{D42A27DB-BD31-4B8C-83A1-F6EECF244321}">
                <p14:modId xmlns:p14="http://schemas.microsoft.com/office/powerpoint/2010/main" val="4017914405"/>
              </p:ext>
            </p:extLst>
          </p:nvPr>
        </p:nvGraphicFramePr>
        <p:xfrm>
          <a:off x="71063" y="1371600"/>
          <a:ext cx="8082337" cy="4495800"/>
        </p:xfrm>
        <a:graphic>
          <a:graphicData uri="http://schemas.openxmlformats.org/presentationml/2006/ole">
            <mc:AlternateContent xmlns:mc="http://schemas.openxmlformats.org/markup-compatibility/2006">
              <mc:Choice xmlns:v="urn:schemas-microsoft-com:vml" Requires="v">
                <p:oleObj spid="_x0000_s1856" name="Document" r:id="rId4" imgW="6096000" imgH="3390900" progId="Word.Document.12">
                  <p:embed/>
                </p:oleObj>
              </mc:Choice>
              <mc:Fallback>
                <p:oleObj name="Document" r:id="rId4" imgW="6096000" imgH="3390900" progId="Word.Document.1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63" y="1371600"/>
                        <a:ext cx="8082337" cy="4495800"/>
                      </a:xfrm>
                      <a:prstGeom prst="rect">
                        <a:avLst/>
                      </a:prstGeom>
                      <a:noFill/>
                      <a:ln>
                        <a:noFill/>
                      </a:ln>
                      <a:effectLst/>
                    </p:spPr>
                  </p:pic>
                </p:oleObj>
              </mc:Fallback>
            </mc:AlternateContent>
          </a:graphicData>
        </a:graphic>
      </p:graphicFrame>
      <p:sp>
        <p:nvSpPr>
          <p:cNvPr id="12" name="TextBox 11"/>
          <p:cNvSpPr txBox="1"/>
          <p:nvPr/>
        </p:nvSpPr>
        <p:spPr>
          <a:xfrm>
            <a:off x="6781800" y="3200400"/>
            <a:ext cx="2057400" cy="461665"/>
          </a:xfrm>
          <a:prstGeom prst="rect">
            <a:avLst/>
          </a:prstGeom>
          <a:noFill/>
        </p:spPr>
        <p:txBody>
          <a:bodyPr wrap="square" rtlCol="0">
            <a:spAutoFit/>
          </a:bodyPr>
          <a:lstStyle/>
          <a:p>
            <a:pPr algn="ctr"/>
            <a:r>
              <a:rPr lang="en-US" dirty="0" smtClean="0">
                <a:solidFill>
                  <a:schemeClr val="bg1"/>
                </a:solidFill>
              </a:rPr>
              <a:t>11.8</a:t>
            </a:r>
            <a:endParaRPr lang="en-US" dirty="0">
              <a:solidFill>
                <a:schemeClr val="bg1"/>
              </a:solidFill>
            </a:endParaRPr>
          </a:p>
        </p:txBody>
      </p:sp>
      <p:sp>
        <p:nvSpPr>
          <p:cNvPr id="6" name="Title 1"/>
          <p:cNvSpPr txBox="1">
            <a:spLocks/>
          </p:cNvSpPr>
          <p:nvPr/>
        </p:nvSpPr>
        <p:spPr bwMode="auto">
          <a:xfrm>
            <a:off x="304800" y="22860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defTabSz="457200" rtl="0" eaLnBrk="0" fontAlgn="base" hangingPunct="0">
              <a:spcBef>
                <a:spcPct val="0"/>
              </a:spcBef>
              <a:spcAft>
                <a:spcPct val="0"/>
              </a:spcAft>
              <a:defRPr sz="2000" b="1">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Frutiger 55 Roman" charset="0"/>
                <a:ea typeface="ＭＳ Ｐゴシック" pitchFamily="34" charset="-128"/>
              </a:defRPr>
            </a:lvl2pPr>
            <a:lvl3pPr algn="ctr" defTabSz="457200" rtl="0" eaLnBrk="0" fontAlgn="base" hangingPunct="0">
              <a:spcBef>
                <a:spcPct val="0"/>
              </a:spcBef>
              <a:spcAft>
                <a:spcPct val="0"/>
              </a:spcAft>
              <a:defRPr sz="4400">
                <a:solidFill>
                  <a:schemeClr val="tx1"/>
                </a:solidFill>
                <a:latin typeface="Frutiger 55 Roman" charset="0"/>
                <a:ea typeface="ＭＳ Ｐゴシック" pitchFamily="34" charset="-128"/>
              </a:defRPr>
            </a:lvl3pPr>
            <a:lvl4pPr algn="ctr" defTabSz="457200" rtl="0" eaLnBrk="0" fontAlgn="base" hangingPunct="0">
              <a:spcBef>
                <a:spcPct val="0"/>
              </a:spcBef>
              <a:spcAft>
                <a:spcPct val="0"/>
              </a:spcAft>
              <a:defRPr sz="4400">
                <a:solidFill>
                  <a:schemeClr val="tx1"/>
                </a:solidFill>
                <a:latin typeface="Frutiger 55 Roman" charset="0"/>
                <a:ea typeface="ＭＳ Ｐゴシック" pitchFamily="34" charset="-128"/>
              </a:defRPr>
            </a:lvl4pPr>
            <a:lvl5pPr algn="ctr" defTabSz="457200" rtl="0" eaLnBrk="0" fontAlgn="base" hangingPunct="0">
              <a:spcBef>
                <a:spcPct val="0"/>
              </a:spcBef>
              <a:spcAft>
                <a:spcPct val="0"/>
              </a:spcAft>
              <a:defRPr sz="4400">
                <a:solidFill>
                  <a:schemeClr val="tx1"/>
                </a:solidFill>
                <a:latin typeface="Frutiger 55 Roman" charset="0"/>
                <a:ea typeface="ＭＳ Ｐゴシック" pitchFamily="34" charset="-128"/>
              </a:defRPr>
            </a:lvl5pPr>
            <a:lvl6pPr marL="457200" algn="ctr" defTabSz="457200" rtl="0" eaLnBrk="0" fontAlgn="base" hangingPunct="0">
              <a:spcBef>
                <a:spcPct val="0"/>
              </a:spcBef>
              <a:spcAft>
                <a:spcPct val="0"/>
              </a:spcAft>
              <a:defRPr sz="4400">
                <a:solidFill>
                  <a:schemeClr val="tx1"/>
                </a:solidFill>
                <a:latin typeface="Frutiger 55 Roman" charset="0"/>
                <a:ea typeface="ＭＳ Ｐゴシック" pitchFamily="34" charset="-128"/>
              </a:defRPr>
            </a:lvl6pPr>
            <a:lvl7pPr marL="914400" algn="ctr" defTabSz="457200" rtl="0" eaLnBrk="0" fontAlgn="base" hangingPunct="0">
              <a:spcBef>
                <a:spcPct val="0"/>
              </a:spcBef>
              <a:spcAft>
                <a:spcPct val="0"/>
              </a:spcAft>
              <a:defRPr sz="4400">
                <a:solidFill>
                  <a:schemeClr val="tx1"/>
                </a:solidFill>
                <a:latin typeface="Frutiger 55 Roman" charset="0"/>
                <a:ea typeface="ＭＳ Ｐゴシック" pitchFamily="34" charset="-128"/>
              </a:defRPr>
            </a:lvl7pPr>
            <a:lvl8pPr marL="1371600" algn="ctr" defTabSz="457200" rtl="0" eaLnBrk="0" fontAlgn="base" hangingPunct="0">
              <a:spcBef>
                <a:spcPct val="0"/>
              </a:spcBef>
              <a:spcAft>
                <a:spcPct val="0"/>
              </a:spcAft>
              <a:defRPr sz="4400">
                <a:solidFill>
                  <a:schemeClr val="tx1"/>
                </a:solidFill>
                <a:latin typeface="Frutiger 55 Roman" charset="0"/>
                <a:ea typeface="ＭＳ Ｐゴシック" pitchFamily="34" charset="-128"/>
              </a:defRPr>
            </a:lvl8pPr>
            <a:lvl9pPr marL="1828800" algn="ctr" defTabSz="457200" rtl="0" eaLnBrk="0" fontAlgn="base" hangingPunct="0">
              <a:spcBef>
                <a:spcPct val="0"/>
              </a:spcBef>
              <a:spcAft>
                <a:spcPct val="0"/>
              </a:spcAft>
              <a:defRPr sz="4400">
                <a:solidFill>
                  <a:schemeClr val="tx1"/>
                </a:solidFill>
                <a:latin typeface="Frutiger 55 Roman" charset="0"/>
                <a:ea typeface="ＭＳ Ｐゴシック" pitchFamily="34" charset="-128"/>
              </a:defRPr>
            </a:lvl9pPr>
          </a:lstStyle>
          <a:p>
            <a:pPr algn="ctr"/>
            <a:r>
              <a:rPr lang="en-US" sz="3200" b="0" kern="0" dirty="0" smtClean="0"/>
              <a:t>Read-Only Memory (ROM)</a:t>
            </a:r>
            <a:endParaRPr lang="en-US" sz="3200" b="0" kern="0" dirty="0"/>
          </a:p>
        </p:txBody>
      </p:sp>
      <p:sp>
        <p:nvSpPr>
          <p:cNvPr id="3" name="TextBox 2"/>
          <p:cNvSpPr txBox="1"/>
          <p:nvPr/>
        </p:nvSpPr>
        <p:spPr>
          <a:xfrm>
            <a:off x="3810000" y="2362200"/>
            <a:ext cx="5334000" cy="369331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latin typeface="Times New Roman" pitchFamily="-1" charset="0"/>
              </a:rPr>
              <a:t>A ROM can be implemented with a </a:t>
            </a:r>
            <a:r>
              <a:rPr lang="en-US" b="1" dirty="0">
                <a:solidFill>
                  <a:srgbClr val="0000FF"/>
                </a:solidFill>
                <a:latin typeface="Times New Roman" pitchFamily="-1" charset="0"/>
              </a:rPr>
              <a:t>decoder</a:t>
            </a:r>
            <a:r>
              <a:rPr lang="en-US" dirty="0">
                <a:solidFill>
                  <a:srgbClr val="0000FF"/>
                </a:solidFill>
                <a:latin typeface="Times New Roman" pitchFamily="-1" charset="0"/>
              </a:rPr>
              <a:t> </a:t>
            </a:r>
            <a:r>
              <a:rPr lang="en-US" dirty="0">
                <a:latin typeface="Times New Roman" pitchFamily="-1" charset="0"/>
              </a:rPr>
              <a:t>and a set of OR gates. </a:t>
            </a:r>
            <a:r>
              <a:rPr lang="en-US" dirty="0" smtClean="0">
                <a:latin typeface="Times New Roman" pitchFamily="-1" charset="0"/>
              </a:rPr>
              <a:t>This can </a:t>
            </a:r>
            <a:r>
              <a:rPr lang="en-US" dirty="0">
                <a:latin typeface="Times New Roman" pitchFamily="-1" charset="0"/>
              </a:rPr>
              <a:t>be viewed as a truth table with four inputs and four outputs. For each of the 16 possible input values, the corresponding set of values of the outputs is shown. It can also be viewed as defining the contents of a 64-bit ROM consisting of 16 words of 4 bits each. The four inputs specify an address, and the four outputs specify the contents of the location specified by the address. Figure 11.18 shows how this memory could be implemented using a 4-to-16 decoder and four OR gates. As with the PLA, a regular organization is used, and the interconnections are made to reflect the desired result. </a:t>
            </a:r>
            <a:endParaRPr lang="en-US" dirty="0"/>
          </a:p>
        </p:txBody>
      </p:sp>
    </p:spTree>
    <p:extLst>
      <p:ext uri="{BB962C8B-B14F-4D97-AF65-F5344CB8AC3E}">
        <p14:creationId xmlns:p14="http://schemas.microsoft.com/office/powerpoint/2010/main" val="151421270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8610600" cy="1143000"/>
          </a:xfrm>
        </p:spPr>
        <p:txBody>
          <a:bodyPr/>
          <a:lstStyle/>
          <a:p>
            <a:r>
              <a:rPr lang="en-US" dirty="0" smtClean="0"/>
              <a:t>Foreshadowing: Embed the Truth Table for </a:t>
            </a:r>
            <a:r>
              <a:rPr lang="en-US" dirty="0" smtClean="0">
                <a:solidFill>
                  <a:srgbClr val="0000FF"/>
                </a:solidFill>
              </a:rPr>
              <a:t>ANY</a:t>
            </a:r>
            <a:r>
              <a:rPr lang="en-US" dirty="0" smtClean="0">
                <a:solidFill>
                  <a:srgbClr val="0000FF"/>
                </a:solidFill>
              </a:rPr>
              <a:t> </a:t>
            </a:r>
            <a:r>
              <a:rPr lang="en-US" dirty="0" smtClean="0">
                <a:solidFill>
                  <a:srgbClr val="0000FF"/>
                </a:solidFill>
              </a:rPr>
              <a:t>Circuit in a ROM</a:t>
            </a:r>
            <a:endParaRPr lang="en-US" dirty="0">
              <a:solidFill>
                <a:srgbClr val="0000FF"/>
              </a:solidFill>
            </a:endParaRPr>
          </a:p>
        </p:txBody>
      </p:sp>
      <p:sp>
        <p:nvSpPr>
          <p:cNvPr id="3" name="Content Placeholder 2"/>
          <p:cNvSpPr>
            <a:spLocks noGrp="1"/>
          </p:cNvSpPr>
          <p:nvPr>
            <p:ph idx="1"/>
          </p:nvPr>
        </p:nvSpPr>
        <p:spPr>
          <a:xfrm>
            <a:off x="152400" y="1600200"/>
            <a:ext cx="8534400" cy="4800600"/>
          </a:xfrm>
        </p:spPr>
        <p:txBody>
          <a:bodyPr/>
          <a:lstStyle/>
          <a:p>
            <a:r>
              <a:rPr lang="en-US" dirty="0" smtClean="0"/>
              <a:t>Made a </a:t>
            </a:r>
            <a:r>
              <a:rPr lang="en-US" b="1" dirty="0" smtClean="0">
                <a:solidFill>
                  <a:srgbClr val="0000FF"/>
                </a:solidFill>
              </a:rPr>
              <a:t>combinational circuit</a:t>
            </a:r>
            <a:r>
              <a:rPr lang="en-US" dirty="0" smtClean="0"/>
              <a:t>?</a:t>
            </a:r>
          </a:p>
          <a:p>
            <a:pPr lvl="1"/>
            <a:r>
              <a:rPr lang="en-US" dirty="0" smtClean="0"/>
              <a:t>A discrete mapping from input signals to output response signals</a:t>
            </a:r>
          </a:p>
          <a:p>
            <a:pPr lvl="1"/>
            <a:r>
              <a:rPr lang="en-US" dirty="0" smtClean="0"/>
              <a:t>Just like an AND truth table, could you not encode this in memory?</a:t>
            </a:r>
          </a:p>
          <a:p>
            <a:pPr lvl="2"/>
            <a:r>
              <a:rPr lang="en-US" dirty="0" smtClean="0"/>
              <a:t>This is </a:t>
            </a:r>
            <a:r>
              <a:rPr lang="en-US" i="1" dirty="0" smtClean="0">
                <a:solidFill>
                  <a:srgbClr val="0000FF"/>
                </a:solidFill>
              </a:rPr>
              <a:t>software storage of a hardware mapping</a:t>
            </a:r>
          </a:p>
          <a:p>
            <a:r>
              <a:rPr lang="en-US" dirty="0" smtClean="0"/>
              <a:t>Take the truth table </a:t>
            </a:r>
            <a:r>
              <a:rPr lang="en-US" dirty="0" smtClean="0">
                <a:solidFill>
                  <a:srgbClr val="FF6600"/>
                </a:solidFill>
              </a:rPr>
              <a:t>input lines </a:t>
            </a:r>
            <a:r>
              <a:rPr lang="en-US" dirty="0" smtClean="0">
                <a:solidFill>
                  <a:srgbClr val="0000FF"/>
                </a:solidFill>
              </a:rPr>
              <a:t>(these </a:t>
            </a:r>
            <a:r>
              <a:rPr lang="en-US" dirty="0" smtClean="0">
                <a:solidFill>
                  <a:srgbClr val="0000FF"/>
                </a:solidFill>
              </a:rPr>
              <a:t>are</a:t>
            </a:r>
            <a:r>
              <a:rPr lang="en-US" dirty="0" smtClean="0">
                <a:solidFill>
                  <a:srgbClr val="0000FF"/>
                </a:solidFill>
              </a:rPr>
              <a:t> </a:t>
            </a:r>
            <a:r>
              <a:rPr lang="en-US" dirty="0">
                <a:solidFill>
                  <a:srgbClr val="0000FF"/>
                </a:solidFill>
              </a:rPr>
              <a:t>a</a:t>
            </a:r>
            <a:r>
              <a:rPr lang="en-US" dirty="0" smtClean="0">
                <a:solidFill>
                  <a:srgbClr val="0000FF"/>
                </a:solidFill>
              </a:rPr>
              <a:t>ddresses)</a:t>
            </a:r>
            <a:endParaRPr lang="en-US" dirty="0" smtClean="0">
              <a:solidFill>
                <a:srgbClr val="0000FF"/>
              </a:solidFill>
            </a:endParaRPr>
          </a:p>
          <a:p>
            <a:pPr lvl="1"/>
            <a:r>
              <a:rPr lang="en-US" dirty="0" smtClean="0"/>
              <a:t>The </a:t>
            </a:r>
            <a:r>
              <a:rPr lang="en-US" dirty="0" smtClean="0">
                <a:solidFill>
                  <a:srgbClr val="FF6600"/>
                </a:solidFill>
              </a:rPr>
              <a:t>output lines </a:t>
            </a:r>
            <a:r>
              <a:rPr lang="en-US" dirty="0" smtClean="0"/>
              <a:t>are the resulting values stored in that ROM</a:t>
            </a:r>
          </a:p>
          <a:p>
            <a:r>
              <a:rPr lang="en-US" dirty="0" smtClean="0"/>
              <a:t>Number of inputs (x) == </a:t>
            </a:r>
            <a:r>
              <a:rPr lang="en-US" dirty="0" smtClean="0"/>
              <a:t>2</a:t>
            </a:r>
            <a:r>
              <a:rPr lang="en-US" baseline="30000" dirty="0" smtClean="0"/>
              <a:t>x </a:t>
            </a:r>
            <a:r>
              <a:rPr lang="en-US" dirty="0" smtClean="0"/>
              <a:t>rows in the ROM</a:t>
            </a:r>
            <a:endParaRPr lang="en-US" dirty="0" smtClean="0"/>
          </a:p>
          <a:p>
            <a:r>
              <a:rPr lang="en-US" dirty="0" smtClean="0"/>
              <a:t>Outputs are the results the circuit would produce, stored in the ROM</a:t>
            </a:r>
            <a:endParaRPr lang="en-US" dirty="0"/>
          </a:p>
        </p:txBody>
      </p:sp>
    </p:spTree>
    <p:extLst>
      <p:ext uri="{BB962C8B-B14F-4D97-AF65-F5344CB8AC3E}">
        <p14:creationId xmlns:p14="http://schemas.microsoft.com/office/powerpoint/2010/main" val="2129184571"/>
      </p:ext>
    </p:extLst>
  </p:cSld>
  <p:clrMapOvr>
    <a:masterClrMapping/>
  </p:clrMapOvr>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 y="76200"/>
            <a:ext cx="8991600" cy="1143000"/>
          </a:xfrm>
        </p:spPr>
        <p:txBody>
          <a:bodyPr/>
          <a:lstStyle/>
          <a:p>
            <a:r>
              <a:rPr lang="en-US" dirty="0" smtClean="0"/>
              <a:t>Another Circuit: </a:t>
            </a:r>
            <a:r>
              <a:rPr lang="en-US" b="1" dirty="0" smtClean="0">
                <a:solidFill>
                  <a:srgbClr val="0000FF"/>
                </a:solidFill>
              </a:rPr>
              <a:t>Majority Function</a:t>
            </a:r>
            <a:endParaRPr lang="en-US" b="1" dirty="0">
              <a:solidFill>
                <a:srgbClr val="0000FF"/>
              </a:solidFill>
            </a:endParaRPr>
          </a:p>
        </p:txBody>
      </p:sp>
      <p:sp>
        <p:nvSpPr>
          <p:cNvPr id="3" name="Content Placeholder 2"/>
          <p:cNvSpPr>
            <a:spLocks noGrp="1"/>
          </p:cNvSpPr>
          <p:nvPr>
            <p:ph idx="1"/>
          </p:nvPr>
        </p:nvSpPr>
        <p:spPr>
          <a:xfrm>
            <a:off x="0" y="1600200"/>
            <a:ext cx="8763000" cy="4800600"/>
          </a:xfrm>
        </p:spPr>
        <p:txBody>
          <a:bodyPr/>
          <a:lstStyle/>
          <a:p>
            <a:r>
              <a:rPr lang="en-US" dirty="0" smtClean="0"/>
              <a:t>Outputs a 1 when more than half of the input lines are 1, 0 otherwise</a:t>
            </a:r>
          </a:p>
          <a:p>
            <a:pPr lvl="1"/>
            <a:r>
              <a:rPr lang="en-US" dirty="0" smtClean="0"/>
              <a:t>A </a:t>
            </a:r>
            <a:r>
              <a:rPr lang="en-US" b="1" dirty="0" smtClean="0">
                <a:solidFill>
                  <a:srgbClr val="0000FF"/>
                </a:solidFill>
              </a:rPr>
              <a:t>mux</a:t>
            </a:r>
            <a:r>
              <a:rPr lang="en-US" dirty="0" smtClean="0"/>
              <a:t> that </a:t>
            </a:r>
            <a:r>
              <a:rPr lang="en-US" dirty="0" smtClean="0"/>
              <a:t>it selects from either ground or </a:t>
            </a:r>
            <a:r>
              <a:rPr lang="en-US" dirty="0" err="1" smtClean="0"/>
              <a:t>vcc</a:t>
            </a:r>
            <a:endParaRPr lang="en-US" dirty="0"/>
          </a:p>
          <a:p>
            <a:r>
              <a:rPr lang="en-US" dirty="0" smtClean="0"/>
              <a:t>Consider the following truth table (</a:t>
            </a:r>
            <a:r>
              <a:rPr lang="en-US" dirty="0" err="1" smtClean="0"/>
              <a:t>a.k.a</a:t>
            </a:r>
            <a:r>
              <a:rPr lang="en-US" dirty="0" smtClean="0"/>
              <a:t> state table)</a:t>
            </a:r>
          </a:p>
          <a:p>
            <a:endParaRPr lang="en-US" dirty="0" smtClean="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822847563"/>
              </p:ext>
            </p:extLst>
          </p:nvPr>
        </p:nvGraphicFramePr>
        <p:xfrm>
          <a:off x="1447800" y="3352800"/>
          <a:ext cx="4876800" cy="3337560"/>
        </p:xfrm>
        <a:graphic>
          <a:graphicData uri="http://schemas.openxmlformats.org/drawingml/2006/table">
            <a:tbl>
              <a:tblPr firstRow="1" bandRow="1">
                <a:tableStyleId>{5C22544A-7EE6-4342-B048-85BDC9FD1C3A}</a:tableStyleId>
              </a:tblPr>
              <a:tblGrid>
                <a:gridCol w="1219200"/>
                <a:gridCol w="1219200"/>
                <a:gridCol w="1219200"/>
                <a:gridCol w="1219200"/>
              </a:tblGrid>
              <a:tr h="370840">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err="1" smtClean="0"/>
                        <a:t>MF</a:t>
                      </a:r>
                      <a:r>
                        <a:rPr lang="en-US" baseline="-25000" dirty="0" err="1" smtClean="0"/>
                        <a:t>Out</a:t>
                      </a:r>
                      <a:endParaRPr lang="en-US" baseline="-25000" dirty="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bl>
          </a:graphicData>
        </a:graphic>
      </p:graphicFrame>
      <p:sp>
        <p:nvSpPr>
          <p:cNvPr id="5" name="TextBox 4"/>
          <p:cNvSpPr txBox="1"/>
          <p:nvPr/>
        </p:nvSpPr>
        <p:spPr>
          <a:xfrm>
            <a:off x="4114800" y="1039912"/>
            <a:ext cx="1508760" cy="15388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400" dirty="0" smtClean="0"/>
              <a:t>Insert Trump joke here</a:t>
            </a:r>
            <a:r>
              <a:rPr lang="mr-IN" sz="400" dirty="0" smtClean="0"/>
              <a:t>…</a:t>
            </a:r>
            <a:endParaRPr lang="en-US" sz="400" dirty="0"/>
          </a:p>
        </p:txBody>
      </p:sp>
    </p:spTree>
    <p:extLst>
      <p:ext uri="{BB962C8B-B14F-4D97-AF65-F5344CB8AC3E}">
        <p14:creationId xmlns:p14="http://schemas.microsoft.com/office/powerpoint/2010/main" val="677374141"/>
      </p:ext>
    </p:extLst>
  </p:cSld>
  <p:clrMapOvr>
    <a:masterClrMapping/>
  </p:clrMapOvr>
  <p:timing>
    <p:tnLst>
      <p:par>
        <p:cTn xmlns:p14="http://schemas.microsoft.com/office/powerpoint/2010/mai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220980"/>
            <a:ext cx="7747000" cy="922020"/>
          </a:xfrm>
        </p:spPr>
        <p:txBody>
          <a:bodyPr/>
          <a:lstStyle/>
          <a:p>
            <a:r>
              <a:rPr lang="en-US" dirty="0" smtClean="0"/>
              <a:t>Simple Multiplexer (</a:t>
            </a:r>
            <a:r>
              <a:rPr lang="en-US" b="1" dirty="0" smtClean="0">
                <a:solidFill>
                  <a:srgbClr val="0000FF"/>
                </a:solidFill>
              </a:rPr>
              <a:t>MUX</a:t>
            </a:r>
            <a:r>
              <a:rPr lang="en-US" dirty="0" smtClean="0"/>
              <a:t>)</a:t>
            </a:r>
            <a:br>
              <a:rPr lang="en-US" dirty="0" smtClean="0"/>
            </a:br>
            <a:r>
              <a:rPr lang="en-US" sz="2400" dirty="0" smtClean="0"/>
              <a:t>(Gate-Level &amp; Tri-State)</a:t>
            </a:r>
          </a:p>
        </p:txBody>
      </p:sp>
      <p:sp>
        <p:nvSpPr>
          <p:cNvPr id="45059" name="Rectangle 3"/>
          <p:cNvSpPr>
            <a:spLocks noGrp="1" noChangeArrowheads="1"/>
          </p:cNvSpPr>
          <p:nvPr>
            <p:ph type="body" sz="half" idx="1"/>
          </p:nvPr>
        </p:nvSpPr>
        <p:spPr>
          <a:xfrm>
            <a:off x="304800" y="1295400"/>
            <a:ext cx="8166100" cy="1066800"/>
          </a:xfrm>
        </p:spPr>
        <p:txBody>
          <a:bodyPr>
            <a:normAutofit fontScale="92500"/>
          </a:bodyPr>
          <a:lstStyle/>
          <a:p>
            <a:r>
              <a:rPr lang="en-US" sz="2000" dirty="0" smtClean="0"/>
              <a:t>The </a:t>
            </a:r>
            <a:r>
              <a:rPr lang="en-US" sz="2000" b="1" dirty="0" smtClean="0">
                <a:solidFill>
                  <a:srgbClr val="0000FF"/>
                </a:solidFill>
              </a:rPr>
              <a:t>MUX</a:t>
            </a:r>
            <a:r>
              <a:rPr lang="en-US" sz="2000" dirty="0" smtClean="0"/>
              <a:t> circuit allows one of two (or more) logical signals to be selected</a:t>
            </a:r>
          </a:p>
          <a:p>
            <a:r>
              <a:rPr lang="en-US" sz="2000" b="1" dirty="0" err="1" smtClean="0">
                <a:solidFill>
                  <a:srgbClr val="0000FF"/>
                </a:solidFill>
              </a:rPr>
              <a:t>Muxes</a:t>
            </a:r>
            <a:r>
              <a:rPr lang="en-US" sz="2000" dirty="0" smtClean="0">
                <a:solidFill>
                  <a:srgbClr val="0000FF"/>
                </a:solidFill>
              </a:rPr>
              <a:t> </a:t>
            </a:r>
            <a:r>
              <a:rPr lang="en-US" sz="2000" dirty="0" smtClean="0"/>
              <a:t>have been called signal “routers”.           //You will not be confused</a:t>
            </a:r>
          </a:p>
          <a:p>
            <a:pPr lvl="1"/>
            <a:r>
              <a:rPr lang="en-US" sz="1800" b="1" dirty="0" smtClean="0">
                <a:solidFill>
                  <a:srgbClr val="0000FF"/>
                </a:solidFill>
              </a:rPr>
              <a:t>Decoders</a:t>
            </a:r>
            <a:r>
              <a:rPr lang="en-US" sz="1800" dirty="0" smtClean="0"/>
              <a:t> have been called “switches”.	        //You are one with the Force, </a:t>
            </a:r>
            <a:r>
              <a:rPr lang="en-US" sz="1300" dirty="0" smtClean="0"/>
              <a:t>and</a:t>
            </a:r>
          </a:p>
        </p:txBody>
      </p:sp>
      <p:pic>
        <p:nvPicPr>
          <p:cNvPr id="45060" name="Picture 4" descr="Simple MUX"/>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6200" y="2335213"/>
            <a:ext cx="8242300" cy="2846387"/>
          </a:xfrm>
        </p:spPr>
      </p:pic>
      <p:sp>
        <p:nvSpPr>
          <p:cNvPr id="45061" name="Line 5"/>
          <p:cNvSpPr>
            <a:spLocks noChangeShapeType="1"/>
          </p:cNvSpPr>
          <p:nvPr/>
        </p:nvSpPr>
        <p:spPr bwMode="auto">
          <a:xfrm>
            <a:off x="1625600" y="2936875"/>
            <a:ext cx="2336800" cy="127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5062" name="Freeform 6"/>
          <p:cNvSpPr>
            <a:spLocks/>
          </p:cNvSpPr>
          <p:nvPr/>
        </p:nvSpPr>
        <p:spPr bwMode="auto">
          <a:xfrm>
            <a:off x="4394200" y="3051175"/>
            <a:ext cx="1054100" cy="368300"/>
          </a:xfrm>
          <a:custGeom>
            <a:avLst/>
            <a:gdLst>
              <a:gd name="T0" fmla="*/ 0 w 664"/>
              <a:gd name="T1" fmla="*/ 0 h 232"/>
              <a:gd name="T2" fmla="*/ 2147483647 w 664"/>
              <a:gd name="T3" fmla="*/ 0 h 232"/>
              <a:gd name="T4" fmla="*/ 2147483647 w 664"/>
              <a:gd name="T5" fmla="*/ 2147483647 h 232"/>
              <a:gd name="T6" fmla="*/ 2147483647 w 664"/>
              <a:gd name="T7" fmla="*/ 2147483647 h 232"/>
              <a:gd name="T8" fmla="*/ 0 60000 65536"/>
              <a:gd name="T9" fmla="*/ 0 60000 65536"/>
              <a:gd name="T10" fmla="*/ 0 60000 65536"/>
              <a:gd name="T11" fmla="*/ 0 60000 65536"/>
              <a:gd name="T12" fmla="*/ 0 w 664"/>
              <a:gd name="T13" fmla="*/ 0 h 232"/>
              <a:gd name="T14" fmla="*/ 664 w 664"/>
              <a:gd name="T15" fmla="*/ 232 h 232"/>
            </a:gdLst>
            <a:ahLst/>
            <a:cxnLst>
              <a:cxn ang="T8">
                <a:pos x="T0" y="T1"/>
              </a:cxn>
              <a:cxn ang="T9">
                <a:pos x="T2" y="T3"/>
              </a:cxn>
              <a:cxn ang="T10">
                <a:pos x="T4" y="T5"/>
              </a:cxn>
              <a:cxn ang="T11">
                <a:pos x="T6" y="T7"/>
              </a:cxn>
            </a:cxnLst>
            <a:rect l="T12" t="T13" r="T14" b="T15"/>
            <a:pathLst>
              <a:path w="664" h="232">
                <a:moveTo>
                  <a:pt x="0" y="0"/>
                </a:moveTo>
                <a:lnTo>
                  <a:pt x="560" y="0"/>
                </a:lnTo>
                <a:lnTo>
                  <a:pt x="564" y="232"/>
                </a:lnTo>
                <a:lnTo>
                  <a:pt x="664" y="232"/>
                </a:lnTo>
              </a:path>
            </a:pathLst>
          </a:cu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5063" name="Line 7"/>
          <p:cNvSpPr>
            <a:spLocks noChangeShapeType="1"/>
          </p:cNvSpPr>
          <p:nvPr/>
        </p:nvSpPr>
        <p:spPr bwMode="auto">
          <a:xfrm>
            <a:off x="5861050" y="3540125"/>
            <a:ext cx="965200"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45064" name="Freeform 8"/>
          <p:cNvSpPr>
            <a:spLocks/>
          </p:cNvSpPr>
          <p:nvPr/>
        </p:nvSpPr>
        <p:spPr bwMode="auto">
          <a:xfrm>
            <a:off x="1955800" y="3171825"/>
            <a:ext cx="2019300" cy="1454150"/>
          </a:xfrm>
          <a:custGeom>
            <a:avLst/>
            <a:gdLst>
              <a:gd name="T0" fmla="*/ 0 w 1272"/>
              <a:gd name="T1" fmla="*/ 2147483647 h 916"/>
              <a:gd name="T2" fmla="*/ 0 w 1272"/>
              <a:gd name="T3" fmla="*/ 2147483647 h 916"/>
              <a:gd name="T4" fmla="*/ 2147483647 w 1272"/>
              <a:gd name="T5" fmla="*/ 2147483647 h 916"/>
              <a:gd name="T6" fmla="*/ 2147483647 w 1272"/>
              <a:gd name="T7" fmla="*/ 0 h 916"/>
              <a:gd name="T8" fmla="*/ 2147483647 w 1272"/>
              <a:gd name="T9" fmla="*/ 0 h 916"/>
              <a:gd name="T10" fmla="*/ 0 60000 65536"/>
              <a:gd name="T11" fmla="*/ 0 60000 65536"/>
              <a:gd name="T12" fmla="*/ 0 60000 65536"/>
              <a:gd name="T13" fmla="*/ 0 60000 65536"/>
              <a:gd name="T14" fmla="*/ 0 60000 65536"/>
              <a:gd name="T15" fmla="*/ 0 w 1272"/>
              <a:gd name="T16" fmla="*/ 0 h 916"/>
              <a:gd name="T17" fmla="*/ 1272 w 1272"/>
              <a:gd name="T18" fmla="*/ 916 h 916"/>
            </a:gdLst>
            <a:ahLst/>
            <a:cxnLst>
              <a:cxn ang="T10">
                <a:pos x="T0" y="T1"/>
              </a:cxn>
              <a:cxn ang="T11">
                <a:pos x="T2" y="T3"/>
              </a:cxn>
              <a:cxn ang="T12">
                <a:pos x="T4" y="T5"/>
              </a:cxn>
              <a:cxn ang="T13">
                <a:pos x="T6" y="T7"/>
              </a:cxn>
              <a:cxn ang="T14">
                <a:pos x="T8" y="T9"/>
              </a:cxn>
            </a:cxnLst>
            <a:rect l="T15" t="T16" r="T17" b="T18"/>
            <a:pathLst>
              <a:path w="1272" h="916">
                <a:moveTo>
                  <a:pt x="0" y="916"/>
                </a:moveTo>
                <a:lnTo>
                  <a:pt x="0" y="776"/>
                </a:lnTo>
                <a:lnTo>
                  <a:pt x="1012" y="780"/>
                </a:lnTo>
                <a:lnTo>
                  <a:pt x="1012" y="0"/>
                </a:lnTo>
                <a:lnTo>
                  <a:pt x="1272" y="0"/>
                </a:lnTo>
              </a:path>
            </a:pathLst>
          </a:custGeom>
          <a:noFill/>
          <a:ln w="28575">
            <a:solidFill>
              <a:srgbClr val="00CC00"/>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5065" name="Freeform 9"/>
          <p:cNvSpPr>
            <a:spLocks/>
          </p:cNvSpPr>
          <p:nvPr/>
        </p:nvSpPr>
        <p:spPr bwMode="auto">
          <a:xfrm>
            <a:off x="2590800" y="4156075"/>
            <a:ext cx="1358900" cy="495300"/>
          </a:xfrm>
          <a:custGeom>
            <a:avLst/>
            <a:gdLst>
              <a:gd name="T0" fmla="*/ 0 w 856"/>
              <a:gd name="T1" fmla="*/ 2147483647 h 312"/>
              <a:gd name="T2" fmla="*/ 2147483647 w 856"/>
              <a:gd name="T3" fmla="*/ 2147483647 h 312"/>
              <a:gd name="T4" fmla="*/ 2147483647 w 856"/>
              <a:gd name="T5" fmla="*/ 2147483647 h 312"/>
              <a:gd name="T6" fmla="*/ 2147483647 w 856"/>
              <a:gd name="T7" fmla="*/ 0 h 312"/>
              <a:gd name="T8" fmla="*/ 2147483647 w 856"/>
              <a:gd name="T9" fmla="*/ 0 h 312"/>
              <a:gd name="T10" fmla="*/ 0 60000 65536"/>
              <a:gd name="T11" fmla="*/ 0 60000 65536"/>
              <a:gd name="T12" fmla="*/ 0 60000 65536"/>
              <a:gd name="T13" fmla="*/ 0 60000 65536"/>
              <a:gd name="T14" fmla="*/ 0 60000 65536"/>
              <a:gd name="T15" fmla="*/ 0 w 856"/>
              <a:gd name="T16" fmla="*/ 0 h 312"/>
              <a:gd name="T17" fmla="*/ 856 w 856"/>
              <a:gd name="T18" fmla="*/ 312 h 312"/>
            </a:gdLst>
            <a:ahLst/>
            <a:cxnLst>
              <a:cxn ang="T10">
                <a:pos x="T0" y="T1"/>
              </a:cxn>
              <a:cxn ang="T11">
                <a:pos x="T2" y="T3"/>
              </a:cxn>
              <a:cxn ang="T12">
                <a:pos x="T4" y="T5"/>
              </a:cxn>
              <a:cxn ang="T13">
                <a:pos x="T6" y="T7"/>
              </a:cxn>
              <a:cxn ang="T14">
                <a:pos x="T8" y="T9"/>
              </a:cxn>
            </a:cxnLst>
            <a:rect l="T15" t="T16" r="T17" b="T18"/>
            <a:pathLst>
              <a:path w="856" h="312">
                <a:moveTo>
                  <a:pt x="0" y="312"/>
                </a:moveTo>
                <a:cubicBezTo>
                  <a:pt x="61" y="312"/>
                  <a:pt x="123" y="312"/>
                  <a:pt x="184" y="312"/>
                </a:cubicBezTo>
                <a:lnTo>
                  <a:pt x="768" y="312"/>
                </a:lnTo>
                <a:lnTo>
                  <a:pt x="768" y="0"/>
                </a:lnTo>
                <a:lnTo>
                  <a:pt x="856"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5066" name="Freeform 10"/>
          <p:cNvSpPr>
            <a:spLocks/>
          </p:cNvSpPr>
          <p:nvPr/>
        </p:nvSpPr>
        <p:spPr bwMode="auto">
          <a:xfrm>
            <a:off x="4406900" y="3660775"/>
            <a:ext cx="1028700" cy="381000"/>
          </a:xfrm>
          <a:custGeom>
            <a:avLst/>
            <a:gdLst>
              <a:gd name="T0" fmla="*/ 0 w 648"/>
              <a:gd name="T1" fmla="*/ 2147483647 h 240"/>
              <a:gd name="T2" fmla="*/ 2147483647 w 648"/>
              <a:gd name="T3" fmla="*/ 2147483647 h 240"/>
              <a:gd name="T4" fmla="*/ 2147483647 w 648"/>
              <a:gd name="T5" fmla="*/ 0 h 240"/>
              <a:gd name="T6" fmla="*/ 2147483647 w 648"/>
              <a:gd name="T7" fmla="*/ 2147483647 h 240"/>
              <a:gd name="T8" fmla="*/ 0 60000 65536"/>
              <a:gd name="T9" fmla="*/ 0 60000 65536"/>
              <a:gd name="T10" fmla="*/ 0 60000 65536"/>
              <a:gd name="T11" fmla="*/ 0 60000 65536"/>
              <a:gd name="T12" fmla="*/ 0 w 648"/>
              <a:gd name="T13" fmla="*/ 0 h 240"/>
              <a:gd name="T14" fmla="*/ 648 w 648"/>
              <a:gd name="T15" fmla="*/ 240 h 240"/>
            </a:gdLst>
            <a:ahLst/>
            <a:cxnLst>
              <a:cxn ang="T8">
                <a:pos x="T0" y="T1"/>
              </a:cxn>
              <a:cxn ang="T9">
                <a:pos x="T2" y="T3"/>
              </a:cxn>
              <a:cxn ang="T10">
                <a:pos x="T4" y="T5"/>
              </a:cxn>
              <a:cxn ang="T11">
                <a:pos x="T6" y="T7"/>
              </a:cxn>
            </a:cxnLst>
            <a:rect l="T12" t="T13" r="T14" b="T15"/>
            <a:pathLst>
              <a:path w="648" h="240">
                <a:moveTo>
                  <a:pt x="0" y="240"/>
                </a:moveTo>
                <a:lnTo>
                  <a:pt x="544" y="240"/>
                </a:lnTo>
                <a:lnTo>
                  <a:pt x="544" y="0"/>
                </a:lnTo>
                <a:lnTo>
                  <a:pt x="648" y="8"/>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a:p>
        </p:txBody>
      </p:sp>
      <p:sp>
        <p:nvSpPr>
          <p:cNvPr id="45067" name="Line 11"/>
          <p:cNvSpPr>
            <a:spLocks noChangeShapeType="1"/>
          </p:cNvSpPr>
          <p:nvPr/>
        </p:nvSpPr>
        <p:spPr bwMode="auto">
          <a:xfrm>
            <a:off x="1701800" y="4651375"/>
            <a:ext cx="482600" cy="0"/>
          </a:xfrm>
          <a:prstGeom prst="line">
            <a:avLst/>
          </a:prstGeom>
          <a:noFill/>
          <a:ln w="28575">
            <a:solidFill>
              <a:srgbClr val="00CC00"/>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5068" name="Oval 12"/>
          <p:cNvSpPr>
            <a:spLocks noChangeArrowheads="1"/>
          </p:cNvSpPr>
          <p:nvPr/>
        </p:nvSpPr>
        <p:spPr bwMode="auto">
          <a:xfrm>
            <a:off x="1905000" y="4613275"/>
            <a:ext cx="101600" cy="88900"/>
          </a:xfrm>
          <a:prstGeom prst="ellipse">
            <a:avLst/>
          </a:prstGeom>
          <a:solidFill>
            <a:schemeClr val="tx1"/>
          </a:solidFill>
          <a:ln w="19050">
            <a:solidFill>
              <a:schemeClr val="tx1"/>
            </a:solidFill>
            <a:round/>
            <a:headEnd/>
            <a:tailEnd/>
          </a:ln>
        </p:spPr>
        <p:txBody>
          <a:bodyPr wrap="none" anchor="ctr">
            <a:spAutoFit/>
          </a:bodyPr>
          <a:lstStyle/>
          <a:p>
            <a:endParaRPr lang="en-US" sz="1400" b="1"/>
          </a:p>
        </p:txBody>
      </p:sp>
      <p:sp>
        <p:nvSpPr>
          <p:cNvPr id="45069" name="Line 13"/>
          <p:cNvSpPr>
            <a:spLocks noChangeShapeType="1"/>
          </p:cNvSpPr>
          <p:nvPr/>
        </p:nvSpPr>
        <p:spPr bwMode="auto">
          <a:xfrm>
            <a:off x="1651000" y="3914775"/>
            <a:ext cx="2324100" cy="0"/>
          </a:xfrm>
          <a:prstGeom prst="line">
            <a:avLst/>
          </a:prstGeom>
          <a:noFill/>
          <a:ln w="28575">
            <a:solidFill>
              <a:srgbClr val="663300"/>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45070" name="Slide Number Placeholder 1"/>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Frutiger 55 Roman" charset="0"/>
                <a:ea typeface="ＭＳ Ｐゴシック" pitchFamily="34" charset="-128"/>
              </a:defRPr>
            </a:lvl1pPr>
            <a:lvl2pPr marL="742950" indent="-285750" eaLnBrk="0" hangingPunct="0">
              <a:defRPr sz="1200">
                <a:solidFill>
                  <a:schemeClr val="tx1"/>
                </a:solidFill>
                <a:latin typeface="Frutiger 55 Roman" charset="0"/>
                <a:ea typeface="ＭＳ Ｐゴシック" pitchFamily="34" charset="-128"/>
              </a:defRPr>
            </a:lvl2pPr>
            <a:lvl3pPr marL="1143000" indent="-228600" eaLnBrk="0" hangingPunct="0">
              <a:defRPr sz="1200">
                <a:solidFill>
                  <a:schemeClr val="tx1"/>
                </a:solidFill>
                <a:latin typeface="Frutiger 55 Roman" charset="0"/>
                <a:ea typeface="ＭＳ Ｐゴシック" pitchFamily="34" charset="-128"/>
              </a:defRPr>
            </a:lvl3pPr>
            <a:lvl4pPr marL="1600200" indent="-228600" eaLnBrk="0" hangingPunct="0">
              <a:defRPr sz="1200">
                <a:solidFill>
                  <a:schemeClr val="tx1"/>
                </a:solidFill>
                <a:latin typeface="Frutiger 55 Roman" charset="0"/>
                <a:ea typeface="ＭＳ Ｐゴシック" pitchFamily="34" charset="-128"/>
              </a:defRPr>
            </a:lvl4pPr>
            <a:lvl5pPr marL="2057400" indent="-228600" eaLnBrk="0" hangingPunct="0">
              <a:defRPr sz="1200">
                <a:solidFill>
                  <a:schemeClr val="tx1"/>
                </a:solidFill>
                <a:latin typeface="Frutiger 55 Roman" charset="0"/>
                <a:ea typeface="ＭＳ Ｐゴシック" pitchFamily="34" charset="-128"/>
              </a:defRPr>
            </a:lvl5pPr>
            <a:lvl6pPr marL="2514600" indent="-228600" eaLnBrk="0" fontAlgn="base" hangingPunct="0">
              <a:spcBef>
                <a:spcPct val="0"/>
              </a:spcBef>
              <a:spcAft>
                <a:spcPct val="0"/>
              </a:spcAft>
              <a:defRPr sz="1200">
                <a:solidFill>
                  <a:schemeClr val="tx1"/>
                </a:solidFill>
                <a:latin typeface="Frutiger 55 Roman" charset="0"/>
                <a:ea typeface="ＭＳ Ｐゴシック" pitchFamily="34" charset="-128"/>
              </a:defRPr>
            </a:lvl6pPr>
            <a:lvl7pPr marL="2971800" indent="-228600" eaLnBrk="0" fontAlgn="base" hangingPunct="0">
              <a:spcBef>
                <a:spcPct val="0"/>
              </a:spcBef>
              <a:spcAft>
                <a:spcPct val="0"/>
              </a:spcAft>
              <a:defRPr sz="1200">
                <a:solidFill>
                  <a:schemeClr val="tx1"/>
                </a:solidFill>
                <a:latin typeface="Frutiger 55 Roman" charset="0"/>
                <a:ea typeface="ＭＳ Ｐゴシック" pitchFamily="34" charset="-128"/>
              </a:defRPr>
            </a:lvl7pPr>
            <a:lvl8pPr marL="3429000" indent="-228600" eaLnBrk="0" fontAlgn="base" hangingPunct="0">
              <a:spcBef>
                <a:spcPct val="0"/>
              </a:spcBef>
              <a:spcAft>
                <a:spcPct val="0"/>
              </a:spcAft>
              <a:defRPr sz="1200">
                <a:solidFill>
                  <a:schemeClr val="tx1"/>
                </a:solidFill>
                <a:latin typeface="Frutiger 55 Roman" charset="0"/>
                <a:ea typeface="ＭＳ Ｐゴシック" pitchFamily="34" charset="-128"/>
              </a:defRPr>
            </a:lvl8pPr>
            <a:lvl9pPr marL="3886200" indent="-228600" eaLnBrk="0" fontAlgn="base" hangingPunct="0">
              <a:spcBef>
                <a:spcPct val="0"/>
              </a:spcBef>
              <a:spcAft>
                <a:spcPct val="0"/>
              </a:spcAft>
              <a:defRPr sz="1200">
                <a:solidFill>
                  <a:schemeClr val="tx1"/>
                </a:solidFill>
                <a:latin typeface="Frutiger 55 Roman" charset="0"/>
                <a:ea typeface="ＭＳ Ｐゴシック" pitchFamily="34" charset="-128"/>
              </a:defRPr>
            </a:lvl9pPr>
          </a:lstStyle>
          <a:p>
            <a:pPr eaLnBrk="1" hangingPunct="1"/>
            <a:fld id="{F3CFF563-7D58-4B3D-957F-952515782896}" type="slidenum">
              <a:rPr lang="en-US" smtClean="0">
                <a:solidFill>
                  <a:srgbClr val="898989"/>
                </a:solidFill>
              </a:rPr>
              <a:pPr eaLnBrk="1" hangingPunct="1"/>
              <a:t>84</a:t>
            </a:fld>
            <a:endParaRPr lang="en-US" dirty="0" smtClean="0">
              <a:solidFill>
                <a:srgbClr val="898989"/>
              </a:solidFill>
            </a:endParaRPr>
          </a:p>
        </p:txBody>
      </p:sp>
      <p:pic>
        <p:nvPicPr>
          <p:cNvPr id="2" name="Picture 1" descr="Screen Shot 2018-10-07 at 4.10.43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00" y="2514600"/>
            <a:ext cx="8877300" cy="4318000"/>
          </a:xfrm>
          <a:prstGeom prst="rect">
            <a:avLst/>
          </a:prstGeom>
        </p:spPr>
      </p:pic>
    </p:spTree>
    <p:custDataLst>
      <p:tags r:id="rId1"/>
    </p:custDataLst>
    <p:extLst>
      <p:ext uri="{BB962C8B-B14F-4D97-AF65-F5344CB8AC3E}">
        <p14:creationId xmlns:p14="http://schemas.microsoft.com/office/powerpoint/2010/main" val="4019195279"/>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324100"/>
            <a:ext cx="4371975" cy="454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81000" y="152400"/>
            <a:ext cx="7620000" cy="1143000"/>
          </a:xfrm>
        </p:spPr>
        <p:txBody>
          <a:bodyPr/>
          <a:lstStyle/>
          <a:p>
            <a:r>
              <a:rPr lang="en-US" dirty="0" smtClean="0"/>
              <a:t>Combinational Circuits:</a:t>
            </a:r>
            <a:br>
              <a:rPr lang="en-US" dirty="0" smtClean="0"/>
            </a:br>
            <a:r>
              <a:rPr lang="en-US" dirty="0" smtClean="0">
                <a:solidFill>
                  <a:srgbClr val="0000FF"/>
                </a:solidFill>
              </a:rPr>
              <a:t>Multiplexors</a:t>
            </a:r>
            <a:r>
              <a:rPr lang="en-US" dirty="0" smtClean="0"/>
              <a:t>/</a:t>
            </a:r>
            <a:r>
              <a:rPr lang="en-US" dirty="0" smtClean="0">
                <a:solidFill>
                  <a:srgbClr val="0000FF"/>
                </a:solidFill>
              </a:rPr>
              <a:t>Demultiplexors </a:t>
            </a:r>
            <a:endParaRPr lang="en-US" dirty="0">
              <a:solidFill>
                <a:srgbClr val="0000FF"/>
              </a:solidFill>
            </a:endParaRPr>
          </a:p>
        </p:txBody>
      </p:sp>
      <p:sp>
        <p:nvSpPr>
          <p:cNvPr id="3" name="Content Placeholder 2"/>
          <p:cNvSpPr>
            <a:spLocks noGrp="1"/>
          </p:cNvSpPr>
          <p:nvPr>
            <p:ph idx="1"/>
          </p:nvPr>
        </p:nvSpPr>
        <p:spPr>
          <a:xfrm>
            <a:off x="76200" y="1524000"/>
            <a:ext cx="8686800" cy="4800600"/>
          </a:xfrm>
        </p:spPr>
        <p:txBody>
          <a:bodyPr/>
          <a:lstStyle/>
          <a:p>
            <a:r>
              <a:rPr lang="en-US" dirty="0" smtClean="0"/>
              <a:t>Also called “</a:t>
            </a:r>
            <a:r>
              <a:rPr lang="en-US" i="1" dirty="0" smtClean="0"/>
              <a:t>switches”</a:t>
            </a:r>
            <a:r>
              <a:rPr lang="en-US" dirty="0" smtClean="0"/>
              <a:t> or “</a:t>
            </a:r>
            <a:r>
              <a:rPr lang="en-US" i="1" dirty="0" smtClean="0"/>
              <a:t>selectors” </a:t>
            </a:r>
            <a:r>
              <a:rPr lang="en-US" dirty="0" smtClean="0"/>
              <a:t>or “</a:t>
            </a:r>
            <a:r>
              <a:rPr lang="en-US" i="1" dirty="0" smtClean="0"/>
              <a:t>choosers”</a:t>
            </a:r>
            <a:endParaRPr lang="en-US" dirty="0" smtClean="0"/>
          </a:p>
          <a:p>
            <a:r>
              <a:rPr lang="en-US" dirty="0" smtClean="0"/>
              <a:t>Given a set of inputs and a control set, choose one of the inputs to be propagated to the output</a:t>
            </a:r>
          </a:p>
          <a:p>
            <a:pPr lvl="1"/>
            <a:r>
              <a:rPr lang="en-US" dirty="0"/>
              <a:t>T</a:t>
            </a:r>
            <a:r>
              <a:rPr lang="en-US" dirty="0" smtClean="0"/>
              <a:t>his could be a 0 or a 1</a:t>
            </a:r>
          </a:p>
          <a:p>
            <a:pPr lvl="2"/>
            <a:r>
              <a:rPr lang="en-US" dirty="0" smtClean="0"/>
              <a:t>Unlike a Decoder</a:t>
            </a:r>
          </a:p>
          <a:p>
            <a:endParaRPr lang="en-US" dirty="0"/>
          </a:p>
          <a:p>
            <a:r>
              <a:rPr lang="en-US" dirty="0" smtClean="0"/>
              <a:t>Used to select one line from many</a:t>
            </a:r>
          </a:p>
          <a:p>
            <a:pPr marL="114300" indent="0">
              <a:buNone/>
            </a:pPr>
            <a:r>
              <a:rPr lang="en-US" dirty="0" smtClean="0"/>
              <a:t>    for output on a shared line</a:t>
            </a:r>
          </a:p>
        </p:txBody>
      </p:sp>
      <p:sp>
        <p:nvSpPr>
          <p:cNvPr id="9" name="TextBox 8"/>
          <p:cNvSpPr txBox="1"/>
          <p:nvPr/>
        </p:nvSpPr>
        <p:spPr>
          <a:xfrm>
            <a:off x="0" y="6412468"/>
            <a:ext cx="4800600" cy="215444"/>
          </a:xfrm>
          <a:prstGeom prst="rect">
            <a:avLst/>
          </a:prstGeom>
          <a:noFill/>
        </p:spPr>
        <p:txBody>
          <a:bodyPr wrap="square" rtlCol="0">
            <a:spAutoFit/>
          </a:bodyPr>
          <a:lstStyle/>
          <a:p>
            <a:r>
              <a:rPr lang="en-US" sz="800" dirty="0" smtClean="0"/>
              <a:t>(Circuit from Arnie Berger’s Digital Logic Slides)</a:t>
            </a:r>
            <a:endParaRPr lang="en-US" sz="800" dirty="0"/>
          </a:p>
        </p:txBody>
      </p:sp>
    </p:spTree>
    <p:extLst>
      <p:ext uri="{BB962C8B-B14F-4D97-AF65-F5344CB8AC3E}">
        <p14:creationId xmlns:p14="http://schemas.microsoft.com/office/powerpoint/2010/main" val="513258382"/>
      </p:ext>
    </p:extLst>
  </p:cSld>
  <p:clrMapOvr>
    <a:masterClrMapping/>
  </p:clrMapOvr>
  <p:timing>
    <p:tnLst>
      <p:par>
        <p:cTn xmlns:p14="http://schemas.microsoft.com/office/powerpoint/2010/mai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Combinational Circuits:</a:t>
            </a:r>
            <a:br>
              <a:rPr lang="en-US" dirty="0" smtClean="0"/>
            </a:br>
            <a:r>
              <a:rPr lang="en-US" dirty="0" smtClean="0">
                <a:solidFill>
                  <a:srgbClr val="0000FF"/>
                </a:solidFill>
              </a:rPr>
              <a:t>Multiplexors</a:t>
            </a:r>
            <a:r>
              <a:rPr lang="en-US" dirty="0" smtClean="0"/>
              <a:t>/</a:t>
            </a:r>
            <a:r>
              <a:rPr lang="en-US" dirty="0" smtClean="0">
                <a:solidFill>
                  <a:srgbClr val="0000FF"/>
                </a:solidFill>
              </a:rPr>
              <a:t>Demultiplexors </a:t>
            </a:r>
            <a:endParaRPr lang="en-US" dirty="0">
              <a:solidFill>
                <a:srgbClr val="0000FF"/>
              </a:solidFill>
            </a:endParaRPr>
          </a:p>
        </p:txBody>
      </p:sp>
      <p:pic>
        <p:nvPicPr>
          <p:cNvPr id="4" name="Picture 3"/>
          <p:cNvPicPr>
            <a:picLocks noChangeAspect="1"/>
          </p:cNvPicPr>
          <p:nvPr/>
        </p:nvPicPr>
        <p:blipFill>
          <a:blip r:embed="rId2"/>
          <a:stretch>
            <a:fillRect/>
          </a:stretch>
        </p:blipFill>
        <p:spPr>
          <a:xfrm>
            <a:off x="1524000" y="3810000"/>
            <a:ext cx="4191000" cy="2349500"/>
          </a:xfrm>
          <a:prstGeom prst="rect">
            <a:avLst/>
          </a:prstGeom>
        </p:spPr>
      </p:pic>
      <p:sp>
        <p:nvSpPr>
          <p:cNvPr id="5" name="TextBox 4"/>
          <p:cNvSpPr txBox="1"/>
          <p:nvPr/>
        </p:nvSpPr>
        <p:spPr>
          <a:xfrm>
            <a:off x="2286000" y="6336268"/>
            <a:ext cx="4038600" cy="215444"/>
          </a:xfrm>
          <a:prstGeom prst="rect">
            <a:avLst/>
          </a:prstGeom>
          <a:noFill/>
        </p:spPr>
        <p:txBody>
          <a:bodyPr wrap="square" rtlCol="0">
            <a:spAutoFit/>
          </a:bodyPr>
          <a:lstStyle/>
          <a:p>
            <a:r>
              <a:rPr lang="en-US" sz="800" dirty="0" smtClean="0"/>
              <a:t>(Source: </a:t>
            </a:r>
            <a:r>
              <a:rPr lang="en-US" sz="800" dirty="0" err="1" smtClean="0"/>
              <a:t>www.electronics-tutorials.ws</a:t>
            </a:r>
            <a:r>
              <a:rPr lang="en-US" sz="800" dirty="0" smtClean="0"/>
              <a:t>)</a:t>
            </a:r>
            <a:endParaRPr lang="en-US" sz="800" dirty="0"/>
          </a:p>
        </p:txBody>
      </p:sp>
      <p:pic>
        <p:nvPicPr>
          <p:cNvPr id="7" name="Picture 6"/>
          <p:cNvPicPr>
            <a:picLocks noChangeAspect="1"/>
          </p:cNvPicPr>
          <p:nvPr/>
        </p:nvPicPr>
        <p:blipFill>
          <a:blip r:embed="rId3"/>
          <a:stretch>
            <a:fillRect/>
          </a:stretch>
        </p:blipFill>
        <p:spPr>
          <a:xfrm>
            <a:off x="1219200" y="1981200"/>
            <a:ext cx="5969000" cy="1270000"/>
          </a:xfrm>
          <a:prstGeom prst="rect">
            <a:avLst/>
          </a:prstGeom>
        </p:spPr>
      </p:pic>
      <p:sp>
        <p:nvSpPr>
          <p:cNvPr id="9" name="TextBox 8"/>
          <p:cNvSpPr txBox="1"/>
          <p:nvPr/>
        </p:nvSpPr>
        <p:spPr>
          <a:xfrm>
            <a:off x="6858000" y="3352800"/>
            <a:ext cx="213360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285750" indent="-285750">
              <a:buFont typeface="Arial"/>
              <a:buChar char="•"/>
            </a:pPr>
            <a:r>
              <a:rPr lang="en-US" dirty="0" smtClean="0"/>
              <a:t>4-In Mux Above</a:t>
            </a:r>
          </a:p>
          <a:p>
            <a:pPr marL="285750" indent="-285750">
              <a:buFont typeface="Arial"/>
              <a:buChar char="•"/>
            </a:pPr>
            <a:r>
              <a:rPr lang="en-US" dirty="0" smtClean="0"/>
              <a:t>N-in Mux Below</a:t>
            </a:r>
            <a:endParaRPr lang="en-US" dirty="0"/>
          </a:p>
        </p:txBody>
      </p:sp>
      <p:pic>
        <p:nvPicPr>
          <p:cNvPr id="3" name="Picture 2" descr="Screen Shot 2018-10-07 at 3.27.11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0" y="1854200"/>
            <a:ext cx="7124700" cy="4470400"/>
          </a:xfrm>
          <a:prstGeom prst="rect">
            <a:avLst/>
          </a:prstGeom>
        </p:spPr>
      </p:pic>
      <p:sp>
        <p:nvSpPr>
          <p:cNvPr id="8" name="TextBox 7"/>
          <p:cNvSpPr txBox="1"/>
          <p:nvPr/>
        </p:nvSpPr>
        <p:spPr>
          <a:xfrm>
            <a:off x="7010400" y="3352800"/>
            <a:ext cx="2209800" cy="147732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A Digital Amplifier selects one of four resistances to vary the output amplitude</a:t>
            </a:r>
          </a:p>
          <a:p>
            <a:r>
              <a:rPr lang="en-US" dirty="0" smtClean="0"/>
              <a:t>(controlled by a &amp; b)</a:t>
            </a:r>
          </a:p>
        </p:txBody>
      </p:sp>
    </p:spTree>
    <p:extLst>
      <p:ext uri="{BB962C8B-B14F-4D97-AF65-F5344CB8AC3E}">
        <p14:creationId xmlns:p14="http://schemas.microsoft.com/office/powerpoint/2010/main" val="344663128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457200" y="76200"/>
            <a:ext cx="7620000" cy="1143000"/>
          </a:xfrm>
        </p:spPr>
        <p:txBody>
          <a:bodyPr/>
          <a:lstStyle/>
          <a:p>
            <a:r>
              <a:rPr lang="en-US" b="1" dirty="0" smtClean="0">
                <a:solidFill>
                  <a:srgbClr val="0000FF"/>
                </a:solidFill>
              </a:rPr>
              <a:t>Multiplexers</a:t>
            </a:r>
            <a:r>
              <a:rPr lang="en-US" dirty="0" smtClean="0"/>
              <a:t> &amp; Uses</a:t>
            </a:r>
          </a:p>
        </p:txBody>
      </p:sp>
      <p:sp>
        <p:nvSpPr>
          <p:cNvPr id="47107" name="Content Placeholder 2"/>
          <p:cNvSpPr>
            <a:spLocks noGrp="1"/>
          </p:cNvSpPr>
          <p:nvPr>
            <p:ph idx="1"/>
          </p:nvPr>
        </p:nvSpPr>
        <p:spPr>
          <a:xfrm>
            <a:off x="12700" y="5943600"/>
            <a:ext cx="9136380" cy="914400"/>
          </a:xfrm>
        </p:spPr>
        <p:style>
          <a:lnRef idx="2">
            <a:schemeClr val="dk1"/>
          </a:lnRef>
          <a:fillRef idx="1">
            <a:schemeClr val="lt1"/>
          </a:fillRef>
          <a:effectRef idx="0">
            <a:schemeClr val="dk1"/>
          </a:effectRef>
          <a:fontRef idx="minor">
            <a:schemeClr val="dk1"/>
          </a:fontRef>
        </p:style>
        <p:txBody>
          <a:bodyPr>
            <a:normAutofit/>
          </a:bodyPr>
          <a:lstStyle/>
          <a:p>
            <a:pPr marL="457200" indent="-457200">
              <a:buFont typeface="Arial" pitchFamily="34" charset="0"/>
              <a:buAutoNum type="alphaLcParenBoth"/>
            </a:pPr>
            <a:r>
              <a:rPr lang="en-US" sz="2000" dirty="0" smtClean="0"/>
              <a:t>An eight-input multiplexer. </a:t>
            </a:r>
          </a:p>
          <a:p>
            <a:pPr marL="457200" indent="-457200">
              <a:buFont typeface="Arial" pitchFamily="34" charset="0"/>
              <a:buAutoNum type="alphaLcParenBoth"/>
            </a:pPr>
            <a:r>
              <a:rPr lang="en-US" sz="2000" dirty="0" smtClean="0"/>
              <a:t>The same multiplexer hardwired to compute the majority function in binary.</a:t>
            </a:r>
          </a:p>
        </p:txBody>
      </p:sp>
      <p:pic>
        <p:nvPicPr>
          <p:cNvPr id="4710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100" y="1023938"/>
            <a:ext cx="7708900" cy="440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7488980"/>
      </p:ext>
    </p:extLst>
  </p:cSld>
  <p:clrMapOvr>
    <a:masterClrMapping/>
  </p:clrMapOvr>
  <p:timing>
    <p:tnLst>
      <p:par>
        <p:cTn xmlns:p14="http://schemas.microsoft.com/office/powerpoint/2010/mai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4695825" y="904875"/>
            <a:ext cx="4371975" cy="454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228600" y="-76200"/>
            <a:ext cx="8153400" cy="1143000"/>
          </a:xfrm>
        </p:spPr>
        <p:txBody>
          <a:bodyPr/>
          <a:lstStyle/>
          <a:p>
            <a:r>
              <a:rPr lang="en-US" b="1" dirty="0" smtClean="0">
                <a:solidFill>
                  <a:srgbClr val="0000FF"/>
                </a:solidFill>
              </a:rPr>
              <a:t>Parallel-to-Serial</a:t>
            </a:r>
            <a:r>
              <a:rPr lang="en-US" dirty="0" smtClean="0"/>
              <a:t>-to-Parallel I/O</a:t>
            </a:r>
            <a:endParaRPr lang="en-US" dirty="0"/>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63700"/>
            <a:ext cx="4371975" cy="454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2362200" y="5562600"/>
            <a:ext cx="6553200" cy="120032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285750" indent="-285750">
              <a:buFont typeface="Arial"/>
              <a:buChar char="•"/>
            </a:pPr>
            <a:r>
              <a:rPr lang="en-US" dirty="0" smtClean="0"/>
              <a:t>This can be done via </a:t>
            </a:r>
            <a:r>
              <a:rPr lang="en-US" b="1" dirty="0" smtClean="0">
                <a:solidFill>
                  <a:srgbClr val="0000FF"/>
                </a:solidFill>
              </a:rPr>
              <a:t>shift register</a:t>
            </a:r>
            <a:r>
              <a:rPr lang="en-US" dirty="0" smtClean="0"/>
              <a:t>, too</a:t>
            </a:r>
          </a:p>
          <a:p>
            <a:pPr marL="285750" indent="-285750">
              <a:buFont typeface="Arial"/>
              <a:buChar char="•"/>
            </a:pPr>
            <a:r>
              <a:rPr lang="en-US" dirty="0" smtClean="0"/>
              <a:t>This is a </a:t>
            </a:r>
            <a:r>
              <a:rPr lang="en-US" b="1" dirty="0" smtClean="0">
                <a:solidFill>
                  <a:srgbClr val="0000FF"/>
                </a:solidFill>
              </a:rPr>
              <a:t>Mux</a:t>
            </a:r>
            <a:r>
              <a:rPr lang="en-US" dirty="0" smtClean="0"/>
              <a:t> paired with a </a:t>
            </a:r>
            <a:r>
              <a:rPr lang="en-US" b="1" dirty="0" err="1" smtClean="0">
                <a:solidFill>
                  <a:srgbClr val="0000FF"/>
                </a:solidFill>
              </a:rPr>
              <a:t>Demux</a:t>
            </a:r>
            <a:r>
              <a:rPr lang="en-US" b="1" dirty="0" smtClean="0">
                <a:solidFill>
                  <a:srgbClr val="0000FF"/>
                </a:solidFill>
              </a:rPr>
              <a:t> </a:t>
            </a:r>
            <a:r>
              <a:rPr lang="en-US" dirty="0" smtClean="0">
                <a:solidFill>
                  <a:schemeClr val="tx1"/>
                </a:solidFill>
              </a:rPr>
              <a:t>(and no order is imposed)</a:t>
            </a:r>
            <a:endParaRPr lang="en-US" b="1" dirty="0" smtClean="0">
              <a:solidFill>
                <a:srgbClr val="0000FF"/>
              </a:solidFill>
            </a:endParaRPr>
          </a:p>
          <a:p>
            <a:pPr marL="285750" indent="-285750">
              <a:buFont typeface="Arial"/>
              <a:buChar char="•"/>
            </a:pPr>
            <a:r>
              <a:rPr lang="en-US" dirty="0" smtClean="0"/>
              <a:t>Can go from an 8-bit word to a 1-wire bus (</a:t>
            </a:r>
            <a:r>
              <a:rPr lang="en-US" dirty="0" err="1" smtClean="0"/>
              <a:t>USB,Ethernet</a:t>
            </a:r>
            <a:r>
              <a:rPr lang="en-US" dirty="0" smtClean="0"/>
              <a:t>) &amp; back</a:t>
            </a:r>
          </a:p>
          <a:p>
            <a:pPr marL="285750" indent="-285750">
              <a:buFont typeface="Arial"/>
              <a:buChar char="•"/>
            </a:pPr>
            <a:r>
              <a:rPr lang="en-US" dirty="0" smtClean="0"/>
              <a:t>Google SATA and PATA for Serial and Parallel examples</a:t>
            </a:r>
            <a:endParaRPr lang="en-US" dirty="0"/>
          </a:p>
        </p:txBody>
      </p:sp>
      <p:cxnSp>
        <p:nvCxnSpPr>
          <p:cNvPr id="8" name="Straight Connector 7"/>
          <p:cNvCxnSpPr/>
          <p:nvPr/>
        </p:nvCxnSpPr>
        <p:spPr>
          <a:xfrm>
            <a:off x="4025900" y="3556000"/>
            <a:ext cx="1005840" cy="0"/>
          </a:xfrm>
          <a:prstGeom prst="line">
            <a:avLst/>
          </a:prstGeom>
        </p:spPr>
        <p:style>
          <a:lnRef idx="2">
            <a:schemeClr val="dk1"/>
          </a:lnRef>
          <a:fillRef idx="0">
            <a:schemeClr val="dk1"/>
          </a:fillRef>
          <a:effectRef idx="1">
            <a:schemeClr val="dk1"/>
          </a:effectRef>
          <a:fontRef idx="minor">
            <a:schemeClr val="tx1"/>
          </a:fontRef>
        </p:style>
      </p:cxnSp>
      <p:pic>
        <p:nvPicPr>
          <p:cNvPr id="9" name="Picture 8"/>
          <p:cNvPicPr>
            <a:picLocks noChangeAspect="1"/>
          </p:cNvPicPr>
          <p:nvPr/>
        </p:nvPicPr>
        <p:blipFill>
          <a:blip r:embed="rId4"/>
          <a:stretch>
            <a:fillRect/>
          </a:stretch>
        </p:blipFill>
        <p:spPr>
          <a:xfrm>
            <a:off x="3949700" y="1447800"/>
            <a:ext cx="1231900" cy="1343891"/>
          </a:xfrm>
          <a:prstGeom prst="rect">
            <a:avLst/>
          </a:prstGeom>
        </p:spPr>
      </p:pic>
    </p:spTree>
    <p:extLst>
      <p:ext uri="{BB962C8B-B14F-4D97-AF65-F5344CB8AC3E}">
        <p14:creationId xmlns:p14="http://schemas.microsoft.com/office/powerpoint/2010/main" val="3449884218"/>
      </p:ext>
    </p:extLst>
  </p:cSld>
  <p:clrMapOvr>
    <a:masterClrMapping/>
  </p:clrMapOvr>
  <p:timing>
    <p:tnLst>
      <p:par>
        <p:cTn xmlns:p14="http://schemas.microsoft.com/office/powerpoint/2010/mai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 and P Technologies</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60640702"/>
              </p:ext>
            </p:extLst>
          </p:nvPr>
        </p:nvGraphicFramePr>
        <p:xfrm>
          <a:off x="1143000" y="2108200"/>
          <a:ext cx="6096000" cy="185420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smtClean="0"/>
                        <a:t>Serial</a:t>
                      </a:r>
                      <a:endParaRPr lang="en-US" dirty="0"/>
                    </a:p>
                  </a:txBody>
                  <a:tcPr/>
                </a:tc>
                <a:tc>
                  <a:txBody>
                    <a:bodyPr/>
                    <a:lstStyle/>
                    <a:p>
                      <a:r>
                        <a:rPr lang="en-US" dirty="0" smtClean="0"/>
                        <a:t>Parallel</a:t>
                      </a:r>
                      <a:endParaRPr lang="en-US" dirty="0"/>
                    </a:p>
                  </a:txBody>
                  <a:tcPr/>
                </a:tc>
              </a:tr>
              <a:tr h="370840">
                <a:tc>
                  <a:txBody>
                    <a:bodyPr/>
                    <a:lstStyle/>
                    <a:p>
                      <a:r>
                        <a:rPr lang="en-US" dirty="0" smtClean="0"/>
                        <a:t>USB</a:t>
                      </a:r>
                      <a:endParaRPr lang="en-US" dirty="0"/>
                    </a:p>
                  </a:txBody>
                  <a:tcPr/>
                </a:tc>
                <a:tc>
                  <a:txBody>
                    <a:bodyPr/>
                    <a:lstStyle/>
                    <a:p>
                      <a:r>
                        <a:rPr lang="en-US" dirty="0" smtClean="0"/>
                        <a:t>PCI</a:t>
                      </a:r>
                      <a:endParaRPr lang="en-US" dirty="0"/>
                    </a:p>
                  </a:txBody>
                  <a:tcPr/>
                </a:tc>
              </a:tr>
              <a:tr h="370840">
                <a:tc>
                  <a:txBody>
                    <a:bodyPr/>
                    <a:lstStyle/>
                    <a:p>
                      <a:r>
                        <a:rPr lang="en-US" dirty="0" smtClean="0"/>
                        <a:t>Ethernet</a:t>
                      </a:r>
                      <a:endParaRPr lang="en-US" dirty="0"/>
                    </a:p>
                  </a:txBody>
                  <a:tcPr/>
                </a:tc>
                <a:tc>
                  <a:txBody>
                    <a:bodyPr/>
                    <a:lstStyle/>
                    <a:p>
                      <a:r>
                        <a:rPr lang="en-US" dirty="0" smtClean="0"/>
                        <a:t>AGP</a:t>
                      </a:r>
                      <a:endParaRPr lang="en-US" dirty="0"/>
                    </a:p>
                  </a:txBody>
                  <a:tcPr/>
                </a:tc>
              </a:tr>
              <a:tr h="370840">
                <a:tc>
                  <a:txBody>
                    <a:bodyPr/>
                    <a:lstStyle/>
                    <a:p>
                      <a:r>
                        <a:rPr lang="en-US" dirty="0" err="1" smtClean="0"/>
                        <a:t>Firewire</a:t>
                      </a:r>
                      <a:endParaRPr lang="en-US" dirty="0"/>
                    </a:p>
                  </a:txBody>
                  <a:tcPr/>
                </a:tc>
                <a:tc>
                  <a:txBody>
                    <a:bodyPr/>
                    <a:lstStyle/>
                    <a:p>
                      <a:r>
                        <a:rPr lang="en-US" dirty="0" smtClean="0"/>
                        <a:t>Parallel Ports (LPT)</a:t>
                      </a:r>
                      <a:endParaRPr lang="en-US" dirty="0"/>
                    </a:p>
                  </a:txBody>
                  <a:tcPr/>
                </a:tc>
              </a:tr>
              <a:tr h="370840">
                <a:tc>
                  <a:txBody>
                    <a:bodyPr/>
                    <a:lstStyle/>
                    <a:p>
                      <a:r>
                        <a:rPr lang="en-US" dirty="0" smtClean="0"/>
                        <a:t>RS232 (COM1, COM2,</a:t>
                      </a:r>
                      <a:r>
                        <a:rPr lang="mr-IN" dirty="0" smtClean="0"/>
                        <a:t>…</a:t>
                      </a:r>
                      <a:r>
                        <a:rPr lang="en-US" dirty="0" smtClean="0"/>
                        <a:t>)</a:t>
                      </a:r>
                      <a:endParaRPr lang="en-US" dirty="0"/>
                    </a:p>
                  </a:txBody>
                  <a:tcPr/>
                </a:tc>
                <a:tc>
                  <a:txBody>
                    <a:bodyPr/>
                    <a:lstStyle/>
                    <a:p>
                      <a:r>
                        <a:rPr lang="mr-IN" dirty="0" smtClean="0"/>
                        <a:t>…</a:t>
                      </a:r>
                      <a:endParaRPr lang="en-US" dirty="0"/>
                    </a:p>
                  </a:txBody>
                  <a:tcPr/>
                </a:tc>
              </a:tr>
            </a:tbl>
          </a:graphicData>
        </a:graphic>
      </p:graphicFrame>
      <p:sp>
        <p:nvSpPr>
          <p:cNvPr id="3" name="TextBox 2"/>
          <p:cNvSpPr txBox="1"/>
          <p:nvPr/>
        </p:nvSpPr>
        <p:spPr>
          <a:xfrm>
            <a:off x="1701905" y="4343400"/>
            <a:ext cx="5003695" cy="1477328"/>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b="1" dirty="0" smtClean="0"/>
              <a:t>Shift Registers:</a:t>
            </a:r>
            <a:r>
              <a:rPr lang="en-US" dirty="0" smtClean="0"/>
              <a:t> Serial to Parallel or Parallel to Serial</a:t>
            </a:r>
          </a:p>
          <a:p>
            <a:r>
              <a:rPr lang="en-US" b="1" dirty="0" smtClean="0">
                <a:solidFill>
                  <a:srgbClr val="FF0000"/>
                </a:solidFill>
              </a:rPr>
              <a:t>Q:</a:t>
            </a:r>
            <a:r>
              <a:rPr lang="en-US" dirty="0" smtClean="0"/>
              <a:t> Why </a:t>
            </a:r>
            <a:r>
              <a:rPr lang="en-US" dirty="0" smtClean="0"/>
              <a:t>isn't parallel better?</a:t>
            </a:r>
            <a:endParaRPr lang="en-US" dirty="0" smtClean="0"/>
          </a:p>
          <a:p>
            <a:r>
              <a:rPr lang="en-US" dirty="0" smtClean="0">
                <a:solidFill>
                  <a:srgbClr val="0000FF"/>
                </a:solidFill>
              </a:rPr>
              <a:t>A:</a:t>
            </a:r>
            <a:r>
              <a:rPr lang="en-US" dirty="0" smtClean="0"/>
              <a:t> Synchronization as signal frequency increases </a:t>
            </a:r>
            <a:endParaRPr lang="en-US" dirty="0"/>
          </a:p>
          <a:p>
            <a:r>
              <a:rPr lang="en-US" dirty="0">
                <a:solidFill>
                  <a:srgbClr val="0000FF"/>
                </a:solidFill>
              </a:rPr>
              <a:t>A:</a:t>
            </a:r>
            <a:r>
              <a:rPr lang="en-US" dirty="0"/>
              <a:t> Cheaper to build compression </a:t>
            </a:r>
            <a:r>
              <a:rPr lang="en-US" dirty="0" err="1"/>
              <a:t>algs</a:t>
            </a:r>
            <a:r>
              <a:rPr lang="en-US" dirty="0"/>
              <a:t> in </a:t>
            </a:r>
            <a:r>
              <a:rPr lang="en-US" dirty="0" smtClean="0"/>
              <a:t>software</a:t>
            </a:r>
            <a:endParaRPr lang="en-US" dirty="0" smtClean="0"/>
          </a:p>
          <a:p>
            <a:r>
              <a:rPr lang="en-US" dirty="0" smtClean="0">
                <a:solidFill>
                  <a:srgbClr val="0000FF"/>
                </a:solidFill>
              </a:rPr>
              <a:t>A</a:t>
            </a:r>
            <a:r>
              <a:rPr lang="en-US" dirty="0" smtClean="0">
                <a:solidFill>
                  <a:srgbClr val="0000FF"/>
                </a:solidFill>
              </a:rPr>
              <a:t>:</a:t>
            </a:r>
            <a:r>
              <a:rPr lang="en-US" dirty="0" smtClean="0"/>
              <a:t> Cross-</a:t>
            </a:r>
            <a:r>
              <a:rPr lang="en-US" dirty="0" smtClean="0"/>
              <a:t>talk</a:t>
            </a:r>
            <a:endParaRPr lang="en-US" dirty="0" smtClean="0"/>
          </a:p>
        </p:txBody>
      </p:sp>
    </p:spTree>
    <p:extLst>
      <p:ext uri="{BB962C8B-B14F-4D97-AF65-F5344CB8AC3E}">
        <p14:creationId xmlns:p14="http://schemas.microsoft.com/office/powerpoint/2010/main" val="189338141"/>
      </p:ext>
    </p:extLst>
  </p:cSld>
  <p:clrMapOvr>
    <a:masterClrMapping/>
  </p:clrMapOvr>
  <p:timing>
    <p:tnLst>
      <p:par>
        <p:cTn xmlns:p14="http://schemas.microsoft.com/office/powerpoint/2010/mai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More Circuits:</a:t>
            </a:r>
            <a:br>
              <a:rPr lang="en-US" dirty="0" smtClean="0">
                <a:solidFill>
                  <a:schemeClr val="accent1"/>
                </a:solidFill>
              </a:rPr>
            </a:br>
            <a:r>
              <a:rPr lang="en-US" dirty="0" smtClean="0">
                <a:solidFill>
                  <a:srgbClr val="0000FF"/>
                </a:solidFill>
              </a:rPr>
              <a:t>Parity </a:t>
            </a:r>
            <a:r>
              <a:rPr lang="en-US" dirty="0" smtClean="0">
                <a:solidFill>
                  <a:srgbClr val="0000FF"/>
                </a:solidFill>
              </a:rPr>
              <a:t>Generators </a:t>
            </a:r>
            <a:r>
              <a:rPr lang="en-US" dirty="0" smtClean="0"/>
              <a:t>&amp; </a:t>
            </a:r>
            <a:r>
              <a:rPr lang="en-US" dirty="0" smtClean="0">
                <a:solidFill>
                  <a:srgbClr val="0000FF"/>
                </a:solidFill>
              </a:rPr>
              <a:t>Checkers</a:t>
            </a:r>
            <a:endParaRPr lang="en-US" dirty="0">
              <a:solidFill>
                <a:srgbClr val="0000FF"/>
              </a:solidFill>
            </a:endParaRPr>
          </a:p>
        </p:txBody>
      </p:sp>
      <p:sp>
        <p:nvSpPr>
          <p:cNvPr id="3" name="Content Placeholder 2"/>
          <p:cNvSpPr>
            <a:spLocks noGrp="1"/>
          </p:cNvSpPr>
          <p:nvPr>
            <p:ph idx="1"/>
          </p:nvPr>
        </p:nvSpPr>
        <p:spPr/>
        <p:txBody>
          <a:bodyPr/>
          <a:lstStyle/>
          <a:p>
            <a:r>
              <a:rPr lang="en-US" dirty="0" smtClean="0"/>
              <a:t>Parity: a uniform (even or odd) number of 1s in a bit string </a:t>
            </a:r>
          </a:p>
          <a:p>
            <a:pPr lvl="1"/>
            <a:r>
              <a:rPr lang="en-US" dirty="0"/>
              <a:t>U</a:t>
            </a:r>
            <a:r>
              <a:rPr lang="en-US" dirty="0" smtClean="0"/>
              <a:t>sed </a:t>
            </a:r>
            <a:r>
              <a:rPr lang="en-US" dirty="0"/>
              <a:t>for error </a:t>
            </a:r>
            <a:r>
              <a:rPr lang="en-US" dirty="0" smtClean="0"/>
              <a:t>detection</a:t>
            </a:r>
          </a:p>
          <a:p>
            <a:pPr lvl="1"/>
            <a:r>
              <a:rPr lang="en-US" dirty="0" smtClean="0"/>
              <a:t>Idea: including my parity bit, is the total # of ones odd?</a:t>
            </a:r>
          </a:p>
          <a:p>
            <a:pPr lvl="2"/>
            <a:r>
              <a:rPr lang="en-US" dirty="0" smtClean="0"/>
              <a:t>This is an odd parity example</a:t>
            </a:r>
          </a:p>
          <a:p>
            <a:pPr lvl="3"/>
            <a:r>
              <a:rPr lang="en-US" dirty="0" smtClean="0"/>
              <a:t>Consider the supreme court (9)</a:t>
            </a:r>
          </a:p>
          <a:p>
            <a:pPr marL="411480" lvl="1" indent="0">
              <a:buNone/>
            </a:pPr>
            <a:endParaRPr lang="en-US" dirty="0"/>
          </a:p>
          <a:p>
            <a:pPr marL="571500" indent="-457200">
              <a:buFont typeface="+mj-lt"/>
              <a:buAutoNum type="arabicPeriod"/>
            </a:pPr>
            <a:r>
              <a:rPr lang="en-US" dirty="0" smtClean="0"/>
              <a:t>Fill out K-Map below</a:t>
            </a:r>
          </a:p>
          <a:p>
            <a:pPr marL="571500" indent="-457200">
              <a:buFont typeface="+mj-lt"/>
              <a:buAutoNum type="arabicPeriod"/>
            </a:pPr>
            <a:r>
              <a:rPr lang="en-US" dirty="0" smtClean="0"/>
              <a:t>Build one for 3 bits in </a:t>
            </a:r>
            <a:r>
              <a:rPr lang="en-US" dirty="0"/>
              <a:t>L</a:t>
            </a:r>
            <a:r>
              <a:rPr lang="en-US" dirty="0" smtClean="0"/>
              <a:t>ogisim</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212884052"/>
              </p:ext>
            </p:extLst>
          </p:nvPr>
        </p:nvGraphicFramePr>
        <p:xfrm>
          <a:off x="5105400" y="2960000"/>
          <a:ext cx="2209800" cy="3840479"/>
        </p:xfrm>
        <a:graphic>
          <a:graphicData uri="http://schemas.openxmlformats.org/drawingml/2006/table">
            <a:tbl>
              <a:tblPr firstRow="1" bandRow="1">
                <a:tableStyleId>{5C22544A-7EE6-4342-B048-85BDC9FD1C3A}</a:tableStyleId>
              </a:tblPr>
              <a:tblGrid>
                <a:gridCol w="347299"/>
                <a:gridCol w="415065"/>
                <a:gridCol w="635304"/>
                <a:gridCol w="812132"/>
              </a:tblGrid>
              <a:tr h="905899">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Parity bit (odd)</a:t>
                      </a:r>
                      <a:endParaRPr lang="en-US" dirty="0"/>
                    </a:p>
                  </a:txBody>
                  <a:tcPr/>
                </a:tc>
              </a:tr>
              <a:tr h="364285">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64285">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64285">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64285">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64285">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64285">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64285">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64285">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234080696"/>
              </p:ext>
            </p:extLst>
          </p:nvPr>
        </p:nvGraphicFramePr>
        <p:xfrm>
          <a:off x="609600" y="4572000"/>
          <a:ext cx="3657600" cy="1112520"/>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370840">
                <a:tc>
                  <a:txBody>
                    <a:bodyPr/>
                    <a:lstStyle/>
                    <a:p>
                      <a:endParaRPr lang="en-US" dirty="0"/>
                    </a:p>
                  </a:txBody>
                  <a:tcPr>
                    <a:solidFill>
                      <a:schemeClr val="bg2">
                        <a:lumMod val="50000"/>
                      </a:schemeClr>
                    </a:solidFill>
                  </a:tcPr>
                </a:tc>
                <a:tc>
                  <a:txBody>
                    <a:bodyPr/>
                    <a:lstStyle/>
                    <a:p>
                      <a:r>
                        <a:rPr lang="en-US" dirty="0" smtClean="0"/>
                        <a:t>~A~B</a:t>
                      </a:r>
                      <a:endParaRPr lang="en-US" dirty="0"/>
                    </a:p>
                  </a:txBody>
                  <a:tcPr/>
                </a:tc>
                <a:tc>
                  <a:txBody>
                    <a:bodyPr/>
                    <a:lstStyle/>
                    <a:p>
                      <a:r>
                        <a:rPr lang="en-US" dirty="0" smtClean="0"/>
                        <a:t>~AB</a:t>
                      </a:r>
                      <a:endParaRPr lang="en-US" dirty="0"/>
                    </a:p>
                  </a:txBody>
                  <a:tcPr/>
                </a:tc>
                <a:tc>
                  <a:txBody>
                    <a:bodyPr/>
                    <a:lstStyle/>
                    <a:p>
                      <a:r>
                        <a:rPr lang="en-US" dirty="0" smtClean="0"/>
                        <a:t>AB</a:t>
                      </a:r>
                      <a:endParaRPr lang="en-US" dirty="0"/>
                    </a:p>
                  </a:txBody>
                  <a:tcPr/>
                </a:tc>
                <a:tc>
                  <a:txBody>
                    <a:bodyPr/>
                    <a:lstStyle/>
                    <a:p>
                      <a:r>
                        <a:rPr lang="en-US" dirty="0" smtClean="0"/>
                        <a:t>A~B</a:t>
                      </a:r>
                      <a:endParaRPr lang="en-US" dirty="0"/>
                    </a:p>
                  </a:txBody>
                  <a:tcPr/>
                </a:tc>
              </a:tr>
              <a:tr h="370840">
                <a:tc>
                  <a:txBody>
                    <a:bodyPr/>
                    <a:lstStyle/>
                    <a:p>
                      <a:r>
                        <a:rPr lang="en-US" dirty="0" smtClean="0">
                          <a:solidFill>
                            <a:schemeClr val="bg1"/>
                          </a:solidFill>
                        </a:rPr>
                        <a:t>C</a:t>
                      </a:r>
                      <a:endParaRPr lang="en-US" dirty="0">
                        <a:solidFill>
                          <a:schemeClr val="bg1"/>
                        </a:solidFill>
                      </a:endParaRPr>
                    </a:p>
                  </a:txBody>
                  <a:tcPr>
                    <a:solidFill>
                      <a:schemeClr val="bg2">
                        <a:lumMod val="50000"/>
                      </a:schemeClr>
                    </a:solidFill>
                  </a:tcPr>
                </a:tc>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rPr>
                        <a:t>?</a:t>
                      </a:r>
                    </a:p>
                  </a:txBody>
                  <a:tcPr/>
                </a:tc>
              </a:tr>
              <a:tr h="370840">
                <a:tc>
                  <a:txBody>
                    <a:bodyPr/>
                    <a:lstStyle/>
                    <a:p>
                      <a:r>
                        <a:rPr lang="en-US" dirty="0" smtClean="0">
                          <a:solidFill>
                            <a:srgbClr val="FFFFFF"/>
                          </a:solidFill>
                        </a:rPr>
                        <a:t>~C</a:t>
                      </a:r>
                      <a:endParaRPr lang="en-US" dirty="0">
                        <a:solidFill>
                          <a:srgbClr val="FFFFFF"/>
                        </a:solidFill>
                      </a:endParaRPr>
                    </a:p>
                  </a:txBody>
                  <a:tcPr>
                    <a:solidFill>
                      <a:schemeClr val="bg2">
                        <a:lumMod val="50000"/>
                      </a:schemeClr>
                    </a:solidFill>
                  </a:tcPr>
                </a:tc>
                <a:tc>
                  <a:txBody>
                    <a:bodyPr/>
                    <a:lstStyle/>
                    <a:p>
                      <a:r>
                        <a:rPr lang="en-US" dirty="0" smtClean="0">
                          <a:solidFill>
                            <a:srgbClr val="FF0000"/>
                          </a:solidFill>
                        </a:rPr>
                        <a:t>?</a:t>
                      </a:r>
                      <a:endParaRPr lang="en-US" dirty="0">
                        <a:solidFill>
                          <a:srgbClr val="FF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rPr>
                        <a:t>?</a:t>
                      </a:r>
                    </a:p>
                  </a:txBody>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353560823"/>
              </p:ext>
            </p:extLst>
          </p:nvPr>
        </p:nvGraphicFramePr>
        <p:xfrm>
          <a:off x="685800" y="4648200"/>
          <a:ext cx="3657600" cy="1112520"/>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370840">
                <a:tc>
                  <a:txBody>
                    <a:bodyPr/>
                    <a:lstStyle/>
                    <a:p>
                      <a:endParaRPr lang="en-US" dirty="0"/>
                    </a:p>
                  </a:txBody>
                  <a:tcPr>
                    <a:solidFill>
                      <a:schemeClr val="bg2">
                        <a:lumMod val="50000"/>
                      </a:schemeClr>
                    </a:solidFill>
                  </a:tcPr>
                </a:tc>
                <a:tc>
                  <a:txBody>
                    <a:bodyPr/>
                    <a:lstStyle/>
                    <a:p>
                      <a:r>
                        <a:rPr lang="en-US" dirty="0" smtClean="0"/>
                        <a:t>~A~B</a:t>
                      </a:r>
                      <a:endParaRPr lang="en-US" dirty="0"/>
                    </a:p>
                  </a:txBody>
                  <a:tcPr/>
                </a:tc>
                <a:tc>
                  <a:txBody>
                    <a:bodyPr/>
                    <a:lstStyle/>
                    <a:p>
                      <a:r>
                        <a:rPr lang="en-US" dirty="0" smtClean="0"/>
                        <a:t>~AB</a:t>
                      </a:r>
                      <a:endParaRPr lang="en-US" dirty="0"/>
                    </a:p>
                  </a:txBody>
                  <a:tcPr/>
                </a:tc>
                <a:tc>
                  <a:txBody>
                    <a:bodyPr/>
                    <a:lstStyle/>
                    <a:p>
                      <a:r>
                        <a:rPr lang="en-US" dirty="0" smtClean="0"/>
                        <a:t>AB</a:t>
                      </a:r>
                      <a:endParaRPr lang="en-US" dirty="0"/>
                    </a:p>
                  </a:txBody>
                  <a:tcPr/>
                </a:tc>
                <a:tc>
                  <a:txBody>
                    <a:bodyPr/>
                    <a:lstStyle/>
                    <a:p>
                      <a:r>
                        <a:rPr lang="en-US" dirty="0" smtClean="0"/>
                        <a:t>A~B</a:t>
                      </a:r>
                      <a:endParaRPr lang="en-US" dirty="0"/>
                    </a:p>
                  </a:txBody>
                  <a:tcPr/>
                </a:tc>
              </a:tr>
              <a:tr h="370840">
                <a:tc>
                  <a:txBody>
                    <a:bodyPr/>
                    <a:lstStyle/>
                    <a:p>
                      <a:r>
                        <a:rPr lang="en-US" dirty="0" smtClean="0">
                          <a:solidFill>
                            <a:schemeClr val="bg1"/>
                          </a:solidFill>
                        </a:rPr>
                        <a:t>C</a:t>
                      </a:r>
                      <a:endParaRPr lang="en-US" dirty="0">
                        <a:solidFill>
                          <a:schemeClr val="bg1"/>
                        </a:solidFill>
                      </a:endParaRPr>
                    </a:p>
                  </a:txBody>
                  <a:tcPr>
                    <a:solidFill>
                      <a:schemeClr val="bg2">
                        <a:lumMod val="50000"/>
                      </a:schemeClr>
                    </a:solidFill>
                  </a:tcPr>
                </a:tc>
                <a:tc>
                  <a:txBody>
                    <a:bodyPr/>
                    <a:lstStyle/>
                    <a:p>
                      <a:endParaRPr lang="en-US" dirty="0"/>
                    </a:p>
                  </a:txBody>
                  <a:tcPr/>
                </a:tc>
                <a:tc>
                  <a:txBody>
                    <a:bodyPr/>
                    <a:lstStyle/>
                    <a:p>
                      <a:r>
                        <a:rPr lang="en-US" dirty="0" smtClean="0">
                          <a:solidFill>
                            <a:srgbClr val="3366FF"/>
                          </a:solidFill>
                        </a:rPr>
                        <a:t>1</a:t>
                      </a:r>
                      <a:endParaRPr lang="en-US" dirty="0">
                        <a:solidFill>
                          <a:srgbClr val="3366FF"/>
                        </a:solidFill>
                      </a:endParaRPr>
                    </a:p>
                  </a:txBody>
                  <a:tcPr/>
                </a:tc>
                <a:tc>
                  <a:txBody>
                    <a:bodyPr/>
                    <a:lstStyle/>
                    <a:p>
                      <a:endParaRPr lang="en-US"/>
                    </a:p>
                  </a:txBody>
                  <a:tcPr/>
                </a:tc>
                <a:tc>
                  <a:txBody>
                    <a:bodyPr/>
                    <a:lstStyle/>
                    <a:p>
                      <a:r>
                        <a:rPr lang="en-US" dirty="0" smtClean="0">
                          <a:solidFill>
                            <a:srgbClr val="3366FF"/>
                          </a:solidFill>
                        </a:rPr>
                        <a:t>1</a:t>
                      </a:r>
                      <a:endParaRPr lang="en-US" dirty="0">
                        <a:solidFill>
                          <a:srgbClr val="3366FF"/>
                        </a:solidFill>
                      </a:endParaRPr>
                    </a:p>
                  </a:txBody>
                  <a:tcPr/>
                </a:tc>
              </a:tr>
              <a:tr h="370840">
                <a:tc>
                  <a:txBody>
                    <a:bodyPr/>
                    <a:lstStyle/>
                    <a:p>
                      <a:r>
                        <a:rPr lang="en-US" dirty="0" smtClean="0">
                          <a:solidFill>
                            <a:srgbClr val="FFFFFF"/>
                          </a:solidFill>
                        </a:rPr>
                        <a:t>~C</a:t>
                      </a:r>
                      <a:endParaRPr lang="en-US" dirty="0">
                        <a:solidFill>
                          <a:srgbClr val="FFFFFF"/>
                        </a:solidFill>
                      </a:endParaRPr>
                    </a:p>
                  </a:txBody>
                  <a:tcPr>
                    <a:solidFill>
                      <a:schemeClr val="bg2">
                        <a:lumMod val="50000"/>
                      </a:schemeClr>
                    </a:solidFill>
                  </a:tcPr>
                </a:tc>
                <a:tc>
                  <a:txBody>
                    <a:bodyPr/>
                    <a:lstStyle/>
                    <a:p>
                      <a:r>
                        <a:rPr lang="en-US" dirty="0" smtClean="0">
                          <a:solidFill>
                            <a:srgbClr val="3366FF"/>
                          </a:solidFill>
                        </a:rPr>
                        <a:t>1</a:t>
                      </a:r>
                      <a:endParaRPr lang="en-US" dirty="0">
                        <a:solidFill>
                          <a:srgbClr val="3366FF"/>
                        </a:solidFill>
                      </a:endParaRPr>
                    </a:p>
                  </a:txBody>
                  <a:tcPr/>
                </a:tc>
                <a:tc>
                  <a:txBody>
                    <a:bodyPr/>
                    <a:lstStyle/>
                    <a:p>
                      <a:endParaRPr lang="en-US"/>
                    </a:p>
                  </a:txBody>
                  <a:tcPr/>
                </a:tc>
                <a:tc>
                  <a:txBody>
                    <a:bodyPr/>
                    <a:lstStyle/>
                    <a:p>
                      <a:r>
                        <a:rPr lang="en-US" dirty="0" smtClean="0">
                          <a:solidFill>
                            <a:srgbClr val="3366FF"/>
                          </a:solidFill>
                        </a:rPr>
                        <a:t>1</a:t>
                      </a:r>
                      <a:endParaRPr lang="en-US" dirty="0">
                        <a:solidFill>
                          <a:srgbClr val="3366FF"/>
                        </a:solidFill>
                      </a:endParaRPr>
                    </a:p>
                  </a:txBody>
                  <a:tcPr/>
                </a:tc>
                <a:tc>
                  <a:txBody>
                    <a:bodyPr/>
                    <a:lstStyle/>
                    <a:p>
                      <a:endParaRPr lang="en-US" dirty="0"/>
                    </a:p>
                  </a:txBody>
                  <a:tcPr/>
                </a:tc>
              </a:tr>
            </a:tbl>
          </a:graphicData>
        </a:graphic>
      </p:graphicFrame>
    </p:spTree>
    <p:extLst>
      <p:ext uri="{BB962C8B-B14F-4D97-AF65-F5344CB8AC3E}">
        <p14:creationId xmlns:p14="http://schemas.microsoft.com/office/powerpoint/2010/main" val="51185091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a:t>
            </a:r>
            <a:r>
              <a:rPr lang="en-US" b="1" dirty="0" smtClean="0">
                <a:solidFill>
                  <a:srgbClr val="0000FF"/>
                </a:solidFill>
              </a:rPr>
              <a:t>bit</a:t>
            </a:r>
            <a:r>
              <a:rPr lang="en-US" dirty="0" smtClean="0"/>
              <a:t> L or R </a:t>
            </a:r>
            <a:r>
              <a:rPr lang="en-US" b="1" dirty="0" smtClean="0">
                <a:solidFill>
                  <a:srgbClr val="0000FF"/>
                </a:solidFill>
              </a:rPr>
              <a:t>Shifter</a:t>
            </a:r>
            <a:endParaRPr lang="en-US" b="1" dirty="0">
              <a:solidFill>
                <a:srgbClr val="0000FF"/>
              </a:solidFill>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714500"/>
            <a:ext cx="7794625"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914400" y="5802868"/>
            <a:ext cx="6934200" cy="923330"/>
          </a:xfrm>
          <a:prstGeom prst="rect">
            <a:avLst/>
          </a:prstGeom>
          <a:noFill/>
        </p:spPr>
        <p:txBody>
          <a:bodyPr wrap="square" rtlCol="0">
            <a:spAutoFit/>
          </a:bodyPr>
          <a:lstStyle/>
          <a:p>
            <a:pPr marL="285750" indent="-285750">
              <a:buFont typeface="Arial"/>
              <a:buChar char="•"/>
            </a:pPr>
            <a:r>
              <a:rPr lang="en-US" dirty="0" smtClean="0"/>
              <a:t>What does the control line “c” do above?</a:t>
            </a:r>
          </a:p>
          <a:p>
            <a:pPr marL="285750" indent="-285750">
              <a:buFont typeface="Arial"/>
              <a:buChar char="•"/>
            </a:pPr>
            <a:r>
              <a:rPr lang="en-US" dirty="0" smtClean="0"/>
              <a:t>Combine with a register to go from serial to parallel data transfer</a:t>
            </a:r>
          </a:p>
          <a:p>
            <a:pPr marL="742950" lvl="1" indent="-285750">
              <a:buFont typeface="Arial"/>
              <a:buChar char="•"/>
            </a:pPr>
            <a:r>
              <a:rPr lang="en-US" dirty="0" smtClean="0"/>
              <a:t>Called a shift register</a:t>
            </a:r>
            <a:endParaRPr lang="en-US" dirty="0"/>
          </a:p>
        </p:txBody>
      </p:sp>
      <p:sp>
        <p:nvSpPr>
          <p:cNvPr id="5" name="TextBox 4"/>
          <p:cNvSpPr txBox="1"/>
          <p:nvPr/>
        </p:nvSpPr>
        <p:spPr>
          <a:xfrm>
            <a:off x="5943600" y="1383268"/>
            <a:ext cx="2514600"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dirty="0"/>
              <a:t>Notice no carry or </a:t>
            </a:r>
            <a:r>
              <a:rPr lang="en-US" dirty="0" smtClean="0"/>
              <a:t>wrap</a:t>
            </a:r>
            <a:endParaRPr lang="en-US" dirty="0"/>
          </a:p>
        </p:txBody>
      </p:sp>
    </p:spTree>
    <p:extLst>
      <p:ext uri="{BB962C8B-B14F-4D97-AF65-F5344CB8AC3E}">
        <p14:creationId xmlns:p14="http://schemas.microsoft.com/office/powerpoint/2010/main" val="3783230254"/>
      </p:ext>
    </p:extLst>
  </p:cSld>
  <p:clrMapOvr>
    <a:masterClrMapping/>
  </p:clrMapOvr>
  <p:timing>
    <p:tnLst>
      <p:par>
        <p:cTn xmlns:p14="http://schemas.microsoft.com/office/powerpoint/2010/mai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229600" cy="1143000"/>
          </a:xfrm>
        </p:spPr>
        <p:txBody>
          <a:bodyPr/>
          <a:lstStyle/>
          <a:p>
            <a:r>
              <a:rPr lang="en-US" dirty="0" smtClean="0"/>
              <a:t>Step Back: On Designing a Circuit</a:t>
            </a:r>
            <a:endParaRPr lang="en-US" dirty="0"/>
          </a:p>
        </p:txBody>
      </p:sp>
      <p:sp>
        <p:nvSpPr>
          <p:cNvPr id="3" name="Content Placeholder 2"/>
          <p:cNvSpPr>
            <a:spLocks noGrp="1"/>
          </p:cNvSpPr>
          <p:nvPr>
            <p:ph idx="1"/>
          </p:nvPr>
        </p:nvSpPr>
        <p:spPr>
          <a:xfrm>
            <a:off x="-114300" y="1600200"/>
            <a:ext cx="9372600" cy="4800600"/>
          </a:xfrm>
        </p:spPr>
        <p:txBody>
          <a:bodyPr>
            <a:normAutofit/>
          </a:bodyPr>
          <a:lstStyle/>
          <a:p>
            <a:r>
              <a:rPr lang="en-US" dirty="0" smtClean="0"/>
              <a:t>All systems are collections (</a:t>
            </a:r>
            <a:r>
              <a:rPr lang="en-US" dirty="0" smtClean="0">
                <a:solidFill>
                  <a:srgbClr val="0000FF"/>
                </a:solidFill>
              </a:rPr>
              <a:t>combinations</a:t>
            </a:r>
            <a:r>
              <a:rPr lang="en-US" dirty="0" smtClean="0"/>
              <a:t>) of gates </a:t>
            </a:r>
          </a:p>
          <a:p>
            <a:pPr lvl="1"/>
            <a:r>
              <a:rPr lang="en-US" dirty="0" smtClean="0"/>
              <a:t>Gates themselves are composed of inputs, outputs, and some function.</a:t>
            </a:r>
          </a:p>
          <a:p>
            <a:pPr lvl="1"/>
            <a:r>
              <a:rPr lang="en-US" dirty="0" smtClean="0"/>
              <a:t>Gates are arranged in an order determined by what the system is to achieve</a:t>
            </a:r>
          </a:p>
          <a:p>
            <a:pPr lvl="2"/>
            <a:r>
              <a:rPr lang="en-US" dirty="0" smtClean="0"/>
              <a:t>What are we organizing this architecture for, anyways?</a:t>
            </a:r>
          </a:p>
          <a:p>
            <a:r>
              <a:rPr lang="en-US" dirty="0" smtClean="0"/>
              <a:t>We are establishing procedures for</a:t>
            </a:r>
            <a:r>
              <a:rPr lang="mr-IN" dirty="0" smtClean="0"/>
              <a:t>…</a:t>
            </a:r>
            <a:endParaRPr lang="en-US" dirty="0" smtClean="0"/>
          </a:p>
          <a:p>
            <a:pPr marL="868680" lvl="1" indent="-457200">
              <a:buFont typeface="+mj-lt"/>
              <a:buAutoNum type="arabicPeriod"/>
            </a:pPr>
            <a:r>
              <a:rPr lang="en-US" dirty="0" smtClean="0"/>
              <a:t>Collecting requirements (</a:t>
            </a:r>
            <a:r>
              <a:rPr lang="en-US" b="1" dirty="0" smtClean="0">
                <a:solidFill>
                  <a:srgbClr val="0000FF"/>
                </a:solidFill>
              </a:rPr>
              <a:t>TT</a:t>
            </a:r>
            <a:r>
              <a:rPr lang="en-US" dirty="0" smtClean="0"/>
              <a:t>s)</a:t>
            </a:r>
          </a:p>
          <a:p>
            <a:pPr marL="868680" lvl="1" indent="-457200">
              <a:buFont typeface="+mj-lt"/>
              <a:buAutoNum type="arabicPeriod"/>
            </a:pPr>
            <a:r>
              <a:rPr lang="en-US" dirty="0" smtClean="0"/>
              <a:t>Building a naïve (V1.0) </a:t>
            </a:r>
            <a:r>
              <a:rPr lang="en-US" b="1" dirty="0" smtClean="0">
                <a:solidFill>
                  <a:srgbClr val="0000FF"/>
                </a:solidFill>
              </a:rPr>
              <a:t>circuit</a:t>
            </a:r>
            <a:r>
              <a:rPr lang="en-US" dirty="0" smtClean="0"/>
              <a:t>, possibly with redundant logic</a:t>
            </a:r>
          </a:p>
          <a:p>
            <a:pPr marL="868680" lvl="1" indent="-457200">
              <a:buFont typeface="+mj-lt"/>
              <a:buAutoNum type="arabicPeriod"/>
            </a:pPr>
            <a:r>
              <a:rPr lang="en-US" dirty="0" smtClean="0"/>
              <a:t>Reducing the circuit to the least amount of gates (</a:t>
            </a:r>
            <a:r>
              <a:rPr lang="en-US" b="1" dirty="0" smtClean="0">
                <a:solidFill>
                  <a:srgbClr val="0000FF"/>
                </a:solidFill>
              </a:rPr>
              <a:t>BA, K-maps</a:t>
            </a:r>
            <a:r>
              <a:rPr lang="en-US" dirty="0" smtClean="0"/>
              <a:t>)</a:t>
            </a:r>
          </a:p>
          <a:p>
            <a:endParaRPr lang="en-US" dirty="0"/>
          </a:p>
          <a:p>
            <a:endParaRPr lang="en-US" dirty="0"/>
          </a:p>
        </p:txBody>
      </p:sp>
    </p:spTree>
    <p:extLst>
      <p:ext uri="{BB962C8B-B14F-4D97-AF65-F5344CB8AC3E}">
        <p14:creationId xmlns:p14="http://schemas.microsoft.com/office/powerpoint/2010/main" val="693398358"/>
      </p:ext>
    </p:extLst>
  </p:cSld>
  <p:clrMapOvr>
    <a:masterClrMapping/>
  </p:clrMapOvr>
  <p:timing>
    <p:tnLst>
      <p:par>
        <p:cTn xmlns:p14="http://schemas.microsoft.com/office/powerpoint/2010/mai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8686800" cy="1143000"/>
          </a:xfrm>
        </p:spPr>
        <p:txBody>
          <a:bodyPr/>
          <a:lstStyle/>
          <a:p>
            <a:r>
              <a:rPr lang="en-US" dirty="0" smtClean="0"/>
              <a:t>Steps for Circuit Design (Summary)</a:t>
            </a:r>
            <a:endParaRPr lang="en-US" dirty="0"/>
          </a:p>
        </p:txBody>
      </p:sp>
      <p:sp>
        <p:nvSpPr>
          <p:cNvPr id="3" name="Content Placeholder 2"/>
          <p:cNvSpPr>
            <a:spLocks noGrp="1"/>
          </p:cNvSpPr>
          <p:nvPr>
            <p:ph idx="1"/>
          </p:nvPr>
        </p:nvSpPr>
        <p:spPr/>
        <p:txBody>
          <a:bodyPr>
            <a:normAutofit fontScale="85000" lnSpcReduction="10000"/>
          </a:bodyPr>
          <a:lstStyle/>
          <a:p>
            <a:pPr marL="571500" indent="-457200">
              <a:buFont typeface="+mj-lt"/>
              <a:buAutoNum type="arabicPeriod"/>
            </a:pPr>
            <a:r>
              <a:rPr lang="en-US" dirty="0" smtClean="0"/>
              <a:t>Capture a description of the system’s requirements</a:t>
            </a:r>
          </a:p>
          <a:p>
            <a:pPr lvl="1"/>
            <a:r>
              <a:rPr lang="en-US" dirty="0" smtClean="0"/>
              <a:t>These could be in terms of output lines, and usually involve timing diagrams.</a:t>
            </a:r>
          </a:p>
          <a:p>
            <a:pPr lvl="2"/>
            <a:r>
              <a:rPr lang="en-US" dirty="0" smtClean="0"/>
              <a:t>Consider a 4-way traffic light situation</a:t>
            </a:r>
          </a:p>
          <a:p>
            <a:pPr lvl="2"/>
            <a:r>
              <a:rPr lang="en-US" dirty="0" smtClean="0"/>
              <a:t>Or an embedded automotive chip to roll up windows</a:t>
            </a:r>
          </a:p>
          <a:p>
            <a:pPr marL="571500" indent="-457200">
              <a:buFont typeface="+mj-lt"/>
              <a:buAutoNum type="arabicPeriod"/>
            </a:pPr>
            <a:r>
              <a:rPr lang="en-US" dirty="0" smtClean="0"/>
              <a:t>Start </a:t>
            </a:r>
            <a:r>
              <a:rPr lang="en-US" dirty="0"/>
              <a:t>by enumerating your </a:t>
            </a:r>
            <a:r>
              <a:rPr lang="en-US" dirty="0" smtClean="0"/>
              <a:t>circuits:</a:t>
            </a:r>
            <a:endParaRPr lang="en-US" dirty="0"/>
          </a:p>
          <a:p>
            <a:pPr lvl="1"/>
            <a:r>
              <a:rPr lang="en-US" b="1" dirty="0">
                <a:solidFill>
                  <a:srgbClr val="FF6600"/>
                </a:solidFill>
              </a:rPr>
              <a:t>Inputs </a:t>
            </a:r>
          </a:p>
          <a:p>
            <a:pPr lvl="1"/>
            <a:r>
              <a:rPr lang="en-US" b="1" dirty="0">
                <a:solidFill>
                  <a:srgbClr val="FF6600"/>
                </a:solidFill>
              </a:rPr>
              <a:t>Outputs</a:t>
            </a:r>
          </a:p>
          <a:p>
            <a:pPr lvl="1"/>
            <a:r>
              <a:rPr lang="en-US" dirty="0"/>
              <a:t>What the outputs should do in response to the inputs </a:t>
            </a:r>
          </a:p>
          <a:p>
            <a:pPr lvl="2"/>
            <a:r>
              <a:rPr lang="en-US" dirty="0"/>
              <a:t>Hints at an FSM but we’re missing something critical</a:t>
            </a:r>
          </a:p>
          <a:p>
            <a:pPr marL="571500" indent="-457200">
              <a:buFont typeface="+mj-lt"/>
              <a:buAutoNum type="arabicPeriod"/>
            </a:pPr>
            <a:r>
              <a:rPr lang="en-US" dirty="0"/>
              <a:t>Encode all of the above into a </a:t>
            </a:r>
            <a:r>
              <a:rPr lang="en-US" b="1" dirty="0">
                <a:solidFill>
                  <a:srgbClr val="3366FF"/>
                </a:solidFill>
              </a:rPr>
              <a:t>truth </a:t>
            </a:r>
            <a:r>
              <a:rPr lang="en-US" b="1" dirty="0" smtClean="0">
                <a:solidFill>
                  <a:srgbClr val="3366FF"/>
                </a:solidFill>
              </a:rPr>
              <a:t>table</a:t>
            </a:r>
          </a:p>
          <a:p>
            <a:pPr lvl="1"/>
            <a:r>
              <a:rPr lang="en-US" dirty="0" smtClean="0"/>
              <a:t>Size being dependent on input lines</a:t>
            </a:r>
          </a:p>
          <a:p>
            <a:pPr marL="571500" indent="-457200">
              <a:buFont typeface="+mj-lt"/>
              <a:buAutoNum type="arabicPeriod"/>
            </a:pPr>
            <a:r>
              <a:rPr lang="en-US" dirty="0" smtClean="0"/>
              <a:t>Derive a master </a:t>
            </a:r>
            <a:r>
              <a:rPr lang="en-US" b="1" dirty="0">
                <a:solidFill>
                  <a:srgbClr val="3366FF"/>
                </a:solidFill>
              </a:rPr>
              <a:t>B</a:t>
            </a:r>
            <a:r>
              <a:rPr lang="en-US" b="1" dirty="0" smtClean="0">
                <a:solidFill>
                  <a:srgbClr val="3366FF"/>
                </a:solidFill>
              </a:rPr>
              <a:t>oolean Equation</a:t>
            </a:r>
            <a:r>
              <a:rPr lang="en-US" b="1" dirty="0" smtClean="0"/>
              <a:t> </a:t>
            </a:r>
            <a:r>
              <a:rPr lang="en-US" dirty="0" smtClean="0"/>
              <a:t>for each output</a:t>
            </a:r>
          </a:p>
          <a:p>
            <a:pPr marL="571500" indent="-457200">
              <a:buFont typeface="+mj-lt"/>
              <a:buAutoNum type="arabicPeriod"/>
            </a:pPr>
            <a:r>
              <a:rPr lang="en-US" dirty="0" smtClean="0"/>
              <a:t>Design your system using a simulator (Logisim, </a:t>
            </a:r>
            <a:r>
              <a:rPr lang="en-US" dirty="0" err="1" smtClean="0"/>
              <a:t>etc</a:t>
            </a:r>
            <a:r>
              <a:rPr lang="en-US" dirty="0" smtClean="0"/>
              <a:t>)</a:t>
            </a:r>
          </a:p>
          <a:p>
            <a:pPr marL="868680" lvl="1" indent="-457200">
              <a:buFont typeface="+mj-lt"/>
              <a:buAutoNum type="arabicPeriod"/>
            </a:pPr>
            <a:r>
              <a:rPr lang="en-US" dirty="0" smtClean="0"/>
              <a:t>Wire your inputs to outputs at the gate level</a:t>
            </a:r>
          </a:p>
          <a:p>
            <a:pPr marL="571500" indent="-457200">
              <a:buFont typeface="+mj-lt"/>
              <a:buAutoNum type="arabicPeriod"/>
            </a:pPr>
            <a:r>
              <a:rPr lang="en-US" dirty="0" smtClean="0"/>
              <a:t>Test your </a:t>
            </a:r>
            <a:r>
              <a:rPr lang="en-US" b="1" dirty="0" smtClean="0">
                <a:solidFill>
                  <a:srgbClr val="3366FF"/>
                </a:solidFill>
              </a:rPr>
              <a:t>circuit</a:t>
            </a:r>
            <a:r>
              <a:rPr lang="en-US" dirty="0" smtClean="0"/>
              <a:t> for all possible outcomes </a:t>
            </a:r>
          </a:p>
          <a:p>
            <a:pPr marL="868680" lvl="1" indent="-457200">
              <a:buFont typeface="+mj-lt"/>
              <a:buAutoNum type="arabicPeriod"/>
            </a:pPr>
            <a:r>
              <a:rPr lang="en-US" dirty="0" smtClean="0"/>
              <a:t>Using the simulator, and build the corresponding truth table</a:t>
            </a:r>
          </a:p>
          <a:p>
            <a:pPr marL="114300" indent="0">
              <a:buNone/>
            </a:pPr>
            <a:endParaRPr lang="en-US" dirty="0" smtClean="0"/>
          </a:p>
          <a:p>
            <a:endParaRPr lang="en-US" dirty="0"/>
          </a:p>
        </p:txBody>
      </p:sp>
      <p:sp>
        <p:nvSpPr>
          <p:cNvPr id="4" name="Rounded Rectangle 3"/>
          <p:cNvSpPr/>
          <p:nvPr/>
        </p:nvSpPr>
        <p:spPr>
          <a:xfrm>
            <a:off x="381000" y="4114800"/>
            <a:ext cx="6858000" cy="2514600"/>
          </a:xfrm>
          <a:prstGeom prst="roundRect">
            <a:avLst/>
          </a:prstGeom>
          <a:solidFill>
            <a:schemeClr val="accent1">
              <a:alpha val="6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smtClean="0"/>
          </a:p>
          <a:p>
            <a:pPr algn="ctr"/>
            <a:endParaRPr lang="en-US" b="1" dirty="0"/>
          </a:p>
          <a:p>
            <a:pPr algn="ctr"/>
            <a:endParaRPr lang="en-US" b="1" dirty="0" smtClean="0"/>
          </a:p>
          <a:p>
            <a:pPr algn="ctr"/>
            <a:endParaRPr lang="en-US" b="1" dirty="0"/>
          </a:p>
          <a:p>
            <a:pPr algn="ctr"/>
            <a:endParaRPr lang="en-US" b="1" dirty="0" smtClean="0"/>
          </a:p>
          <a:p>
            <a:pPr algn="ctr"/>
            <a:endParaRPr lang="en-US" b="1" dirty="0"/>
          </a:p>
          <a:p>
            <a:pPr algn="ctr"/>
            <a:endParaRPr lang="en-US" b="1" dirty="0" smtClean="0"/>
          </a:p>
          <a:p>
            <a:pPr algn="ctr"/>
            <a:endParaRPr lang="en-US" b="1" dirty="0"/>
          </a:p>
          <a:p>
            <a:pPr algn="ctr"/>
            <a:r>
              <a:rPr lang="en-US" b="1" dirty="0" smtClean="0"/>
              <a:t>Multiple Views of the Same Design</a:t>
            </a:r>
            <a:endParaRPr lang="en-US" b="1" dirty="0"/>
          </a:p>
        </p:txBody>
      </p:sp>
      <p:sp>
        <p:nvSpPr>
          <p:cNvPr id="5" name="Rounded Rectangle 4"/>
          <p:cNvSpPr/>
          <p:nvPr/>
        </p:nvSpPr>
        <p:spPr>
          <a:xfrm>
            <a:off x="5943600" y="2209800"/>
            <a:ext cx="3124200" cy="1524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a:buChar char="•"/>
            </a:pPr>
            <a:r>
              <a:rPr lang="en-US" b="1" dirty="0" smtClean="0"/>
              <a:t>Let’s Do Some Together!</a:t>
            </a:r>
          </a:p>
          <a:p>
            <a:pPr marL="285750" indent="-285750">
              <a:buFont typeface="Arial"/>
              <a:buChar char="•"/>
            </a:pPr>
            <a:r>
              <a:rPr lang="en-US" dirty="0" smtClean="0"/>
              <a:t>Then you try it in HW2, Exercises, Book Problems, these Slides, etc.</a:t>
            </a:r>
            <a:endParaRPr lang="en-US" dirty="0"/>
          </a:p>
        </p:txBody>
      </p:sp>
    </p:spTree>
    <p:extLst>
      <p:ext uri="{BB962C8B-B14F-4D97-AF65-F5344CB8AC3E}">
        <p14:creationId xmlns:p14="http://schemas.microsoft.com/office/powerpoint/2010/main" val="85341241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52400" y="1320800"/>
            <a:ext cx="8382000" cy="1905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200" y="274638"/>
            <a:ext cx="8077200" cy="1143000"/>
          </a:xfrm>
        </p:spPr>
        <p:txBody>
          <a:bodyPr/>
          <a:lstStyle/>
          <a:p>
            <a:r>
              <a:rPr lang="en-US" dirty="0" smtClean="0"/>
              <a:t>Example Circuit Design Problem</a:t>
            </a:r>
            <a:endParaRPr lang="en-US" dirty="0"/>
          </a:p>
        </p:txBody>
      </p:sp>
      <p:sp>
        <p:nvSpPr>
          <p:cNvPr id="3" name="Content Placeholder 2"/>
          <p:cNvSpPr>
            <a:spLocks noGrp="1"/>
          </p:cNvSpPr>
          <p:nvPr>
            <p:ph idx="1"/>
          </p:nvPr>
        </p:nvSpPr>
        <p:spPr>
          <a:xfrm>
            <a:off x="76200" y="1295400"/>
            <a:ext cx="8458200" cy="4800600"/>
          </a:xfrm>
        </p:spPr>
        <p:txBody>
          <a:bodyPr>
            <a:normAutofit/>
          </a:bodyPr>
          <a:lstStyle/>
          <a:p>
            <a:r>
              <a:rPr lang="en-US" dirty="0" smtClean="0"/>
              <a:t>An automotive firm contacts you to build an embedded processor.</a:t>
            </a:r>
          </a:p>
          <a:p>
            <a:pPr lvl="1"/>
            <a:r>
              <a:rPr lang="en-US" dirty="0" smtClean="0"/>
              <a:t>Windows should roll up based on:</a:t>
            </a:r>
          </a:p>
          <a:p>
            <a:pPr lvl="2"/>
            <a:r>
              <a:rPr lang="en-US" dirty="0" smtClean="0"/>
              <a:t>User presses the up button on the door</a:t>
            </a:r>
          </a:p>
          <a:p>
            <a:pPr lvl="2"/>
            <a:r>
              <a:rPr lang="en-US" dirty="0" smtClean="0"/>
              <a:t>The car exceeds 88 MPH</a:t>
            </a:r>
          </a:p>
          <a:p>
            <a:pPr lvl="2"/>
            <a:r>
              <a:rPr lang="en-US" dirty="0" smtClean="0"/>
              <a:t>The car’s alarm is turned on</a:t>
            </a:r>
          </a:p>
          <a:p>
            <a:endParaRPr lang="en-US" dirty="0"/>
          </a:p>
          <a:p>
            <a:r>
              <a:rPr lang="en-US" dirty="0" smtClean="0">
                <a:solidFill>
                  <a:srgbClr val="FF0000"/>
                </a:solidFill>
              </a:rPr>
              <a:t>TODO</a:t>
            </a:r>
            <a:r>
              <a:rPr lang="en-US" dirty="0" smtClean="0"/>
              <a:t>: decompose this </a:t>
            </a:r>
            <a:r>
              <a:rPr lang="en-US" dirty="0" smtClean="0"/>
              <a:t>problem into the following (previous slide):</a:t>
            </a:r>
            <a:endParaRPr lang="en-US" dirty="0" smtClean="0"/>
          </a:p>
          <a:p>
            <a:pPr marL="868680" lvl="1" indent="-457200">
              <a:buFont typeface="+mj-lt"/>
              <a:buAutoNum type="arabicPeriod"/>
            </a:pPr>
            <a:r>
              <a:rPr lang="en-US" dirty="0" smtClean="0"/>
              <a:t>Enumerate IO: </a:t>
            </a:r>
            <a:r>
              <a:rPr lang="en-US" b="1" dirty="0" smtClean="0">
                <a:solidFill>
                  <a:srgbClr val="FF0000"/>
                </a:solidFill>
              </a:rPr>
              <a:t>Q:</a:t>
            </a:r>
            <a:r>
              <a:rPr lang="en-US" dirty="0" smtClean="0"/>
              <a:t> How many inputs here? How many outputs?</a:t>
            </a:r>
          </a:p>
          <a:p>
            <a:pPr marL="868680" lvl="1" indent="-457200">
              <a:buFont typeface="+mj-lt"/>
              <a:buAutoNum type="arabicPeriod"/>
            </a:pPr>
            <a:r>
              <a:rPr lang="en-US" dirty="0" smtClean="0">
                <a:solidFill>
                  <a:srgbClr val="0000FF"/>
                </a:solidFill>
              </a:rPr>
              <a:t>Build the truth table</a:t>
            </a:r>
            <a:r>
              <a:rPr lang="en-US" dirty="0" smtClean="0"/>
              <a:t>.</a:t>
            </a:r>
          </a:p>
          <a:p>
            <a:pPr marL="868680" lvl="1" indent="-457200">
              <a:buFont typeface="+mj-lt"/>
              <a:buAutoNum type="arabicPeriod"/>
            </a:pPr>
            <a:r>
              <a:rPr lang="en-US" dirty="0" smtClean="0">
                <a:solidFill>
                  <a:srgbClr val="0000FF"/>
                </a:solidFill>
              </a:rPr>
              <a:t>Build Boolean Algebra formulas </a:t>
            </a:r>
            <a:r>
              <a:rPr lang="en-US" dirty="0" smtClean="0"/>
              <a:t>for each output</a:t>
            </a:r>
          </a:p>
          <a:p>
            <a:pPr lvl="2"/>
            <a:r>
              <a:rPr lang="en-US" dirty="0" smtClean="0"/>
              <a:t>Reduce using </a:t>
            </a:r>
            <a:r>
              <a:rPr lang="en-US" dirty="0"/>
              <a:t>B</a:t>
            </a:r>
            <a:r>
              <a:rPr lang="en-US" dirty="0" smtClean="0"/>
              <a:t>oolean algebra laws or </a:t>
            </a:r>
            <a:r>
              <a:rPr lang="en-US" dirty="0" smtClean="0">
                <a:solidFill>
                  <a:srgbClr val="0000FF"/>
                </a:solidFill>
              </a:rPr>
              <a:t>K-Maps </a:t>
            </a:r>
            <a:r>
              <a:rPr lang="en-US" dirty="0" smtClean="0"/>
              <a:t>(next)</a:t>
            </a:r>
          </a:p>
          <a:p>
            <a:pPr marL="868680" lvl="1" indent="-457200">
              <a:buFont typeface="+mj-lt"/>
              <a:buAutoNum type="arabicPeriod"/>
            </a:pPr>
            <a:r>
              <a:rPr lang="en-US" dirty="0" smtClean="0">
                <a:solidFill>
                  <a:srgbClr val="0000FF"/>
                </a:solidFill>
              </a:rPr>
              <a:t>Connect inputs to outputs </a:t>
            </a:r>
            <a:r>
              <a:rPr lang="en-US" dirty="0" smtClean="0"/>
              <a:t>to the required gates for the desired output</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704787980"/>
              </p:ext>
            </p:extLst>
          </p:nvPr>
        </p:nvGraphicFramePr>
        <p:xfrm>
          <a:off x="1981200" y="4927600"/>
          <a:ext cx="6477000" cy="1854200"/>
        </p:xfrm>
        <a:graphic>
          <a:graphicData uri="http://schemas.openxmlformats.org/drawingml/2006/table">
            <a:tbl>
              <a:tblPr firstRow="1" bandRow="1">
                <a:tableStyleId>{073A0DAA-6AF3-43AB-8588-CEC1D06C72B9}</a:tableStyleId>
              </a:tblPr>
              <a:tblGrid>
                <a:gridCol w="1619250"/>
                <a:gridCol w="1619250"/>
                <a:gridCol w="1619250"/>
                <a:gridCol w="1619250"/>
              </a:tblGrid>
              <a:tr h="370840">
                <a:tc>
                  <a:txBody>
                    <a:bodyPr/>
                    <a:lstStyle/>
                    <a:p>
                      <a:r>
                        <a:rPr lang="en-US" dirty="0" smtClean="0"/>
                        <a:t>(U)</a:t>
                      </a:r>
                      <a:r>
                        <a:rPr lang="en-US" dirty="0" err="1" smtClean="0"/>
                        <a:t>p_Button</a:t>
                      </a:r>
                      <a:r>
                        <a:rPr lang="en-US" dirty="0" smtClean="0"/>
                        <a:t> </a:t>
                      </a:r>
                      <a:endParaRPr lang="en-US" dirty="0"/>
                    </a:p>
                  </a:txBody>
                  <a:tcPr/>
                </a:tc>
                <a:tc>
                  <a:txBody>
                    <a:bodyPr/>
                    <a:lstStyle/>
                    <a:p>
                      <a:r>
                        <a:rPr lang="en-US" dirty="0" smtClean="0"/>
                        <a:t>88_(E)</a:t>
                      </a:r>
                      <a:r>
                        <a:rPr lang="en-US" dirty="0" err="1" smtClean="0"/>
                        <a:t>xceeded</a:t>
                      </a:r>
                      <a:endParaRPr lang="en-US" dirty="0"/>
                    </a:p>
                  </a:txBody>
                  <a:tcPr/>
                </a:tc>
                <a:tc>
                  <a:txBody>
                    <a:bodyPr/>
                    <a:lstStyle/>
                    <a:p>
                      <a:r>
                        <a:rPr lang="en-US" dirty="0" smtClean="0"/>
                        <a:t>Alarm_(O)n</a:t>
                      </a:r>
                      <a:endParaRPr lang="en-US" dirty="0"/>
                    </a:p>
                  </a:txBody>
                  <a:tcPr/>
                </a:tc>
                <a:tc>
                  <a:txBody>
                    <a:bodyPr/>
                    <a:lstStyle/>
                    <a:p>
                      <a:r>
                        <a:rPr lang="en-US" dirty="0" err="1" smtClean="0"/>
                        <a:t>Windows_Up</a:t>
                      </a:r>
                      <a:endParaRPr lang="en-US" dirty="0"/>
                    </a:p>
                  </a:txBody>
                  <a:tcPr>
                    <a:solidFill>
                      <a:schemeClr val="tx2"/>
                    </a:solidFill>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solidFill>
                            <a:schemeClr val="bg1"/>
                          </a:solidFill>
                        </a:rPr>
                        <a:t>0</a:t>
                      </a:r>
                      <a:endParaRPr lang="en-US" dirty="0">
                        <a:solidFill>
                          <a:schemeClr val="bg1"/>
                        </a:solidFill>
                      </a:endParaRPr>
                    </a:p>
                  </a:txBody>
                  <a:tcPr>
                    <a:solidFill>
                      <a:schemeClr val="tx2"/>
                    </a:solidFill>
                  </a:tcPr>
                </a:tc>
              </a:tr>
              <a:tr h="370840">
                <a:tc>
                  <a:txBody>
                    <a:bodyPr/>
                    <a:lstStyle/>
                    <a:p>
                      <a:r>
                        <a:rPr lang="en-US" dirty="0" smtClean="0"/>
                        <a:t>1</a:t>
                      </a:r>
                      <a:endParaRPr lang="en-US" dirty="0"/>
                    </a:p>
                  </a:txBody>
                  <a:tcPr/>
                </a:tc>
                <a:tc>
                  <a:txBody>
                    <a:bodyPr/>
                    <a:lstStyle/>
                    <a:p>
                      <a:r>
                        <a:rPr lang="en-US" dirty="0" smtClean="0"/>
                        <a:t>x</a:t>
                      </a:r>
                      <a:endParaRPr lang="en-US" dirty="0"/>
                    </a:p>
                  </a:txBody>
                  <a:tcPr/>
                </a:tc>
                <a:tc>
                  <a:txBody>
                    <a:bodyPr/>
                    <a:lstStyle/>
                    <a:p>
                      <a:r>
                        <a:rPr lang="en-US" dirty="0" smtClean="0"/>
                        <a:t>x</a:t>
                      </a:r>
                      <a:endParaRPr lang="en-US" dirty="0"/>
                    </a:p>
                  </a:txBody>
                  <a:tcPr/>
                </a:tc>
                <a:tc>
                  <a:txBody>
                    <a:bodyPr/>
                    <a:lstStyle/>
                    <a:p>
                      <a:r>
                        <a:rPr lang="en-US" dirty="0" smtClean="0">
                          <a:solidFill>
                            <a:schemeClr val="bg1"/>
                          </a:solidFill>
                        </a:rPr>
                        <a:t>1</a:t>
                      </a:r>
                      <a:endParaRPr lang="en-US" dirty="0">
                        <a:solidFill>
                          <a:schemeClr val="bg1"/>
                        </a:solidFill>
                      </a:endParaRPr>
                    </a:p>
                  </a:txBody>
                  <a:tcPr>
                    <a:solidFill>
                      <a:schemeClr val="tx2"/>
                    </a:solidFill>
                  </a:tcPr>
                </a:tc>
              </a:tr>
              <a:tr h="370840">
                <a:tc>
                  <a:txBody>
                    <a:bodyPr/>
                    <a:lstStyle/>
                    <a:p>
                      <a:r>
                        <a:rPr lang="en-US" dirty="0" smtClean="0"/>
                        <a:t>x</a:t>
                      </a:r>
                      <a:endParaRPr lang="en-US" dirty="0"/>
                    </a:p>
                  </a:txBody>
                  <a:tcPr/>
                </a:tc>
                <a:tc>
                  <a:txBody>
                    <a:bodyPr/>
                    <a:lstStyle/>
                    <a:p>
                      <a:r>
                        <a:rPr lang="en-US" dirty="0" smtClean="0"/>
                        <a:t>1</a:t>
                      </a:r>
                      <a:endParaRPr lang="en-US" dirty="0"/>
                    </a:p>
                  </a:txBody>
                  <a:tcPr/>
                </a:tc>
                <a:tc>
                  <a:txBody>
                    <a:bodyPr/>
                    <a:lstStyle/>
                    <a:p>
                      <a:r>
                        <a:rPr lang="en-US" dirty="0" smtClean="0"/>
                        <a:t>x</a:t>
                      </a:r>
                      <a:endParaRPr lang="en-US" dirty="0"/>
                    </a:p>
                  </a:txBody>
                  <a:tcPr/>
                </a:tc>
                <a:tc>
                  <a:txBody>
                    <a:bodyPr/>
                    <a:lstStyle/>
                    <a:p>
                      <a:r>
                        <a:rPr lang="en-US" dirty="0" smtClean="0">
                          <a:solidFill>
                            <a:schemeClr val="bg1"/>
                          </a:solidFill>
                        </a:rPr>
                        <a:t>1</a:t>
                      </a:r>
                      <a:endParaRPr lang="en-US" dirty="0">
                        <a:solidFill>
                          <a:schemeClr val="bg1"/>
                        </a:solidFill>
                      </a:endParaRPr>
                    </a:p>
                  </a:txBody>
                  <a:tcPr>
                    <a:solidFill>
                      <a:schemeClr val="tx2"/>
                    </a:solidFill>
                  </a:tcPr>
                </a:tc>
              </a:tr>
              <a:tr h="370840">
                <a:tc>
                  <a:txBody>
                    <a:bodyPr/>
                    <a:lstStyle/>
                    <a:p>
                      <a:r>
                        <a:rPr lang="en-US" dirty="0" smtClean="0"/>
                        <a:t>x</a:t>
                      </a:r>
                      <a:endParaRPr lang="en-US" dirty="0"/>
                    </a:p>
                  </a:txBody>
                  <a:tcPr/>
                </a:tc>
                <a:tc>
                  <a:txBody>
                    <a:bodyPr/>
                    <a:lstStyle/>
                    <a:p>
                      <a:r>
                        <a:rPr lang="en-US" dirty="0" smtClean="0"/>
                        <a:t>x</a:t>
                      </a:r>
                      <a:endParaRPr lang="en-US" dirty="0"/>
                    </a:p>
                  </a:txBody>
                  <a:tcPr/>
                </a:tc>
                <a:tc>
                  <a:txBody>
                    <a:bodyPr/>
                    <a:lstStyle/>
                    <a:p>
                      <a:r>
                        <a:rPr lang="en-US" dirty="0" smtClean="0"/>
                        <a:t>1</a:t>
                      </a:r>
                      <a:endParaRPr lang="en-US" dirty="0"/>
                    </a:p>
                  </a:txBody>
                  <a:tcPr/>
                </a:tc>
                <a:tc>
                  <a:txBody>
                    <a:bodyPr/>
                    <a:lstStyle/>
                    <a:p>
                      <a:r>
                        <a:rPr lang="en-US" dirty="0" smtClean="0">
                          <a:solidFill>
                            <a:schemeClr val="bg1"/>
                          </a:solidFill>
                        </a:rPr>
                        <a:t>1</a:t>
                      </a:r>
                      <a:endParaRPr lang="en-US" dirty="0">
                        <a:solidFill>
                          <a:schemeClr val="bg1"/>
                        </a:solidFill>
                      </a:endParaRPr>
                    </a:p>
                  </a:txBody>
                  <a:tcPr>
                    <a:solidFill>
                      <a:schemeClr val="tx2"/>
                    </a:solidFill>
                  </a:tcPr>
                </a:tc>
              </a:tr>
            </a:tbl>
          </a:graphicData>
        </a:graphic>
      </p:graphicFrame>
      <p:sp>
        <p:nvSpPr>
          <p:cNvPr id="6" name="TextBox 5"/>
          <p:cNvSpPr txBox="1"/>
          <p:nvPr/>
        </p:nvSpPr>
        <p:spPr>
          <a:xfrm>
            <a:off x="5410200" y="1828800"/>
            <a:ext cx="2971800"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smtClean="0"/>
              <a:t>WU = row1 + row2 + row3</a:t>
            </a:r>
          </a:p>
          <a:p>
            <a:r>
              <a:rPr lang="en-US" dirty="0" smtClean="0"/>
              <a:t>row1 = U (E+!E)(O+!O) = U</a:t>
            </a:r>
          </a:p>
          <a:p>
            <a:r>
              <a:rPr lang="en-US" dirty="0" smtClean="0"/>
              <a:t>row2 = </a:t>
            </a:r>
            <a:r>
              <a:rPr lang="en-US" dirty="0" smtClean="0"/>
              <a:t>E  </a:t>
            </a:r>
          </a:p>
          <a:p>
            <a:r>
              <a:rPr lang="en-US" dirty="0" smtClean="0"/>
              <a:t>row3 </a:t>
            </a:r>
            <a:r>
              <a:rPr lang="en-US" dirty="0" smtClean="0"/>
              <a:t>= O</a:t>
            </a:r>
            <a:endParaRPr lang="en-US" dirty="0"/>
          </a:p>
        </p:txBody>
      </p:sp>
      <p:sp>
        <p:nvSpPr>
          <p:cNvPr id="7" name="TextBox 6"/>
          <p:cNvSpPr txBox="1"/>
          <p:nvPr/>
        </p:nvSpPr>
        <p:spPr>
          <a:xfrm>
            <a:off x="0" y="5956175"/>
            <a:ext cx="2011680" cy="9018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Now, </a:t>
            </a:r>
            <a:r>
              <a:rPr lang="en-US" dirty="0"/>
              <a:t>y</a:t>
            </a:r>
            <a:r>
              <a:rPr lang="en-US" dirty="0" smtClean="0"/>
              <a:t>ou connect the circuit dots in </a:t>
            </a:r>
            <a:r>
              <a:rPr lang="en-US" dirty="0"/>
              <a:t>L</a:t>
            </a:r>
            <a:r>
              <a:rPr lang="en-US" dirty="0" smtClean="0"/>
              <a:t>ogisim</a:t>
            </a:r>
            <a:endParaRPr lang="en-US" dirty="0"/>
          </a:p>
        </p:txBody>
      </p:sp>
      <p:sp>
        <p:nvSpPr>
          <p:cNvPr id="8" name="Up-Down Arrow 7"/>
          <p:cNvSpPr/>
          <p:nvPr/>
        </p:nvSpPr>
        <p:spPr>
          <a:xfrm>
            <a:off x="7543800" y="3023870"/>
            <a:ext cx="685800" cy="1927860"/>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6553200" y="2665538"/>
            <a:ext cx="1796755" cy="38246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a:t>
            </a:r>
            <a:r>
              <a:rPr lang="en-US" dirty="0"/>
              <a:t>E + !E ) -&gt; x (DC)</a:t>
            </a:r>
          </a:p>
          <a:p>
            <a:endParaRPr lang="en-US" dirty="0"/>
          </a:p>
        </p:txBody>
      </p:sp>
      <p:sp>
        <p:nvSpPr>
          <p:cNvPr id="10" name="Curved Down Arrow 9"/>
          <p:cNvSpPr/>
          <p:nvPr/>
        </p:nvSpPr>
        <p:spPr>
          <a:xfrm rot="3958168">
            <a:off x="6883620" y="2469512"/>
            <a:ext cx="400615" cy="149250"/>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1" name="TextBox 10"/>
          <p:cNvSpPr txBox="1"/>
          <p:nvPr/>
        </p:nvSpPr>
        <p:spPr>
          <a:xfrm>
            <a:off x="2159000" y="1136803"/>
            <a:ext cx="744252" cy="229326"/>
          </a:xfrm>
          <a:prstGeom prst="rect">
            <a:avLst/>
          </a:prstGeom>
          <a:noFill/>
        </p:spPr>
        <p:txBody>
          <a:bodyPr wrap="square" rtlCol="0">
            <a:spAutoFit/>
          </a:bodyPr>
          <a:lstStyle/>
          <a:p>
            <a:r>
              <a:rPr lang="en-US" dirty="0" smtClean="0"/>
              <a:t>TSLA</a:t>
            </a:r>
            <a:endParaRPr lang="en-US" dirty="0"/>
          </a:p>
        </p:txBody>
      </p:sp>
    </p:spTree>
    <p:extLst>
      <p:ext uri="{BB962C8B-B14F-4D97-AF65-F5344CB8AC3E}">
        <p14:creationId xmlns:p14="http://schemas.microsoft.com/office/powerpoint/2010/main" val="180759187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ircle(in)">
                                      <p:cBhvr>
                                        <p:cTn id="15" dur="2000"/>
                                        <p:tgtEl>
                                          <p:spTgt spid="8"/>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circle(in)">
                                      <p:cBhvr>
                                        <p:cTn id="18" dur="20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circle(in)">
                                      <p:cBhvr>
                                        <p:cTn id="23" dur="2000"/>
                                        <p:tgtEl>
                                          <p:spTgt spid="10"/>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circle(in)">
                                      <p:cBhvr>
                                        <p:cTn id="26"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 Coms System</a:t>
            </a:r>
            <a:br>
              <a:rPr lang="en-US" dirty="0" smtClean="0"/>
            </a:br>
            <a:r>
              <a:rPr lang="en-US" dirty="0" smtClean="0"/>
              <a:t>(More Design Practice)</a:t>
            </a:r>
            <a:endParaRPr lang="en-US" dirty="0"/>
          </a:p>
        </p:txBody>
      </p:sp>
      <p:sp>
        <p:nvSpPr>
          <p:cNvPr id="3" name="Content Placeholder 2"/>
          <p:cNvSpPr>
            <a:spLocks noGrp="1"/>
          </p:cNvSpPr>
          <p:nvPr>
            <p:ph idx="1"/>
          </p:nvPr>
        </p:nvSpPr>
        <p:spPr>
          <a:xfrm>
            <a:off x="-152400" y="1600200"/>
            <a:ext cx="8763000" cy="4800600"/>
          </a:xfrm>
        </p:spPr>
        <p:txBody>
          <a:bodyPr/>
          <a:lstStyle/>
          <a:p>
            <a:r>
              <a:rPr lang="en-US" dirty="0" smtClean="0"/>
              <a:t>A customer calls and they need a circuit that can </a:t>
            </a:r>
            <a:r>
              <a:rPr lang="en-US" b="1" dirty="0" smtClean="0">
                <a:solidFill>
                  <a:srgbClr val="FF6600"/>
                </a:solidFill>
              </a:rPr>
              <a:t>pick</a:t>
            </a:r>
            <a:r>
              <a:rPr lang="en-US" b="1" dirty="0" smtClean="0">
                <a:solidFill>
                  <a:srgbClr val="0000FF"/>
                </a:solidFill>
              </a:rPr>
              <a:t> </a:t>
            </a:r>
            <a:r>
              <a:rPr lang="en-US" dirty="0" smtClean="0"/>
              <a:t>a single telephone line to ring given a set of lines based on that party’s extension.</a:t>
            </a:r>
          </a:p>
          <a:p>
            <a:pPr lvl="1"/>
            <a:r>
              <a:rPr lang="en-US" dirty="0" smtClean="0"/>
              <a:t>Details: 5 employee phones with a 8 employee cap</a:t>
            </a:r>
          </a:p>
          <a:p>
            <a:pPr lvl="2"/>
            <a:r>
              <a:rPr lang="en-US" b="1" dirty="0" smtClean="0">
                <a:solidFill>
                  <a:srgbClr val="F13535"/>
                </a:solidFill>
              </a:rPr>
              <a:t>Q:</a:t>
            </a:r>
            <a:r>
              <a:rPr lang="en-US" dirty="0" smtClean="0"/>
              <a:t> How many bits do we need for these “extensions”?</a:t>
            </a:r>
          </a:p>
          <a:p>
            <a:pPr lvl="1"/>
            <a:r>
              <a:rPr lang="en-US" b="1" dirty="0" smtClean="0">
                <a:solidFill>
                  <a:srgbClr val="FF0000"/>
                </a:solidFill>
              </a:rPr>
              <a:t>Q:</a:t>
            </a:r>
            <a:r>
              <a:rPr lang="en-US" b="1" dirty="0" smtClean="0"/>
              <a:t> </a:t>
            </a:r>
            <a:r>
              <a:rPr lang="en-US" dirty="0" smtClean="0"/>
              <a:t>This is which </a:t>
            </a:r>
            <a:r>
              <a:rPr lang="en-US" b="1" dirty="0" smtClean="0">
                <a:solidFill>
                  <a:srgbClr val="FF6600"/>
                </a:solidFill>
              </a:rPr>
              <a:t>Combinational Circuit</a:t>
            </a:r>
            <a:r>
              <a:rPr lang="en-US" dirty="0" smtClean="0"/>
              <a:t>?</a:t>
            </a:r>
          </a:p>
          <a:p>
            <a:pPr lvl="2"/>
            <a:r>
              <a:rPr lang="en-US" dirty="0" smtClean="0"/>
              <a:t>Note that we don’t want the situation where one person on the phone blocks other incoming or outgoing calls</a:t>
            </a:r>
          </a:p>
        </p:txBody>
      </p:sp>
      <p:graphicFrame>
        <p:nvGraphicFramePr>
          <p:cNvPr id="4" name="Table 3"/>
          <p:cNvGraphicFramePr>
            <a:graphicFrameLocks noGrp="1"/>
          </p:cNvGraphicFramePr>
          <p:nvPr>
            <p:extLst>
              <p:ext uri="{D42A27DB-BD31-4B8C-83A1-F6EECF244321}">
                <p14:modId xmlns:p14="http://schemas.microsoft.com/office/powerpoint/2010/main" val="2340574274"/>
              </p:ext>
            </p:extLst>
          </p:nvPr>
        </p:nvGraphicFramePr>
        <p:xfrm>
          <a:off x="838200" y="4495800"/>
          <a:ext cx="6163736" cy="1483360"/>
        </p:xfrm>
        <a:graphic>
          <a:graphicData uri="http://schemas.openxmlformats.org/drawingml/2006/table">
            <a:tbl>
              <a:tblPr firstRow="1" bandRow="1">
                <a:tableStyleId>{5C22544A-7EE6-4342-B048-85BDC9FD1C3A}</a:tableStyleId>
              </a:tblPr>
              <a:tblGrid>
                <a:gridCol w="770467"/>
                <a:gridCol w="770467"/>
                <a:gridCol w="770467"/>
                <a:gridCol w="770467"/>
                <a:gridCol w="770467"/>
                <a:gridCol w="770467"/>
                <a:gridCol w="770467"/>
                <a:gridCol w="770467"/>
              </a:tblGrid>
              <a:tr h="370840">
                <a:tc>
                  <a:txBody>
                    <a:bodyPr/>
                    <a:lstStyle/>
                    <a:p>
                      <a:r>
                        <a:rPr lang="en-US" dirty="0" smtClean="0"/>
                        <a:t>Input</a:t>
                      </a:r>
                      <a:r>
                        <a:rPr lang="en-US" baseline="-25000" dirty="0" smtClean="0"/>
                        <a:t>1</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Input</a:t>
                      </a:r>
                      <a:r>
                        <a:rPr lang="en-US" baseline="-25000" dirty="0" smtClean="0"/>
                        <a:t>2</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Input</a:t>
                      </a:r>
                      <a:r>
                        <a:rPr lang="en-US" baseline="-25000" dirty="0" smtClean="0"/>
                        <a:t>3</a:t>
                      </a:r>
                      <a:endParaRPr lang="en-US" dirty="0" smtClean="0"/>
                    </a:p>
                  </a:txBody>
                  <a:tcPr/>
                </a:tc>
                <a:tc>
                  <a:txBody>
                    <a:bodyPr/>
                    <a:lstStyle/>
                    <a:p>
                      <a:r>
                        <a:rPr lang="en-US" dirty="0" smtClean="0"/>
                        <a:t>Line</a:t>
                      </a:r>
                      <a:r>
                        <a:rPr lang="en-US" baseline="-25000" dirty="0" smtClean="0"/>
                        <a:t>1</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Line</a:t>
                      </a:r>
                      <a:r>
                        <a:rPr lang="en-US" baseline="-25000" dirty="0" smtClean="0"/>
                        <a:t>2</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Line</a:t>
                      </a:r>
                      <a:r>
                        <a:rPr lang="en-US" baseline="-25000" dirty="0" smtClean="0"/>
                        <a:t>3</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Line</a:t>
                      </a:r>
                      <a:r>
                        <a:rPr lang="en-US" baseline="-25000" dirty="0" smtClean="0"/>
                        <a:t>4</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Line</a:t>
                      </a:r>
                      <a:r>
                        <a:rPr lang="en-US" baseline="-25000" dirty="0" smtClean="0"/>
                        <a:t>5</a:t>
                      </a:r>
                      <a:endParaRPr lang="en-US" dirty="0" smtClean="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70840">
                <a:tc>
                  <a:txBody>
                    <a:bodyPr/>
                    <a:lstStyle/>
                    <a:p>
                      <a:r>
                        <a:rPr lang="mr-IN" dirty="0" smtClean="0"/>
                        <a:t>…</a:t>
                      </a:r>
                      <a:endParaRPr lang="en-US" dirty="0"/>
                    </a:p>
                  </a:txBody>
                  <a:tcPr/>
                </a:tc>
                <a:tc>
                  <a:txBody>
                    <a:bodyPr/>
                    <a:lstStyle/>
                    <a:p>
                      <a:r>
                        <a:rPr lang="mr-IN" dirty="0" smtClean="0"/>
                        <a:t>…</a:t>
                      </a:r>
                      <a:endParaRPr lang="en-US" dirty="0"/>
                    </a:p>
                  </a:txBody>
                  <a:tcPr/>
                </a:tc>
                <a:tc>
                  <a:txBody>
                    <a:bodyPr/>
                    <a:lstStyle/>
                    <a:p>
                      <a:r>
                        <a:rPr lang="mr-IN" dirty="0" smtClean="0"/>
                        <a: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mr-IN" dirty="0" smtClean="0"/>
                        <a:t>…</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mr-IN" dirty="0" smtClean="0"/>
                        <a:t>…</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mr-IN" dirty="0" smtClean="0"/>
                        <a:t>…</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mr-IN" dirty="0" smtClean="0"/>
                        <a:t>…</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mr-IN" dirty="0" smtClean="0"/>
                        <a:t>…</a:t>
                      </a:r>
                      <a:endParaRPr lang="en-US" dirty="0" smtClean="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bl>
          </a:graphicData>
        </a:graphic>
      </p:graphicFrame>
    </p:spTree>
    <p:extLst>
      <p:ext uri="{BB962C8B-B14F-4D97-AF65-F5344CB8AC3E}">
        <p14:creationId xmlns:p14="http://schemas.microsoft.com/office/powerpoint/2010/main" val="247790383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915400" cy="1143000"/>
          </a:xfrm>
        </p:spPr>
        <p:txBody>
          <a:bodyPr/>
          <a:lstStyle/>
          <a:p>
            <a:r>
              <a:rPr lang="en-US" dirty="0" smtClean="0"/>
              <a:t>Building Arbitrary Combinations</a:t>
            </a:r>
            <a:endParaRPr lang="en-US" dirty="0"/>
          </a:p>
        </p:txBody>
      </p:sp>
      <p:sp>
        <p:nvSpPr>
          <p:cNvPr id="3" name="Content Placeholder 2"/>
          <p:cNvSpPr>
            <a:spLocks noGrp="1"/>
          </p:cNvSpPr>
          <p:nvPr>
            <p:ph idx="1"/>
          </p:nvPr>
        </p:nvSpPr>
        <p:spPr>
          <a:xfrm>
            <a:off x="304800" y="838200"/>
            <a:ext cx="8534400" cy="2667000"/>
          </a:xfrm>
        </p:spPr>
        <p:style>
          <a:lnRef idx="2">
            <a:schemeClr val="accent4">
              <a:shade val="50000"/>
            </a:schemeClr>
          </a:lnRef>
          <a:fillRef idx="1">
            <a:schemeClr val="accent4"/>
          </a:fillRef>
          <a:effectRef idx="0">
            <a:schemeClr val="accent4"/>
          </a:effectRef>
          <a:fontRef idx="minor">
            <a:schemeClr val="lt1"/>
          </a:fontRef>
        </p:style>
        <p:txBody>
          <a:bodyPr>
            <a:normAutofit fontScale="92500" lnSpcReduction="20000"/>
          </a:bodyPr>
          <a:lstStyle/>
          <a:p>
            <a:pPr marL="114300" indent="0">
              <a:buNone/>
            </a:pPr>
            <a:r>
              <a:rPr lang="en-US" dirty="0" smtClean="0"/>
              <a:t>Specification</a:t>
            </a:r>
          </a:p>
          <a:p>
            <a:r>
              <a:rPr lang="en-US" dirty="0" smtClean="0"/>
              <a:t>We want to control a traffic light at an intersection</a:t>
            </a:r>
          </a:p>
          <a:p>
            <a:r>
              <a:rPr lang="en-US" dirty="0" smtClean="0"/>
              <a:t>Assume each of the colors have a single on/off control signal</a:t>
            </a:r>
          </a:p>
          <a:p>
            <a:pPr lvl="1"/>
            <a:r>
              <a:rPr lang="en-US" dirty="0" smtClean="0">
                <a:solidFill>
                  <a:srgbClr val="FF0000"/>
                </a:solidFill>
              </a:rPr>
              <a:t>Q:</a:t>
            </a:r>
            <a:r>
              <a:rPr lang="en-US" dirty="0" smtClean="0"/>
              <a:t> </a:t>
            </a:r>
            <a:r>
              <a:rPr lang="en-US" dirty="0" smtClean="0">
                <a:solidFill>
                  <a:srgbClr val="0000FF"/>
                </a:solidFill>
              </a:rPr>
              <a:t>How many output lines </a:t>
            </a:r>
            <a:r>
              <a:rPr lang="en-US" dirty="0" smtClean="0"/>
              <a:t>should our circuit have?</a:t>
            </a:r>
          </a:p>
          <a:p>
            <a:pPr lvl="2"/>
            <a:r>
              <a:rPr lang="en-US" dirty="0" smtClean="0"/>
              <a:t>Asked another way, how many colors does a traffic light have?</a:t>
            </a:r>
          </a:p>
          <a:p>
            <a:pPr lvl="1"/>
            <a:r>
              <a:rPr lang="en-US" dirty="0" smtClean="0">
                <a:solidFill>
                  <a:srgbClr val="FF0000"/>
                </a:solidFill>
              </a:rPr>
              <a:t>Q:</a:t>
            </a:r>
            <a:r>
              <a:rPr lang="en-US" dirty="0" smtClean="0"/>
              <a:t> How many different states are there for the traffic light?</a:t>
            </a:r>
          </a:p>
          <a:p>
            <a:pPr lvl="3"/>
            <a:r>
              <a:rPr lang="en-US" dirty="0" smtClean="0"/>
              <a:t>Asked another way, </a:t>
            </a:r>
            <a:r>
              <a:rPr lang="en-US" dirty="0" smtClean="0">
                <a:solidFill>
                  <a:srgbClr val="0000FF"/>
                </a:solidFill>
              </a:rPr>
              <a:t>how many inputs</a:t>
            </a:r>
            <a:r>
              <a:rPr lang="en-US" dirty="0" smtClean="0"/>
              <a:t> to </a:t>
            </a:r>
            <a:r>
              <a:rPr lang="en-US" b="1" dirty="0" smtClean="0">
                <a:solidFill>
                  <a:srgbClr val="0000FF"/>
                </a:solidFill>
              </a:rPr>
              <a:t>encode</a:t>
            </a:r>
            <a:r>
              <a:rPr lang="en-US" dirty="0" smtClean="0"/>
              <a:t> this? (should our circuit have?)</a:t>
            </a:r>
          </a:p>
          <a:p>
            <a:pPr lvl="4"/>
            <a:r>
              <a:rPr lang="en-US" dirty="0" smtClean="0"/>
              <a:t>Can we ever be showing the red light and the green light at the same time?</a:t>
            </a:r>
          </a:p>
          <a:p>
            <a:pPr lvl="3"/>
            <a:r>
              <a:rPr lang="en-US" dirty="0" smtClean="0"/>
              <a:t>Lets make up some arbitrary mapping that says an input of 0 maps to red, 1 to yellow, etc.</a:t>
            </a:r>
          </a:p>
        </p:txBody>
      </p:sp>
      <p:sp>
        <p:nvSpPr>
          <p:cNvPr id="7" name="Rectangle 6"/>
          <p:cNvSpPr/>
          <p:nvPr/>
        </p:nvSpPr>
        <p:spPr>
          <a:xfrm>
            <a:off x="6019800" y="4495800"/>
            <a:ext cx="1752600" cy="10668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smtClean="0"/>
              <a:t>Circuit as a Black Box</a:t>
            </a:r>
            <a:endParaRPr lang="en-US" dirty="0"/>
          </a:p>
        </p:txBody>
      </p:sp>
      <p:cxnSp>
        <p:nvCxnSpPr>
          <p:cNvPr id="9" name="Straight Connector 8"/>
          <p:cNvCxnSpPr/>
          <p:nvPr/>
        </p:nvCxnSpPr>
        <p:spPr>
          <a:xfrm>
            <a:off x="5486400" y="4953000"/>
            <a:ext cx="533400" cy="0"/>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p:cNvCxnSpPr/>
          <p:nvPr/>
        </p:nvCxnSpPr>
        <p:spPr>
          <a:xfrm>
            <a:off x="5486400" y="5029200"/>
            <a:ext cx="533400" cy="0"/>
          </a:xfrm>
          <a:prstGeom prst="line">
            <a:avLst/>
          </a:prstGeom>
        </p:spPr>
        <p:style>
          <a:lnRef idx="3">
            <a:schemeClr val="dk1"/>
          </a:lnRef>
          <a:fillRef idx="0">
            <a:schemeClr val="dk1"/>
          </a:fillRef>
          <a:effectRef idx="2">
            <a:schemeClr val="dk1"/>
          </a:effectRef>
          <a:fontRef idx="minor">
            <a:schemeClr val="tx1"/>
          </a:fontRef>
        </p:style>
      </p:cxnSp>
      <p:sp>
        <p:nvSpPr>
          <p:cNvPr id="12" name="Oval 11"/>
          <p:cNvSpPr/>
          <p:nvPr/>
        </p:nvSpPr>
        <p:spPr>
          <a:xfrm>
            <a:off x="5715000" y="51054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3" name="Oval 12"/>
          <p:cNvSpPr/>
          <p:nvPr/>
        </p:nvSpPr>
        <p:spPr>
          <a:xfrm>
            <a:off x="5715000" y="52578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4" name="Oval 13"/>
          <p:cNvSpPr/>
          <p:nvPr/>
        </p:nvSpPr>
        <p:spPr>
          <a:xfrm>
            <a:off x="5715000" y="54102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cxnSp>
        <p:nvCxnSpPr>
          <p:cNvPr id="15" name="Straight Connector 14"/>
          <p:cNvCxnSpPr/>
          <p:nvPr/>
        </p:nvCxnSpPr>
        <p:spPr>
          <a:xfrm>
            <a:off x="7772400" y="4953000"/>
            <a:ext cx="533400" cy="0"/>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7772400" y="5029200"/>
            <a:ext cx="533400" cy="0"/>
          </a:xfrm>
          <a:prstGeom prst="line">
            <a:avLst/>
          </a:prstGeom>
        </p:spPr>
        <p:style>
          <a:lnRef idx="3">
            <a:schemeClr val="dk1"/>
          </a:lnRef>
          <a:fillRef idx="0">
            <a:schemeClr val="dk1"/>
          </a:fillRef>
          <a:effectRef idx="2">
            <a:schemeClr val="dk1"/>
          </a:effectRef>
          <a:fontRef idx="minor">
            <a:schemeClr val="tx1"/>
          </a:fontRef>
        </p:style>
      </p:cxnSp>
      <p:sp>
        <p:nvSpPr>
          <p:cNvPr id="17" name="Oval 16"/>
          <p:cNvSpPr/>
          <p:nvPr/>
        </p:nvSpPr>
        <p:spPr>
          <a:xfrm>
            <a:off x="8001000" y="51054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8" name="Oval 17"/>
          <p:cNvSpPr/>
          <p:nvPr/>
        </p:nvSpPr>
        <p:spPr>
          <a:xfrm>
            <a:off x="8001000" y="52578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9" name="Oval 18"/>
          <p:cNvSpPr/>
          <p:nvPr/>
        </p:nvSpPr>
        <p:spPr>
          <a:xfrm>
            <a:off x="8001000" y="54102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8" name="Rectangle 7"/>
          <p:cNvSpPr/>
          <p:nvPr/>
        </p:nvSpPr>
        <p:spPr>
          <a:xfrm>
            <a:off x="7543800" y="533400"/>
            <a:ext cx="457200" cy="11430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1" name="Oval 10"/>
          <p:cNvSpPr/>
          <p:nvPr/>
        </p:nvSpPr>
        <p:spPr>
          <a:xfrm>
            <a:off x="7543800" y="533400"/>
            <a:ext cx="457200" cy="381000"/>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sp>
        <p:nvSpPr>
          <p:cNvPr id="20" name="Oval 19"/>
          <p:cNvSpPr/>
          <p:nvPr/>
        </p:nvSpPr>
        <p:spPr>
          <a:xfrm>
            <a:off x="7543800" y="914400"/>
            <a:ext cx="457200" cy="381000"/>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sp>
        <p:nvSpPr>
          <p:cNvPr id="21" name="Oval 20"/>
          <p:cNvSpPr/>
          <p:nvPr/>
        </p:nvSpPr>
        <p:spPr>
          <a:xfrm>
            <a:off x="7543800" y="1295400"/>
            <a:ext cx="457200" cy="381000"/>
          </a:xfrm>
          <a:prstGeom prst="ellipse">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cxnSp>
        <p:nvCxnSpPr>
          <p:cNvPr id="23" name="Straight Connector 22"/>
          <p:cNvCxnSpPr/>
          <p:nvPr/>
        </p:nvCxnSpPr>
        <p:spPr>
          <a:xfrm>
            <a:off x="7239000" y="685800"/>
            <a:ext cx="304800" cy="0"/>
          </a:xfrm>
          <a:prstGeom prst="line">
            <a:avLst/>
          </a:prstGeom>
        </p:spPr>
        <p:style>
          <a:lnRef idx="3">
            <a:schemeClr val="dk1"/>
          </a:lnRef>
          <a:fillRef idx="0">
            <a:schemeClr val="dk1"/>
          </a:fillRef>
          <a:effectRef idx="2">
            <a:schemeClr val="dk1"/>
          </a:effectRef>
          <a:fontRef idx="minor">
            <a:schemeClr val="tx1"/>
          </a:fontRef>
        </p:style>
      </p:cxnSp>
      <p:cxnSp>
        <p:nvCxnSpPr>
          <p:cNvPr id="26" name="Straight Connector 25"/>
          <p:cNvCxnSpPr/>
          <p:nvPr/>
        </p:nvCxnSpPr>
        <p:spPr>
          <a:xfrm>
            <a:off x="7239000" y="1066800"/>
            <a:ext cx="304800" cy="0"/>
          </a:xfrm>
          <a:prstGeom prst="line">
            <a:avLst/>
          </a:prstGeom>
        </p:spPr>
        <p:style>
          <a:lnRef idx="3">
            <a:schemeClr val="dk1"/>
          </a:lnRef>
          <a:fillRef idx="0">
            <a:schemeClr val="dk1"/>
          </a:fillRef>
          <a:effectRef idx="2">
            <a:schemeClr val="dk1"/>
          </a:effectRef>
          <a:fontRef idx="minor">
            <a:schemeClr val="tx1"/>
          </a:fontRef>
        </p:style>
      </p:cxnSp>
      <p:cxnSp>
        <p:nvCxnSpPr>
          <p:cNvPr id="27" name="Straight Connector 26"/>
          <p:cNvCxnSpPr/>
          <p:nvPr/>
        </p:nvCxnSpPr>
        <p:spPr>
          <a:xfrm>
            <a:off x="7239000" y="1447800"/>
            <a:ext cx="304800" cy="0"/>
          </a:xfrm>
          <a:prstGeom prst="line">
            <a:avLst/>
          </a:prstGeom>
        </p:spPr>
        <p:style>
          <a:lnRef idx="3">
            <a:schemeClr val="dk1"/>
          </a:lnRef>
          <a:fillRef idx="0">
            <a:schemeClr val="dk1"/>
          </a:fillRef>
          <a:effectRef idx="2">
            <a:schemeClr val="dk1"/>
          </a:effectRef>
          <a:fontRef idx="minor">
            <a:schemeClr val="tx1"/>
          </a:fontRef>
        </p:style>
      </p:cxnSp>
      <p:sp>
        <p:nvSpPr>
          <p:cNvPr id="25" name="Left-Right Arrow 24"/>
          <p:cNvSpPr/>
          <p:nvPr/>
        </p:nvSpPr>
        <p:spPr>
          <a:xfrm>
            <a:off x="2743200" y="4724400"/>
            <a:ext cx="2362200" cy="685800"/>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Interchangeable</a:t>
            </a:r>
            <a:endParaRPr lang="en-US" dirty="0"/>
          </a:p>
        </p:txBody>
      </p:sp>
      <p:graphicFrame>
        <p:nvGraphicFramePr>
          <p:cNvPr id="28" name="Table 27"/>
          <p:cNvGraphicFramePr>
            <a:graphicFrameLocks noGrp="1"/>
          </p:cNvGraphicFramePr>
          <p:nvPr>
            <p:extLst>
              <p:ext uri="{D42A27DB-BD31-4B8C-83A1-F6EECF244321}">
                <p14:modId xmlns:p14="http://schemas.microsoft.com/office/powerpoint/2010/main" val="3666330351"/>
              </p:ext>
            </p:extLst>
          </p:nvPr>
        </p:nvGraphicFramePr>
        <p:xfrm>
          <a:off x="1143000" y="4495800"/>
          <a:ext cx="1219200" cy="1219200"/>
        </p:xfrm>
        <a:graphic>
          <a:graphicData uri="http://schemas.openxmlformats.org/drawingml/2006/table">
            <a:tbl>
              <a:tblPr firstRow="1" bandRow="1">
                <a:tableStyleId>{775DCB02-9BB8-47FD-8907-85C794F793BA}</a:tableStyleId>
              </a:tblPr>
              <a:tblGrid>
                <a:gridCol w="243840"/>
                <a:gridCol w="243840"/>
                <a:gridCol w="243840"/>
                <a:gridCol w="243840"/>
                <a:gridCol w="243840"/>
              </a:tblGrid>
              <a:tr h="406400">
                <a:tc>
                  <a:txBody>
                    <a:bodyPr/>
                    <a:lstStyle/>
                    <a:p>
                      <a:r>
                        <a:rPr lang="en-US" dirty="0" smtClean="0"/>
                        <a:t>T</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L</a:t>
                      </a:r>
                      <a:endParaRPr lang="en-US" dirty="0"/>
                    </a:p>
                  </a:txBody>
                  <a:tcPr/>
                </a:tc>
                <a:tc>
                  <a:txBody>
                    <a:bodyPr/>
                    <a:lstStyle/>
                    <a:p>
                      <a:r>
                        <a:rPr lang="en-US" dirty="0" smtClean="0"/>
                        <a:t>E</a:t>
                      </a:r>
                      <a:endParaRPr lang="en-US" dirty="0"/>
                    </a:p>
                  </a:txBody>
                  <a:tcPr/>
                </a:tc>
              </a:tr>
              <a:tr h="406400">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r>
              <a:tr h="406400">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r>
            </a:tbl>
          </a:graphicData>
        </a:graphic>
      </p:graphicFrame>
    </p:spTree>
    <p:extLst>
      <p:ext uri="{BB962C8B-B14F-4D97-AF65-F5344CB8AC3E}">
        <p14:creationId xmlns:p14="http://schemas.microsoft.com/office/powerpoint/2010/main" val="4197504003"/>
      </p:ext>
    </p:extLst>
  </p:cSld>
  <p:clrMapOvr>
    <a:masterClrMapping/>
  </p:clrMapOvr>
  <p:timing>
    <p:tnLst>
      <p:par>
        <p:cTn xmlns:p14="http://schemas.microsoft.com/office/powerpoint/2010/mai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458200" cy="1143000"/>
          </a:xfrm>
        </p:spPr>
        <p:txBody>
          <a:bodyPr/>
          <a:lstStyle/>
          <a:p>
            <a:r>
              <a:rPr lang="en-US" dirty="0" smtClean="0"/>
              <a:t>Building Arbitrary Circuits</a:t>
            </a:r>
            <a:endParaRPr lang="en-US" dirty="0"/>
          </a:p>
        </p:txBody>
      </p:sp>
      <p:sp>
        <p:nvSpPr>
          <p:cNvPr id="3" name="Content Placeholder 2"/>
          <p:cNvSpPr>
            <a:spLocks noGrp="1"/>
          </p:cNvSpPr>
          <p:nvPr>
            <p:ph idx="1"/>
          </p:nvPr>
        </p:nvSpPr>
        <p:spPr>
          <a:xfrm>
            <a:off x="304800" y="838200"/>
            <a:ext cx="8534400" cy="2667000"/>
          </a:xfrm>
        </p:spPr>
        <p:style>
          <a:lnRef idx="2">
            <a:schemeClr val="accent4">
              <a:shade val="50000"/>
            </a:schemeClr>
          </a:lnRef>
          <a:fillRef idx="1">
            <a:schemeClr val="accent4"/>
          </a:fillRef>
          <a:effectRef idx="0">
            <a:schemeClr val="accent4"/>
          </a:effectRef>
          <a:fontRef idx="minor">
            <a:schemeClr val="lt1"/>
          </a:fontRef>
        </p:style>
        <p:txBody>
          <a:bodyPr>
            <a:normAutofit/>
          </a:bodyPr>
          <a:lstStyle/>
          <a:p>
            <a:pPr marL="114300" indent="0">
              <a:buNone/>
            </a:pPr>
            <a:r>
              <a:rPr lang="en-US" dirty="0" smtClean="0"/>
              <a:t>Specification</a:t>
            </a:r>
          </a:p>
          <a:p>
            <a:r>
              <a:rPr lang="en-US" dirty="0" smtClean="0"/>
              <a:t>We want to control a traffic light at an intersection</a:t>
            </a:r>
          </a:p>
          <a:p>
            <a:r>
              <a:rPr lang="en-US" dirty="0" smtClean="0"/>
              <a:t>We assume </a:t>
            </a:r>
            <a:r>
              <a:rPr lang="en-US" dirty="0" smtClean="0"/>
              <a:t>3 output lines, one to control each light</a:t>
            </a:r>
          </a:p>
          <a:p>
            <a:r>
              <a:rPr lang="en-US" dirty="0" smtClean="0"/>
              <a:t>For 3 </a:t>
            </a:r>
            <a:r>
              <a:rPr lang="en-US" dirty="0" smtClean="0"/>
              <a:t>distinct states, we need 2 bits to </a:t>
            </a:r>
            <a:r>
              <a:rPr lang="en-US" b="1" dirty="0" smtClean="0">
                <a:solidFill>
                  <a:srgbClr val="0000FF"/>
                </a:solidFill>
              </a:rPr>
              <a:t>encode</a:t>
            </a:r>
            <a:r>
              <a:rPr lang="en-US" dirty="0" smtClean="0"/>
              <a:t> this </a:t>
            </a:r>
            <a:r>
              <a:rPr lang="en-US" dirty="0" smtClean="0"/>
              <a:t>data (2 </a:t>
            </a:r>
            <a:r>
              <a:rPr lang="en-US" dirty="0" smtClean="0"/>
              <a:t>input </a:t>
            </a:r>
            <a:r>
              <a:rPr lang="en-US" dirty="0" smtClean="0"/>
              <a:t>lines)</a:t>
            </a:r>
            <a:endParaRPr lang="en-US" dirty="0" smtClean="0"/>
          </a:p>
          <a:p>
            <a:pPr lvl="2"/>
            <a:r>
              <a:rPr lang="en-US" dirty="0" smtClean="0">
                <a:solidFill>
                  <a:srgbClr val="FF0000"/>
                </a:solidFill>
              </a:rPr>
              <a:t>0 is Red</a:t>
            </a:r>
            <a:r>
              <a:rPr lang="en-US" dirty="0" smtClean="0"/>
              <a:t>, </a:t>
            </a:r>
            <a:r>
              <a:rPr lang="en-US" dirty="0" smtClean="0">
                <a:solidFill>
                  <a:srgbClr val="FFFF00"/>
                </a:solidFill>
              </a:rPr>
              <a:t>1 is Yellow</a:t>
            </a:r>
            <a:r>
              <a:rPr lang="en-US" dirty="0" smtClean="0"/>
              <a:t>, </a:t>
            </a:r>
            <a:r>
              <a:rPr lang="en-US" dirty="0" smtClean="0">
                <a:solidFill>
                  <a:srgbClr val="008000"/>
                </a:solidFill>
              </a:rPr>
              <a:t>2 is Green</a:t>
            </a:r>
            <a:r>
              <a:rPr lang="en-US" dirty="0" smtClean="0"/>
              <a:t>, 3 is reserved for red </a:t>
            </a:r>
            <a:r>
              <a:rPr lang="en-US" dirty="0" err="1" smtClean="0"/>
              <a:t>blinky</a:t>
            </a:r>
            <a:r>
              <a:rPr lang="en-US" dirty="0" smtClean="0"/>
              <a:t> patterns (not used)</a:t>
            </a:r>
          </a:p>
        </p:txBody>
      </p:sp>
      <p:sp>
        <p:nvSpPr>
          <p:cNvPr id="4" name="TextBox 3"/>
          <p:cNvSpPr txBox="1"/>
          <p:nvPr/>
        </p:nvSpPr>
        <p:spPr>
          <a:xfrm>
            <a:off x="304800" y="3657600"/>
            <a:ext cx="8534400"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114300" indent="0">
              <a:buNone/>
            </a:pPr>
            <a:r>
              <a:rPr lang="en-US" dirty="0" smtClean="0">
                <a:solidFill>
                  <a:srgbClr val="FF0000"/>
                </a:solidFill>
              </a:rPr>
              <a:t>TODO</a:t>
            </a:r>
            <a:endParaRPr lang="en-US" dirty="0">
              <a:solidFill>
                <a:srgbClr val="FF0000"/>
              </a:solidFill>
            </a:endParaRPr>
          </a:p>
          <a:p>
            <a:pPr marL="571500" indent="-457200">
              <a:buFont typeface="+mj-lt"/>
              <a:buAutoNum type="arabicPeriod"/>
            </a:pPr>
            <a:r>
              <a:rPr lang="en-US" dirty="0">
                <a:solidFill>
                  <a:srgbClr val="0000FF"/>
                </a:solidFill>
              </a:rPr>
              <a:t>Build a truth table </a:t>
            </a:r>
            <a:r>
              <a:rPr lang="en-US" dirty="0"/>
              <a:t>for your inputs and outputs</a:t>
            </a:r>
          </a:p>
          <a:p>
            <a:pPr marL="868680" lvl="1" indent="-457200">
              <a:buFont typeface="Arial"/>
              <a:buChar char="•"/>
            </a:pPr>
            <a:r>
              <a:rPr lang="en-US" dirty="0"/>
              <a:t>Use </a:t>
            </a:r>
            <a:r>
              <a:rPr lang="en-US" dirty="0" smtClean="0"/>
              <a:t>identifiers </a:t>
            </a:r>
            <a:r>
              <a:rPr lang="en-US" dirty="0"/>
              <a:t>for your IO lines </a:t>
            </a:r>
            <a:r>
              <a:rPr lang="en-US" dirty="0" smtClean="0"/>
              <a:t>corresponding to </a:t>
            </a:r>
            <a:r>
              <a:rPr lang="en-US" dirty="0"/>
              <a:t>truth </a:t>
            </a:r>
            <a:r>
              <a:rPr lang="en-US" dirty="0" smtClean="0"/>
              <a:t>table columns</a:t>
            </a:r>
            <a:endParaRPr lang="en-US" dirty="0"/>
          </a:p>
          <a:p>
            <a:pPr marL="571500" indent="-457200">
              <a:buFont typeface="+mj-lt"/>
              <a:buAutoNum type="arabicPeriod"/>
            </a:pPr>
            <a:r>
              <a:rPr lang="en-US" dirty="0" smtClean="0">
                <a:solidFill>
                  <a:srgbClr val="0000FF"/>
                </a:solidFill>
              </a:rPr>
              <a:t>Build a Boolean Algebra Equation </a:t>
            </a:r>
            <a:r>
              <a:rPr lang="en-US" dirty="0" smtClean="0">
                <a:solidFill>
                  <a:schemeClr val="tx1"/>
                </a:solidFill>
              </a:rPr>
              <a:t>for this system.  </a:t>
            </a:r>
            <a:endParaRPr lang="en-US" dirty="0" smtClean="0">
              <a:solidFill>
                <a:srgbClr val="FF0000"/>
              </a:solidFill>
            </a:endParaRPr>
          </a:p>
          <a:p>
            <a:pPr marL="571500" indent="-457200">
              <a:buFont typeface="+mj-lt"/>
              <a:buAutoNum type="arabicPeriod"/>
            </a:pPr>
            <a:r>
              <a:rPr lang="en-US" dirty="0" smtClean="0">
                <a:solidFill>
                  <a:srgbClr val="0000FF"/>
                </a:solidFill>
              </a:rPr>
              <a:t>Build a circuit </a:t>
            </a:r>
            <a:r>
              <a:rPr lang="en-US" dirty="0" smtClean="0"/>
              <a:t>(using </a:t>
            </a:r>
            <a:r>
              <a:rPr lang="en-US" dirty="0"/>
              <a:t>the truth table as a </a:t>
            </a:r>
            <a:r>
              <a:rPr lang="en-US" dirty="0" smtClean="0"/>
              <a:t>map?) to </a:t>
            </a:r>
            <a:r>
              <a:rPr lang="en-US" dirty="0"/>
              <a:t>complete the black box below using nothing but AND, OR, and NOT </a:t>
            </a:r>
            <a:r>
              <a:rPr lang="en-US" dirty="0" smtClean="0"/>
              <a:t>gates</a:t>
            </a:r>
          </a:p>
          <a:p>
            <a:pPr marL="571500" indent="-457200">
              <a:buFont typeface="+mj-lt"/>
              <a:buAutoNum type="arabicPeriod"/>
            </a:pPr>
            <a:endParaRPr lang="en-US" dirty="0"/>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089232625"/>
              </p:ext>
            </p:extLst>
          </p:nvPr>
        </p:nvGraphicFramePr>
        <p:xfrm>
          <a:off x="1143000" y="5486400"/>
          <a:ext cx="1219200" cy="1219200"/>
        </p:xfrm>
        <a:graphic>
          <a:graphicData uri="http://schemas.openxmlformats.org/drawingml/2006/table">
            <a:tbl>
              <a:tblPr firstRow="1" bandRow="1">
                <a:tableStyleId>{775DCB02-9BB8-47FD-8907-85C794F793BA}</a:tableStyleId>
              </a:tblPr>
              <a:tblGrid>
                <a:gridCol w="243840"/>
                <a:gridCol w="243840"/>
                <a:gridCol w="243840"/>
                <a:gridCol w="243840"/>
                <a:gridCol w="243840"/>
              </a:tblGrid>
              <a:tr h="406400">
                <a:tc>
                  <a:txBody>
                    <a:bodyPr/>
                    <a:lstStyle/>
                    <a:p>
                      <a:r>
                        <a:rPr lang="en-US" dirty="0" smtClean="0"/>
                        <a:t>T</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L</a:t>
                      </a:r>
                      <a:endParaRPr lang="en-US" dirty="0"/>
                    </a:p>
                  </a:txBody>
                  <a:tcPr/>
                </a:tc>
                <a:tc>
                  <a:txBody>
                    <a:bodyPr/>
                    <a:lstStyle/>
                    <a:p>
                      <a:r>
                        <a:rPr lang="en-US" dirty="0" smtClean="0"/>
                        <a:t>E</a:t>
                      </a:r>
                      <a:endParaRPr lang="en-US" dirty="0"/>
                    </a:p>
                  </a:txBody>
                  <a:tcPr/>
                </a:tc>
              </a:tr>
              <a:tr h="406400">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r>
              <a:tr h="406400">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c>
                  <a:txBody>
                    <a:bodyPr/>
                    <a:lstStyle/>
                    <a:p>
                      <a:r>
                        <a:rPr lang="en-US" dirty="0" smtClean="0">
                          <a:solidFill>
                            <a:srgbClr val="FF0000"/>
                          </a:solidFill>
                        </a:rPr>
                        <a:t>?</a:t>
                      </a:r>
                      <a:endParaRPr lang="en-US" dirty="0">
                        <a:solidFill>
                          <a:srgbClr val="FF0000"/>
                        </a:solidFill>
                      </a:endParaRPr>
                    </a:p>
                  </a:txBody>
                  <a:tcPr/>
                </a:tc>
              </a:tr>
            </a:tbl>
          </a:graphicData>
        </a:graphic>
      </p:graphicFrame>
      <p:sp>
        <p:nvSpPr>
          <p:cNvPr id="6" name="Right Arrow 5"/>
          <p:cNvSpPr/>
          <p:nvPr/>
        </p:nvSpPr>
        <p:spPr>
          <a:xfrm>
            <a:off x="2514600" y="5943600"/>
            <a:ext cx="1905000" cy="38100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smtClean="0"/>
              <a:t>{AND, OR, NOT}</a:t>
            </a:r>
            <a:endParaRPr lang="en-US" dirty="0"/>
          </a:p>
        </p:txBody>
      </p:sp>
      <p:sp>
        <p:nvSpPr>
          <p:cNvPr id="7" name="Rectangle 6"/>
          <p:cNvSpPr/>
          <p:nvPr/>
        </p:nvSpPr>
        <p:spPr>
          <a:xfrm>
            <a:off x="5181600" y="5562600"/>
            <a:ext cx="1752600" cy="10668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smtClean="0"/>
              <a:t>Circuit as a Black Box</a:t>
            </a:r>
            <a:endParaRPr lang="en-US" dirty="0"/>
          </a:p>
        </p:txBody>
      </p:sp>
      <p:cxnSp>
        <p:nvCxnSpPr>
          <p:cNvPr id="9" name="Straight Connector 8"/>
          <p:cNvCxnSpPr/>
          <p:nvPr/>
        </p:nvCxnSpPr>
        <p:spPr>
          <a:xfrm>
            <a:off x="4648200" y="6019800"/>
            <a:ext cx="533400" cy="0"/>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p:cNvCxnSpPr/>
          <p:nvPr/>
        </p:nvCxnSpPr>
        <p:spPr>
          <a:xfrm>
            <a:off x="4648200" y="6096000"/>
            <a:ext cx="533400" cy="0"/>
          </a:xfrm>
          <a:prstGeom prst="line">
            <a:avLst/>
          </a:prstGeom>
        </p:spPr>
        <p:style>
          <a:lnRef idx="3">
            <a:schemeClr val="dk1"/>
          </a:lnRef>
          <a:fillRef idx="0">
            <a:schemeClr val="dk1"/>
          </a:fillRef>
          <a:effectRef idx="2">
            <a:schemeClr val="dk1"/>
          </a:effectRef>
          <a:fontRef idx="minor">
            <a:schemeClr val="tx1"/>
          </a:fontRef>
        </p:style>
      </p:cxnSp>
      <p:sp>
        <p:nvSpPr>
          <p:cNvPr id="12" name="Oval 11"/>
          <p:cNvSpPr/>
          <p:nvPr/>
        </p:nvSpPr>
        <p:spPr>
          <a:xfrm>
            <a:off x="4876800" y="61722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3" name="Oval 12"/>
          <p:cNvSpPr/>
          <p:nvPr/>
        </p:nvSpPr>
        <p:spPr>
          <a:xfrm>
            <a:off x="4876800" y="63246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4" name="Oval 13"/>
          <p:cNvSpPr/>
          <p:nvPr/>
        </p:nvSpPr>
        <p:spPr>
          <a:xfrm>
            <a:off x="4876800" y="64770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cxnSp>
        <p:nvCxnSpPr>
          <p:cNvPr id="15" name="Straight Connector 14"/>
          <p:cNvCxnSpPr/>
          <p:nvPr/>
        </p:nvCxnSpPr>
        <p:spPr>
          <a:xfrm>
            <a:off x="6934200" y="6019800"/>
            <a:ext cx="533400" cy="0"/>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6934200" y="6096000"/>
            <a:ext cx="533400" cy="0"/>
          </a:xfrm>
          <a:prstGeom prst="line">
            <a:avLst/>
          </a:prstGeom>
        </p:spPr>
        <p:style>
          <a:lnRef idx="3">
            <a:schemeClr val="dk1"/>
          </a:lnRef>
          <a:fillRef idx="0">
            <a:schemeClr val="dk1"/>
          </a:fillRef>
          <a:effectRef idx="2">
            <a:schemeClr val="dk1"/>
          </a:effectRef>
          <a:fontRef idx="minor">
            <a:schemeClr val="tx1"/>
          </a:fontRef>
        </p:style>
      </p:cxnSp>
      <p:sp>
        <p:nvSpPr>
          <p:cNvPr id="17" name="Oval 16"/>
          <p:cNvSpPr/>
          <p:nvPr/>
        </p:nvSpPr>
        <p:spPr>
          <a:xfrm>
            <a:off x="7162800" y="61722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8" name="Oval 17"/>
          <p:cNvSpPr/>
          <p:nvPr/>
        </p:nvSpPr>
        <p:spPr>
          <a:xfrm>
            <a:off x="7162800" y="63246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9" name="Oval 18"/>
          <p:cNvSpPr/>
          <p:nvPr/>
        </p:nvSpPr>
        <p:spPr>
          <a:xfrm>
            <a:off x="7162800" y="64770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8" name="Rectangle 7"/>
          <p:cNvSpPr/>
          <p:nvPr/>
        </p:nvSpPr>
        <p:spPr>
          <a:xfrm>
            <a:off x="7543800" y="533400"/>
            <a:ext cx="457200" cy="11430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1" name="Oval 10"/>
          <p:cNvSpPr/>
          <p:nvPr/>
        </p:nvSpPr>
        <p:spPr>
          <a:xfrm>
            <a:off x="7543800" y="533400"/>
            <a:ext cx="457200" cy="381000"/>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sp>
        <p:nvSpPr>
          <p:cNvPr id="20" name="Oval 19"/>
          <p:cNvSpPr/>
          <p:nvPr/>
        </p:nvSpPr>
        <p:spPr>
          <a:xfrm>
            <a:off x="7543800" y="914400"/>
            <a:ext cx="457200" cy="381000"/>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sp>
        <p:nvSpPr>
          <p:cNvPr id="21" name="Oval 20"/>
          <p:cNvSpPr/>
          <p:nvPr/>
        </p:nvSpPr>
        <p:spPr>
          <a:xfrm>
            <a:off x="7543800" y="1295400"/>
            <a:ext cx="457200" cy="381000"/>
          </a:xfrm>
          <a:prstGeom prst="ellipse">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cxnSp>
        <p:nvCxnSpPr>
          <p:cNvPr id="23" name="Straight Connector 22"/>
          <p:cNvCxnSpPr/>
          <p:nvPr/>
        </p:nvCxnSpPr>
        <p:spPr>
          <a:xfrm>
            <a:off x="7239000" y="685800"/>
            <a:ext cx="304800" cy="0"/>
          </a:xfrm>
          <a:prstGeom prst="line">
            <a:avLst/>
          </a:prstGeom>
        </p:spPr>
        <p:style>
          <a:lnRef idx="3">
            <a:schemeClr val="dk1"/>
          </a:lnRef>
          <a:fillRef idx="0">
            <a:schemeClr val="dk1"/>
          </a:fillRef>
          <a:effectRef idx="2">
            <a:schemeClr val="dk1"/>
          </a:effectRef>
          <a:fontRef idx="minor">
            <a:schemeClr val="tx1"/>
          </a:fontRef>
        </p:style>
      </p:cxnSp>
      <p:cxnSp>
        <p:nvCxnSpPr>
          <p:cNvPr id="26" name="Straight Connector 25"/>
          <p:cNvCxnSpPr/>
          <p:nvPr/>
        </p:nvCxnSpPr>
        <p:spPr>
          <a:xfrm>
            <a:off x="7239000" y="1066800"/>
            <a:ext cx="304800" cy="0"/>
          </a:xfrm>
          <a:prstGeom prst="line">
            <a:avLst/>
          </a:prstGeom>
        </p:spPr>
        <p:style>
          <a:lnRef idx="3">
            <a:schemeClr val="dk1"/>
          </a:lnRef>
          <a:fillRef idx="0">
            <a:schemeClr val="dk1"/>
          </a:fillRef>
          <a:effectRef idx="2">
            <a:schemeClr val="dk1"/>
          </a:effectRef>
          <a:fontRef idx="minor">
            <a:schemeClr val="tx1"/>
          </a:fontRef>
        </p:style>
      </p:cxnSp>
      <p:cxnSp>
        <p:nvCxnSpPr>
          <p:cNvPr id="27" name="Straight Connector 26"/>
          <p:cNvCxnSpPr/>
          <p:nvPr/>
        </p:nvCxnSpPr>
        <p:spPr>
          <a:xfrm>
            <a:off x="7239000" y="1447800"/>
            <a:ext cx="3048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333774622"/>
      </p:ext>
    </p:extLst>
  </p:cSld>
  <p:clrMapOvr>
    <a:masterClrMapping/>
  </p:clrMapOvr>
  <p:timing>
    <p:tnLst>
      <p:par>
        <p:cTn xmlns:p14="http://schemas.microsoft.com/office/powerpoint/2010/mai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458200" cy="1143000"/>
          </a:xfrm>
        </p:spPr>
        <p:txBody>
          <a:bodyPr/>
          <a:lstStyle/>
          <a:p>
            <a:r>
              <a:rPr lang="en-US" dirty="0" smtClean="0"/>
              <a:t>Building Arbitrary Circuits</a:t>
            </a:r>
            <a:endParaRPr lang="en-US" dirty="0"/>
          </a:p>
        </p:txBody>
      </p:sp>
      <p:sp>
        <p:nvSpPr>
          <p:cNvPr id="3" name="Content Placeholder 2"/>
          <p:cNvSpPr>
            <a:spLocks noGrp="1"/>
          </p:cNvSpPr>
          <p:nvPr>
            <p:ph idx="1"/>
          </p:nvPr>
        </p:nvSpPr>
        <p:spPr>
          <a:xfrm>
            <a:off x="304800" y="838200"/>
            <a:ext cx="8534400" cy="2667000"/>
          </a:xfrm>
        </p:spPr>
        <p:style>
          <a:lnRef idx="2">
            <a:schemeClr val="accent4">
              <a:shade val="50000"/>
            </a:schemeClr>
          </a:lnRef>
          <a:fillRef idx="1">
            <a:schemeClr val="accent4"/>
          </a:fillRef>
          <a:effectRef idx="0">
            <a:schemeClr val="accent4"/>
          </a:effectRef>
          <a:fontRef idx="minor">
            <a:schemeClr val="lt1"/>
          </a:fontRef>
        </p:style>
        <p:txBody>
          <a:bodyPr>
            <a:normAutofit/>
          </a:bodyPr>
          <a:lstStyle/>
          <a:p>
            <a:pPr marL="114300" indent="0">
              <a:buNone/>
            </a:pPr>
            <a:r>
              <a:rPr lang="en-US" dirty="0" smtClean="0"/>
              <a:t>Specification</a:t>
            </a:r>
          </a:p>
          <a:p>
            <a:r>
              <a:rPr lang="en-US" dirty="0" smtClean="0"/>
              <a:t>We want to control a traffic light at an intersection</a:t>
            </a:r>
          </a:p>
          <a:p>
            <a:r>
              <a:rPr lang="en-US" dirty="0" smtClean="0"/>
              <a:t>Assume each of the colors have a single on/off control signal</a:t>
            </a:r>
          </a:p>
          <a:p>
            <a:pPr lvl="1"/>
            <a:r>
              <a:rPr lang="en-US" dirty="0" smtClean="0"/>
              <a:t>Assume 3 output lines, one to control each light</a:t>
            </a:r>
          </a:p>
          <a:p>
            <a:pPr lvl="1"/>
            <a:r>
              <a:rPr lang="en-US" dirty="0" smtClean="0"/>
              <a:t>With 3 distinct states, we need 2 bits to </a:t>
            </a:r>
            <a:r>
              <a:rPr lang="en-US" b="1" dirty="0" smtClean="0">
                <a:solidFill>
                  <a:srgbClr val="0000FF"/>
                </a:solidFill>
              </a:rPr>
              <a:t>encode</a:t>
            </a:r>
            <a:r>
              <a:rPr lang="en-US" dirty="0" smtClean="0"/>
              <a:t> this data, so 2 input lines</a:t>
            </a:r>
          </a:p>
          <a:p>
            <a:pPr lvl="2"/>
            <a:r>
              <a:rPr lang="en-US" dirty="0" smtClean="0"/>
              <a:t>0 is Red, 1 is Yellow, 2 is Green, 3 is reserved for red </a:t>
            </a:r>
            <a:r>
              <a:rPr lang="en-US" dirty="0" err="1" smtClean="0"/>
              <a:t>blinky</a:t>
            </a:r>
            <a:r>
              <a:rPr lang="en-US" dirty="0" smtClean="0"/>
              <a:t> patterns (not used)</a:t>
            </a:r>
          </a:p>
        </p:txBody>
      </p:sp>
      <p:graphicFrame>
        <p:nvGraphicFramePr>
          <p:cNvPr id="5" name="Table 4"/>
          <p:cNvGraphicFramePr>
            <a:graphicFrameLocks noGrp="1"/>
          </p:cNvGraphicFramePr>
          <p:nvPr>
            <p:extLst>
              <p:ext uri="{D42A27DB-BD31-4B8C-83A1-F6EECF244321}">
                <p14:modId xmlns:p14="http://schemas.microsoft.com/office/powerpoint/2010/main" val="2264733449"/>
              </p:ext>
            </p:extLst>
          </p:nvPr>
        </p:nvGraphicFramePr>
        <p:xfrm>
          <a:off x="304800" y="3733800"/>
          <a:ext cx="2438400" cy="2032000"/>
        </p:xfrm>
        <a:graphic>
          <a:graphicData uri="http://schemas.openxmlformats.org/drawingml/2006/table">
            <a:tbl>
              <a:tblPr firstRow="1" bandRow="1">
                <a:tableStyleId>{775DCB02-9BB8-47FD-8907-85C794F793BA}</a:tableStyleId>
              </a:tblPr>
              <a:tblGrid>
                <a:gridCol w="487680"/>
                <a:gridCol w="487680"/>
                <a:gridCol w="487680"/>
                <a:gridCol w="487680"/>
                <a:gridCol w="487680"/>
              </a:tblGrid>
              <a:tr h="406400">
                <a:tc>
                  <a:txBody>
                    <a:bodyPr/>
                    <a:lstStyle/>
                    <a:p>
                      <a:r>
                        <a:rPr lang="en-US" baseline="0" dirty="0" smtClean="0"/>
                        <a:t>F</a:t>
                      </a:r>
                      <a:r>
                        <a:rPr lang="en-US" baseline="-25000" dirty="0" smtClean="0"/>
                        <a:t>0</a:t>
                      </a:r>
                      <a:endParaRPr lang="en-US" dirty="0"/>
                    </a:p>
                  </a:txBody>
                  <a:tcPr/>
                </a:tc>
                <a:tc>
                  <a:txBody>
                    <a:bodyPr/>
                    <a:lstStyle/>
                    <a:p>
                      <a:r>
                        <a:rPr lang="en-US" baseline="0" dirty="0" smtClean="0"/>
                        <a:t>F</a:t>
                      </a:r>
                      <a:r>
                        <a:rPr lang="en-US" baseline="-25000" dirty="0" smtClean="0"/>
                        <a:t>1</a:t>
                      </a:r>
                      <a:endParaRPr lang="en-US" baseline="-25000" dirty="0"/>
                    </a:p>
                  </a:txBody>
                  <a:tcPr/>
                </a:tc>
                <a:tc>
                  <a:txBody>
                    <a:bodyPr/>
                    <a:lstStyle/>
                    <a:p>
                      <a:r>
                        <a:rPr lang="en-US" dirty="0" smtClean="0"/>
                        <a:t>R</a:t>
                      </a:r>
                      <a:endParaRPr lang="en-US" dirty="0"/>
                    </a:p>
                  </a:txBody>
                  <a:tcPr/>
                </a:tc>
                <a:tc>
                  <a:txBody>
                    <a:bodyPr/>
                    <a:lstStyle/>
                    <a:p>
                      <a:r>
                        <a:rPr lang="en-US" dirty="0" smtClean="0"/>
                        <a:t>Y</a:t>
                      </a:r>
                      <a:endParaRPr lang="en-US" dirty="0"/>
                    </a:p>
                  </a:txBody>
                  <a:tcPr/>
                </a:tc>
                <a:tc>
                  <a:txBody>
                    <a:bodyPr/>
                    <a:lstStyle/>
                    <a:p>
                      <a:r>
                        <a:rPr lang="en-US" dirty="0" smtClean="0"/>
                        <a:t>G</a:t>
                      </a:r>
                      <a:endParaRPr lang="en-US" dirty="0"/>
                    </a:p>
                  </a:txBody>
                  <a:tcPr/>
                </a:tc>
              </a:tr>
              <a:tr h="40640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4064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40640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40640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bl>
          </a:graphicData>
        </a:graphic>
      </p:graphicFrame>
      <p:sp>
        <p:nvSpPr>
          <p:cNvPr id="7" name="Rectangle 6"/>
          <p:cNvSpPr/>
          <p:nvPr/>
        </p:nvSpPr>
        <p:spPr>
          <a:xfrm>
            <a:off x="5181600" y="5562600"/>
            <a:ext cx="1752600" cy="10668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smtClean="0"/>
              <a:t>Circuit as a Black Box</a:t>
            </a:r>
            <a:endParaRPr lang="en-US" dirty="0"/>
          </a:p>
        </p:txBody>
      </p:sp>
      <p:cxnSp>
        <p:nvCxnSpPr>
          <p:cNvPr id="9" name="Straight Connector 8"/>
          <p:cNvCxnSpPr/>
          <p:nvPr/>
        </p:nvCxnSpPr>
        <p:spPr>
          <a:xfrm>
            <a:off x="4648200" y="6019800"/>
            <a:ext cx="533400" cy="0"/>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p:cNvCxnSpPr/>
          <p:nvPr/>
        </p:nvCxnSpPr>
        <p:spPr>
          <a:xfrm>
            <a:off x="4648200" y="6096000"/>
            <a:ext cx="533400" cy="0"/>
          </a:xfrm>
          <a:prstGeom prst="line">
            <a:avLst/>
          </a:prstGeom>
        </p:spPr>
        <p:style>
          <a:lnRef idx="3">
            <a:schemeClr val="dk1"/>
          </a:lnRef>
          <a:fillRef idx="0">
            <a:schemeClr val="dk1"/>
          </a:fillRef>
          <a:effectRef idx="2">
            <a:schemeClr val="dk1"/>
          </a:effectRef>
          <a:fontRef idx="minor">
            <a:schemeClr val="tx1"/>
          </a:fontRef>
        </p:style>
      </p:cxnSp>
      <p:sp>
        <p:nvSpPr>
          <p:cNvPr id="12" name="Oval 11"/>
          <p:cNvSpPr/>
          <p:nvPr/>
        </p:nvSpPr>
        <p:spPr>
          <a:xfrm>
            <a:off x="4876800" y="61722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3" name="Oval 12"/>
          <p:cNvSpPr/>
          <p:nvPr/>
        </p:nvSpPr>
        <p:spPr>
          <a:xfrm>
            <a:off x="4876800" y="63246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4" name="Oval 13"/>
          <p:cNvSpPr/>
          <p:nvPr/>
        </p:nvSpPr>
        <p:spPr>
          <a:xfrm>
            <a:off x="4876800" y="64770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cxnSp>
        <p:nvCxnSpPr>
          <p:cNvPr id="15" name="Straight Connector 14"/>
          <p:cNvCxnSpPr/>
          <p:nvPr/>
        </p:nvCxnSpPr>
        <p:spPr>
          <a:xfrm>
            <a:off x="6934200" y="6019800"/>
            <a:ext cx="533400" cy="0"/>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6934200" y="6096000"/>
            <a:ext cx="533400" cy="0"/>
          </a:xfrm>
          <a:prstGeom prst="line">
            <a:avLst/>
          </a:prstGeom>
        </p:spPr>
        <p:style>
          <a:lnRef idx="3">
            <a:schemeClr val="dk1"/>
          </a:lnRef>
          <a:fillRef idx="0">
            <a:schemeClr val="dk1"/>
          </a:fillRef>
          <a:effectRef idx="2">
            <a:schemeClr val="dk1"/>
          </a:effectRef>
          <a:fontRef idx="minor">
            <a:schemeClr val="tx1"/>
          </a:fontRef>
        </p:style>
      </p:cxnSp>
      <p:sp>
        <p:nvSpPr>
          <p:cNvPr id="17" name="Oval 16"/>
          <p:cNvSpPr/>
          <p:nvPr/>
        </p:nvSpPr>
        <p:spPr>
          <a:xfrm>
            <a:off x="7162800" y="61722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8" name="Oval 17"/>
          <p:cNvSpPr/>
          <p:nvPr/>
        </p:nvSpPr>
        <p:spPr>
          <a:xfrm>
            <a:off x="7162800" y="63246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9" name="Oval 18"/>
          <p:cNvSpPr/>
          <p:nvPr/>
        </p:nvSpPr>
        <p:spPr>
          <a:xfrm>
            <a:off x="7162800" y="6477000"/>
            <a:ext cx="76200" cy="762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8" name="Rectangle 7"/>
          <p:cNvSpPr/>
          <p:nvPr/>
        </p:nvSpPr>
        <p:spPr>
          <a:xfrm>
            <a:off x="7543800" y="533400"/>
            <a:ext cx="457200" cy="11430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1" name="Oval 10"/>
          <p:cNvSpPr/>
          <p:nvPr/>
        </p:nvSpPr>
        <p:spPr>
          <a:xfrm>
            <a:off x="7543800" y="533400"/>
            <a:ext cx="457200" cy="381000"/>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sp>
        <p:nvSpPr>
          <p:cNvPr id="20" name="Oval 19"/>
          <p:cNvSpPr/>
          <p:nvPr/>
        </p:nvSpPr>
        <p:spPr>
          <a:xfrm>
            <a:off x="7543800" y="914400"/>
            <a:ext cx="457200" cy="381000"/>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sp>
        <p:nvSpPr>
          <p:cNvPr id="21" name="Oval 20"/>
          <p:cNvSpPr/>
          <p:nvPr/>
        </p:nvSpPr>
        <p:spPr>
          <a:xfrm>
            <a:off x="7543800" y="1295400"/>
            <a:ext cx="457200" cy="381000"/>
          </a:xfrm>
          <a:prstGeom prst="ellipse">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cxnSp>
        <p:nvCxnSpPr>
          <p:cNvPr id="23" name="Straight Connector 22"/>
          <p:cNvCxnSpPr/>
          <p:nvPr/>
        </p:nvCxnSpPr>
        <p:spPr>
          <a:xfrm>
            <a:off x="7239000" y="685800"/>
            <a:ext cx="304800" cy="0"/>
          </a:xfrm>
          <a:prstGeom prst="line">
            <a:avLst/>
          </a:prstGeom>
        </p:spPr>
        <p:style>
          <a:lnRef idx="3">
            <a:schemeClr val="dk1"/>
          </a:lnRef>
          <a:fillRef idx="0">
            <a:schemeClr val="dk1"/>
          </a:fillRef>
          <a:effectRef idx="2">
            <a:schemeClr val="dk1"/>
          </a:effectRef>
          <a:fontRef idx="minor">
            <a:schemeClr val="tx1"/>
          </a:fontRef>
        </p:style>
      </p:cxnSp>
      <p:cxnSp>
        <p:nvCxnSpPr>
          <p:cNvPr id="26" name="Straight Connector 25"/>
          <p:cNvCxnSpPr/>
          <p:nvPr/>
        </p:nvCxnSpPr>
        <p:spPr>
          <a:xfrm>
            <a:off x="7239000" y="1066800"/>
            <a:ext cx="304800" cy="0"/>
          </a:xfrm>
          <a:prstGeom prst="line">
            <a:avLst/>
          </a:prstGeom>
        </p:spPr>
        <p:style>
          <a:lnRef idx="3">
            <a:schemeClr val="dk1"/>
          </a:lnRef>
          <a:fillRef idx="0">
            <a:schemeClr val="dk1"/>
          </a:fillRef>
          <a:effectRef idx="2">
            <a:schemeClr val="dk1"/>
          </a:effectRef>
          <a:fontRef idx="minor">
            <a:schemeClr val="tx1"/>
          </a:fontRef>
        </p:style>
      </p:cxnSp>
      <p:cxnSp>
        <p:nvCxnSpPr>
          <p:cNvPr id="27" name="Straight Connector 26"/>
          <p:cNvCxnSpPr/>
          <p:nvPr/>
        </p:nvCxnSpPr>
        <p:spPr>
          <a:xfrm>
            <a:off x="7239000" y="1447800"/>
            <a:ext cx="304800" cy="0"/>
          </a:xfrm>
          <a:prstGeom prst="line">
            <a:avLst/>
          </a:prstGeom>
        </p:spPr>
        <p:style>
          <a:lnRef idx="3">
            <a:schemeClr val="dk1"/>
          </a:lnRef>
          <a:fillRef idx="0">
            <a:schemeClr val="dk1"/>
          </a:fillRef>
          <a:effectRef idx="2">
            <a:schemeClr val="dk1"/>
          </a:effectRef>
          <a:fontRef idx="minor">
            <a:schemeClr val="tx1"/>
          </a:fontRef>
        </p:style>
      </p:cxnSp>
      <p:sp>
        <p:nvSpPr>
          <p:cNvPr id="22" name="TextBox 21"/>
          <p:cNvSpPr txBox="1"/>
          <p:nvPr/>
        </p:nvSpPr>
        <p:spPr>
          <a:xfrm>
            <a:off x="4114800" y="3960668"/>
            <a:ext cx="1934957" cy="14773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smtClean="0"/>
              <a:t>Boolean Equations</a:t>
            </a:r>
          </a:p>
          <a:p>
            <a:r>
              <a:rPr lang="en-US" dirty="0" smtClean="0"/>
              <a:t>R=~F</a:t>
            </a:r>
            <a:r>
              <a:rPr lang="en-US" baseline="-25000" dirty="0"/>
              <a:t>0</a:t>
            </a:r>
            <a:r>
              <a:rPr lang="en-US" dirty="0" smtClean="0"/>
              <a:t>*~F</a:t>
            </a:r>
            <a:r>
              <a:rPr lang="en-US" baseline="-25000" dirty="0"/>
              <a:t>1</a:t>
            </a:r>
            <a:endParaRPr lang="en-US" baseline="-25000" dirty="0" smtClean="0"/>
          </a:p>
          <a:p>
            <a:r>
              <a:rPr lang="en-US" dirty="0"/>
              <a:t>Y</a:t>
            </a:r>
            <a:r>
              <a:rPr lang="en-US" dirty="0" smtClean="0"/>
              <a:t>=~F</a:t>
            </a:r>
            <a:r>
              <a:rPr lang="en-US" baseline="-25000" dirty="0"/>
              <a:t>0</a:t>
            </a:r>
            <a:r>
              <a:rPr lang="en-US" dirty="0" smtClean="0"/>
              <a:t>*F</a:t>
            </a:r>
            <a:r>
              <a:rPr lang="en-US" baseline="-25000" dirty="0"/>
              <a:t>1</a:t>
            </a:r>
            <a:endParaRPr lang="en-US" baseline="-25000" dirty="0" smtClean="0"/>
          </a:p>
          <a:p>
            <a:r>
              <a:rPr lang="en-US" dirty="0"/>
              <a:t>G</a:t>
            </a:r>
            <a:r>
              <a:rPr lang="en-US" dirty="0" smtClean="0"/>
              <a:t>=F</a:t>
            </a:r>
            <a:r>
              <a:rPr lang="en-US" baseline="-25000" dirty="0"/>
              <a:t>0</a:t>
            </a:r>
            <a:r>
              <a:rPr lang="en-US" dirty="0" smtClean="0"/>
              <a:t>*~F</a:t>
            </a:r>
            <a:r>
              <a:rPr lang="en-US" baseline="-25000" dirty="0"/>
              <a:t>1</a:t>
            </a:r>
            <a:endParaRPr lang="en-US" dirty="0"/>
          </a:p>
          <a:p>
            <a:endParaRPr lang="en-US" dirty="0"/>
          </a:p>
        </p:txBody>
      </p:sp>
      <p:sp>
        <p:nvSpPr>
          <p:cNvPr id="24" name="Right Arrow 23"/>
          <p:cNvSpPr/>
          <p:nvPr/>
        </p:nvSpPr>
        <p:spPr>
          <a:xfrm>
            <a:off x="2895600" y="4114800"/>
            <a:ext cx="1066800" cy="5334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Curved Left Arrow 24"/>
          <p:cNvSpPr/>
          <p:nvPr/>
        </p:nvSpPr>
        <p:spPr>
          <a:xfrm>
            <a:off x="6083300" y="4114800"/>
            <a:ext cx="609600" cy="1676400"/>
          </a:xfrm>
          <a:prstGeom prst="curved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8" name="TextBox 27"/>
          <p:cNvSpPr txBox="1"/>
          <p:nvPr/>
        </p:nvSpPr>
        <p:spPr>
          <a:xfrm>
            <a:off x="518636" y="6248400"/>
            <a:ext cx="3570061"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b="1" dirty="0" smtClean="0">
                <a:solidFill>
                  <a:srgbClr val="FF0000"/>
                </a:solidFill>
              </a:rPr>
              <a:t>Q:</a:t>
            </a:r>
            <a:r>
              <a:rPr lang="en-US" dirty="0" smtClean="0"/>
              <a:t> </a:t>
            </a:r>
            <a:r>
              <a:rPr lang="en-US" dirty="0" smtClean="0"/>
              <a:t>You make </a:t>
            </a:r>
            <a:r>
              <a:rPr lang="en-US" dirty="0" smtClean="0"/>
              <a:t>this circuit in Logisim</a:t>
            </a:r>
            <a:endParaRPr lang="en-US" dirty="0"/>
          </a:p>
        </p:txBody>
      </p:sp>
    </p:spTree>
    <p:extLst>
      <p:ext uri="{BB962C8B-B14F-4D97-AF65-F5344CB8AC3E}">
        <p14:creationId xmlns:p14="http://schemas.microsoft.com/office/powerpoint/2010/main" val="655854020"/>
      </p:ext>
    </p:extLst>
  </p:cSld>
  <p:clrMapOvr>
    <a:masterClrMapping/>
  </p:clrMapOvr>
  <p:timing>
    <p:tnLst>
      <p:par>
        <p:cTn xmlns:p14="http://schemas.microsoft.com/office/powerpoint/2010/mai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382000" cy="1143000"/>
          </a:xfrm>
        </p:spPr>
        <p:txBody>
          <a:bodyPr/>
          <a:lstStyle/>
          <a:p>
            <a:r>
              <a:rPr lang="en-US" dirty="0" smtClean="0"/>
              <a:t>1-Bit </a:t>
            </a:r>
            <a:r>
              <a:rPr lang="en-US" b="1" dirty="0" smtClean="0">
                <a:solidFill>
                  <a:srgbClr val="0000FF"/>
                </a:solidFill>
              </a:rPr>
              <a:t>ALU</a:t>
            </a:r>
            <a:r>
              <a:rPr lang="en-US" dirty="0" smtClean="0"/>
              <a:t> &amp; HW </a:t>
            </a:r>
            <a:r>
              <a:rPr lang="en-US" dirty="0" smtClean="0"/>
              <a:t>Circuit Review</a:t>
            </a:r>
            <a:endParaRPr lang="en-US" dirty="0"/>
          </a:p>
        </p:txBody>
      </p:sp>
      <p:sp>
        <p:nvSpPr>
          <p:cNvPr id="3" name="Content Placeholder 2"/>
          <p:cNvSpPr>
            <a:spLocks noGrp="1"/>
          </p:cNvSpPr>
          <p:nvPr>
            <p:ph idx="1"/>
          </p:nvPr>
        </p:nvSpPr>
        <p:spPr>
          <a:xfrm>
            <a:off x="228600" y="1371600"/>
            <a:ext cx="8534400" cy="5029200"/>
          </a:xfrm>
        </p:spPr>
        <p:txBody>
          <a:bodyPr>
            <a:normAutofit lnSpcReduction="10000"/>
          </a:bodyPr>
          <a:lstStyle/>
          <a:p>
            <a:r>
              <a:rPr lang="en-US" dirty="0" smtClean="0"/>
              <a:t>For two inputs (A, B), a carry-in, and an </a:t>
            </a:r>
            <a:r>
              <a:rPr lang="en-US" dirty="0" err="1" smtClean="0"/>
              <a:t>op_select</a:t>
            </a:r>
            <a:r>
              <a:rPr lang="en-US" dirty="0" smtClean="0"/>
              <a:t>, you need:</a:t>
            </a:r>
          </a:p>
          <a:p>
            <a:pPr lvl="1"/>
            <a:r>
              <a:rPr lang="en-US" dirty="0" smtClean="0"/>
              <a:t>A </a:t>
            </a:r>
            <a:r>
              <a:rPr lang="en-US" b="1" dirty="0" smtClean="0">
                <a:solidFill>
                  <a:srgbClr val="0000FF"/>
                </a:solidFill>
              </a:rPr>
              <a:t>decoder</a:t>
            </a:r>
            <a:r>
              <a:rPr lang="en-US" dirty="0" smtClean="0">
                <a:solidFill>
                  <a:srgbClr val="0000FF"/>
                </a:solidFill>
              </a:rPr>
              <a:t> </a:t>
            </a:r>
            <a:r>
              <a:rPr lang="en-US" dirty="0" smtClean="0"/>
              <a:t>for the (2-bit) operation selection</a:t>
            </a:r>
          </a:p>
          <a:p>
            <a:pPr lvl="2"/>
            <a:r>
              <a:rPr lang="en-US" b="1" dirty="0" smtClean="0">
                <a:solidFill>
                  <a:srgbClr val="FF0000"/>
                </a:solidFill>
              </a:rPr>
              <a:t>Q:</a:t>
            </a:r>
            <a:r>
              <a:rPr lang="en-US" dirty="0" smtClean="0"/>
              <a:t> why 2 bits? How many operations here? </a:t>
            </a:r>
          </a:p>
          <a:p>
            <a:pPr lvl="2"/>
            <a:r>
              <a:rPr lang="en-US" dirty="0" smtClean="0"/>
              <a:t>This feeds enable or control lines to ANDS, ORs, and NOT</a:t>
            </a:r>
          </a:p>
          <a:p>
            <a:pPr lvl="1"/>
            <a:r>
              <a:rPr lang="en-US" dirty="0" smtClean="0"/>
              <a:t>A set of gates for the logic section for AND, OR, and </a:t>
            </a:r>
            <a:r>
              <a:rPr lang="en-US" dirty="0" smtClean="0"/>
              <a:t>NOT (A</a:t>
            </a:r>
            <a:r>
              <a:rPr lang="en-US" b="1" dirty="0" smtClean="0">
                <a:solidFill>
                  <a:srgbClr val="0000FF"/>
                </a:solidFill>
              </a:rPr>
              <a:t>L</a:t>
            </a:r>
            <a:r>
              <a:rPr lang="en-US" dirty="0" smtClean="0"/>
              <a:t>U)</a:t>
            </a:r>
            <a:endParaRPr lang="en-US" dirty="0" smtClean="0"/>
          </a:p>
          <a:p>
            <a:pPr lvl="2"/>
            <a:r>
              <a:rPr lang="en-US" dirty="0" smtClean="0"/>
              <a:t>The logic unit</a:t>
            </a:r>
          </a:p>
          <a:p>
            <a:pPr lvl="1"/>
            <a:r>
              <a:rPr lang="en-US" dirty="0" smtClean="0"/>
              <a:t>A set of gates for the full-</a:t>
            </a:r>
            <a:r>
              <a:rPr lang="en-US" dirty="0" smtClean="0"/>
              <a:t>adder (</a:t>
            </a:r>
            <a:r>
              <a:rPr lang="en-US" b="1" dirty="0" smtClean="0">
                <a:solidFill>
                  <a:srgbClr val="0000FF"/>
                </a:solidFill>
              </a:rPr>
              <a:t>A</a:t>
            </a:r>
            <a:r>
              <a:rPr lang="en-US" dirty="0" smtClean="0"/>
              <a:t>LU)</a:t>
            </a:r>
            <a:endParaRPr lang="en-US" dirty="0" smtClean="0"/>
          </a:p>
          <a:p>
            <a:pPr lvl="2"/>
            <a:r>
              <a:rPr lang="en-US" dirty="0" smtClean="0"/>
              <a:t>The arithmetic unit</a:t>
            </a:r>
          </a:p>
          <a:p>
            <a:r>
              <a:rPr lang="en-US" b="1" dirty="0" smtClean="0">
                <a:solidFill>
                  <a:srgbClr val="FF0000"/>
                </a:solidFill>
              </a:rPr>
              <a:t>Q:</a:t>
            </a:r>
            <a:r>
              <a:rPr lang="en-US" dirty="0" smtClean="0"/>
              <a:t> What if we had two available data sources for each ALU input?</a:t>
            </a:r>
          </a:p>
          <a:p>
            <a:pPr lvl="1"/>
            <a:r>
              <a:rPr lang="en-US" dirty="0" smtClean="0"/>
              <a:t>First input could be either {A,B}</a:t>
            </a:r>
          </a:p>
          <a:p>
            <a:pPr lvl="1"/>
            <a:r>
              <a:rPr lang="en-US" dirty="0" smtClean="0"/>
              <a:t>Second input could be either {C,D}</a:t>
            </a:r>
          </a:p>
          <a:p>
            <a:pPr lvl="2"/>
            <a:r>
              <a:rPr lang="en-US" dirty="0" smtClean="0"/>
              <a:t>We need a “chooser” here, a </a:t>
            </a:r>
            <a:r>
              <a:rPr lang="en-US" b="1" dirty="0" smtClean="0">
                <a:solidFill>
                  <a:srgbClr val="0000FF"/>
                </a:solidFill>
              </a:rPr>
              <a:t>multiplexor</a:t>
            </a:r>
            <a:r>
              <a:rPr lang="en-US" dirty="0" smtClean="0"/>
              <a:t> to select either A or </a:t>
            </a:r>
            <a:r>
              <a:rPr lang="en-US" dirty="0" smtClean="0"/>
              <a:t>B</a:t>
            </a:r>
          </a:p>
          <a:p>
            <a:r>
              <a:rPr lang="en-US" b="1" dirty="0" smtClean="0">
                <a:solidFill>
                  <a:srgbClr val="FF0000"/>
                </a:solidFill>
              </a:rPr>
              <a:t>Q:</a:t>
            </a:r>
            <a:r>
              <a:rPr lang="en-US" dirty="0" smtClean="0"/>
              <a:t> What if we wanted to add two sources that are more than 1 bit?</a:t>
            </a:r>
            <a:endParaRPr lang="en-US" dirty="0" smtClean="0"/>
          </a:p>
          <a:p>
            <a:r>
              <a:rPr lang="en-US" b="1" dirty="0" smtClean="0">
                <a:solidFill>
                  <a:srgbClr val="FF0000"/>
                </a:solidFill>
              </a:rPr>
              <a:t>Q:</a:t>
            </a:r>
            <a:r>
              <a:rPr lang="en-US" dirty="0" smtClean="0"/>
              <a:t> What if we wanted to remember the results of our computation?</a:t>
            </a:r>
          </a:p>
          <a:p>
            <a:pPr lvl="1"/>
            <a:r>
              <a:rPr lang="en-US" dirty="0" smtClean="0"/>
              <a:t>We need a way to save (</a:t>
            </a:r>
            <a:r>
              <a:rPr lang="en-US" b="1" dirty="0" smtClean="0">
                <a:solidFill>
                  <a:srgbClr val="0000FF"/>
                </a:solidFill>
              </a:rPr>
              <a:t>memory</a:t>
            </a:r>
            <a:r>
              <a:rPr lang="en-US" dirty="0" smtClean="0"/>
              <a:t>)</a:t>
            </a:r>
          </a:p>
          <a:p>
            <a:endParaRPr lang="en-US" dirty="0"/>
          </a:p>
        </p:txBody>
      </p:sp>
    </p:spTree>
    <p:extLst>
      <p:ext uri="{BB962C8B-B14F-4D97-AF65-F5344CB8AC3E}">
        <p14:creationId xmlns:p14="http://schemas.microsoft.com/office/powerpoint/2010/main" val="1299223787"/>
      </p:ext>
    </p:extLst>
  </p:cSld>
  <p:clrMapOvr>
    <a:masterClrMapping/>
  </p:clrMapOvr>
  <p:timing>
    <p:tnLst>
      <p:par>
        <p:cTn xmlns:p14="http://schemas.microsoft.com/office/powerpoint/2010/mai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457200"/>
            <a:ext cx="8801100" cy="1521333"/>
          </a:xfrm>
        </p:spPr>
        <p:txBody>
          <a:bodyPr/>
          <a:lstStyle/>
          <a:p>
            <a:r>
              <a:rPr lang="en-US" dirty="0" smtClean="0"/>
              <a:t>Combinational Circuit: 1-bit </a:t>
            </a:r>
            <a:r>
              <a:rPr lang="en-US" b="1" dirty="0" smtClean="0">
                <a:solidFill>
                  <a:srgbClr val="0000FF"/>
                </a:solidFill>
              </a:rPr>
              <a:t>ALU</a:t>
            </a:r>
            <a:endParaRPr lang="en-US" b="1" dirty="0">
              <a:solidFill>
                <a:srgbClr val="0000FF"/>
              </a:solidFill>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525" y="762000"/>
            <a:ext cx="7000875" cy="611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2700" y="1549400"/>
            <a:ext cx="818678" cy="120032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err="1"/>
              <a:t>EnA</a:t>
            </a:r>
            <a:r>
              <a:rPr lang="en-US" dirty="0"/>
              <a:t>, </a:t>
            </a:r>
            <a:r>
              <a:rPr lang="en-US" dirty="0" err="1"/>
              <a:t>EnB</a:t>
            </a:r>
            <a:r>
              <a:rPr lang="en-US" dirty="0"/>
              <a:t> does what? </a:t>
            </a:r>
          </a:p>
        </p:txBody>
      </p:sp>
      <p:cxnSp>
        <p:nvCxnSpPr>
          <p:cNvPr id="5" name="Straight Arrow Connector 4"/>
          <p:cNvCxnSpPr/>
          <p:nvPr/>
        </p:nvCxnSpPr>
        <p:spPr>
          <a:xfrm>
            <a:off x="762000" y="914400"/>
            <a:ext cx="990600" cy="99060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6" name="Straight Arrow Connector 5"/>
          <p:cNvCxnSpPr/>
          <p:nvPr/>
        </p:nvCxnSpPr>
        <p:spPr>
          <a:xfrm>
            <a:off x="762000" y="4114800"/>
            <a:ext cx="1066800" cy="11430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7" name="Straight Arrow Connector 6"/>
          <p:cNvCxnSpPr>
            <a:stCxn id="9" idx="2"/>
          </p:cNvCxnSpPr>
          <p:nvPr/>
        </p:nvCxnSpPr>
        <p:spPr>
          <a:xfrm>
            <a:off x="723900" y="4107597"/>
            <a:ext cx="4076700" cy="540603"/>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8" name="TextBox 7"/>
          <p:cNvSpPr txBox="1"/>
          <p:nvPr/>
        </p:nvSpPr>
        <p:spPr>
          <a:xfrm>
            <a:off x="76200" y="609600"/>
            <a:ext cx="1371600" cy="338554"/>
          </a:xfrm>
          <a:prstGeom prst="rect">
            <a:avLst/>
          </a:prstGeom>
          <a:noFill/>
        </p:spPr>
        <p:txBody>
          <a:bodyPr wrap="square" rtlCol="0">
            <a:spAutoFit/>
          </a:bodyPr>
          <a:lstStyle/>
          <a:p>
            <a:r>
              <a:rPr lang="en-US" sz="1600" dirty="0" smtClean="0"/>
              <a:t>The Beginning</a:t>
            </a:r>
            <a:endParaRPr lang="en-US" sz="1600" dirty="0"/>
          </a:p>
        </p:txBody>
      </p:sp>
      <p:sp>
        <p:nvSpPr>
          <p:cNvPr id="9" name="TextBox 8"/>
          <p:cNvSpPr txBox="1"/>
          <p:nvPr/>
        </p:nvSpPr>
        <p:spPr>
          <a:xfrm>
            <a:off x="0" y="3276600"/>
            <a:ext cx="1447800" cy="830997"/>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600" dirty="0" smtClean="0"/>
              <a:t>Combinational Logic </a:t>
            </a:r>
          </a:p>
          <a:p>
            <a:r>
              <a:rPr lang="en-US" sz="1600" dirty="0"/>
              <a:t>(</a:t>
            </a:r>
            <a:r>
              <a:rPr lang="en-US" sz="1600" dirty="0" smtClean="0"/>
              <a:t>Today)</a:t>
            </a:r>
            <a:endParaRPr lang="en-US" sz="1600" dirty="0"/>
          </a:p>
        </p:txBody>
      </p:sp>
      <p:sp>
        <p:nvSpPr>
          <p:cNvPr id="10" name="Left Brace 9"/>
          <p:cNvSpPr/>
          <p:nvPr/>
        </p:nvSpPr>
        <p:spPr>
          <a:xfrm rot="10800000">
            <a:off x="7519987" y="762000"/>
            <a:ext cx="557213" cy="601980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17" name="TextBox 16"/>
          <p:cNvSpPr txBox="1"/>
          <p:nvPr/>
        </p:nvSpPr>
        <p:spPr>
          <a:xfrm>
            <a:off x="7848600" y="3556000"/>
            <a:ext cx="838200" cy="276999"/>
          </a:xfrm>
          <a:prstGeom prst="rect">
            <a:avLst/>
          </a:prstGeom>
          <a:noFill/>
        </p:spPr>
        <p:txBody>
          <a:bodyPr wrap="square" rtlCol="0">
            <a:spAutoFit/>
          </a:bodyPr>
          <a:lstStyle/>
          <a:p>
            <a:r>
              <a:rPr lang="en-US" b="1" dirty="0" smtClean="0"/>
              <a:t>HW1</a:t>
            </a:r>
            <a:endParaRPr lang="en-US" b="1" dirty="0"/>
          </a:p>
        </p:txBody>
      </p:sp>
    </p:spTree>
    <p:extLst>
      <p:ext uri="{BB962C8B-B14F-4D97-AF65-F5344CB8AC3E}">
        <p14:creationId xmlns:p14="http://schemas.microsoft.com/office/powerpoint/2010/main" val="2512383880"/>
      </p:ext>
    </p:extLst>
  </p:cSld>
  <p:clrMapOvr>
    <a:masterClrMapping/>
  </p:clrMapOvr>
  <p:timing>
    <p:tnLst>
      <p:par>
        <p:cTn xmlns:p14="http://schemas.microsoft.com/office/powerpoint/2010/mai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Combining Circuits: N-Bit </a:t>
            </a:r>
            <a:r>
              <a:rPr lang="en-US" b="1" dirty="0" smtClean="0">
                <a:solidFill>
                  <a:srgbClr val="0000FF"/>
                </a:solidFill>
              </a:rPr>
              <a:t>ALU</a:t>
            </a:r>
            <a:endParaRPr lang="en-US" b="1" dirty="0">
              <a:solidFill>
                <a:srgbClr val="0000FF"/>
              </a:solidFill>
            </a:endParaRPr>
          </a:p>
        </p:txBody>
      </p:sp>
      <p:sp>
        <p:nvSpPr>
          <p:cNvPr id="3" name="Content Placeholder 2"/>
          <p:cNvSpPr>
            <a:spLocks noGrp="1"/>
          </p:cNvSpPr>
          <p:nvPr>
            <p:ph idx="1"/>
          </p:nvPr>
        </p:nvSpPr>
        <p:spPr/>
        <p:txBody>
          <a:bodyPr/>
          <a:lstStyle/>
          <a:p>
            <a:r>
              <a:rPr lang="en-US" dirty="0" smtClean="0"/>
              <a:t>From </a:t>
            </a:r>
            <a:r>
              <a:rPr lang="en-US" dirty="0" err="1" smtClean="0"/>
              <a:t>Bergers</a:t>
            </a:r>
            <a:r>
              <a:rPr lang="en-US" dirty="0" smtClean="0"/>
              <a:t> text below, 8 slices to black box an 8-b adder</a:t>
            </a:r>
          </a:p>
          <a:p>
            <a:pPr lvl="1"/>
            <a:r>
              <a:rPr lang="en-US" dirty="0" smtClean="0"/>
              <a:t>Note enables aren’t shown, and INC is carry in for b0</a:t>
            </a:r>
          </a:p>
          <a:p>
            <a:r>
              <a:rPr lang="en-US" dirty="0" smtClean="0">
                <a:solidFill>
                  <a:srgbClr val="FF0000"/>
                </a:solidFill>
              </a:rPr>
              <a:t>Q:</a:t>
            </a:r>
            <a:r>
              <a:rPr lang="en-US" dirty="0" smtClean="0"/>
              <a:t> How would we build just a 2-bit ALU? (not a black box?)</a:t>
            </a:r>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638550"/>
            <a:ext cx="8277225"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2136871"/>
      </p:ext>
    </p:extLst>
  </p:cSld>
  <p:clrMapOvr>
    <a:masterClrMapping/>
  </p:clrMapOvr>
  <p:timing>
    <p:tnLst>
      <p:par>
        <p:cTn xmlns:p14="http://schemas.microsoft.com/office/powerpoint/2010/mai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1143000"/>
          </a:xfrm>
        </p:spPr>
        <p:txBody>
          <a:bodyPr/>
          <a:lstStyle/>
          <a:p>
            <a:r>
              <a:rPr lang="en-US" dirty="0" smtClean="0"/>
              <a:t>First Attempt Using Black Boxes</a:t>
            </a:r>
            <a:endParaRPr lang="en-US" dirty="0"/>
          </a:p>
        </p:txBody>
      </p:sp>
      <p:pic>
        <p:nvPicPr>
          <p:cNvPr id="4" name="Content Placeholder 3"/>
          <p:cNvPicPr>
            <a:picLocks noGrp="1" noChangeAspect="1"/>
          </p:cNvPicPr>
          <p:nvPr>
            <p:ph idx="1"/>
          </p:nvPr>
        </p:nvPicPr>
        <p:blipFill>
          <a:blip r:embed="rId3"/>
          <a:srcRect t="-22805" b="-22805"/>
          <a:stretch>
            <a:fillRect/>
          </a:stretch>
        </p:blipFill>
        <p:spPr>
          <a:xfrm>
            <a:off x="457200" y="1371600"/>
            <a:ext cx="7620000" cy="4800600"/>
          </a:xfrm>
        </p:spPr>
      </p:pic>
      <p:sp>
        <p:nvSpPr>
          <p:cNvPr id="5" name="TextBox 4"/>
          <p:cNvSpPr txBox="1"/>
          <p:nvPr/>
        </p:nvSpPr>
        <p:spPr>
          <a:xfrm>
            <a:off x="762000" y="6183868"/>
            <a:ext cx="3962400" cy="246221"/>
          </a:xfrm>
          <a:prstGeom prst="rect">
            <a:avLst/>
          </a:prstGeom>
          <a:noFill/>
        </p:spPr>
        <p:txBody>
          <a:bodyPr wrap="square" rtlCol="0">
            <a:spAutoFit/>
          </a:bodyPr>
          <a:lstStyle/>
          <a:p>
            <a:r>
              <a:rPr lang="en-US" sz="1000" dirty="0" smtClean="0"/>
              <a:t>(Source</a:t>
            </a:r>
            <a:r>
              <a:rPr lang="en-US" sz="1000" dirty="0"/>
              <a:t>: http://</a:t>
            </a:r>
            <a:r>
              <a:rPr lang="en-US" sz="1000" dirty="0" err="1"/>
              <a:t>nicholasalcock.tripod.com</a:t>
            </a:r>
            <a:r>
              <a:rPr lang="en-US" sz="1000" dirty="0"/>
              <a:t>/Comp212/Lab9/2-</a:t>
            </a:r>
            <a:r>
              <a:rPr lang="en-US" sz="1000" dirty="0" smtClean="0"/>
              <a:t>BitALU.JPG)</a:t>
            </a:r>
            <a:endParaRPr lang="en-US" sz="1000" dirty="0"/>
          </a:p>
        </p:txBody>
      </p:sp>
    </p:spTree>
    <p:extLst>
      <p:ext uri="{BB962C8B-B14F-4D97-AF65-F5344CB8AC3E}">
        <p14:creationId xmlns:p14="http://schemas.microsoft.com/office/powerpoint/2010/main" val="3233460213"/>
      </p:ext>
    </p:extLst>
  </p:cSld>
  <p:clrMapOvr>
    <a:masterClrMapping/>
  </p:clrMapOvr>
  <p:timing>
    <p:tnLst>
      <p:par>
        <p:cTn xmlns:p14="http://schemas.microsoft.com/office/powerpoint/2010/mai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95400"/>
            <a:ext cx="5412785" cy="4724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926638"/>
            <a:ext cx="5562600" cy="48551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
        <p:nvSpPr>
          <p:cNvPr id="2" name="Title 1"/>
          <p:cNvSpPr>
            <a:spLocks noGrp="1"/>
          </p:cNvSpPr>
          <p:nvPr>
            <p:ph type="title"/>
          </p:nvPr>
        </p:nvSpPr>
        <p:spPr>
          <a:xfrm>
            <a:off x="152400" y="0"/>
            <a:ext cx="7620000" cy="1143000"/>
          </a:xfrm>
        </p:spPr>
        <p:txBody>
          <a:bodyPr/>
          <a:lstStyle/>
          <a:p>
            <a:r>
              <a:rPr lang="en-US" dirty="0" smtClean="0"/>
              <a:t>Drawing on the First Attempt</a:t>
            </a:r>
            <a:br>
              <a:rPr lang="en-US" dirty="0" smtClean="0"/>
            </a:br>
            <a:r>
              <a:rPr lang="en-US" dirty="0" smtClean="0"/>
              <a:t>(Cascading is Cut-and-Paste)</a:t>
            </a:r>
            <a:endParaRPr lang="en-US" dirty="0"/>
          </a:p>
        </p:txBody>
      </p:sp>
    </p:spTree>
    <p:extLst>
      <p:ext uri="{BB962C8B-B14F-4D97-AF65-F5344CB8AC3E}">
        <p14:creationId xmlns:p14="http://schemas.microsoft.com/office/powerpoint/2010/main" val="1807130437"/>
      </p:ext>
    </p:extLst>
  </p:cSld>
  <p:clrMapOvr>
    <a:masterClrMapping/>
  </p:clrMapOvr>
  <p:timing>
    <p:tnLst>
      <p:par>
        <p:cTn xmlns:p14="http://schemas.microsoft.com/office/powerpoint/2010/mai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 Shot 2017-10-10 at 7.40.49 PM.png"/>
          <p:cNvPicPr>
            <a:picLocks noChangeAspect="1"/>
          </p:cNvPicPr>
          <p:nvPr/>
        </p:nvPicPr>
        <p:blipFill rotWithShape="1">
          <a:blip r:embed="rId2">
            <a:extLst>
              <a:ext uri="{28A0092B-C50C-407E-A947-70E740481C1C}">
                <a14:useLocalDpi xmlns:a14="http://schemas.microsoft.com/office/drawing/2010/main" val="0"/>
              </a:ext>
            </a:extLst>
          </a:blip>
          <a:srcRect l="4657" t="5370" r="1603" b="-370"/>
          <a:stretch/>
        </p:blipFill>
        <p:spPr>
          <a:xfrm>
            <a:off x="0" y="0"/>
            <a:ext cx="7924800" cy="6515100"/>
          </a:xfrm>
          <a:prstGeom prst="rect">
            <a:avLst/>
          </a:prstGeom>
        </p:spPr>
      </p:pic>
      <p:sp>
        <p:nvSpPr>
          <p:cNvPr id="6" name="TextBox 5"/>
          <p:cNvSpPr txBox="1"/>
          <p:nvPr/>
        </p:nvSpPr>
        <p:spPr>
          <a:xfrm>
            <a:off x="2057400" y="6553200"/>
            <a:ext cx="4495800" cy="276999"/>
          </a:xfrm>
          <a:prstGeom prst="rect">
            <a:avLst/>
          </a:prstGeom>
          <a:noFill/>
        </p:spPr>
        <p:txBody>
          <a:bodyPr wrap="square" rtlCol="0">
            <a:spAutoFit/>
          </a:bodyPr>
          <a:lstStyle/>
          <a:p>
            <a:r>
              <a:rPr lang="en-US" sz="1200" dirty="0"/>
              <a:t>(</a:t>
            </a:r>
            <a:r>
              <a:rPr lang="en-US" sz="1200" dirty="0" smtClean="0"/>
              <a:t>Image Source: Null &amp; Lobur, Essentials of Computer Organization)</a:t>
            </a:r>
            <a:endParaRPr lang="en-US" sz="1200" dirty="0"/>
          </a:p>
        </p:txBody>
      </p:sp>
      <p:sp>
        <p:nvSpPr>
          <p:cNvPr id="4" name="TextBox 3"/>
          <p:cNvSpPr txBox="1"/>
          <p:nvPr/>
        </p:nvSpPr>
        <p:spPr>
          <a:xfrm>
            <a:off x="6888480" y="914400"/>
            <a:ext cx="2179320" cy="992008"/>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solidFill>
                  <a:srgbClr val="F13535"/>
                </a:solidFill>
              </a:rPr>
              <a:t>Exam Q</a:t>
            </a:r>
            <a:r>
              <a:rPr lang="en-US" b="1" dirty="0" smtClean="0">
                <a:solidFill>
                  <a:srgbClr val="F13535"/>
                </a:solidFill>
              </a:rPr>
              <a:t>:</a:t>
            </a:r>
            <a:r>
              <a:rPr lang="en-US" dirty="0" smtClean="0"/>
              <a:t> Tell me what every line does for this 2b ALU</a:t>
            </a:r>
            <a:endParaRPr lang="en-US" dirty="0"/>
          </a:p>
        </p:txBody>
      </p:sp>
      <p:sp>
        <p:nvSpPr>
          <p:cNvPr id="2" name="TextBox 1"/>
          <p:cNvSpPr txBox="1"/>
          <p:nvPr/>
        </p:nvSpPr>
        <p:spPr>
          <a:xfrm>
            <a:off x="0" y="0"/>
            <a:ext cx="1828800" cy="954107"/>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US" sz="2800" dirty="0" smtClean="0"/>
              <a:t>1 bit Adder</a:t>
            </a:r>
          </a:p>
          <a:p>
            <a:r>
              <a:rPr lang="en-US" sz="2800" dirty="0" smtClean="0"/>
              <a:t>4 Sources</a:t>
            </a:r>
            <a:endParaRPr lang="en-US" sz="2800" dirty="0"/>
          </a:p>
        </p:txBody>
      </p:sp>
      <p:sp>
        <p:nvSpPr>
          <p:cNvPr id="3" name="TextBox 2"/>
          <p:cNvSpPr txBox="1"/>
          <p:nvPr/>
        </p:nvSpPr>
        <p:spPr>
          <a:xfrm>
            <a:off x="4838700" y="76200"/>
            <a:ext cx="304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A</a:t>
            </a:r>
            <a:endParaRPr lang="en-US" dirty="0"/>
          </a:p>
        </p:txBody>
      </p:sp>
      <p:sp>
        <p:nvSpPr>
          <p:cNvPr id="7" name="TextBox 6"/>
          <p:cNvSpPr txBox="1"/>
          <p:nvPr/>
        </p:nvSpPr>
        <p:spPr>
          <a:xfrm>
            <a:off x="5257800" y="76200"/>
            <a:ext cx="304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B</a:t>
            </a:r>
            <a:endParaRPr lang="en-US" dirty="0"/>
          </a:p>
        </p:txBody>
      </p:sp>
      <p:sp>
        <p:nvSpPr>
          <p:cNvPr id="8" name="TextBox 7"/>
          <p:cNvSpPr txBox="1"/>
          <p:nvPr/>
        </p:nvSpPr>
        <p:spPr>
          <a:xfrm>
            <a:off x="2590800" y="88900"/>
            <a:ext cx="304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a:t>
            </a:r>
          </a:p>
        </p:txBody>
      </p:sp>
      <p:sp>
        <p:nvSpPr>
          <p:cNvPr id="9" name="TextBox 8"/>
          <p:cNvSpPr txBox="1"/>
          <p:nvPr/>
        </p:nvSpPr>
        <p:spPr>
          <a:xfrm>
            <a:off x="3035300" y="87868"/>
            <a:ext cx="304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D</a:t>
            </a:r>
            <a:endParaRPr lang="en-US" dirty="0"/>
          </a:p>
        </p:txBody>
      </p:sp>
      <p:sp>
        <p:nvSpPr>
          <p:cNvPr id="10" name="TextBox 9"/>
          <p:cNvSpPr txBox="1"/>
          <p:nvPr/>
        </p:nvSpPr>
        <p:spPr>
          <a:xfrm>
            <a:off x="3759911" y="5904405"/>
            <a:ext cx="405689" cy="37838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O</a:t>
            </a:r>
            <a:r>
              <a:rPr lang="en-US" baseline="-25000" dirty="0" smtClean="0"/>
              <a:t>1</a:t>
            </a:r>
            <a:endParaRPr lang="en-US" dirty="0"/>
          </a:p>
        </p:txBody>
      </p:sp>
      <p:sp>
        <p:nvSpPr>
          <p:cNvPr id="12" name="TextBox 11"/>
          <p:cNvSpPr txBox="1"/>
          <p:nvPr/>
        </p:nvSpPr>
        <p:spPr>
          <a:xfrm>
            <a:off x="4267200" y="5905500"/>
            <a:ext cx="405689" cy="37838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O</a:t>
            </a:r>
            <a:r>
              <a:rPr lang="en-US" baseline="-25000" dirty="0" smtClean="0"/>
              <a:t>2</a:t>
            </a:r>
            <a:endParaRPr lang="en-US" dirty="0"/>
          </a:p>
        </p:txBody>
      </p:sp>
    </p:spTree>
    <p:extLst>
      <p:ext uri="{BB962C8B-B14F-4D97-AF65-F5344CB8AC3E}">
        <p14:creationId xmlns:p14="http://schemas.microsoft.com/office/powerpoint/2010/main" val="3028149572"/>
      </p:ext>
    </p:extLst>
  </p:cSld>
  <p:clrMapOvr>
    <a:masterClrMapping/>
  </p:clrMapOvr>
  <p:timing>
    <p:tnLst>
      <p:par>
        <p:cTn xmlns:p14="http://schemas.microsoft.com/office/powerpoint/2010/mai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33500" y="0"/>
            <a:ext cx="6465391" cy="6858000"/>
          </a:xfrm>
          <a:prstGeom prst="rect">
            <a:avLst/>
          </a:prstGeom>
        </p:spPr>
      </p:pic>
      <p:sp>
        <p:nvSpPr>
          <p:cNvPr id="2" name="TextBox 1"/>
          <p:cNvSpPr txBox="1"/>
          <p:nvPr/>
        </p:nvSpPr>
        <p:spPr>
          <a:xfrm>
            <a:off x="3073400" y="3733800"/>
            <a:ext cx="685800" cy="230832"/>
          </a:xfrm>
          <a:prstGeom prst="rect">
            <a:avLst/>
          </a:prstGeom>
          <a:noFill/>
        </p:spPr>
        <p:txBody>
          <a:bodyPr wrap="square" rtlCol="0">
            <a:spAutoFit/>
          </a:bodyPr>
          <a:lstStyle/>
          <a:p>
            <a:r>
              <a:rPr lang="en-US" sz="900" dirty="0" smtClean="0">
                <a:solidFill>
                  <a:srgbClr val="008000"/>
                </a:solidFill>
              </a:rPr>
              <a:t>Carry in</a:t>
            </a:r>
            <a:endParaRPr lang="en-US" sz="900" dirty="0">
              <a:solidFill>
                <a:srgbClr val="008000"/>
              </a:solidFill>
            </a:endParaRPr>
          </a:p>
        </p:txBody>
      </p:sp>
      <p:sp>
        <p:nvSpPr>
          <p:cNvPr id="3" name="TextBox 2"/>
          <p:cNvSpPr txBox="1"/>
          <p:nvPr/>
        </p:nvSpPr>
        <p:spPr>
          <a:xfrm>
            <a:off x="152400" y="76200"/>
            <a:ext cx="4724400" cy="492443"/>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sz="2600" dirty="0" smtClean="0"/>
              <a:t>2b Adder, now with Memory!</a:t>
            </a:r>
          </a:p>
        </p:txBody>
      </p:sp>
      <p:sp>
        <p:nvSpPr>
          <p:cNvPr id="6" name="TextBox 5"/>
          <p:cNvSpPr txBox="1"/>
          <p:nvPr/>
        </p:nvSpPr>
        <p:spPr>
          <a:xfrm>
            <a:off x="7331100" y="5499100"/>
            <a:ext cx="1825600" cy="646331"/>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dirty="0" smtClean="0">
                <a:solidFill>
                  <a:schemeClr val="tx1"/>
                </a:solidFill>
              </a:rPr>
              <a:t>A </a:t>
            </a:r>
            <a:r>
              <a:rPr lang="en-US" dirty="0">
                <a:solidFill>
                  <a:schemeClr val="tx1"/>
                </a:solidFill>
              </a:rPr>
              <a:t>g</a:t>
            </a:r>
            <a:r>
              <a:rPr lang="en-US" dirty="0" smtClean="0">
                <a:solidFill>
                  <a:schemeClr val="tx1"/>
                </a:solidFill>
              </a:rPr>
              <a:t>reat place to introduce HW2</a:t>
            </a:r>
            <a:endParaRPr lang="en-US" dirty="0">
              <a:solidFill>
                <a:schemeClr val="tx1"/>
              </a:solidFill>
            </a:endParaRPr>
          </a:p>
        </p:txBody>
      </p:sp>
      <p:sp>
        <p:nvSpPr>
          <p:cNvPr id="7" name="TextBox 6"/>
          <p:cNvSpPr txBox="1"/>
          <p:nvPr/>
        </p:nvSpPr>
        <p:spPr>
          <a:xfrm>
            <a:off x="7424777" y="3785037"/>
            <a:ext cx="1637355" cy="1320363"/>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solidFill>
                  <a:srgbClr val="F13535"/>
                </a:solidFill>
              </a:rPr>
              <a:t>Exam Q</a:t>
            </a:r>
            <a:r>
              <a:rPr lang="en-US" b="1" dirty="0" smtClean="0">
                <a:solidFill>
                  <a:srgbClr val="F13535"/>
                </a:solidFill>
              </a:rPr>
              <a:t>:</a:t>
            </a:r>
            <a:r>
              <a:rPr lang="en-US" dirty="0" smtClean="0"/>
              <a:t> Tell me what every line does for this 2b ALU</a:t>
            </a:r>
            <a:endParaRPr lang="en-US" dirty="0"/>
          </a:p>
        </p:txBody>
      </p:sp>
    </p:spTree>
    <p:extLst>
      <p:ext uri="{BB962C8B-B14F-4D97-AF65-F5344CB8AC3E}">
        <p14:creationId xmlns:p14="http://schemas.microsoft.com/office/powerpoint/2010/main" val="79887176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 Scientific Notation</a:t>
            </a:r>
            <a:endParaRPr lang="en-US" dirty="0"/>
          </a:p>
        </p:txBody>
      </p:sp>
      <p:sp>
        <p:nvSpPr>
          <p:cNvPr id="3" name="Content Placeholder 2"/>
          <p:cNvSpPr>
            <a:spLocks noGrp="1"/>
          </p:cNvSpPr>
          <p:nvPr>
            <p:ph idx="1"/>
          </p:nvPr>
        </p:nvSpPr>
        <p:spPr>
          <a:xfrm>
            <a:off x="76200" y="1600200"/>
            <a:ext cx="8458200" cy="4800600"/>
          </a:xfrm>
        </p:spPr>
        <p:txBody>
          <a:bodyPr/>
          <a:lstStyle/>
          <a:p>
            <a:r>
              <a:rPr lang="en-US" dirty="0" smtClean="0"/>
              <a:t>“Back in the 1960s, someone decided that [because] the powers of 2 were close to the powers of 10</a:t>
            </a:r>
            <a:r>
              <a:rPr lang="mr-IN" dirty="0" smtClean="0"/>
              <a:t>…</a:t>
            </a:r>
            <a:r>
              <a:rPr lang="en-US" dirty="0" smtClean="0"/>
              <a:t>”</a:t>
            </a:r>
          </a:p>
          <a:p>
            <a:pPr lvl="1"/>
            <a:r>
              <a:rPr lang="en-US" dirty="0" smtClean="0"/>
              <a:t>And that we’d only need 1 KB hard drives</a:t>
            </a:r>
          </a:p>
          <a:p>
            <a:pPr lvl="1"/>
            <a:r>
              <a:rPr lang="en-US" dirty="0" smtClean="0"/>
              <a:t>And that 2 digits for a 4 digit date is ok</a:t>
            </a:r>
          </a:p>
          <a:p>
            <a:pPr lvl="1"/>
            <a:r>
              <a:rPr lang="en-US" dirty="0" smtClean="0"/>
              <a:t>And that it’s ok to name HW terms “Hot Plugging”</a:t>
            </a:r>
          </a:p>
          <a:p>
            <a:pPr lvl="1"/>
            <a:r>
              <a:rPr lang="en-US" dirty="0" smtClean="0"/>
              <a:t>And that soon your homes would each hold as many as 2 computers</a:t>
            </a:r>
          </a:p>
          <a:p>
            <a:pPr lvl="2"/>
            <a:r>
              <a:rPr lang="en-US" dirty="0" smtClean="0"/>
              <a:t>(someone stop this someone)</a:t>
            </a:r>
          </a:p>
          <a:p>
            <a:r>
              <a:rPr lang="en-US" dirty="0" smtClean="0"/>
              <a:t>Summary: We use Base</a:t>
            </a:r>
            <a:r>
              <a:rPr lang="en-US" baseline="-25000" dirty="0" smtClean="0"/>
              <a:t>2 </a:t>
            </a:r>
            <a:r>
              <a:rPr lang="en-US" dirty="0" smtClean="0"/>
              <a:t>in class, but </a:t>
            </a:r>
            <a:r>
              <a:rPr lang="en-US" smtClean="0"/>
              <a:t>irl “caveat </a:t>
            </a:r>
            <a:r>
              <a:rPr lang="en-US" dirty="0" smtClean="0"/>
              <a:t>emptor”</a:t>
            </a:r>
          </a:p>
        </p:txBody>
      </p:sp>
    </p:spTree>
    <p:extLst>
      <p:ext uri="{BB962C8B-B14F-4D97-AF65-F5344CB8AC3E}">
        <p14:creationId xmlns:p14="http://schemas.microsoft.com/office/powerpoint/2010/main" val="2347487036"/>
      </p:ext>
    </p:extLst>
  </p:cSld>
  <p:clrMapOvr>
    <a:masterClrMapping/>
  </p:clrMapOvr>
  <p:timing>
    <p:tnLst>
      <p:par>
        <p:cTn xmlns:p14="http://schemas.microsoft.com/office/powerpoint/2010/mai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END of Combinational Logic</a:t>
            </a:r>
            <a:endParaRPr lang="en-US" dirty="0"/>
          </a:p>
        </p:txBody>
      </p:sp>
      <p:sp>
        <p:nvSpPr>
          <p:cNvPr id="3" name="Content Placeholder 2"/>
          <p:cNvSpPr>
            <a:spLocks noGrp="1"/>
          </p:cNvSpPr>
          <p:nvPr>
            <p:ph idx="1"/>
          </p:nvPr>
        </p:nvSpPr>
        <p:spPr/>
        <p:txBody>
          <a:bodyPr/>
          <a:lstStyle/>
          <a:p>
            <a:r>
              <a:rPr lang="en-US" dirty="0" smtClean="0"/>
              <a:t>MORE to practice and memorize.</a:t>
            </a:r>
          </a:p>
          <a:p>
            <a:r>
              <a:rPr lang="en-US" dirty="0" smtClean="0"/>
              <a:t>See Null’s Example 3.11 on building a weather alert system for this college</a:t>
            </a:r>
            <a:endParaRPr lang="en-US" dirty="0"/>
          </a:p>
        </p:txBody>
      </p:sp>
    </p:spTree>
    <p:extLst>
      <p:ext uri="{BB962C8B-B14F-4D97-AF65-F5344CB8AC3E}">
        <p14:creationId xmlns:p14="http://schemas.microsoft.com/office/powerpoint/2010/main" val="27657909"/>
      </p:ext>
    </p:extLst>
  </p:cSld>
  <p:clrMapOvr>
    <a:masterClrMapping/>
  </p:clrMapOvr>
  <p:timing>
    <p:tnLst>
      <p:par>
        <p:cTn xmlns:p14="http://schemas.microsoft.com/office/powerpoint/2010/mai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PVERSION" val="5"/>
  <p:tag name="TPFULLVERSION" val="05030.17.01"/>
  <p:tag name="PPTVERSION" val="14"/>
  <p:tag name="TPOS" val="6"/>
</p:tagLst>
</file>

<file path=ppt/tags/tag2.xml><?xml version="1.0" encoding="utf-8"?>
<p:tagLst xmlns:a="http://schemas.openxmlformats.org/drawingml/2006/main" xmlns:r="http://schemas.openxmlformats.org/officeDocument/2006/relationships" xmlns:p="http://schemas.openxmlformats.org/presentationml/2006/main">
  <p:tag name="SLIDEGUID" val="34D7001D94404A14ABB0C519CE2B2A16"/>
  <p:tag name="AUTOOPENPOLL" val="False"/>
  <p:tag name="TYPE" val="TrueFalse"/>
  <p:tag name="TPSLIDEBULLETSTYLE" val="2"/>
  <p:tag name="HASRESULTS" val="True"/>
  <p:tag name="RESULTS" val="A Positive Logic AND == Negative Logic OR[;crlf;]33[;]40[;]33[;]False[;]0[;][;crlf;]1.2727[;]1[;]0.4454[;]0.1983[;crlf;]24[;]0[;]True1[;]True[;][;crlf;]9[;]0[;]False2[;]False[;][;crlf;]"/>
  <p:tag name="TPQUESTIONXML" val="&lt;?xml version=&quot;1.0&quot; encoding=&quot;UTF-8&quot; standalone=&quot;yes&quot;?&gt;&lt;questionlist&gt;&lt;properties&gt;&lt;guid&gt;3833D9F1385B423FBBEF3233BD8F656C&lt;/guid&gt;&lt;date&gt;10/5/2014 01:29:16 PM&lt;/date&gt;&lt;/properties&gt;&lt;questionlisttemplate&gt;&lt;correctvalue&gt;1&lt;/correctvalue&gt;&lt;incorrectvalue&gt;0&lt;/incorrectvalue&gt;&lt;numberofquestions&gt;1&lt;/numberofquestions&gt;&lt;questiontype&gt;1&lt;/questiontype&gt;&lt;numberofchoices&gt;4&lt;/numberofchoices&gt;&lt;bulletstyle&gt;2&lt;/bulletstyle&gt;&lt;questionfont&gt;Verdana&lt;/questionfont&gt;&lt;questionfontsize&gt;12&lt;/questionfontsize&gt;&lt;answerfont&gt;Verdana&lt;/answerfont&gt;&lt;answerfontsize&gt;12&lt;/answerfontsize&gt;&lt;showresults&gt;True&lt;/showresults&gt;&lt;countdowntime&gt;30&lt;/countdowntime&gt;&lt;responsegrid&gt;0&lt;/responsegrid&gt;&lt;/questionlisttemplate&gt;&lt;questions&gt;&lt;multichoice&gt;&lt;guid&gt;34D7001D94404A14ABB0C519CE2B2A16&lt;/guid&gt;&lt;repollguid&gt;93ADD8B166CA49FB8ABEC9606220D8EC&lt;/repollguid&gt;&lt;sourceid&gt;A023E90E88F9405BB4F83F58C85CEA4F&lt;/sourceid&gt;&lt;questiontext&gt;A Positive Logic AND == Negative Logic OR&lt;/questiontext&gt;&lt;showresults&gt;True&lt;/showresults&gt;&lt;responsegrid&gt;0&lt;/responsegrid&gt;&lt;countdowntime&gt;30&lt;/countdowntime&gt;&lt;correctvalue&gt;1&lt;/correctvalue&gt;&lt;incorrectvalue&gt;0&lt;/incorrectvalue&gt;&lt;responselimit&gt;1&lt;/responselimit&gt;&lt;bulletstyle&gt;2&lt;/bulletstyle&gt;&lt;truefalse&gt;True&lt;/truefalse&gt;&lt;answers&gt;&lt;answer&gt;&lt;guid&gt;3393C5FF3DBF463A82DB0E3ABF0A57AF&lt;/guid&gt;&lt;answertext&gt;True&lt;/answertext&gt;&lt;valuetype&gt;0&lt;/valuetype&gt;&lt;/answer&gt;&lt;answer&gt;&lt;guid&gt;5F0882B20CC34CF79F0D1C292DC4E8AB&lt;/guid&gt;&lt;answertext&gt;False&lt;/answertext&gt;&lt;valuetype&gt;0&lt;/valuetype&gt;&lt;/answer&gt;&lt;/answers&gt;&lt;/multichoice&gt;&lt;/questions&gt;&lt;/questionlist&gt;"/>
  <p:tag name="LIVECHARTING" val="False"/>
  <p:tag name="CHARTTYPE" val="3"/>
  <p:tag name="CHARTDEFINEDCOLORS" val="3,6,10,45,32,50,13,4,9,55,1"/>
</p:tagLst>
</file>

<file path=ppt/tags/tag3.xml><?xml version="1.0" encoding="utf-8"?>
<p:tagLst xmlns:a="http://schemas.openxmlformats.org/drawingml/2006/main" xmlns:r="http://schemas.openxmlformats.org/officeDocument/2006/relationships" xmlns:p="http://schemas.openxmlformats.org/presentationml/2006/main">
  <p:tag name="ZEROBASED" val="False"/>
</p:tagLst>
</file>

<file path=ppt/tags/tag4.xml><?xml version="1.0" encoding="utf-8"?>
<p:tagLst xmlns:a="http://schemas.openxmlformats.org/drawingml/2006/main" xmlns:r="http://schemas.openxmlformats.org/officeDocument/2006/relationships" xmlns:p="http://schemas.openxmlformats.org/presentationml/2006/main">
  <p:tag name="TYPE" val="3"/>
  <p:tag name="DEFINEDCOLORS" val="3,6,10,45,32,50,13,4,9,55,1"/>
  <p:tag name="COLORTYPE" val="SCHEME"/>
  <p:tag name="NUMBERFORMAT" val="0"/>
  <p:tag name="LABELFORMAT" val="0"/>
</p:tagLst>
</file>

<file path=ppt/tags/tag5.xml><?xml version="1.0" encoding="utf-8"?>
<p:tagLst xmlns:a="http://schemas.openxmlformats.org/drawingml/2006/main" xmlns:r="http://schemas.openxmlformats.org/officeDocument/2006/relationships" xmlns:p="http://schemas.openxmlformats.org/presentationml/2006/main">
  <p:tag name="SLIDEGUID" val="078A286F263D4D50B2E899ADCA75D6BE"/>
  <p:tag name="AUTOOPENPOLL" val="False"/>
  <p:tag name="TYPE" val="TrueFalse"/>
  <p:tag name="TPSLIDEBULLETSTYLE" val="2"/>
  <p:tag name="HASRESULTS" val="True"/>
  <p:tag name="RESULTS" val="This NXOR is in Reduced Form[;crlf;]31[;]40[;]31[;]False[;]23[;][;crlf;]1.7419[;]2[;]0.4376[;]0.1915[;crlf;]8[;]-1[;]True1[;]True[;][;crlf;]23[;]1[;]False2[;]False[;][;crlf;]"/>
  <p:tag name="TPQUESTIONXML" val="&lt;?xml version=&quot;1.0&quot; encoding=&quot;UTF-8&quot; standalone=&quot;yes&quot;?&gt;&lt;questionlist&gt;&lt;properties&gt;&lt;guid&gt;5AC978767FF84D53ABEAA727963FDDAC&lt;/guid&gt;&lt;date&gt;10/5/2014 01:29:16 PM&lt;/date&gt;&lt;/properties&gt;&lt;questionlisttemplate&gt;&lt;correctvalue&gt;1&lt;/correctvalue&gt;&lt;incorrectvalue&gt;0&lt;/incorrectvalue&gt;&lt;numberofquestions&gt;1&lt;/numberofquestions&gt;&lt;questiontype&gt;1&lt;/questiontype&gt;&lt;numberofchoices&gt;4&lt;/numberofchoices&gt;&lt;bulletstyle&gt;2&lt;/bulletstyle&gt;&lt;questionfont&gt;Verdana&lt;/questionfont&gt;&lt;questionfontsize&gt;12&lt;/questionfontsize&gt;&lt;answerfont&gt;Verdana&lt;/answerfont&gt;&lt;answerfontsize&gt;12&lt;/answerfontsize&gt;&lt;showresults&gt;True&lt;/showresults&gt;&lt;countdowntime&gt;30&lt;/countdowntime&gt;&lt;responsegrid&gt;0&lt;/responsegrid&gt;&lt;/questionlisttemplate&gt;&lt;questions&gt;&lt;multichoice&gt;&lt;guid&gt;078A286F263D4D50B2E899ADCA75D6BE&lt;/guid&gt;&lt;repollguid&gt;169DA1DDE97A42E2822C756C2238AB97&lt;/repollguid&gt;&lt;sourceid&gt;675DFB219AB24FE6A4CB61E8C57B8BD5&lt;/sourceid&gt;&lt;questiontext&gt;This NXOR is in Reduced Form&lt;/questiontext&gt;&lt;showresults&gt;True&lt;/showresults&gt;&lt;responsegrid&gt;2&lt;/responsegrid&gt;&lt;countdowntimer&gt;True&lt;/countdowntimer&gt;&lt;countdowntime&gt;25&lt;/countdowntime&gt;&lt;correctvalue&gt;1&lt;/correctvalue&gt;&lt;incorrectvalue&gt;0&lt;/incorrectvalue&gt;&lt;responselimit&gt;1&lt;/responselimit&gt;&lt;bulletstyle&gt;2&lt;/bulletstyle&gt;&lt;correctanswerindicator&gt;True&lt;/correctanswerindicator&gt;&lt;truefalse&gt;True&lt;/truefalse&gt;&lt;answers&gt;&lt;answer&gt;&lt;guid&gt;7D9E36D4B6A14622B53C1DCE4C4062E7&lt;/guid&gt;&lt;answertext&gt;True&lt;/answertext&gt;&lt;valuetype&gt;-1&lt;/valuetype&gt;&lt;/answer&gt;&lt;answer&gt;&lt;guid&gt;CAB9AD236C754F609E97247794E6DAD0&lt;/guid&gt;&lt;answertext&gt;False&lt;/answertext&gt;&lt;valuetype&gt;1&lt;/valuetype&gt;&lt;/answer&gt;&lt;/answers&gt;&lt;/multichoice&gt;&lt;/questions&gt;&lt;/questionlist&gt;"/>
  <p:tag name="LIVECHARTING" val="False"/>
  <p:tag name="CHARTTYPE" val="0"/>
  <p:tag name="CHARTDEFINEDCOLORS" val="3,6,10,45,32,50,13,4,9,55,1"/>
</p:tagLst>
</file>

<file path=ppt/tags/tag6.xml><?xml version="1.0" encoding="utf-8"?>
<p:tagLst xmlns:a="http://schemas.openxmlformats.org/drawingml/2006/main" xmlns:r="http://schemas.openxmlformats.org/officeDocument/2006/relationships" xmlns:p="http://schemas.openxmlformats.org/presentationml/2006/main">
  <p:tag name="ZEROBASED" val="False"/>
</p:tagLst>
</file>

<file path=ppt/tags/tag7.xml><?xml version="1.0" encoding="utf-8"?>
<p:tagLst xmlns:a="http://schemas.openxmlformats.org/drawingml/2006/main" xmlns:r="http://schemas.openxmlformats.org/officeDocument/2006/relationships" xmlns:p="http://schemas.openxmlformats.org/presentationml/2006/main">
  <p:tag name="ISCAI" val="True"/>
  <p:tag name="TYPE" val="3"/>
</p:tagLst>
</file>

<file path=ppt/tags/tag8.xml><?xml version="1.0" encoding="utf-8"?>
<p:tagLst xmlns:a="http://schemas.openxmlformats.org/drawingml/2006/main" xmlns:r="http://schemas.openxmlformats.org/officeDocument/2006/relationships" xmlns:p="http://schemas.openxmlformats.org/presentationml/2006/main">
  <p:tag name="TYPE" val="0"/>
</p:tagLst>
</file>

<file path=ppt/tags/tag9.xml><?xml version="1.0" encoding="utf-8"?>
<p:tagLst xmlns:a="http://schemas.openxmlformats.org/drawingml/2006/main" xmlns:r="http://schemas.openxmlformats.org/officeDocument/2006/relationships" xmlns:p="http://schemas.openxmlformats.org/presentationml/2006/main">
  <p:tag name="TPCOUNTDOWNSECONDS" val="25"/>
  <p:tag name="TYPE" val="0"/>
</p:tagLst>
</file>

<file path=ppt/tags/tag10.xml><?xml version="1.0" encoding="utf-8"?>
<p:tagLst xmlns:a="http://schemas.openxmlformats.org/drawingml/2006/main" xmlns:r="http://schemas.openxmlformats.org/officeDocument/2006/relationships" xmlns:p="http://schemas.openxmlformats.org/presentationml/2006/main">
  <p:tag name="TYPE" val="0"/>
  <p:tag name="DEFINEDCOLORS" val="3,6,10,45,32,50,13,4,9,55,1"/>
  <p:tag name="COLORTYPE" val="SCHEME"/>
  <p:tag name="NUMBERFORMAT" val="0"/>
  <p:tag name="LABELFORMAT" val="0"/>
</p:tagLst>
</file>

<file path=ppt/tags/tag11.xml><?xml version="1.0" encoding="utf-8"?>
<p:tagLst xmlns:a="http://schemas.openxmlformats.org/drawingml/2006/main" xmlns:r="http://schemas.openxmlformats.org/officeDocument/2006/relationships" xmlns:p="http://schemas.openxmlformats.org/presentationml/2006/main">
  <p:tag name="SLIDEGUID" val="597D24BFB1DB4A40A3201AFA587CB534"/>
  <p:tag name="AUTOOPENPOLL" val="False"/>
  <p:tag name="TYPE" val="MultiChoiceSlide"/>
  <p:tag name="TPSLIDEBULLETSTYLE" val="2"/>
  <p:tag name="HASRESULTS" val="True"/>
  <p:tag name="RESULTS" val="6 Versus 5 Gates – Why Care?[;crlf;]31[;]38[;]31[;]False[;]31[;][;crlf;]4.2581[;]4[;]1.1905[;]1.4173[;crlf;]0[;]-1[;]To help build a better ISA1[;]To help build a better ISA[;][;crlf;]2[;]1[;]To conserve space on the die2[;]To conserve space on the die[;][;crlf;]8[;]1[;]To minimize on heat and current3[;]To minimize on heat and current[;][;crlf;]6[;]1[;]To minimize the propagation delay4[;]To minimize the propagation delay[;][;crlf;]10[;]1[;]To maximize on clock speed5[;]To maximize on clock speed[;][;crlf;]5[;]1[;]To save on die cost6[;]To save on die cost[;][;crlf;]0[;]1[;]To save on time to market7[;]To save on time to market[;][;crlf;]"/>
  <p:tag name="TPQUESTIONXML" val="&lt;?xml version=&quot;1.0&quot; encoding=&quot;UTF-8&quot; standalone=&quot;yes&quot;?&gt;&lt;questionlist&gt;&lt;properties&gt;&lt;guid&gt;E5EF459BC6374D50A067968C030E509D&lt;/guid&gt;&lt;date&gt;10/5/2014 01:29:16 PM&lt;/date&gt;&lt;/properties&gt;&lt;questionlisttemplate&gt;&lt;correctvalue&gt;1&lt;/correctvalue&gt;&lt;incorrectvalue&gt;0&lt;/incorrectvalue&gt;&lt;numberofquestions&gt;1&lt;/numberofquestions&gt;&lt;questiontype&gt;1&lt;/questiontype&gt;&lt;numberofchoices&gt;4&lt;/numberofchoices&gt;&lt;bulletstyle&gt;2&lt;/bulletstyle&gt;&lt;questionfont&gt;Verdana&lt;/questionfont&gt;&lt;questionfontsize&gt;12&lt;/questionfontsize&gt;&lt;answerfont&gt;Verdana&lt;/answerfont&gt;&lt;answerfontsize&gt;12&lt;/answerfontsize&gt;&lt;showresults&gt;True&lt;/showresults&gt;&lt;countdowntime&gt;30&lt;/countdowntime&gt;&lt;responsegrid&gt;0&lt;/responsegrid&gt;&lt;/questionlisttemplate&gt;&lt;questions&gt;&lt;multichoice&gt;&lt;guid&gt;597D24BFB1DB4A40A3201AFA587CB534&lt;/guid&gt;&lt;repollguid&gt;A0821E20706A4CB09DB5C48772AD621F&lt;/repollguid&gt;&lt;sourceid&gt;A6D7E16833BF4573BA1A6CDE9B24204B&lt;/sourceid&gt;&lt;questiontext&gt;6 Versus 5 Gates – Why Care?&lt;/questiontext&gt;&lt;showresults&gt;True&lt;/showresults&gt;&lt;responsegrid&gt;0&lt;/responsegrid&gt;&lt;countdowntime&gt;30&lt;/countdowntime&gt;&lt;correctvalue&gt;1&lt;/correctvalue&gt;&lt;incorrectvalue&gt;0&lt;/incorrectvalue&gt;&lt;responselimit&gt;1&lt;/responselimit&gt;&lt;bulletstyle&gt;2&lt;/bulletstyle&gt;&lt;correctanswerindicator&gt;True&lt;/correctanswerindicator&gt;&lt;answers&gt;&lt;answer&gt;&lt;guid&gt;10F6ACB8455A4A369FAEF820CB1AD6ED&lt;/guid&gt;&lt;answertext&gt;To help build a better ISA&lt;/answertext&gt;&lt;valuetype&gt;-1&lt;/valuetype&gt;&lt;/answer&gt;&lt;answer&gt;&lt;guid&gt;6C074213AC794CBDACC6ABAF7F029FCB&lt;/guid&gt;&lt;answertext&gt;To conserve space on the die&lt;/answertext&gt;&lt;valuetype&gt;1&lt;/valuetype&gt;&lt;/answer&gt;&lt;answer&gt;&lt;guid&gt;FD1D727AC1194FC9BAEDC44130E48718&lt;/guid&gt;&lt;answertext&gt;To minimize on heat and current&lt;/answertext&gt;&lt;valuetype&gt;1&lt;/valuetype&gt;&lt;/answer&gt;&lt;answer&gt;&lt;guid&gt;A8B5CEE2DDBF41D899CFD625BB49161D&lt;/guid&gt;&lt;answertext&gt;To minimize the propagation delay&lt;/answertext&gt;&lt;valuetype&gt;1&lt;/valuetype&gt;&lt;/answer&gt;&lt;answer&gt;&lt;guid&gt;CD04590BDE9B49D0BA680A4E42B1D8B3&lt;/guid&gt;&lt;answertext&gt;To maximize on clock speed&lt;/answertext&gt;&lt;valuetype&gt;1&lt;/valuetype&gt;&lt;/answer&gt;&lt;answer&gt;&lt;guid&gt;55B5E5DA3A6F43BD870B3A1E3141351D&lt;/guid&gt;&lt;answertext&gt;To save on die cost&lt;/answertext&gt;&lt;valuetype&gt;1&lt;/valuetype&gt;&lt;/answer&gt;&lt;answer&gt;&lt;guid&gt;B06FABD6F6514DF4B2F638DDEAABB4D9&lt;/guid&gt;&lt;answertext&gt;To save on time to market&lt;/answertext&gt;&lt;valuetype&gt;1&lt;/valuetype&gt;&lt;/answer&gt;&lt;/answers&gt;&lt;/multichoice&gt;&lt;/questions&gt;&lt;/questionlist&gt;"/>
  <p:tag name="LIVECHARTING" val="False"/>
  <p:tag name="CHARTTYPE" val="0"/>
  <p:tag name="CHARTDEFINEDCOLORS" val="3,6,10,45,32,50,13,4,9,55,1"/>
</p:tagLst>
</file>

<file path=ppt/tags/tag12.xml><?xml version="1.0" encoding="utf-8"?>
<p:tagLst xmlns:a="http://schemas.openxmlformats.org/drawingml/2006/main" xmlns:r="http://schemas.openxmlformats.org/officeDocument/2006/relationships" xmlns:p="http://schemas.openxmlformats.org/presentationml/2006/main">
  <p:tag name="ZEROBASED" val="False"/>
</p:tagLst>
</file>

<file path=ppt/tags/tag13.xml><?xml version="1.0" encoding="utf-8"?>
<p:tagLst xmlns:a="http://schemas.openxmlformats.org/drawingml/2006/main" xmlns:r="http://schemas.openxmlformats.org/officeDocument/2006/relationships" xmlns:p="http://schemas.openxmlformats.org/presentationml/2006/main">
  <p:tag name="TYPE" val="0"/>
  <p:tag name="DEFINEDCOLORS" val="3,6,10,45,32,50,13,4,9,55,1"/>
  <p:tag name="COLORTYPE" val="SCHEME"/>
  <p:tag name="NUMBERFORMAT" val="0"/>
  <p:tag name="LABELFORMAT" val="0"/>
</p:tagLst>
</file>

<file path=ppt/tags/tag14.xml><?xml version="1.0" encoding="utf-8"?>
<p:tagLst xmlns:a="http://schemas.openxmlformats.org/drawingml/2006/main" xmlns:r="http://schemas.openxmlformats.org/officeDocument/2006/relationships" xmlns:p="http://schemas.openxmlformats.org/presentationml/2006/main">
  <p:tag name="ISCAI" val="True"/>
  <p:tag name="TYPE" val="1"/>
</p:tagLst>
</file>

<file path=ppt/tags/tag15.xml><?xml version="1.0" encoding="utf-8"?>
<p:tagLst xmlns:a="http://schemas.openxmlformats.org/drawingml/2006/main" xmlns:r="http://schemas.openxmlformats.org/officeDocument/2006/relationships" xmlns:p="http://schemas.openxmlformats.org/presentationml/2006/main">
  <p:tag name="ISCAI" val="True"/>
  <p:tag name="TYPE" val="1"/>
</p:tagLst>
</file>

<file path=ppt/tags/tag16.xml><?xml version="1.0" encoding="utf-8"?>
<p:tagLst xmlns:a="http://schemas.openxmlformats.org/drawingml/2006/main" xmlns:r="http://schemas.openxmlformats.org/officeDocument/2006/relationships" xmlns:p="http://schemas.openxmlformats.org/presentationml/2006/main">
  <p:tag name="ISCAI" val="True"/>
  <p:tag name="TYPE" val="1"/>
</p:tagLst>
</file>

<file path=ppt/tags/tag17.xml><?xml version="1.0" encoding="utf-8"?>
<p:tagLst xmlns:a="http://schemas.openxmlformats.org/drawingml/2006/main" xmlns:r="http://schemas.openxmlformats.org/officeDocument/2006/relationships" xmlns:p="http://schemas.openxmlformats.org/presentationml/2006/main">
  <p:tag name="ISCAI" val="True"/>
  <p:tag name="TYPE" val="1"/>
</p:tagLst>
</file>

<file path=ppt/tags/tag18.xml><?xml version="1.0" encoding="utf-8"?>
<p:tagLst xmlns:a="http://schemas.openxmlformats.org/drawingml/2006/main" xmlns:r="http://schemas.openxmlformats.org/officeDocument/2006/relationships" xmlns:p="http://schemas.openxmlformats.org/presentationml/2006/main">
  <p:tag name="ISCAI" val="True"/>
  <p:tag name="TYPE" val="1"/>
</p:tagLst>
</file>

<file path=ppt/tags/tag19.xml><?xml version="1.0" encoding="utf-8"?>
<p:tagLst xmlns:a="http://schemas.openxmlformats.org/drawingml/2006/main" xmlns:r="http://schemas.openxmlformats.org/officeDocument/2006/relationships" xmlns:p="http://schemas.openxmlformats.org/presentationml/2006/main">
  <p:tag name="ISCAI" val="True"/>
  <p:tag name="TYPE" val="1"/>
</p:tagLst>
</file>

<file path=ppt/tags/tag20.xml><?xml version="1.0" encoding="utf-8"?>
<p:tagLst xmlns:a="http://schemas.openxmlformats.org/drawingml/2006/main" xmlns:r="http://schemas.openxmlformats.org/officeDocument/2006/relationships" xmlns:p="http://schemas.openxmlformats.org/presentationml/2006/main">
  <p:tag name="SLIDEGUID" val="367A4D2D79704E9F94BB317478105E39"/>
  <p:tag name="AUTOOPENPOLL" val="False"/>
  <p:tag name="TYPE" val="MultiChoiceSlide"/>
  <p:tag name="TPSLIDEBULLETSTYLE" val="2"/>
  <p:tag name="HASRESULTS" val="True"/>
  <p:tag name="RESULTS" val="What Does the XNOR Implement?[;crlf;]31[;]39[;]31[;]False[;]0[;][;crlf;]3.4194[;]4[;]1.2121[;]1.4693[;crlf;]5[;]0[;]An Adder1[;]An Adder[;][;crlf;]0[;]0[;]A Ripple Counter2[;]A Ripple Counter[;][;crlf;]7[;]0[;]A Multiplexor/Switch3[;]A Multiplexor/Switch[;][;crlf;]15[;]0[;]A Comparator4[;]A Comparator[;][;crlf;]4[;]0[;]An Encoder5[;]An Encoder[;][;crlf;]"/>
  <p:tag name="TPQUESTIONXML" val="&lt;?xml version=&quot;1.0&quot; encoding=&quot;UTF-8&quot; standalone=&quot;yes&quot;?&gt;&lt;questionlist&gt;&lt;properties&gt;&lt;guid&gt;9C9B317D41B04B3C9CB42252D5C36D78&lt;/guid&gt;&lt;date&gt;10/5/2014 01:29:16 PM&lt;/date&gt;&lt;/properties&gt;&lt;questionlisttemplate&gt;&lt;correctvalue&gt;1&lt;/correctvalue&gt;&lt;incorrectvalue&gt;0&lt;/incorrectvalue&gt;&lt;numberofquestions&gt;1&lt;/numberofquestions&gt;&lt;questiontype&gt;1&lt;/questiontype&gt;&lt;numberofchoices&gt;4&lt;/numberofchoices&gt;&lt;bulletstyle&gt;2&lt;/bulletstyle&gt;&lt;questionfont&gt;Verdana&lt;/questionfont&gt;&lt;questionfontsize&gt;12&lt;/questionfontsize&gt;&lt;answerfont&gt;Verdana&lt;/answerfont&gt;&lt;answerfontsize&gt;12&lt;/answerfontsize&gt;&lt;showresults&gt;True&lt;/showresults&gt;&lt;countdowntime&gt;30&lt;/countdowntime&gt;&lt;responsegrid&gt;0&lt;/responsegrid&gt;&lt;/questionlisttemplate&gt;&lt;questions&gt;&lt;multichoice&gt;&lt;guid&gt;367A4D2D79704E9F94BB317478105E39&lt;/guid&gt;&lt;repollguid&gt;E74667538A834619A32F1E3929423783&lt;/repollguid&gt;&lt;sourceid&gt;77FD27FC100B41F3BFBC62F4C05FF38E&lt;/sourceid&gt;&lt;questiontext&gt;What Does the XNOR Implement?&lt;/questiontext&gt;&lt;showresults&gt;True&lt;/showresults&gt;&lt;responsegrid&gt;0&lt;/responsegrid&gt;&lt;countdowntime&gt;30&lt;/countdowntime&gt;&lt;correctvalue&gt;1&lt;/correctvalue&gt;&lt;incorrectvalue&gt;0&lt;/incorrectvalue&gt;&lt;responselimit&gt;1&lt;/responselimit&gt;&lt;bulletstyle&gt;2&lt;/bulletstyle&gt;&lt;answers&gt;&lt;answer&gt;&lt;guid&gt;8DC490DD651044869CDECD3FBCBAC313&lt;/guid&gt;&lt;answertext&gt;An Adder&lt;/answertext&gt;&lt;valuetype&gt;0&lt;/valuetype&gt;&lt;/answer&gt;&lt;answer&gt;&lt;guid&gt;E0FE7B25E47043B28486CF79CB6CFE60&lt;/guid&gt;&lt;answertext&gt;A Ripple Counter&lt;/answertext&gt;&lt;valuetype&gt;0&lt;/valuetype&gt;&lt;/answer&gt;&lt;answer&gt;&lt;guid&gt;BCF96B6D3C4E43668C6B5E77B9C9262E&lt;/guid&gt;&lt;answertext&gt;A Multiplexor/Switch&lt;/answertext&gt;&lt;valuetype&gt;0&lt;/valuetype&gt;&lt;/answer&gt;&lt;answer&gt;&lt;guid&gt;56CAF110E80A466A92057940657984F7&lt;/guid&gt;&lt;answertext&gt;A Comparator&lt;/answertext&gt;&lt;valuetype&gt;0&lt;/valuetype&gt;&lt;/answer&gt;&lt;answer&gt;&lt;guid&gt;4A3DA8810F8F4F24AA1DC181E28F3C57&lt;/guid&gt;&lt;answertext&gt;An Encoder&lt;/answertext&gt;&lt;valuetype&gt;0&lt;/valuetype&gt;&lt;/answer&gt;&lt;/answers&gt;&lt;/multichoice&gt;&lt;/questions&gt;&lt;/questionlist&gt;"/>
  <p:tag name="LIVECHARTING" val="False"/>
  <p:tag name="CHARTTYPE" val="0"/>
  <p:tag name="CHARTDEFINEDCOLORS" val="3,6,10,45,32,50,13,4,9,55,1"/>
</p:tagLst>
</file>

<file path=ppt/tags/tag21.xml><?xml version="1.0" encoding="utf-8"?>
<p:tagLst xmlns:a="http://schemas.openxmlformats.org/drawingml/2006/main" xmlns:r="http://schemas.openxmlformats.org/officeDocument/2006/relationships" xmlns:p="http://schemas.openxmlformats.org/presentationml/2006/main">
  <p:tag name="ZEROBASED" val="False"/>
</p:tagLst>
</file>

<file path=ppt/tags/tag22.xml><?xml version="1.0" encoding="utf-8"?>
<p:tagLst xmlns:a="http://schemas.openxmlformats.org/drawingml/2006/main" xmlns:r="http://schemas.openxmlformats.org/officeDocument/2006/relationships" xmlns:p="http://schemas.openxmlformats.org/presentationml/2006/main">
  <p:tag name="TYPE" val="0"/>
  <p:tag name="DEFINEDCOLORS" val="3,6,10,45,32,50,13,4,9,55,1"/>
  <p:tag name="COLORTYPE" val="SCHEME"/>
  <p:tag name="NUMBERFORMAT" val="0"/>
  <p:tag name="LABELFORMAT" val="0"/>
</p:tagLst>
</file>

<file path=ppt/tags/tag23.xml><?xml version="1.0" encoding="utf-8"?>
<p:tagLst xmlns:a="http://schemas.openxmlformats.org/drawingml/2006/main" xmlns:r="http://schemas.openxmlformats.org/officeDocument/2006/relationships" xmlns:p="http://schemas.openxmlformats.org/presentationml/2006/main">
  <p:tag name="NOPREFERENCE" val="Fals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Adjacency.thmx</Template>
  <TotalTime>21170</TotalTime>
  <Words>9673</Words>
  <Application>Microsoft Macintosh PowerPoint</Application>
  <PresentationFormat>On-screen Show (4:3)</PresentationFormat>
  <Paragraphs>2637</Paragraphs>
  <Slides>107</Slides>
  <Notes>45</Notes>
  <HiddenSlides>1</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107</vt:i4>
      </vt:variant>
    </vt:vector>
  </HeadingPairs>
  <TitlesOfParts>
    <vt:vector size="109" baseType="lpstr">
      <vt:lpstr>Adjacency</vt:lpstr>
      <vt:lpstr>Document</vt:lpstr>
      <vt:lpstr>Combinational Logic  “On Combining Atomic Gates”</vt:lpstr>
      <vt:lpstr>More Fun Quotes &amp; Reading With Nash</vt:lpstr>
      <vt:lpstr>Memorize &amp; Practice &amp; Master</vt:lpstr>
      <vt:lpstr>The Multi-Layer Cake *Because Stacks are so Last _____   (in First Out)</vt:lpstr>
      <vt:lpstr>Goal is Level 0: Atomic Gates AND, OR, NOT</vt:lpstr>
      <vt:lpstr>Build Up to NAND, NOR</vt:lpstr>
      <vt:lpstr>Build Further (All) With Universal Gates</vt:lpstr>
      <vt:lpstr>Integrated Circuits</vt:lpstr>
      <vt:lpstr>NAND Gate  using  CMOS (lower level)</vt:lpstr>
      <vt:lpstr>NAND gate (higher level)</vt:lpstr>
      <vt:lpstr>Ramping up to Circuit Design –  Mario Kart</vt:lpstr>
      <vt:lpstr>On Designing Circuits for the Common Case</vt:lpstr>
      <vt:lpstr>Circuit Design “How To” Summary</vt:lpstr>
      <vt:lpstr>On Design: From One Gate to the Cloud</vt:lpstr>
      <vt:lpstr>From One Basic Switching Element</vt:lpstr>
      <vt:lpstr>Building  in Modular Layers</vt:lpstr>
      <vt:lpstr>Focusing on the Lower Layers</vt:lpstr>
      <vt:lpstr>Building Upon Layers</vt:lpstr>
      <vt:lpstr>Each Layer is Purposefully Controlled “Hardwired”                V.S. “Programmed”   Powerful Speed       V.S.   Powerful Flexibility</vt:lpstr>
      <vt:lpstr>Devilish Details: Using Positive Logic…</vt:lpstr>
      <vt:lpstr>Devil in the Details: Using Negative Logic…</vt:lpstr>
      <vt:lpstr>PowerPoint Presentation</vt:lpstr>
      <vt:lpstr>A Positive Logic AND == Negative Logic OR</vt:lpstr>
      <vt:lpstr>PowerPoint Presentation</vt:lpstr>
      <vt:lpstr>PowerPoint Presentation</vt:lpstr>
      <vt:lpstr>PowerPoint Presentation</vt:lpstr>
      <vt:lpstr>Setup Complete! Ready for Level 0?</vt:lpstr>
      <vt:lpstr>Gates     (the Alpha Level)</vt:lpstr>
      <vt:lpstr>Atomic Gates (3) </vt:lpstr>
      <vt:lpstr>Atomic Gates (4?)</vt:lpstr>
      <vt:lpstr>Starting with AND, OR, NOT</vt:lpstr>
      <vt:lpstr>Logisim Exercise 0:  Build Up to NAND, NOR</vt:lpstr>
      <vt:lpstr>“Universal” Gates (2)</vt:lpstr>
      <vt:lpstr>Exercise: Build Up to NOT With NAND, NOR</vt:lpstr>
      <vt:lpstr>Logic Gates (Memorized)</vt:lpstr>
      <vt:lpstr>Proof of DeMorgans, XOR Defined, Negated, etc.</vt:lpstr>
      <vt:lpstr>PowerPoint Presentation</vt:lpstr>
      <vt:lpstr>Level Up on The Multi-Layer Cake</vt:lpstr>
      <vt:lpstr>On Building Compound Circuits</vt:lpstr>
      <vt:lpstr>Logically Equivalent Views</vt:lpstr>
      <vt:lpstr>XOR Gate</vt:lpstr>
      <vt:lpstr>To Start, We Need A,~A, B, ~B</vt:lpstr>
      <vt:lpstr>Q: Build A*~B, Then ~A*B</vt:lpstr>
      <vt:lpstr>Circuits Boolean Equations  Truth Tables</vt:lpstr>
      <vt:lpstr>XNOR Gate</vt:lpstr>
      <vt:lpstr>V1: Add a NOT to Produce XNOR (6 Gates)</vt:lpstr>
      <vt:lpstr>(Never too early to discuss performance (# gates affects cost, power consumption, size on die (==speed)) Q: This XNOR is in Reduced Form?</vt:lpstr>
      <vt:lpstr>Build XNOR With Only These Gates</vt:lpstr>
      <vt:lpstr>Reduced XNOR With 5 Gates</vt:lpstr>
      <vt:lpstr>Alternate XNOR Implementation in Just 4 Gates!</vt:lpstr>
      <vt:lpstr>6 VS 5 VS 4 Gates – Why Care?</vt:lpstr>
      <vt:lpstr>6 VS 5 VS 4 Gates – Who Cares?</vt:lpstr>
      <vt:lpstr>Final Approach Uses 3 Gates* (*Note the use of compound gates)</vt:lpstr>
      <vt:lpstr>What Does the XNOR Implement?</vt:lpstr>
      <vt:lpstr>Multi-bit  XNOR Gate</vt:lpstr>
      <vt:lpstr>From Gates to Combinational Circuits:  The Comparator (4b)  (A.K.A “equals”)</vt:lpstr>
      <vt:lpstr>Combinational Circuits are Gates: “Equals” is The Comparator is …</vt:lpstr>
      <vt:lpstr>Building Combinational Circuits</vt:lpstr>
      <vt:lpstr>Combinational Circuits:  Clear/Reset Line</vt:lpstr>
      <vt:lpstr>Combinational Circuits:  Complement With Control Line</vt:lpstr>
      <vt:lpstr>More Combinational Circuits:  Swap with XOR</vt:lpstr>
      <vt:lpstr>Combinational Circuits: Half-Adder (is XOR)</vt:lpstr>
      <vt:lpstr>Combinations of Circuits: Full-Adder (is 2 Half-Adders)</vt:lpstr>
      <vt:lpstr>Combinational Circuit: 1-bit ALU</vt:lpstr>
      <vt:lpstr>Hardware Interrupt!</vt:lpstr>
      <vt:lpstr>Part 2 – More Advanced Combinations of Gates</vt:lpstr>
      <vt:lpstr>Combinational Circuits: Ripple Carry Adders (8-bit)</vt:lpstr>
      <vt:lpstr>Combinational Circuits: Decoder</vt:lpstr>
      <vt:lpstr>Combinational Circuits: Decoder</vt:lpstr>
      <vt:lpstr>Designing a 3 x 8 Line Decoder</vt:lpstr>
      <vt:lpstr>PowerPoint Presentation</vt:lpstr>
      <vt:lpstr>Designing a 3 x 8 Line Decoder</vt:lpstr>
      <vt:lpstr>Designing a 3 x 8 Line Decoder</vt:lpstr>
      <vt:lpstr>Designing a 3 x 8 Line Decoder</vt:lpstr>
      <vt:lpstr>Designing a 3 x 8 Line Decoder</vt:lpstr>
      <vt:lpstr>Designing a 3 x 8 Line Decoder</vt:lpstr>
      <vt:lpstr>More Gate Combinations: Encoders</vt:lpstr>
      <vt:lpstr>8x3 Encoder</vt:lpstr>
      <vt:lpstr>Read-Only Memory (ROM)</vt:lpstr>
      <vt:lpstr>Memory as a Logical Component (v.s. Internal Gate Logic to Build a Memory Cell (coming soon!))</vt:lpstr>
      <vt:lpstr>Truth Table for an Arbitrary ROM</vt:lpstr>
      <vt:lpstr>Foreshadowing: Embed the Truth Table for ANY Circuit in a ROM</vt:lpstr>
      <vt:lpstr>Another Circuit: Majority Function</vt:lpstr>
      <vt:lpstr>Simple Multiplexer (MUX) (Gate-Level &amp; Tri-State)</vt:lpstr>
      <vt:lpstr>Combinational Circuits: Multiplexors/Demultiplexors </vt:lpstr>
      <vt:lpstr>Combinational Circuits: Multiplexors/Demultiplexors </vt:lpstr>
      <vt:lpstr>Multiplexers &amp; Uses</vt:lpstr>
      <vt:lpstr>Parallel-to-Serial-to-Parallel I/O</vt:lpstr>
      <vt:lpstr>S and P Technologies</vt:lpstr>
      <vt:lpstr>More Circuits: Parity Generators &amp; Checkers</vt:lpstr>
      <vt:lpstr>1-bit L or R Shifter</vt:lpstr>
      <vt:lpstr>Step Back: On Designing a Circuit</vt:lpstr>
      <vt:lpstr>Steps for Circuit Design (Summary)</vt:lpstr>
      <vt:lpstr>Example Circuit Design Problem</vt:lpstr>
      <vt:lpstr>Example #2: Coms System (More Design Practice)</vt:lpstr>
      <vt:lpstr>Building Arbitrary Combinations</vt:lpstr>
      <vt:lpstr>Building Arbitrary Circuits</vt:lpstr>
      <vt:lpstr>Building Arbitrary Circuits</vt:lpstr>
      <vt:lpstr>1-Bit ALU &amp; HW Circuit Review</vt:lpstr>
      <vt:lpstr>Combinational Circuit: 1-bit ALU</vt:lpstr>
      <vt:lpstr>Combining Circuits: N-Bit ALU</vt:lpstr>
      <vt:lpstr>First Attempt Using Black Boxes</vt:lpstr>
      <vt:lpstr>Drawing on the First Attempt (Cascading is Cut-and-Paste)</vt:lpstr>
      <vt:lpstr>PowerPoint Presentation</vt:lpstr>
      <vt:lpstr>PowerPoint Presentation</vt:lpstr>
      <vt:lpstr>On Scientific Notation</vt:lpstr>
      <vt:lpstr>END of Combinational Logic</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ArrayLists</dc:title>
  <dc:creator>ThinBlade</dc:creator>
  <cp:lastModifiedBy>Rob Nash</cp:lastModifiedBy>
  <cp:revision>1741</cp:revision>
  <dcterms:created xsi:type="dcterms:W3CDTF">2006-08-16T00:00:00Z</dcterms:created>
  <dcterms:modified xsi:type="dcterms:W3CDTF">2018-10-11T00:00:01Z</dcterms:modified>
</cp:coreProperties>
</file>