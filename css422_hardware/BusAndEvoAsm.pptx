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8" r:id="rId3"/>
  </p:sldMasterIdLst>
  <p:notesMasterIdLst>
    <p:notesMasterId r:id="rId63"/>
  </p:notesMasterIdLst>
  <p:sldIdLst>
    <p:sldId id="256" r:id="rId4"/>
    <p:sldId id="264" r:id="rId5"/>
    <p:sldId id="265" r:id="rId6"/>
    <p:sldId id="266" r:id="rId7"/>
    <p:sldId id="267" r:id="rId8"/>
    <p:sldId id="312" r:id="rId9"/>
    <p:sldId id="313" r:id="rId10"/>
    <p:sldId id="314" r:id="rId11"/>
    <p:sldId id="315" r:id="rId12"/>
    <p:sldId id="419" r:id="rId13"/>
    <p:sldId id="320" r:id="rId14"/>
    <p:sldId id="416" r:id="rId15"/>
    <p:sldId id="268" r:id="rId16"/>
    <p:sldId id="257" r:id="rId17"/>
    <p:sldId id="258" r:id="rId18"/>
    <p:sldId id="259" r:id="rId19"/>
    <p:sldId id="322" r:id="rId20"/>
    <p:sldId id="323" r:id="rId21"/>
    <p:sldId id="260" r:id="rId22"/>
    <p:sldId id="262" r:id="rId23"/>
    <p:sldId id="324" r:id="rId24"/>
    <p:sldId id="326" r:id="rId25"/>
    <p:sldId id="261" r:id="rId26"/>
    <p:sldId id="325" r:id="rId27"/>
    <p:sldId id="308" r:id="rId28"/>
    <p:sldId id="380" r:id="rId29"/>
    <p:sldId id="310" r:id="rId30"/>
    <p:sldId id="283" r:id="rId31"/>
    <p:sldId id="263" r:id="rId32"/>
    <p:sldId id="285" r:id="rId33"/>
    <p:sldId id="284" r:id="rId34"/>
    <p:sldId id="292" r:id="rId35"/>
    <p:sldId id="293" r:id="rId36"/>
    <p:sldId id="328" r:id="rId37"/>
    <p:sldId id="371" r:id="rId38"/>
    <p:sldId id="321" r:id="rId39"/>
    <p:sldId id="418" r:id="rId40"/>
    <p:sldId id="417" r:id="rId41"/>
    <p:sldId id="420" r:id="rId42"/>
    <p:sldId id="290" r:id="rId43"/>
    <p:sldId id="410" r:id="rId44"/>
    <p:sldId id="411" r:id="rId45"/>
    <p:sldId id="295" r:id="rId46"/>
    <p:sldId id="291" r:id="rId47"/>
    <p:sldId id="294" r:id="rId48"/>
    <p:sldId id="297" r:id="rId49"/>
    <p:sldId id="298" r:id="rId50"/>
    <p:sldId id="299" r:id="rId51"/>
    <p:sldId id="301" r:id="rId52"/>
    <p:sldId id="304" r:id="rId53"/>
    <p:sldId id="305" r:id="rId54"/>
    <p:sldId id="306" r:id="rId55"/>
    <p:sldId id="413" r:id="rId56"/>
    <p:sldId id="415" r:id="rId57"/>
    <p:sldId id="414" r:id="rId58"/>
    <p:sldId id="402" r:id="rId59"/>
    <p:sldId id="403" r:id="rId60"/>
    <p:sldId id="378" r:id="rId61"/>
    <p:sldId id="412" r:id="rId62"/>
  </p:sldIdLst>
  <p:sldSz cx="9144000" cy="6858000" type="screen4x3"/>
  <p:notesSz cx="6858000" cy="9144000"/>
  <p:custDataLst>
    <p:tags r:id="rId6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1536" autoAdjust="0"/>
  </p:normalViewPr>
  <p:slideViewPr>
    <p:cSldViewPr>
      <p:cViewPr varScale="1">
        <p:scale>
          <a:sx n="130" d="100"/>
          <a:sy n="130" d="100"/>
        </p:scale>
        <p:origin x="130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D6DFB-7A91-EB42-8AC1-17309E6B4EE3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FE985-65DD-FD4F-8B53-C268E1CFA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2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87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sources:  </a:t>
            </a:r>
            <a:r>
              <a:rPr lang="en-US" dirty="0" err="1"/>
              <a:t>Instructables.com</a:t>
            </a:r>
            <a:r>
              <a:rPr lang="en-US" dirty="0"/>
              <a:t>, </a:t>
            </a:r>
            <a:r>
              <a:rPr lang="en-US" dirty="0" err="1"/>
              <a:t>cpuville.com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35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616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you think you can handle a real computer?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8604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7616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TODO; Make double arrows single arrows, since they’re not IO paths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fld id="{CE936749-8AAF-4C47-BDC9-B078DB097A61}" type="slidenum">
              <a:rPr lang="ko-KR" altLang="en-US">
                <a:latin typeface="Arial" charset="0"/>
                <a:ea typeface="굴림" pitchFamily="34" charset="-127"/>
              </a:rPr>
              <a:pPr/>
              <a:t>21</a:t>
            </a:fld>
            <a:endParaRPr lang="en-US" altLang="ko-KR">
              <a:latin typeface="Arial" charset="0"/>
              <a:ea typeface="굴림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672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2^15</a:t>
            </a:r>
          </a:p>
          <a:p>
            <a:r>
              <a:rPr lang="en-US" dirty="0"/>
              <a:t>A: since both chips are in use to make a 16 bit bus, still 2^15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042E97-6315-47FA-9B79-DC516C7CD6C6}" type="slidenum">
              <a:rPr lang="ko-KR" altLang="en-US" smtClean="0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685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A:Just</a:t>
            </a:r>
            <a:r>
              <a:rPr lang="en-US" dirty="0"/>
              <a:t> a decoder with some D-FFs and control wires to turn</a:t>
            </a:r>
            <a:r>
              <a:rPr lang="en-US" baseline="0" dirty="0"/>
              <a:t> on and off certain chips</a:t>
            </a:r>
          </a:p>
          <a:p>
            <a:r>
              <a:rPr lang="en-US" baseline="0" dirty="0"/>
              <a:t>CS == chip select, R/W is read and write, or OE, WE,RD,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01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01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1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1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it seems that some actions will take longer than one clock cycle!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5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it seems that some actions will take longer than one clock cycle!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5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74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</a:t>
            </a:r>
            <a:r>
              <a:rPr lang="en-US" baseline="0" dirty="0"/>
              <a:t> perform an ADD, put 00 on F0, F1 and to use R0 as the source for A, you’d pick R0 by asserting low on A0 and A1</a:t>
            </a:r>
          </a:p>
          <a:p>
            <a:r>
              <a:rPr lang="en-US" baseline="0" dirty="0"/>
              <a:t>To pick another register for B, we’d have to ask the register file for, say R1 by asserting a 0 and a 1 on A0 &amp; A1 respectively</a:t>
            </a:r>
          </a:p>
          <a:p>
            <a:r>
              <a:rPr lang="en-US" baseline="0" dirty="0"/>
              <a:t>To store this in yet a third register, we have to access the register file again and pick a 3</a:t>
            </a:r>
            <a:r>
              <a:rPr lang="en-US" baseline="30000" dirty="0"/>
              <a:t>rd</a:t>
            </a:r>
            <a:r>
              <a:rPr lang="en-US" baseline="0" dirty="0"/>
              <a:t>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60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steps, in </a:t>
            </a:r>
            <a:r>
              <a:rPr lang="en-US"/>
              <a:t>any order?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60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usually LOAD</a:t>
            </a:r>
            <a:r>
              <a:rPr lang="en-US" baseline="0" dirty="0"/>
              <a:t> and STORE refer to RAM, a much slower memory</a:t>
            </a:r>
          </a:p>
          <a:p>
            <a:r>
              <a:rPr lang="en-US" baseline="0" dirty="0"/>
              <a:t>How to know when to use the data on the Register File bus for A, and later for B?  Implies order and synchronization.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60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(Note: usually LOAD and STORE refer to RAM, a much slower memory)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60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it seems that some actions will take longer than one clock cycle!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5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is responsible?</a:t>
            </a:r>
            <a:r>
              <a:rPr lang="en-US" baseline="0" dirty="0"/>
              <a:t> You might think the Address bus, but for register selection, it could be the control bus too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EFE985-65DD-FD4F-8B53-C268E1CFA33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40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058F51-B8D6-8C4C-83F1-EF97658D658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3BF1FE-70ED-435F-B57B-3C384343D5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8278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696200" y="6310313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0D00EACA-1E9A-4D1F-97F6-AEDAD376DFEF}" type="slidenum">
              <a:rPr lang="en-US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399"/>
            <a:ext cx="8077200" cy="5291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3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26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3912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173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8001000" y="6372225"/>
            <a:ext cx="990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fld id="{351F87A0-C66C-4870-8D9A-13075D5A14D0}" type="slidenum">
              <a:rPr lang="en-US">
                <a:solidFill>
                  <a:srgbClr val="000000"/>
                </a:solidFill>
              </a:rPr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968798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8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24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7597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D1D076-CA67-48F8-A97A-67FE69DFAFC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93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955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1341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6F282-E52C-4943-A788-76FAF2FD74F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5756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3BF1FE-70ED-435F-B57B-3C384343D5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023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696200" y="6310313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0D00EACA-1E9A-4D1F-97F6-AEDAD376DFEF}" type="slidenum">
              <a:rPr lang="en-US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399"/>
            <a:ext cx="8077200" cy="52911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24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6521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3496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1688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8001000" y="6372225"/>
            <a:ext cx="990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fld id="{351F87A0-C66C-4870-8D9A-13075D5A14D0}" type="slidenum">
              <a:rPr lang="en-US">
                <a:solidFill>
                  <a:srgbClr val="000000"/>
                </a:solidFill>
              </a:rPr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978982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0959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667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110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D1D076-CA67-48F8-A97A-67FE69DFAFC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07664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955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1341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6F282-E52C-4943-A788-76FAF2FD74F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163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/>
            </a:endParaRPr>
          </a:p>
        </p:txBody>
      </p: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pic>
        <p:nvPicPr>
          <p:cNvPr id="3076" name="Picture 8" descr="UW_W-Logo_RGB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553200"/>
            <a:ext cx="692150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7C075F-7474-4008-A026-08ECC3BEF552}" type="slidenum">
              <a:rPr lang="ko-KR" altLang="en-US" sz="1200">
                <a:latin typeface="Frutiger 55 Roman" charset="0"/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ko-KR" sz="1200">
              <a:latin typeface="Frutiger 55 Roman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16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9275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/>
            </a:endParaRPr>
          </a:p>
        </p:txBody>
      </p: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80975"/>
            <a:ext cx="576263" cy="457200"/>
          </a:xfrm>
          <a:prstGeom prst="rect">
            <a:avLst/>
          </a:prstGeom>
          <a:solidFill>
            <a:srgbClr val="39275B"/>
          </a:solidFill>
          <a:ln>
            <a:noFill/>
          </a:ln>
          <a:effectLst>
            <a:outerShdw dist="38100" dir="3600019" algn="br" rotWithShape="0">
              <a:srgbClr val="808080">
                <a:alpha val="14998"/>
              </a:srgbClr>
            </a:out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srgbClr val="FFFFFF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pic>
        <p:nvPicPr>
          <p:cNvPr id="3076" name="Picture 8" descr="UW_W-Logo_RGB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295275"/>
            <a:ext cx="338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" y="2286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6553200"/>
            <a:ext cx="692150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7C075F-7474-4008-A026-08ECC3BEF552}" type="slidenum">
              <a:rPr lang="ko-KR" altLang="en-US" sz="1200">
                <a:latin typeface="Frutiger 55 Roman" charset="0"/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ko-KR" sz="1200">
              <a:latin typeface="Frutiger 55 Roman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95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5pPr>
      <a:lvl6pPr marL="4572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6pPr>
      <a:lvl7pPr marL="9144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7pPr>
      <a:lvl8pPr marL="13716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8pPr>
      <a:lvl9pPr marL="1828800"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utiger 55 Roman" charset="0"/>
          <a:ea typeface="ＭＳ Ｐゴシック" pitchFamily="3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s.nyu.edu/~gottlieb/courses/2000s/2007-08-fall/arch/lectures/lecture-03.html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networking.ringofsaturn.com/PC/slottypes.php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Busses, Tri-State Logic, &amp;</a:t>
            </a:r>
            <a:br>
              <a:rPr lang="en-US" dirty="0"/>
            </a:br>
            <a:r>
              <a:rPr lang="en-US" dirty="0"/>
              <a:t>the Evolution </a:t>
            </a:r>
            <a:r>
              <a:rPr lang="en-US"/>
              <a:t>of Assembly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3752"/>
          </a:xfrm>
        </p:spPr>
        <p:txBody>
          <a:bodyPr/>
          <a:lstStyle/>
          <a:p>
            <a:r>
              <a:rPr lang="en-US" dirty="0"/>
              <a:t>Instructor: Rob Nash</a:t>
            </a:r>
          </a:p>
          <a:p>
            <a:r>
              <a:rPr lang="en-US" dirty="0"/>
              <a:t>Readings: See schedule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“Spaghetti code? Consider a fully connected graph and you can see the rats nest of wires that we would have.” </a:t>
            </a:r>
          </a:p>
          <a:p>
            <a:endParaRPr lang="en-US" dirty="0"/>
          </a:p>
          <a:p>
            <a:r>
              <a:rPr lang="en-US" dirty="0"/>
              <a:t>A bus: a group of like signals, related by some feature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</p:spPr>
        <p:txBody>
          <a:bodyPr/>
          <a:lstStyle/>
          <a:p>
            <a:r>
              <a:rPr lang="en-US" dirty="0"/>
              <a:t>First</a:t>
            </a:r>
            <a:r>
              <a:rPr lang="mr-IN" dirty="0"/>
              <a:t>…</a:t>
            </a:r>
            <a:br>
              <a:rPr lang="en-US" dirty="0"/>
            </a:br>
            <a:r>
              <a:rPr lang="en-US" dirty="0"/>
              <a:t>A Review of Building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525963"/>
          </a:xfrm>
        </p:spPr>
        <p:txBody>
          <a:bodyPr/>
          <a:lstStyle/>
          <a:p>
            <a:r>
              <a:rPr lang="en-US" dirty="0"/>
              <a:t>We use </a:t>
            </a:r>
            <a:r>
              <a:rPr lang="en-US" b="1" dirty="0"/>
              <a:t>AND</a:t>
            </a:r>
            <a:r>
              <a:rPr lang="en-US" dirty="0"/>
              <a:t>, </a:t>
            </a:r>
            <a:r>
              <a:rPr lang="en-US" b="1" dirty="0"/>
              <a:t>OR</a:t>
            </a:r>
            <a:r>
              <a:rPr lang="en-US" dirty="0"/>
              <a:t>, and </a:t>
            </a:r>
            <a:r>
              <a:rPr lang="en-US" b="1" dirty="0"/>
              <a:t>NOT</a:t>
            </a:r>
            <a:r>
              <a:rPr lang="en-US" dirty="0"/>
              <a:t> gates to make everything</a:t>
            </a:r>
          </a:p>
          <a:p>
            <a:pPr lvl="1"/>
            <a:r>
              <a:rPr lang="en-US" dirty="0"/>
              <a:t>Specific gates like </a:t>
            </a:r>
            <a:r>
              <a:rPr lang="en-US" b="1" dirty="0"/>
              <a:t>NAND</a:t>
            </a:r>
            <a:r>
              <a:rPr lang="en-US" dirty="0"/>
              <a:t> and </a:t>
            </a:r>
            <a:r>
              <a:rPr lang="en-US" b="1" dirty="0"/>
              <a:t>NOR</a:t>
            </a:r>
            <a:r>
              <a:rPr lang="en-US" dirty="0"/>
              <a:t> are all you need</a:t>
            </a:r>
          </a:p>
          <a:p>
            <a:r>
              <a:rPr lang="en-US" dirty="0"/>
              <a:t>We can make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a simple and stateless circuit</a:t>
            </a:r>
          </a:p>
          <a:p>
            <a:pPr lvl="1"/>
            <a:r>
              <a:rPr lang="en-US" dirty="0"/>
              <a:t>Some things need no memory, like a sliding glass door at a store</a:t>
            </a:r>
          </a:p>
          <a:p>
            <a:pPr lvl="2"/>
            <a:r>
              <a:rPr lang="en-US" dirty="0"/>
              <a:t>Just input and an output based on this; “hardwired”</a:t>
            </a:r>
          </a:p>
          <a:p>
            <a:r>
              <a:rPr lang="en-US" dirty="0"/>
              <a:t>We can also make </a:t>
            </a:r>
            <a:r>
              <a:rPr lang="en-US" b="1" dirty="0">
                <a:solidFill>
                  <a:srgbClr val="FF6600"/>
                </a:solidFill>
              </a:rPr>
              <a:t>a circuit with memory</a:t>
            </a:r>
          </a:p>
          <a:p>
            <a:pPr lvl="1"/>
            <a:r>
              <a:rPr lang="en-US" dirty="0"/>
              <a:t>A.k.a. feedback loop</a:t>
            </a:r>
          </a:p>
          <a:p>
            <a:pPr lvl="1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334000" y="3048000"/>
            <a:ext cx="1295400" cy="304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2000"/>
                </a:schemeClr>
              </a:gs>
              <a:gs pos="35000">
                <a:schemeClr val="accent5">
                  <a:tint val="37000"/>
                  <a:satMod val="300000"/>
                  <a:alpha val="12000"/>
                </a:schemeClr>
              </a:gs>
              <a:gs pos="100000">
                <a:schemeClr val="accent5">
                  <a:tint val="15000"/>
                  <a:satMod val="350000"/>
                  <a:alpha val="1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5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620729"/>
            <a:ext cx="9525000" cy="903271"/>
          </a:xfrm>
        </p:spPr>
        <p:txBody>
          <a:bodyPr/>
          <a:lstStyle/>
          <a:p>
            <a:r>
              <a:rPr lang="en-US" dirty="0"/>
              <a:t>One Gate -&gt; Sets of Gates (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Combinatorial Circuits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AND, OR, NOT to NAND, NOR, XOR, XNOR</a:t>
            </a:r>
          </a:p>
          <a:p>
            <a:pPr lvl="1"/>
            <a:r>
              <a:rPr lang="en-US" dirty="0"/>
              <a:t>NAND, NOR  to build </a:t>
            </a:r>
            <a:r>
              <a:rPr lang="en-US" b="1" i="1" dirty="0">
                <a:solidFill>
                  <a:srgbClr val="FF6600"/>
                </a:solidFill>
              </a:rPr>
              <a:t>everything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/>
              <a:t>(all other circuits)</a:t>
            </a:r>
          </a:p>
          <a:p>
            <a:r>
              <a:rPr lang="en-US" b="1" dirty="0">
                <a:solidFill>
                  <a:srgbClr val="4A6717"/>
                </a:solidFill>
              </a:rPr>
              <a:t>Combinations of gates </a:t>
            </a:r>
            <a:r>
              <a:rPr lang="en-US" dirty="0"/>
              <a:t>produce</a:t>
            </a:r>
          </a:p>
          <a:p>
            <a:pPr lvl="1"/>
            <a:r>
              <a:rPr lang="en-US" b="1" dirty="0">
                <a:solidFill>
                  <a:srgbClr val="4A6717"/>
                </a:solidFill>
              </a:rPr>
              <a:t>Comparators</a:t>
            </a:r>
            <a:r>
              <a:rPr lang="en-US" dirty="0">
                <a:solidFill>
                  <a:srgbClr val="4A6717"/>
                </a:solidFill>
              </a:rPr>
              <a:t> </a:t>
            </a:r>
            <a:r>
              <a:rPr lang="en-US" dirty="0"/>
              <a:t>(equality)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4A6717"/>
                </a:solidFill>
              </a:rPr>
              <a:t>Decoder/Encoder</a:t>
            </a:r>
          </a:p>
          <a:p>
            <a:pPr lvl="2"/>
            <a:r>
              <a:rPr lang="en-US" dirty="0"/>
              <a:t>An operation or function chooser</a:t>
            </a:r>
          </a:p>
          <a:p>
            <a:pPr lvl="2"/>
            <a:r>
              <a:rPr lang="en-US" dirty="0"/>
              <a:t>A memory location picker</a:t>
            </a:r>
          </a:p>
          <a:p>
            <a:pPr lvl="2"/>
            <a:r>
              <a:rPr lang="en-US" dirty="0"/>
              <a:t>An enabler or disabler (say, of floating-point hardware)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4A6717"/>
                </a:solidFill>
              </a:rPr>
              <a:t>Mux/</a:t>
            </a:r>
            <a:r>
              <a:rPr lang="en-US" b="1" dirty="0" err="1">
                <a:solidFill>
                  <a:srgbClr val="4A6717"/>
                </a:solidFill>
              </a:rPr>
              <a:t>Demux</a:t>
            </a:r>
            <a:r>
              <a:rPr lang="en-US" b="1" dirty="0">
                <a:solidFill>
                  <a:srgbClr val="4A6717"/>
                </a:solidFill>
              </a:rPr>
              <a:t> </a:t>
            </a:r>
          </a:p>
          <a:p>
            <a:pPr lvl="2"/>
            <a:r>
              <a:rPr lang="en-US" dirty="0"/>
              <a:t>one Skype line sharing fam-2-fam</a:t>
            </a:r>
          </a:p>
          <a:p>
            <a:pPr lvl="1"/>
            <a:r>
              <a:rPr lang="en-US" b="1" dirty="0">
                <a:solidFill>
                  <a:srgbClr val="4A6717"/>
                </a:solidFill>
              </a:rPr>
              <a:t>Half-Adders</a:t>
            </a:r>
            <a:r>
              <a:rPr lang="en-US" dirty="0"/>
              <a:t>, </a:t>
            </a:r>
            <a:r>
              <a:rPr lang="en-US" b="1" dirty="0">
                <a:solidFill>
                  <a:srgbClr val="4A6717"/>
                </a:solidFill>
              </a:rPr>
              <a:t>Full-adders </a:t>
            </a:r>
            <a:r>
              <a:rPr lang="en-US" dirty="0"/>
              <a:t>(ripple carry adders, etc.)</a:t>
            </a:r>
          </a:p>
          <a:p>
            <a:r>
              <a:rPr lang="en-US" dirty="0"/>
              <a:t>Even more advanced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combinations of gates</a:t>
            </a:r>
          </a:p>
          <a:p>
            <a:pPr lvl="1"/>
            <a:r>
              <a:rPr lang="en-US" dirty="0"/>
              <a:t>1-bit </a:t>
            </a:r>
            <a:r>
              <a:rPr lang="en-US" b="1" dirty="0">
                <a:solidFill>
                  <a:srgbClr val="4A6717"/>
                </a:solidFill>
              </a:rPr>
              <a:t>ALU</a:t>
            </a:r>
            <a:r>
              <a:rPr lang="en-US" dirty="0"/>
              <a:t>, which combines an adder and logic units</a:t>
            </a:r>
          </a:p>
          <a:p>
            <a:pPr lvl="1"/>
            <a:r>
              <a:rPr lang="en-US" dirty="0"/>
              <a:t>N-bit </a:t>
            </a:r>
            <a:r>
              <a:rPr lang="en-US" b="1" dirty="0">
                <a:solidFill>
                  <a:srgbClr val="4A6717"/>
                </a:solidFill>
              </a:rPr>
              <a:t>ALU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9990" y="2895600"/>
            <a:ext cx="316441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From one to many, combined</a:t>
            </a:r>
          </a:p>
        </p:txBody>
      </p:sp>
    </p:spTree>
    <p:extLst>
      <p:ext uri="{BB962C8B-B14F-4D97-AF65-F5344CB8AC3E}">
        <p14:creationId xmlns:p14="http://schemas.microsoft.com/office/powerpoint/2010/main" val="219761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0"/>
            <a:ext cx="9957816" cy="1600200"/>
          </a:xfrm>
        </p:spPr>
        <p:txBody>
          <a:bodyPr/>
          <a:lstStyle/>
          <a:p>
            <a:r>
              <a:rPr lang="en-US" sz="5200" dirty="0"/>
              <a:t>Circuits-&gt; Feedback Circuits (</a:t>
            </a:r>
            <a:r>
              <a:rPr lang="en-US" sz="5200" dirty="0">
                <a:solidFill>
                  <a:srgbClr val="FF6600"/>
                </a:solidFill>
              </a:rPr>
              <a:t>Sequential Circuits</a:t>
            </a:r>
            <a:r>
              <a:rPr lang="en-US" sz="5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b="1" dirty="0">
                <a:solidFill>
                  <a:srgbClr val="FF6600"/>
                </a:solidFill>
              </a:rPr>
              <a:t>Gates that have feedback </a:t>
            </a:r>
            <a:r>
              <a:rPr lang="en-US" dirty="0"/>
              <a:t>can remember their state</a:t>
            </a:r>
          </a:p>
          <a:p>
            <a:pPr lvl="1"/>
            <a:r>
              <a:rPr lang="en-US" dirty="0"/>
              <a:t>This is memory</a:t>
            </a:r>
          </a:p>
          <a:p>
            <a:r>
              <a:rPr lang="en-US" dirty="0"/>
              <a:t>From a simple feedback loop, we can make</a:t>
            </a: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SR latches</a:t>
            </a:r>
            <a:r>
              <a:rPr lang="en-US" dirty="0"/>
              <a:t>, clocked</a:t>
            </a: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JK latches</a:t>
            </a:r>
            <a:r>
              <a:rPr lang="en-US" dirty="0"/>
              <a:t>, both synchronized and asynchronous</a:t>
            </a: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SR Master-Slave latches </a:t>
            </a:r>
            <a:r>
              <a:rPr lang="en-US" dirty="0"/>
              <a:t>to address race condition, level triggered</a:t>
            </a:r>
            <a:endParaRPr lang="en-US" b="1" dirty="0">
              <a:solidFill>
                <a:srgbClr val="FF6600"/>
              </a:solidFill>
            </a:endParaRP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JK flip-flops </a:t>
            </a:r>
            <a:r>
              <a:rPr lang="en-US" dirty="0"/>
              <a:t>that are edge-triggered using the inverter delay</a:t>
            </a:r>
            <a:endParaRPr lang="en-US" b="1" dirty="0">
              <a:solidFill>
                <a:srgbClr val="FF6600"/>
              </a:solidFill>
            </a:endParaRP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JK Master-Slave flip-flops </a:t>
            </a:r>
            <a:r>
              <a:rPr lang="en-US" dirty="0"/>
              <a:t>that solve the race condition</a:t>
            </a:r>
          </a:p>
          <a:p>
            <a:pPr lvl="1"/>
            <a:r>
              <a:rPr lang="en-US" b="1" dirty="0">
                <a:solidFill>
                  <a:srgbClr val="FF6600"/>
                </a:solidFill>
              </a:rPr>
              <a:t>D flip-flops </a:t>
            </a:r>
            <a:r>
              <a:rPr lang="en-US" dirty="0"/>
              <a:t>that unite the J and K inputs</a:t>
            </a:r>
          </a:p>
          <a:p>
            <a:pPr lvl="2"/>
            <a:r>
              <a:rPr lang="en-US" dirty="0"/>
              <a:t>Any of these except for the RC latches can be built to toggle</a:t>
            </a:r>
          </a:p>
        </p:txBody>
      </p:sp>
    </p:spTree>
    <p:extLst>
      <p:ext uri="{BB962C8B-B14F-4D97-AF65-F5344CB8AC3E}">
        <p14:creationId xmlns:p14="http://schemas.microsoft.com/office/powerpoint/2010/main" val="107797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-152400"/>
            <a:ext cx="9957816" cy="1600200"/>
          </a:xfrm>
        </p:spPr>
        <p:txBody>
          <a:bodyPr/>
          <a:lstStyle/>
          <a:p>
            <a:r>
              <a:rPr lang="en-US" sz="4800" dirty="0"/>
              <a:t>Feedback Circuits &amp; Organization</a:t>
            </a:r>
            <a:br>
              <a:rPr lang="en-US" sz="4800" dirty="0"/>
            </a:br>
            <a:r>
              <a:rPr lang="en-US" sz="4800" dirty="0"/>
              <a:t> -&gt; </a:t>
            </a:r>
            <a:r>
              <a:rPr lang="en-US" sz="4800" dirty="0">
                <a:solidFill>
                  <a:srgbClr val="FF6600"/>
                </a:solidFill>
              </a:rPr>
              <a:t>Sequential Logic </a:t>
            </a:r>
            <a:r>
              <a:rPr lang="en-US" sz="4800" dirty="0"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A.k.a. </a:t>
            </a:r>
            <a:r>
              <a:rPr lang="en-US" b="1" i="1" dirty="0">
                <a:solidFill>
                  <a:srgbClr val="0000FF"/>
                </a:solidFill>
              </a:rPr>
              <a:t>Pieces to build a Finite State Machine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Components to </a:t>
            </a:r>
            <a:r>
              <a:rPr lang="en-US" b="1" dirty="0">
                <a:solidFill>
                  <a:srgbClr val="FF6600"/>
                </a:solidFill>
              </a:rPr>
              <a:t>state-step </a:t>
            </a:r>
            <a:r>
              <a:rPr lang="en-US" dirty="0"/>
              <a:t>through </a:t>
            </a:r>
            <a:r>
              <a:rPr lang="en-US" b="1" dirty="0">
                <a:solidFill>
                  <a:srgbClr val="FF6600"/>
                </a:solidFill>
              </a:rPr>
              <a:t>computation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We’ll build these components together and black box them later (as usual)</a:t>
            </a:r>
          </a:p>
          <a:p>
            <a:r>
              <a:rPr lang="en-US" dirty="0"/>
              <a:t>From the </a:t>
            </a:r>
            <a:r>
              <a:rPr lang="en-US" b="1" dirty="0">
                <a:solidFill>
                  <a:srgbClr val="FF6600"/>
                </a:solidFill>
              </a:rPr>
              <a:t>D-style Flip-Flop</a:t>
            </a:r>
            <a:r>
              <a:rPr lang="en-US" dirty="0"/>
              <a:t>, we can build:</a:t>
            </a:r>
          </a:p>
          <a:p>
            <a:pPr lvl="1"/>
            <a:r>
              <a:rPr lang="en-US" dirty="0"/>
              <a:t>A1-bit </a:t>
            </a:r>
            <a:r>
              <a:rPr lang="en-US" b="1" dirty="0">
                <a:solidFill>
                  <a:srgbClr val="0000FF"/>
                </a:solidFill>
              </a:rPr>
              <a:t>storage register</a:t>
            </a:r>
          </a:p>
          <a:p>
            <a:pPr lvl="2"/>
            <a:r>
              <a:rPr lang="en-US" dirty="0"/>
              <a:t>An </a:t>
            </a:r>
            <a:r>
              <a:rPr lang="en-US" b="1" dirty="0">
                <a:solidFill>
                  <a:srgbClr val="0000FF"/>
                </a:solidFill>
              </a:rPr>
              <a:t>n-bit storage register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shift register</a:t>
            </a:r>
          </a:p>
          <a:p>
            <a:pPr lvl="2"/>
            <a:r>
              <a:rPr lang="en-US" dirty="0"/>
              <a:t>For serial to parallel data communications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ripple counter</a:t>
            </a:r>
          </a:p>
          <a:p>
            <a:pPr lvl="2"/>
            <a:r>
              <a:rPr lang="en-US" dirty="0"/>
              <a:t>Also a frequency-divide-by-two clock reducer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FIFO Queue </a:t>
            </a:r>
            <a:r>
              <a:rPr lang="en-US" dirty="0"/>
              <a:t>in parallel</a:t>
            </a:r>
          </a:p>
        </p:txBody>
      </p:sp>
    </p:spTree>
    <p:extLst>
      <p:ext uri="{BB962C8B-B14F-4D97-AF65-F5344CB8AC3E}">
        <p14:creationId xmlns:p14="http://schemas.microsoft.com/office/powerpoint/2010/main" val="329796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6" y="0"/>
            <a:ext cx="4552594" cy="685800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00600" cy="838200"/>
          </a:xfrm>
        </p:spPr>
        <p:txBody>
          <a:bodyPr/>
          <a:lstStyle/>
          <a:p>
            <a:r>
              <a:rPr lang="en-US" dirty="0"/>
              <a:t>Mux/</a:t>
            </a:r>
            <a:r>
              <a:rPr lang="en-US" dirty="0" err="1"/>
              <a:t>DeMux</a:t>
            </a:r>
            <a:r>
              <a:rPr lang="en-US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835" y="1028700"/>
            <a:ext cx="2631535" cy="403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1600200"/>
            <a:ext cx="2114605" cy="26877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410980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Sources: </a:t>
            </a:r>
            <a:r>
              <a:rPr lang="en-US" sz="800" dirty="0">
                <a:hlinkClick r:id="rId5"/>
              </a:rPr>
              <a:t>http://cs.nyu.edu/~gottlieb/courses/2000s/2007-08-fall/arch/lectures/lecture-03.html</a:t>
            </a:r>
            <a:endParaRPr lang="en-US" sz="800" dirty="0"/>
          </a:p>
          <a:p>
            <a:r>
              <a:rPr lang="en-US" sz="800" dirty="0"/>
              <a:t>http://</a:t>
            </a:r>
            <a:r>
              <a:rPr lang="en-US" sz="800" dirty="0" err="1"/>
              <a:t>en.wikipedia.org</a:t>
            </a:r>
            <a:r>
              <a:rPr lang="en-US" sz="800" dirty="0"/>
              <a:t>/wiki/Multiplexer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-58261" r="58261"/>
          <a:stretch/>
        </p:blipFill>
        <p:spPr>
          <a:xfrm>
            <a:off x="4591406" y="0"/>
            <a:ext cx="4552594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3962400"/>
            <a:ext cx="838200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Final Black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2580" y="5029200"/>
            <a:ext cx="922020" cy="401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Circuit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0" y="4438471"/>
            <a:ext cx="175183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Selectors might be part of a </a:t>
            </a:r>
            <a:r>
              <a:rPr lang="en-US" b="1" i="1" dirty="0">
                <a:solidFill>
                  <a:srgbClr val="008000"/>
                </a:solidFill>
              </a:rPr>
              <a:t>control bus</a:t>
            </a:r>
            <a:r>
              <a:rPr lang="en-US" i="1" dirty="0">
                <a:solidFill>
                  <a:srgbClr val="008000"/>
                </a:solidFill>
              </a:rPr>
              <a:t>, </a:t>
            </a:r>
            <a:r>
              <a:rPr lang="en-US" dirty="0"/>
              <a:t>similar to f0,f1</a:t>
            </a:r>
          </a:p>
        </p:txBody>
      </p:sp>
    </p:spTree>
    <p:extLst>
      <p:ext uri="{BB962C8B-B14F-4D97-AF65-F5344CB8AC3E}">
        <p14:creationId xmlns:p14="http://schemas.microsoft.com/office/powerpoint/2010/main" val="370214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7175" y="381000"/>
            <a:ext cx="2884425" cy="746505"/>
          </a:xfrm>
        </p:spPr>
        <p:txBody>
          <a:bodyPr/>
          <a:lstStyle/>
          <a:p>
            <a:r>
              <a:rPr lang="en-US" dirty="0"/>
              <a:t>Decoder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251200"/>
            <a:ext cx="3810000" cy="3530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5905500" cy="4000500"/>
          </a:xfrm>
          <a:prstGeom prst="rect">
            <a:avLst/>
          </a:prstGeom>
        </p:spPr>
      </p:pic>
      <p:sp>
        <p:nvSpPr>
          <p:cNvPr id="8" name="Curved Right Arrow 7"/>
          <p:cNvSpPr/>
          <p:nvPr/>
        </p:nvSpPr>
        <p:spPr>
          <a:xfrm rot="8678164">
            <a:off x="6469160" y="862881"/>
            <a:ext cx="1125956" cy="24384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“Macro”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9620" y="4419600"/>
            <a:ext cx="243078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,A</a:t>
            </a:r>
            <a:r>
              <a:rPr lang="en-US" baseline="-25000" dirty="0"/>
              <a:t>1</a:t>
            </a:r>
            <a:r>
              <a:rPr lang="en-US" dirty="0"/>
              <a:t>,A</a:t>
            </a:r>
            <a:r>
              <a:rPr lang="en-US" baseline="-25000" dirty="0"/>
              <a:t>2</a:t>
            </a:r>
            <a:r>
              <a:rPr lang="en-US" dirty="0"/>
              <a:t> would be part of an </a:t>
            </a:r>
            <a:r>
              <a:rPr lang="en-US" b="1" i="1" dirty="0">
                <a:solidFill>
                  <a:srgbClr val="FF6600"/>
                </a:solidFill>
              </a:rPr>
              <a:t>address bus</a:t>
            </a:r>
          </a:p>
          <a:p>
            <a:r>
              <a:rPr lang="en-US" dirty="0"/>
              <a:t>(C,B,A to the right)</a:t>
            </a:r>
          </a:p>
        </p:txBody>
      </p:sp>
    </p:spTree>
    <p:extLst>
      <p:ext uri="{BB962C8B-B14F-4D97-AF65-F5344CB8AC3E}">
        <p14:creationId xmlns:p14="http://schemas.microsoft.com/office/powerpoint/2010/main" val="1556400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0" y="304800"/>
            <a:ext cx="3172867" cy="993598"/>
          </a:xfrm>
        </p:spPr>
        <p:txBody>
          <a:bodyPr/>
          <a:lstStyle/>
          <a:p>
            <a:r>
              <a:rPr lang="en-US" dirty="0"/>
              <a:t>ALU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5343298" cy="56677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667000"/>
            <a:ext cx="3378200" cy="3149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19800" y="6096000"/>
            <a:ext cx="3124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Source: </a:t>
            </a:r>
            <a:r>
              <a:rPr lang="en-US" sz="800" dirty="0" err="1"/>
              <a:t>cs.umd.edu</a:t>
            </a:r>
            <a:endParaRPr lang="en-US" sz="800" dirty="0"/>
          </a:p>
        </p:txBody>
      </p:sp>
      <p:sp>
        <p:nvSpPr>
          <p:cNvPr id="8" name="Right Arrow 7"/>
          <p:cNvSpPr/>
          <p:nvPr/>
        </p:nvSpPr>
        <p:spPr>
          <a:xfrm>
            <a:off x="3657600" y="4648200"/>
            <a:ext cx="2438400" cy="685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“Abbreviate”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0" y="1524000"/>
            <a:ext cx="2362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,B</a:t>
            </a:r>
            <a:r>
              <a:rPr lang="en-US" baseline="-25000" dirty="0"/>
              <a:t>0</a:t>
            </a:r>
            <a:r>
              <a:rPr lang="en-US" dirty="0"/>
              <a:t>,Out</a:t>
            </a:r>
            <a:r>
              <a:rPr lang="en-US" baseline="-25000" dirty="0"/>
              <a:t>0</a:t>
            </a:r>
            <a:r>
              <a:rPr lang="en-US" dirty="0"/>
              <a:t> would be part of a </a:t>
            </a:r>
            <a:r>
              <a:rPr lang="en-US" b="1" i="1" dirty="0">
                <a:solidFill>
                  <a:srgbClr val="0000FF"/>
                </a:solidFill>
              </a:rPr>
              <a:t>data bus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03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4800"/>
            <a:ext cx="6477000" cy="6462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6553200"/>
            <a:ext cx="7086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source: http://</a:t>
            </a:r>
            <a:r>
              <a:rPr lang="en-US" sz="800" dirty="0" err="1"/>
              <a:t>courses.cs.vt.edu</a:t>
            </a:r>
            <a:r>
              <a:rPr lang="en-US" sz="800" dirty="0"/>
              <a:t>/</a:t>
            </a:r>
            <a:r>
              <a:rPr lang="en-US" sz="800" dirty="0" err="1"/>
              <a:t>csonline</a:t>
            </a:r>
            <a:r>
              <a:rPr lang="en-US" sz="800" dirty="0"/>
              <a:t>/</a:t>
            </a:r>
            <a:r>
              <a:rPr lang="en-US" sz="800" dirty="0" err="1"/>
              <a:t>MachineArchitecture</a:t>
            </a:r>
            <a:r>
              <a:rPr lang="en-US" sz="800" dirty="0"/>
              <a:t>/Lessons/CPU/</a:t>
            </a:r>
            <a:r>
              <a:rPr lang="en-US" sz="800" dirty="0" err="1"/>
              <a:t>cpu_circuit.gif</a:t>
            </a:r>
            <a:endParaRPr lang="en-US" sz="800" dirty="0"/>
          </a:p>
        </p:txBody>
      </p:sp>
      <p:sp>
        <p:nvSpPr>
          <p:cNvPr id="2" name="TextBox 1"/>
          <p:cNvSpPr txBox="1"/>
          <p:nvPr/>
        </p:nvSpPr>
        <p:spPr>
          <a:xfrm>
            <a:off x="381000" y="6273224"/>
            <a:ext cx="8570174" cy="58477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A High-Level, Abstract, Conceptual View </a:t>
            </a:r>
            <a:r>
              <a:rPr lang="en-US" sz="800" dirty="0"/>
              <a:t>of a Machine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33400" y="2286000"/>
            <a:ext cx="22098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33400" y="2286000"/>
            <a:ext cx="2590800" cy="1828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279663" y="762000"/>
            <a:ext cx="5149655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475153" y="838200"/>
            <a:ext cx="2906847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553200" y="914400"/>
            <a:ext cx="17526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191000" y="838200"/>
            <a:ext cx="4191000" cy="411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3400" y="2286000"/>
            <a:ext cx="40386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8600" y="1916668"/>
            <a:ext cx="108951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FUs/CCs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865554" y="990600"/>
            <a:ext cx="3211646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96200" y="609600"/>
            <a:ext cx="14744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RAM(D-</a:t>
            </a:r>
            <a:r>
              <a:rPr lang="en-US" dirty="0" err="1"/>
              <a:t>ffs</a:t>
            </a:r>
            <a:r>
              <a:rPr lang="en-US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845" y="-20598"/>
            <a:ext cx="8934955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Combine the </a:t>
            </a:r>
            <a:r>
              <a:rPr lang="en-US" sz="3000" b="1" dirty="0">
                <a:solidFill>
                  <a:srgbClr val="008000"/>
                </a:solidFill>
              </a:rPr>
              <a:t>CCs </a:t>
            </a:r>
            <a:r>
              <a:rPr lang="en-US" sz="3000" dirty="0"/>
              <a:t>we just observed with </a:t>
            </a:r>
            <a:r>
              <a:rPr lang="en-US" sz="3000" b="1" dirty="0">
                <a:solidFill>
                  <a:srgbClr val="FF6600"/>
                </a:solidFill>
              </a:rPr>
              <a:t>Memory</a:t>
            </a:r>
            <a:r>
              <a:rPr lang="mr-IN" sz="3000" b="1">
                <a:solidFill>
                  <a:srgbClr val="FF6600"/>
                </a:solidFill>
              </a:rPr>
              <a:t>…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8434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 Again</a:t>
            </a:r>
            <a:r>
              <a:rPr lang="mr-IN" dirty="0"/>
              <a:t>…</a:t>
            </a:r>
            <a:br>
              <a:rPr lang="en-US" dirty="0"/>
            </a:br>
            <a:r>
              <a:rPr lang="en-US" dirty="0"/>
              <a:t>But Shorter Clock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And, closer to professional design of RISC, CISC chips</a:t>
            </a:r>
          </a:p>
        </p:txBody>
      </p:sp>
    </p:spTree>
    <p:extLst>
      <p:ext uri="{BB962C8B-B14F-4D97-AF65-F5344CB8AC3E}">
        <p14:creationId xmlns:p14="http://schemas.microsoft.com/office/powerpoint/2010/main" val="383694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990" y="3352800"/>
            <a:ext cx="5266410" cy="3505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-152400"/>
            <a:ext cx="6324600" cy="838200"/>
          </a:xfrm>
        </p:spPr>
        <p:txBody>
          <a:bodyPr/>
          <a:lstStyle/>
          <a:p>
            <a:r>
              <a:rPr lang="en-US" sz="3000" dirty="0"/>
              <a:t>Summary of L2 &amp; L3 Abstractions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-58261" r="58261"/>
          <a:stretch/>
        </p:blipFill>
        <p:spPr>
          <a:xfrm>
            <a:off x="-1828800" y="1371600"/>
            <a:ext cx="4552594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125831"/>
            <a:ext cx="2937933" cy="29127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143000"/>
            <a:ext cx="1955800" cy="195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" y="5181600"/>
            <a:ext cx="1270000" cy="152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3962400"/>
            <a:ext cx="3378200" cy="2560894"/>
          </a:xfrm>
          <a:prstGeom prst="rect">
            <a:avLst/>
          </a:prstGeom>
        </p:spPr>
      </p:pic>
      <p:sp>
        <p:nvSpPr>
          <p:cNvPr id="11" name="Left Brace 10"/>
          <p:cNvSpPr/>
          <p:nvPr/>
        </p:nvSpPr>
        <p:spPr>
          <a:xfrm>
            <a:off x="1981200" y="4114800"/>
            <a:ext cx="1219200" cy="2286000"/>
          </a:xfrm>
          <a:prstGeom prst="leftBrace">
            <a:avLst>
              <a:gd name="adj1" fmla="val 8333"/>
              <a:gd name="adj2" fmla="val 772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590800" y="1371600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38200" y="465668"/>
            <a:ext cx="21336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905000" y="262469"/>
            <a:ext cx="228600" cy="381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14400" y="694268"/>
            <a:ext cx="2057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905000" y="533400"/>
            <a:ext cx="228600" cy="381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57400" y="222535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1269" y="46566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914400"/>
            <a:ext cx="2971800" cy="2563822"/>
          </a:xfrm>
          <a:prstGeom prst="rect">
            <a:avLst/>
          </a:prstGeom>
        </p:spPr>
      </p:pic>
      <p:sp>
        <p:nvSpPr>
          <p:cNvPr id="26" name="Left Brace 25"/>
          <p:cNvSpPr/>
          <p:nvPr/>
        </p:nvSpPr>
        <p:spPr>
          <a:xfrm>
            <a:off x="5562600" y="762000"/>
            <a:ext cx="609600" cy="5791200"/>
          </a:xfrm>
          <a:prstGeom prst="leftBrace">
            <a:avLst>
              <a:gd name="adj1" fmla="val 8333"/>
              <a:gd name="adj2" fmla="val 8604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590800" y="6553200"/>
            <a:ext cx="6553200" cy="21544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800" dirty="0"/>
              <a:t>Image sources: http://</a:t>
            </a:r>
            <a:r>
              <a:rPr lang="en-US" sz="800" dirty="0" err="1"/>
              <a:t>cs.nyu.edu</a:t>
            </a:r>
            <a:r>
              <a:rPr lang="en-US" sz="800" dirty="0"/>
              <a:t>/~</a:t>
            </a:r>
            <a:r>
              <a:rPr lang="en-US" sz="800" dirty="0" err="1"/>
              <a:t>gottlieb</a:t>
            </a:r>
            <a:r>
              <a:rPr lang="en-US" sz="800" dirty="0"/>
              <a:t>/courses/2000s/2007-08-fall/arch/lectures/diagrams/read-</a:t>
            </a:r>
            <a:r>
              <a:rPr lang="en-US" sz="800" dirty="0" err="1"/>
              <a:t>ports.png</a:t>
            </a:r>
            <a:endParaRPr lang="en-US" sz="800" dirty="0"/>
          </a:p>
        </p:txBody>
      </p:sp>
      <p:sp>
        <p:nvSpPr>
          <p:cNvPr id="3" name="Rounded Rectangle 2"/>
          <p:cNvSpPr/>
          <p:nvPr/>
        </p:nvSpPr>
        <p:spPr>
          <a:xfrm>
            <a:off x="533400" y="990600"/>
            <a:ext cx="2286000" cy="426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9000"/>
                </a:schemeClr>
              </a:gs>
              <a:gs pos="80000">
                <a:schemeClr val="accent1">
                  <a:shade val="93000"/>
                  <a:satMod val="130000"/>
                  <a:alpha val="9000"/>
                </a:schemeClr>
              </a:gs>
              <a:gs pos="100000">
                <a:schemeClr val="accent1">
                  <a:shade val="94000"/>
                  <a:satMod val="135000"/>
                  <a:alpha val="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8000"/>
                </a:solidFill>
              </a:rPr>
              <a:t>Week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914400"/>
            <a:ext cx="2743200" cy="3200400"/>
          </a:xfrm>
          <a:prstGeom prst="roundRect">
            <a:avLst/>
          </a:prstGeom>
          <a:solidFill>
            <a:schemeClr val="dk1">
              <a:alpha val="12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HW1 &amp; Week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257800"/>
            <a:ext cx="5334000" cy="1295400"/>
          </a:xfrm>
          <a:prstGeom prst="roundRect">
            <a:avLst/>
          </a:prstGeom>
          <a:solidFill>
            <a:srgbClr val="FF6600">
              <a:alpha val="18000"/>
            </a:srgb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 1 &amp; HW2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95600" y="4114800"/>
            <a:ext cx="2971800" cy="1219200"/>
          </a:xfrm>
          <a:prstGeom prst="roundRect">
            <a:avLst/>
          </a:prstGeom>
          <a:solidFill>
            <a:srgbClr val="FF6600">
              <a:alpha val="18000"/>
            </a:srgb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91200" y="609600"/>
            <a:ext cx="3352800" cy="62484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  <a:alpha val="23000"/>
                </a:schemeClr>
              </a:gs>
              <a:gs pos="80000">
                <a:schemeClr val="accent5">
                  <a:shade val="93000"/>
                  <a:satMod val="130000"/>
                  <a:alpha val="23000"/>
                </a:schemeClr>
              </a:gs>
              <a:gs pos="100000">
                <a:schemeClr val="accent5">
                  <a:shade val="94000"/>
                  <a:satMod val="135000"/>
                  <a:alpha val="23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Week 3 &amp; 4, HW3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169" y="152400"/>
            <a:ext cx="2216727" cy="7620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  <a:alpha val="23000"/>
                </a:schemeClr>
              </a:gs>
              <a:gs pos="80000">
                <a:schemeClr val="accent5">
                  <a:shade val="93000"/>
                  <a:satMod val="130000"/>
                  <a:alpha val="23000"/>
                </a:schemeClr>
              </a:gs>
              <a:gs pos="100000">
                <a:schemeClr val="accent5">
                  <a:shade val="94000"/>
                  <a:satMod val="135000"/>
                  <a:alpha val="23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008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09600" y="4953000"/>
            <a:ext cx="381000" cy="304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5105400" y="3810000"/>
            <a:ext cx="381000" cy="304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5257800" y="6248400"/>
            <a:ext cx="381000" cy="304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6" name="Oval 35"/>
          <p:cNvSpPr/>
          <p:nvPr/>
        </p:nvSpPr>
        <p:spPr>
          <a:xfrm>
            <a:off x="8610600" y="6400800"/>
            <a:ext cx="381000" cy="304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2743200" y="762000"/>
            <a:ext cx="381000" cy="304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7105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3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9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4800"/>
            <a:ext cx="6477000" cy="6462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6553200"/>
            <a:ext cx="7086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source: http://</a:t>
            </a:r>
            <a:r>
              <a:rPr lang="en-US" sz="800" dirty="0" err="1"/>
              <a:t>courses.cs.vt.edu</a:t>
            </a:r>
            <a:r>
              <a:rPr lang="en-US" sz="800" dirty="0"/>
              <a:t>/</a:t>
            </a:r>
            <a:r>
              <a:rPr lang="en-US" sz="800" dirty="0" err="1"/>
              <a:t>csonline</a:t>
            </a:r>
            <a:r>
              <a:rPr lang="en-US" sz="800" dirty="0"/>
              <a:t>/</a:t>
            </a:r>
            <a:r>
              <a:rPr lang="en-US" sz="800" dirty="0" err="1"/>
              <a:t>MachineArchitecture</a:t>
            </a:r>
            <a:r>
              <a:rPr lang="en-US" sz="800" dirty="0"/>
              <a:t>/Lessons/CPU/</a:t>
            </a:r>
            <a:r>
              <a:rPr lang="en-US" sz="800" dirty="0" err="1"/>
              <a:t>cpu_circuit.gif</a:t>
            </a:r>
            <a:endParaRPr lang="en-US" sz="8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33400" y="2286000"/>
            <a:ext cx="22098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33400" y="2286000"/>
            <a:ext cx="2590800" cy="1828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279663" y="762000"/>
            <a:ext cx="5149655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475153" y="838200"/>
            <a:ext cx="2906847" cy="990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553200" y="914400"/>
            <a:ext cx="17526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191000" y="838200"/>
            <a:ext cx="4191000" cy="411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3400" y="2286000"/>
            <a:ext cx="40386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8600" y="1916668"/>
            <a:ext cx="108951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FUs/CCs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865554" y="990600"/>
            <a:ext cx="3211646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96200" y="609600"/>
            <a:ext cx="14744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RAM(D-</a:t>
            </a:r>
            <a:r>
              <a:rPr lang="en-US" dirty="0" err="1"/>
              <a:t>ffs</a:t>
            </a:r>
            <a:r>
              <a:rPr lang="en-US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045" y="30202"/>
            <a:ext cx="8630155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We built all of that so we could make one of </a:t>
            </a:r>
            <a:r>
              <a:rPr lang="en-US" sz="3000" b="1" dirty="0">
                <a:solidFill>
                  <a:srgbClr val="0000FF"/>
                </a:solidFill>
              </a:rPr>
              <a:t>these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46802"/>
            <a:ext cx="8305800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000" dirty="0"/>
              <a:t>A Simple RISC-Style Machine for Computation</a:t>
            </a:r>
          </a:p>
        </p:txBody>
      </p:sp>
    </p:spTree>
    <p:extLst>
      <p:ext uri="{BB962C8B-B14F-4D97-AF65-F5344CB8AC3E}">
        <p14:creationId xmlns:p14="http://schemas.microsoft.com/office/powerpoint/2010/main" val="322588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</p:spPr>
        <p:txBody>
          <a:bodyPr/>
          <a:lstStyle/>
          <a:p>
            <a:r>
              <a:rPr lang="en-US" dirty="0"/>
              <a:t>Bus Motivation</a:t>
            </a:r>
            <a:br>
              <a:rPr lang="en-US" dirty="0"/>
            </a:br>
            <a:r>
              <a:rPr lang="en-US" dirty="0"/>
              <a:t>Consider Only 6 Units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624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705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81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133600" y="6324600"/>
            <a:ext cx="3200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For only one bit</a:t>
            </a:r>
          </a:p>
        </p:txBody>
      </p:sp>
    </p:spTree>
    <p:extLst>
      <p:ext uri="{BB962C8B-B14F-4D97-AF65-F5344CB8AC3E}">
        <p14:creationId xmlns:p14="http://schemas.microsoft.com/office/powerpoint/2010/main" val="117511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600200"/>
          </a:xfrm>
        </p:spPr>
        <p:txBody>
          <a:bodyPr/>
          <a:lstStyle/>
          <a:p>
            <a:r>
              <a:rPr lang="en-US" dirty="0"/>
              <a:t>Consider Only 6 Units</a:t>
            </a:r>
            <a:br>
              <a:rPr lang="en-US" dirty="0"/>
            </a:br>
            <a:r>
              <a:rPr lang="en-US" dirty="0"/>
              <a:t>Talking </a:t>
            </a:r>
            <a:r>
              <a:rPr lang="en-US" dirty="0" err="1"/>
              <a:t>Unidirectionally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624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705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81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133600" y="6324600"/>
            <a:ext cx="3200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For only one bit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200400" y="2286000"/>
            <a:ext cx="34636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136900" y="26670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828800" y="3304489"/>
            <a:ext cx="0" cy="141991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200400" y="51054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200400" y="5715000"/>
            <a:ext cx="35052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200400" y="3124200"/>
            <a:ext cx="4419600" cy="1524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057400" y="3352800"/>
            <a:ext cx="54102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7" idx="0"/>
          </p:cNvCxnSpPr>
          <p:nvPr/>
        </p:nvCxnSpPr>
        <p:spPr>
          <a:xfrm>
            <a:off x="2209800" y="3352800"/>
            <a:ext cx="2781300" cy="1371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405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33400"/>
            <a:ext cx="8229600" cy="1600200"/>
          </a:xfrm>
        </p:spPr>
        <p:txBody>
          <a:bodyPr/>
          <a:lstStyle/>
          <a:p>
            <a:r>
              <a:rPr lang="en-US" dirty="0"/>
              <a:t>Now Input &amp; </a:t>
            </a:r>
            <a:r>
              <a:rPr lang="en-US" dirty="0">
                <a:solidFill>
                  <a:schemeClr val="accent3"/>
                </a:solidFill>
              </a:rPr>
              <a:t>Output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624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705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81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078560" y="2603500"/>
            <a:ext cx="100408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892300" y="3162681"/>
            <a:ext cx="0" cy="175183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209800" y="3276600"/>
            <a:ext cx="289560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048000" y="3022600"/>
            <a:ext cx="4876800" cy="1676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48940" y="5664200"/>
            <a:ext cx="385572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940256" y="5054600"/>
            <a:ext cx="110448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1905000" y="3390900"/>
            <a:ext cx="56388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050540" y="2235200"/>
            <a:ext cx="385572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19400" y="6135469"/>
            <a:ext cx="32004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Just 2 bits of bandwidth?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One per I and O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3200400" y="2286000"/>
            <a:ext cx="34636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136900" y="26670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841500" y="3304489"/>
            <a:ext cx="0" cy="141991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200400" y="51054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200400" y="5715000"/>
            <a:ext cx="35052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200400" y="3124200"/>
            <a:ext cx="4419600" cy="1524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057400" y="3352800"/>
            <a:ext cx="54102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209800" y="3352800"/>
            <a:ext cx="2781300" cy="1371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59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045"/>
            <a:ext cx="2590800" cy="821155"/>
          </a:xfrm>
        </p:spPr>
        <p:txBody>
          <a:bodyPr/>
          <a:lstStyle/>
          <a:p>
            <a:r>
              <a:rPr lang="mr-IN" dirty="0"/>
              <a:t>…</a:t>
            </a:r>
            <a:r>
              <a:rPr lang="en-US" dirty="0"/>
              <a:t>4 Bits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624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705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81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0400" y="26670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2"/>
            <a:endCxn id="5" idx="0"/>
          </p:cNvCxnSpPr>
          <p:nvPr/>
        </p:nvCxnSpPr>
        <p:spPr>
          <a:xfrm>
            <a:off x="2095500" y="32766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0"/>
          </p:cNvCxnSpPr>
          <p:nvPr/>
        </p:nvCxnSpPr>
        <p:spPr>
          <a:xfrm>
            <a:off x="2057400" y="33528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514600" y="33528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200400" y="57912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200400" y="54864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209800" y="33528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76600" y="28194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476500" y="34290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438400" y="35052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895600" y="35052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81400" y="59436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200400" y="56388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590800" y="35052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124200" y="22098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505200" y="23622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200400" y="28194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400300" y="34290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2362200" y="35052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819400" y="35052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505200" y="59436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352800" y="56388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2514600" y="35052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200400" y="29718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781300" y="35814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743200" y="36576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200400" y="36576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3886200" y="60960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238500" y="57912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895600" y="36576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429000" y="23622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810000" y="25146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238500" y="30480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2819400" y="36576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238500" y="37338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276600" y="58674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2933700" y="37338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276600" y="31242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3200400" y="38100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162300" y="38862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619500" y="38862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276600" y="60198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3314700" y="38862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3848100" y="25908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4229100" y="27432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238500" y="32766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819400" y="38862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238500" y="39624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3276600" y="60960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2933700" y="39624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276600" y="33528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200400" y="4038600"/>
            <a:ext cx="0" cy="1447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3162300" y="4114800"/>
            <a:ext cx="29337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619500" y="4114800"/>
            <a:ext cx="5448300" cy="1295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3276600" y="6248400"/>
            <a:ext cx="685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V="1">
            <a:off x="3314700" y="4114800"/>
            <a:ext cx="5638800" cy="1219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3848100" y="28194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4229100" y="2971800"/>
            <a:ext cx="3505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3400" y="762000"/>
            <a:ext cx="8382000" cy="160043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600" dirty="0"/>
              <a:t>But is this “Rats Nest” really a </a:t>
            </a:r>
            <a:r>
              <a:rPr lang="en-US" sz="2600" b="1" i="1" dirty="0"/>
              <a:t>solution</a:t>
            </a:r>
            <a:r>
              <a:rPr lang="en-US" sz="2600" dirty="0"/>
              <a:t>?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Point to point connections are complex, costly, heat &amp; die expensive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3366FF"/>
                </a:solidFill>
              </a:rPr>
              <a:t>Idea</a:t>
            </a:r>
            <a:r>
              <a:rPr lang="en-US" b="1" dirty="0"/>
              <a:t>:</a:t>
            </a:r>
            <a:r>
              <a:rPr lang="en-US" dirty="0"/>
              <a:t> Each FU could have a 5-to-1 Mux per input (so 6 </a:t>
            </a:r>
            <a:r>
              <a:rPr lang="en-US" dirty="0" err="1"/>
              <a:t>Muxes</a:t>
            </a:r>
            <a:r>
              <a:rPr lang="en-US" dirty="0"/>
              <a:t> x 6 FUs)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Complex and costly, consider the control &amp; coordination logic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/>
              <a:t>Still, getting </a:t>
            </a:r>
            <a:r>
              <a:rPr lang="en-US" b="1" i="1" dirty="0"/>
              <a:t>closer</a:t>
            </a:r>
            <a:r>
              <a:rPr lang="en-US" dirty="0"/>
              <a:t> to a (tri-state, bus-based) solution here</a:t>
            </a:r>
          </a:p>
        </p:txBody>
      </p:sp>
    </p:spTree>
    <p:extLst>
      <p:ext uri="{BB962C8B-B14F-4D97-AF65-F5344CB8AC3E}">
        <p14:creationId xmlns:p14="http://schemas.microsoft.com/office/powerpoint/2010/main" val="49597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37"/>
          <p:cNvSpPr>
            <a:spLocks noChangeShapeType="1"/>
          </p:cNvSpPr>
          <p:nvPr/>
        </p:nvSpPr>
        <p:spPr bwMode="auto">
          <a:xfrm>
            <a:off x="3514725" y="4094163"/>
            <a:ext cx="85407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4723"/>
            <a:ext cx="8229600" cy="821155"/>
          </a:xfrm>
        </p:spPr>
        <p:txBody>
          <a:bodyPr/>
          <a:lstStyle/>
          <a:p>
            <a:r>
              <a:rPr lang="en-US" dirty="0"/>
              <a:t>Bus Organization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1517650"/>
            <a:ext cx="8991600" cy="2597150"/>
          </a:xfrm>
        </p:spPr>
        <p:txBody>
          <a:bodyPr/>
          <a:lstStyle/>
          <a:p>
            <a:r>
              <a:rPr lang="en-US" sz="1800" dirty="0"/>
              <a:t>Busses were invented to simplify the organization and flow of data internally</a:t>
            </a:r>
          </a:p>
          <a:p>
            <a:pPr lvl="1"/>
            <a:r>
              <a:rPr lang="en-US" sz="1800" dirty="0"/>
              <a:t>Busses allow many devices to connect to the same data path</a:t>
            </a:r>
          </a:p>
          <a:p>
            <a:pPr lvl="2"/>
            <a:r>
              <a:rPr lang="en-US" sz="1800" dirty="0"/>
              <a:t>Allow for efficient exchange of data between devices</a:t>
            </a:r>
          </a:p>
          <a:p>
            <a:r>
              <a:rPr lang="en-US" sz="1800" dirty="0">
                <a:solidFill>
                  <a:srgbClr val="FF0000"/>
                </a:solidFill>
              </a:rPr>
              <a:t>Question</a:t>
            </a:r>
            <a:r>
              <a:rPr lang="en-US" sz="1800" dirty="0"/>
              <a:t>: How do I connect outputs together and not get a short circuit?</a:t>
            </a:r>
          </a:p>
          <a:p>
            <a:pPr>
              <a:buFontTx/>
              <a:buNone/>
            </a:pPr>
            <a:r>
              <a:rPr lang="en-US" sz="1800" dirty="0"/>
              <a:t> </a:t>
            </a:r>
          </a:p>
        </p:txBody>
      </p:sp>
      <p:sp>
        <p:nvSpPr>
          <p:cNvPr id="30725" name="AutoShape 18"/>
          <p:cNvSpPr>
            <a:spLocks noChangeArrowheads="1"/>
          </p:cNvSpPr>
          <p:nvPr/>
        </p:nvSpPr>
        <p:spPr bwMode="auto">
          <a:xfrm>
            <a:off x="2022475" y="3754438"/>
            <a:ext cx="838200" cy="6858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0726" name="Line 19"/>
          <p:cNvSpPr>
            <a:spLocks noChangeShapeType="1"/>
          </p:cNvSpPr>
          <p:nvPr/>
        </p:nvSpPr>
        <p:spPr bwMode="auto">
          <a:xfrm flipH="1">
            <a:off x="1336675" y="3906838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20"/>
          <p:cNvSpPr>
            <a:spLocks noChangeShapeType="1"/>
          </p:cNvSpPr>
          <p:nvPr/>
        </p:nvSpPr>
        <p:spPr bwMode="auto">
          <a:xfrm flipH="1">
            <a:off x="1336675" y="4287838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21"/>
          <p:cNvSpPr>
            <a:spLocks noChangeShapeType="1"/>
          </p:cNvSpPr>
          <p:nvPr/>
        </p:nvSpPr>
        <p:spPr bwMode="auto">
          <a:xfrm flipH="1">
            <a:off x="2846388" y="40894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Text Box 22"/>
          <p:cNvSpPr txBox="1">
            <a:spLocks noChangeArrowheads="1"/>
          </p:cNvSpPr>
          <p:nvPr/>
        </p:nvSpPr>
        <p:spPr bwMode="auto">
          <a:xfrm>
            <a:off x="998538" y="3754438"/>
            <a:ext cx="268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1</a:t>
            </a:r>
          </a:p>
        </p:txBody>
      </p:sp>
      <p:sp>
        <p:nvSpPr>
          <p:cNvPr id="30730" name="Text Box 23"/>
          <p:cNvSpPr txBox="1">
            <a:spLocks noChangeArrowheads="1"/>
          </p:cNvSpPr>
          <p:nvPr/>
        </p:nvSpPr>
        <p:spPr bwMode="auto">
          <a:xfrm>
            <a:off x="2066925" y="3863975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AND</a:t>
            </a:r>
          </a:p>
          <a:p>
            <a:pPr algn="ctr" eaLnBrk="1" hangingPunct="1"/>
            <a:r>
              <a:rPr lang="en-US" b="1"/>
              <a:t>Gate 1</a:t>
            </a:r>
          </a:p>
        </p:txBody>
      </p:sp>
      <p:sp>
        <p:nvSpPr>
          <p:cNvPr id="30731" name="Text Box 24"/>
          <p:cNvSpPr txBox="1">
            <a:spLocks noChangeArrowheads="1"/>
          </p:cNvSpPr>
          <p:nvPr/>
        </p:nvSpPr>
        <p:spPr bwMode="auto">
          <a:xfrm>
            <a:off x="996950" y="41370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1</a:t>
            </a:r>
          </a:p>
        </p:txBody>
      </p:sp>
      <p:sp>
        <p:nvSpPr>
          <p:cNvPr id="30732" name="Text Box 25"/>
          <p:cNvSpPr txBox="1">
            <a:spLocks noChangeArrowheads="1"/>
          </p:cNvSpPr>
          <p:nvPr/>
        </p:nvSpPr>
        <p:spPr bwMode="auto">
          <a:xfrm>
            <a:off x="2897188" y="3736975"/>
            <a:ext cx="598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1 (5V)</a:t>
            </a:r>
          </a:p>
        </p:txBody>
      </p:sp>
      <p:sp>
        <p:nvSpPr>
          <p:cNvPr id="30733" name="AutoShape 26"/>
          <p:cNvSpPr>
            <a:spLocks noChangeArrowheads="1"/>
          </p:cNvSpPr>
          <p:nvPr/>
        </p:nvSpPr>
        <p:spPr bwMode="auto">
          <a:xfrm flipH="1">
            <a:off x="5032375" y="3762375"/>
            <a:ext cx="838200" cy="6858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 b="1"/>
          </a:p>
        </p:txBody>
      </p:sp>
      <p:sp>
        <p:nvSpPr>
          <p:cNvPr id="30734" name="Line 27"/>
          <p:cNvSpPr>
            <a:spLocks noChangeShapeType="1"/>
          </p:cNvSpPr>
          <p:nvPr/>
        </p:nvSpPr>
        <p:spPr bwMode="auto">
          <a:xfrm>
            <a:off x="5870575" y="39147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28"/>
          <p:cNvSpPr>
            <a:spLocks noChangeShapeType="1"/>
          </p:cNvSpPr>
          <p:nvPr/>
        </p:nvSpPr>
        <p:spPr bwMode="auto">
          <a:xfrm>
            <a:off x="5870575" y="42957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Line 29"/>
          <p:cNvSpPr>
            <a:spLocks noChangeShapeType="1"/>
          </p:cNvSpPr>
          <p:nvPr/>
        </p:nvSpPr>
        <p:spPr bwMode="auto">
          <a:xfrm>
            <a:off x="4360863" y="4097338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Text Box 30"/>
          <p:cNvSpPr txBox="1">
            <a:spLocks noChangeArrowheads="1"/>
          </p:cNvSpPr>
          <p:nvPr/>
        </p:nvSpPr>
        <p:spPr bwMode="auto">
          <a:xfrm flipH="1">
            <a:off x="6627813" y="3762375"/>
            <a:ext cx="2682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1</a:t>
            </a:r>
          </a:p>
        </p:txBody>
      </p:sp>
      <p:sp>
        <p:nvSpPr>
          <p:cNvPr id="30738" name="Text Box 31"/>
          <p:cNvSpPr txBox="1">
            <a:spLocks noChangeArrowheads="1"/>
          </p:cNvSpPr>
          <p:nvPr/>
        </p:nvSpPr>
        <p:spPr bwMode="auto">
          <a:xfrm flipH="1">
            <a:off x="5181600" y="3871913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AND</a:t>
            </a:r>
          </a:p>
          <a:p>
            <a:pPr algn="ctr" eaLnBrk="1" hangingPunct="1"/>
            <a:r>
              <a:rPr lang="en-US" b="1"/>
              <a:t>Gate 2</a:t>
            </a:r>
          </a:p>
        </p:txBody>
      </p:sp>
      <p:sp>
        <p:nvSpPr>
          <p:cNvPr id="30739" name="Text Box 32"/>
          <p:cNvSpPr txBox="1">
            <a:spLocks noChangeArrowheads="1"/>
          </p:cNvSpPr>
          <p:nvPr/>
        </p:nvSpPr>
        <p:spPr bwMode="auto">
          <a:xfrm flipH="1">
            <a:off x="6629400" y="41449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0</a:t>
            </a:r>
          </a:p>
        </p:txBody>
      </p:sp>
      <p:sp>
        <p:nvSpPr>
          <p:cNvPr id="30740" name="Text Box 33"/>
          <p:cNvSpPr txBox="1">
            <a:spLocks noChangeArrowheads="1"/>
          </p:cNvSpPr>
          <p:nvPr/>
        </p:nvSpPr>
        <p:spPr bwMode="auto">
          <a:xfrm flipH="1">
            <a:off x="4402138" y="3756025"/>
            <a:ext cx="598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0 (0V)</a:t>
            </a:r>
          </a:p>
        </p:txBody>
      </p:sp>
      <p:sp>
        <p:nvSpPr>
          <p:cNvPr id="30741" name="Line 35"/>
          <p:cNvSpPr>
            <a:spLocks noChangeShapeType="1"/>
          </p:cNvSpPr>
          <p:nvPr/>
        </p:nvSpPr>
        <p:spPr bwMode="auto">
          <a:xfrm>
            <a:off x="3941763" y="3332163"/>
            <a:ext cx="0" cy="2174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2" name="Text Box 36"/>
          <p:cNvSpPr txBox="1">
            <a:spLocks noChangeArrowheads="1"/>
          </p:cNvSpPr>
          <p:nvPr/>
        </p:nvSpPr>
        <p:spPr bwMode="auto">
          <a:xfrm>
            <a:off x="3654425" y="3027363"/>
            <a:ext cx="5603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BUS</a:t>
            </a:r>
          </a:p>
        </p:txBody>
      </p:sp>
      <p:sp>
        <p:nvSpPr>
          <p:cNvPr id="30743" name="Text Box 39"/>
          <p:cNvSpPr txBox="1">
            <a:spLocks noChangeArrowheads="1"/>
          </p:cNvSpPr>
          <p:nvPr/>
        </p:nvSpPr>
        <p:spPr bwMode="auto">
          <a:xfrm>
            <a:off x="4976813" y="5008891"/>
            <a:ext cx="3946864" cy="52322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>
                <a:latin typeface="Arial" charset="0"/>
              </a:rPr>
              <a:t>Short circuit (bus contention)</a:t>
            </a:r>
          </a:p>
          <a:p>
            <a:pPr eaLnBrk="1" hangingPunct="1"/>
            <a:r>
              <a:rPr lang="en-US" sz="1400" dirty="0">
                <a:latin typeface="Arial" charset="0"/>
              </a:rPr>
              <a:t>Actual result will be an indeterminate logic level</a:t>
            </a:r>
          </a:p>
        </p:txBody>
      </p:sp>
      <p:sp>
        <p:nvSpPr>
          <p:cNvPr id="30744" name="Line 40"/>
          <p:cNvSpPr>
            <a:spLocks noChangeShapeType="1"/>
          </p:cNvSpPr>
          <p:nvPr/>
        </p:nvSpPr>
        <p:spPr bwMode="auto">
          <a:xfrm flipH="1" flipV="1">
            <a:off x="4033838" y="4175125"/>
            <a:ext cx="974725" cy="8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557646" y="4724400"/>
            <a:ext cx="8104909" cy="21336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94000"/>
                </a:schemeClr>
              </a:gs>
              <a:gs pos="80000">
                <a:schemeClr val="accent1">
                  <a:shade val="93000"/>
                  <a:satMod val="130000"/>
                  <a:alpha val="94000"/>
                </a:schemeClr>
              </a:gs>
              <a:gs pos="100000">
                <a:schemeClr val="accent1">
                  <a:shade val="94000"/>
                  <a:satMod val="135000"/>
                  <a:alpha val="94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/>
              <a:t>“In </a:t>
            </a:r>
            <a:r>
              <a:rPr lang="en-US" sz="1000" dirty="0"/>
              <a:t>fact</a:t>
            </a:r>
            <a:r>
              <a:rPr lang="en-US" dirty="0"/>
              <a:t>, </a:t>
            </a:r>
            <a:r>
              <a:rPr lang="en-US" sz="1400" dirty="0"/>
              <a:t>we</a:t>
            </a:r>
            <a:r>
              <a:rPr lang="en-US" dirty="0"/>
              <a:t> might actually damage the circuit elements because each one is </a:t>
            </a:r>
            <a:r>
              <a:rPr lang="en-US" sz="2000" dirty="0"/>
              <a:t>trying</a:t>
            </a:r>
            <a:r>
              <a:rPr lang="en-US" dirty="0"/>
              <a:t> </a:t>
            </a:r>
            <a:r>
              <a:rPr lang="en-US" sz="2400" dirty="0"/>
              <a:t>to</a:t>
            </a:r>
            <a:r>
              <a:rPr lang="en-US" dirty="0"/>
              <a:t> </a:t>
            </a:r>
            <a:r>
              <a:rPr lang="en-US" sz="2800" dirty="0"/>
              <a:t>force</a:t>
            </a:r>
            <a:r>
              <a:rPr lang="en-US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600" dirty="0"/>
              <a:t>other</a:t>
            </a:r>
            <a:r>
              <a:rPr lang="en-US" dirty="0"/>
              <a:t> </a:t>
            </a:r>
            <a:r>
              <a:rPr lang="en-US" sz="3200" dirty="0"/>
              <a:t>to</a:t>
            </a:r>
            <a:r>
              <a:rPr lang="en-US" dirty="0"/>
              <a:t> </a:t>
            </a:r>
            <a:r>
              <a:rPr lang="en-US" sz="2800" dirty="0"/>
              <a:t>change</a:t>
            </a:r>
            <a:r>
              <a:rPr lang="mr-IN" sz="2800" dirty="0"/>
              <a:t>…</a:t>
            </a:r>
            <a:endParaRPr lang="en-US" sz="2800" dirty="0"/>
          </a:p>
          <a:p>
            <a:r>
              <a:rPr lang="en-US" sz="4000" dirty="0"/>
              <a:t>sort</a:t>
            </a:r>
            <a:r>
              <a:rPr lang="en-US" dirty="0"/>
              <a:t> </a:t>
            </a:r>
            <a:r>
              <a:rPr lang="en-US" sz="3600" dirty="0"/>
              <a:t>of</a:t>
            </a:r>
            <a:r>
              <a:rPr lang="en-US" dirty="0"/>
              <a:t> </a:t>
            </a:r>
            <a:r>
              <a:rPr lang="en-US" sz="3200" dirty="0"/>
              <a:t>like</a:t>
            </a:r>
            <a:r>
              <a:rPr lang="en-US" dirty="0"/>
              <a:t> </a:t>
            </a:r>
            <a:r>
              <a:rPr lang="en-US" sz="2800" dirty="0"/>
              <a:t>when</a:t>
            </a:r>
            <a:r>
              <a:rPr lang="en-US" dirty="0"/>
              <a:t> </a:t>
            </a:r>
            <a:r>
              <a:rPr lang="en-US" sz="2400" dirty="0"/>
              <a:t>I</a:t>
            </a:r>
            <a:r>
              <a:rPr lang="en-US" dirty="0"/>
              <a:t> </a:t>
            </a:r>
            <a:r>
              <a:rPr lang="en-US" sz="2000" dirty="0"/>
              <a:t>first</a:t>
            </a:r>
            <a:r>
              <a:rPr lang="en-US" dirty="0"/>
              <a:t> got married. But </a:t>
            </a:r>
            <a:r>
              <a:rPr lang="en-US" sz="1400" dirty="0"/>
              <a:t>that’s</a:t>
            </a:r>
            <a:r>
              <a:rPr lang="en-US" dirty="0"/>
              <a:t> </a:t>
            </a:r>
            <a:r>
              <a:rPr lang="en-US" sz="1000" dirty="0"/>
              <a:t>another</a:t>
            </a:r>
            <a:r>
              <a:rPr lang="en-US" dirty="0"/>
              <a:t> </a:t>
            </a:r>
            <a:r>
              <a:rPr lang="en-US" sz="600" dirty="0"/>
              <a:t>story “</a:t>
            </a:r>
          </a:p>
        </p:txBody>
      </p:sp>
    </p:spTree>
    <p:extLst>
      <p:ext uri="{BB962C8B-B14F-4D97-AF65-F5344CB8AC3E}">
        <p14:creationId xmlns:p14="http://schemas.microsoft.com/office/powerpoint/2010/main" val="22426111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4723"/>
            <a:ext cx="8229600" cy="821155"/>
          </a:xfrm>
        </p:spPr>
        <p:txBody>
          <a:bodyPr/>
          <a:lstStyle/>
          <a:p>
            <a:r>
              <a:rPr lang="en-US" dirty="0"/>
              <a:t>Bus Organization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77200" cy="5291138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Answer</a:t>
            </a:r>
            <a:r>
              <a:rPr lang="en-US" sz="1800" dirty="0"/>
              <a:t>: All logic devices that connect to a bus are actually divided into two parts: </a:t>
            </a:r>
            <a:r>
              <a:rPr lang="en-US" sz="1800" b="1" u="sng" dirty="0"/>
              <a:t>Logic functional block </a:t>
            </a:r>
            <a:r>
              <a:rPr lang="en-US" sz="1800" dirty="0"/>
              <a:t>and </a:t>
            </a:r>
            <a:r>
              <a:rPr lang="en-US" sz="1800" b="1" u="sng" dirty="0"/>
              <a:t>bus interface unit</a:t>
            </a:r>
          </a:p>
          <a:p>
            <a:endParaRPr lang="en-US" sz="1800" dirty="0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090863" y="4244975"/>
            <a:ext cx="1046162" cy="10064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806950" y="4254500"/>
            <a:ext cx="1046163" cy="10064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1474788" y="4754563"/>
            <a:ext cx="1616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052513" y="4398963"/>
            <a:ext cx="1284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Input(s) a,b,c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3135313" y="4389438"/>
            <a:ext cx="9302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Logical</a:t>
            </a:r>
          </a:p>
          <a:p>
            <a:pPr algn="ctr" eaLnBrk="1" hangingPunct="1"/>
            <a:r>
              <a:rPr lang="en-US" sz="1400" b="1"/>
              <a:t>Function</a:t>
            </a:r>
          </a:p>
          <a:p>
            <a:pPr algn="ctr" eaLnBrk="1" hangingPunct="1"/>
            <a:r>
              <a:rPr lang="en-US" sz="1400" b="1"/>
              <a:t>1</a:t>
            </a:r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5854700" y="4724400"/>
            <a:ext cx="177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flipH="1">
            <a:off x="7623175" y="2265363"/>
            <a:ext cx="12700" cy="3190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5" name="Freeform 11"/>
          <p:cNvSpPr>
            <a:spLocks/>
          </p:cNvSpPr>
          <p:nvPr/>
        </p:nvSpPr>
        <p:spPr bwMode="auto">
          <a:xfrm>
            <a:off x="4533900" y="4521200"/>
            <a:ext cx="903288" cy="1333500"/>
          </a:xfrm>
          <a:custGeom>
            <a:avLst/>
            <a:gdLst>
              <a:gd name="T0" fmla="*/ 2147483647 w 576"/>
              <a:gd name="T1" fmla="*/ 0 h 480"/>
              <a:gd name="T2" fmla="*/ 2147483647 w 576"/>
              <a:gd name="T3" fmla="*/ 2147483647 h 480"/>
              <a:gd name="T4" fmla="*/ 0 w 576"/>
              <a:gd name="T5" fmla="*/ 2147483647 h 480"/>
              <a:gd name="T6" fmla="*/ 0 60000 65536"/>
              <a:gd name="T7" fmla="*/ 0 60000 65536"/>
              <a:gd name="T8" fmla="*/ 0 60000 65536"/>
              <a:gd name="T9" fmla="*/ 0 w 576"/>
              <a:gd name="T10" fmla="*/ 0 h 480"/>
              <a:gd name="T11" fmla="*/ 576 w 57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480">
                <a:moveTo>
                  <a:pt x="576" y="0"/>
                </a:moveTo>
                <a:lnTo>
                  <a:pt x="576" y="480"/>
                </a:lnTo>
                <a:lnTo>
                  <a:pt x="0" y="480"/>
                </a:lnTo>
              </a:path>
            </a:pathLst>
          </a:cu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695325" y="5476875"/>
            <a:ext cx="3602038" cy="73025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>
                <a:latin typeface="Arial" charset="0"/>
              </a:rPr>
              <a:t>                         </a:t>
            </a:r>
            <a:r>
              <a:rPr lang="en-US" sz="1400" b="1" u="sng">
                <a:latin typeface="Arial" charset="0"/>
              </a:rPr>
              <a:t>Bus control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" charset="0"/>
              </a:rPr>
              <a:t> Close the switch &gt; output connected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" charset="0"/>
              </a:rPr>
              <a:t> Open the switch &gt; output disconnected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4891088" y="3654425"/>
            <a:ext cx="9223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Bus</a:t>
            </a:r>
          </a:p>
          <a:p>
            <a:pPr algn="ctr" eaLnBrk="1" hangingPunct="1"/>
            <a:r>
              <a:rPr lang="en-US" sz="1400" b="1"/>
              <a:t>Interface</a:t>
            </a:r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H="1">
            <a:off x="4141788" y="473075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7354888" y="5507038"/>
            <a:ext cx="5603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BUS</a:t>
            </a:r>
          </a:p>
        </p:txBody>
      </p:sp>
      <p:sp>
        <p:nvSpPr>
          <p:cNvPr id="31760" name="Freeform 16"/>
          <p:cNvSpPr>
            <a:spLocks/>
          </p:cNvSpPr>
          <p:nvPr/>
        </p:nvSpPr>
        <p:spPr bwMode="auto">
          <a:xfrm>
            <a:off x="4806950" y="4389438"/>
            <a:ext cx="769938" cy="346075"/>
          </a:xfrm>
          <a:custGeom>
            <a:avLst/>
            <a:gdLst>
              <a:gd name="T0" fmla="*/ 0 w 485"/>
              <a:gd name="T1" fmla="*/ 2147483647 h 218"/>
              <a:gd name="T2" fmla="*/ 2147483647 w 485"/>
              <a:gd name="T3" fmla="*/ 2147483647 h 218"/>
              <a:gd name="T4" fmla="*/ 2147483647 w 485"/>
              <a:gd name="T5" fmla="*/ 0 h 218"/>
              <a:gd name="T6" fmla="*/ 0 60000 65536"/>
              <a:gd name="T7" fmla="*/ 0 60000 65536"/>
              <a:gd name="T8" fmla="*/ 0 60000 65536"/>
              <a:gd name="T9" fmla="*/ 0 w 485"/>
              <a:gd name="T10" fmla="*/ 0 h 218"/>
              <a:gd name="T11" fmla="*/ 485 w 485"/>
              <a:gd name="T12" fmla="*/ 218 h 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5" h="218">
                <a:moveTo>
                  <a:pt x="0" y="218"/>
                </a:moveTo>
                <a:lnTo>
                  <a:pt x="225" y="218"/>
                </a:lnTo>
                <a:lnTo>
                  <a:pt x="485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H="1">
            <a:off x="5543550" y="4724400"/>
            <a:ext cx="301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1762" name="Oval 18"/>
          <p:cNvSpPr>
            <a:spLocks noChangeArrowheads="1"/>
          </p:cNvSpPr>
          <p:nvPr/>
        </p:nvSpPr>
        <p:spPr bwMode="auto">
          <a:xfrm>
            <a:off x="5510213" y="4367213"/>
            <a:ext cx="88900" cy="889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63" name="Oval 19"/>
          <p:cNvSpPr>
            <a:spLocks noChangeArrowheads="1"/>
          </p:cNvSpPr>
          <p:nvPr/>
        </p:nvSpPr>
        <p:spPr bwMode="auto">
          <a:xfrm>
            <a:off x="5527675" y="4665663"/>
            <a:ext cx="88900" cy="889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64" name="Rectangle 189"/>
          <p:cNvSpPr>
            <a:spLocks noChangeArrowheads="1"/>
          </p:cNvSpPr>
          <p:nvPr/>
        </p:nvSpPr>
        <p:spPr bwMode="auto">
          <a:xfrm>
            <a:off x="3116263" y="2466975"/>
            <a:ext cx="1046162" cy="10064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65" name="Rectangle 190"/>
          <p:cNvSpPr>
            <a:spLocks noChangeArrowheads="1"/>
          </p:cNvSpPr>
          <p:nvPr/>
        </p:nvSpPr>
        <p:spPr bwMode="auto">
          <a:xfrm>
            <a:off x="4832350" y="2476500"/>
            <a:ext cx="1046163" cy="10064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66" name="Line 191"/>
          <p:cNvSpPr>
            <a:spLocks noChangeShapeType="1"/>
          </p:cNvSpPr>
          <p:nvPr/>
        </p:nvSpPr>
        <p:spPr bwMode="auto">
          <a:xfrm flipH="1">
            <a:off x="1500188" y="2976563"/>
            <a:ext cx="1616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67" name="Text Box 192"/>
          <p:cNvSpPr txBox="1">
            <a:spLocks noChangeArrowheads="1"/>
          </p:cNvSpPr>
          <p:nvPr/>
        </p:nvSpPr>
        <p:spPr bwMode="auto">
          <a:xfrm>
            <a:off x="1098550" y="2620963"/>
            <a:ext cx="124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Input(s) d,e,f</a:t>
            </a:r>
          </a:p>
        </p:txBody>
      </p:sp>
      <p:sp>
        <p:nvSpPr>
          <p:cNvPr id="31768" name="Text Box 193"/>
          <p:cNvSpPr txBox="1">
            <a:spLocks noChangeArrowheads="1"/>
          </p:cNvSpPr>
          <p:nvPr/>
        </p:nvSpPr>
        <p:spPr bwMode="auto">
          <a:xfrm>
            <a:off x="3160713" y="2611438"/>
            <a:ext cx="9302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Logical</a:t>
            </a:r>
          </a:p>
          <a:p>
            <a:pPr algn="ctr" eaLnBrk="1" hangingPunct="1"/>
            <a:r>
              <a:rPr lang="en-US" sz="1400" b="1"/>
              <a:t>Function</a:t>
            </a:r>
          </a:p>
          <a:p>
            <a:pPr algn="ctr" eaLnBrk="1" hangingPunct="1"/>
            <a:r>
              <a:rPr lang="en-US" sz="1400" b="1"/>
              <a:t>2</a:t>
            </a:r>
          </a:p>
        </p:txBody>
      </p:sp>
      <p:sp>
        <p:nvSpPr>
          <p:cNvPr id="31769" name="Line 194"/>
          <p:cNvSpPr>
            <a:spLocks noChangeShapeType="1"/>
          </p:cNvSpPr>
          <p:nvPr/>
        </p:nvSpPr>
        <p:spPr bwMode="auto">
          <a:xfrm>
            <a:off x="5880100" y="2946400"/>
            <a:ext cx="17780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70" name="Line 195"/>
          <p:cNvSpPr>
            <a:spLocks noChangeShapeType="1"/>
          </p:cNvSpPr>
          <p:nvPr/>
        </p:nvSpPr>
        <p:spPr bwMode="auto">
          <a:xfrm flipH="1">
            <a:off x="4167188" y="2967038"/>
            <a:ext cx="685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71" name="Freeform 196"/>
          <p:cNvSpPr>
            <a:spLocks/>
          </p:cNvSpPr>
          <p:nvPr/>
        </p:nvSpPr>
        <p:spPr bwMode="auto">
          <a:xfrm>
            <a:off x="4832350" y="2814638"/>
            <a:ext cx="757238" cy="142875"/>
          </a:xfrm>
          <a:custGeom>
            <a:avLst/>
            <a:gdLst>
              <a:gd name="T0" fmla="*/ 0 w 485"/>
              <a:gd name="T1" fmla="*/ 2147483647 h 218"/>
              <a:gd name="T2" fmla="*/ 2147483647 w 485"/>
              <a:gd name="T3" fmla="*/ 2147483647 h 218"/>
              <a:gd name="T4" fmla="*/ 2147483647 w 485"/>
              <a:gd name="T5" fmla="*/ 0 h 218"/>
              <a:gd name="T6" fmla="*/ 0 60000 65536"/>
              <a:gd name="T7" fmla="*/ 0 60000 65536"/>
              <a:gd name="T8" fmla="*/ 0 60000 65536"/>
              <a:gd name="T9" fmla="*/ 0 w 485"/>
              <a:gd name="T10" fmla="*/ 0 h 218"/>
              <a:gd name="T11" fmla="*/ 485 w 485"/>
              <a:gd name="T12" fmla="*/ 218 h 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5" h="218">
                <a:moveTo>
                  <a:pt x="0" y="218"/>
                </a:moveTo>
                <a:lnTo>
                  <a:pt x="225" y="218"/>
                </a:lnTo>
                <a:lnTo>
                  <a:pt x="485" y="0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1772" name="Line 197"/>
          <p:cNvSpPr>
            <a:spLocks noChangeShapeType="1"/>
          </p:cNvSpPr>
          <p:nvPr/>
        </p:nvSpPr>
        <p:spPr bwMode="auto">
          <a:xfrm flipH="1">
            <a:off x="5568950" y="2946400"/>
            <a:ext cx="301625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1773" name="Oval 198"/>
          <p:cNvSpPr>
            <a:spLocks noChangeArrowheads="1"/>
          </p:cNvSpPr>
          <p:nvPr/>
        </p:nvSpPr>
        <p:spPr bwMode="auto">
          <a:xfrm>
            <a:off x="5548313" y="2779713"/>
            <a:ext cx="88900" cy="889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74" name="Oval 199"/>
          <p:cNvSpPr>
            <a:spLocks noChangeArrowheads="1"/>
          </p:cNvSpPr>
          <p:nvPr/>
        </p:nvSpPr>
        <p:spPr bwMode="auto">
          <a:xfrm>
            <a:off x="5553075" y="2887663"/>
            <a:ext cx="88900" cy="889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1775" name="Text Box 200"/>
          <p:cNvSpPr txBox="1">
            <a:spLocks noChangeArrowheads="1"/>
          </p:cNvSpPr>
          <p:nvPr/>
        </p:nvSpPr>
        <p:spPr bwMode="auto">
          <a:xfrm>
            <a:off x="6029325" y="2649538"/>
            <a:ext cx="147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Connected to bus</a:t>
            </a:r>
          </a:p>
        </p:txBody>
      </p:sp>
      <p:sp>
        <p:nvSpPr>
          <p:cNvPr id="31776" name="Text Box 201"/>
          <p:cNvSpPr txBox="1">
            <a:spLocks noChangeArrowheads="1"/>
          </p:cNvSpPr>
          <p:nvPr/>
        </p:nvSpPr>
        <p:spPr bwMode="auto">
          <a:xfrm>
            <a:off x="5953125" y="4440238"/>
            <a:ext cx="1498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Isolated from  bus</a:t>
            </a:r>
          </a:p>
        </p:txBody>
      </p:sp>
    </p:spTree>
    <p:extLst>
      <p:ext uri="{BB962C8B-B14F-4D97-AF65-F5344CB8AC3E}">
        <p14:creationId xmlns:p14="http://schemas.microsoft.com/office/powerpoint/2010/main" val="4213613258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6781800" y="38100"/>
            <a:ext cx="2362200" cy="1295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Electronic “Switch”</a:t>
            </a:r>
          </a:p>
        </p:txBody>
      </p:sp>
      <p:cxnSp>
        <p:nvCxnSpPr>
          <p:cNvPr id="47" name="Straight Connector 46"/>
          <p:cNvCxnSpPr/>
          <p:nvPr/>
        </p:nvCxnSpPr>
        <p:spPr>
          <a:xfrm rot="10800000">
            <a:off x="5499100" y="4064000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6537960" cy="821155"/>
          </a:xfrm>
        </p:spPr>
        <p:txBody>
          <a:bodyPr/>
          <a:lstStyle/>
          <a:p>
            <a:r>
              <a:rPr lang="en-US" sz="400" dirty="0"/>
              <a:t>(</a:t>
            </a:r>
            <a:r>
              <a:rPr lang="en-US" sz="800" dirty="0"/>
              <a:t>The Wheels O</a:t>
            </a:r>
            <a:r>
              <a:rPr lang="en-US" sz="400" dirty="0"/>
              <a:t>n)</a:t>
            </a:r>
            <a:r>
              <a:rPr lang="en-US" sz="1200" dirty="0"/>
              <a:t> </a:t>
            </a:r>
            <a:r>
              <a:rPr lang="en-US" dirty="0"/>
              <a:t>The Bus &amp; Arbiter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57200" y="4038600"/>
            <a:ext cx="8382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90003" y="3521363"/>
            <a:ext cx="1324797" cy="364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Data Write</a:t>
            </a:r>
          </a:p>
        </p:txBody>
      </p:sp>
      <p:sp>
        <p:nvSpPr>
          <p:cNvPr id="8" name="Oval 7"/>
          <p:cNvSpPr/>
          <p:nvPr/>
        </p:nvSpPr>
        <p:spPr>
          <a:xfrm>
            <a:off x="8026400" y="682064"/>
            <a:ext cx="156136" cy="15613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7239000" y="5842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8216900" y="393700"/>
            <a:ext cx="228600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602911" y="3670299"/>
            <a:ext cx="106643" cy="1066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7759700" y="3219951"/>
            <a:ext cx="0" cy="391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887911" y="3657600"/>
            <a:ext cx="106643" cy="106643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2044700" y="3187701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1828800" y="3505200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34" name="Oval 33"/>
          <p:cNvSpPr/>
          <p:nvPr/>
        </p:nvSpPr>
        <p:spPr>
          <a:xfrm>
            <a:off x="4821611" y="3670299"/>
            <a:ext cx="106643" cy="1066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4978400" y="3276600"/>
            <a:ext cx="0" cy="35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0800000">
            <a:off x="4762500" y="3517899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9624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978400" y="3695822"/>
            <a:ext cx="0" cy="35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759700" y="3647574"/>
            <a:ext cx="0" cy="391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7543800" y="3517899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&quot;No&quot; Symbol 13"/>
          <p:cNvSpPr/>
          <p:nvPr/>
        </p:nvSpPr>
        <p:spPr>
          <a:xfrm>
            <a:off x="4813300" y="3781175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&quot;No&quot; Symbol 40"/>
          <p:cNvSpPr/>
          <p:nvPr/>
        </p:nvSpPr>
        <p:spPr>
          <a:xfrm>
            <a:off x="7599826" y="3759200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 rot="10800000">
            <a:off x="2260600" y="4013200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>
            <a:off x="2044700" y="4330699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2319057" y="4368800"/>
            <a:ext cx="106643" cy="1066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66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45" name="Isosceles Triangle 44"/>
          <p:cNvSpPr/>
          <p:nvPr/>
        </p:nvSpPr>
        <p:spPr>
          <a:xfrm>
            <a:off x="5295900" y="4305300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5570257" y="4343401"/>
            <a:ext cx="106643" cy="1066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rot="10800000">
            <a:off x="8280400" y="4038600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>
            <a:off x="8077200" y="4292599"/>
            <a:ext cx="419100" cy="2667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8351557" y="4330700"/>
            <a:ext cx="106643" cy="10664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4724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sp>
        <p:nvSpPr>
          <p:cNvPr id="51" name="&quot;No&quot; Symbol 50"/>
          <p:cNvSpPr/>
          <p:nvPr/>
        </p:nvSpPr>
        <p:spPr>
          <a:xfrm>
            <a:off x="2108200" y="4038600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&quot;No&quot; Symbol 51"/>
          <p:cNvSpPr/>
          <p:nvPr/>
        </p:nvSpPr>
        <p:spPr>
          <a:xfrm>
            <a:off x="5346700" y="4038600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&quot;No&quot; Symbol 52"/>
          <p:cNvSpPr/>
          <p:nvPr/>
        </p:nvSpPr>
        <p:spPr>
          <a:xfrm>
            <a:off x="8115300" y="4038600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8470900" y="5969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rved Left Arrow 17"/>
          <p:cNvSpPr/>
          <p:nvPr/>
        </p:nvSpPr>
        <p:spPr>
          <a:xfrm rot="19041926">
            <a:off x="8557019" y="103267"/>
            <a:ext cx="228600" cy="38100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089900" y="596900"/>
            <a:ext cx="3937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7620000" y="304800"/>
            <a:ext cx="762000" cy="5334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&quot;No&quot; Symbol 56"/>
          <p:cNvSpPr/>
          <p:nvPr/>
        </p:nvSpPr>
        <p:spPr>
          <a:xfrm>
            <a:off x="8686800" y="457200"/>
            <a:ext cx="312274" cy="286251"/>
          </a:xfrm>
          <a:prstGeom prst="noSmoking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057400" y="3240168"/>
            <a:ext cx="0" cy="8015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978400" y="3302000"/>
            <a:ext cx="0" cy="8015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7772400" y="3249797"/>
            <a:ext cx="0" cy="8015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8280400" y="4033088"/>
            <a:ext cx="0" cy="7109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5511800" y="4038600"/>
            <a:ext cx="0" cy="7109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2260600" y="4045788"/>
            <a:ext cx="0" cy="7109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1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9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8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1" grpId="0" animBg="1"/>
      <p:bldP spid="51" grpId="0" animBg="1"/>
      <p:bldP spid="52" grpId="0" animBg="1"/>
      <p:bldP spid="53" grpId="0" animBg="1"/>
      <p:bldP spid="18" grpId="0" animBg="1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33400"/>
            <a:ext cx="8229600" cy="1600200"/>
          </a:xfrm>
        </p:spPr>
        <p:txBody>
          <a:bodyPr/>
          <a:lstStyle/>
          <a:p>
            <a:r>
              <a:rPr lang="en-US" dirty="0"/>
              <a:t>4-b Width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574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FlashDrive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52400" y="4038600"/>
            <a:ext cx="8382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764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905000" y="3276600"/>
            <a:ext cx="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4800" y="4191000"/>
            <a:ext cx="8382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57200" y="4343400"/>
            <a:ext cx="8382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09600" y="4495800"/>
            <a:ext cx="83820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133600" y="3276600"/>
            <a:ext cx="0" cy="990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362200" y="327660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343400" y="32766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572000" y="3276600"/>
            <a:ext cx="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800600" y="3276600"/>
            <a:ext cx="0" cy="990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029200" y="327660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09600" y="51816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HardDriveA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505200" y="51816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SoundCard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6324600" y="5181600"/>
            <a:ext cx="2057400" cy="121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NetworkCard</a:t>
            </a:r>
            <a:endParaRPr lang="en-US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239000" y="44958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7010400" y="4343400"/>
            <a:ext cx="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781800" y="4191000"/>
            <a:ext cx="0" cy="990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553200" y="403860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419600" y="44958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4191000" y="4343400"/>
            <a:ext cx="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962400" y="4191000"/>
            <a:ext cx="0" cy="990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733800" y="403860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752600" y="4495800"/>
            <a:ext cx="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524000" y="4343400"/>
            <a:ext cx="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295400" y="4191000"/>
            <a:ext cx="0" cy="990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66800" y="403860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7696200" y="3569732"/>
            <a:ext cx="30480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24800" y="33528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7780057" y="3970057"/>
            <a:ext cx="106643" cy="10664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772400" y="4127500"/>
            <a:ext cx="106643" cy="10664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772400" y="4274857"/>
            <a:ext cx="106643" cy="10664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35900" y="3243072"/>
            <a:ext cx="0" cy="12908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780057" y="4452657"/>
            <a:ext cx="106643" cy="10664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6934200" y="38100"/>
            <a:ext cx="2209800" cy="1295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Tri-State Buffer</a:t>
            </a:r>
          </a:p>
        </p:txBody>
      </p:sp>
      <p:sp>
        <p:nvSpPr>
          <p:cNvPr id="59" name="Oval 58"/>
          <p:cNvSpPr/>
          <p:nvPr/>
        </p:nvSpPr>
        <p:spPr>
          <a:xfrm>
            <a:off x="8026400" y="682064"/>
            <a:ext cx="156136" cy="15613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>
            <a:off x="7239000" y="5842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216900" y="393700"/>
            <a:ext cx="228600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7620000" y="304800"/>
            <a:ext cx="762000" cy="5334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8458200" y="596900"/>
            <a:ext cx="533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urved Left Arrow 63"/>
          <p:cNvSpPr/>
          <p:nvPr/>
        </p:nvSpPr>
        <p:spPr>
          <a:xfrm rot="19041926">
            <a:off x="8557019" y="103267"/>
            <a:ext cx="228600" cy="38100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0" y="3327400"/>
            <a:ext cx="1219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Bus Stride Notation</a:t>
            </a:r>
          </a:p>
        </p:txBody>
      </p:sp>
    </p:spTree>
    <p:extLst>
      <p:ext uri="{BB962C8B-B14F-4D97-AF65-F5344CB8AC3E}">
        <p14:creationId xmlns:p14="http://schemas.microsoft.com/office/powerpoint/2010/main" val="1569249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821155"/>
          </a:xfrm>
        </p:spPr>
        <p:txBody>
          <a:bodyPr/>
          <a:lstStyle/>
          <a:p>
            <a:r>
              <a:rPr lang="en-US" dirty="0"/>
              <a:t>Bus Structure: Tri-State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671513" y="6005513"/>
            <a:ext cx="72437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2" name="AutoShape 7"/>
          <p:cNvSpPr>
            <a:spLocks noChangeArrowheads="1"/>
          </p:cNvSpPr>
          <p:nvPr/>
        </p:nvSpPr>
        <p:spPr bwMode="auto">
          <a:xfrm>
            <a:off x="1341438" y="3167063"/>
            <a:ext cx="782637" cy="692150"/>
          </a:xfrm>
          <a:prstGeom prst="flowChartDelay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2773" name="Text Box 9"/>
          <p:cNvSpPr txBox="1">
            <a:spLocks noChangeArrowheads="1"/>
          </p:cNvSpPr>
          <p:nvPr/>
        </p:nvSpPr>
        <p:spPr bwMode="auto">
          <a:xfrm>
            <a:off x="1360488" y="3244850"/>
            <a:ext cx="6556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Logic</a:t>
            </a:r>
          </a:p>
          <a:p>
            <a:pPr algn="ctr" eaLnBrk="1" hangingPunct="1"/>
            <a:r>
              <a:rPr lang="en-US" sz="1400" b="1"/>
              <a:t>Gate</a:t>
            </a:r>
          </a:p>
        </p:txBody>
      </p:sp>
      <p:sp>
        <p:nvSpPr>
          <p:cNvPr id="32794" name="AutoShape 38"/>
          <p:cNvSpPr>
            <a:spLocks noChangeArrowheads="1"/>
          </p:cNvSpPr>
          <p:nvPr/>
        </p:nvSpPr>
        <p:spPr bwMode="auto">
          <a:xfrm rot="5400000" flipH="1">
            <a:off x="3200400" y="2520950"/>
            <a:ext cx="1757363" cy="1890713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2795" name="Line 39"/>
          <p:cNvSpPr>
            <a:spLocks noChangeShapeType="1"/>
          </p:cNvSpPr>
          <p:nvPr/>
        </p:nvSpPr>
        <p:spPr bwMode="auto">
          <a:xfrm flipH="1">
            <a:off x="4429125" y="3460750"/>
            <a:ext cx="1533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6" name="Oval 40"/>
          <p:cNvSpPr>
            <a:spLocks noChangeArrowheads="1"/>
          </p:cNvSpPr>
          <p:nvPr/>
        </p:nvSpPr>
        <p:spPr bwMode="auto">
          <a:xfrm>
            <a:off x="3962400" y="3124200"/>
            <a:ext cx="92075" cy="825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2797" name="Line 46"/>
          <p:cNvSpPr>
            <a:spLocks noChangeShapeType="1"/>
          </p:cNvSpPr>
          <p:nvPr/>
        </p:nvSpPr>
        <p:spPr bwMode="auto">
          <a:xfrm flipH="1" flipV="1">
            <a:off x="4003675" y="3173413"/>
            <a:ext cx="436563" cy="274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98" name="Oval 47"/>
          <p:cNvSpPr>
            <a:spLocks noChangeArrowheads="1"/>
          </p:cNvSpPr>
          <p:nvPr/>
        </p:nvSpPr>
        <p:spPr bwMode="auto">
          <a:xfrm>
            <a:off x="4132263" y="3886200"/>
            <a:ext cx="112712" cy="112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2799" name="Line 48"/>
          <p:cNvSpPr>
            <a:spLocks noChangeShapeType="1"/>
          </p:cNvSpPr>
          <p:nvPr/>
        </p:nvSpPr>
        <p:spPr bwMode="auto">
          <a:xfrm>
            <a:off x="4195763" y="4022725"/>
            <a:ext cx="0" cy="619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800" name="Line 49"/>
          <p:cNvSpPr>
            <a:spLocks noChangeShapeType="1"/>
          </p:cNvSpPr>
          <p:nvPr/>
        </p:nvSpPr>
        <p:spPr bwMode="auto">
          <a:xfrm>
            <a:off x="4186238" y="3276600"/>
            <a:ext cx="0" cy="60007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801" name="Text Box 58"/>
          <p:cNvSpPr txBox="1">
            <a:spLocks noChangeArrowheads="1"/>
          </p:cNvSpPr>
          <p:nvPr/>
        </p:nvSpPr>
        <p:spPr bwMode="auto">
          <a:xfrm>
            <a:off x="2301875" y="3141663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1 or 0</a:t>
            </a:r>
          </a:p>
        </p:txBody>
      </p:sp>
      <p:sp>
        <p:nvSpPr>
          <p:cNvPr id="32802" name="Text Box 59"/>
          <p:cNvSpPr txBox="1">
            <a:spLocks noChangeArrowheads="1"/>
          </p:cNvSpPr>
          <p:nvPr/>
        </p:nvSpPr>
        <p:spPr bwMode="auto">
          <a:xfrm>
            <a:off x="5094288" y="3092450"/>
            <a:ext cx="1219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/>
              <a:t>1 or 0 or HiZ</a:t>
            </a:r>
          </a:p>
        </p:txBody>
      </p:sp>
      <p:sp>
        <p:nvSpPr>
          <p:cNvPr id="32803" name="Line 60"/>
          <p:cNvSpPr>
            <a:spLocks noChangeShapeType="1"/>
          </p:cNvSpPr>
          <p:nvPr/>
        </p:nvSpPr>
        <p:spPr bwMode="auto">
          <a:xfrm flipH="1">
            <a:off x="2095500" y="3505200"/>
            <a:ext cx="191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2804" name="Line 64"/>
          <p:cNvSpPr>
            <a:spLocks noChangeShapeType="1"/>
          </p:cNvSpPr>
          <p:nvPr/>
        </p:nvSpPr>
        <p:spPr bwMode="auto">
          <a:xfrm flipH="1">
            <a:off x="419100" y="3314700"/>
            <a:ext cx="927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2805" name="Line 65"/>
          <p:cNvSpPr>
            <a:spLocks noChangeShapeType="1"/>
          </p:cNvSpPr>
          <p:nvPr/>
        </p:nvSpPr>
        <p:spPr bwMode="auto">
          <a:xfrm flipH="1">
            <a:off x="419100" y="3721100"/>
            <a:ext cx="927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2806" name="Line 66"/>
          <p:cNvSpPr>
            <a:spLocks noChangeShapeType="1"/>
          </p:cNvSpPr>
          <p:nvPr/>
        </p:nvSpPr>
        <p:spPr bwMode="auto">
          <a:xfrm>
            <a:off x="5956300" y="3467100"/>
            <a:ext cx="0" cy="2540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2807" name="Oval 67"/>
          <p:cNvSpPr>
            <a:spLocks noChangeArrowheads="1"/>
          </p:cNvSpPr>
          <p:nvPr/>
        </p:nvSpPr>
        <p:spPr bwMode="auto">
          <a:xfrm>
            <a:off x="5867400" y="5943600"/>
            <a:ext cx="1651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2808" name="Text Box 68"/>
          <p:cNvSpPr txBox="1">
            <a:spLocks noChangeArrowheads="1"/>
          </p:cNvSpPr>
          <p:nvPr/>
        </p:nvSpPr>
        <p:spPr bwMode="auto">
          <a:xfrm>
            <a:off x="3336925" y="2344738"/>
            <a:ext cx="1528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Bus Interface Gate</a:t>
            </a:r>
          </a:p>
        </p:txBody>
      </p:sp>
      <p:sp>
        <p:nvSpPr>
          <p:cNvPr id="32809" name="Text Box 69"/>
          <p:cNvSpPr txBox="1">
            <a:spLocks noChangeArrowheads="1"/>
          </p:cNvSpPr>
          <p:nvPr/>
        </p:nvSpPr>
        <p:spPr bwMode="auto">
          <a:xfrm>
            <a:off x="2092325" y="1493838"/>
            <a:ext cx="26066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Truth table for Bus Interface Gate</a:t>
            </a:r>
          </a:p>
        </p:txBody>
      </p:sp>
      <p:sp>
        <p:nvSpPr>
          <p:cNvPr id="32810" name="Line 70"/>
          <p:cNvSpPr>
            <a:spLocks noChangeShapeType="1"/>
          </p:cNvSpPr>
          <p:nvPr/>
        </p:nvSpPr>
        <p:spPr bwMode="auto">
          <a:xfrm>
            <a:off x="4787900" y="1638300"/>
            <a:ext cx="50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2811" name="Text Box 71"/>
          <p:cNvSpPr txBox="1">
            <a:spLocks noChangeArrowheads="1"/>
          </p:cNvSpPr>
          <p:nvPr/>
        </p:nvSpPr>
        <p:spPr bwMode="auto">
          <a:xfrm>
            <a:off x="2333625" y="2792413"/>
            <a:ext cx="736600" cy="32385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INPUT</a:t>
            </a:r>
          </a:p>
        </p:txBody>
      </p:sp>
      <p:sp>
        <p:nvSpPr>
          <p:cNvPr id="32812" name="Text Box 72"/>
          <p:cNvSpPr txBox="1">
            <a:spLocks noChangeArrowheads="1"/>
          </p:cNvSpPr>
          <p:nvPr/>
        </p:nvSpPr>
        <p:spPr bwMode="auto">
          <a:xfrm>
            <a:off x="5000625" y="3554413"/>
            <a:ext cx="933450" cy="32385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400" b="1"/>
              <a:t>OUTPUT</a:t>
            </a:r>
          </a:p>
        </p:txBody>
      </p:sp>
      <p:sp>
        <p:nvSpPr>
          <p:cNvPr id="32813" name="Text Box 73"/>
          <p:cNvSpPr txBox="1">
            <a:spLocks noChangeArrowheads="1"/>
          </p:cNvSpPr>
          <p:nvPr/>
        </p:nvSpPr>
        <p:spPr bwMode="auto">
          <a:xfrm>
            <a:off x="2738438" y="4379913"/>
            <a:ext cx="782637" cy="52322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/>
              <a:t>Output</a:t>
            </a:r>
          </a:p>
          <a:p>
            <a:pPr algn="ctr" eaLnBrk="1" hangingPunct="1"/>
            <a:r>
              <a:rPr lang="en-US" sz="1400" b="1" dirty="0"/>
              <a:t>Enable</a:t>
            </a:r>
          </a:p>
        </p:txBody>
      </p:sp>
      <p:cxnSp>
        <p:nvCxnSpPr>
          <p:cNvPr id="32815" name="Straight Connector 51"/>
          <p:cNvCxnSpPr>
            <a:cxnSpLocks noChangeShapeType="1"/>
          </p:cNvCxnSpPr>
          <p:nvPr/>
        </p:nvCxnSpPr>
        <p:spPr bwMode="auto">
          <a:xfrm flipH="1">
            <a:off x="3521075" y="4641850"/>
            <a:ext cx="66516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6096000" y="3886200"/>
            <a:ext cx="3111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Output Enable is 0 to activate. Why?</a:t>
            </a:r>
          </a:p>
          <a:p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1" name="Text Box 37"/>
          <p:cNvSpPr txBox="1">
            <a:spLocks noChangeArrowheads="1"/>
          </p:cNvSpPr>
          <p:nvPr/>
        </p:nvSpPr>
        <p:spPr bwMode="auto">
          <a:xfrm>
            <a:off x="6650247" y="2880053"/>
            <a:ext cx="22220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srgbClr val="0033CC"/>
                </a:solidFill>
              </a:rPr>
              <a:t>Hi Z: removing the gate </a:t>
            </a:r>
          </a:p>
          <a:p>
            <a:pPr algn="ctr" eaLnBrk="1" hangingPunct="1"/>
            <a:r>
              <a:rPr lang="en-US" sz="1400" b="1" dirty="0">
                <a:solidFill>
                  <a:srgbClr val="0033CC"/>
                </a:solidFill>
              </a:rPr>
              <a:t>from the circuit</a:t>
            </a:r>
          </a:p>
        </p:txBody>
      </p:sp>
      <p:sp>
        <p:nvSpPr>
          <p:cNvPr id="53" name="Rectangle 17"/>
          <p:cNvSpPr>
            <a:spLocks noChangeArrowheads="1"/>
          </p:cNvSpPr>
          <p:nvPr/>
        </p:nvSpPr>
        <p:spPr bwMode="auto">
          <a:xfrm>
            <a:off x="5437188" y="974725"/>
            <a:ext cx="3028950" cy="1800225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sz="1400" b="1"/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472113" y="1044575"/>
            <a:ext cx="3001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/>
              <a:t>Output Enable    INPUT   OUTPUT</a:t>
            </a:r>
          </a:p>
        </p:txBody>
      </p:sp>
      <p:sp>
        <p:nvSpPr>
          <p:cNvPr id="55" name="Line 20"/>
          <p:cNvSpPr>
            <a:spLocks noChangeShapeType="1"/>
          </p:cNvSpPr>
          <p:nvPr/>
        </p:nvSpPr>
        <p:spPr bwMode="auto">
          <a:xfrm>
            <a:off x="7551738" y="982663"/>
            <a:ext cx="11112" cy="180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" name="Line 21"/>
          <p:cNvSpPr>
            <a:spLocks noChangeShapeType="1"/>
          </p:cNvSpPr>
          <p:nvPr/>
        </p:nvSpPr>
        <p:spPr bwMode="auto">
          <a:xfrm flipV="1">
            <a:off x="5448300" y="1349375"/>
            <a:ext cx="304323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" name="Line 22"/>
          <p:cNvSpPr>
            <a:spLocks noChangeShapeType="1"/>
          </p:cNvSpPr>
          <p:nvPr/>
        </p:nvSpPr>
        <p:spPr bwMode="auto">
          <a:xfrm>
            <a:off x="5457825" y="1697038"/>
            <a:ext cx="3017838" cy="11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" name="Line 23"/>
          <p:cNvSpPr>
            <a:spLocks noChangeShapeType="1"/>
          </p:cNvSpPr>
          <p:nvPr/>
        </p:nvSpPr>
        <p:spPr bwMode="auto">
          <a:xfrm flipV="1">
            <a:off x="5446713" y="2032000"/>
            <a:ext cx="3030537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" name="Line 24"/>
          <p:cNvSpPr>
            <a:spLocks noChangeShapeType="1"/>
          </p:cNvSpPr>
          <p:nvPr/>
        </p:nvSpPr>
        <p:spPr bwMode="auto">
          <a:xfrm flipH="1">
            <a:off x="6880225" y="981075"/>
            <a:ext cx="1588" cy="177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" name="Line 25"/>
          <p:cNvSpPr>
            <a:spLocks noChangeShapeType="1"/>
          </p:cNvSpPr>
          <p:nvPr/>
        </p:nvSpPr>
        <p:spPr bwMode="auto">
          <a:xfrm flipV="1">
            <a:off x="5446713" y="2408238"/>
            <a:ext cx="300513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7770813" y="13890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1</a:t>
            </a:r>
          </a:p>
        </p:txBody>
      </p:sp>
      <p:sp>
        <p:nvSpPr>
          <p:cNvPr id="62" name="Text Box 27"/>
          <p:cNvSpPr txBox="1">
            <a:spLocks noChangeArrowheads="1"/>
          </p:cNvSpPr>
          <p:nvPr/>
        </p:nvSpPr>
        <p:spPr bwMode="auto">
          <a:xfrm>
            <a:off x="6026150" y="13827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0</a:t>
            </a:r>
          </a:p>
        </p:txBody>
      </p:sp>
      <p:sp>
        <p:nvSpPr>
          <p:cNvPr id="63" name="Text Box 28"/>
          <p:cNvSpPr txBox="1">
            <a:spLocks noChangeArrowheads="1"/>
          </p:cNvSpPr>
          <p:nvPr/>
        </p:nvSpPr>
        <p:spPr bwMode="auto">
          <a:xfrm>
            <a:off x="7040563" y="13954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1</a:t>
            </a:r>
          </a:p>
        </p:txBody>
      </p:sp>
      <p:sp>
        <p:nvSpPr>
          <p:cNvPr id="64" name="Text Box 29"/>
          <p:cNvSpPr txBox="1">
            <a:spLocks noChangeArrowheads="1"/>
          </p:cNvSpPr>
          <p:nvPr/>
        </p:nvSpPr>
        <p:spPr bwMode="auto">
          <a:xfrm>
            <a:off x="6026150" y="17192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0</a:t>
            </a:r>
          </a:p>
        </p:txBody>
      </p:sp>
      <p:sp>
        <p:nvSpPr>
          <p:cNvPr id="65" name="Text Box 30"/>
          <p:cNvSpPr txBox="1">
            <a:spLocks noChangeArrowheads="1"/>
          </p:cNvSpPr>
          <p:nvPr/>
        </p:nvSpPr>
        <p:spPr bwMode="auto">
          <a:xfrm>
            <a:off x="7038975" y="171608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0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7761288" y="17192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0</a:t>
            </a:r>
          </a:p>
        </p:txBody>
      </p:sp>
      <p:sp>
        <p:nvSpPr>
          <p:cNvPr id="67" name="Text Box 32"/>
          <p:cNvSpPr txBox="1">
            <a:spLocks noChangeArrowheads="1"/>
          </p:cNvSpPr>
          <p:nvPr/>
        </p:nvSpPr>
        <p:spPr bwMode="auto">
          <a:xfrm>
            <a:off x="6046788" y="20732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 dirty="0"/>
              <a:t>1</a:t>
            </a:r>
          </a:p>
        </p:txBody>
      </p:sp>
      <p:sp>
        <p:nvSpPr>
          <p:cNvPr id="68" name="Text Box 33"/>
          <p:cNvSpPr txBox="1">
            <a:spLocks noChangeArrowheads="1"/>
          </p:cNvSpPr>
          <p:nvPr/>
        </p:nvSpPr>
        <p:spPr bwMode="auto">
          <a:xfrm>
            <a:off x="6046788" y="24098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1</a:t>
            </a:r>
          </a:p>
        </p:txBody>
      </p:sp>
      <p:sp>
        <p:nvSpPr>
          <p:cNvPr id="69" name="Text Box 34"/>
          <p:cNvSpPr txBox="1">
            <a:spLocks noChangeArrowheads="1"/>
          </p:cNvSpPr>
          <p:nvPr/>
        </p:nvSpPr>
        <p:spPr bwMode="auto">
          <a:xfrm>
            <a:off x="7000875" y="2068513"/>
            <a:ext cx="331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 1</a:t>
            </a:r>
          </a:p>
        </p:txBody>
      </p:sp>
      <p:sp>
        <p:nvSpPr>
          <p:cNvPr id="70" name="Text Box 35"/>
          <p:cNvSpPr txBox="1">
            <a:spLocks noChangeArrowheads="1"/>
          </p:cNvSpPr>
          <p:nvPr/>
        </p:nvSpPr>
        <p:spPr bwMode="auto">
          <a:xfrm>
            <a:off x="7018338" y="2433638"/>
            <a:ext cx="3317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 0</a:t>
            </a:r>
          </a:p>
        </p:txBody>
      </p:sp>
      <p:sp>
        <p:nvSpPr>
          <p:cNvPr id="71" name="Text Box 36"/>
          <p:cNvSpPr txBox="1">
            <a:spLocks noChangeArrowheads="1"/>
          </p:cNvSpPr>
          <p:nvPr/>
        </p:nvSpPr>
        <p:spPr bwMode="auto">
          <a:xfrm>
            <a:off x="7556500" y="2073275"/>
            <a:ext cx="519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Hi Z</a:t>
            </a:r>
          </a:p>
        </p:txBody>
      </p: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7581900" y="2449513"/>
            <a:ext cx="519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400" b="1"/>
              <a:t>Hi Z</a:t>
            </a:r>
          </a:p>
        </p:txBody>
      </p:sp>
    </p:spTree>
    <p:extLst>
      <p:ext uri="{BB962C8B-B14F-4D97-AF65-F5344CB8AC3E}">
        <p14:creationId xmlns:p14="http://schemas.microsoft.com/office/powerpoint/2010/main" val="122722910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9"/>
          <p:cNvSpPr>
            <a:spLocks noChangeArrowheads="1"/>
          </p:cNvSpPr>
          <p:nvPr/>
        </p:nvSpPr>
        <p:spPr bwMode="auto">
          <a:xfrm>
            <a:off x="1625600" y="2152650"/>
            <a:ext cx="5194300" cy="34417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0963" name="Rectangle 1056"/>
          <p:cNvSpPr>
            <a:spLocks noChangeArrowheads="1"/>
          </p:cNvSpPr>
          <p:nvPr/>
        </p:nvSpPr>
        <p:spPr bwMode="auto">
          <a:xfrm>
            <a:off x="2679700" y="3092450"/>
            <a:ext cx="1600200" cy="1993900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40964" name="Rectangle 1048"/>
          <p:cNvSpPr>
            <a:spLocks noChangeArrowheads="1"/>
          </p:cNvSpPr>
          <p:nvPr/>
        </p:nvSpPr>
        <p:spPr bwMode="auto">
          <a:xfrm>
            <a:off x="4318000" y="3092450"/>
            <a:ext cx="1409700" cy="2006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409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696929"/>
            <a:ext cx="8686800" cy="903271"/>
          </a:xfrm>
        </p:spPr>
        <p:txBody>
          <a:bodyPr/>
          <a:lstStyle/>
          <a:p>
            <a:r>
              <a:rPr lang="en-US" dirty="0"/>
              <a:t>Packaged (Augmented) “D” Flip-Flop</a:t>
            </a:r>
          </a:p>
        </p:txBody>
      </p:sp>
      <p:sp>
        <p:nvSpPr>
          <p:cNvPr id="40966" name="Rectangle 1027"/>
          <p:cNvSpPr>
            <a:spLocks noChangeArrowheads="1"/>
          </p:cNvSpPr>
          <p:nvPr/>
        </p:nvSpPr>
        <p:spPr bwMode="auto">
          <a:xfrm>
            <a:off x="2667000" y="3092450"/>
            <a:ext cx="3073400" cy="2006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0967" name="Text Box 1028"/>
          <p:cNvSpPr txBox="1">
            <a:spLocks noChangeArrowheads="1"/>
          </p:cNvSpPr>
          <p:nvPr/>
        </p:nvSpPr>
        <p:spPr bwMode="auto">
          <a:xfrm>
            <a:off x="2828925" y="3432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D</a:t>
            </a:r>
          </a:p>
        </p:txBody>
      </p:sp>
      <p:sp>
        <p:nvSpPr>
          <p:cNvPr id="40968" name="Line 1030"/>
          <p:cNvSpPr>
            <a:spLocks noChangeShapeType="1"/>
          </p:cNvSpPr>
          <p:nvPr/>
        </p:nvSpPr>
        <p:spPr bwMode="auto">
          <a:xfrm>
            <a:off x="2667000" y="4476750"/>
            <a:ext cx="520700" cy="88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69" name="Line 1031"/>
          <p:cNvSpPr>
            <a:spLocks noChangeShapeType="1"/>
          </p:cNvSpPr>
          <p:nvPr/>
        </p:nvSpPr>
        <p:spPr bwMode="auto">
          <a:xfrm flipV="1">
            <a:off x="2654300" y="4578350"/>
            <a:ext cx="520700" cy="88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0" name="Text Box 1032"/>
          <p:cNvSpPr txBox="1">
            <a:spLocks noChangeArrowheads="1"/>
          </p:cNvSpPr>
          <p:nvPr/>
        </p:nvSpPr>
        <p:spPr bwMode="auto">
          <a:xfrm>
            <a:off x="3133725" y="4384675"/>
            <a:ext cx="600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CLK</a:t>
            </a:r>
          </a:p>
        </p:txBody>
      </p:sp>
      <p:sp>
        <p:nvSpPr>
          <p:cNvPr id="40972" name="Line 1034"/>
          <p:cNvSpPr>
            <a:spLocks noChangeShapeType="1"/>
          </p:cNvSpPr>
          <p:nvPr/>
        </p:nvSpPr>
        <p:spPr bwMode="auto">
          <a:xfrm>
            <a:off x="4305300" y="3092450"/>
            <a:ext cx="0" cy="1993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3" name="Text Box 1035"/>
          <p:cNvSpPr txBox="1">
            <a:spLocks noChangeArrowheads="1"/>
          </p:cNvSpPr>
          <p:nvPr/>
        </p:nvSpPr>
        <p:spPr bwMode="auto">
          <a:xfrm>
            <a:off x="3832225" y="3419475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Q</a:t>
            </a:r>
          </a:p>
        </p:txBody>
      </p:sp>
      <p:sp>
        <p:nvSpPr>
          <p:cNvPr id="40974" name="AutoShape 1036"/>
          <p:cNvSpPr>
            <a:spLocks noChangeArrowheads="1"/>
          </p:cNvSpPr>
          <p:nvPr/>
        </p:nvSpPr>
        <p:spPr bwMode="auto">
          <a:xfrm rot="5400000">
            <a:off x="4622800" y="3270250"/>
            <a:ext cx="927100" cy="7493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40975" name="Line 1037"/>
          <p:cNvSpPr>
            <a:spLocks noChangeShapeType="1"/>
          </p:cNvSpPr>
          <p:nvPr/>
        </p:nvSpPr>
        <p:spPr bwMode="auto">
          <a:xfrm>
            <a:off x="4305300" y="3625850"/>
            <a:ext cx="419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6" name="Line 1038"/>
          <p:cNvSpPr>
            <a:spLocks noChangeShapeType="1"/>
          </p:cNvSpPr>
          <p:nvPr/>
        </p:nvSpPr>
        <p:spPr bwMode="auto">
          <a:xfrm>
            <a:off x="5486400" y="363855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7" name="Freeform 1040"/>
          <p:cNvSpPr>
            <a:spLocks/>
          </p:cNvSpPr>
          <p:nvPr/>
        </p:nvSpPr>
        <p:spPr bwMode="auto">
          <a:xfrm>
            <a:off x="2044700" y="2686050"/>
            <a:ext cx="5803900" cy="927100"/>
          </a:xfrm>
          <a:custGeom>
            <a:avLst/>
            <a:gdLst>
              <a:gd name="T0" fmla="*/ 2147483647 w 3656"/>
              <a:gd name="T1" fmla="*/ 2147483647 h 584"/>
              <a:gd name="T2" fmla="*/ 0 w 3656"/>
              <a:gd name="T3" fmla="*/ 2147483647 h 584"/>
              <a:gd name="T4" fmla="*/ 0 w 3656"/>
              <a:gd name="T5" fmla="*/ 0 h 584"/>
              <a:gd name="T6" fmla="*/ 2147483647 w 3656"/>
              <a:gd name="T7" fmla="*/ 0 h 584"/>
              <a:gd name="T8" fmla="*/ 2147483647 w 3656"/>
              <a:gd name="T9" fmla="*/ 0 h 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56"/>
              <a:gd name="T16" fmla="*/ 0 h 584"/>
              <a:gd name="T17" fmla="*/ 3656 w 3656"/>
              <a:gd name="T18" fmla="*/ 584 h 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56" h="584">
                <a:moveTo>
                  <a:pt x="392" y="584"/>
                </a:moveTo>
                <a:lnTo>
                  <a:pt x="0" y="584"/>
                </a:lnTo>
                <a:lnTo>
                  <a:pt x="0" y="0"/>
                </a:lnTo>
                <a:lnTo>
                  <a:pt x="2880" y="0"/>
                </a:lnTo>
                <a:lnTo>
                  <a:pt x="365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8" name="Freeform 1043"/>
          <p:cNvSpPr>
            <a:spLocks/>
          </p:cNvSpPr>
          <p:nvPr/>
        </p:nvSpPr>
        <p:spPr bwMode="auto">
          <a:xfrm>
            <a:off x="5740400" y="2673350"/>
            <a:ext cx="508000" cy="952500"/>
          </a:xfrm>
          <a:custGeom>
            <a:avLst/>
            <a:gdLst>
              <a:gd name="T0" fmla="*/ 0 w 320"/>
              <a:gd name="T1" fmla="*/ 2147483647 h 600"/>
              <a:gd name="T2" fmla="*/ 2147483647 w 320"/>
              <a:gd name="T3" fmla="*/ 2147483647 h 600"/>
              <a:gd name="T4" fmla="*/ 2147483647 w 320"/>
              <a:gd name="T5" fmla="*/ 0 h 600"/>
              <a:gd name="T6" fmla="*/ 0 60000 65536"/>
              <a:gd name="T7" fmla="*/ 0 60000 65536"/>
              <a:gd name="T8" fmla="*/ 0 60000 65536"/>
              <a:gd name="T9" fmla="*/ 0 w 320"/>
              <a:gd name="T10" fmla="*/ 0 h 600"/>
              <a:gd name="T11" fmla="*/ 320 w 320"/>
              <a:gd name="T12" fmla="*/ 600 h 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0" h="600">
                <a:moveTo>
                  <a:pt x="0" y="600"/>
                </a:moveTo>
                <a:lnTo>
                  <a:pt x="320" y="600"/>
                </a:lnTo>
                <a:lnTo>
                  <a:pt x="32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79" name="Oval 1044"/>
          <p:cNvSpPr>
            <a:spLocks noChangeArrowheads="1"/>
          </p:cNvSpPr>
          <p:nvPr/>
        </p:nvSpPr>
        <p:spPr bwMode="auto">
          <a:xfrm>
            <a:off x="6159500" y="2609850"/>
            <a:ext cx="165100" cy="127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0980" name="Line 1045"/>
          <p:cNvSpPr>
            <a:spLocks noChangeShapeType="1"/>
          </p:cNvSpPr>
          <p:nvPr/>
        </p:nvSpPr>
        <p:spPr bwMode="auto">
          <a:xfrm flipH="1">
            <a:off x="5106988" y="3867150"/>
            <a:ext cx="19050" cy="2311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0981" name="Line 1046"/>
          <p:cNvSpPr>
            <a:spLocks noChangeShapeType="1"/>
          </p:cNvSpPr>
          <p:nvPr/>
        </p:nvSpPr>
        <p:spPr bwMode="auto">
          <a:xfrm flipH="1">
            <a:off x="622300" y="4578350"/>
            <a:ext cx="203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82" name="Text Box 1047"/>
          <p:cNvSpPr txBox="1">
            <a:spLocks noChangeArrowheads="1"/>
          </p:cNvSpPr>
          <p:nvPr/>
        </p:nvSpPr>
        <p:spPr bwMode="auto">
          <a:xfrm>
            <a:off x="3171825" y="1793875"/>
            <a:ext cx="2525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/>
              <a:t>A single bit memory cell</a:t>
            </a:r>
          </a:p>
        </p:txBody>
      </p:sp>
      <p:sp>
        <p:nvSpPr>
          <p:cNvPr id="40983" name="Text Box 1049"/>
          <p:cNvSpPr txBox="1">
            <a:spLocks noChangeArrowheads="1"/>
          </p:cNvSpPr>
          <p:nvPr/>
        </p:nvSpPr>
        <p:spPr bwMode="auto">
          <a:xfrm>
            <a:off x="101600" y="4309646"/>
            <a:ext cx="889676" cy="338554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W(rite)</a:t>
            </a:r>
          </a:p>
        </p:txBody>
      </p:sp>
      <p:sp>
        <p:nvSpPr>
          <p:cNvPr id="40984" name="Line 1050"/>
          <p:cNvSpPr>
            <a:spLocks noChangeShapeType="1"/>
          </p:cNvSpPr>
          <p:nvPr/>
        </p:nvSpPr>
        <p:spPr bwMode="auto">
          <a:xfrm>
            <a:off x="168275" y="4363621"/>
            <a:ext cx="24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0985" name="Freeform 1052"/>
          <p:cNvSpPr>
            <a:spLocks/>
          </p:cNvSpPr>
          <p:nvPr/>
        </p:nvSpPr>
        <p:spPr bwMode="auto">
          <a:xfrm>
            <a:off x="495300" y="4768850"/>
            <a:ext cx="990600" cy="495300"/>
          </a:xfrm>
          <a:custGeom>
            <a:avLst/>
            <a:gdLst>
              <a:gd name="T0" fmla="*/ 0 w 624"/>
              <a:gd name="T1" fmla="*/ 2147483647 h 312"/>
              <a:gd name="T2" fmla="*/ 2147483647 w 624"/>
              <a:gd name="T3" fmla="*/ 2147483647 h 312"/>
              <a:gd name="T4" fmla="*/ 2147483647 w 624"/>
              <a:gd name="T5" fmla="*/ 2147483647 h 312"/>
              <a:gd name="T6" fmla="*/ 2147483647 w 624"/>
              <a:gd name="T7" fmla="*/ 2147483647 h 312"/>
              <a:gd name="T8" fmla="*/ 2147483647 w 624"/>
              <a:gd name="T9" fmla="*/ 0 h 312"/>
              <a:gd name="T10" fmla="*/ 2147483647 w 624"/>
              <a:gd name="T11" fmla="*/ 0 h 3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24"/>
              <a:gd name="T19" fmla="*/ 0 h 312"/>
              <a:gd name="T20" fmla="*/ 624 w 624"/>
              <a:gd name="T21" fmla="*/ 312 h 3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24" h="312">
                <a:moveTo>
                  <a:pt x="0" y="8"/>
                </a:moveTo>
                <a:lnTo>
                  <a:pt x="216" y="8"/>
                </a:lnTo>
                <a:lnTo>
                  <a:pt x="216" y="312"/>
                </a:lnTo>
                <a:lnTo>
                  <a:pt x="512" y="312"/>
                </a:lnTo>
                <a:lnTo>
                  <a:pt x="512" y="0"/>
                </a:lnTo>
                <a:lnTo>
                  <a:pt x="624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86" name="Line 1053"/>
          <p:cNvSpPr>
            <a:spLocks noChangeShapeType="1"/>
          </p:cNvSpPr>
          <p:nvPr/>
        </p:nvSpPr>
        <p:spPr bwMode="auto">
          <a:xfrm flipV="1">
            <a:off x="1308100" y="4857750"/>
            <a:ext cx="0" cy="35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87" name="Text Box 1054"/>
          <p:cNvSpPr txBox="1">
            <a:spLocks noChangeArrowheads="1"/>
          </p:cNvSpPr>
          <p:nvPr/>
        </p:nvSpPr>
        <p:spPr bwMode="auto">
          <a:xfrm>
            <a:off x="4876800" y="6172200"/>
            <a:ext cx="477838" cy="336550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OE</a:t>
            </a:r>
          </a:p>
        </p:txBody>
      </p:sp>
      <p:sp>
        <p:nvSpPr>
          <p:cNvPr id="40989" name="Text Box 1057"/>
          <p:cNvSpPr txBox="1">
            <a:spLocks noChangeArrowheads="1"/>
          </p:cNvSpPr>
          <p:nvPr/>
        </p:nvSpPr>
        <p:spPr bwMode="auto">
          <a:xfrm>
            <a:off x="7086600" y="2404646"/>
            <a:ext cx="1962997" cy="584776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DATA In </a:t>
            </a:r>
            <a:r>
              <a:rPr lang="en-US" sz="1600" b="1" i="1" dirty="0"/>
              <a:t>AND</a:t>
            </a:r>
            <a:r>
              <a:rPr lang="en-US" sz="1600" b="1" dirty="0"/>
              <a:t> Out</a:t>
            </a:r>
          </a:p>
          <a:p>
            <a:pPr eaLnBrk="1" hangingPunct="1"/>
            <a:r>
              <a:rPr lang="en-US" sz="1600" b="1" dirty="0"/>
              <a:t>(bidirectional bus)</a:t>
            </a:r>
          </a:p>
        </p:txBody>
      </p:sp>
      <p:sp>
        <p:nvSpPr>
          <p:cNvPr id="40990" name="Text Box 1058"/>
          <p:cNvSpPr txBox="1">
            <a:spLocks noChangeArrowheads="1"/>
          </p:cNvSpPr>
          <p:nvPr/>
        </p:nvSpPr>
        <p:spPr bwMode="auto">
          <a:xfrm>
            <a:off x="1406525" y="5895975"/>
            <a:ext cx="2088031" cy="584776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Flip-flop core</a:t>
            </a:r>
          </a:p>
          <a:p>
            <a:pPr eaLnBrk="1" hangingPunct="1"/>
            <a:r>
              <a:rPr lang="en-US" sz="1600" b="1" dirty="0"/>
              <a:t>(without S,R and Q)</a:t>
            </a:r>
          </a:p>
        </p:txBody>
      </p:sp>
      <p:sp>
        <p:nvSpPr>
          <p:cNvPr id="40991" name="Line 1059"/>
          <p:cNvSpPr>
            <a:spLocks noChangeShapeType="1"/>
          </p:cNvSpPr>
          <p:nvPr/>
        </p:nvSpPr>
        <p:spPr bwMode="auto">
          <a:xfrm flipV="1">
            <a:off x="2832100" y="5099050"/>
            <a:ext cx="749300" cy="965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92" name="Text Box 1060"/>
          <p:cNvSpPr txBox="1">
            <a:spLocks noChangeArrowheads="1"/>
          </p:cNvSpPr>
          <p:nvPr/>
        </p:nvSpPr>
        <p:spPr bwMode="auto">
          <a:xfrm>
            <a:off x="6477000" y="6214646"/>
            <a:ext cx="2419052" cy="338554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 b="1" dirty="0"/>
              <a:t>Tri-state Buffer Portion</a:t>
            </a:r>
          </a:p>
        </p:txBody>
      </p:sp>
      <p:sp>
        <p:nvSpPr>
          <p:cNvPr id="40993" name="Line 1061"/>
          <p:cNvSpPr>
            <a:spLocks noChangeShapeType="1"/>
          </p:cNvSpPr>
          <p:nvPr/>
        </p:nvSpPr>
        <p:spPr bwMode="auto">
          <a:xfrm flipH="1" flipV="1">
            <a:off x="5562600" y="5124450"/>
            <a:ext cx="1155700" cy="1117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94" name="Line 1062"/>
          <p:cNvSpPr>
            <a:spLocks noChangeShapeType="1"/>
          </p:cNvSpPr>
          <p:nvPr/>
        </p:nvSpPr>
        <p:spPr bwMode="auto">
          <a:xfrm>
            <a:off x="2311400" y="6191250"/>
            <a:ext cx="165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95" name="Line 1063"/>
          <p:cNvSpPr>
            <a:spLocks noChangeShapeType="1"/>
          </p:cNvSpPr>
          <p:nvPr/>
        </p:nvSpPr>
        <p:spPr bwMode="auto">
          <a:xfrm>
            <a:off x="2514600" y="6191250"/>
            <a:ext cx="165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0996" name="Line 1064"/>
          <p:cNvSpPr>
            <a:spLocks noChangeShapeType="1"/>
          </p:cNvSpPr>
          <p:nvPr/>
        </p:nvSpPr>
        <p:spPr bwMode="auto">
          <a:xfrm>
            <a:off x="3149600" y="6191250"/>
            <a:ext cx="165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7" name="Line 1050"/>
          <p:cNvSpPr>
            <a:spLocks noChangeShapeType="1"/>
          </p:cNvSpPr>
          <p:nvPr/>
        </p:nvSpPr>
        <p:spPr bwMode="auto">
          <a:xfrm>
            <a:off x="4994275" y="6238875"/>
            <a:ext cx="24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6" name="Oval 1044"/>
          <p:cNvSpPr>
            <a:spLocks noChangeArrowheads="1"/>
          </p:cNvSpPr>
          <p:nvPr/>
        </p:nvSpPr>
        <p:spPr bwMode="auto">
          <a:xfrm>
            <a:off x="5029200" y="3892550"/>
            <a:ext cx="165100" cy="1270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" name="TextBox 1"/>
          <p:cNvSpPr txBox="1"/>
          <p:nvPr/>
        </p:nvSpPr>
        <p:spPr>
          <a:xfrm>
            <a:off x="6813917" y="3505200"/>
            <a:ext cx="233008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Note the new control logic which we’ll </a:t>
            </a:r>
          </a:p>
          <a:p>
            <a:r>
              <a:rPr lang="en-US" dirty="0"/>
              <a:t>need when building Buses and Memory</a:t>
            </a:r>
          </a:p>
        </p:txBody>
      </p:sp>
    </p:spTree>
    <p:extLst>
      <p:ext uri="{BB962C8B-B14F-4D97-AF65-F5344CB8AC3E}">
        <p14:creationId xmlns:p14="http://schemas.microsoft.com/office/powerpoint/2010/main" val="445914706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3598"/>
          </a:xfrm>
        </p:spPr>
        <p:txBody>
          <a:bodyPr/>
          <a:lstStyle/>
          <a:p>
            <a:r>
              <a:rPr lang="en-US" dirty="0"/>
              <a:t>Types of Busses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b="1" dirty="0">
                <a:solidFill>
                  <a:srgbClr val="FF6600"/>
                </a:solidFill>
              </a:rPr>
              <a:t>Data Bus</a:t>
            </a:r>
            <a:r>
              <a:rPr lang="en-US" dirty="0"/>
              <a:t>: Between Processor, Memory, and IO</a:t>
            </a:r>
          </a:p>
          <a:p>
            <a:pPr lvl="1"/>
            <a:r>
              <a:rPr lang="en-US" dirty="0"/>
              <a:t>Read and Write</a:t>
            </a:r>
          </a:p>
          <a:p>
            <a:pPr lvl="2"/>
            <a:r>
              <a:rPr lang="en-US" b="1" dirty="0">
                <a:solidFill>
                  <a:srgbClr val="FF6600"/>
                </a:solidFill>
              </a:rPr>
              <a:t>Bi-directional</a:t>
            </a:r>
            <a:r>
              <a:rPr lang="en-US" dirty="0"/>
              <a:t> IO</a:t>
            </a:r>
          </a:p>
          <a:p>
            <a:pPr lvl="1"/>
            <a:r>
              <a:rPr lang="en-US" dirty="0"/>
              <a:t>Homogenous (all signals are considered together)</a:t>
            </a:r>
          </a:p>
          <a:p>
            <a:r>
              <a:rPr lang="en-US" b="1" dirty="0">
                <a:solidFill>
                  <a:srgbClr val="0000FF"/>
                </a:solidFill>
              </a:rPr>
              <a:t>Address Bus</a:t>
            </a:r>
            <a:r>
              <a:rPr lang="en-US" dirty="0"/>
              <a:t>: From Processor to Memory</a:t>
            </a:r>
          </a:p>
          <a:p>
            <a:pPr lvl="1"/>
            <a:r>
              <a:rPr lang="en-US" dirty="0"/>
              <a:t>Read-only, </a:t>
            </a:r>
            <a:r>
              <a:rPr lang="en-US" b="1" dirty="0">
                <a:solidFill>
                  <a:srgbClr val="0000FF"/>
                </a:solidFill>
              </a:rPr>
              <a:t>unidirectional</a:t>
            </a:r>
          </a:p>
          <a:p>
            <a:pPr lvl="1"/>
            <a:r>
              <a:rPr lang="en-US" dirty="0"/>
              <a:t>Homogenous</a:t>
            </a:r>
          </a:p>
          <a:p>
            <a:r>
              <a:rPr lang="en-US" b="1" dirty="0">
                <a:solidFill>
                  <a:srgbClr val="008000"/>
                </a:solidFill>
              </a:rPr>
              <a:t>Status/Control Bus</a:t>
            </a:r>
            <a:r>
              <a:rPr lang="en-US" dirty="0"/>
              <a:t>: “Housekeeping”</a:t>
            </a:r>
          </a:p>
          <a:p>
            <a:pPr lvl="1"/>
            <a:r>
              <a:rPr lang="en-US" dirty="0"/>
              <a:t>Clock, Chip enable, Output enable, Write enable</a:t>
            </a:r>
          </a:p>
          <a:p>
            <a:pPr lvl="1"/>
            <a:r>
              <a:rPr lang="en-US" b="1" dirty="0" err="1">
                <a:solidFill>
                  <a:srgbClr val="008000"/>
                </a:solidFill>
              </a:rPr>
              <a:t>Heterogenous</a:t>
            </a:r>
            <a:endParaRPr lang="en-US" b="1" dirty="0">
              <a:solidFill>
                <a:srgbClr val="008000"/>
              </a:solidFill>
            </a:endParaRPr>
          </a:p>
          <a:p>
            <a:pPr lvl="1"/>
            <a:r>
              <a:rPr lang="en-US" dirty="0"/>
              <a:t>Some unidirectional, some bi-directional signals</a:t>
            </a:r>
          </a:p>
          <a:p>
            <a:pPr lvl="2"/>
            <a:r>
              <a:rPr lang="en-US" dirty="0"/>
              <a:t>WE, READ/WRITE, OE</a:t>
            </a:r>
          </a:p>
          <a:p>
            <a:pPr lvl="2"/>
            <a:r>
              <a:rPr lang="en-US" dirty="0"/>
              <a:t>Interrupt, Bus </a:t>
            </a:r>
            <a:r>
              <a:rPr lang="en-US" dirty="0" err="1"/>
              <a:t>req</a:t>
            </a:r>
            <a:r>
              <a:rPr lang="en-US" dirty="0"/>
              <a:t>, bus </a:t>
            </a:r>
            <a:r>
              <a:rPr lang="en-US" dirty="0" err="1"/>
              <a:t>ack</a:t>
            </a:r>
            <a:r>
              <a:rPr lang="en-US" dirty="0"/>
              <a:t>, clock</a:t>
            </a:r>
          </a:p>
        </p:txBody>
      </p:sp>
      <p:pic>
        <p:nvPicPr>
          <p:cNvPr id="7" name="Picture 6" descr="Screen Shot 2018-01-24 at 4.45.52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43" y="1981200"/>
            <a:ext cx="642257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90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21155"/>
          </a:xfrm>
        </p:spPr>
        <p:txBody>
          <a:bodyPr/>
          <a:lstStyle/>
          <a:p>
            <a:r>
              <a:rPr lang="en-US" dirty="0"/>
              <a:t>Bus Organization</a:t>
            </a:r>
          </a:p>
        </p:txBody>
      </p:sp>
      <p:grpSp>
        <p:nvGrpSpPr>
          <p:cNvPr id="35843" name="Group 4"/>
          <p:cNvGrpSpPr>
            <a:grpSpLocks/>
          </p:cNvGrpSpPr>
          <p:nvPr/>
        </p:nvGrpSpPr>
        <p:grpSpPr bwMode="auto">
          <a:xfrm>
            <a:off x="758825" y="3500438"/>
            <a:ext cx="865188" cy="1782762"/>
            <a:chOff x="896" y="2225"/>
            <a:chExt cx="545" cy="1123"/>
          </a:xfrm>
        </p:grpSpPr>
        <p:sp>
          <p:nvSpPr>
            <p:cNvPr id="35948" name="Rectangle 5"/>
            <p:cNvSpPr>
              <a:spLocks noChangeArrowheads="1"/>
            </p:cNvSpPr>
            <p:nvPr/>
          </p:nvSpPr>
          <p:spPr bwMode="auto">
            <a:xfrm>
              <a:off x="896" y="2323"/>
              <a:ext cx="320" cy="9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5949" name="Line 6"/>
            <p:cNvSpPr>
              <a:spLocks noChangeShapeType="1"/>
            </p:cNvSpPr>
            <p:nvPr/>
          </p:nvSpPr>
          <p:spPr bwMode="auto">
            <a:xfrm>
              <a:off x="1210" y="2362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0" name="Line 7"/>
            <p:cNvSpPr>
              <a:spLocks noChangeShapeType="1"/>
            </p:cNvSpPr>
            <p:nvPr/>
          </p:nvSpPr>
          <p:spPr bwMode="auto">
            <a:xfrm>
              <a:off x="1211" y="2420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1" name="Line 8"/>
            <p:cNvSpPr>
              <a:spLocks noChangeShapeType="1"/>
            </p:cNvSpPr>
            <p:nvPr/>
          </p:nvSpPr>
          <p:spPr bwMode="auto">
            <a:xfrm>
              <a:off x="1213" y="2474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2" name="Line 9"/>
            <p:cNvSpPr>
              <a:spLocks noChangeShapeType="1"/>
            </p:cNvSpPr>
            <p:nvPr/>
          </p:nvSpPr>
          <p:spPr bwMode="auto">
            <a:xfrm>
              <a:off x="1214" y="2532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3" name="Line 10"/>
            <p:cNvSpPr>
              <a:spLocks noChangeShapeType="1"/>
            </p:cNvSpPr>
            <p:nvPr/>
          </p:nvSpPr>
          <p:spPr bwMode="auto">
            <a:xfrm>
              <a:off x="1216" y="3053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4" name="Line 11"/>
            <p:cNvSpPr>
              <a:spLocks noChangeShapeType="1"/>
            </p:cNvSpPr>
            <p:nvPr/>
          </p:nvSpPr>
          <p:spPr bwMode="auto">
            <a:xfrm>
              <a:off x="1217" y="3111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5" name="Line 12"/>
            <p:cNvSpPr>
              <a:spLocks noChangeShapeType="1"/>
            </p:cNvSpPr>
            <p:nvPr/>
          </p:nvSpPr>
          <p:spPr bwMode="auto">
            <a:xfrm>
              <a:off x="1219" y="3165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6" name="Line 13"/>
            <p:cNvSpPr>
              <a:spLocks noChangeShapeType="1"/>
            </p:cNvSpPr>
            <p:nvPr/>
          </p:nvSpPr>
          <p:spPr bwMode="auto">
            <a:xfrm>
              <a:off x="1220" y="3223"/>
              <a:ext cx="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957" name="Line 14"/>
            <p:cNvSpPr>
              <a:spLocks noChangeShapeType="1"/>
            </p:cNvSpPr>
            <p:nvPr/>
          </p:nvSpPr>
          <p:spPr bwMode="auto">
            <a:xfrm>
              <a:off x="1312" y="2570"/>
              <a:ext cx="0" cy="4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958" name="Text Box 15"/>
            <p:cNvSpPr txBox="1">
              <a:spLocks noChangeArrowheads="1"/>
            </p:cNvSpPr>
            <p:nvPr/>
          </p:nvSpPr>
          <p:spPr bwMode="auto">
            <a:xfrm>
              <a:off x="1207" y="2225"/>
              <a:ext cx="21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 b="1"/>
                <a:t>D0</a:t>
              </a:r>
            </a:p>
          </p:txBody>
        </p:sp>
        <p:sp>
          <p:nvSpPr>
            <p:cNvPr id="35959" name="Text Box 16"/>
            <p:cNvSpPr txBox="1">
              <a:spLocks noChangeArrowheads="1"/>
            </p:cNvSpPr>
            <p:nvPr/>
          </p:nvSpPr>
          <p:spPr bwMode="auto">
            <a:xfrm>
              <a:off x="1179" y="3194"/>
              <a:ext cx="26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 b="1"/>
                <a:t>D31</a:t>
              </a:r>
            </a:p>
          </p:txBody>
        </p:sp>
        <p:sp>
          <p:nvSpPr>
            <p:cNvPr id="35960" name="Text Box 17"/>
            <p:cNvSpPr txBox="1">
              <a:spLocks noChangeArrowheads="1"/>
            </p:cNvSpPr>
            <p:nvPr/>
          </p:nvSpPr>
          <p:spPr bwMode="auto">
            <a:xfrm rot="-5400000">
              <a:off x="625" y="2679"/>
              <a:ext cx="85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 b="1"/>
                <a:t>32-bit register</a:t>
              </a:r>
            </a:p>
          </p:txBody>
        </p:sp>
        <p:sp>
          <p:nvSpPr>
            <p:cNvPr id="35961" name="Oval 18"/>
            <p:cNvSpPr>
              <a:spLocks noChangeArrowheads="1"/>
            </p:cNvSpPr>
            <p:nvPr/>
          </p:nvSpPr>
          <p:spPr bwMode="auto">
            <a:xfrm>
              <a:off x="1034" y="3251"/>
              <a:ext cx="55" cy="5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5844" name="Line 19"/>
          <p:cNvSpPr>
            <a:spLocks noChangeShapeType="1"/>
          </p:cNvSpPr>
          <p:nvPr/>
        </p:nvSpPr>
        <p:spPr bwMode="auto">
          <a:xfrm flipH="1">
            <a:off x="1550988" y="3087688"/>
            <a:ext cx="0" cy="2001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5" name="Oval 23"/>
          <p:cNvSpPr>
            <a:spLocks noChangeArrowheads="1"/>
          </p:cNvSpPr>
          <p:nvPr/>
        </p:nvSpPr>
        <p:spPr bwMode="auto">
          <a:xfrm>
            <a:off x="1473200" y="3009900"/>
            <a:ext cx="152400" cy="152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5846" name="Line 24"/>
          <p:cNvSpPr>
            <a:spLocks noChangeShapeType="1"/>
          </p:cNvSpPr>
          <p:nvPr/>
        </p:nvSpPr>
        <p:spPr bwMode="auto">
          <a:xfrm>
            <a:off x="749300" y="3086100"/>
            <a:ext cx="187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5847" name="AutoShape 25"/>
          <p:cNvSpPr>
            <a:spLocks noChangeArrowheads="1"/>
          </p:cNvSpPr>
          <p:nvPr/>
        </p:nvSpPr>
        <p:spPr bwMode="auto">
          <a:xfrm>
            <a:off x="3009900" y="3409057"/>
            <a:ext cx="1171960" cy="611386"/>
          </a:xfrm>
          <a:prstGeom prst="rightArrow">
            <a:avLst>
              <a:gd name="adj1" fmla="val 50000"/>
              <a:gd name="adj2" fmla="val 48571"/>
            </a:avLst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represents</a:t>
            </a:r>
          </a:p>
        </p:txBody>
      </p:sp>
      <p:sp>
        <p:nvSpPr>
          <p:cNvPr id="35848" name="Line 26"/>
          <p:cNvSpPr>
            <a:spLocks noChangeShapeType="1"/>
          </p:cNvSpPr>
          <p:nvPr/>
        </p:nvSpPr>
        <p:spPr bwMode="auto">
          <a:xfrm>
            <a:off x="4216400" y="10668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49" name="Line 27"/>
          <p:cNvSpPr>
            <a:spLocks noChangeShapeType="1"/>
          </p:cNvSpPr>
          <p:nvPr/>
        </p:nvSpPr>
        <p:spPr bwMode="auto">
          <a:xfrm>
            <a:off x="4216400" y="11811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0" name="Line 28"/>
          <p:cNvSpPr>
            <a:spLocks noChangeShapeType="1"/>
          </p:cNvSpPr>
          <p:nvPr/>
        </p:nvSpPr>
        <p:spPr bwMode="auto">
          <a:xfrm>
            <a:off x="4556125" y="1066800"/>
            <a:ext cx="0" cy="406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1" name="Line 29"/>
          <p:cNvSpPr>
            <a:spLocks noChangeShapeType="1"/>
          </p:cNvSpPr>
          <p:nvPr/>
        </p:nvSpPr>
        <p:spPr bwMode="auto">
          <a:xfrm>
            <a:off x="4216400" y="12954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2" name="Line 30"/>
          <p:cNvSpPr>
            <a:spLocks noChangeShapeType="1"/>
          </p:cNvSpPr>
          <p:nvPr/>
        </p:nvSpPr>
        <p:spPr bwMode="auto">
          <a:xfrm>
            <a:off x="4216400" y="14097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3" name="Line 31"/>
          <p:cNvSpPr>
            <a:spLocks noChangeShapeType="1"/>
          </p:cNvSpPr>
          <p:nvPr/>
        </p:nvSpPr>
        <p:spPr bwMode="auto">
          <a:xfrm>
            <a:off x="4216400" y="15367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4" name="Line 32"/>
          <p:cNvSpPr>
            <a:spLocks noChangeShapeType="1"/>
          </p:cNvSpPr>
          <p:nvPr/>
        </p:nvSpPr>
        <p:spPr bwMode="auto">
          <a:xfrm>
            <a:off x="4216400" y="16510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5" name="Line 33"/>
          <p:cNvSpPr>
            <a:spLocks noChangeShapeType="1"/>
          </p:cNvSpPr>
          <p:nvPr/>
        </p:nvSpPr>
        <p:spPr bwMode="auto">
          <a:xfrm>
            <a:off x="4216400" y="17653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6" name="Line 34"/>
          <p:cNvSpPr>
            <a:spLocks noChangeShapeType="1"/>
          </p:cNvSpPr>
          <p:nvPr/>
        </p:nvSpPr>
        <p:spPr bwMode="auto">
          <a:xfrm>
            <a:off x="4216400" y="18796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7" name="Line 35"/>
          <p:cNvSpPr>
            <a:spLocks noChangeShapeType="1"/>
          </p:cNvSpPr>
          <p:nvPr/>
        </p:nvSpPr>
        <p:spPr bwMode="auto">
          <a:xfrm>
            <a:off x="4216400" y="19939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8" name="Line 36"/>
          <p:cNvSpPr>
            <a:spLocks noChangeShapeType="1"/>
          </p:cNvSpPr>
          <p:nvPr/>
        </p:nvSpPr>
        <p:spPr bwMode="auto">
          <a:xfrm>
            <a:off x="4216400" y="21082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59" name="Line 37"/>
          <p:cNvSpPr>
            <a:spLocks noChangeShapeType="1"/>
          </p:cNvSpPr>
          <p:nvPr/>
        </p:nvSpPr>
        <p:spPr bwMode="auto">
          <a:xfrm>
            <a:off x="4216400" y="22225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0" name="Line 38"/>
          <p:cNvSpPr>
            <a:spLocks noChangeShapeType="1"/>
          </p:cNvSpPr>
          <p:nvPr/>
        </p:nvSpPr>
        <p:spPr bwMode="auto">
          <a:xfrm>
            <a:off x="4216400" y="2336800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1" name="Line 39"/>
          <p:cNvSpPr>
            <a:spLocks noChangeShapeType="1"/>
          </p:cNvSpPr>
          <p:nvPr/>
        </p:nvSpPr>
        <p:spPr bwMode="auto">
          <a:xfrm>
            <a:off x="4216400" y="24542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2" name="Line 40"/>
          <p:cNvSpPr>
            <a:spLocks noChangeShapeType="1"/>
          </p:cNvSpPr>
          <p:nvPr/>
        </p:nvSpPr>
        <p:spPr bwMode="auto">
          <a:xfrm>
            <a:off x="4216400" y="25685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3" name="Line 41"/>
          <p:cNvSpPr>
            <a:spLocks noChangeShapeType="1"/>
          </p:cNvSpPr>
          <p:nvPr/>
        </p:nvSpPr>
        <p:spPr bwMode="auto">
          <a:xfrm>
            <a:off x="4216400" y="26828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4" name="Line 42"/>
          <p:cNvSpPr>
            <a:spLocks noChangeShapeType="1"/>
          </p:cNvSpPr>
          <p:nvPr/>
        </p:nvSpPr>
        <p:spPr bwMode="auto">
          <a:xfrm>
            <a:off x="4216400" y="27971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5" name="Line 43"/>
          <p:cNvSpPr>
            <a:spLocks noChangeShapeType="1"/>
          </p:cNvSpPr>
          <p:nvPr/>
        </p:nvSpPr>
        <p:spPr bwMode="auto">
          <a:xfrm>
            <a:off x="4216400" y="29114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6" name="Line 44"/>
          <p:cNvSpPr>
            <a:spLocks noChangeShapeType="1"/>
          </p:cNvSpPr>
          <p:nvPr/>
        </p:nvSpPr>
        <p:spPr bwMode="auto">
          <a:xfrm>
            <a:off x="4216400" y="30257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7" name="Line 45"/>
          <p:cNvSpPr>
            <a:spLocks noChangeShapeType="1"/>
          </p:cNvSpPr>
          <p:nvPr/>
        </p:nvSpPr>
        <p:spPr bwMode="auto">
          <a:xfrm>
            <a:off x="4216400" y="31400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8" name="Line 46"/>
          <p:cNvSpPr>
            <a:spLocks noChangeShapeType="1"/>
          </p:cNvSpPr>
          <p:nvPr/>
        </p:nvSpPr>
        <p:spPr bwMode="auto">
          <a:xfrm>
            <a:off x="4216400" y="32543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69" name="Line 47"/>
          <p:cNvSpPr>
            <a:spLocks noChangeShapeType="1"/>
          </p:cNvSpPr>
          <p:nvPr/>
        </p:nvSpPr>
        <p:spPr bwMode="auto">
          <a:xfrm>
            <a:off x="4216400" y="33813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0" name="Line 48"/>
          <p:cNvSpPr>
            <a:spLocks noChangeShapeType="1"/>
          </p:cNvSpPr>
          <p:nvPr/>
        </p:nvSpPr>
        <p:spPr bwMode="auto">
          <a:xfrm>
            <a:off x="4216400" y="34956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1" name="Line 49"/>
          <p:cNvSpPr>
            <a:spLocks noChangeShapeType="1"/>
          </p:cNvSpPr>
          <p:nvPr/>
        </p:nvSpPr>
        <p:spPr bwMode="auto">
          <a:xfrm>
            <a:off x="4216400" y="36099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2" name="Line 50"/>
          <p:cNvSpPr>
            <a:spLocks noChangeShapeType="1"/>
          </p:cNvSpPr>
          <p:nvPr/>
        </p:nvSpPr>
        <p:spPr bwMode="auto">
          <a:xfrm>
            <a:off x="4216400" y="37242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3" name="Line 51"/>
          <p:cNvSpPr>
            <a:spLocks noChangeShapeType="1"/>
          </p:cNvSpPr>
          <p:nvPr/>
        </p:nvSpPr>
        <p:spPr bwMode="auto">
          <a:xfrm>
            <a:off x="4216400" y="38385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4" name="Line 52"/>
          <p:cNvSpPr>
            <a:spLocks noChangeShapeType="1"/>
          </p:cNvSpPr>
          <p:nvPr/>
        </p:nvSpPr>
        <p:spPr bwMode="auto">
          <a:xfrm>
            <a:off x="4216400" y="39528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5" name="Line 53"/>
          <p:cNvSpPr>
            <a:spLocks noChangeShapeType="1"/>
          </p:cNvSpPr>
          <p:nvPr/>
        </p:nvSpPr>
        <p:spPr bwMode="auto">
          <a:xfrm>
            <a:off x="4216400" y="40671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6" name="Line 54"/>
          <p:cNvSpPr>
            <a:spLocks noChangeShapeType="1"/>
          </p:cNvSpPr>
          <p:nvPr/>
        </p:nvSpPr>
        <p:spPr bwMode="auto">
          <a:xfrm>
            <a:off x="4216400" y="41814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7" name="Line 55"/>
          <p:cNvSpPr>
            <a:spLocks noChangeShapeType="1"/>
          </p:cNvSpPr>
          <p:nvPr/>
        </p:nvSpPr>
        <p:spPr bwMode="auto">
          <a:xfrm>
            <a:off x="4216400" y="43084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8" name="Line 56"/>
          <p:cNvSpPr>
            <a:spLocks noChangeShapeType="1"/>
          </p:cNvSpPr>
          <p:nvPr/>
        </p:nvSpPr>
        <p:spPr bwMode="auto">
          <a:xfrm>
            <a:off x="4216400" y="44227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79" name="Line 57"/>
          <p:cNvSpPr>
            <a:spLocks noChangeShapeType="1"/>
          </p:cNvSpPr>
          <p:nvPr/>
        </p:nvSpPr>
        <p:spPr bwMode="auto">
          <a:xfrm>
            <a:off x="4216400" y="45370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0" name="Line 58"/>
          <p:cNvSpPr>
            <a:spLocks noChangeShapeType="1"/>
          </p:cNvSpPr>
          <p:nvPr/>
        </p:nvSpPr>
        <p:spPr bwMode="auto">
          <a:xfrm>
            <a:off x="4216400" y="4651375"/>
            <a:ext cx="435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1" name="Oval 116"/>
          <p:cNvSpPr>
            <a:spLocks noChangeArrowheads="1"/>
          </p:cNvSpPr>
          <p:nvPr/>
        </p:nvSpPr>
        <p:spPr bwMode="auto">
          <a:xfrm>
            <a:off x="4800600" y="137795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82" name="Oval 117"/>
          <p:cNvSpPr>
            <a:spLocks noChangeArrowheads="1"/>
          </p:cNvSpPr>
          <p:nvPr/>
        </p:nvSpPr>
        <p:spPr bwMode="auto">
          <a:xfrm>
            <a:off x="4722813" y="126841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83" name="Oval 118"/>
          <p:cNvSpPr>
            <a:spLocks noChangeArrowheads="1"/>
          </p:cNvSpPr>
          <p:nvPr/>
        </p:nvSpPr>
        <p:spPr bwMode="auto">
          <a:xfrm>
            <a:off x="4616450" y="114935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84" name="Oval 119"/>
          <p:cNvSpPr>
            <a:spLocks noChangeArrowheads="1"/>
          </p:cNvSpPr>
          <p:nvPr/>
        </p:nvSpPr>
        <p:spPr bwMode="auto">
          <a:xfrm>
            <a:off x="4525963" y="103981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85" name="Line 120"/>
          <p:cNvSpPr>
            <a:spLocks noChangeShapeType="1"/>
          </p:cNvSpPr>
          <p:nvPr/>
        </p:nvSpPr>
        <p:spPr bwMode="auto">
          <a:xfrm>
            <a:off x="4651375" y="1181100"/>
            <a:ext cx="0" cy="3949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6" name="Line 122"/>
          <p:cNvSpPr>
            <a:spLocks noChangeShapeType="1"/>
          </p:cNvSpPr>
          <p:nvPr/>
        </p:nvSpPr>
        <p:spPr bwMode="auto">
          <a:xfrm>
            <a:off x="4746625" y="1295400"/>
            <a:ext cx="0" cy="3832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7" name="Line 123"/>
          <p:cNvSpPr>
            <a:spLocks noChangeShapeType="1"/>
          </p:cNvSpPr>
          <p:nvPr/>
        </p:nvSpPr>
        <p:spPr bwMode="auto">
          <a:xfrm>
            <a:off x="4832350" y="1403350"/>
            <a:ext cx="0" cy="373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8" name="Line 124"/>
          <p:cNvSpPr>
            <a:spLocks noChangeShapeType="1"/>
          </p:cNvSpPr>
          <p:nvPr/>
        </p:nvSpPr>
        <p:spPr bwMode="auto">
          <a:xfrm>
            <a:off x="4937125" y="1524000"/>
            <a:ext cx="0" cy="360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89" name="Oval 125"/>
          <p:cNvSpPr>
            <a:spLocks noChangeArrowheads="1"/>
          </p:cNvSpPr>
          <p:nvPr/>
        </p:nvSpPr>
        <p:spPr bwMode="auto">
          <a:xfrm>
            <a:off x="5186363" y="18510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0" name="Oval 126"/>
          <p:cNvSpPr>
            <a:spLocks noChangeArrowheads="1"/>
          </p:cNvSpPr>
          <p:nvPr/>
        </p:nvSpPr>
        <p:spPr bwMode="auto">
          <a:xfrm>
            <a:off x="5097463" y="17367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1" name="Oval 127"/>
          <p:cNvSpPr>
            <a:spLocks noChangeArrowheads="1"/>
          </p:cNvSpPr>
          <p:nvPr/>
        </p:nvSpPr>
        <p:spPr bwMode="auto">
          <a:xfrm>
            <a:off x="5002213" y="16224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2" name="Oval 128"/>
          <p:cNvSpPr>
            <a:spLocks noChangeArrowheads="1"/>
          </p:cNvSpPr>
          <p:nvPr/>
        </p:nvSpPr>
        <p:spPr bwMode="auto">
          <a:xfrm>
            <a:off x="4913313" y="150336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3" name="Line 129"/>
          <p:cNvSpPr>
            <a:spLocks noChangeShapeType="1"/>
          </p:cNvSpPr>
          <p:nvPr/>
        </p:nvSpPr>
        <p:spPr bwMode="auto">
          <a:xfrm flipH="1">
            <a:off x="5022850" y="1638300"/>
            <a:ext cx="9525" cy="3492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94" name="Line 130"/>
          <p:cNvSpPr>
            <a:spLocks noChangeShapeType="1"/>
          </p:cNvSpPr>
          <p:nvPr/>
        </p:nvSpPr>
        <p:spPr bwMode="auto">
          <a:xfrm flipH="1">
            <a:off x="5118100" y="1752600"/>
            <a:ext cx="9525" cy="3384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95" name="Line 131"/>
          <p:cNvSpPr>
            <a:spLocks noChangeShapeType="1"/>
          </p:cNvSpPr>
          <p:nvPr/>
        </p:nvSpPr>
        <p:spPr bwMode="auto">
          <a:xfrm flipH="1">
            <a:off x="5203825" y="1860550"/>
            <a:ext cx="9525" cy="3267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896" name="Oval 133"/>
          <p:cNvSpPr>
            <a:spLocks noChangeArrowheads="1"/>
          </p:cNvSpPr>
          <p:nvPr/>
        </p:nvSpPr>
        <p:spPr bwMode="auto">
          <a:xfrm>
            <a:off x="5557838" y="23082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7" name="Oval 134"/>
          <p:cNvSpPr>
            <a:spLocks noChangeArrowheads="1"/>
          </p:cNvSpPr>
          <p:nvPr/>
        </p:nvSpPr>
        <p:spPr bwMode="auto">
          <a:xfrm>
            <a:off x="5468938" y="21939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8" name="Oval 135"/>
          <p:cNvSpPr>
            <a:spLocks noChangeArrowheads="1"/>
          </p:cNvSpPr>
          <p:nvPr/>
        </p:nvSpPr>
        <p:spPr bwMode="auto">
          <a:xfrm>
            <a:off x="5373688" y="207486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899" name="Oval 136"/>
          <p:cNvSpPr>
            <a:spLocks noChangeArrowheads="1"/>
          </p:cNvSpPr>
          <p:nvPr/>
        </p:nvSpPr>
        <p:spPr bwMode="auto">
          <a:xfrm>
            <a:off x="5284788" y="19653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00" name="Oval 141"/>
          <p:cNvSpPr>
            <a:spLocks noChangeArrowheads="1"/>
          </p:cNvSpPr>
          <p:nvPr/>
        </p:nvSpPr>
        <p:spPr bwMode="auto">
          <a:xfrm>
            <a:off x="5938838" y="277018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01" name="Oval 142"/>
          <p:cNvSpPr>
            <a:spLocks noChangeArrowheads="1"/>
          </p:cNvSpPr>
          <p:nvPr/>
        </p:nvSpPr>
        <p:spPr bwMode="auto">
          <a:xfrm>
            <a:off x="5845175" y="264477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02" name="Oval 143"/>
          <p:cNvSpPr>
            <a:spLocks noChangeArrowheads="1"/>
          </p:cNvSpPr>
          <p:nvPr/>
        </p:nvSpPr>
        <p:spPr bwMode="auto">
          <a:xfrm>
            <a:off x="5749925" y="253047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03" name="Oval 144"/>
          <p:cNvSpPr>
            <a:spLocks noChangeArrowheads="1"/>
          </p:cNvSpPr>
          <p:nvPr/>
        </p:nvSpPr>
        <p:spPr bwMode="auto">
          <a:xfrm>
            <a:off x="5659438" y="242728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04" name="Line 132"/>
          <p:cNvSpPr>
            <a:spLocks noChangeShapeType="1"/>
          </p:cNvSpPr>
          <p:nvPr/>
        </p:nvSpPr>
        <p:spPr bwMode="auto">
          <a:xfrm flipH="1">
            <a:off x="5299075" y="1981200"/>
            <a:ext cx="9525" cy="3140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05" name="Line 137"/>
          <p:cNvSpPr>
            <a:spLocks noChangeShapeType="1"/>
          </p:cNvSpPr>
          <p:nvPr/>
        </p:nvSpPr>
        <p:spPr bwMode="auto">
          <a:xfrm>
            <a:off x="5403850" y="2095500"/>
            <a:ext cx="0" cy="3035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06" name="Line 138"/>
          <p:cNvSpPr>
            <a:spLocks noChangeShapeType="1"/>
          </p:cNvSpPr>
          <p:nvPr/>
        </p:nvSpPr>
        <p:spPr bwMode="auto">
          <a:xfrm>
            <a:off x="5499100" y="2209800"/>
            <a:ext cx="0" cy="2927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07" name="Line 139"/>
          <p:cNvSpPr>
            <a:spLocks noChangeShapeType="1"/>
          </p:cNvSpPr>
          <p:nvPr/>
        </p:nvSpPr>
        <p:spPr bwMode="auto">
          <a:xfrm>
            <a:off x="5584825" y="231775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08" name="Line 140"/>
          <p:cNvSpPr>
            <a:spLocks noChangeShapeType="1"/>
          </p:cNvSpPr>
          <p:nvPr/>
        </p:nvSpPr>
        <p:spPr bwMode="auto">
          <a:xfrm>
            <a:off x="5689600" y="2438400"/>
            <a:ext cx="0" cy="2682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09" name="Line 145"/>
          <p:cNvSpPr>
            <a:spLocks noChangeShapeType="1"/>
          </p:cNvSpPr>
          <p:nvPr/>
        </p:nvSpPr>
        <p:spPr bwMode="auto">
          <a:xfrm flipH="1">
            <a:off x="5775325" y="2562225"/>
            <a:ext cx="9525" cy="2559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0" name="Line 146"/>
          <p:cNvSpPr>
            <a:spLocks noChangeShapeType="1"/>
          </p:cNvSpPr>
          <p:nvPr/>
        </p:nvSpPr>
        <p:spPr bwMode="auto">
          <a:xfrm flipH="1">
            <a:off x="5870575" y="2676525"/>
            <a:ext cx="9525" cy="2470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1" name="Line 147"/>
          <p:cNvSpPr>
            <a:spLocks noChangeShapeType="1"/>
          </p:cNvSpPr>
          <p:nvPr/>
        </p:nvSpPr>
        <p:spPr bwMode="auto">
          <a:xfrm flipH="1">
            <a:off x="5956300" y="2784475"/>
            <a:ext cx="9525" cy="2362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2" name="Line 149"/>
          <p:cNvSpPr>
            <a:spLocks noChangeShapeType="1"/>
          </p:cNvSpPr>
          <p:nvPr/>
        </p:nvSpPr>
        <p:spPr bwMode="auto">
          <a:xfrm flipH="1">
            <a:off x="6051550" y="2895600"/>
            <a:ext cx="9525" cy="2244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3" name="Oval 150"/>
          <p:cNvSpPr>
            <a:spLocks noChangeArrowheads="1"/>
          </p:cNvSpPr>
          <p:nvPr/>
        </p:nvSpPr>
        <p:spPr bwMode="auto">
          <a:xfrm>
            <a:off x="6310313" y="322103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14" name="Oval 151"/>
          <p:cNvSpPr>
            <a:spLocks noChangeArrowheads="1"/>
          </p:cNvSpPr>
          <p:nvPr/>
        </p:nvSpPr>
        <p:spPr bwMode="auto">
          <a:xfrm>
            <a:off x="6221413" y="311308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15" name="Oval 152"/>
          <p:cNvSpPr>
            <a:spLocks noChangeArrowheads="1"/>
          </p:cNvSpPr>
          <p:nvPr/>
        </p:nvSpPr>
        <p:spPr bwMode="auto">
          <a:xfrm>
            <a:off x="6126163" y="299243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16" name="Oval 153"/>
          <p:cNvSpPr>
            <a:spLocks noChangeArrowheads="1"/>
          </p:cNvSpPr>
          <p:nvPr/>
        </p:nvSpPr>
        <p:spPr bwMode="auto">
          <a:xfrm>
            <a:off x="6030913" y="287813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17" name="Line 154"/>
          <p:cNvSpPr>
            <a:spLocks noChangeShapeType="1"/>
          </p:cNvSpPr>
          <p:nvPr/>
        </p:nvSpPr>
        <p:spPr bwMode="auto">
          <a:xfrm flipH="1">
            <a:off x="6146800" y="3019425"/>
            <a:ext cx="9525" cy="2120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8" name="Line 155"/>
          <p:cNvSpPr>
            <a:spLocks noChangeShapeType="1"/>
          </p:cNvSpPr>
          <p:nvPr/>
        </p:nvSpPr>
        <p:spPr bwMode="auto">
          <a:xfrm flipH="1">
            <a:off x="6242050" y="3133725"/>
            <a:ext cx="9525" cy="2012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19" name="Line 156"/>
          <p:cNvSpPr>
            <a:spLocks noChangeShapeType="1"/>
          </p:cNvSpPr>
          <p:nvPr/>
        </p:nvSpPr>
        <p:spPr bwMode="auto">
          <a:xfrm flipH="1">
            <a:off x="6337300" y="3241675"/>
            <a:ext cx="0" cy="1895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20" name="Line 157"/>
          <p:cNvSpPr>
            <a:spLocks noChangeShapeType="1"/>
          </p:cNvSpPr>
          <p:nvPr/>
        </p:nvSpPr>
        <p:spPr bwMode="auto">
          <a:xfrm>
            <a:off x="6442075" y="3362325"/>
            <a:ext cx="0" cy="1768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21" name="Oval 158"/>
          <p:cNvSpPr>
            <a:spLocks noChangeArrowheads="1"/>
          </p:cNvSpPr>
          <p:nvPr/>
        </p:nvSpPr>
        <p:spPr bwMode="auto">
          <a:xfrm>
            <a:off x="6686550" y="36957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22" name="Oval 159"/>
          <p:cNvSpPr>
            <a:spLocks noChangeArrowheads="1"/>
          </p:cNvSpPr>
          <p:nvPr/>
        </p:nvSpPr>
        <p:spPr bwMode="auto">
          <a:xfrm>
            <a:off x="6597650" y="357505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23" name="Oval 160"/>
          <p:cNvSpPr>
            <a:spLocks noChangeArrowheads="1"/>
          </p:cNvSpPr>
          <p:nvPr/>
        </p:nvSpPr>
        <p:spPr bwMode="auto">
          <a:xfrm>
            <a:off x="6502400" y="34671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24" name="Oval 161"/>
          <p:cNvSpPr>
            <a:spLocks noChangeArrowheads="1"/>
          </p:cNvSpPr>
          <p:nvPr/>
        </p:nvSpPr>
        <p:spPr bwMode="auto">
          <a:xfrm>
            <a:off x="6407150" y="33528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25" name="Line 162"/>
          <p:cNvSpPr>
            <a:spLocks noChangeShapeType="1"/>
          </p:cNvSpPr>
          <p:nvPr/>
        </p:nvSpPr>
        <p:spPr bwMode="auto">
          <a:xfrm flipH="1">
            <a:off x="6537325" y="3476625"/>
            <a:ext cx="0" cy="1654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26" name="Line 163"/>
          <p:cNvSpPr>
            <a:spLocks noChangeShapeType="1"/>
          </p:cNvSpPr>
          <p:nvPr/>
        </p:nvSpPr>
        <p:spPr bwMode="auto">
          <a:xfrm flipH="1">
            <a:off x="6623050" y="3590925"/>
            <a:ext cx="9525" cy="155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27" name="Line 164"/>
          <p:cNvSpPr>
            <a:spLocks noChangeShapeType="1"/>
          </p:cNvSpPr>
          <p:nvPr/>
        </p:nvSpPr>
        <p:spPr bwMode="auto">
          <a:xfrm flipH="1">
            <a:off x="6708775" y="3689350"/>
            <a:ext cx="9525" cy="1457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28" name="Oval 165"/>
          <p:cNvSpPr>
            <a:spLocks noChangeArrowheads="1"/>
          </p:cNvSpPr>
          <p:nvPr/>
        </p:nvSpPr>
        <p:spPr bwMode="auto">
          <a:xfrm>
            <a:off x="7058025" y="415766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29" name="Oval 166"/>
          <p:cNvSpPr>
            <a:spLocks noChangeArrowheads="1"/>
          </p:cNvSpPr>
          <p:nvPr/>
        </p:nvSpPr>
        <p:spPr bwMode="auto">
          <a:xfrm>
            <a:off x="6969125" y="40386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0" name="Oval 167"/>
          <p:cNvSpPr>
            <a:spLocks noChangeArrowheads="1"/>
          </p:cNvSpPr>
          <p:nvPr/>
        </p:nvSpPr>
        <p:spPr bwMode="auto">
          <a:xfrm>
            <a:off x="6884988" y="39243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1" name="Oval 168"/>
          <p:cNvSpPr>
            <a:spLocks noChangeArrowheads="1"/>
          </p:cNvSpPr>
          <p:nvPr/>
        </p:nvSpPr>
        <p:spPr bwMode="auto">
          <a:xfrm>
            <a:off x="6789738" y="3810000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2" name="Oval 169"/>
          <p:cNvSpPr>
            <a:spLocks noChangeArrowheads="1"/>
          </p:cNvSpPr>
          <p:nvPr/>
        </p:nvSpPr>
        <p:spPr bwMode="auto">
          <a:xfrm>
            <a:off x="7439025" y="4621213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3" name="Oval 170"/>
          <p:cNvSpPr>
            <a:spLocks noChangeArrowheads="1"/>
          </p:cNvSpPr>
          <p:nvPr/>
        </p:nvSpPr>
        <p:spPr bwMode="auto">
          <a:xfrm>
            <a:off x="7350125" y="4510088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4" name="Oval 171"/>
          <p:cNvSpPr>
            <a:spLocks noChangeArrowheads="1"/>
          </p:cNvSpPr>
          <p:nvPr/>
        </p:nvSpPr>
        <p:spPr bwMode="auto">
          <a:xfrm>
            <a:off x="7254875" y="43910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5" name="Oval 172"/>
          <p:cNvSpPr>
            <a:spLocks noChangeArrowheads="1"/>
          </p:cNvSpPr>
          <p:nvPr/>
        </p:nvSpPr>
        <p:spPr bwMode="auto">
          <a:xfrm>
            <a:off x="7159625" y="4276725"/>
            <a:ext cx="57150" cy="5715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936" name="Line 173"/>
          <p:cNvSpPr>
            <a:spLocks noChangeShapeType="1"/>
          </p:cNvSpPr>
          <p:nvPr/>
        </p:nvSpPr>
        <p:spPr bwMode="auto">
          <a:xfrm flipH="1">
            <a:off x="6804025" y="3819525"/>
            <a:ext cx="9525" cy="1311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37" name="Line 174"/>
          <p:cNvSpPr>
            <a:spLocks noChangeShapeType="1"/>
          </p:cNvSpPr>
          <p:nvPr/>
        </p:nvSpPr>
        <p:spPr bwMode="auto">
          <a:xfrm>
            <a:off x="6908800" y="3943350"/>
            <a:ext cx="0" cy="1177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38" name="Line 175"/>
          <p:cNvSpPr>
            <a:spLocks noChangeShapeType="1"/>
          </p:cNvSpPr>
          <p:nvPr/>
        </p:nvSpPr>
        <p:spPr bwMode="auto">
          <a:xfrm>
            <a:off x="7004050" y="4048125"/>
            <a:ext cx="0" cy="1089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39" name="Line 176"/>
          <p:cNvSpPr>
            <a:spLocks noChangeShapeType="1"/>
          </p:cNvSpPr>
          <p:nvPr/>
        </p:nvSpPr>
        <p:spPr bwMode="auto">
          <a:xfrm flipH="1">
            <a:off x="7080250" y="4156075"/>
            <a:ext cx="9525" cy="981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40" name="Line 177"/>
          <p:cNvSpPr>
            <a:spLocks noChangeShapeType="1"/>
          </p:cNvSpPr>
          <p:nvPr/>
        </p:nvSpPr>
        <p:spPr bwMode="auto">
          <a:xfrm flipH="1">
            <a:off x="7194550" y="4276725"/>
            <a:ext cx="0" cy="844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41" name="Line 178"/>
          <p:cNvSpPr>
            <a:spLocks noChangeShapeType="1"/>
          </p:cNvSpPr>
          <p:nvPr/>
        </p:nvSpPr>
        <p:spPr bwMode="auto">
          <a:xfrm flipH="1">
            <a:off x="7280275" y="4400550"/>
            <a:ext cx="95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42" name="Line 179"/>
          <p:cNvSpPr>
            <a:spLocks noChangeShapeType="1"/>
          </p:cNvSpPr>
          <p:nvPr/>
        </p:nvSpPr>
        <p:spPr bwMode="auto">
          <a:xfrm flipH="1">
            <a:off x="7385050" y="4514850"/>
            <a:ext cx="0" cy="612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43" name="Line 180"/>
          <p:cNvSpPr>
            <a:spLocks noChangeShapeType="1"/>
          </p:cNvSpPr>
          <p:nvPr/>
        </p:nvSpPr>
        <p:spPr bwMode="auto">
          <a:xfrm flipH="1">
            <a:off x="7461250" y="4622800"/>
            <a:ext cx="9525" cy="51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944" name="Rectangle 181"/>
          <p:cNvSpPr>
            <a:spLocks noChangeArrowheads="1"/>
          </p:cNvSpPr>
          <p:nvPr/>
        </p:nvSpPr>
        <p:spPr bwMode="auto">
          <a:xfrm>
            <a:off x="3486150" y="5124450"/>
            <a:ext cx="4543425" cy="10763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5945" name="Text Box 182"/>
          <p:cNvSpPr txBox="1">
            <a:spLocks noChangeArrowheads="1"/>
          </p:cNvSpPr>
          <p:nvPr/>
        </p:nvSpPr>
        <p:spPr bwMode="auto">
          <a:xfrm>
            <a:off x="4908550" y="5576888"/>
            <a:ext cx="18510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32-bit Storage Register</a:t>
            </a:r>
          </a:p>
        </p:txBody>
      </p:sp>
      <p:sp>
        <p:nvSpPr>
          <p:cNvPr id="35946" name="Text Box 183"/>
          <p:cNvSpPr txBox="1">
            <a:spLocks noChangeArrowheads="1"/>
          </p:cNvSpPr>
          <p:nvPr/>
        </p:nvSpPr>
        <p:spPr bwMode="auto">
          <a:xfrm>
            <a:off x="4346575" y="5110163"/>
            <a:ext cx="3484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D0                                                                 D31 </a:t>
            </a:r>
          </a:p>
        </p:txBody>
      </p:sp>
      <p:sp>
        <p:nvSpPr>
          <p:cNvPr id="35947" name="AutoShape 184"/>
          <p:cNvSpPr>
            <a:spLocks noChangeArrowheads="1"/>
          </p:cNvSpPr>
          <p:nvPr/>
        </p:nvSpPr>
        <p:spPr bwMode="auto">
          <a:xfrm flipH="1">
            <a:off x="1228725" y="2790825"/>
            <a:ext cx="733425" cy="647700"/>
          </a:xfrm>
          <a:prstGeom prst="wedgeEllipseCallout">
            <a:avLst>
              <a:gd name="adj1" fmla="val -183986"/>
              <a:gd name="adj2" fmla="val 93625"/>
            </a:avLst>
          </a:prstGeom>
          <a:noFill/>
          <a:ln w="1905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b="1"/>
          </a:p>
        </p:txBody>
      </p:sp>
      <p:cxnSp>
        <p:nvCxnSpPr>
          <p:cNvPr id="3" name="Straight Connector 2"/>
          <p:cNvCxnSpPr>
            <a:endCxn id="4" idx="2"/>
          </p:cNvCxnSpPr>
          <p:nvPr/>
        </p:nvCxnSpPr>
        <p:spPr>
          <a:xfrm flipV="1">
            <a:off x="838200" y="2960132"/>
            <a:ext cx="228600" cy="316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382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19400" y="2782669"/>
            <a:ext cx="12192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Bus Stride Notation</a:t>
            </a:r>
          </a:p>
        </p:txBody>
      </p:sp>
    </p:spTree>
    <p:extLst>
      <p:ext uri="{BB962C8B-B14F-4D97-AF65-F5344CB8AC3E}">
        <p14:creationId xmlns:p14="http://schemas.microsoft.com/office/powerpoint/2010/main" val="923108305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Data Stride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25438" y="992188"/>
            <a:ext cx="8589962" cy="5370512"/>
          </a:xfrm>
        </p:spPr>
        <p:txBody>
          <a:bodyPr/>
          <a:lstStyle/>
          <a:p>
            <a:r>
              <a:rPr lang="en-US" sz="2000" dirty="0"/>
              <a:t>Summary of various </a:t>
            </a:r>
            <a:r>
              <a:rPr lang="en-US" sz="2000" b="1" dirty="0"/>
              <a:t>bus widths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4,8 bits </a:t>
            </a:r>
            <a:r>
              <a:rPr lang="en-US" sz="2000" dirty="0"/>
              <a:t>- Appliances, modems, simple applications</a:t>
            </a:r>
          </a:p>
          <a:p>
            <a:pPr lvl="1"/>
            <a:r>
              <a:rPr lang="en-US" sz="2000" b="1" dirty="0">
                <a:solidFill>
                  <a:srgbClr val="008000"/>
                </a:solidFill>
              </a:rPr>
              <a:t>16  bits </a:t>
            </a:r>
            <a:r>
              <a:rPr lang="en-US" sz="2000" dirty="0"/>
              <a:t>- Industrial controllers, automotive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32  bits</a:t>
            </a:r>
            <a:r>
              <a:rPr lang="en-US" sz="2000" dirty="0"/>
              <a:t> - Telecomm, laser printers, high-performance apps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64  bits </a:t>
            </a:r>
            <a:r>
              <a:rPr lang="en-US" sz="2000" dirty="0"/>
              <a:t>- PC’s, UNIX workstations, games</a:t>
            </a:r>
          </a:p>
          <a:p>
            <a:pPr lvl="1"/>
            <a:r>
              <a:rPr lang="en-US" sz="2000" b="1" dirty="0">
                <a:solidFill>
                  <a:srgbClr val="FF6600"/>
                </a:solidFill>
              </a:rPr>
              <a:t>128, 256 bits</a:t>
            </a:r>
            <a:r>
              <a:rPr lang="en-US" sz="2000" dirty="0"/>
              <a:t> (VLIW) - Next generation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Internal</a:t>
            </a:r>
            <a:r>
              <a:rPr lang="en-US" sz="2000" dirty="0"/>
              <a:t> and </a:t>
            </a:r>
            <a:r>
              <a:rPr lang="en-US" sz="2000" b="1" dirty="0"/>
              <a:t>external</a:t>
            </a:r>
            <a:r>
              <a:rPr lang="en-US" sz="2000" dirty="0"/>
              <a:t> data paths may differ in size</a:t>
            </a:r>
          </a:p>
          <a:p>
            <a:pPr lvl="1"/>
            <a:r>
              <a:rPr lang="en-US" sz="2000" dirty="0"/>
              <a:t>Narrower memory is more economical, (but typically slower?)</a:t>
            </a:r>
          </a:p>
          <a:p>
            <a:pPr lvl="1"/>
            <a:r>
              <a:rPr lang="en-US" sz="2000" b="1" dirty="0">
                <a:solidFill>
                  <a:srgbClr val="008000"/>
                </a:solidFill>
              </a:rPr>
              <a:t>MC68000: </a:t>
            </a:r>
            <a:r>
              <a:rPr lang="en-US" sz="2000" b="1" dirty="0">
                <a:solidFill>
                  <a:srgbClr val="0000FF"/>
                </a:solidFill>
              </a:rPr>
              <a:t>32-bit internal</a:t>
            </a:r>
            <a:r>
              <a:rPr lang="en-US" sz="2000" b="1" dirty="0">
                <a:solidFill>
                  <a:srgbClr val="008000"/>
                </a:solidFill>
              </a:rPr>
              <a:t>/16-bit external</a:t>
            </a:r>
          </a:p>
          <a:p>
            <a:pPr lvl="1"/>
            <a:r>
              <a:rPr lang="en-US" sz="2000" dirty="0"/>
              <a:t>80C188: </a:t>
            </a:r>
            <a:r>
              <a:rPr lang="en-US" sz="2000" b="1" dirty="0">
                <a:solidFill>
                  <a:srgbClr val="008000"/>
                </a:solidFill>
              </a:rPr>
              <a:t>16-bit internal</a:t>
            </a:r>
            <a:r>
              <a:rPr lang="en-US" sz="2000" dirty="0"/>
              <a:t>/</a:t>
            </a:r>
            <a:r>
              <a:rPr lang="en-US" sz="2000" b="1" dirty="0"/>
              <a:t>8-bit external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57400" y="6553200"/>
            <a:ext cx="19484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(Original Source: Arnie Berger)</a:t>
            </a:r>
          </a:p>
        </p:txBody>
      </p:sp>
    </p:spTree>
    <p:extLst>
      <p:ext uri="{BB962C8B-B14F-4D97-AF65-F5344CB8AC3E}">
        <p14:creationId xmlns:p14="http://schemas.microsoft.com/office/powerpoint/2010/main" val="2056799390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" y="84723"/>
            <a:ext cx="9052560" cy="821155"/>
          </a:xfrm>
        </p:spPr>
        <p:txBody>
          <a:bodyPr/>
          <a:lstStyle/>
          <a:p>
            <a:r>
              <a:rPr lang="en-US" dirty="0"/>
              <a:t>Expanding Memory Stride</a:t>
            </a:r>
          </a:p>
        </p:txBody>
      </p:sp>
      <p:grpSp>
        <p:nvGrpSpPr>
          <p:cNvPr id="67587" name="Group 4"/>
          <p:cNvGrpSpPr>
            <a:grpSpLocks/>
          </p:cNvGrpSpPr>
          <p:nvPr/>
        </p:nvGrpSpPr>
        <p:grpSpPr bwMode="auto">
          <a:xfrm>
            <a:off x="1106488" y="1374775"/>
            <a:ext cx="1601787" cy="1938338"/>
            <a:chOff x="1052" y="1581"/>
            <a:chExt cx="1009" cy="1221"/>
          </a:xfrm>
        </p:grpSpPr>
        <p:sp>
          <p:nvSpPr>
            <p:cNvPr id="67697" name="Rectangle 5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8" name="Line 6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9" name="Line 7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0" name="Line 8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1" name="Line 9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2" name="Line 10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3" name="Line 11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4" name="Line 12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5" name="Line 13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6" name="Line 14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7" name="Line 15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8" name="Line 16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09" name="Line 17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0" name="Line 18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1" name="Line 19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2" name="Line 20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13" name="Text Box 21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7714" name="Text Box 22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7715" name="Text Box 23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7716" name="Text Box 24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7717" name="Text Box 25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7718" name="Text Box 26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7719" name="Text Box 27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7720" name="Text Box 28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7721" name="Text Box 29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7722" name="Text Box 30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7723" name="Text Box 31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7724" name="Text Box 32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7725" name="Text Box 33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7726" name="Text Box 34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7727" name="Text Box 35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7728" name="Line 36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29" name="Line 37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0" name="Line 38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1" name="Line 39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2" name="Line 40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3" name="Line 41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4" name="Line 42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5" name="Line 43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36" name="Text Box 44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7737" name="Text Box 45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7738" name="Text Box 46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7739" name="Text Box 47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7740" name="Text Box 48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7741" name="Text Box 49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7742" name="Text Box 50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7743" name="Text Box 51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7744" name="Oval 52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5" name="Oval 53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6" name="Oval 54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747" name="Text Box 55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7748" name="Line 56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49" name="Text Box 57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7750" name="Line 58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751" name="Text Box 59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7752" name="Line 60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7588" name="Group 61"/>
          <p:cNvGrpSpPr>
            <a:grpSpLocks/>
          </p:cNvGrpSpPr>
          <p:nvPr/>
        </p:nvGrpSpPr>
        <p:grpSpPr bwMode="auto">
          <a:xfrm>
            <a:off x="1116013" y="3559175"/>
            <a:ext cx="1601787" cy="1938338"/>
            <a:chOff x="1052" y="1581"/>
            <a:chExt cx="1009" cy="1221"/>
          </a:xfrm>
        </p:grpSpPr>
        <p:sp>
          <p:nvSpPr>
            <p:cNvPr id="67641" name="Rectangle 62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42" name="Line 63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3" name="Line 64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4" name="Line 65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5" name="Line 66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6" name="Line 67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7" name="Line 68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8" name="Line 69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49" name="Line 70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0" name="Line 71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1" name="Line 72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2" name="Line 73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3" name="Line 74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4" name="Line 75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5" name="Line 76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6" name="Line 77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57" name="Text Box 78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7658" name="Text Box 79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7659" name="Text Box 80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7660" name="Text Box 81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7661" name="Text Box 82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7662" name="Text Box 83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7663" name="Text Box 84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7664" name="Text Box 85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7665" name="Text Box 86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7666" name="Text Box 87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7667" name="Text Box 88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7668" name="Text Box 89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7669" name="Text Box 90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7670" name="Text Box 91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7671" name="Text Box 92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7672" name="Line 93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3" name="Line 94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4" name="Line 95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5" name="Line 96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6" name="Line 97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7" name="Line 98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8" name="Line 99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79" name="Line 100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80" name="Text Box 101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7681" name="Text Box 102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7682" name="Text Box 103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7683" name="Text Box 104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7684" name="Text Box 105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7685" name="Text Box 106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7686" name="Text Box 107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7687" name="Text Box 108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7688" name="Oval 109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89" name="Oval 110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0" name="Oval 111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7691" name="Text Box 112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7692" name="Line 113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3" name="Text Box 114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7694" name="Line 115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695" name="Text Box 116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7696" name="Line 117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7589" name="Line 118"/>
          <p:cNvSpPr>
            <a:spLocks noChangeShapeType="1"/>
          </p:cNvSpPr>
          <p:nvPr/>
        </p:nvSpPr>
        <p:spPr bwMode="auto">
          <a:xfrm>
            <a:off x="1123950" y="1222375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0" name="Line 119"/>
          <p:cNvSpPr>
            <a:spLocks noChangeShapeType="1"/>
          </p:cNvSpPr>
          <p:nvPr/>
        </p:nvSpPr>
        <p:spPr bwMode="auto">
          <a:xfrm>
            <a:off x="3200400" y="15176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1" name="Line 134"/>
          <p:cNvSpPr>
            <a:spLocks noChangeShapeType="1"/>
          </p:cNvSpPr>
          <p:nvPr/>
        </p:nvSpPr>
        <p:spPr bwMode="auto">
          <a:xfrm>
            <a:off x="35052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2" name="Line 135"/>
          <p:cNvSpPr>
            <a:spLocks noChangeShapeType="1"/>
          </p:cNvSpPr>
          <p:nvPr/>
        </p:nvSpPr>
        <p:spPr bwMode="auto">
          <a:xfrm>
            <a:off x="38100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3" name="Line 136"/>
          <p:cNvSpPr>
            <a:spLocks noChangeShapeType="1"/>
          </p:cNvSpPr>
          <p:nvPr/>
        </p:nvSpPr>
        <p:spPr bwMode="auto">
          <a:xfrm>
            <a:off x="41148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4" name="Line 137"/>
          <p:cNvSpPr>
            <a:spLocks noChangeShapeType="1"/>
          </p:cNvSpPr>
          <p:nvPr/>
        </p:nvSpPr>
        <p:spPr bwMode="auto">
          <a:xfrm>
            <a:off x="44196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5" name="Line 138"/>
          <p:cNvSpPr>
            <a:spLocks noChangeShapeType="1"/>
          </p:cNvSpPr>
          <p:nvPr/>
        </p:nvSpPr>
        <p:spPr bwMode="auto">
          <a:xfrm>
            <a:off x="47244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6" name="Line 139"/>
          <p:cNvSpPr>
            <a:spLocks noChangeShapeType="1"/>
          </p:cNvSpPr>
          <p:nvPr/>
        </p:nvSpPr>
        <p:spPr bwMode="auto">
          <a:xfrm>
            <a:off x="50292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7" name="Line 140"/>
          <p:cNvSpPr>
            <a:spLocks noChangeShapeType="1"/>
          </p:cNvSpPr>
          <p:nvPr/>
        </p:nvSpPr>
        <p:spPr bwMode="auto">
          <a:xfrm>
            <a:off x="53340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8" name="Line 141"/>
          <p:cNvSpPr>
            <a:spLocks noChangeShapeType="1"/>
          </p:cNvSpPr>
          <p:nvPr/>
        </p:nvSpPr>
        <p:spPr bwMode="auto">
          <a:xfrm>
            <a:off x="5638800" y="15240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99" name="Line 142"/>
          <p:cNvSpPr>
            <a:spLocks noChangeShapeType="1"/>
          </p:cNvSpPr>
          <p:nvPr/>
        </p:nvSpPr>
        <p:spPr bwMode="auto">
          <a:xfrm>
            <a:off x="59436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0" name="Line 143"/>
          <p:cNvSpPr>
            <a:spLocks noChangeShapeType="1"/>
          </p:cNvSpPr>
          <p:nvPr/>
        </p:nvSpPr>
        <p:spPr bwMode="auto">
          <a:xfrm>
            <a:off x="62484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1" name="Line 144"/>
          <p:cNvSpPr>
            <a:spLocks noChangeShapeType="1"/>
          </p:cNvSpPr>
          <p:nvPr/>
        </p:nvSpPr>
        <p:spPr bwMode="auto">
          <a:xfrm>
            <a:off x="65532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2" name="Line 145"/>
          <p:cNvSpPr>
            <a:spLocks noChangeShapeType="1"/>
          </p:cNvSpPr>
          <p:nvPr/>
        </p:nvSpPr>
        <p:spPr bwMode="auto">
          <a:xfrm>
            <a:off x="6858000" y="153035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3" name="Line 146"/>
          <p:cNvSpPr>
            <a:spLocks noChangeShapeType="1"/>
          </p:cNvSpPr>
          <p:nvPr/>
        </p:nvSpPr>
        <p:spPr bwMode="auto">
          <a:xfrm>
            <a:off x="71628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4" name="Line 147"/>
          <p:cNvSpPr>
            <a:spLocks noChangeShapeType="1"/>
          </p:cNvSpPr>
          <p:nvPr/>
        </p:nvSpPr>
        <p:spPr bwMode="auto">
          <a:xfrm>
            <a:off x="74676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5" name="Line 148"/>
          <p:cNvSpPr>
            <a:spLocks noChangeShapeType="1"/>
          </p:cNvSpPr>
          <p:nvPr/>
        </p:nvSpPr>
        <p:spPr bwMode="auto">
          <a:xfrm>
            <a:off x="7772400" y="1536700"/>
            <a:ext cx="0" cy="395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606" name="AutoShape 149"/>
          <p:cNvSpPr>
            <a:spLocks/>
          </p:cNvSpPr>
          <p:nvPr/>
        </p:nvSpPr>
        <p:spPr bwMode="auto">
          <a:xfrm rot="5400000">
            <a:off x="5410200" y="3352800"/>
            <a:ext cx="228600" cy="4800600"/>
          </a:xfrm>
          <a:prstGeom prst="rightBrace">
            <a:avLst>
              <a:gd name="adj1" fmla="val 1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07" name="Text Box 150"/>
          <p:cNvSpPr txBox="1">
            <a:spLocks noChangeArrowheads="1"/>
          </p:cNvSpPr>
          <p:nvPr/>
        </p:nvSpPr>
        <p:spPr bwMode="auto">
          <a:xfrm>
            <a:off x="4495800" y="5821362"/>
            <a:ext cx="19462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16-bit data bus, D0..D15 </a:t>
            </a:r>
          </a:p>
        </p:txBody>
      </p:sp>
      <p:sp>
        <p:nvSpPr>
          <p:cNvPr id="67608" name="Text Box 151"/>
          <p:cNvSpPr txBox="1">
            <a:spLocks noChangeArrowheads="1"/>
          </p:cNvSpPr>
          <p:nvPr/>
        </p:nvSpPr>
        <p:spPr bwMode="auto">
          <a:xfrm>
            <a:off x="3032125" y="1201738"/>
            <a:ext cx="4940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000" b="1"/>
              <a:t>D0   D1    D2    D3    D4     D5    D6    D7    D8     D9  D10  D11 D12   D13   D14 D15 </a:t>
            </a:r>
          </a:p>
        </p:txBody>
      </p:sp>
      <p:sp>
        <p:nvSpPr>
          <p:cNvPr id="67609" name="Line 152"/>
          <p:cNvSpPr>
            <a:spLocks noChangeShapeType="1"/>
          </p:cNvSpPr>
          <p:nvPr/>
        </p:nvSpPr>
        <p:spPr bwMode="auto">
          <a:xfrm>
            <a:off x="2590800" y="162560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610" name="Oval 153"/>
          <p:cNvSpPr>
            <a:spLocks noChangeArrowheads="1"/>
          </p:cNvSpPr>
          <p:nvPr/>
        </p:nvSpPr>
        <p:spPr bwMode="auto">
          <a:xfrm>
            <a:off x="3163888" y="15890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1" name="Oval 154"/>
          <p:cNvSpPr>
            <a:spLocks noChangeArrowheads="1"/>
          </p:cNvSpPr>
          <p:nvPr/>
        </p:nvSpPr>
        <p:spPr bwMode="auto">
          <a:xfrm>
            <a:off x="3455988" y="1741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2" name="Oval 155"/>
          <p:cNvSpPr>
            <a:spLocks noChangeArrowheads="1"/>
          </p:cNvSpPr>
          <p:nvPr/>
        </p:nvSpPr>
        <p:spPr bwMode="auto">
          <a:xfrm>
            <a:off x="3773488" y="1982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3" name="Oval 156"/>
          <p:cNvSpPr>
            <a:spLocks noChangeArrowheads="1"/>
          </p:cNvSpPr>
          <p:nvPr/>
        </p:nvSpPr>
        <p:spPr bwMode="auto">
          <a:xfrm>
            <a:off x="4065588" y="22113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4" name="Oval 157"/>
          <p:cNvSpPr>
            <a:spLocks noChangeArrowheads="1"/>
          </p:cNvSpPr>
          <p:nvPr/>
        </p:nvSpPr>
        <p:spPr bwMode="auto">
          <a:xfrm>
            <a:off x="4383088" y="24145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5" name="Oval 158"/>
          <p:cNvSpPr>
            <a:spLocks noChangeArrowheads="1"/>
          </p:cNvSpPr>
          <p:nvPr/>
        </p:nvSpPr>
        <p:spPr bwMode="auto">
          <a:xfrm>
            <a:off x="4675188" y="2617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6" name="Oval 159"/>
          <p:cNvSpPr>
            <a:spLocks noChangeArrowheads="1"/>
          </p:cNvSpPr>
          <p:nvPr/>
        </p:nvSpPr>
        <p:spPr bwMode="auto">
          <a:xfrm>
            <a:off x="4979988" y="27955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17" name="Line 160"/>
          <p:cNvSpPr>
            <a:spLocks noChangeShapeType="1"/>
          </p:cNvSpPr>
          <p:nvPr/>
        </p:nvSpPr>
        <p:spPr bwMode="auto">
          <a:xfrm>
            <a:off x="2717800" y="1790700"/>
            <a:ext cx="774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18" name="Line 162"/>
          <p:cNvSpPr>
            <a:spLocks noChangeShapeType="1"/>
          </p:cNvSpPr>
          <p:nvPr/>
        </p:nvSpPr>
        <p:spPr bwMode="auto">
          <a:xfrm>
            <a:off x="2565400" y="2019300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19" name="Line 163"/>
          <p:cNvSpPr>
            <a:spLocks noChangeShapeType="1"/>
          </p:cNvSpPr>
          <p:nvPr/>
        </p:nvSpPr>
        <p:spPr bwMode="auto">
          <a:xfrm>
            <a:off x="2552700" y="2246313"/>
            <a:ext cx="1536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0" name="Line 164"/>
          <p:cNvSpPr>
            <a:spLocks noChangeShapeType="1"/>
          </p:cNvSpPr>
          <p:nvPr/>
        </p:nvSpPr>
        <p:spPr bwMode="auto">
          <a:xfrm>
            <a:off x="2603500" y="246380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1" name="Line 165"/>
          <p:cNvSpPr>
            <a:spLocks noChangeShapeType="1"/>
          </p:cNvSpPr>
          <p:nvPr/>
        </p:nvSpPr>
        <p:spPr bwMode="auto">
          <a:xfrm flipV="1">
            <a:off x="2717800" y="26543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2" name="Line 166"/>
          <p:cNvSpPr>
            <a:spLocks noChangeShapeType="1"/>
          </p:cNvSpPr>
          <p:nvPr/>
        </p:nvSpPr>
        <p:spPr bwMode="auto">
          <a:xfrm flipV="1">
            <a:off x="2679700" y="2832100"/>
            <a:ext cx="234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3" name="Oval 167"/>
          <p:cNvSpPr>
            <a:spLocks noChangeArrowheads="1"/>
          </p:cNvSpPr>
          <p:nvPr/>
        </p:nvSpPr>
        <p:spPr bwMode="auto">
          <a:xfrm>
            <a:off x="5284788" y="29352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4" name="Oval 168"/>
          <p:cNvSpPr>
            <a:spLocks noChangeArrowheads="1"/>
          </p:cNvSpPr>
          <p:nvPr/>
        </p:nvSpPr>
        <p:spPr bwMode="auto">
          <a:xfrm>
            <a:off x="5614988" y="3760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5" name="Oval 169"/>
          <p:cNvSpPr>
            <a:spLocks noChangeArrowheads="1"/>
          </p:cNvSpPr>
          <p:nvPr/>
        </p:nvSpPr>
        <p:spPr bwMode="auto">
          <a:xfrm>
            <a:off x="5894388" y="39258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6" name="Oval 170"/>
          <p:cNvSpPr>
            <a:spLocks noChangeArrowheads="1"/>
          </p:cNvSpPr>
          <p:nvPr/>
        </p:nvSpPr>
        <p:spPr bwMode="auto">
          <a:xfrm>
            <a:off x="6211888" y="4154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27" name="Line 172"/>
          <p:cNvSpPr>
            <a:spLocks noChangeShapeType="1"/>
          </p:cNvSpPr>
          <p:nvPr/>
        </p:nvSpPr>
        <p:spPr bwMode="auto">
          <a:xfrm flipV="1">
            <a:off x="2603500" y="2984500"/>
            <a:ext cx="271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8" name="Line 173"/>
          <p:cNvSpPr>
            <a:spLocks noChangeShapeType="1"/>
          </p:cNvSpPr>
          <p:nvPr/>
        </p:nvSpPr>
        <p:spPr bwMode="auto">
          <a:xfrm flipV="1">
            <a:off x="2565400" y="3810000"/>
            <a:ext cx="304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29" name="Line 174"/>
          <p:cNvSpPr>
            <a:spLocks noChangeShapeType="1"/>
          </p:cNvSpPr>
          <p:nvPr/>
        </p:nvSpPr>
        <p:spPr bwMode="auto">
          <a:xfrm flipV="1">
            <a:off x="2679700" y="3975100"/>
            <a:ext cx="325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0" name="Line 175"/>
          <p:cNvSpPr>
            <a:spLocks noChangeShapeType="1"/>
          </p:cNvSpPr>
          <p:nvPr/>
        </p:nvSpPr>
        <p:spPr bwMode="auto">
          <a:xfrm flipV="1">
            <a:off x="2654300" y="4203700"/>
            <a:ext cx="3594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1" name="Oval 178"/>
          <p:cNvSpPr>
            <a:spLocks noChangeArrowheads="1"/>
          </p:cNvSpPr>
          <p:nvPr/>
        </p:nvSpPr>
        <p:spPr bwMode="auto">
          <a:xfrm>
            <a:off x="7735888" y="51196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2" name="Oval 179"/>
          <p:cNvSpPr>
            <a:spLocks noChangeArrowheads="1"/>
          </p:cNvSpPr>
          <p:nvPr/>
        </p:nvSpPr>
        <p:spPr bwMode="auto">
          <a:xfrm>
            <a:off x="7431088" y="49799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3" name="Oval 180"/>
          <p:cNvSpPr>
            <a:spLocks noChangeArrowheads="1"/>
          </p:cNvSpPr>
          <p:nvPr/>
        </p:nvSpPr>
        <p:spPr bwMode="auto">
          <a:xfrm>
            <a:off x="7113588" y="47894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4" name="Oval 181"/>
          <p:cNvSpPr>
            <a:spLocks noChangeArrowheads="1"/>
          </p:cNvSpPr>
          <p:nvPr/>
        </p:nvSpPr>
        <p:spPr bwMode="auto">
          <a:xfrm>
            <a:off x="6821488" y="45989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5" name="Oval 182"/>
          <p:cNvSpPr>
            <a:spLocks noChangeArrowheads="1"/>
          </p:cNvSpPr>
          <p:nvPr/>
        </p:nvSpPr>
        <p:spPr bwMode="auto">
          <a:xfrm>
            <a:off x="6516688" y="4395788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7636" name="Line 183"/>
          <p:cNvSpPr>
            <a:spLocks noChangeShapeType="1"/>
          </p:cNvSpPr>
          <p:nvPr/>
        </p:nvSpPr>
        <p:spPr bwMode="auto">
          <a:xfrm flipV="1">
            <a:off x="2717800" y="4430713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7" name="Line 184"/>
          <p:cNvSpPr>
            <a:spLocks noChangeShapeType="1"/>
          </p:cNvSpPr>
          <p:nvPr/>
        </p:nvSpPr>
        <p:spPr bwMode="auto">
          <a:xfrm flipV="1">
            <a:off x="2654300" y="4648200"/>
            <a:ext cx="421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8" name="Line 185"/>
          <p:cNvSpPr>
            <a:spLocks noChangeShapeType="1"/>
          </p:cNvSpPr>
          <p:nvPr/>
        </p:nvSpPr>
        <p:spPr bwMode="auto">
          <a:xfrm flipV="1">
            <a:off x="2679700" y="4824413"/>
            <a:ext cx="447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39" name="Line 186"/>
          <p:cNvSpPr>
            <a:spLocks noChangeShapeType="1"/>
          </p:cNvSpPr>
          <p:nvPr/>
        </p:nvSpPr>
        <p:spPr bwMode="auto">
          <a:xfrm flipV="1">
            <a:off x="2565400" y="5016500"/>
            <a:ext cx="487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7640" name="Line 187"/>
          <p:cNvSpPr>
            <a:spLocks noChangeShapeType="1"/>
          </p:cNvSpPr>
          <p:nvPr/>
        </p:nvSpPr>
        <p:spPr bwMode="auto">
          <a:xfrm flipV="1">
            <a:off x="2616200" y="5168900"/>
            <a:ext cx="5143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4800" y="6172200"/>
            <a:ext cx="7086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bins (mappable locations) per chip? (word=16b)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How many bytes total?</a:t>
            </a:r>
          </a:p>
        </p:txBody>
      </p:sp>
    </p:spTree>
    <p:extLst>
      <p:ext uri="{BB962C8B-B14F-4D97-AF65-F5344CB8AC3E}">
        <p14:creationId xmlns:p14="http://schemas.microsoft.com/office/powerpoint/2010/main" val="3538121601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fld id="{9CDC75A0-8D6C-4DDB-B7F4-4A7AE77CE035}" type="slidenum">
              <a:rPr lang="ko-KR" altLang="en-US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ko-KR">
              <a:solidFill>
                <a:srgbClr val="898989"/>
              </a:solidFill>
            </a:endParaRPr>
          </a:p>
        </p:txBody>
      </p:sp>
      <p:sp>
        <p:nvSpPr>
          <p:cNvPr id="24579" name="Title 1"/>
          <p:cNvSpPr>
            <a:spLocks noGrp="1"/>
          </p:cNvSpPr>
          <p:nvPr>
            <p:ph type="title" idx="4294967295"/>
          </p:nvPr>
        </p:nvSpPr>
        <p:spPr>
          <a:xfrm>
            <a:off x="-100330" y="152400"/>
            <a:ext cx="9052560" cy="838200"/>
          </a:xfrm>
        </p:spPr>
        <p:txBody>
          <a:bodyPr/>
          <a:lstStyle/>
          <a:p>
            <a:r>
              <a:rPr lang="en-US" altLang="ko-KR" sz="4000" dirty="0"/>
              <a:t>ALU &lt;-&gt; MEMORY via Bus &amp; Control</a:t>
            </a:r>
            <a:endParaRPr lang="en-US" sz="4000" dirty="0"/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1882302" y="5715000"/>
            <a:ext cx="54102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 dirty="0"/>
              <a:t>Major Components of CPU, Simplified 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ko-KR" b="1" dirty="0"/>
              <a:t>Courtesy of Arnie Berger</a:t>
            </a:r>
            <a:endParaRPr lang="en-US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1402404" y="2347609"/>
            <a:ext cx="6553200" cy="2466975"/>
            <a:chOff x="1402404" y="2347609"/>
            <a:chExt cx="6553200" cy="2466975"/>
          </a:xfrm>
        </p:grpSpPr>
        <p:pic>
          <p:nvPicPr>
            <p:cNvPr id="12595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2404" y="2347609"/>
              <a:ext cx="6553200" cy="2466975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2159400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3" name="Straight Connector 2"/>
            <p:cNvCxnSpPr/>
            <p:nvPr/>
          </p:nvCxnSpPr>
          <p:spPr bwMode="auto">
            <a:xfrm>
              <a:off x="4907604" y="2347609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scene3d>
              <a:camera prst="orthographicFront">
                <a:rot lat="0" lon="0" rev="21594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82" name="Rectangle 1027"/>
          <p:cNvSpPr txBox="1">
            <a:spLocks noChangeArrowheads="1"/>
          </p:cNvSpPr>
          <p:nvPr/>
        </p:nvSpPr>
        <p:spPr bwMode="auto">
          <a:xfrm>
            <a:off x="254000" y="990600"/>
            <a:ext cx="8585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1800" dirty="0"/>
              <a:t>The components in CPU is connected with an </a:t>
            </a:r>
            <a:r>
              <a:rPr lang="en-US" sz="1800" b="1" i="1" dirty="0"/>
              <a:t>internal</a:t>
            </a:r>
            <a:r>
              <a:rPr lang="en-US" sz="1800" dirty="0"/>
              <a:t> bus. (fast, expensive)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sz="1800" b="1" dirty="0">
                <a:solidFill>
                  <a:srgbClr val="0000FF"/>
                </a:solidFill>
              </a:rPr>
              <a:t>We’ll build this</a:t>
            </a:r>
            <a:r>
              <a:rPr lang="en-US" sz="1800" dirty="0"/>
              <a:t>; we’ll add this register file to our ALU (HW1) in the next slides</a:t>
            </a:r>
          </a:p>
          <a:p>
            <a:pPr>
              <a:spcBef>
                <a:spcPct val="20000"/>
              </a:spcBef>
            </a:pPr>
            <a:endParaRPr lang="en-US" sz="1800" dirty="0"/>
          </a:p>
          <a:p>
            <a:pPr lvl="1">
              <a:spcBef>
                <a:spcPct val="20000"/>
              </a:spcBef>
            </a:pPr>
            <a:endParaRPr lang="en-US" sz="1800" b="1" i="1" dirty="0"/>
          </a:p>
        </p:txBody>
      </p:sp>
      <p:sp>
        <p:nvSpPr>
          <p:cNvPr id="4" name="Rectangle 3"/>
          <p:cNvSpPr/>
          <p:nvPr/>
        </p:nvSpPr>
        <p:spPr>
          <a:xfrm>
            <a:off x="1219200" y="1752600"/>
            <a:ext cx="6736404" cy="3505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8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3705" y="-76200"/>
            <a:ext cx="4685705" cy="1600200"/>
          </a:xfrm>
        </p:spPr>
        <p:txBody>
          <a:bodyPr/>
          <a:lstStyle/>
          <a:p>
            <a:r>
              <a:rPr lang="en-US" dirty="0"/>
              <a:t>Motorola 68K Black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831273"/>
            <a:ext cx="5181600" cy="145472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US" dirty="0"/>
              <a:t>16b external data bus</a:t>
            </a:r>
          </a:p>
          <a:p>
            <a:pPr lvl="1"/>
            <a:r>
              <a:rPr lang="en-US" dirty="0"/>
              <a:t>This will define the “word” size</a:t>
            </a:r>
          </a:p>
          <a:p>
            <a:r>
              <a:rPr lang="en-US" dirty="0"/>
              <a:t>32b internal data bus</a:t>
            </a:r>
          </a:p>
          <a:p>
            <a:pPr lvl="1"/>
            <a:r>
              <a:rPr lang="en-US" dirty="0"/>
              <a:t>This is a double word or long</a:t>
            </a:r>
          </a:p>
          <a:p>
            <a:r>
              <a:rPr lang="en-US" dirty="0"/>
              <a:t>24b address bus limits memory space</a:t>
            </a:r>
          </a:p>
          <a:p>
            <a:r>
              <a:rPr lang="en-US" dirty="0"/>
              <a:t>Uses a status/control bus and a Status Register</a:t>
            </a:r>
          </a:p>
          <a:p>
            <a:endParaRPr lang="en-US" dirty="0"/>
          </a:p>
        </p:txBody>
      </p:sp>
      <p:pic>
        <p:nvPicPr>
          <p:cNvPr id="4" name="Picture 3" descr="Screen Shot 2015-04-19 at 8.01.3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2565400"/>
            <a:ext cx="8597900" cy="383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75262"/>
            <a:ext cx="1803400" cy="7869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34262" y="876300"/>
            <a:ext cx="818677" cy="2286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681474" y="1739900"/>
            <a:ext cx="1198626" cy="2286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954260" y="1981200"/>
            <a:ext cx="1754909" cy="2286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312776" y="1958340"/>
            <a:ext cx="1450338" cy="25146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511800" y="1295400"/>
            <a:ext cx="818677" cy="2286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287982" y="838200"/>
            <a:ext cx="415636" cy="3048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13000"/>
                </a:schemeClr>
              </a:gs>
              <a:gs pos="35000">
                <a:schemeClr val="accent2">
                  <a:tint val="37000"/>
                  <a:satMod val="300000"/>
                  <a:alpha val="13000"/>
                </a:schemeClr>
              </a:gs>
              <a:gs pos="100000">
                <a:schemeClr val="accent2">
                  <a:tint val="15000"/>
                  <a:satMod val="350000"/>
                  <a:alpha val="13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283364" y="1231900"/>
            <a:ext cx="415636" cy="3048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13000"/>
                </a:schemeClr>
              </a:gs>
              <a:gs pos="35000">
                <a:schemeClr val="accent2">
                  <a:tint val="37000"/>
                  <a:satMod val="300000"/>
                  <a:alpha val="13000"/>
                </a:schemeClr>
              </a:gs>
              <a:gs pos="100000">
                <a:schemeClr val="accent2">
                  <a:tint val="15000"/>
                  <a:satMod val="350000"/>
                  <a:alpha val="13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304699" y="1676400"/>
            <a:ext cx="343501" cy="3048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13000"/>
                </a:schemeClr>
              </a:gs>
              <a:gs pos="35000">
                <a:schemeClr val="accent2">
                  <a:tint val="37000"/>
                  <a:satMod val="300000"/>
                  <a:alpha val="13000"/>
                </a:schemeClr>
              </a:gs>
              <a:gs pos="100000">
                <a:schemeClr val="accent2">
                  <a:tint val="15000"/>
                  <a:satMod val="350000"/>
                  <a:alpha val="13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502727" y="202201"/>
            <a:ext cx="831273" cy="331199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17000"/>
                </a:schemeClr>
              </a:gs>
              <a:gs pos="35000">
                <a:schemeClr val="accent3">
                  <a:tint val="37000"/>
                  <a:satMod val="300000"/>
                  <a:alpha val="17000"/>
                </a:schemeClr>
              </a:gs>
              <a:gs pos="100000">
                <a:schemeClr val="accent3">
                  <a:tint val="15000"/>
                  <a:satMod val="350000"/>
                  <a:alpha val="17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Stride</a:t>
            </a:r>
          </a:p>
        </p:txBody>
      </p:sp>
      <p:sp>
        <p:nvSpPr>
          <p:cNvPr id="15" name="Curved Down Arrow 14"/>
          <p:cNvSpPr/>
          <p:nvPr/>
        </p:nvSpPr>
        <p:spPr>
          <a:xfrm rot="17028095" flipH="1">
            <a:off x="815081" y="3406487"/>
            <a:ext cx="838200" cy="6096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34986" y="3276600"/>
            <a:ext cx="1450338" cy="3316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(Next Slide)</a:t>
            </a:r>
          </a:p>
        </p:txBody>
      </p:sp>
    </p:spTree>
    <p:extLst>
      <p:ext uri="{BB962C8B-B14F-4D97-AF65-F5344CB8AC3E}">
        <p14:creationId xmlns:p14="http://schemas.microsoft.com/office/powerpoint/2010/main" val="259971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729"/>
            <a:ext cx="8229600" cy="903271"/>
          </a:xfrm>
        </p:spPr>
        <p:txBody>
          <a:bodyPr/>
          <a:lstStyle/>
          <a:p>
            <a:r>
              <a:rPr lang="en-US"/>
              <a:t>The Status Bus &amp; M68K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control and synchronization</a:t>
            </a:r>
          </a:p>
          <a:p>
            <a:pPr lvl="1"/>
            <a:r>
              <a:rPr lang="en-US" dirty="0"/>
              <a:t>The clock</a:t>
            </a:r>
          </a:p>
          <a:p>
            <a:r>
              <a:rPr lang="en-US" dirty="0"/>
              <a:t>Informs of interrupts</a:t>
            </a:r>
          </a:p>
          <a:p>
            <a:r>
              <a:rPr lang="en-US" dirty="0"/>
              <a:t>Mediates bus accesses</a:t>
            </a:r>
          </a:p>
          <a:p>
            <a:r>
              <a:rPr lang="en-US" dirty="0"/>
              <a:t>Knows if a carry occurred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3048000" y="3886200"/>
            <a:ext cx="3200400" cy="203132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For the MC68K: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RESET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INTERRUPT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BUS REQ, ACK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CLOCK IO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READ/WRITE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(STATUS REGISTER)</a:t>
            </a:r>
          </a:p>
        </p:txBody>
      </p:sp>
    </p:spTree>
    <p:extLst>
      <p:ext uri="{BB962C8B-B14F-4D97-AF65-F5344CB8AC3E}">
        <p14:creationId xmlns:p14="http://schemas.microsoft.com/office/powerpoint/2010/main" val="3653402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600200"/>
          </a:xfrm>
        </p:spPr>
        <p:txBody>
          <a:bodyPr/>
          <a:lstStyle/>
          <a:p>
            <a:r>
              <a:rPr lang="en-US" dirty="0"/>
              <a:t>A “Modern” PC Bus Set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65481" r="-65481"/>
          <a:stretch>
            <a:fillRect/>
          </a:stretch>
        </p:blipFill>
        <p:spPr>
          <a:xfrm>
            <a:off x="-152400" y="1600200"/>
            <a:ext cx="8839200" cy="4861220"/>
          </a:xfrm>
        </p:spPr>
      </p:pic>
      <p:sp>
        <p:nvSpPr>
          <p:cNvPr id="5" name="TextBox 4"/>
          <p:cNvSpPr txBox="1"/>
          <p:nvPr/>
        </p:nvSpPr>
        <p:spPr>
          <a:xfrm>
            <a:off x="2209800" y="6488668"/>
            <a:ext cx="381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howstuffworks.com</a:t>
            </a:r>
            <a:endParaRPr lang="en-US" sz="1200" dirty="0"/>
          </a:p>
        </p:txBody>
      </p:sp>
      <p:sp>
        <p:nvSpPr>
          <p:cNvPr id="3" name="Curved Down Arrow 2"/>
          <p:cNvSpPr/>
          <p:nvPr/>
        </p:nvSpPr>
        <p:spPr>
          <a:xfrm flipH="1">
            <a:off x="3808829" y="1239217"/>
            <a:ext cx="3430171" cy="416365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4200" y="1676400"/>
            <a:ext cx="1447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Internal Bus</a:t>
            </a:r>
          </a:p>
        </p:txBody>
      </p:sp>
      <p:sp>
        <p:nvSpPr>
          <p:cNvPr id="7" name="Curved Down Arrow 6"/>
          <p:cNvSpPr/>
          <p:nvPr/>
        </p:nvSpPr>
        <p:spPr>
          <a:xfrm flipH="1" flipV="1">
            <a:off x="4800600" y="5105400"/>
            <a:ext cx="3134867" cy="521320"/>
          </a:xfrm>
          <a:prstGeom prst="curved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10400" y="4800600"/>
            <a:ext cx="145547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External Bus</a:t>
            </a:r>
          </a:p>
          <a:p>
            <a:r>
              <a:rPr lang="en-US" dirty="0"/>
              <a:t>(USB, etc.)</a:t>
            </a:r>
          </a:p>
        </p:txBody>
      </p:sp>
    </p:spTree>
    <p:extLst>
      <p:ext uri="{BB962C8B-B14F-4D97-AF65-F5344CB8AC3E}">
        <p14:creationId xmlns:p14="http://schemas.microsoft.com/office/powerpoint/2010/main" val="2803502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-76200"/>
            <a:ext cx="3581400" cy="1600200"/>
          </a:xfrm>
        </p:spPr>
        <p:txBody>
          <a:bodyPr/>
          <a:lstStyle/>
          <a:p>
            <a:r>
              <a:rPr lang="en-US" dirty="0"/>
              <a:t>External PC  Busses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2910" b="12910"/>
          <a:stretch>
            <a:fillRect/>
          </a:stretch>
        </p:blipFill>
        <p:spPr>
          <a:xfrm>
            <a:off x="457200" y="1798637"/>
            <a:ext cx="8229600" cy="4525963"/>
          </a:xfrm>
        </p:spPr>
      </p:pic>
      <p:sp>
        <p:nvSpPr>
          <p:cNvPr id="5" name="TextBox 4"/>
          <p:cNvSpPr txBox="1"/>
          <p:nvPr/>
        </p:nvSpPr>
        <p:spPr>
          <a:xfrm>
            <a:off x="1219200" y="6400800"/>
            <a:ext cx="7239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Source, go to : </a:t>
            </a:r>
            <a:r>
              <a:rPr lang="en-US" sz="800" dirty="0">
                <a:hlinkClick r:id="rId3"/>
              </a:rPr>
              <a:t>http://networking.ringofsaturn.com/PC/slottypes.php</a:t>
            </a:r>
            <a:r>
              <a:rPr lang="en-US" sz="800" dirty="0"/>
              <a:t>,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98066"/>
            <a:ext cx="2438399" cy="16545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50105" y="6380479"/>
            <a:ext cx="3884295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Peripheral Component Interconnect</a:t>
            </a:r>
          </a:p>
        </p:txBody>
      </p:sp>
    </p:spTree>
    <p:extLst>
      <p:ext uri="{BB962C8B-B14F-4D97-AF65-F5344CB8AC3E}">
        <p14:creationId xmlns:p14="http://schemas.microsoft.com/office/powerpoint/2010/main" val="3715828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" y="76200"/>
            <a:ext cx="9052561" cy="990600"/>
          </a:xfrm>
        </p:spPr>
        <p:txBody>
          <a:bodyPr/>
          <a:lstStyle/>
          <a:p>
            <a:r>
              <a:rPr lang="en-US" dirty="0"/>
              <a:t>RAM OK: What</a:t>
            </a:r>
            <a:r>
              <a:rPr lang="fr-FR" dirty="0"/>
              <a:t>’</a:t>
            </a:r>
            <a:r>
              <a:rPr lang="en-US" dirty="0"/>
              <a:t>s in the Box?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66"/>
          <p:cNvSpPr>
            <a:spLocks noChangeArrowheads="1"/>
          </p:cNvSpPr>
          <p:nvPr/>
        </p:nvSpPr>
        <p:spPr bwMode="auto">
          <a:xfrm>
            <a:off x="1658938" y="1733550"/>
            <a:ext cx="6288087" cy="4329113"/>
          </a:xfrm>
          <a:prstGeom prst="rect">
            <a:avLst/>
          </a:prstGeom>
          <a:solidFill>
            <a:srgbClr val="FFFFCC"/>
          </a:solidFill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" name="Group 367"/>
          <p:cNvGrpSpPr>
            <a:grpSpLocks/>
          </p:cNvGrpSpPr>
          <p:nvPr/>
        </p:nvGrpSpPr>
        <p:grpSpPr bwMode="auto">
          <a:xfrm>
            <a:off x="3527425" y="2271713"/>
            <a:ext cx="3838575" cy="3263900"/>
            <a:chOff x="1254" y="1721"/>
            <a:chExt cx="2418" cy="2056"/>
          </a:xfrm>
        </p:grpSpPr>
        <p:grpSp>
          <p:nvGrpSpPr>
            <p:cNvPr id="6" name="Group 368"/>
            <p:cNvGrpSpPr>
              <a:grpSpLocks/>
            </p:cNvGrpSpPr>
            <p:nvPr/>
          </p:nvGrpSpPr>
          <p:grpSpPr bwMode="auto">
            <a:xfrm>
              <a:off x="1254" y="1721"/>
              <a:ext cx="2414" cy="342"/>
              <a:chOff x="1254" y="1721"/>
              <a:chExt cx="2414" cy="342"/>
            </a:xfrm>
          </p:grpSpPr>
          <p:grpSp>
            <p:nvGrpSpPr>
              <p:cNvPr id="130" name="Group 369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161" name="Group 37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63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64" name="Text Box 3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65" name="Text Box 3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66" name="Text Box 3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67" name="Oval 37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68" name="Text Box 3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69" name="Line 3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37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379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152" name="Group 38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54" name="Rectangle 38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5" name="Text Box 3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56" name="Text Box 3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57" name="Text Box 3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58" name="Oval 38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9" name="Text Box 3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60" name="Line 3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3" name="Line 38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2" name="Group 389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143" name="Group 39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45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46" name="Text Box 3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47" name="Text Box 39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48" name="Text Box 3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49" name="Oval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0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51" name="Line 3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4" name="Line 39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3" name="Group 399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134" name="Group 40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36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37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38" name="Text Box 4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39" name="Text Box 4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40" name="Oval 40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41" name="Text Box 4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42" name="Line 4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5" name="Line 40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oup 409"/>
            <p:cNvGrpSpPr>
              <a:grpSpLocks/>
            </p:cNvGrpSpPr>
            <p:nvPr/>
          </p:nvGrpSpPr>
          <p:grpSpPr bwMode="auto">
            <a:xfrm>
              <a:off x="1257" y="2306"/>
              <a:ext cx="2414" cy="342"/>
              <a:chOff x="1254" y="1721"/>
              <a:chExt cx="2414" cy="342"/>
            </a:xfrm>
          </p:grpSpPr>
          <p:grpSp>
            <p:nvGrpSpPr>
              <p:cNvPr id="90" name="Group 410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121" name="Group 41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23" name="Rectangle 41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24" name="Text Box 4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25" name="Text Box 4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26" name="Text Box 4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27" name="Oval 41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28" name="Text Box 4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29" name="Line 4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2" name="Line 41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420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112" name="Group 42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14" name="Rectangle 42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5" name="Text Box 4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16" name="Text Box 4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17" name="Text Box 4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18" name="Oval 42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9" name="Text Box 4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20" name="Line 4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42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430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103" name="Group 43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05" name="Rectangle 43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06" name="Text Box 4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07" name="Text Box 4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08" name="Text Box 4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09" name="Oval 43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0" name="Text Box 4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11" name="Line 4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4" name="Line 43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440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94" name="Group 44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96" name="Rectangle 44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97" name="Text Box 4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98" name="Text Box 4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99" name="Text Box 4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00" name="Oval 44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01" name="Text Box 4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02" name="Line 4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95" name="Line 44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8" name="Group 450"/>
            <p:cNvGrpSpPr>
              <a:grpSpLocks/>
            </p:cNvGrpSpPr>
            <p:nvPr/>
          </p:nvGrpSpPr>
          <p:grpSpPr bwMode="auto">
            <a:xfrm>
              <a:off x="1255" y="2850"/>
              <a:ext cx="2414" cy="342"/>
              <a:chOff x="1254" y="1721"/>
              <a:chExt cx="2414" cy="342"/>
            </a:xfrm>
          </p:grpSpPr>
          <p:grpSp>
            <p:nvGrpSpPr>
              <p:cNvPr id="50" name="Group 451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81" name="Group 45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83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84" name="Text Box 4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85" name="Text Box 4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86" name="Text Box 4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87" name="Oval 45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88" name="Text Box 4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89" name="Line 45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" name="Line 46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1" name="Group 461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72" name="Group 46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74" name="Rectangle 46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5" name="Text Box 4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76" name="Text Box 4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77" name="Text Box 4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78" name="Oval 46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9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80" name="Line 46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73" name="Line 47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471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63" name="Group 47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65" name="Rectangle 47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66" name="Text Box 4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67" name="Text Box 4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68" name="Text Box 4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69" name="Oval 47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0" name="Text Box 4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71" name="Line 4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64" name="Line 48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481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54" name="Group 48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56" name="Rectangle 48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57" name="Text Box 4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58" name="Text Box 4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59" name="Text Box 4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60" name="Oval 48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61" name="Text Box 4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62" name="Line 4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5" name="Line 49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491"/>
            <p:cNvGrpSpPr>
              <a:grpSpLocks/>
            </p:cNvGrpSpPr>
            <p:nvPr/>
          </p:nvGrpSpPr>
          <p:grpSpPr bwMode="auto">
            <a:xfrm>
              <a:off x="1258" y="3435"/>
              <a:ext cx="2414" cy="342"/>
              <a:chOff x="1254" y="1721"/>
              <a:chExt cx="2414" cy="342"/>
            </a:xfrm>
          </p:grpSpPr>
          <p:grpSp>
            <p:nvGrpSpPr>
              <p:cNvPr id="10" name="Group 492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41" name="Group 49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43" name="Rectangle 49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44" name="Text Box 4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45" name="Text Box 4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46" name="Text Box 4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47" name="Oval 49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48" name="Text Box 4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49" name="Line 50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" name="Line 50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502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32" name="Group 50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34" name="Rectangle 50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5" name="Text Box 5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36" name="Text Box 5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37" name="Text Box 5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38" name="Oval 50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9" name="Text Box 5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40" name="Line 5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3" name="Line 51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512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23" name="Group 51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25" name="Rectangle 51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26" name="Text Box 5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27" name="Text Box 5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28" name="Text Box 5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29" name="Oval 51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0" name="Text Box 5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31" name="Line 5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" name="Line 52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522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14" name="Group 52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6" name="Rectangle 52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7" name="Text Box 5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8" name="Text Box 5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9" name="Text Box 5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20" name="Oval 52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21" name="Text Box 5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22" name="Line 5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53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0" name="Line 532"/>
          <p:cNvSpPr>
            <a:spLocks noChangeShapeType="1"/>
          </p:cNvSpPr>
          <p:nvPr/>
        </p:nvSpPr>
        <p:spPr bwMode="auto">
          <a:xfrm flipH="1" flipV="1">
            <a:off x="4240213" y="1512888"/>
            <a:ext cx="0" cy="3616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1" name="Line 533"/>
          <p:cNvSpPr>
            <a:spLocks noChangeShapeType="1"/>
          </p:cNvSpPr>
          <p:nvPr/>
        </p:nvSpPr>
        <p:spPr bwMode="auto">
          <a:xfrm flipH="1" flipV="1">
            <a:off x="5284788" y="1512888"/>
            <a:ext cx="1587" cy="3627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2" name="Line 534"/>
          <p:cNvSpPr>
            <a:spLocks noChangeShapeType="1"/>
          </p:cNvSpPr>
          <p:nvPr/>
        </p:nvSpPr>
        <p:spPr bwMode="auto">
          <a:xfrm flipH="1" flipV="1">
            <a:off x="6332538" y="1520825"/>
            <a:ext cx="0" cy="3617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" name="Line 535"/>
          <p:cNvSpPr>
            <a:spLocks noChangeShapeType="1"/>
          </p:cNvSpPr>
          <p:nvPr/>
        </p:nvSpPr>
        <p:spPr bwMode="auto">
          <a:xfrm flipV="1">
            <a:off x="7358063" y="1527175"/>
            <a:ext cx="1587" cy="3586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" name="Rectangle 536"/>
          <p:cNvSpPr>
            <a:spLocks noChangeArrowheads="1"/>
          </p:cNvSpPr>
          <p:nvPr/>
        </p:nvSpPr>
        <p:spPr bwMode="auto">
          <a:xfrm rot="5400000">
            <a:off x="794" y="3593306"/>
            <a:ext cx="4135438" cy="6318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175" name="Group 537"/>
          <p:cNvGrpSpPr>
            <a:grpSpLocks/>
          </p:cNvGrpSpPr>
          <p:nvPr/>
        </p:nvGrpSpPr>
        <p:grpSpPr bwMode="auto">
          <a:xfrm>
            <a:off x="6534150" y="2203450"/>
            <a:ext cx="173038" cy="209550"/>
            <a:chOff x="3686" y="1741"/>
            <a:chExt cx="109" cy="192"/>
          </a:xfrm>
        </p:grpSpPr>
        <p:sp>
          <p:nvSpPr>
            <p:cNvPr id="176" name="Line 538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7" name="Line 539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8" name="Group 540"/>
          <p:cNvGrpSpPr>
            <a:grpSpLocks/>
          </p:cNvGrpSpPr>
          <p:nvPr/>
        </p:nvGrpSpPr>
        <p:grpSpPr bwMode="auto">
          <a:xfrm>
            <a:off x="5529263" y="2217738"/>
            <a:ext cx="173037" cy="209550"/>
            <a:chOff x="3686" y="1741"/>
            <a:chExt cx="109" cy="192"/>
          </a:xfrm>
        </p:grpSpPr>
        <p:sp>
          <p:nvSpPr>
            <p:cNvPr id="179" name="Line 54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0" name="Line 54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1" name="Group 543"/>
          <p:cNvGrpSpPr>
            <a:grpSpLocks/>
          </p:cNvGrpSpPr>
          <p:nvPr/>
        </p:nvGrpSpPr>
        <p:grpSpPr bwMode="auto">
          <a:xfrm>
            <a:off x="4451350" y="2217738"/>
            <a:ext cx="173038" cy="209550"/>
            <a:chOff x="3686" y="1741"/>
            <a:chExt cx="109" cy="192"/>
          </a:xfrm>
        </p:grpSpPr>
        <p:sp>
          <p:nvSpPr>
            <p:cNvPr id="182" name="Line 54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3" name="Line 54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4" name="Group 546"/>
          <p:cNvGrpSpPr>
            <a:grpSpLocks/>
          </p:cNvGrpSpPr>
          <p:nvPr/>
        </p:nvGrpSpPr>
        <p:grpSpPr bwMode="auto">
          <a:xfrm>
            <a:off x="3446463" y="2217738"/>
            <a:ext cx="173037" cy="209550"/>
            <a:chOff x="3686" y="1741"/>
            <a:chExt cx="109" cy="192"/>
          </a:xfrm>
        </p:grpSpPr>
        <p:sp>
          <p:nvSpPr>
            <p:cNvPr id="185" name="Line 547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6" name="Line 548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87" name="Text Box 549"/>
          <p:cNvSpPr txBox="1">
            <a:spLocks noChangeArrowheads="1"/>
          </p:cNvSpPr>
          <p:nvPr/>
        </p:nvSpPr>
        <p:spPr bwMode="auto">
          <a:xfrm>
            <a:off x="2339975" y="266541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(W0)D0..D3</a:t>
            </a:r>
          </a:p>
        </p:txBody>
      </p:sp>
      <p:grpSp>
        <p:nvGrpSpPr>
          <p:cNvPr id="188" name="Group 550"/>
          <p:cNvGrpSpPr>
            <a:grpSpLocks/>
          </p:cNvGrpSpPr>
          <p:nvPr/>
        </p:nvGrpSpPr>
        <p:grpSpPr bwMode="auto">
          <a:xfrm>
            <a:off x="6543675" y="3127375"/>
            <a:ext cx="173038" cy="209550"/>
            <a:chOff x="3686" y="1741"/>
            <a:chExt cx="109" cy="192"/>
          </a:xfrm>
        </p:grpSpPr>
        <p:sp>
          <p:nvSpPr>
            <p:cNvPr id="189" name="Line 55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0" name="Line 55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1" name="Group 553"/>
          <p:cNvGrpSpPr>
            <a:grpSpLocks/>
          </p:cNvGrpSpPr>
          <p:nvPr/>
        </p:nvGrpSpPr>
        <p:grpSpPr bwMode="auto">
          <a:xfrm>
            <a:off x="5538788" y="3141663"/>
            <a:ext cx="173037" cy="209550"/>
            <a:chOff x="3686" y="1741"/>
            <a:chExt cx="109" cy="192"/>
          </a:xfrm>
        </p:grpSpPr>
        <p:sp>
          <p:nvSpPr>
            <p:cNvPr id="192" name="Line 55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3" name="Line 55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4" name="Group 556"/>
          <p:cNvGrpSpPr>
            <a:grpSpLocks/>
          </p:cNvGrpSpPr>
          <p:nvPr/>
        </p:nvGrpSpPr>
        <p:grpSpPr bwMode="auto">
          <a:xfrm>
            <a:off x="4460875" y="3141663"/>
            <a:ext cx="173038" cy="209550"/>
            <a:chOff x="3686" y="1741"/>
            <a:chExt cx="109" cy="192"/>
          </a:xfrm>
        </p:grpSpPr>
        <p:sp>
          <p:nvSpPr>
            <p:cNvPr id="195" name="Line 557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6" name="Line 558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7" name="Group 559"/>
          <p:cNvGrpSpPr>
            <a:grpSpLocks/>
          </p:cNvGrpSpPr>
          <p:nvPr/>
        </p:nvGrpSpPr>
        <p:grpSpPr bwMode="auto">
          <a:xfrm>
            <a:off x="3443288" y="3141663"/>
            <a:ext cx="185737" cy="222250"/>
            <a:chOff x="3686" y="1741"/>
            <a:chExt cx="109" cy="192"/>
          </a:xfrm>
        </p:grpSpPr>
        <p:sp>
          <p:nvSpPr>
            <p:cNvPr id="198" name="Line 560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9" name="Line 561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0" name="Group 562"/>
          <p:cNvGrpSpPr>
            <a:grpSpLocks/>
          </p:cNvGrpSpPr>
          <p:nvPr/>
        </p:nvGrpSpPr>
        <p:grpSpPr bwMode="auto">
          <a:xfrm>
            <a:off x="6535738" y="3990975"/>
            <a:ext cx="173037" cy="200025"/>
            <a:chOff x="3686" y="1741"/>
            <a:chExt cx="109" cy="192"/>
          </a:xfrm>
        </p:grpSpPr>
        <p:sp>
          <p:nvSpPr>
            <p:cNvPr id="201" name="Line 563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2" name="Line 564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3" name="Group 565"/>
          <p:cNvGrpSpPr>
            <a:grpSpLocks/>
          </p:cNvGrpSpPr>
          <p:nvPr/>
        </p:nvGrpSpPr>
        <p:grpSpPr bwMode="auto">
          <a:xfrm>
            <a:off x="5530850" y="4005263"/>
            <a:ext cx="173038" cy="200025"/>
            <a:chOff x="3686" y="1741"/>
            <a:chExt cx="109" cy="192"/>
          </a:xfrm>
        </p:grpSpPr>
        <p:sp>
          <p:nvSpPr>
            <p:cNvPr id="204" name="Line 566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" name="Line 567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6" name="Group 568"/>
          <p:cNvGrpSpPr>
            <a:grpSpLocks/>
          </p:cNvGrpSpPr>
          <p:nvPr/>
        </p:nvGrpSpPr>
        <p:grpSpPr bwMode="auto">
          <a:xfrm>
            <a:off x="4452938" y="4005263"/>
            <a:ext cx="173037" cy="200025"/>
            <a:chOff x="3686" y="1741"/>
            <a:chExt cx="109" cy="192"/>
          </a:xfrm>
        </p:grpSpPr>
        <p:sp>
          <p:nvSpPr>
            <p:cNvPr id="207" name="Line 569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8" name="Line 570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9" name="Group 571"/>
          <p:cNvGrpSpPr>
            <a:grpSpLocks/>
          </p:cNvGrpSpPr>
          <p:nvPr/>
        </p:nvGrpSpPr>
        <p:grpSpPr bwMode="auto">
          <a:xfrm>
            <a:off x="3441700" y="4005263"/>
            <a:ext cx="179388" cy="200025"/>
            <a:chOff x="3686" y="1741"/>
            <a:chExt cx="109" cy="192"/>
          </a:xfrm>
        </p:grpSpPr>
        <p:sp>
          <p:nvSpPr>
            <p:cNvPr id="210" name="Line 572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1" name="Line 573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2" name="Group 574"/>
          <p:cNvGrpSpPr>
            <a:grpSpLocks/>
          </p:cNvGrpSpPr>
          <p:nvPr/>
        </p:nvGrpSpPr>
        <p:grpSpPr bwMode="auto">
          <a:xfrm>
            <a:off x="6543675" y="4937125"/>
            <a:ext cx="173038" cy="190500"/>
            <a:chOff x="3686" y="1741"/>
            <a:chExt cx="109" cy="192"/>
          </a:xfrm>
        </p:grpSpPr>
        <p:sp>
          <p:nvSpPr>
            <p:cNvPr id="213" name="Line 575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4" name="Line 576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" name="Group 577"/>
          <p:cNvGrpSpPr>
            <a:grpSpLocks/>
          </p:cNvGrpSpPr>
          <p:nvPr/>
        </p:nvGrpSpPr>
        <p:grpSpPr bwMode="auto">
          <a:xfrm>
            <a:off x="5538788" y="4949825"/>
            <a:ext cx="173037" cy="190500"/>
            <a:chOff x="3686" y="1741"/>
            <a:chExt cx="109" cy="192"/>
          </a:xfrm>
        </p:grpSpPr>
        <p:sp>
          <p:nvSpPr>
            <p:cNvPr id="216" name="Line 578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7" name="Line 579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8" name="Group 580"/>
          <p:cNvGrpSpPr>
            <a:grpSpLocks/>
          </p:cNvGrpSpPr>
          <p:nvPr/>
        </p:nvGrpSpPr>
        <p:grpSpPr bwMode="auto">
          <a:xfrm>
            <a:off x="4460875" y="4949825"/>
            <a:ext cx="173038" cy="190500"/>
            <a:chOff x="3686" y="1741"/>
            <a:chExt cx="109" cy="192"/>
          </a:xfrm>
        </p:grpSpPr>
        <p:sp>
          <p:nvSpPr>
            <p:cNvPr id="219" name="Line 58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0" name="Line 58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21" name="Group 583"/>
          <p:cNvGrpSpPr>
            <a:grpSpLocks/>
          </p:cNvGrpSpPr>
          <p:nvPr/>
        </p:nvGrpSpPr>
        <p:grpSpPr bwMode="auto">
          <a:xfrm>
            <a:off x="3455988" y="4949825"/>
            <a:ext cx="173037" cy="190500"/>
            <a:chOff x="3686" y="1741"/>
            <a:chExt cx="109" cy="192"/>
          </a:xfrm>
        </p:grpSpPr>
        <p:sp>
          <p:nvSpPr>
            <p:cNvPr id="222" name="Line 58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3" name="Line 58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24" name="Text Box 586"/>
          <p:cNvSpPr txBox="1">
            <a:spLocks noChangeArrowheads="1"/>
          </p:cNvSpPr>
          <p:nvPr/>
        </p:nvSpPr>
        <p:spPr bwMode="auto">
          <a:xfrm>
            <a:off x="2338388" y="537686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(W3)D0..D3</a:t>
            </a:r>
          </a:p>
        </p:txBody>
      </p:sp>
      <p:sp>
        <p:nvSpPr>
          <p:cNvPr id="225" name="Text Box 587"/>
          <p:cNvSpPr txBox="1">
            <a:spLocks noChangeArrowheads="1"/>
          </p:cNvSpPr>
          <p:nvPr/>
        </p:nvSpPr>
        <p:spPr bwMode="auto">
          <a:xfrm>
            <a:off x="2338388" y="4433888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(W2)D0..D3</a:t>
            </a:r>
          </a:p>
        </p:txBody>
      </p:sp>
      <p:sp>
        <p:nvSpPr>
          <p:cNvPr id="226" name="Freeform 588"/>
          <p:cNvSpPr>
            <a:spLocks/>
          </p:cNvSpPr>
          <p:nvPr/>
        </p:nvSpPr>
        <p:spPr bwMode="auto">
          <a:xfrm>
            <a:off x="3455988" y="1958975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7" name="Freeform 589"/>
          <p:cNvSpPr>
            <a:spLocks/>
          </p:cNvSpPr>
          <p:nvPr/>
        </p:nvSpPr>
        <p:spPr bwMode="auto">
          <a:xfrm>
            <a:off x="4460875" y="1944688"/>
            <a:ext cx="812800" cy="249237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8" name="Freeform 590"/>
          <p:cNvSpPr>
            <a:spLocks/>
          </p:cNvSpPr>
          <p:nvPr/>
        </p:nvSpPr>
        <p:spPr bwMode="auto">
          <a:xfrm>
            <a:off x="5538788" y="1954213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9" name="Freeform 591"/>
          <p:cNvSpPr>
            <a:spLocks/>
          </p:cNvSpPr>
          <p:nvPr/>
        </p:nvSpPr>
        <p:spPr bwMode="auto">
          <a:xfrm>
            <a:off x="6543675" y="1947863"/>
            <a:ext cx="782638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0" name="Oval 592"/>
          <p:cNvSpPr>
            <a:spLocks noChangeArrowheads="1"/>
          </p:cNvSpPr>
          <p:nvPr/>
        </p:nvSpPr>
        <p:spPr bwMode="auto">
          <a:xfrm>
            <a:off x="4194175" y="19192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1" name="Oval 593"/>
          <p:cNvSpPr>
            <a:spLocks noChangeArrowheads="1"/>
          </p:cNvSpPr>
          <p:nvPr/>
        </p:nvSpPr>
        <p:spPr bwMode="auto">
          <a:xfrm>
            <a:off x="5245100" y="190817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2" name="Oval 594"/>
          <p:cNvSpPr>
            <a:spLocks noChangeArrowheads="1"/>
          </p:cNvSpPr>
          <p:nvPr/>
        </p:nvSpPr>
        <p:spPr bwMode="auto">
          <a:xfrm>
            <a:off x="6299200" y="190976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3" name="Oval 595"/>
          <p:cNvSpPr>
            <a:spLocks noChangeArrowheads="1"/>
          </p:cNvSpPr>
          <p:nvPr/>
        </p:nvSpPr>
        <p:spPr bwMode="auto">
          <a:xfrm>
            <a:off x="7302500" y="19192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4" name="Freeform 596"/>
          <p:cNvSpPr>
            <a:spLocks/>
          </p:cNvSpPr>
          <p:nvPr/>
        </p:nvSpPr>
        <p:spPr bwMode="auto">
          <a:xfrm>
            <a:off x="3454400" y="3133725"/>
            <a:ext cx="782638" cy="182563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" name="Freeform 597"/>
          <p:cNvSpPr>
            <a:spLocks/>
          </p:cNvSpPr>
          <p:nvPr/>
        </p:nvSpPr>
        <p:spPr bwMode="auto">
          <a:xfrm>
            <a:off x="4470400" y="3127375"/>
            <a:ext cx="812800" cy="2492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" name="Freeform 598"/>
          <p:cNvSpPr>
            <a:spLocks/>
          </p:cNvSpPr>
          <p:nvPr/>
        </p:nvSpPr>
        <p:spPr bwMode="auto">
          <a:xfrm>
            <a:off x="5548313" y="3116263"/>
            <a:ext cx="782637" cy="17462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" name="Freeform 599"/>
          <p:cNvSpPr>
            <a:spLocks/>
          </p:cNvSpPr>
          <p:nvPr/>
        </p:nvSpPr>
        <p:spPr bwMode="auto">
          <a:xfrm>
            <a:off x="6553200" y="3111500"/>
            <a:ext cx="782638" cy="1730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8" name="Oval 600"/>
          <p:cNvSpPr>
            <a:spLocks noChangeArrowheads="1"/>
          </p:cNvSpPr>
          <p:nvPr/>
        </p:nvSpPr>
        <p:spPr bwMode="auto">
          <a:xfrm>
            <a:off x="419417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9" name="Oval 601"/>
          <p:cNvSpPr>
            <a:spLocks noChangeArrowheads="1"/>
          </p:cNvSpPr>
          <p:nvPr/>
        </p:nvSpPr>
        <p:spPr bwMode="auto">
          <a:xfrm>
            <a:off x="525462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0" name="Oval 602"/>
          <p:cNvSpPr>
            <a:spLocks noChangeArrowheads="1"/>
          </p:cNvSpPr>
          <p:nvPr/>
        </p:nvSpPr>
        <p:spPr bwMode="auto">
          <a:xfrm>
            <a:off x="6300788" y="3073400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1" name="Oval 603"/>
          <p:cNvSpPr>
            <a:spLocks noChangeArrowheads="1"/>
          </p:cNvSpPr>
          <p:nvPr/>
        </p:nvSpPr>
        <p:spPr bwMode="auto">
          <a:xfrm>
            <a:off x="7321550" y="30702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2" name="Freeform 604"/>
          <p:cNvSpPr>
            <a:spLocks/>
          </p:cNvSpPr>
          <p:nvPr/>
        </p:nvSpPr>
        <p:spPr bwMode="auto">
          <a:xfrm>
            <a:off x="3455988" y="3884613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" name="Freeform 605"/>
          <p:cNvSpPr>
            <a:spLocks/>
          </p:cNvSpPr>
          <p:nvPr/>
        </p:nvSpPr>
        <p:spPr bwMode="auto">
          <a:xfrm>
            <a:off x="4460875" y="3870325"/>
            <a:ext cx="812800" cy="2492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4" name="Freeform 606"/>
          <p:cNvSpPr>
            <a:spLocks/>
          </p:cNvSpPr>
          <p:nvPr/>
        </p:nvSpPr>
        <p:spPr bwMode="auto">
          <a:xfrm>
            <a:off x="5538788" y="3879850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" name="Freeform 607"/>
          <p:cNvSpPr>
            <a:spLocks/>
          </p:cNvSpPr>
          <p:nvPr/>
        </p:nvSpPr>
        <p:spPr bwMode="auto">
          <a:xfrm>
            <a:off x="6543675" y="3873500"/>
            <a:ext cx="782638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6" name="Oval 608"/>
          <p:cNvSpPr>
            <a:spLocks noChangeArrowheads="1"/>
          </p:cNvSpPr>
          <p:nvPr/>
        </p:nvSpPr>
        <p:spPr bwMode="auto">
          <a:xfrm>
            <a:off x="4194175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7" name="Oval 609"/>
          <p:cNvSpPr>
            <a:spLocks noChangeArrowheads="1"/>
          </p:cNvSpPr>
          <p:nvPr/>
        </p:nvSpPr>
        <p:spPr bwMode="auto">
          <a:xfrm>
            <a:off x="5245100" y="38338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8" name="Oval 610"/>
          <p:cNvSpPr>
            <a:spLocks noChangeArrowheads="1"/>
          </p:cNvSpPr>
          <p:nvPr/>
        </p:nvSpPr>
        <p:spPr bwMode="auto">
          <a:xfrm>
            <a:off x="6286500" y="3835400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9" name="Oval 611"/>
          <p:cNvSpPr>
            <a:spLocks noChangeArrowheads="1"/>
          </p:cNvSpPr>
          <p:nvPr/>
        </p:nvSpPr>
        <p:spPr bwMode="auto">
          <a:xfrm>
            <a:off x="7302500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0" name="Freeform 612"/>
          <p:cNvSpPr>
            <a:spLocks/>
          </p:cNvSpPr>
          <p:nvPr/>
        </p:nvSpPr>
        <p:spPr bwMode="auto">
          <a:xfrm>
            <a:off x="3460750" y="4930775"/>
            <a:ext cx="762000" cy="152400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" name="Freeform 613"/>
          <p:cNvSpPr>
            <a:spLocks/>
          </p:cNvSpPr>
          <p:nvPr/>
        </p:nvSpPr>
        <p:spPr bwMode="auto">
          <a:xfrm>
            <a:off x="4465638" y="4926013"/>
            <a:ext cx="812800" cy="147637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2" name="Freeform 614"/>
          <p:cNvSpPr>
            <a:spLocks/>
          </p:cNvSpPr>
          <p:nvPr/>
        </p:nvSpPr>
        <p:spPr bwMode="auto">
          <a:xfrm>
            <a:off x="5543550" y="4940300"/>
            <a:ext cx="782638" cy="138113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3" name="Freeform 615"/>
          <p:cNvSpPr>
            <a:spLocks/>
          </p:cNvSpPr>
          <p:nvPr/>
        </p:nvSpPr>
        <p:spPr bwMode="auto">
          <a:xfrm>
            <a:off x="6550025" y="4935538"/>
            <a:ext cx="782638" cy="177800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4" name="Oval 616"/>
          <p:cNvSpPr>
            <a:spLocks noChangeArrowheads="1"/>
          </p:cNvSpPr>
          <p:nvPr/>
        </p:nvSpPr>
        <p:spPr bwMode="auto">
          <a:xfrm>
            <a:off x="4198938" y="488473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5" name="Oval 617"/>
          <p:cNvSpPr>
            <a:spLocks noChangeArrowheads="1"/>
          </p:cNvSpPr>
          <p:nvPr/>
        </p:nvSpPr>
        <p:spPr bwMode="auto">
          <a:xfrm>
            <a:off x="5238750" y="48752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6" name="Oval 618"/>
          <p:cNvSpPr>
            <a:spLocks noChangeArrowheads="1"/>
          </p:cNvSpPr>
          <p:nvPr/>
        </p:nvSpPr>
        <p:spPr bwMode="auto">
          <a:xfrm>
            <a:off x="6294438" y="49006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7" name="Oval 619"/>
          <p:cNvSpPr>
            <a:spLocks noChangeArrowheads="1"/>
          </p:cNvSpPr>
          <p:nvPr/>
        </p:nvSpPr>
        <p:spPr bwMode="auto">
          <a:xfrm>
            <a:off x="7312025" y="48990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8" name="Text Box 620"/>
          <p:cNvSpPr txBox="1">
            <a:spLocks noChangeArrowheads="1"/>
          </p:cNvSpPr>
          <p:nvPr/>
        </p:nvSpPr>
        <p:spPr bwMode="auto">
          <a:xfrm>
            <a:off x="2347913" y="3578225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(W1)D0..D3</a:t>
            </a:r>
          </a:p>
        </p:txBody>
      </p:sp>
      <p:sp>
        <p:nvSpPr>
          <p:cNvPr id="259" name="Text Box 621"/>
          <p:cNvSpPr txBox="1">
            <a:spLocks noChangeArrowheads="1"/>
          </p:cNvSpPr>
          <p:nvPr/>
        </p:nvSpPr>
        <p:spPr bwMode="auto">
          <a:xfrm>
            <a:off x="3979863" y="1282700"/>
            <a:ext cx="4873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DB0</a:t>
            </a:r>
          </a:p>
        </p:txBody>
      </p:sp>
      <p:sp>
        <p:nvSpPr>
          <p:cNvPr id="260" name="Text Box 622"/>
          <p:cNvSpPr txBox="1">
            <a:spLocks noChangeArrowheads="1"/>
          </p:cNvSpPr>
          <p:nvPr/>
        </p:nvSpPr>
        <p:spPr bwMode="auto">
          <a:xfrm>
            <a:off x="5003800" y="1293813"/>
            <a:ext cx="4873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DB1</a:t>
            </a:r>
          </a:p>
        </p:txBody>
      </p:sp>
      <p:sp>
        <p:nvSpPr>
          <p:cNvPr id="261" name="Text Box 623"/>
          <p:cNvSpPr txBox="1">
            <a:spLocks noChangeArrowheads="1"/>
          </p:cNvSpPr>
          <p:nvPr/>
        </p:nvSpPr>
        <p:spPr bwMode="auto">
          <a:xfrm>
            <a:off x="6113463" y="1293813"/>
            <a:ext cx="4873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DB2</a:t>
            </a:r>
          </a:p>
        </p:txBody>
      </p:sp>
      <p:sp>
        <p:nvSpPr>
          <p:cNvPr id="262" name="Text Box 624"/>
          <p:cNvSpPr txBox="1">
            <a:spLocks noChangeArrowheads="1"/>
          </p:cNvSpPr>
          <p:nvPr/>
        </p:nvSpPr>
        <p:spPr bwMode="auto">
          <a:xfrm>
            <a:off x="7137400" y="1304925"/>
            <a:ext cx="4873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DB3</a:t>
            </a:r>
          </a:p>
        </p:txBody>
      </p:sp>
      <p:grpSp>
        <p:nvGrpSpPr>
          <p:cNvPr id="263" name="Group 625"/>
          <p:cNvGrpSpPr>
            <a:grpSpLocks/>
          </p:cNvGrpSpPr>
          <p:nvPr/>
        </p:nvGrpSpPr>
        <p:grpSpPr bwMode="auto">
          <a:xfrm>
            <a:off x="2370138" y="2801938"/>
            <a:ext cx="4713287" cy="254000"/>
            <a:chOff x="1293" y="1997"/>
            <a:chExt cx="2969" cy="160"/>
          </a:xfrm>
        </p:grpSpPr>
        <p:sp>
          <p:nvSpPr>
            <p:cNvPr id="264" name="Line 626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5" name="Line 627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" name="Line 628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7" name="Line 629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8" name="Line 630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9" name="Oval 631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0" name="Oval 632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1" name="Oval 633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72" name="Group 634"/>
          <p:cNvGrpSpPr>
            <a:grpSpLocks/>
          </p:cNvGrpSpPr>
          <p:nvPr/>
        </p:nvGrpSpPr>
        <p:grpSpPr bwMode="auto">
          <a:xfrm>
            <a:off x="2374900" y="3725863"/>
            <a:ext cx="4713288" cy="254000"/>
            <a:chOff x="1293" y="1997"/>
            <a:chExt cx="2969" cy="160"/>
          </a:xfrm>
        </p:grpSpPr>
        <p:sp>
          <p:nvSpPr>
            <p:cNvPr id="273" name="Line 635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4" name="Line 636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5" name="Line 637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" name="Line 638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7" name="Line 639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8" name="Oval 640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9" name="Oval 641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0" name="Oval 642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81" name="Group 643"/>
          <p:cNvGrpSpPr>
            <a:grpSpLocks/>
          </p:cNvGrpSpPr>
          <p:nvPr/>
        </p:nvGrpSpPr>
        <p:grpSpPr bwMode="auto">
          <a:xfrm>
            <a:off x="2374900" y="4578350"/>
            <a:ext cx="4713288" cy="254000"/>
            <a:chOff x="1293" y="1997"/>
            <a:chExt cx="2969" cy="160"/>
          </a:xfrm>
        </p:grpSpPr>
        <p:sp>
          <p:nvSpPr>
            <p:cNvPr id="282" name="Line 644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3" name="Line 645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4" name="Line 646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5" name="Line 647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6" name="Line 648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" name="Oval 649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8" name="Oval 650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9" name="Oval 651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90" name="Group 652"/>
          <p:cNvGrpSpPr>
            <a:grpSpLocks/>
          </p:cNvGrpSpPr>
          <p:nvPr/>
        </p:nvGrpSpPr>
        <p:grpSpPr bwMode="auto">
          <a:xfrm>
            <a:off x="2384425" y="5516563"/>
            <a:ext cx="4713288" cy="254000"/>
            <a:chOff x="1293" y="1997"/>
            <a:chExt cx="2969" cy="160"/>
          </a:xfrm>
        </p:grpSpPr>
        <p:sp>
          <p:nvSpPr>
            <p:cNvPr id="291" name="Line 653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2" name="Line 654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3" name="Line 655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94" name="Line 656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5" name="Line 657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6" name="Oval 658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97" name="Oval 659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98" name="Oval 660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99" name="Group 661"/>
          <p:cNvGrpSpPr>
            <a:grpSpLocks/>
          </p:cNvGrpSpPr>
          <p:nvPr/>
        </p:nvGrpSpPr>
        <p:grpSpPr bwMode="auto">
          <a:xfrm>
            <a:off x="2384425" y="5316538"/>
            <a:ext cx="4343400" cy="317500"/>
            <a:chOff x="1302" y="3581"/>
            <a:chExt cx="2736" cy="200"/>
          </a:xfrm>
        </p:grpSpPr>
        <p:sp>
          <p:nvSpPr>
            <p:cNvPr id="300" name="Line 662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1" name="Freeform 663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2" name="Freeform 664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3" name="Freeform 665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4" name="Freeform 666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5" name="Oval 667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06" name="Oval 668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07" name="Oval 669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08" name="Group 670"/>
          <p:cNvGrpSpPr>
            <a:grpSpLocks/>
          </p:cNvGrpSpPr>
          <p:nvPr/>
        </p:nvGrpSpPr>
        <p:grpSpPr bwMode="auto">
          <a:xfrm>
            <a:off x="2384425" y="4376738"/>
            <a:ext cx="4343400" cy="317500"/>
            <a:chOff x="1302" y="3581"/>
            <a:chExt cx="2736" cy="200"/>
          </a:xfrm>
        </p:grpSpPr>
        <p:sp>
          <p:nvSpPr>
            <p:cNvPr id="309" name="Line 671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0" name="Freeform 672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1" name="Freeform 673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2" name="Freeform 674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3" name="Freeform 675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4" name="Oval 676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15" name="Oval 677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16" name="Oval 678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17" name="Group 679"/>
          <p:cNvGrpSpPr>
            <a:grpSpLocks/>
          </p:cNvGrpSpPr>
          <p:nvPr/>
        </p:nvGrpSpPr>
        <p:grpSpPr bwMode="auto">
          <a:xfrm>
            <a:off x="2379663" y="3517900"/>
            <a:ext cx="4343400" cy="317500"/>
            <a:chOff x="1302" y="3581"/>
            <a:chExt cx="2736" cy="200"/>
          </a:xfrm>
        </p:grpSpPr>
        <p:sp>
          <p:nvSpPr>
            <p:cNvPr id="318" name="Line 680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9" name="Freeform 681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0" name="Freeform 682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1" name="Freeform 683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2" name="Freeform 684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3" name="Oval 685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24" name="Oval 686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25" name="Oval 687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26" name="Group 688"/>
          <p:cNvGrpSpPr>
            <a:grpSpLocks/>
          </p:cNvGrpSpPr>
          <p:nvPr/>
        </p:nvGrpSpPr>
        <p:grpSpPr bwMode="auto">
          <a:xfrm>
            <a:off x="2379663" y="2587625"/>
            <a:ext cx="4343400" cy="317500"/>
            <a:chOff x="1302" y="3581"/>
            <a:chExt cx="2736" cy="200"/>
          </a:xfrm>
        </p:grpSpPr>
        <p:sp>
          <p:nvSpPr>
            <p:cNvPr id="327" name="Line 689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" name="Freeform 690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9" name="Freeform 691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0" name="Freeform 692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1" name="Freeform 693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2" name="Oval 694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3" name="Oval 695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4" name="Oval 696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5" name="Line 697"/>
          <p:cNvSpPr>
            <a:spLocks noChangeShapeType="1"/>
          </p:cNvSpPr>
          <p:nvPr/>
        </p:nvSpPr>
        <p:spPr bwMode="auto">
          <a:xfrm flipH="1">
            <a:off x="917575" y="2384425"/>
            <a:ext cx="8397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6" name="Text Box 698"/>
          <p:cNvSpPr txBox="1">
            <a:spLocks noChangeArrowheads="1"/>
          </p:cNvSpPr>
          <p:nvPr/>
        </p:nvSpPr>
        <p:spPr bwMode="auto">
          <a:xfrm>
            <a:off x="933450" y="2095500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A0</a:t>
            </a:r>
          </a:p>
        </p:txBody>
      </p:sp>
      <p:sp>
        <p:nvSpPr>
          <p:cNvPr id="337" name="Line 699"/>
          <p:cNvSpPr>
            <a:spLocks noChangeShapeType="1"/>
          </p:cNvSpPr>
          <p:nvPr/>
        </p:nvSpPr>
        <p:spPr bwMode="auto">
          <a:xfrm flipH="1">
            <a:off x="917575" y="2933700"/>
            <a:ext cx="849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" name="Text Box 700"/>
          <p:cNvSpPr txBox="1">
            <a:spLocks noChangeArrowheads="1"/>
          </p:cNvSpPr>
          <p:nvPr/>
        </p:nvSpPr>
        <p:spPr bwMode="auto">
          <a:xfrm>
            <a:off x="933450" y="2644775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A1</a:t>
            </a:r>
          </a:p>
        </p:txBody>
      </p:sp>
      <p:sp>
        <p:nvSpPr>
          <p:cNvPr id="339" name="Line 701"/>
          <p:cNvSpPr>
            <a:spLocks noChangeShapeType="1"/>
          </p:cNvSpPr>
          <p:nvPr/>
        </p:nvSpPr>
        <p:spPr bwMode="auto">
          <a:xfrm flipH="1">
            <a:off x="896938" y="3522663"/>
            <a:ext cx="868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0" name="Text Box 702"/>
          <p:cNvSpPr txBox="1">
            <a:spLocks noChangeArrowheads="1"/>
          </p:cNvSpPr>
          <p:nvPr/>
        </p:nvSpPr>
        <p:spPr bwMode="auto">
          <a:xfrm>
            <a:off x="903288" y="3233738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CS</a:t>
            </a:r>
          </a:p>
        </p:txBody>
      </p:sp>
      <p:sp>
        <p:nvSpPr>
          <p:cNvPr id="341" name="Line 703"/>
          <p:cNvSpPr>
            <a:spLocks noChangeShapeType="1"/>
          </p:cNvSpPr>
          <p:nvPr/>
        </p:nvSpPr>
        <p:spPr bwMode="auto">
          <a:xfrm>
            <a:off x="987425" y="3279775"/>
            <a:ext cx="234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2" name="Line 704"/>
          <p:cNvSpPr>
            <a:spLocks noChangeShapeType="1"/>
          </p:cNvSpPr>
          <p:nvPr/>
        </p:nvSpPr>
        <p:spPr bwMode="auto">
          <a:xfrm flipH="1">
            <a:off x="896938" y="4162425"/>
            <a:ext cx="858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3" name="Text Box 705"/>
          <p:cNvSpPr txBox="1">
            <a:spLocks noChangeArrowheads="1"/>
          </p:cNvSpPr>
          <p:nvPr/>
        </p:nvSpPr>
        <p:spPr bwMode="auto">
          <a:xfrm>
            <a:off x="820738" y="3873500"/>
            <a:ext cx="5667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R / W</a:t>
            </a:r>
          </a:p>
        </p:txBody>
      </p:sp>
      <p:sp>
        <p:nvSpPr>
          <p:cNvPr id="344" name="Line 706"/>
          <p:cNvSpPr>
            <a:spLocks noChangeShapeType="1"/>
          </p:cNvSpPr>
          <p:nvPr/>
        </p:nvSpPr>
        <p:spPr bwMode="auto">
          <a:xfrm>
            <a:off x="1139825" y="3919538"/>
            <a:ext cx="133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" name="Oval 707"/>
          <p:cNvSpPr>
            <a:spLocks noChangeArrowheads="1"/>
          </p:cNvSpPr>
          <p:nvPr/>
        </p:nvSpPr>
        <p:spPr bwMode="auto">
          <a:xfrm>
            <a:off x="41941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6" name="Oval 708"/>
          <p:cNvSpPr>
            <a:spLocks noChangeArrowheads="1"/>
          </p:cNvSpPr>
          <p:nvPr/>
        </p:nvSpPr>
        <p:spPr bwMode="auto">
          <a:xfrm>
            <a:off x="52482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7" name="Oval 709"/>
          <p:cNvSpPr>
            <a:spLocks noChangeArrowheads="1"/>
          </p:cNvSpPr>
          <p:nvPr/>
        </p:nvSpPr>
        <p:spPr bwMode="auto">
          <a:xfrm>
            <a:off x="6302375" y="2376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8" name="Oval 710"/>
          <p:cNvSpPr>
            <a:spLocks noChangeArrowheads="1"/>
          </p:cNvSpPr>
          <p:nvPr/>
        </p:nvSpPr>
        <p:spPr bwMode="auto">
          <a:xfrm>
            <a:off x="73183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9" name="Oval 711"/>
          <p:cNvSpPr>
            <a:spLocks noChangeArrowheads="1"/>
          </p:cNvSpPr>
          <p:nvPr/>
        </p:nvSpPr>
        <p:spPr bwMode="auto">
          <a:xfrm>
            <a:off x="4206875" y="33035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0" name="Oval 712"/>
          <p:cNvSpPr>
            <a:spLocks noChangeArrowheads="1"/>
          </p:cNvSpPr>
          <p:nvPr/>
        </p:nvSpPr>
        <p:spPr bwMode="auto">
          <a:xfrm>
            <a:off x="52482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1" name="Oval 713"/>
          <p:cNvSpPr>
            <a:spLocks noChangeArrowheads="1"/>
          </p:cNvSpPr>
          <p:nvPr/>
        </p:nvSpPr>
        <p:spPr bwMode="auto">
          <a:xfrm>
            <a:off x="63023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2" name="Oval 714"/>
          <p:cNvSpPr>
            <a:spLocks noChangeArrowheads="1"/>
          </p:cNvSpPr>
          <p:nvPr/>
        </p:nvSpPr>
        <p:spPr bwMode="auto">
          <a:xfrm>
            <a:off x="73183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3" name="Oval 715"/>
          <p:cNvSpPr>
            <a:spLocks noChangeArrowheads="1"/>
          </p:cNvSpPr>
          <p:nvPr/>
        </p:nvSpPr>
        <p:spPr bwMode="auto">
          <a:xfrm>
            <a:off x="4206875" y="41671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4" name="Oval 716"/>
          <p:cNvSpPr>
            <a:spLocks noChangeArrowheads="1"/>
          </p:cNvSpPr>
          <p:nvPr/>
        </p:nvSpPr>
        <p:spPr bwMode="auto">
          <a:xfrm>
            <a:off x="5248275" y="4154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5" name="Oval 717"/>
          <p:cNvSpPr>
            <a:spLocks noChangeArrowheads="1"/>
          </p:cNvSpPr>
          <p:nvPr/>
        </p:nvSpPr>
        <p:spPr bwMode="auto">
          <a:xfrm>
            <a:off x="6302375" y="41671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6" name="Oval 718"/>
          <p:cNvSpPr>
            <a:spLocks noChangeArrowheads="1"/>
          </p:cNvSpPr>
          <p:nvPr/>
        </p:nvSpPr>
        <p:spPr bwMode="auto">
          <a:xfrm>
            <a:off x="7318375" y="4154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7" name="Text Box 719"/>
          <p:cNvSpPr txBox="1">
            <a:spLocks noChangeArrowheads="1"/>
          </p:cNvSpPr>
          <p:nvPr/>
        </p:nvSpPr>
        <p:spPr bwMode="auto">
          <a:xfrm>
            <a:off x="2338388" y="30178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(OE0)D0..D3</a:t>
            </a:r>
          </a:p>
        </p:txBody>
      </p:sp>
      <p:sp>
        <p:nvSpPr>
          <p:cNvPr id="358" name="Text Box 720"/>
          <p:cNvSpPr txBox="1">
            <a:spLocks noChangeArrowheads="1"/>
          </p:cNvSpPr>
          <p:nvPr/>
        </p:nvSpPr>
        <p:spPr bwMode="auto">
          <a:xfrm>
            <a:off x="2309813" y="394176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(OE1)D0..D3</a:t>
            </a:r>
          </a:p>
        </p:txBody>
      </p:sp>
      <p:sp>
        <p:nvSpPr>
          <p:cNvPr id="359" name="Text Box 721"/>
          <p:cNvSpPr txBox="1">
            <a:spLocks noChangeArrowheads="1"/>
          </p:cNvSpPr>
          <p:nvPr/>
        </p:nvSpPr>
        <p:spPr bwMode="auto">
          <a:xfrm>
            <a:off x="2319338" y="48085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(OE2)D0..D3</a:t>
            </a:r>
          </a:p>
        </p:txBody>
      </p:sp>
      <p:sp>
        <p:nvSpPr>
          <p:cNvPr id="360" name="Text Box 722"/>
          <p:cNvSpPr txBox="1">
            <a:spLocks noChangeArrowheads="1"/>
          </p:cNvSpPr>
          <p:nvPr/>
        </p:nvSpPr>
        <p:spPr bwMode="auto">
          <a:xfrm>
            <a:off x="2328863" y="575151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(OE3)D0..D3</a:t>
            </a:r>
          </a:p>
        </p:txBody>
      </p:sp>
      <p:sp>
        <p:nvSpPr>
          <p:cNvPr id="361" name="Line 723"/>
          <p:cNvSpPr>
            <a:spLocks noChangeShapeType="1"/>
          </p:cNvSpPr>
          <p:nvPr/>
        </p:nvSpPr>
        <p:spPr bwMode="auto">
          <a:xfrm>
            <a:off x="2479675" y="306070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2" name="Line 724"/>
          <p:cNvSpPr>
            <a:spLocks noChangeShapeType="1"/>
          </p:cNvSpPr>
          <p:nvPr/>
        </p:nvSpPr>
        <p:spPr bwMode="auto">
          <a:xfrm>
            <a:off x="2460625" y="398462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3" name="Line 725"/>
          <p:cNvSpPr>
            <a:spLocks noChangeShapeType="1"/>
          </p:cNvSpPr>
          <p:nvPr/>
        </p:nvSpPr>
        <p:spPr bwMode="auto">
          <a:xfrm>
            <a:off x="2479675" y="484187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4" name="Line 726"/>
          <p:cNvSpPr>
            <a:spLocks noChangeShapeType="1"/>
          </p:cNvSpPr>
          <p:nvPr/>
        </p:nvSpPr>
        <p:spPr bwMode="auto">
          <a:xfrm>
            <a:off x="2470150" y="578485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5" name="Text Box 727"/>
          <p:cNvSpPr txBox="1">
            <a:spLocks noChangeArrowheads="1"/>
          </p:cNvSpPr>
          <p:nvPr/>
        </p:nvSpPr>
        <p:spPr bwMode="auto">
          <a:xfrm rot="16200000">
            <a:off x="1119981" y="3475832"/>
            <a:ext cx="1889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Memory decoding logic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2057400" y="6336268"/>
            <a:ext cx="5486400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More Black Boxes Above – explain each of them.</a:t>
            </a:r>
          </a:p>
        </p:txBody>
      </p:sp>
      <p:cxnSp>
        <p:nvCxnSpPr>
          <p:cNvPr id="367" name="Straight Arrow Connector 366"/>
          <p:cNvCxnSpPr/>
          <p:nvPr/>
        </p:nvCxnSpPr>
        <p:spPr>
          <a:xfrm flipV="1">
            <a:off x="609600" y="4267200"/>
            <a:ext cx="4572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68" name="TextBox 367"/>
          <p:cNvSpPr txBox="1"/>
          <p:nvPr/>
        </p:nvSpPr>
        <p:spPr>
          <a:xfrm>
            <a:off x="381" y="5254895"/>
            <a:ext cx="1751838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More Controls </a:t>
            </a:r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What do they do?</a:t>
            </a:r>
          </a:p>
        </p:txBody>
      </p:sp>
      <p:cxnSp>
        <p:nvCxnSpPr>
          <p:cNvPr id="369" name="Straight Arrow Connector 368"/>
          <p:cNvCxnSpPr/>
          <p:nvPr/>
        </p:nvCxnSpPr>
        <p:spPr>
          <a:xfrm flipV="1">
            <a:off x="609600" y="3657600"/>
            <a:ext cx="304800" cy="160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0" name="Straight Arrow Connector 369"/>
          <p:cNvCxnSpPr/>
          <p:nvPr/>
        </p:nvCxnSpPr>
        <p:spPr>
          <a:xfrm flipV="1">
            <a:off x="609600" y="2680662"/>
            <a:ext cx="304800" cy="25771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809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534400" cy="990600"/>
          </a:xfrm>
        </p:spPr>
        <p:txBody>
          <a:bodyPr/>
          <a:lstStyle/>
          <a:p>
            <a:r>
              <a:rPr lang="en-US" dirty="0"/>
              <a:t>How Many Control Wires?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66"/>
          <p:cNvSpPr>
            <a:spLocks noChangeArrowheads="1"/>
          </p:cNvSpPr>
          <p:nvPr/>
        </p:nvSpPr>
        <p:spPr bwMode="auto">
          <a:xfrm>
            <a:off x="1658938" y="1733550"/>
            <a:ext cx="6288087" cy="4329113"/>
          </a:xfrm>
          <a:prstGeom prst="rect">
            <a:avLst/>
          </a:prstGeom>
          <a:solidFill>
            <a:srgbClr val="FFFFCC"/>
          </a:solidFill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5" name="Group 367"/>
          <p:cNvGrpSpPr>
            <a:grpSpLocks/>
          </p:cNvGrpSpPr>
          <p:nvPr/>
        </p:nvGrpSpPr>
        <p:grpSpPr bwMode="auto">
          <a:xfrm>
            <a:off x="3527425" y="2271713"/>
            <a:ext cx="3838575" cy="3263900"/>
            <a:chOff x="1254" y="1721"/>
            <a:chExt cx="2418" cy="2056"/>
          </a:xfrm>
        </p:grpSpPr>
        <p:grpSp>
          <p:nvGrpSpPr>
            <p:cNvPr id="6" name="Group 368"/>
            <p:cNvGrpSpPr>
              <a:grpSpLocks/>
            </p:cNvGrpSpPr>
            <p:nvPr/>
          </p:nvGrpSpPr>
          <p:grpSpPr bwMode="auto">
            <a:xfrm>
              <a:off x="1254" y="1721"/>
              <a:ext cx="2414" cy="342"/>
              <a:chOff x="1254" y="1721"/>
              <a:chExt cx="2414" cy="342"/>
            </a:xfrm>
          </p:grpSpPr>
          <p:grpSp>
            <p:nvGrpSpPr>
              <p:cNvPr id="130" name="Group 369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161" name="Group 37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63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64" name="Text Box 3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65" name="Text Box 3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66" name="Text Box 3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67" name="Oval 37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68" name="Text Box 3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69" name="Line 3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37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379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152" name="Group 38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54" name="Rectangle 38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5" name="Text Box 3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56" name="Text Box 3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57" name="Text Box 3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58" name="Oval 38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9" name="Text Box 3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60" name="Line 3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3" name="Line 38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2" name="Group 389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143" name="Group 39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45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46" name="Text Box 3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47" name="Text Box 39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48" name="Text Box 3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49" name="Oval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50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51" name="Line 3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4" name="Line 39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3" name="Group 399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134" name="Group 400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36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37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38" name="Text Box 4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39" name="Text Box 4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40" name="Oval 405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41" name="Text Box 4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42" name="Line 4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5" name="Line 408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7" name="Group 409"/>
            <p:cNvGrpSpPr>
              <a:grpSpLocks/>
            </p:cNvGrpSpPr>
            <p:nvPr/>
          </p:nvGrpSpPr>
          <p:grpSpPr bwMode="auto">
            <a:xfrm>
              <a:off x="1257" y="2306"/>
              <a:ext cx="2414" cy="342"/>
              <a:chOff x="1254" y="1721"/>
              <a:chExt cx="2414" cy="342"/>
            </a:xfrm>
          </p:grpSpPr>
          <p:grpSp>
            <p:nvGrpSpPr>
              <p:cNvPr id="90" name="Group 410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121" name="Group 41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23" name="Rectangle 41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24" name="Text Box 4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25" name="Text Box 4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26" name="Text Box 4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27" name="Oval 41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28" name="Text Box 4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29" name="Line 4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2" name="Line 41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420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112" name="Group 42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14" name="Rectangle 42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5" name="Text Box 4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16" name="Text Box 4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17" name="Text Box 4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18" name="Oval 42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9" name="Text Box 4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20" name="Line 4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42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430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103" name="Group 43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05" name="Rectangle 43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06" name="Text Box 4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07" name="Text Box 4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08" name="Text Box 4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09" name="Oval 43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10" name="Text Box 4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11" name="Line 4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4" name="Line 43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440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94" name="Group 441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96" name="Rectangle 442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97" name="Text Box 4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98" name="Text Box 4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99" name="Text Box 4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100" name="Oval 446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01" name="Text Box 4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102" name="Line 4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95" name="Line 449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8" name="Group 450"/>
            <p:cNvGrpSpPr>
              <a:grpSpLocks/>
            </p:cNvGrpSpPr>
            <p:nvPr/>
          </p:nvGrpSpPr>
          <p:grpSpPr bwMode="auto">
            <a:xfrm>
              <a:off x="1255" y="2850"/>
              <a:ext cx="2414" cy="342"/>
              <a:chOff x="1254" y="1721"/>
              <a:chExt cx="2414" cy="342"/>
            </a:xfrm>
          </p:grpSpPr>
          <p:grpSp>
            <p:nvGrpSpPr>
              <p:cNvPr id="50" name="Group 451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81" name="Group 45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83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84" name="Text Box 4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85" name="Text Box 4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86" name="Text Box 4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87" name="Oval 45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88" name="Text Box 4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89" name="Line 45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" name="Line 46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1" name="Group 461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72" name="Group 46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74" name="Rectangle 46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5" name="Text Box 4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76" name="Text Box 4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77" name="Text Box 4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78" name="Oval 46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9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80" name="Line 46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73" name="Line 47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471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63" name="Group 47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65" name="Rectangle 47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66" name="Text Box 4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67" name="Text Box 4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68" name="Text Box 4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69" name="Oval 47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70" name="Text Box 4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71" name="Line 47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64" name="Line 48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481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54" name="Group 482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56" name="Rectangle 483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57" name="Text Box 4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58" name="Text Box 4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59" name="Text Box 4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60" name="Oval 487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61" name="Text Box 4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62" name="Line 4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5" name="Line 490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491"/>
            <p:cNvGrpSpPr>
              <a:grpSpLocks/>
            </p:cNvGrpSpPr>
            <p:nvPr/>
          </p:nvGrpSpPr>
          <p:grpSpPr bwMode="auto">
            <a:xfrm>
              <a:off x="1258" y="3435"/>
              <a:ext cx="2414" cy="342"/>
              <a:chOff x="1254" y="1721"/>
              <a:chExt cx="2414" cy="342"/>
            </a:xfrm>
          </p:grpSpPr>
          <p:grpSp>
            <p:nvGrpSpPr>
              <p:cNvPr id="10" name="Group 492"/>
              <p:cNvGrpSpPr>
                <a:grpSpLocks/>
              </p:cNvGrpSpPr>
              <p:nvPr/>
            </p:nvGrpSpPr>
            <p:grpSpPr bwMode="auto">
              <a:xfrm>
                <a:off x="1254" y="1725"/>
                <a:ext cx="451" cy="335"/>
                <a:chOff x="1251" y="1728"/>
                <a:chExt cx="451" cy="335"/>
              </a:xfrm>
            </p:grpSpPr>
            <p:grpSp>
              <p:nvGrpSpPr>
                <p:cNvPr id="41" name="Group 49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43" name="Rectangle 49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44" name="Text Box 4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45" name="Text Box 4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46" name="Text Box 4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47" name="Oval 49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48" name="Text Box 4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49" name="Line 50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" name="Line 50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502"/>
              <p:cNvGrpSpPr>
                <a:grpSpLocks/>
              </p:cNvGrpSpPr>
              <p:nvPr/>
            </p:nvGrpSpPr>
            <p:grpSpPr bwMode="auto">
              <a:xfrm>
                <a:off x="1901" y="1721"/>
                <a:ext cx="451" cy="335"/>
                <a:chOff x="1251" y="1728"/>
                <a:chExt cx="451" cy="335"/>
              </a:xfrm>
            </p:grpSpPr>
            <p:grpSp>
              <p:nvGrpSpPr>
                <p:cNvPr id="32" name="Group 50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34" name="Rectangle 50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5" name="Text Box 5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36" name="Text Box 5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37" name="Text Box 5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38" name="Oval 50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9" name="Text Box 5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40" name="Line 5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3" name="Line 51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512"/>
              <p:cNvGrpSpPr>
                <a:grpSpLocks/>
              </p:cNvGrpSpPr>
              <p:nvPr/>
            </p:nvGrpSpPr>
            <p:grpSpPr bwMode="auto">
              <a:xfrm>
                <a:off x="2567" y="1728"/>
                <a:ext cx="451" cy="335"/>
                <a:chOff x="1251" y="1728"/>
                <a:chExt cx="451" cy="335"/>
              </a:xfrm>
            </p:grpSpPr>
            <p:grpSp>
              <p:nvGrpSpPr>
                <p:cNvPr id="23" name="Group 51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25" name="Rectangle 51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26" name="Text Box 5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27" name="Text Box 5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28" name="Text Box 5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29" name="Oval 51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30" name="Text Box 5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31" name="Line 5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" name="Line 52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522"/>
              <p:cNvGrpSpPr>
                <a:grpSpLocks/>
              </p:cNvGrpSpPr>
              <p:nvPr/>
            </p:nvGrpSpPr>
            <p:grpSpPr bwMode="auto">
              <a:xfrm>
                <a:off x="3217" y="1721"/>
                <a:ext cx="451" cy="335"/>
                <a:chOff x="1251" y="1728"/>
                <a:chExt cx="451" cy="335"/>
              </a:xfrm>
            </p:grpSpPr>
            <p:grpSp>
              <p:nvGrpSpPr>
                <p:cNvPr id="14" name="Group 523"/>
                <p:cNvGrpSpPr>
                  <a:grpSpLocks/>
                </p:cNvGrpSpPr>
                <p:nvPr/>
              </p:nvGrpSpPr>
              <p:grpSpPr bwMode="auto">
                <a:xfrm>
                  <a:off x="1251" y="1728"/>
                  <a:ext cx="372" cy="335"/>
                  <a:chOff x="1226" y="1734"/>
                  <a:chExt cx="372" cy="335"/>
                </a:xfrm>
              </p:grpSpPr>
              <p:sp>
                <p:nvSpPr>
                  <p:cNvPr id="16" name="Rectangle 524"/>
                  <p:cNvSpPr>
                    <a:spLocks noChangeArrowheads="1"/>
                  </p:cNvSpPr>
                  <p:nvPr/>
                </p:nvSpPr>
                <p:spPr bwMode="auto">
                  <a:xfrm>
                    <a:off x="1274" y="1734"/>
                    <a:ext cx="275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17" name="Text Box 5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" y="1750"/>
                    <a:ext cx="162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D</a:t>
                    </a:r>
                  </a:p>
                </p:txBody>
              </p:sp>
              <p:sp>
                <p:nvSpPr>
                  <p:cNvPr id="18" name="Text Box 5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" y="1747"/>
                    <a:ext cx="166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Q</a:t>
                    </a:r>
                  </a:p>
                </p:txBody>
              </p:sp>
              <p:sp>
                <p:nvSpPr>
                  <p:cNvPr id="19" name="Text Box 5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26" y="1872"/>
                    <a:ext cx="247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CLK</a:t>
                    </a:r>
                  </a:p>
                </p:txBody>
              </p:sp>
              <p:sp>
                <p:nvSpPr>
                  <p:cNvPr id="20" name="Oval 528"/>
                  <p:cNvSpPr>
                    <a:spLocks noChangeArrowheads="1"/>
                  </p:cNvSpPr>
                  <p:nvPr/>
                </p:nvSpPr>
                <p:spPr bwMode="auto">
                  <a:xfrm>
                    <a:off x="1475" y="2022"/>
                    <a:ext cx="47" cy="4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 sz="1400" b="1"/>
                  </a:p>
                </p:txBody>
              </p:sp>
              <p:sp>
                <p:nvSpPr>
                  <p:cNvPr id="21" name="Text Box 5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89" y="1909"/>
                    <a:ext cx="209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1pPr>
                    <a:lvl2pPr marL="742950" indent="-28575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2pPr>
                    <a:lvl3pPr marL="11430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3pPr>
                    <a:lvl4pPr marL="16002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4pPr>
                    <a:lvl5pPr marL="2057400" indent="-228600" eaLnBrk="0" hangingPunct="0"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Frutiger 55 Roman" charset="0"/>
                        <a:ea typeface="ＭＳ Ｐゴシック" pitchFamily="34" charset="-128"/>
                      </a:defRPr>
                    </a:lvl9pPr>
                  </a:lstStyle>
                  <a:p>
                    <a:pPr algn="ctr" eaLnBrk="1" hangingPunct="1"/>
                    <a:r>
                      <a:rPr lang="en-US" sz="800" b="1"/>
                      <a:t>OE</a:t>
                    </a:r>
                  </a:p>
                </p:txBody>
              </p:sp>
              <p:sp>
                <p:nvSpPr>
                  <p:cNvPr id="22" name="Line 5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452" y="1930"/>
                    <a:ext cx="80" cy="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531"/>
                <p:cNvSpPr>
                  <a:spLocks noChangeShapeType="1"/>
                </p:cNvSpPr>
                <p:nvPr/>
              </p:nvSpPr>
              <p:spPr bwMode="auto">
                <a:xfrm>
                  <a:off x="1571" y="1811"/>
                  <a:ext cx="13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0" name="Line 532"/>
          <p:cNvSpPr>
            <a:spLocks noChangeShapeType="1"/>
          </p:cNvSpPr>
          <p:nvPr/>
        </p:nvSpPr>
        <p:spPr bwMode="auto">
          <a:xfrm flipH="1" flipV="1">
            <a:off x="4240213" y="1512888"/>
            <a:ext cx="0" cy="3616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1" name="Line 533"/>
          <p:cNvSpPr>
            <a:spLocks noChangeShapeType="1"/>
          </p:cNvSpPr>
          <p:nvPr/>
        </p:nvSpPr>
        <p:spPr bwMode="auto">
          <a:xfrm flipH="1" flipV="1">
            <a:off x="5284788" y="1512888"/>
            <a:ext cx="1587" cy="3627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2" name="Line 534"/>
          <p:cNvSpPr>
            <a:spLocks noChangeShapeType="1"/>
          </p:cNvSpPr>
          <p:nvPr/>
        </p:nvSpPr>
        <p:spPr bwMode="auto">
          <a:xfrm flipH="1" flipV="1">
            <a:off x="6332538" y="1520825"/>
            <a:ext cx="0" cy="3617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" name="Line 535"/>
          <p:cNvSpPr>
            <a:spLocks noChangeShapeType="1"/>
          </p:cNvSpPr>
          <p:nvPr/>
        </p:nvSpPr>
        <p:spPr bwMode="auto">
          <a:xfrm flipV="1">
            <a:off x="7358063" y="1527175"/>
            <a:ext cx="1587" cy="3586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" name="Rectangle 536"/>
          <p:cNvSpPr>
            <a:spLocks noChangeArrowheads="1"/>
          </p:cNvSpPr>
          <p:nvPr/>
        </p:nvSpPr>
        <p:spPr bwMode="auto">
          <a:xfrm rot="5400000">
            <a:off x="794" y="3593306"/>
            <a:ext cx="4135438" cy="6318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grpSp>
        <p:nvGrpSpPr>
          <p:cNvPr id="175" name="Group 537"/>
          <p:cNvGrpSpPr>
            <a:grpSpLocks/>
          </p:cNvGrpSpPr>
          <p:nvPr/>
        </p:nvGrpSpPr>
        <p:grpSpPr bwMode="auto">
          <a:xfrm>
            <a:off x="6534150" y="2203450"/>
            <a:ext cx="173038" cy="209550"/>
            <a:chOff x="3686" y="1741"/>
            <a:chExt cx="109" cy="192"/>
          </a:xfrm>
        </p:grpSpPr>
        <p:sp>
          <p:nvSpPr>
            <p:cNvPr id="176" name="Line 538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7" name="Line 539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8" name="Group 540"/>
          <p:cNvGrpSpPr>
            <a:grpSpLocks/>
          </p:cNvGrpSpPr>
          <p:nvPr/>
        </p:nvGrpSpPr>
        <p:grpSpPr bwMode="auto">
          <a:xfrm>
            <a:off x="5529263" y="2217738"/>
            <a:ext cx="173037" cy="209550"/>
            <a:chOff x="3686" y="1741"/>
            <a:chExt cx="109" cy="192"/>
          </a:xfrm>
        </p:grpSpPr>
        <p:sp>
          <p:nvSpPr>
            <p:cNvPr id="179" name="Line 54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0" name="Line 54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1" name="Group 543"/>
          <p:cNvGrpSpPr>
            <a:grpSpLocks/>
          </p:cNvGrpSpPr>
          <p:nvPr/>
        </p:nvGrpSpPr>
        <p:grpSpPr bwMode="auto">
          <a:xfrm>
            <a:off x="4451350" y="2217738"/>
            <a:ext cx="173038" cy="209550"/>
            <a:chOff x="3686" y="1741"/>
            <a:chExt cx="109" cy="192"/>
          </a:xfrm>
        </p:grpSpPr>
        <p:sp>
          <p:nvSpPr>
            <p:cNvPr id="182" name="Line 54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3" name="Line 54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4" name="Group 546"/>
          <p:cNvGrpSpPr>
            <a:grpSpLocks/>
          </p:cNvGrpSpPr>
          <p:nvPr/>
        </p:nvGrpSpPr>
        <p:grpSpPr bwMode="auto">
          <a:xfrm>
            <a:off x="3446463" y="2217738"/>
            <a:ext cx="173037" cy="209550"/>
            <a:chOff x="3686" y="1741"/>
            <a:chExt cx="109" cy="192"/>
          </a:xfrm>
        </p:grpSpPr>
        <p:sp>
          <p:nvSpPr>
            <p:cNvPr id="185" name="Line 547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6" name="Line 548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87" name="Text Box 549"/>
          <p:cNvSpPr txBox="1">
            <a:spLocks noChangeArrowheads="1"/>
          </p:cNvSpPr>
          <p:nvPr/>
        </p:nvSpPr>
        <p:spPr bwMode="auto">
          <a:xfrm>
            <a:off x="2339975" y="266541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(W0)D0..D3</a:t>
            </a:r>
          </a:p>
        </p:txBody>
      </p:sp>
      <p:grpSp>
        <p:nvGrpSpPr>
          <p:cNvPr id="188" name="Group 550"/>
          <p:cNvGrpSpPr>
            <a:grpSpLocks/>
          </p:cNvGrpSpPr>
          <p:nvPr/>
        </p:nvGrpSpPr>
        <p:grpSpPr bwMode="auto">
          <a:xfrm>
            <a:off x="6543675" y="3127375"/>
            <a:ext cx="173038" cy="209550"/>
            <a:chOff x="3686" y="1741"/>
            <a:chExt cx="109" cy="192"/>
          </a:xfrm>
        </p:grpSpPr>
        <p:sp>
          <p:nvSpPr>
            <p:cNvPr id="189" name="Line 55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0" name="Line 55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1" name="Group 553"/>
          <p:cNvGrpSpPr>
            <a:grpSpLocks/>
          </p:cNvGrpSpPr>
          <p:nvPr/>
        </p:nvGrpSpPr>
        <p:grpSpPr bwMode="auto">
          <a:xfrm>
            <a:off x="5538788" y="3141663"/>
            <a:ext cx="173037" cy="209550"/>
            <a:chOff x="3686" y="1741"/>
            <a:chExt cx="109" cy="192"/>
          </a:xfrm>
        </p:grpSpPr>
        <p:sp>
          <p:nvSpPr>
            <p:cNvPr id="192" name="Line 55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3" name="Line 55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4" name="Group 556"/>
          <p:cNvGrpSpPr>
            <a:grpSpLocks/>
          </p:cNvGrpSpPr>
          <p:nvPr/>
        </p:nvGrpSpPr>
        <p:grpSpPr bwMode="auto">
          <a:xfrm>
            <a:off x="4460875" y="3141663"/>
            <a:ext cx="173038" cy="209550"/>
            <a:chOff x="3686" y="1741"/>
            <a:chExt cx="109" cy="192"/>
          </a:xfrm>
        </p:grpSpPr>
        <p:sp>
          <p:nvSpPr>
            <p:cNvPr id="195" name="Line 557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6" name="Line 558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7" name="Group 559"/>
          <p:cNvGrpSpPr>
            <a:grpSpLocks/>
          </p:cNvGrpSpPr>
          <p:nvPr/>
        </p:nvGrpSpPr>
        <p:grpSpPr bwMode="auto">
          <a:xfrm>
            <a:off x="3443288" y="3141663"/>
            <a:ext cx="185737" cy="222250"/>
            <a:chOff x="3686" y="1741"/>
            <a:chExt cx="109" cy="192"/>
          </a:xfrm>
        </p:grpSpPr>
        <p:sp>
          <p:nvSpPr>
            <p:cNvPr id="198" name="Line 560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9" name="Line 561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0" name="Group 562"/>
          <p:cNvGrpSpPr>
            <a:grpSpLocks/>
          </p:cNvGrpSpPr>
          <p:nvPr/>
        </p:nvGrpSpPr>
        <p:grpSpPr bwMode="auto">
          <a:xfrm>
            <a:off x="6535738" y="3990975"/>
            <a:ext cx="173037" cy="200025"/>
            <a:chOff x="3686" y="1741"/>
            <a:chExt cx="109" cy="192"/>
          </a:xfrm>
        </p:grpSpPr>
        <p:sp>
          <p:nvSpPr>
            <p:cNvPr id="201" name="Line 563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2" name="Line 564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3" name="Group 565"/>
          <p:cNvGrpSpPr>
            <a:grpSpLocks/>
          </p:cNvGrpSpPr>
          <p:nvPr/>
        </p:nvGrpSpPr>
        <p:grpSpPr bwMode="auto">
          <a:xfrm>
            <a:off x="5530850" y="4005263"/>
            <a:ext cx="173038" cy="200025"/>
            <a:chOff x="3686" y="1741"/>
            <a:chExt cx="109" cy="192"/>
          </a:xfrm>
        </p:grpSpPr>
        <p:sp>
          <p:nvSpPr>
            <p:cNvPr id="204" name="Line 566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" name="Line 567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6" name="Group 568"/>
          <p:cNvGrpSpPr>
            <a:grpSpLocks/>
          </p:cNvGrpSpPr>
          <p:nvPr/>
        </p:nvGrpSpPr>
        <p:grpSpPr bwMode="auto">
          <a:xfrm>
            <a:off x="4452938" y="4005263"/>
            <a:ext cx="173037" cy="200025"/>
            <a:chOff x="3686" y="1741"/>
            <a:chExt cx="109" cy="192"/>
          </a:xfrm>
        </p:grpSpPr>
        <p:sp>
          <p:nvSpPr>
            <p:cNvPr id="207" name="Line 569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8" name="Line 570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9" name="Group 571"/>
          <p:cNvGrpSpPr>
            <a:grpSpLocks/>
          </p:cNvGrpSpPr>
          <p:nvPr/>
        </p:nvGrpSpPr>
        <p:grpSpPr bwMode="auto">
          <a:xfrm>
            <a:off x="3441700" y="4005263"/>
            <a:ext cx="179388" cy="200025"/>
            <a:chOff x="3686" y="1741"/>
            <a:chExt cx="109" cy="192"/>
          </a:xfrm>
        </p:grpSpPr>
        <p:sp>
          <p:nvSpPr>
            <p:cNvPr id="210" name="Line 572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1" name="Line 573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2" name="Group 574"/>
          <p:cNvGrpSpPr>
            <a:grpSpLocks/>
          </p:cNvGrpSpPr>
          <p:nvPr/>
        </p:nvGrpSpPr>
        <p:grpSpPr bwMode="auto">
          <a:xfrm>
            <a:off x="6543675" y="4937125"/>
            <a:ext cx="173038" cy="190500"/>
            <a:chOff x="3686" y="1741"/>
            <a:chExt cx="109" cy="192"/>
          </a:xfrm>
        </p:grpSpPr>
        <p:sp>
          <p:nvSpPr>
            <p:cNvPr id="213" name="Line 575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4" name="Line 576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5" name="Group 577"/>
          <p:cNvGrpSpPr>
            <a:grpSpLocks/>
          </p:cNvGrpSpPr>
          <p:nvPr/>
        </p:nvGrpSpPr>
        <p:grpSpPr bwMode="auto">
          <a:xfrm>
            <a:off x="5538788" y="4949825"/>
            <a:ext cx="173037" cy="190500"/>
            <a:chOff x="3686" y="1741"/>
            <a:chExt cx="109" cy="192"/>
          </a:xfrm>
        </p:grpSpPr>
        <p:sp>
          <p:nvSpPr>
            <p:cNvPr id="216" name="Line 578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7" name="Line 579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8" name="Group 580"/>
          <p:cNvGrpSpPr>
            <a:grpSpLocks/>
          </p:cNvGrpSpPr>
          <p:nvPr/>
        </p:nvGrpSpPr>
        <p:grpSpPr bwMode="auto">
          <a:xfrm>
            <a:off x="4460875" y="4949825"/>
            <a:ext cx="173038" cy="190500"/>
            <a:chOff x="3686" y="1741"/>
            <a:chExt cx="109" cy="192"/>
          </a:xfrm>
        </p:grpSpPr>
        <p:sp>
          <p:nvSpPr>
            <p:cNvPr id="219" name="Line 581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0" name="Line 582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21" name="Group 583"/>
          <p:cNvGrpSpPr>
            <a:grpSpLocks/>
          </p:cNvGrpSpPr>
          <p:nvPr/>
        </p:nvGrpSpPr>
        <p:grpSpPr bwMode="auto">
          <a:xfrm>
            <a:off x="3455988" y="4949825"/>
            <a:ext cx="173037" cy="190500"/>
            <a:chOff x="3686" y="1741"/>
            <a:chExt cx="109" cy="192"/>
          </a:xfrm>
        </p:grpSpPr>
        <p:sp>
          <p:nvSpPr>
            <p:cNvPr id="222" name="Line 584"/>
            <p:cNvSpPr>
              <a:spLocks noChangeShapeType="1"/>
            </p:cNvSpPr>
            <p:nvPr/>
          </p:nvSpPr>
          <p:spPr bwMode="auto">
            <a:xfrm>
              <a:off x="3692" y="174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3" name="Line 585"/>
            <p:cNvSpPr>
              <a:spLocks noChangeShapeType="1"/>
            </p:cNvSpPr>
            <p:nvPr/>
          </p:nvSpPr>
          <p:spPr bwMode="auto">
            <a:xfrm>
              <a:off x="3686" y="1926"/>
              <a:ext cx="109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24" name="Text Box 586"/>
          <p:cNvSpPr txBox="1">
            <a:spLocks noChangeArrowheads="1"/>
          </p:cNvSpPr>
          <p:nvPr/>
        </p:nvSpPr>
        <p:spPr bwMode="auto">
          <a:xfrm>
            <a:off x="2338388" y="537686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(W3)D0..D3</a:t>
            </a:r>
          </a:p>
        </p:txBody>
      </p:sp>
      <p:sp>
        <p:nvSpPr>
          <p:cNvPr id="225" name="Text Box 587"/>
          <p:cNvSpPr txBox="1">
            <a:spLocks noChangeArrowheads="1"/>
          </p:cNvSpPr>
          <p:nvPr/>
        </p:nvSpPr>
        <p:spPr bwMode="auto">
          <a:xfrm>
            <a:off x="2338388" y="4433888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(W2)D0..D3</a:t>
            </a:r>
          </a:p>
        </p:txBody>
      </p:sp>
      <p:sp>
        <p:nvSpPr>
          <p:cNvPr id="226" name="Freeform 588"/>
          <p:cNvSpPr>
            <a:spLocks/>
          </p:cNvSpPr>
          <p:nvPr/>
        </p:nvSpPr>
        <p:spPr bwMode="auto">
          <a:xfrm>
            <a:off x="3455988" y="1958975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7" name="Freeform 589"/>
          <p:cNvSpPr>
            <a:spLocks/>
          </p:cNvSpPr>
          <p:nvPr/>
        </p:nvSpPr>
        <p:spPr bwMode="auto">
          <a:xfrm>
            <a:off x="4460875" y="1944688"/>
            <a:ext cx="812800" cy="249237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8" name="Freeform 590"/>
          <p:cNvSpPr>
            <a:spLocks/>
          </p:cNvSpPr>
          <p:nvPr/>
        </p:nvSpPr>
        <p:spPr bwMode="auto">
          <a:xfrm>
            <a:off x="5538788" y="1954213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9" name="Freeform 591"/>
          <p:cNvSpPr>
            <a:spLocks/>
          </p:cNvSpPr>
          <p:nvPr/>
        </p:nvSpPr>
        <p:spPr bwMode="auto">
          <a:xfrm>
            <a:off x="6543675" y="1947863"/>
            <a:ext cx="782638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0" name="Oval 592"/>
          <p:cNvSpPr>
            <a:spLocks noChangeArrowheads="1"/>
          </p:cNvSpPr>
          <p:nvPr/>
        </p:nvSpPr>
        <p:spPr bwMode="auto">
          <a:xfrm>
            <a:off x="4194175" y="19192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1" name="Oval 593"/>
          <p:cNvSpPr>
            <a:spLocks noChangeArrowheads="1"/>
          </p:cNvSpPr>
          <p:nvPr/>
        </p:nvSpPr>
        <p:spPr bwMode="auto">
          <a:xfrm>
            <a:off x="5245100" y="190817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2" name="Oval 594"/>
          <p:cNvSpPr>
            <a:spLocks noChangeArrowheads="1"/>
          </p:cNvSpPr>
          <p:nvPr/>
        </p:nvSpPr>
        <p:spPr bwMode="auto">
          <a:xfrm>
            <a:off x="6299200" y="190976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3" name="Oval 595"/>
          <p:cNvSpPr>
            <a:spLocks noChangeArrowheads="1"/>
          </p:cNvSpPr>
          <p:nvPr/>
        </p:nvSpPr>
        <p:spPr bwMode="auto">
          <a:xfrm>
            <a:off x="7302500" y="19192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4" name="Freeform 596"/>
          <p:cNvSpPr>
            <a:spLocks/>
          </p:cNvSpPr>
          <p:nvPr/>
        </p:nvSpPr>
        <p:spPr bwMode="auto">
          <a:xfrm>
            <a:off x="3454400" y="3133725"/>
            <a:ext cx="782638" cy="182563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" name="Freeform 597"/>
          <p:cNvSpPr>
            <a:spLocks/>
          </p:cNvSpPr>
          <p:nvPr/>
        </p:nvSpPr>
        <p:spPr bwMode="auto">
          <a:xfrm>
            <a:off x="4470400" y="3127375"/>
            <a:ext cx="812800" cy="2492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" name="Freeform 598"/>
          <p:cNvSpPr>
            <a:spLocks/>
          </p:cNvSpPr>
          <p:nvPr/>
        </p:nvSpPr>
        <p:spPr bwMode="auto">
          <a:xfrm>
            <a:off x="5548313" y="3116263"/>
            <a:ext cx="782637" cy="17462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" name="Freeform 599"/>
          <p:cNvSpPr>
            <a:spLocks/>
          </p:cNvSpPr>
          <p:nvPr/>
        </p:nvSpPr>
        <p:spPr bwMode="auto">
          <a:xfrm>
            <a:off x="6553200" y="3111500"/>
            <a:ext cx="782638" cy="1730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8" name="Oval 600"/>
          <p:cNvSpPr>
            <a:spLocks noChangeArrowheads="1"/>
          </p:cNvSpPr>
          <p:nvPr/>
        </p:nvSpPr>
        <p:spPr bwMode="auto">
          <a:xfrm>
            <a:off x="419417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39" name="Oval 601"/>
          <p:cNvSpPr>
            <a:spLocks noChangeArrowheads="1"/>
          </p:cNvSpPr>
          <p:nvPr/>
        </p:nvSpPr>
        <p:spPr bwMode="auto">
          <a:xfrm>
            <a:off x="525462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0" name="Oval 602"/>
          <p:cNvSpPr>
            <a:spLocks noChangeArrowheads="1"/>
          </p:cNvSpPr>
          <p:nvPr/>
        </p:nvSpPr>
        <p:spPr bwMode="auto">
          <a:xfrm>
            <a:off x="6300788" y="3073400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1" name="Oval 603"/>
          <p:cNvSpPr>
            <a:spLocks noChangeArrowheads="1"/>
          </p:cNvSpPr>
          <p:nvPr/>
        </p:nvSpPr>
        <p:spPr bwMode="auto">
          <a:xfrm>
            <a:off x="7321550" y="30702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2" name="Freeform 604"/>
          <p:cNvSpPr>
            <a:spLocks/>
          </p:cNvSpPr>
          <p:nvPr/>
        </p:nvSpPr>
        <p:spPr bwMode="auto">
          <a:xfrm>
            <a:off x="3455988" y="3884613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" name="Freeform 605"/>
          <p:cNvSpPr>
            <a:spLocks/>
          </p:cNvSpPr>
          <p:nvPr/>
        </p:nvSpPr>
        <p:spPr bwMode="auto">
          <a:xfrm>
            <a:off x="4460875" y="3870325"/>
            <a:ext cx="812800" cy="249238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4" name="Freeform 606"/>
          <p:cNvSpPr>
            <a:spLocks/>
          </p:cNvSpPr>
          <p:nvPr/>
        </p:nvSpPr>
        <p:spPr bwMode="auto">
          <a:xfrm>
            <a:off x="5538788" y="3879850"/>
            <a:ext cx="782637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" name="Freeform 607"/>
          <p:cNvSpPr>
            <a:spLocks/>
          </p:cNvSpPr>
          <p:nvPr/>
        </p:nvSpPr>
        <p:spPr bwMode="auto">
          <a:xfrm>
            <a:off x="6543675" y="3873500"/>
            <a:ext cx="782638" cy="244475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6" name="Oval 608"/>
          <p:cNvSpPr>
            <a:spLocks noChangeArrowheads="1"/>
          </p:cNvSpPr>
          <p:nvPr/>
        </p:nvSpPr>
        <p:spPr bwMode="auto">
          <a:xfrm>
            <a:off x="4194175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7" name="Oval 609"/>
          <p:cNvSpPr>
            <a:spLocks noChangeArrowheads="1"/>
          </p:cNvSpPr>
          <p:nvPr/>
        </p:nvSpPr>
        <p:spPr bwMode="auto">
          <a:xfrm>
            <a:off x="5245100" y="38338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8" name="Oval 610"/>
          <p:cNvSpPr>
            <a:spLocks noChangeArrowheads="1"/>
          </p:cNvSpPr>
          <p:nvPr/>
        </p:nvSpPr>
        <p:spPr bwMode="auto">
          <a:xfrm>
            <a:off x="6286500" y="3835400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49" name="Oval 611"/>
          <p:cNvSpPr>
            <a:spLocks noChangeArrowheads="1"/>
          </p:cNvSpPr>
          <p:nvPr/>
        </p:nvSpPr>
        <p:spPr bwMode="auto">
          <a:xfrm>
            <a:off x="7302500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0" name="Freeform 612"/>
          <p:cNvSpPr>
            <a:spLocks/>
          </p:cNvSpPr>
          <p:nvPr/>
        </p:nvSpPr>
        <p:spPr bwMode="auto">
          <a:xfrm>
            <a:off x="3460750" y="4930775"/>
            <a:ext cx="762000" cy="152400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" name="Freeform 613"/>
          <p:cNvSpPr>
            <a:spLocks/>
          </p:cNvSpPr>
          <p:nvPr/>
        </p:nvSpPr>
        <p:spPr bwMode="auto">
          <a:xfrm>
            <a:off x="4465638" y="4926013"/>
            <a:ext cx="812800" cy="147637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2" name="Freeform 614"/>
          <p:cNvSpPr>
            <a:spLocks/>
          </p:cNvSpPr>
          <p:nvPr/>
        </p:nvSpPr>
        <p:spPr bwMode="auto">
          <a:xfrm>
            <a:off x="5543550" y="4940300"/>
            <a:ext cx="782638" cy="138113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3" name="Freeform 615"/>
          <p:cNvSpPr>
            <a:spLocks/>
          </p:cNvSpPr>
          <p:nvPr/>
        </p:nvSpPr>
        <p:spPr bwMode="auto">
          <a:xfrm>
            <a:off x="6550025" y="4935538"/>
            <a:ext cx="782638" cy="177800"/>
          </a:xfrm>
          <a:custGeom>
            <a:avLst/>
            <a:gdLst>
              <a:gd name="T0" fmla="*/ 0 w 493"/>
              <a:gd name="T1" fmla="*/ 2147483647 h 154"/>
              <a:gd name="T2" fmla="*/ 0 w 493"/>
              <a:gd name="T3" fmla="*/ 0 h 154"/>
              <a:gd name="T4" fmla="*/ 2147483647 w 493"/>
              <a:gd name="T5" fmla="*/ 0 h 154"/>
              <a:gd name="T6" fmla="*/ 0 60000 65536"/>
              <a:gd name="T7" fmla="*/ 0 60000 65536"/>
              <a:gd name="T8" fmla="*/ 0 60000 65536"/>
              <a:gd name="T9" fmla="*/ 0 w 493"/>
              <a:gd name="T10" fmla="*/ 0 h 154"/>
              <a:gd name="T11" fmla="*/ 493 w 49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54">
                <a:moveTo>
                  <a:pt x="0" y="154"/>
                </a:moveTo>
                <a:lnTo>
                  <a:pt x="0" y="0"/>
                </a:lnTo>
                <a:lnTo>
                  <a:pt x="49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4" name="Oval 616"/>
          <p:cNvSpPr>
            <a:spLocks noChangeArrowheads="1"/>
          </p:cNvSpPr>
          <p:nvPr/>
        </p:nvSpPr>
        <p:spPr bwMode="auto">
          <a:xfrm>
            <a:off x="4198938" y="488473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5" name="Oval 617"/>
          <p:cNvSpPr>
            <a:spLocks noChangeArrowheads="1"/>
          </p:cNvSpPr>
          <p:nvPr/>
        </p:nvSpPr>
        <p:spPr bwMode="auto">
          <a:xfrm>
            <a:off x="5238750" y="48752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6" name="Oval 618"/>
          <p:cNvSpPr>
            <a:spLocks noChangeArrowheads="1"/>
          </p:cNvSpPr>
          <p:nvPr/>
        </p:nvSpPr>
        <p:spPr bwMode="auto">
          <a:xfrm>
            <a:off x="6294438" y="49006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7" name="Oval 619"/>
          <p:cNvSpPr>
            <a:spLocks noChangeArrowheads="1"/>
          </p:cNvSpPr>
          <p:nvPr/>
        </p:nvSpPr>
        <p:spPr bwMode="auto">
          <a:xfrm>
            <a:off x="7312025" y="48990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258" name="Text Box 620"/>
          <p:cNvSpPr txBox="1">
            <a:spLocks noChangeArrowheads="1"/>
          </p:cNvSpPr>
          <p:nvPr/>
        </p:nvSpPr>
        <p:spPr bwMode="auto">
          <a:xfrm>
            <a:off x="2347913" y="3578225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(W1)D0..D3</a:t>
            </a:r>
          </a:p>
        </p:txBody>
      </p:sp>
      <p:sp>
        <p:nvSpPr>
          <p:cNvPr id="259" name="Text Box 621"/>
          <p:cNvSpPr txBox="1">
            <a:spLocks noChangeArrowheads="1"/>
          </p:cNvSpPr>
          <p:nvPr/>
        </p:nvSpPr>
        <p:spPr bwMode="auto">
          <a:xfrm>
            <a:off x="3979863" y="1282700"/>
            <a:ext cx="4873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DB0</a:t>
            </a:r>
          </a:p>
        </p:txBody>
      </p:sp>
      <p:sp>
        <p:nvSpPr>
          <p:cNvPr id="260" name="Text Box 622"/>
          <p:cNvSpPr txBox="1">
            <a:spLocks noChangeArrowheads="1"/>
          </p:cNvSpPr>
          <p:nvPr/>
        </p:nvSpPr>
        <p:spPr bwMode="auto">
          <a:xfrm>
            <a:off x="5003800" y="1293813"/>
            <a:ext cx="4873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DB1</a:t>
            </a:r>
          </a:p>
        </p:txBody>
      </p:sp>
      <p:sp>
        <p:nvSpPr>
          <p:cNvPr id="261" name="Text Box 623"/>
          <p:cNvSpPr txBox="1">
            <a:spLocks noChangeArrowheads="1"/>
          </p:cNvSpPr>
          <p:nvPr/>
        </p:nvSpPr>
        <p:spPr bwMode="auto">
          <a:xfrm>
            <a:off x="6113463" y="1293813"/>
            <a:ext cx="4873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DB2</a:t>
            </a:r>
          </a:p>
        </p:txBody>
      </p:sp>
      <p:sp>
        <p:nvSpPr>
          <p:cNvPr id="262" name="Text Box 624"/>
          <p:cNvSpPr txBox="1">
            <a:spLocks noChangeArrowheads="1"/>
          </p:cNvSpPr>
          <p:nvPr/>
        </p:nvSpPr>
        <p:spPr bwMode="auto">
          <a:xfrm>
            <a:off x="7137400" y="1304925"/>
            <a:ext cx="4873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DB3</a:t>
            </a:r>
          </a:p>
        </p:txBody>
      </p:sp>
      <p:grpSp>
        <p:nvGrpSpPr>
          <p:cNvPr id="263" name="Group 625"/>
          <p:cNvGrpSpPr>
            <a:grpSpLocks/>
          </p:cNvGrpSpPr>
          <p:nvPr/>
        </p:nvGrpSpPr>
        <p:grpSpPr bwMode="auto">
          <a:xfrm>
            <a:off x="2370138" y="2801938"/>
            <a:ext cx="4713287" cy="254000"/>
            <a:chOff x="1293" y="1997"/>
            <a:chExt cx="2969" cy="160"/>
          </a:xfrm>
        </p:grpSpPr>
        <p:sp>
          <p:nvSpPr>
            <p:cNvPr id="264" name="Line 626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5" name="Line 627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" name="Line 628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7" name="Line 629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8" name="Line 630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9" name="Oval 631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0" name="Oval 632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1" name="Oval 633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72" name="Group 634"/>
          <p:cNvGrpSpPr>
            <a:grpSpLocks/>
          </p:cNvGrpSpPr>
          <p:nvPr/>
        </p:nvGrpSpPr>
        <p:grpSpPr bwMode="auto">
          <a:xfrm>
            <a:off x="2374900" y="3725863"/>
            <a:ext cx="4713288" cy="254000"/>
            <a:chOff x="1293" y="1997"/>
            <a:chExt cx="2969" cy="160"/>
          </a:xfrm>
        </p:grpSpPr>
        <p:sp>
          <p:nvSpPr>
            <p:cNvPr id="273" name="Line 635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4" name="Line 636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5" name="Line 637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" name="Line 638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7" name="Line 639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8" name="Oval 640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79" name="Oval 641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0" name="Oval 642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81" name="Group 643"/>
          <p:cNvGrpSpPr>
            <a:grpSpLocks/>
          </p:cNvGrpSpPr>
          <p:nvPr/>
        </p:nvGrpSpPr>
        <p:grpSpPr bwMode="auto">
          <a:xfrm>
            <a:off x="2374900" y="4578350"/>
            <a:ext cx="4713288" cy="254000"/>
            <a:chOff x="1293" y="1997"/>
            <a:chExt cx="2969" cy="160"/>
          </a:xfrm>
        </p:grpSpPr>
        <p:sp>
          <p:nvSpPr>
            <p:cNvPr id="282" name="Line 644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3" name="Line 645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4" name="Line 646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5" name="Line 647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6" name="Line 648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" name="Oval 649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8" name="Oval 650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89" name="Oval 651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90" name="Group 652"/>
          <p:cNvGrpSpPr>
            <a:grpSpLocks/>
          </p:cNvGrpSpPr>
          <p:nvPr/>
        </p:nvGrpSpPr>
        <p:grpSpPr bwMode="auto">
          <a:xfrm>
            <a:off x="2384425" y="5516563"/>
            <a:ext cx="4713288" cy="254000"/>
            <a:chOff x="1293" y="1997"/>
            <a:chExt cx="2969" cy="160"/>
          </a:xfrm>
        </p:grpSpPr>
        <p:sp>
          <p:nvSpPr>
            <p:cNvPr id="291" name="Line 653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2" name="Line 654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3" name="Line 655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94" name="Line 656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5" name="Line 657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6" name="Oval 658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97" name="Oval 659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298" name="Oval 660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299" name="Group 661"/>
          <p:cNvGrpSpPr>
            <a:grpSpLocks/>
          </p:cNvGrpSpPr>
          <p:nvPr/>
        </p:nvGrpSpPr>
        <p:grpSpPr bwMode="auto">
          <a:xfrm>
            <a:off x="2384425" y="5316538"/>
            <a:ext cx="4343400" cy="317500"/>
            <a:chOff x="1302" y="3581"/>
            <a:chExt cx="2736" cy="200"/>
          </a:xfrm>
        </p:grpSpPr>
        <p:sp>
          <p:nvSpPr>
            <p:cNvPr id="300" name="Line 662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1" name="Freeform 663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2" name="Freeform 664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3" name="Freeform 665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4" name="Freeform 666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5" name="Oval 667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06" name="Oval 668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07" name="Oval 669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08" name="Group 670"/>
          <p:cNvGrpSpPr>
            <a:grpSpLocks/>
          </p:cNvGrpSpPr>
          <p:nvPr/>
        </p:nvGrpSpPr>
        <p:grpSpPr bwMode="auto">
          <a:xfrm>
            <a:off x="2384425" y="4376738"/>
            <a:ext cx="4343400" cy="317500"/>
            <a:chOff x="1302" y="3581"/>
            <a:chExt cx="2736" cy="200"/>
          </a:xfrm>
        </p:grpSpPr>
        <p:sp>
          <p:nvSpPr>
            <p:cNvPr id="309" name="Line 671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0" name="Freeform 672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1" name="Freeform 673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2" name="Freeform 674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3" name="Freeform 675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4" name="Oval 676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15" name="Oval 677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16" name="Oval 678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17" name="Group 679"/>
          <p:cNvGrpSpPr>
            <a:grpSpLocks/>
          </p:cNvGrpSpPr>
          <p:nvPr/>
        </p:nvGrpSpPr>
        <p:grpSpPr bwMode="auto">
          <a:xfrm>
            <a:off x="2379663" y="3517900"/>
            <a:ext cx="4343400" cy="317500"/>
            <a:chOff x="1302" y="3581"/>
            <a:chExt cx="2736" cy="200"/>
          </a:xfrm>
        </p:grpSpPr>
        <p:sp>
          <p:nvSpPr>
            <p:cNvPr id="318" name="Line 680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9" name="Freeform 681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0" name="Freeform 682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1" name="Freeform 683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2" name="Freeform 684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3" name="Oval 685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24" name="Oval 686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25" name="Oval 687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326" name="Group 688"/>
          <p:cNvGrpSpPr>
            <a:grpSpLocks/>
          </p:cNvGrpSpPr>
          <p:nvPr/>
        </p:nvGrpSpPr>
        <p:grpSpPr bwMode="auto">
          <a:xfrm>
            <a:off x="2379663" y="2587625"/>
            <a:ext cx="4343400" cy="317500"/>
            <a:chOff x="1302" y="3581"/>
            <a:chExt cx="2736" cy="200"/>
          </a:xfrm>
        </p:grpSpPr>
        <p:sp>
          <p:nvSpPr>
            <p:cNvPr id="327" name="Line 689"/>
            <p:cNvSpPr>
              <a:spLocks noChangeShapeType="1"/>
            </p:cNvSpPr>
            <p:nvPr/>
          </p:nvSpPr>
          <p:spPr bwMode="auto">
            <a:xfrm>
              <a:off x="1302" y="3757"/>
              <a:ext cx="2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" name="Freeform 690"/>
            <p:cNvSpPr>
              <a:spLocks/>
            </p:cNvSpPr>
            <p:nvPr/>
          </p:nvSpPr>
          <p:spPr bwMode="auto">
            <a:xfrm>
              <a:off x="3962" y="3581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9" name="Freeform 691"/>
            <p:cNvSpPr>
              <a:spLocks/>
            </p:cNvSpPr>
            <p:nvPr/>
          </p:nvSpPr>
          <p:spPr bwMode="auto">
            <a:xfrm>
              <a:off x="3306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0" name="Freeform 692"/>
            <p:cNvSpPr>
              <a:spLocks/>
            </p:cNvSpPr>
            <p:nvPr/>
          </p:nvSpPr>
          <p:spPr bwMode="auto">
            <a:xfrm>
              <a:off x="2638" y="3584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1" name="Freeform 693"/>
            <p:cNvSpPr>
              <a:spLocks/>
            </p:cNvSpPr>
            <p:nvPr/>
          </p:nvSpPr>
          <p:spPr bwMode="auto">
            <a:xfrm>
              <a:off x="1990" y="3588"/>
              <a:ext cx="76" cy="176"/>
            </a:xfrm>
            <a:custGeom>
              <a:avLst/>
              <a:gdLst>
                <a:gd name="T0" fmla="*/ 76 w 76"/>
                <a:gd name="T1" fmla="*/ 0 h 176"/>
                <a:gd name="T2" fmla="*/ 0 w 76"/>
                <a:gd name="T3" fmla="*/ 0 h 176"/>
                <a:gd name="T4" fmla="*/ 0 w 76"/>
                <a:gd name="T5" fmla="*/ 176 h 176"/>
                <a:gd name="T6" fmla="*/ 0 60000 65536"/>
                <a:gd name="T7" fmla="*/ 0 60000 65536"/>
                <a:gd name="T8" fmla="*/ 0 60000 65536"/>
                <a:gd name="T9" fmla="*/ 0 w 76"/>
                <a:gd name="T10" fmla="*/ 0 h 176"/>
                <a:gd name="T11" fmla="*/ 76 w 76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176">
                  <a:moveTo>
                    <a:pt x="76" y="0"/>
                  </a:moveTo>
                  <a:lnTo>
                    <a:pt x="0" y="0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2" name="Oval 694"/>
            <p:cNvSpPr>
              <a:spLocks noChangeArrowheads="1"/>
            </p:cNvSpPr>
            <p:nvPr/>
          </p:nvSpPr>
          <p:spPr bwMode="auto">
            <a:xfrm>
              <a:off x="1965" y="3729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3" name="Oval 695"/>
            <p:cNvSpPr>
              <a:spLocks noChangeArrowheads="1"/>
            </p:cNvSpPr>
            <p:nvPr/>
          </p:nvSpPr>
          <p:spPr bwMode="auto">
            <a:xfrm>
              <a:off x="2615" y="3734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334" name="Oval 696"/>
            <p:cNvSpPr>
              <a:spLocks noChangeArrowheads="1"/>
            </p:cNvSpPr>
            <p:nvPr/>
          </p:nvSpPr>
          <p:spPr bwMode="auto">
            <a:xfrm>
              <a:off x="3284" y="3732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335" name="Line 697"/>
          <p:cNvSpPr>
            <a:spLocks noChangeShapeType="1"/>
          </p:cNvSpPr>
          <p:nvPr/>
        </p:nvSpPr>
        <p:spPr bwMode="auto">
          <a:xfrm flipH="1">
            <a:off x="917575" y="2384425"/>
            <a:ext cx="8397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6" name="Text Box 698"/>
          <p:cNvSpPr txBox="1">
            <a:spLocks noChangeArrowheads="1"/>
          </p:cNvSpPr>
          <p:nvPr/>
        </p:nvSpPr>
        <p:spPr bwMode="auto">
          <a:xfrm>
            <a:off x="933450" y="2095500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A0</a:t>
            </a:r>
          </a:p>
        </p:txBody>
      </p:sp>
      <p:sp>
        <p:nvSpPr>
          <p:cNvPr id="337" name="Line 699"/>
          <p:cNvSpPr>
            <a:spLocks noChangeShapeType="1"/>
          </p:cNvSpPr>
          <p:nvPr/>
        </p:nvSpPr>
        <p:spPr bwMode="auto">
          <a:xfrm flipH="1">
            <a:off x="917575" y="2933700"/>
            <a:ext cx="849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38" name="Text Box 700"/>
          <p:cNvSpPr txBox="1">
            <a:spLocks noChangeArrowheads="1"/>
          </p:cNvSpPr>
          <p:nvPr/>
        </p:nvSpPr>
        <p:spPr bwMode="auto">
          <a:xfrm>
            <a:off x="933450" y="2644775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A1</a:t>
            </a:r>
          </a:p>
        </p:txBody>
      </p:sp>
      <p:sp>
        <p:nvSpPr>
          <p:cNvPr id="339" name="Line 701"/>
          <p:cNvSpPr>
            <a:spLocks noChangeShapeType="1"/>
          </p:cNvSpPr>
          <p:nvPr/>
        </p:nvSpPr>
        <p:spPr bwMode="auto">
          <a:xfrm flipH="1">
            <a:off x="896938" y="3522663"/>
            <a:ext cx="868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0" name="Text Box 702"/>
          <p:cNvSpPr txBox="1">
            <a:spLocks noChangeArrowheads="1"/>
          </p:cNvSpPr>
          <p:nvPr/>
        </p:nvSpPr>
        <p:spPr bwMode="auto">
          <a:xfrm>
            <a:off x="903288" y="3233738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CS</a:t>
            </a:r>
          </a:p>
        </p:txBody>
      </p:sp>
      <p:sp>
        <p:nvSpPr>
          <p:cNvPr id="341" name="Line 703"/>
          <p:cNvSpPr>
            <a:spLocks noChangeShapeType="1"/>
          </p:cNvSpPr>
          <p:nvPr/>
        </p:nvSpPr>
        <p:spPr bwMode="auto">
          <a:xfrm>
            <a:off x="987425" y="3279775"/>
            <a:ext cx="234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2" name="Line 704"/>
          <p:cNvSpPr>
            <a:spLocks noChangeShapeType="1"/>
          </p:cNvSpPr>
          <p:nvPr/>
        </p:nvSpPr>
        <p:spPr bwMode="auto">
          <a:xfrm flipH="1">
            <a:off x="896938" y="4162425"/>
            <a:ext cx="858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43" name="Text Box 705"/>
          <p:cNvSpPr txBox="1">
            <a:spLocks noChangeArrowheads="1"/>
          </p:cNvSpPr>
          <p:nvPr/>
        </p:nvSpPr>
        <p:spPr bwMode="auto">
          <a:xfrm>
            <a:off x="820738" y="3873500"/>
            <a:ext cx="5667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R / W</a:t>
            </a:r>
          </a:p>
        </p:txBody>
      </p:sp>
      <p:sp>
        <p:nvSpPr>
          <p:cNvPr id="344" name="Line 706"/>
          <p:cNvSpPr>
            <a:spLocks noChangeShapeType="1"/>
          </p:cNvSpPr>
          <p:nvPr/>
        </p:nvSpPr>
        <p:spPr bwMode="auto">
          <a:xfrm>
            <a:off x="1139825" y="3919538"/>
            <a:ext cx="133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5" name="Oval 707"/>
          <p:cNvSpPr>
            <a:spLocks noChangeArrowheads="1"/>
          </p:cNvSpPr>
          <p:nvPr/>
        </p:nvSpPr>
        <p:spPr bwMode="auto">
          <a:xfrm>
            <a:off x="41941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6" name="Oval 708"/>
          <p:cNvSpPr>
            <a:spLocks noChangeArrowheads="1"/>
          </p:cNvSpPr>
          <p:nvPr/>
        </p:nvSpPr>
        <p:spPr bwMode="auto">
          <a:xfrm>
            <a:off x="52482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7" name="Oval 709"/>
          <p:cNvSpPr>
            <a:spLocks noChangeArrowheads="1"/>
          </p:cNvSpPr>
          <p:nvPr/>
        </p:nvSpPr>
        <p:spPr bwMode="auto">
          <a:xfrm>
            <a:off x="6302375" y="2376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8" name="Oval 710"/>
          <p:cNvSpPr>
            <a:spLocks noChangeArrowheads="1"/>
          </p:cNvSpPr>
          <p:nvPr/>
        </p:nvSpPr>
        <p:spPr bwMode="auto">
          <a:xfrm>
            <a:off x="7318375" y="23637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49" name="Oval 711"/>
          <p:cNvSpPr>
            <a:spLocks noChangeArrowheads="1"/>
          </p:cNvSpPr>
          <p:nvPr/>
        </p:nvSpPr>
        <p:spPr bwMode="auto">
          <a:xfrm>
            <a:off x="4206875" y="33035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0" name="Oval 712"/>
          <p:cNvSpPr>
            <a:spLocks noChangeArrowheads="1"/>
          </p:cNvSpPr>
          <p:nvPr/>
        </p:nvSpPr>
        <p:spPr bwMode="auto">
          <a:xfrm>
            <a:off x="52482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1" name="Oval 713"/>
          <p:cNvSpPr>
            <a:spLocks noChangeArrowheads="1"/>
          </p:cNvSpPr>
          <p:nvPr/>
        </p:nvSpPr>
        <p:spPr bwMode="auto">
          <a:xfrm>
            <a:off x="63023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2" name="Oval 714"/>
          <p:cNvSpPr>
            <a:spLocks noChangeArrowheads="1"/>
          </p:cNvSpPr>
          <p:nvPr/>
        </p:nvSpPr>
        <p:spPr bwMode="auto">
          <a:xfrm>
            <a:off x="7318375" y="32908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3" name="Oval 715"/>
          <p:cNvSpPr>
            <a:spLocks noChangeArrowheads="1"/>
          </p:cNvSpPr>
          <p:nvPr/>
        </p:nvSpPr>
        <p:spPr bwMode="auto">
          <a:xfrm>
            <a:off x="4206875" y="41671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4" name="Oval 716"/>
          <p:cNvSpPr>
            <a:spLocks noChangeArrowheads="1"/>
          </p:cNvSpPr>
          <p:nvPr/>
        </p:nvSpPr>
        <p:spPr bwMode="auto">
          <a:xfrm>
            <a:off x="5248275" y="4154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5" name="Oval 717"/>
          <p:cNvSpPr>
            <a:spLocks noChangeArrowheads="1"/>
          </p:cNvSpPr>
          <p:nvPr/>
        </p:nvSpPr>
        <p:spPr bwMode="auto">
          <a:xfrm>
            <a:off x="6302375" y="41671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6" name="Oval 718"/>
          <p:cNvSpPr>
            <a:spLocks noChangeArrowheads="1"/>
          </p:cNvSpPr>
          <p:nvPr/>
        </p:nvSpPr>
        <p:spPr bwMode="auto">
          <a:xfrm>
            <a:off x="7318375" y="41544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357" name="Text Box 719"/>
          <p:cNvSpPr txBox="1">
            <a:spLocks noChangeArrowheads="1"/>
          </p:cNvSpPr>
          <p:nvPr/>
        </p:nvSpPr>
        <p:spPr bwMode="auto">
          <a:xfrm>
            <a:off x="2338388" y="30178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(OE0)D0..D3</a:t>
            </a:r>
          </a:p>
        </p:txBody>
      </p:sp>
      <p:sp>
        <p:nvSpPr>
          <p:cNvPr id="358" name="Text Box 720"/>
          <p:cNvSpPr txBox="1">
            <a:spLocks noChangeArrowheads="1"/>
          </p:cNvSpPr>
          <p:nvPr/>
        </p:nvSpPr>
        <p:spPr bwMode="auto">
          <a:xfrm>
            <a:off x="2309813" y="394176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(OE1)D0..D3</a:t>
            </a:r>
          </a:p>
        </p:txBody>
      </p:sp>
      <p:sp>
        <p:nvSpPr>
          <p:cNvPr id="359" name="Text Box 721"/>
          <p:cNvSpPr txBox="1">
            <a:spLocks noChangeArrowheads="1"/>
          </p:cNvSpPr>
          <p:nvPr/>
        </p:nvSpPr>
        <p:spPr bwMode="auto">
          <a:xfrm>
            <a:off x="2319338" y="48085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(OE2)D0..D3</a:t>
            </a:r>
          </a:p>
        </p:txBody>
      </p:sp>
      <p:sp>
        <p:nvSpPr>
          <p:cNvPr id="360" name="Text Box 722"/>
          <p:cNvSpPr txBox="1">
            <a:spLocks noChangeArrowheads="1"/>
          </p:cNvSpPr>
          <p:nvPr/>
        </p:nvSpPr>
        <p:spPr bwMode="auto">
          <a:xfrm>
            <a:off x="2328863" y="575151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(OE3)D0..D3</a:t>
            </a:r>
          </a:p>
        </p:txBody>
      </p:sp>
      <p:sp>
        <p:nvSpPr>
          <p:cNvPr id="361" name="Line 723"/>
          <p:cNvSpPr>
            <a:spLocks noChangeShapeType="1"/>
          </p:cNvSpPr>
          <p:nvPr/>
        </p:nvSpPr>
        <p:spPr bwMode="auto">
          <a:xfrm>
            <a:off x="2479675" y="306070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2" name="Line 724"/>
          <p:cNvSpPr>
            <a:spLocks noChangeShapeType="1"/>
          </p:cNvSpPr>
          <p:nvPr/>
        </p:nvSpPr>
        <p:spPr bwMode="auto">
          <a:xfrm>
            <a:off x="2460625" y="398462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3" name="Line 725"/>
          <p:cNvSpPr>
            <a:spLocks noChangeShapeType="1"/>
          </p:cNvSpPr>
          <p:nvPr/>
        </p:nvSpPr>
        <p:spPr bwMode="auto">
          <a:xfrm>
            <a:off x="2479675" y="484187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4" name="Line 726"/>
          <p:cNvSpPr>
            <a:spLocks noChangeShapeType="1"/>
          </p:cNvSpPr>
          <p:nvPr/>
        </p:nvSpPr>
        <p:spPr bwMode="auto">
          <a:xfrm>
            <a:off x="2470150" y="578485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65" name="Text Box 727"/>
          <p:cNvSpPr txBox="1">
            <a:spLocks noChangeArrowheads="1"/>
          </p:cNvSpPr>
          <p:nvPr/>
        </p:nvSpPr>
        <p:spPr bwMode="auto">
          <a:xfrm rot="16200000">
            <a:off x="1119981" y="3475832"/>
            <a:ext cx="1889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Memory decoding logic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415637" y="6135469"/>
            <a:ext cx="831272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A:</a:t>
            </a:r>
            <a:r>
              <a:rPr lang="en-US" dirty="0"/>
              <a:t> This is </a:t>
            </a:r>
            <a:r>
              <a:rPr lang="en-US" b="1" dirty="0">
                <a:solidFill>
                  <a:srgbClr val="3366FF"/>
                </a:solidFill>
              </a:rPr>
              <a:t>just a decoder </a:t>
            </a:r>
            <a:r>
              <a:rPr lang="en-US" dirty="0"/>
              <a:t>with some </a:t>
            </a:r>
            <a:r>
              <a:rPr lang="en-US" b="1" dirty="0">
                <a:solidFill>
                  <a:srgbClr val="3366FF"/>
                </a:solidFill>
              </a:rPr>
              <a:t>D-FFs </a:t>
            </a:r>
            <a:r>
              <a:rPr lang="en-US" dirty="0"/>
              <a:t>and </a:t>
            </a:r>
            <a:r>
              <a:rPr lang="en-US" b="1" dirty="0">
                <a:solidFill>
                  <a:srgbClr val="3366FF"/>
                </a:solidFill>
              </a:rPr>
              <a:t>control wires</a:t>
            </a:r>
            <a:r>
              <a:rPr lang="en-US" dirty="0"/>
              <a:t> to turn on &amp; off certain chips or enable writing; note the </a:t>
            </a:r>
            <a:r>
              <a:rPr lang="en-US" b="1" dirty="0">
                <a:solidFill>
                  <a:srgbClr val="FF6600"/>
                </a:solidFill>
              </a:rPr>
              <a:t>increased control logic complexity</a:t>
            </a:r>
            <a:r>
              <a:rPr lang="en-US" dirty="0"/>
              <a:t>.</a:t>
            </a:r>
          </a:p>
        </p:txBody>
      </p:sp>
      <p:cxnSp>
        <p:nvCxnSpPr>
          <p:cNvPr id="367" name="Straight Arrow Connector 366"/>
          <p:cNvCxnSpPr/>
          <p:nvPr/>
        </p:nvCxnSpPr>
        <p:spPr>
          <a:xfrm flipV="1">
            <a:off x="609600" y="4267200"/>
            <a:ext cx="4572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68" name="TextBox 367"/>
          <p:cNvSpPr txBox="1"/>
          <p:nvPr/>
        </p:nvSpPr>
        <p:spPr>
          <a:xfrm>
            <a:off x="27709" y="5105400"/>
            <a:ext cx="3325091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More </a:t>
            </a:r>
            <a:r>
              <a:rPr lang="en-US" dirty="0">
                <a:solidFill>
                  <a:srgbClr val="FF6600"/>
                </a:solidFill>
              </a:rPr>
              <a:t>Complex Controls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How to design the MDL?</a:t>
            </a:r>
          </a:p>
        </p:txBody>
      </p:sp>
      <p:cxnSp>
        <p:nvCxnSpPr>
          <p:cNvPr id="369" name="Straight Arrow Connector 368"/>
          <p:cNvCxnSpPr/>
          <p:nvPr/>
        </p:nvCxnSpPr>
        <p:spPr>
          <a:xfrm flipV="1">
            <a:off x="609600" y="3657600"/>
            <a:ext cx="304800" cy="160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0" name="Straight Arrow Connector 369"/>
          <p:cNvCxnSpPr/>
          <p:nvPr/>
        </p:nvCxnSpPr>
        <p:spPr>
          <a:xfrm flipV="1">
            <a:off x="609600" y="2680662"/>
            <a:ext cx="304800" cy="25771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78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626645"/>
            <a:ext cx="8229600" cy="821155"/>
          </a:xfrm>
        </p:spPr>
        <p:txBody>
          <a:bodyPr/>
          <a:lstStyle/>
          <a:p>
            <a:r>
              <a:rPr lang="en-US" dirty="0"/>
              <a:t>ROM Contrast</a:t>
            </a:r>
            <a:br>
              <a:rPr lang="en-US" dirty="0"/>
            </a:br>
            <a:r>
              <a:rPr lang="en-US" dirty="0"/>
              <a:t>Less Control Wires</a:t>
            </a:r>
          </a:p>
        </p:txBody>
      </p:sp>
      <p:sp>
        <p:nvSpPr>
          <p:cNvPr id="41987" name="Rectangle 366"/>
          <p:cNvSpPr>
            <a:spLocks noChangeArrowheads="1"/>
          </p:cNvSpPr>
          <p:nvPr/>
        </p:nvSpPr>
        <p:spPr bwMode="auto">
          <a:xfrm>
            <a:off x="1658938" y="1733550"/>
            <a:ext cx="6288087" cy="4329113"/>
          </a:xfrm>
          <a:prstGeom prst="rect">
            <a:avLst/>
          </a:prstGeom>
          <a:solidFill>
            <a:srgbClr val="FFFFCC"/>
          </a:solidFill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1989" name="Line 532"/>
          <p:cNvSpPr>
            <a:spLocks noChangeShapeType="1"/>
          </p:cNvSpPr>
          <p:nvPr/>
        </p:nvSpPr>
        <p:spPr bwMode="auto">
          <a:xfrm flipH="1" flipV="1">
            <a:off x="4240213" y="1512888"/>
            <a:ext cx="0" cy="3616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0" name="Line 533"/>
          <p:cNvSpPr>
            <a:spLocks noChangeShapeType="1"/>
          </p:cNvSpPr>
          <p:nvPr/>
        </p:nvSpPr>
        <p:spPr bwMode="auto">
          <a:xfrm flipH="1" flipV="1">
            <a:off x="5284788" y="1512888"/>
            <a:ext cx="1587" cy="3627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1" name="Line 534"/>
          <p:cNvSpPr>
            <a:spLocks noChangeShapeType="1"/>
          </p:cNvSpPr>
          <p:nvPr/>
        </p:nvSpPr>
        <p:spPr bwMode="auto">
          <a:xfrm flipH="1" flipV="1">
            <a:off x="6332538" y="1520825"/>
            <a:ext cx="0" cy="3617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2" name="Line 535"/>
          <p:cNvSpPr>
            <a:spLocks noChangeShapeType="1"/>
          </p:cNvSpPr>
          <p:nvPr/>
        </p:nvSpPr>
        <p:spPr bwMode="auto">
          <a:xfrm flipV="1">
            <a:off x="7358063" y="1527175"/>
            <a:ext cx="1587" cy="3586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3" name="Rectangle 536"/>
          <p:cNvSpPr>
            <a:spLocks noChangeArrowheads="1"/>
          </p:cNvSpPr>
          <p:nvPr/>
        </p:nvSpPr>
        <p:spPr bwMode="auto">
          <a:xfrm rot="5400000">
            <a:off x="794" y="3593306"/>
            <a:ext cx="4135438" cy="6318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17" name="Oval 592"/>
          <p:cNvSpPr>
            <a:spLocks noChangeArrowheads="1"/>
          </p:cNvSpPr>
          <p:nvPr/>
        </p:nvSpPr>
        <p:spPr bwMode="auto">
          <a:xfrm>
            <a:off x="4194175" y="191928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18" name="Oval 593"/>
          <p:cNvSpPr>
            <a:spLocks noChangeArrowheads="1"/>
          </p:cNvSpPr>
          <p:nvPr/>
        </p:nvSpPr>
        <p:spPr bwMode="auto">
          <a:xfrm>
            <a:off x="5245100" y="190817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19" name="Oval 594"/>
          <p:cNvSpPr>
            <a:spLocks noChangeArrowheads="1"/>
          </p:cNvSpPr>
          <p:nvPr/>
        </p:nvSpPr>
        <p:spPr bwMode="auto">
          <a:xfrm>
            <a:off x="6282769" y="1909763"/>
            <a:ext cx="82074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20" name="Oval 595"/>
          <p:cNvSpPr>
            <a:spLocks noChangeArrowheads="1"/>
          </p:cNvSpPr>
          <p:nvPr/>
        </p:nvSpPr>
        <p:spPr bwMode="auto">
          <a:xfrm>
            <a:off x="7302500" y="1960562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25" name="Oval 600"/>
          <p:cNvSpPr>
            <a:spLocks noChangeArrowheads="1"/>
          </p:cNvSpPr>
          <p:nvPr/>
        </p:nvSpPr>
        <p:spPr bwMode="auto">
          <a:xfrm>
            <a:off x="419417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26" name="Oval 601"/>
          <p:cNvSpPr>
            <a:spLocks noChangeArrowheads="1"/>
          </p:cNvSpPr>
          <p:nvPr/>
        </p:nvSpPr>
        <p:spPr bwMode="auto">
          <a:xfrm>
            <a:off x="5254625" y="3081338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27" name="Oval 602"/>
          <p:cNvSpPr>
            <a:spLocks noChangeArrowheads="1"/>
          </p:cNvSpPr>
          <p:nvPr/>
        </p:nvSpPr>
        <p:spPr bwMode="auto">
          <a:xfrm>
            <a:off x="6300788" y="3073400"/>
            <a:ext cx="74612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28" name="Oval 603"/>
          <p:cNvSpPr>
            <a:spLocks noChangeArrowheads="1"/>
          </p:cNvSpPr>
          <p:nvPr/>
        </p:nvSpPr>
        <p:spPr bwMode="auto">
          <a:xfrm>
            <a:off x="7321550" y="30702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33" name="Oval 608"/>
          <p:cNvSpPr>
            <a:spLocks noChangeArrowheads="1"/>
          </p:cNvSpPr>
          <p:nvPr/>
        </p:nvSpPr>
        <p:spPr bwMode="auto">
          <a:xfrm>
            <a:off x="4194175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34" name="Oval 609"/>
          <p:cNvSpPr>
            <a:spLocks noChangeArrowheads="1"/>
          </p:cNvSpPr>
          <p:nvPr/>
        </p:nvSpPr>
        <p:spPr bwMode="auto">
          <a:xfrm>
            <a:off x="5245100" y="38338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35" name="Oval 610"/>
          <p:cNvSpPr>
            <a:spLocks noChangeArrowheads="1"/>
          </p:cNvSpPr>
          <p:nvPr/>
        </p:nvSpPr>
        <p:spPr bwMode="auto">
          <a:xfrm>
            <a:off x="6286500" y="3835400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36" name="Oval 611"/>
          <p:cNvSpPr>
            <a:spLocks noChangeArrowheads="1"/>
          </p:cNvSpPr>
          <p:nvPr/>
        </p:nvSpPr>
        <p:spPr bwMode="auto">
          <a:xfrm>
            <a:off x="7302500" y="38449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41" name="Oval 616"/>
          <p:cNvSpPr>
            <a:spLocks noChangeArrowheads="1"/>
          </p:cNvSpPr>
          <p:nvPr/>
        </p:nvSpPr>
        <p:spPr bwMode="auto">
          <a:xfrm>
            <a:off x="4198938" y="4884738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42" name="Oval 617"/>
          <p:cNvSpPr>
            <a:spLocks noChangeArrowheads="1"/>
          </p:cNvSpPr>
          <p:nvPr/>
        </p:nvSpPr>
        <p:spPr bwMode="auto">
          <a:xfrm>
            <a:off x="5238750" y="4875213"/>
            <a:ext cx="74613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43" name="Oval 618"/>
          <p:cNvSpPr>
            <a:spLocks noChangeArrowheads="1"/>
          </p:cNvSpPr>
          <p:nvPr/>
        </p:nvSpPr>
        <p:spPr bwMode="auto">
          <a:xfrm>
            <a:off x="6294438" y="4900613"/>
            <a:ext cx="74612" cy="7461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44" name="Oval 619"/>
          <p:cNvSpPr>
            <a:spLocks noChangeArrowheads="1"/>
          </p:cNvSpPr>
          <p:nvPr/>
        </p:nvSpPr>
        <p:spPr bwMode="auto">
          <a:xfrm>
            <a:off x="7312025" y="4899025"/>
            <a:ext cx="74613" cy="74613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42046" name="Text Box 621"/>
          <p:cNvSpPr txBox="1">
            <a:spLocks noChangeArrowheads="1"/>
          </p:cNvSpPr>
          <p:nvPr/>
        </p:nvSpPr>
        <p:spPr bwMode="auto">
          <a:xfrm>
            <a:off x="3979863" y="1282700"/>
            <a:ext cx="4873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DB0</a:t>
            </a:r>
          </a:p>
        </p:txBody>
      </p:sp>
      <p:sp>
        <p:nvSpPr>
          <p:cNvPr id="42047" name="Text Box 622"/>
          <p:cNvSpPr txBox="1">
            <a:spLocks noChangeArrowheads="1"/>
          </p:cNvSpPr>
          <p:nvPr/>
        </p:nvSpPr>
        <p:spPr bwMode="auto">
          <a:xfrm>
            <a:off x="5003800" y="1293813"/>
            <a:ext cx="4873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DB1</a:t>
            </a:r>
          </a:p>
        </p:txBody>
      </p:sp>
      <p:sp>
        <p:nvSpPr>
          <p:cNvPr id="42048" name="Text Box 623"/>
          <p:cNvSpPr txBox="1">
            <a:spLocks noChangeArrowheads="1"/>
          </p:cNvSpPr>
          <p:nvPr/>
        </p:nvSpPr>
        <p:spPr bwMode="auto">
          <a:xfrm>
            <a:off x="6113463" y="1293813"/>
            <a:ext cx="4873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DB2</a:t>
            </a:r>
          </a:p>
        </p:txBody>
      </p:sp>
      <p:sp>
        <p:nvSpPr>
          <p:cNvPr id="42049" name="Text Box 624"/>
          <p:cNvSpPr txBox="1">
            <a:spLocks noChangeArrowheads="1"/>
          </p:cNvSpPr>
          <p:nvPr/>
        </p:nvSpPr>
        <p:spPr bwMode="auto">
          <a:xfrm>
            <a:off x="7137400" y="1304925"/>
            <a:ext cx="4873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DB3</a:t>
            </a:r>
          </a:p>
        </p:txBody>
      </p:sp>
      <p:grpSp>
        <p:nvGrpSpPr>
          <p:cNvPr id="42050" name="Group 625"/>
          <p:cNvGrpSpPr>
            <a:grpSpLocks/>
          </p:cNvGrpSpPr>
          <p:nvPr/>
        </p:nvGrpSpPr>
        <p:grpSpPr bwMode="auto">
          <a:xfrm>
            <a:off x="2370138" y="2801938"/>
            <a:ext cx="4713287" cy="254000"/>
            <a:chOff x="1293" y="1997"/>
            <a:chExt cx="2969" cy="160"/>
          </a:xfrm>
        </p:grpSpPr>
        <p:sp>
          <p:nvSpPr>
            <p:cNvPr id="42145" name="Line 626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46" name="Line 627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47" name="Line 628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148" name="Line 629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49" name="Line 630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50" name="Oval 631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51" name="Oval 632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52" name="Oval 633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42051" name="Group 634"/>
          <p:cNvGrpSpPr>
            <a:grpSpLocks/>
          </p:cNvGrpSpPr>
          <p:nvPr/>
        </p:nvGrpSpPr>
        <p:grpSpPr bwMode="auto">
          <a:xfrm>
            <a:off x="2374900" y="3725863"/>
            <a:ext cx="4713288" cy="254000"/>
            <a:chOff x="1293" y="1997"/>
            <a:chExt cx="2969" cy="160"/>
          </a:xfrm>
        </p:grpSpPr>
        <p:sp>
          <p:nvSpPr>
            <p:cNvPr id="42137" name="Line 635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8" name="Line 636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9" name="Line 637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140" name="Line 638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41" name="Line 639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42" name="Oval 640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43" name="Oval 641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44" name="Oval 642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42052" name="Group 643"/>
          <p:cNvGrpSpPr>
            <a:grpSpLocks/>
          </p:cNvGrpSpPr>
          <p:nvPr/>
        </p:nvGrpSpPr>
        <p:grpSpPr bwMode="auto">
          <a:xfrm>
            <a:off x="2374900" y="4578350"/>
            <a:ext cx="4713288" cy="254000"/>
            <a:chOff x="1293" y="1997"/>
            <a:chExt cx="2969" cy="160"/>
          </a:xfrm>
        </p:grpSpPr>
        <p:sp>
          <p:nvSpPr>
            <p:cNvPr id="42129" name="Line 644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0" name="Line 645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1" name="Line 646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132" name="Line 647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3" name="Line 648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34" name="Oval 649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35" name="Oval 650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36" name="Oval 651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grpSp>
        <p:nvGrpSpPr>
          <p:cNvPr id="42053" name="Group 652"/>
          <p:cNvGrpSpPr>
            <a:grpSpLocks/>
          </p:cNvGrpSpPr>
          <p:nvPr/>
        </p:nvGrpSpPr>
        <p:grpSpPr bwMode="auto">
          <a:xfrm>
            <a:off x="2384425" y="5516563"/>
            <a:ext cx="4713288" cy="254000"/>
            <a:chOff x="1293" y="1997"/>
            <a:chExt cx="2969" cy="160"/>
          </a:xfrm>
        </p:grpSpPr>
        <p:sp>
          <p:nvSpPr>
            <p:cNvPr id="42121" name="Line 653"/>
            <p:cNvSpPr>
              <a:spLocks noChangeShapeType="1"/>
            </p:cNvSpPr>
            <p:nvPr/>
          </p:nvSpPr>
          <p:spPr bwMode="auto">
            <a:xfrm>
              <a:off x="1293" y="2131"/>
              <a:ext cx="2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22" name="Line 654"/>
            <p:cNvSpPr>
              <a:spLocks noChangeShapeType="1"/>
            </p:cNvSpPr>
            <p:nvPr/>
          </p:nvSpPr>
          <p:spPr bwMode="auto">
            <a:xfrm>
              <a:off x="4256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23" name="Line 655"/>
            <p:cNvSpPr>
              <a:spLocks noChangeShapeType="1"/>
            </p:cNvSpPr>
            <p:nvPr/>
          </p:nvSpPr>
          <p:spPr bwMode="auto">
            <a:xfrm flipH="1">
              <a:off x="3605" y="2013"/>
              <a:ext cx="3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124" name="Line 656"/>
            <p:cNvSpPr>
              <a:spLocks noChangeShapeType="1"/>
            </p:cNvSpPr>
            <p:nvPr/>
          </p:nvSpPr>
          <p:spPr bwMode="auto">
            <a:xfrm>
              <a:off x="2938" y="199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25" name="Line 657"/>
            <p:cNvSpPr>
              <a:spLocks noChangeShapeType="1"/>
            </p:cNvSpPr>
            <p:nvPr/>
          </p:nvSpPr>
          <p:spPr bwMode="auto">
            <a:xfrm>
              <a:off x="2292" y="2011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126" name="Oval 658"/>
            <p:cNvSpPr>
              <a:spLocks noChangeArrowheads="1"/>
            </p:cNvSpPr>
            <p:nvPr/>
          </p:nvSpPr>
          <p:spPr bwMode="auto">
            <a:xfrm>
              <a:off x="2270" y="2110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27" name="Oval 659"/>
            <p:cNvSpPr>
              <a:spLocks noChangeArrowheads="1"/>
            </p:cNvSpPr>
            <p:nvPr/>
          </p:nvSpPr>
          <p:spPr bwMode="auto">
            <a:xfrm>
              <a:off x="2915" y="2106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42128" name="Oval 660"/>
            <p:cNvSpPr>
              <a:spLocks noChangeArrowheads="1"/>
            </p:cNvSpPr>
            <p:nvPr/>
          </p:nvSpPr>
          <p:spPr bwMode="auto">
            <a:xfrm>
              <a:off x="3579" y="2103"/>
              <a:ext cx="47" cy="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 sz="1400" b="1"/>
            </a:p>
          </p:txBody>
        </p:sp>
      </p:grpSp>
      <p:sp>
        <p:nvSpPr>
          <p:cNvPr id="42058" name="Line 697"/>
          <p:cNvSpPr>
            <a:spLocks noChangeShapeType="1"/>
          </p:cNvSpPr>
          <p:nvPr/>
        </p:nvSpPr>
        <p:spPr bwMode="auto">
          <a:xfrm flipH="1">
            <a:off x="917575" y="2384425"/>
            <a:ext cx="8397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59" name="Text Box 698"/>
          <p:cNvSpPr txBox="1">
            <a:spLocks noChangeArrowheads="1"/>
          </p:cNvSpPr>
          <p:nvPr/>
        </p:nvSpPr>
        <p:spPr bwMode="auto">
          <a:xfrm>
            <a:off x="933450" y="2095500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A0</a:t>
            </a:r>
          </a:p>
        </p:txBody>
      </p:sp>
      <p:sp>
        <p:nvSpPr>
          <p:cNvPr id="42060" name="Line 699"/>
          <p:cNvSpPr>
            <a:spLocks noChangeShapeType="1"/>
          </p:cNvSpPr>
          <p:nvPr/>
        </p:nvSpPr>
        <p:spPr bwMode="auto">
          <a:xfrm flipH="1">
            <a:off x="917575" y="2933700"/>
            <a:ext cx="849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61" name="Text Box 700"/>
          <p:cNvSpPr txBox="1">
            <a:spLocks noChangeArrowheads="1"/>
          </p:cNvSpPr>
          <p:nvPr/>
        </p:nvSpPr>
        <p:spPr bwMode="auto">
          <a:xfrm>
            <a:off x="933450" y="2644775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A1</a:t>
            </a:r>
          </a:p>
        </p:txBody>
      </p:sp>
      <p:sp>
        <p:nvSpPr>
          <p:cNvPr id="42062" name="Line 701"/>
          <p:cNvSpPr>
            <a:spLocks noChangeShapeType="1"/>
          </p:cNvSpPr>
          <p:nvPr/>
        </p:nvSpPr>
        <p:spPr bwMode="auto">
          <a:xfrm flipH="1">
            <a:off x="896938" y="3522663"/>
            <a:ext cx="868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2063" name="Text Box 702"/>
          <p:cNvSpPr txBox="1">
            <a:spLocks noChangeArrowheads="1"/>
          </p:cNvSpPr>
          <p:nvPr/>
        </p:nvSpPr>
        <p:spPr bwMode="auto">
          <a:xfrm>
            <a:off x="903288" y="3233738"/>
            <a:ext cx="3952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CS</a:t>
            </a:r>
          </a:p>
        </p:txBody>
      </p:sp>
      <p:sp>
        <p:nvSpPr>
          <p:cNvPr id="42064" name="Line 703"/>
          <p:cNvSpPr>
            <a:spLocks noChangeShapeType="1"/>
          </p:cNvSpPr>
          <p:nvPr/>
        </p:nvSpPr>
        <p:spPr bwMode="auto">
          <a:xfrm>
            <a:off x="987425" y="3279775"/>
            <a:ext cx="234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2080" name="Text Box 719"/>
          <p:cNvSpPr txBox="1">
            <a:spLocks noChangeArrowheads="1"/>
          </p:cNvSpPr>
          <p:nvPr/>
        </p:nvSpPr>
        <p:spPr bwMode="auto">
          <a:xfrm>
            <a:off x="2338388" y="30178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(OE0)D0..D3</a:t>
            </a:r>
          </a:p>
        </p:txBody>
      </p:sp>
      <p:sp>
        <p:nvSpPr>
          <p:cNvPr id="42081" name="Text Box 720"/>
          <p:cNvSpPr txBox="1">
            <a:spLocks noChangeArrowheads="1"/>
          </p:cNvSpPr>
          <p:nvPr/>
        </p:nvSpPr>
        <p:spPr bwMode="auto">
          <a:xfrm>
            <a:off x="2309813" y="394176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(OE1)D0..D3</a:t>
            </a:r>
          </a:p>
        </p:txBody>
      </p:sp>
      <p:sp>
        <p:nvSpPr>
          <p:cNvPr id="42082" name="Text Box 721"/>
          <p:cNvSpPr txBox="1">
            <a:spLocks noChangeArrowheads="1"/>
          </p:cNvSpPr>
          <p:nvPr/>
        </p:nvSpPr>
        <p:spPr bwMode="auto">
          <a:xfrm>
            <a:off x="2319338" y="4808538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(OE2)D0..D3</a:t>
            </a:r>
          </a:p>
        </p:txBody>
      </p:sp>
      <p:sp>
        <p:nvSpPr>
          <p:cNvPr id="42083" name="Text Box 722"/>
          <p:cNvSpPr txBox="1">
            <a:spLocks noChangeArrowheads="1"/>
          </p:cNvSpPr>
          <p:nvPr/>
        </p:nvSpPr>
        <p:spPr bwMode="auto">
          <a:xfrm>
            <a:off x="2328863" y="5751513"/>
            <a:ext cx="915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000" b="1"/>
              <a:t>(OE3)D0..D3</a:t>
            </a:r>
          </a:p>
        </p:txBody>
      </p:sp>
      <p:sp>
        <p:nvSpPr>
          <p:cNvPr id="42084" name="Line 723"/>
          <p:cNvSpPr>
            <a:spLocks noChangeShapeType="1"/>
          </p:cNvSpPr>
          <p:nvPr/>
        </p:nvSpPr>
        <p:spPr bwMode="auto">
          <a:xfrm>
            <a:off x="2479675" y="306070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2085" name="Line 724"/>
          <p:cNvSpPr>
            <a:spLocks noChangeShapeType="1"/>
          </p:cNvSpPr>
          <p:nvPr/>
        </p:nvSpPr>
        <p:spPr bwMode="auto">
          <a:xfrm>
            <a:off x="2460625" y="398462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2086" name="Line 725"/>
          <p:cNvSpPr>
            <a:spLocks noChangeShapeType="1"/>
          </p:cNvSpPr>
          <p:nvPr/>
        </p:nvSpPr>
        <p:spPr bwMode="auto">
          <a:xfrm>
            <a:off x="2479675" y="4841875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2087" name="Line 726"/>
          <p:cNvSpPr>
            <a:spLocks noChangeShapeType="1"/>
          </p:cNvSpPr>
          <p:nvPr/>
        </p:nvSpPr>
        <p:spPr bwMode="auto">
          <a:xfrm>
            <a:off x="2470150" y="5784850"/>
            <a:ext cx="209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2088" name="Text Box 727"/>
          <p:cNvSpPr txBox="1">
            <a:spLocks noChangeArrowheads="1"/>
          </p:cNvSpPr>
          <p:nvPr/>
        </p:nvSpPr>
        <p:spPr bwMode="auto">
          <a:xfrm rot="-5400000">
            <a:off x="1119981" y="3475832"/>
            <a:ext cx="1889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/>
              <a:t>Memory decoding logic</a:t>
            </a:r>
          </a:p>
        </p:txBody>
      </p:sp>
      <p:sp>
        <p:nvSpPr>
          <p:cNvPr id="2" name="Delay 1"/>
          <p:cNvSpPr/>
          <p:nvPr/>
        </p:nvSpPr>
        <p:spPr>
          <a:xfrm rot="16200000">
            <a:off x="3638550" y="2000251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170801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Vcc</a:t>
            </a:r>
            <a:endParaRPr lang="en-US" dirty="0"/>
          </a:p>
        </p:txBody>
      </p:sp>
      <p:cxnSp>
        <p:nvCxnSpPr>
          <p:cNvPr id="5" name="Straight Connector 4"/>
          <p:cNvCxnSpPr>
            <a:stCxn id="3" idx="2"/>
          </p:cNvCxnSpPr>
          <p:nvPr/>
        </p:nvCxnSpPr>
        <p:spPr>
          <a:xfrm>
            <a:off x="3314700" y="1447800"/>
            <a:ext cx="38100" cy="411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310082" y="2667000"/>
            <a:ext cx="4156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Straight Connector 370"/>
          <p:cNvCxnSpPr/>
          <p:nvPr/>
        </p:nvCxnSpPr>
        <p:spPr>
          <a:xfrm flipV="1">
            <a:off x="3733800" y="2362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5" name="Straight Connector 374"/>
          <p:cNvCxnSpPr>
            <a:stCxn id="42149" idx="0"/>
          </p:cNvCxnSpPr>
          <p:nvPr/>
        </p:nvCxnSpPr>
        <p:spPr>
          <a:xfrm flipV="1">
            <a:off x="3956050" y="2362200"/>
            <a:ext cx="6350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9" name="Straight Connector 378"/>
          <p:cNvCxnSpPr/>
          <p:nvPr/>
        </p:nvCxnSpPr>
        <p:spPr>
          <a:xfrm flipV="1">
            <a:off x="3886200" y="1981200"/>
            <a:ext cx="3810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77200" y="91440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Ground 0V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8305800" y="1524000"/>
            <a:ext cx="0" cy="990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1" name="Delay 390"/>
          <p:cNvSpPr/>
          <p:nvPr/>
        </p:nvSpPr>
        <p:spPr>
          <a:xfrm rot="16200000">
            <a:off x="3638550" y="4972050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392" name="Straight Connector 391"/>
          <p:cNvCxnSpPr/>
          <p:nvPr/>
        </p:nvCxnSpPr>
        <p:spPr>
          <a:xfrm flipV="1">
            <a:off x="3962400" y="5253037"/>
            <a:ext cx="6350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3" name="Straight Connector 392"/>
          <p:cNvCxnSpPr/>
          <p:nvPr/>
        </p:nvCxnSpPr>
        <p:spPr>
          <a:xfrm flipV="1">
            <a:off x="3886200" y="4952999"/>
            <a:ext cx="3810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2" name="Straight Connector 401"/>
          <p:cNvCxnSpPr/>
          <p:nvPr/>
        </p:nvCxnSpPr>
        <p:spPr>
          <a:xfrm>
            <a:off x="3352800" y="5562600"/>
            <a:ext cx="38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3" name="Straight Connector 402"/>
          <p:cNvCxnSpPr/>
          <p:nvPr/>
        </p:nvCxnSpPr>
        <p:spPr>
          <a:xfrm flipV="1">
            <a:off x="3733800" y="52578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5181600" y="2514600"/>
            <a:ext cx="3124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Delay 112"/>
          <p:cNvSpPr/>
          <p:nvPr/>
        </p:nvSpPr>
        <p:spPr>
          <a:xfrm rot="16200000">
            <a:off x="4857750" y="2000250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14" name="Straight Connector 113"/>
          <p:cNvCxnSpPr/>
          <p:nvPr/>
        </p:nvCxnSpPr>
        <p:spPr>
          <a:xfrm flipV="1">
            <a:off x="4976927" y="2362200"/>
            <a:ext cx="9297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5172303" y="2286000"/>
            <a:ext cx="9297" cy="233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13" idx="3"/>
            <a:endCxn id="42018" idx="4"/>
          </p:cNvCxnSpPr>
          <p:nvPr/>
        </p:nvCxnSpPr>
        <p:spPr>
          <a:xfrm>
            <a:off x="5067300" y="1981200"/>
            <a:ext cx="215107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Delay 124"/>
          <p:cNvSpPr/>
          <p:nvPr/>
        </p:nvSpPr>
        <p:spPr>
          <a:xfrm rot="16200000">
            <a:off x="5875337" y="1997075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26" name="Straight Connector 125"/>
          <p:cNvCxnSpPr/>
          <p:nvPr/>
        </p:nvCxnSpPr>
        <p:spPr>
          <a:xfrm flipV="1">
            <a:off x="6189890" y="2282825"/>
            <a:ext cx="9297" cy="233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125" idx="3"/>
          </p:cNvCxnSpPr>
          <p:nvPr/>
        </p:nvCxnSpPr>
        <p:spPr>
          <a:xfrm>
            <a:off x="6084887" y="1978025"/>
            <a:ext cx="215107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flipV="1">
            <a:off x="6045200" y="2400300"/>
            <a:ext cx="9297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Delay 129"/>
          <p:cNvSpPr/>
          <p:nvPr/>
        </p:nvSpPr>
        <p:spPr>
          <a:xfrm rot="16200000">
            <a:off x="6901894" y="1995486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31" name="Straight Connector 130"/>
          <p:cNvCxnSpPr/>
          <p:nvPr/>
        </p:nvCxnSpPr>
        <p:spPr>
          <a:xfrm flipV="1">
            <a:off x="7216447" y="2281236"/>
            <a:ext cx="9297" cy="233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130" idx="3"/>
          </p:cNvCxnSpPr>
          <p:nvPr/>
        </p:nvCxnSpPr>
        <p:spPr>
          <a:xfrm>
            <a:off x="7111444" y="1976436"/>
            <a:ext cx="215107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V="1">
            <a:off x="7071757" y="2357437"/>
            <a:ext cx="9297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3721100" y="5562600"/>
            <a:ext cx="3200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4800600" y="52578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Delay 111"/>
          <p:cNvSpPr/>
          <p:nvPr/>
        </p:nvSpPr>
        <p:spPr>
          <a:xfrm rot="16200000">
            <a:off x="4654550" y="4984750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15" name="Straight Connector 114"/>
          <p:cNvCxnSpPr/>
          <p:nvPr/>
        </p:nvCxnSpPr>
        <p:spPr>
          <a:xfrm flipV="1">
            <a:off x="4902200" y="4965699"/>
            <a:ext cx="3810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4997450" y="5257800"/>
            <a:ext cx="6350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09800" y="6248400"/>
            <a:ext cx="51054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“Hard Coded” </a:t>
            </a:r>
            <a:r>
              <a:rPr lang="en-US" dirty="0">
                <a:sym typeface="Wingdings"/>
              </a:rPr>
              <a:t> “Hard Wired”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09600" y="3657600"/>
            <a:ext cx="4572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" y="4645295"/>
            <a:ext cx="175183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Simple Control Wiring to Enable/Select the Chip</a:t>
            </a:r>
          </a:p>
        </p:txBody>
      </p:sp>
      <p:cxnSp>
        <p:nvCxnSpPr>
          <p:cNvPr id="118" name="Straight Connector 117"/>
          <p:cNvCxnSpPr/>
          <p:nvPr/>
        </p:nvCxnSpPr>
        <p:spPr>
          <a:xfrm flipV="1">
            <a:off x="5854700" y="5245101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Delay 119"/>
          <p:cNvSpPr/>
          <p:nvPr/>
        </p:nvSpPr>
        <p:spPr>
          <a:xfrm rot="16200000">
            <a:off x="5708650" y="4972051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1" name="Straight Connector 120"/>
          <p:cNvCxnSpPr/>
          <p:nvPr/>
        </p:nvCxnSpPr>
        <p:spPr>
          <a:xfrm flipV="1">
            <a:off x="5956300" y="4953000"/>
            <a:ext cx="3810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6051550" y="5245101"/>
            <a:ext cx="6350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V="1">
            <a:off x="6896100" y="5245101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Delay 123"/>
          <p:cNvSpPr/>
          <p:nvPr/>
        </p:nvSpPr>
        <p:spPr>
          <a:xfrm rot="16200000">
            <a:off x="6750050" y="4959351"/>
            <a:ext cx="419100" cy="381000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9" name="Straight Connector 128"/>
          <p:cNvCxnSpPr/>
          <p:nvPr/>
        </p:nvCxnSpPr>
        <p:spPr>
          <a:xfrm flipV="1">
            <a:off x="6997700" y="4940300"/>
            <a:ext cx="3810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flipV="1">
            <a:off x="7092950" y="5232401"/>
            <a:ext cx="6350" cy="461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Explosion 1 10"/>
          <p:cNvSpPr/>
          <p:nvPr/>
        </p:nvSpPr>
        <p:spPr>
          <a:xfrm>
            <a:off x="3581400" y="3124200"/>
            <a:ext cx="4191000" cy="137160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18698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-167877" y="0"/>
            <a:ext cx="9525793" cy="688975"/>
          </a:xfrm>
        </p:spPr>
        <p:txBody>
          <a:bodyPr/>
          <a:lstStyle/>
          <a:p>
            <a:r>
              <a:rPr lang="en-US" sz="5200" dirty="0"/>
              <a:t>Busses Working With Memory</a:t>
            </a:r>
          </a:p>
        </p:txBody>
      </p:sp>
      <p:grpSp>
        <p:nvGrpSpPr>
          <p:cNvPr id="68612" name="Group 64"/>
          <p:cNvGrpSpPr>
            <a:grpSpLocks/>
          </p:cNvGrpSpPr>
          <p:nvPr/>
        </p:nvGrpSpPr>
        <p:grpSpPr bwMode="auto">
          <a:xfrm>
            <a:off x="4522788" y="1852612"/>
            <a:ext cx="1601787" cy="1938338"/>
            <a:chOff x="1052" y="1581"/>
            <a:chExt cx="1009" cy="1221"/>
          </a:xfrm>
        </p:grpSpPr>
        <p:sp>
          <p:nvSpPr>
            <p:cNvPr id="68854" name="Rectangle 4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55" name="Line 5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6" name="Line 6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7" name="Line 7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8" name="Line 8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9" name="Line 9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0" name="Line 10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1" name="Line 11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2" name="Line 12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3" name="Line 13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4" name="Line 14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5" name="Line 15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6" name="Line 16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7" name="Line 17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8" name="Line 18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69" name="Line 19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70" name="Text Box 21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71" name="Text Box 22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72" name="Text Box 23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73" name="Text Box 24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74" name="Text Box 25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75" name="Text Box 26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76" name="Text Box 27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77" name="Text Box 28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78" name="Text Box 29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79" name="Text Box 30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80" name="Text Box 31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81" name="Text Box 32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82" name="Text Box 33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83" name="Text Box 34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84" name="Text Box 35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85" name="Line 3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6" name="Line 3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7" name="Line 3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8" name="Line 4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89" name="Line 4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0" name="Line 4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1" name="Line 4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2" name="Line 4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93" name="Text Box 4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94" name="Text Box 4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95" name="Text Box 4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96" name="Text Box 4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97" name="Text Box 4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98" name="Text Box 5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99" name="Text Box 5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900" name="Text Box 5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901" name="Oval 5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2" name="Oval 5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3" name="Oval 56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904" name="Text Box 57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905" name="Line 58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6" name="Text Box 59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907" name="Line 60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908" name="Text Box 62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909" name="Line 63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3" name="Group 65"/>
          <p:cNvGrpSpPr>
            <a:grpSpLocks/>
          </p:cNvGrpSpPr>
          <p:nvPr/>
        </p:nvGrpSpPr>
        <p:grpSpPr bwMode="auto">
          <a:xfrm>
            <a:off x="6524625" y="1843087"/>
            <a:ext cx="1601788" cy="1938338"/>
            <a:chOff x="1052" y="1581"/>
            <a:chExt cx="1009" cy="1221"/>
          </a:xfrm>
        </p:grpSpPr>
        <p:sp>
          <p:nvSpPr>
            <p:cNvPr id="68798" name="Rectangle 66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9" name="Line 67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0" name="Line 68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1" name="Line 69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2" name="Line 70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3" name="Line 71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4" name="Line 72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5" name="Line 73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6" name="Line 74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7" name="Line 75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8" name="Line 76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09" name="Line 77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0" name="Line 78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1" name="Line 79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2" name="Line 80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3" name="Line 81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14" name="Text Box 82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815" name="Text Box 83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816" name="Text Box 84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817" name="Text Box 85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818" name="Text Box 86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819" name="Text Box 87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820" name="Text Box 88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821" name="Text Box 89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822" name="Text Box 90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823" name="Text Box 91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824" name="Text Box 92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825" name="Text Box 93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826" name="Text Box 94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827" name="Text Box 95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828" name="Text Box 96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829" name="Line 97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0" name="Line 98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1" name="Line 99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2" name="Line 100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3" name="Line 101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4" name="Line 102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5" name="Line 103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6" name="Line 104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37" name="Text Box 105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838" name="Text Box 106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839" name="Text Box 107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840" name="Text Box 108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841" name="Text Box 109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842" name="Text Box 110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843" name="Text Box 111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844" name="Text Box 112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845" name="Oval 113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6" name="Oval 114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7" name="Oval 115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848" name="Text Box 116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849" name="Line 117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0" name="Text Box 118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851" name="Line 119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852" name="Text Box 120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853" name="Line 121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4" name="Group 122"/>
          <p:cNvGrpSpPr>
            <a:grpSpLocks/>
          </p:cNvGrpSpPr>
          <p:nvPr/>
        </p:nvGrpSpPr>
        <p:grpSpPr bwMode="auto">
          <a:xfrm>
            <a:off x="4532313" y="4037012"/>
            <a:ext cx="1601787" cy="1938338"/>
            <a:chOff x="1052" y="1581"/>
            <a:chExt cx="1009" cy="1221"/>
          </a:xfrm>
        </p:grpSpPr>
        <p:sp>
          <p:nvSpPr>
            <p:cNvPr id="68742" name="Rectangle 123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43" name="Line 124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4" name="Line 125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5" name="Line 126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6" name="Line 127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7" name="Line 128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8" name="Line 129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9" name="Line 130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0" name="Line 131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1" name="Line 132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2" name="Line 133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3" name="Line 134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4" name="Line 135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5" name="Line 136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6" name="Line 137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7" name="Line 138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58" name="Text Box 139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59" name="Text Box 140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60" name="Text Box 141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61" name="Text Box 142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62" name="Text Box 143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63" name="Text Box 144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64" name="Text Box 145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65" name="Text Box 146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66" name="Text Box 147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67" name="Text Box 148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68" name="Text Box 149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69" name="Text Box 150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70" name="Text Box 151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71" name="Text Box 152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72" name="Text Box 153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73" name="Line 154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4" name="Line 155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5" name="Line 156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6" name="Line 157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7" name="Line 158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8" name="Line 159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79" name="Line 160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0" name="Line 161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81" name="Text Box 162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82" name="Text Box 163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83" name="Text Box 164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84" name="Text Box 165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85" name="Text Box 166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86" name="Text Box 167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87" name="Text Box 168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88" name="Text Box 169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89" name="Oval 170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0" name="Oval 171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1" name="Oval 172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92" name="Text Box 173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93" name="Line 174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4" name="Text Box 175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95" name="Line 176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96" name="Text Box 177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97" name="Line 178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8615" name="Group 179"/>
          <p:cNvGrpSpPr>
            <a:grpSpLocks/>
          </p:cNvGrpSpPr>
          <p:nvPr/>
        </p:nvGrpSpPr>
        <p:grpSpPr bwMode="auto">
          <a:xfrm>
            <a:off x="6564313" y="4037012"/>
            <a:ext cx="1601787" cy="1938338"/>
            <a:chOff x="1052" y="1581"/>
            <a:chExt cx="1009" cy="1221"/>
          </a:xfrm>
        </p:grpSpPr>
        <p:sp>
          <p:nvSpPr>
            <p:cNvPr id="68686" name="Rectangle 180"/>
            <p:cNvSpPr>
              <a:spLocks noChangeArrowheads="1"/>
            </p:cNvSpPr>
            <p:nvPr/>
          </p:nvSpPr>
          <p:spPr bwMode="auto">
            <a:xfrm>
              <a:off x="1359" y="1632"/>
              <a:ext cx="397" cy="11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687" name="Line 181"/>
            <p:cNvSpPr>
              <a:spLocks noChangeShapeType="1"/>
            </p:cNvSpPr>
            <p:nvPr/>
          </p:nvSpPr>
          <p:spPr bwMode="auto">
            <a:xfrm flipH="1">
              <a:off x="1056" y="172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8" name="Line 182"/>
            <p:cNvSpPr>
              <a:spLocks noChangeShapeType="1"/>
            </p:cNvSpPr>
            <p:nvPr/>
          </p:nvSpPr>
          <p:spPr bwMode="auto">
            <a:xfrm flipH="1">
              <a:off x="1055" y="179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89" name="Line 183"/>
            <p:cNvSpPr>
              <a:spLocks noChangeShapeType="1"/>
            </p:cNvSpPr>
            <p:nvPr/>
          </p:nvSpPr>
          <p:spPr bwMode="auto">
            <a:xfrm flipH="1">
              <a:off x="1056" y="184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0" name="Line 184"/>
            <p:cNvSpPr>
              <a:spLocks noChangeShapeType="1"/>
            </p:cNvSpPr>
            <p:nvPr/>
          </p:nvSpPr>
          <p:spPr bwMode="auto">
            <a:xfrm flipH="1">
              <a:off x="1055" y="191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1" name="Line 185"/>
            <p:cNvSpPr>
              <a:spLocks noChangeShapeType="1"/>
            </p:cNvSpPr>
            <p:nvPr/>
          </p:nvSpPr>
          <p:spPr bwMode="auto">
            <a:xfrm flipH="1">
              <a:off x="1053" y="197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2" name="Line 186"/>
            <p:cNvSpPr>
              <a:spLocks noChangeShapeType="1"/>
            </p:cNvSpPr>
            <p:nvPr/>
          </p:nvSpPr>
          <p:spPr bwMode="auto">
            <a:xfrm flipH="1">
              <a:off x="1052" y="20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3" name="Line 187"/>
            <p:cNvSpPr>
              <a:spLocks noChangeShapeType="1"/>
            </p:cNvSpPr>
            <p:nvPr/>
          </p:nvSpPr>
          <p:spPr bwMode="auto">
            <a:xfrm flipH="1">
              <a:off x="1053" y="20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4" name="Line 188"/>
            <p:cNvSpPr>
              <a:spLocks noChangeShapeType="1"/>
            </p:cNvSpPr>
            <p:nvPr/>
          </p:nvSpPr>
          <p:spPr bwMode="auto">
            <a:xfrm flipH="1">
              <a:off x="1052" y="215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5" name="Line 189"/>
            <p:cNvSpPr>
              <a:spLocks noChangeShapeType="1"/>
            </p:cNvSpPr>
            <p:nvPr/>
          </p:nvSpPr>
          <p:spPr bwMode="auto">
            <a:xfrm flipH="1">
              <a:off x="1056" y="221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6" name="Line 190"/>
            <p:cNvSpPr>
              <a:spLocks noChangeShapeType="1"/>
            </p:cNvSpPr>
            <p:nvPr/>
          </p:nvSpPr>
          <p:spPr bwMode="auto">
            <a:xfrm flipH="1">
              <a:off x="1055" y="228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7" name="Line 191"/>
            <p:cNvSpPr>
              <a:spLocks noChangeShapeType="1"/>
            </p:cNvSpPr>
            <p:nvPr/>
          </p:nvSpPr>
          <p:spPr bwMode="auto">
            <a:xfrm flipH="1">
              <a:off x="1056" y="2339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8" name="Line 192"/>
            <p:cNvSpPr>
              <a:spLocks noChangeShapeType="1"/>
            </p:cNvSpPr>
            <p:nvPr/>
          </p:nvSpPr>
          <p:spPr bwMode="auto">
            <a:xfrm flipH="1">
              <a:off x="1055" y="240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99" name="Line 193"/>
            <p:cNvSpPr>
              <a:spLocks noChangeShapeType="1"/>
            </p:cNvSpPr>
            <p:nvPr/>
          </p:nvSpPr>
          <p:spPr bwMode="auto">
            <a:xfrm flipH="1">
              <a:off x="1053" y="2478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0" name="Line 194"/>
            <p:cNvSpPr>
              <a:spLocks noChangeShapeType="1"/>
            </p:cNvSpPr>
            <p:nvPr/>
          </p:nvSpPr>
          <p:spPr bwMode="auto">
            <a:xfrm flipH="1">
              <a:off x="1052" y="253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1" name="Line 195"/>
            <p:cNvSpPr>
              <a:spLocks noChangeShapeType="1"/>
            </p:cNvSpPr>
            <p:nvPr/>
          </p:nvSpPr>
          <p:spPr bwMode="auto">
            <a:xfrm flipH="1">
              <a:off x="1057" y="259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2" name="Text Box 196"/>
            <p:cNvSpPr txBox="1">
              <a:spLocks noChangeArrowheads="1"/>
            </p:cNvSpPr>
            <p:nvPr/>
          </p:nvSpPr>
          <p:spPr bwMode="auto">
            <a:xfrm>
              <a:off x="1335" y="165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A0</a:t>
              </a:r>
            </a:p>
          </p:txBody>
        </p:sp>
        <p:sp>
          <p:nvSpPr>
            <p:cNvPr id="68703" name="Text Box 197"/>
            <p:cNvSpPr txBox="1">
              <a:spLocks noChangeArrowheads="1"/>
            </p:cNvSpPr>
            <p:nvPr/>
          </p:nvSpPr>
          <p:spPr bwMode="auto">
            <a:xfrm>
              <a:off x="1339" y="171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</a:t>
              </a:r>
            </a:p>
          </p:txBody>
        </p:sp>
        <p:sp>
          <p:nvSpPr>
            <p:cNvPr id="68704" name="Text Box 198"/>
            <p:cNvSpPr txBox="1">
              <a:spLocks noChangeArrowheads="1"/>
            </p:cNvSpPr>
            <p:nvPr/>
          </p:nvSpPr>
          <p:spPr bwMode="auto">
            <a:xfrm>
              <a:off x="1338" y="178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A2</a:t>
              </a:r>
            </a:p>
          </p:txBody>
        </p:sp>
        <p:sp>
          <p:nvSpPr>
            <p:cNvPr id="68705" name="Text Box 199"/>
            <p:cNvSpPr txBox="1">
              <a:spLocks noChangeArrowheads="1"/>
            </p:cNvSpPr>
            <p:nvPr/>
          </p:nvSpPr>
          <p:spPr bwMode="auto">
            <a:xfrm>
              <a:off x="1339" y="184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A3</a:t>
              </a:r>
            </a:p>
          </p:txBody>
        </p:sp>
        <p:sp>
          <p:nvSpPr>
            <p:cNvPr id="68706" name="Text Box 200"/>
            <p:cNvSpPr txBox="1">
              <a:spLocks noChangeArrowheads="1"/>
            </p:cNvSpPr>
            <p:nvPr/>
          </p:nvSpPr>
          <p:spPr bwMode="auto">
            <a:xfrm>
              <a:off x="1335" y="190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A4</a:t>
              </a:r>
            </a:p>
          </p:txBody>
        </p:sp>
        <p:sp>
          <p:nvSpPr>
            <p:cNvPr id="68707" name="Text Box 201"/>
            <p:cNvSpPr txBox="1">
              <a:spLocks noChangeArrowheads="1"/>
            </p:cNvSpPr>
            <p:nvPr/>
          </p:nvSpPr>
          <p:spPr bwMode="auto">
            <a:xfrm>
              <a:off x="1339" y="1966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A5</a:t>
              </a:r>
            </a:p>
          </p:txBody>
        </p:sp>
        <p:sp>
          <p:nvSpPr>
            <p:cNvPr id="68708" name="Text Box 202"/>
            <p:cNvSpPr txBox="1">
              <a:spLocks noChangeArrowheads="1"/>
            </p:cNvSpPr>
            <p:nvPr/>
          </p:nvSpPr>
          <p:spPr bwMode="auto">
            <a:xfrm>
              <a:off x="1338" y="2032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A6</a:t>
              </a:r>
            </a:p>
          </p:txBody>
        </p:sp>
        <p:sp>
          <p:nvSpPr>
            <p:cNvPr id="68709" name="Text Box 203"/>
            <p:cNvSpPr txBox="1">
              <a:spLocks noChangeArrowheads="1"/>
            </p:cNvSpPr>
            <p:nvPr/>
          </p:nvSpPr>
          <p:spPr bwMode="auto">
            <a:xfrm>
              <a:off x="1339" y="209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A7</a:t>
              </a:r>
            </a:p>
          </p:txBody>
        </p:sp>
        <p:sp>
          <p:nvSpPr>
            <p:cNvPr id="68710" name="Text Box 204"/>
            <p:cNvSpPr txBox="1">
              <a:spLocks noChangeArrowheads="1"/>
            </p:cNvSpPr>
            <p:nvPr/>
          </p:nvSpPr>
          <p:spPr bwMode="auto">
            <a:xfrm>
              <a:off x="1332" y="215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A8</a:t>
              </a:r>
            </a:p>
          </p:txBody>
        </p:sp>
        <p:sp>
          <p:nvSpPr>
            <p:cNvPr id="68711" name="Text Box 205"/>
            <p:cNvSpPr txBox="1">
              <a:spLocks noChangeArrowheads="1"/>
            </p:cNvSpPr>
            <p:nvPr/>
          </p:nvSpPr>
          <p:spPr bwMode="auto">
            <a:xfrm>
              <a:off x="1336" y="2215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A9</a:t>
              </a:r>
            </a:p>
          </p:txBody>
        </p:sp>
        <p:sp>
          <p:nvSpPr>
            <p:cNvPr id="68712" name="Text Box 206"/>
            <p:cNvSpPr txBox="1">
              <a:spLocks noChangeArrowheads="1"/>
            </p:cNvSpPr>
            <p:nvPr/>
          </p:nvSpPr>
          <p:spPr bwMode="auto">
            <a:xfrm>
              <a:off x="1317" y="228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A10</a:t>
              </a:r>
            </a:p>
          </p:txBody>
        </p:sp>
        <p:sp>
          <p:nvSpPr>
            <p:cNvPr id="68713" name="Text Box 207"/>
            <p:cNvSpPr txBox="1">
              <a:spLocks noChangeArrowheads="1"/>
            </p:cNvSpPr>
            <p:nvPr/>
          </p:nvSpPr>
          <p:spPr bwMode="auto">
            <a:xfrm>
              <a:off x="1318" y="2346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A11</a:t>
              </a:r>
            </a:p>
          </p:txBody>
        </p:sp>
        <p:sp>
          <p:nvSpPr>
            <p:cNvPr id="68714" name="Text Box 208"/>
            <p:cNvSpPr txBox="1">
              <a:spLocks noChangeArrowheads="1"/>
            </p:cNvSpPr>
            <p:nvPr/>
          </p:nvSpPr>
          <p:spPr bwMode="auto">
            <a:xfrm>
              <a:off x="1314" y="2404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A12</a:t>
              </a:r>
            </a:p>
          </p:txBody>
        </p:sp>
        <p:sp>
          <p:nvSpPr>
            <p:cNvPr id="68715" name="Text Box 209"/>
            <p:cNvSpPr txBox="1">
              <a:spLocks noChangeArrowheads="1"/>
            </p:cNvSpPr>
            <p:nvPr/>
          </p:nvSpPr>
          <p:spPr bwMode="auto">
            <a:xfrm>
              <a:off x="1318" y="2465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A13</a:t>
              </a:r>
            </a:p>
          </p:txBody>
        </p:sp>
        <p:sp>
          <p:nvSpPr>
            <p:cNvPr id="68716" name="Text Box 210"/>
            <p:cNvSpPr txBox="1">
              <a:spLocks noChangeArrowheads="1"/>
            </p:cNvSpPr>
            <p:nvPr/>
          </p:nvSpPr>
          <p:spPr bwMode="auto">
            <a:xfrm>
              <a:off x="1317" y="2531"/>
              <a:ext cx="23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A14</a:t>
              </a:r>
            </a:p>
          </p:txBody>
        </p:sp>
        <p:sp>
          <p:nvSpPr>
            <p:cNvPr id="68717" name="Line 211"/>
            <p:cNvSpPr>
              <a:spLocks noChangeShapeType="1"/>
            </p:cNvSpPr>
            <p:nvPr/>
          </p:nvSpPr>
          <p:spPr bwMode="auto">
            <a:xfrm flipH="1">
              <a:off x="1756" y="174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8" name="Line 212"/>
            <p:cNvSpPr>
              <a:spLocks noChangeShapeType="1"/>
            </p:cNvSpPr>
            <p:nvPr/>
          </p:nvSpPr>
          <p:spPr bwMode="auto">
            <a:xfrm flipH="1">
              <a:off x="1759" y="1844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19" name="Line 213"/>
            <p:cNvSpPr>
              <a:spLocks noChangeShapeType="1"/>
            </p:cNvSpPr>
            <p:nvPr/>
          </p:nvSpPr>
          <p:spPr bwMode="auto">
            <a:xfrm flipH="1">
              <a:off x="1757" y="198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0" name="Line 214"/>
            <p:cNvSpPr>
              <a:spLocks noChangeShapeType="1"/>
            </p:cNvSpPr>
            <p:nvPr/>
          </p:nvSpPr>
          <p:spPr bwMode="auto">
            <a:xfrm flipH="1">
              <a:off x="1756" y="2135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1" name="Line 215"/>
            <p:cNvSpPr>
              <a:spLocks noChangeShapeType="1"/>
            </p:cNvSpPr>
            <p:nvPr/>
          </p:nvSpPr>
          <p:spPr bwMode="auto">
            <a:xfrm flipH="1">
              <a:off x="1754" y="227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2" name="Line 216"/>
            <p:cNvSpPr>
              <a:spLocks noChangeShapeType="1"/>
            </p:cNvSpPr>
            <p:nvPr/>
          </p:nvSpPr>
          <p:spPr bwMode="auto">
            <a:xfrm flipH="1">
              <a:off x="1756" y="2386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3" name="Line 217"/>
            <p:cNvSpPr>
              <a:spLocks noChangeShapeType="1"/>
            </p:cNvSpPr>
            <p:nvPr/>
          </p:nvSpPr>
          <p:spPr bwMode="auto">
            <a:xfrm flipH="1">
              <a:off x="1761" y="2500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4" name="Line 218"/>
            <p:cNvSpPr>
              <a:spLocks noChangeShapeType="1"/>
            </p:cNvSpPr>
            <p:nvPr/>
          </p:nvSpPr>
          <p:spPr bwMode="auto">
            <a:xfrm flipH="1">
              <a:off x="1752" y="2597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25" name="Text Box 219"/>
            <p:cNvSpPr txBox="1">
              <a:spLocks noChangeArrowheads="1"/>
            </p:cNvSpPr>
            <p:nvPr/>
          </p:nvSpPr>
          <p:spPr bwMode="auto">
            <a:xfrm>
              <a:off x="1599" y="1667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D0</a:t>
              </a:r>
            </a:p>
          </p:txBody>
        </p:sp>
        <p:sp>
          <p:nvSpPr>
            <p:cNvPr id="68726" name="Text Box 220"/>
            <p:cNvSpPr txBox="1">
              <a:spLocks noChangeArrowheads="1"/>
            </p:cNvSpPr>
            <p:nvPr/>
          </p:nvSpPr>
          <p:spPr bwMode="auto">
            <a:xfrm>
              <a:off x="1604" y="178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D1</a:t>
              </a:r>
            </a:p>
          </p:txBody>
        </p:sp>
        <p:sp>
          <p:nvSpPr>
            <p:cNvPr id="68727" name="Text Box 221"/>
            <p:cNvSpPr txBox="1">
              <a:spLocks noChangeArrowheads="1"/>
            </p:cNvSpPr>
            <p:nvPr/>
          </p:nvSpPr>
          <p:spPr bwMode="auto">
            <a:xfrm>
              <a:off x="1603" y="1919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D2</a:t>
              </a:r>
            </a:p>
          </p:txBody>
        </p:sp>
        <p:sp>
          <p:nvSpPr>
            <p:cNvPr id="68728" name="Text Box 222"/>
            <p:cNvSpPr txBox="1">
              <a:spLocks noChangeArrowheads="1"/>
            </p:cNvSpPr>
            <p:nvPr/>
          </p:nvSpPr>
          <p:spPr bwMode="auto">
            <a:xfrm>
              <a:off x="1600" y="206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D3</a:t>
              </a:r>
            </a:p>
          </p:txBody>
        </p:sp>
        <p:sp>
          <p:nvSpPr>
            <p:cNvPr id="68729" name="Text Box 223"/>
            <p:cNvSpPr txBox="1">
              <a:spLocks noChangeArrowheads="1"/>
            </p:cNvSpPr>
            <p:nvPr/>
          </p:nvSpPr>
          <p:spPr bwMode="auto">
            <a:xfrm>
              <a:off x="1602" y="2190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D4</a:t>
              </a:r>
            </a:p>
          </p:txBody>
        </p:sp>
        <p:sp>
          <p:nvSpPr>
            <p:cNvPr id="68730" name="Text Box 224"/>
            <p:cNvSpPr txBox="1">
              <a:spLocks noChangeArrowheads="1"/>
            </p:cNvSpPr>
            <p:nvPr/>
          </p:nvSpPr>
          <p:spPr bwMode="auto">
            <a:xfrm>
              <a:off x="1604" y="232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D5</a:t>
              </a:r>
            </a:p>
          </p:txBody>
        </p:sp>
        <p:sp>
          <p:nvSpPr>
            <p:cNvPr id="68731" name="Text Box 225"/>
            <p:cNvSpPr txBox="1">
              <a:spLocks noChangeArrowheads="1"/>
            </p:cNvSpPr>
            <p:nvPr/>
          </p:nvSpPr>
          <p:spPr bwMode="auto">
            <a:xfrm>
              <a:off x="1602" y="2431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D6</a:t>
              </a:r>
            </a:p>
          </p:txBody>
        </p:sp>
        <p:sp>
          <p:nvSpPr>
            <p:cNvPr id="68732" name="Text Box 226"/>
            <p:cNvSpPr txBox="1">
              <a:spLocks noChangeArrowheads="1"/>
            </p:cNvSpPr>
            <p:nvPr/>
          </p:nvSpPr>
          <p:spPr bwMode="auto">
            <a:xfrm>
              <a:off x="1602" y="2534"/>
              <a:ext cx="19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D7</a:t>
              </a:r>
            </a:p>
          </p:txBody>
        </p:sp>
        <p:sp>
          <p:nvSpPr>
            <p:cNvPr id="68733" name="Oval 227"/>
            <p:cNvSpPr>
              <a:spLocks noChangeArrowheads="1"/>
            </p:cNvSpPr>
            <p:nvPr/>
          </p:nvSpPr>
          <p:spPr bwMode="auto">
            <a:xfrm>
              <a:off x="1463" y="2755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4" name="Oval 228"/>
            <p:cNvSpPr>
              <a:spLocks noChangeArrowheads="1"/>
            </p:cNvSpPr>
            <p:nvPr/>
          </p:nvSpPr>
          <p:spPr bwMode="auto">
            <a:xfrm>
              <a:off x="1613" y="2752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5" name="Oval 229"/>
            <p:cNvSpPr>
              <a:spLocks noChangeArrowheads="1"/>
            </p:cNvSpPr>
            <p:nvPr/>
          </p:nvSpPr>
          <p:spPr bwMode="auto">
            <a:xfrm>
              <a:off x="1534" y="1581"/>
              <a:ext cx="48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400" b="1"/>
            </a:p>
          </p:txBody>
        </p:sp>
        <p:sp>
          <p:nvSpPr>
            <p:cNvPr id="68736" name="Text Box 230"/>
            <p:cNvSpPr txBox="1">
              <a:spLocks noChangeArrowheads="1"/>
            </p:cNvSpPr>
            <p:nvPr/>
          </p:nvSpPr>
          <p:spPr bwMode="auto">
            <a:xfrm>
              <a:off x="1383" y="2643"/>
              <a:ext cx="20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OE</a:t>
              </a:r>
            </a:p>
          </p:txBody>
        </p:sp>
        <p:sp>
          <p:nvSpPr>
            <p:cNvPr id="68737" name="Line 231"/>
            <p:cNvSpPr>
              <a:spLocks noChangeShapeType="1"/>
            </p:cNvSpPr>
            <p:nvPr/>
          </p:nvSpPr>
          <p:spPr bwMode="auto">
            <a:xfrm>
              <a:off x="1450" y="2669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38" name="Text Box 232"/>
            <p:cNvSpPr txBox="1">
              <a:spLocks noChangeArrowheads="1"/>
            </p:cNvSpPr>
            <p:nvPr/>
          </p:nvSpPr>
          <p:spPr bwMode="auto">
            <a:xfrm>
              <a:off x="1529" y="2642"/>
              <a:ext cx="20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CE</a:t>
              </a:r>
            </a:p>
          </p:txBody>
        </p:sp>
        <p:sp>
          <p:nvSpPr>
            <p:cNvPr id="68739" name="Line 233"/>
            <p:cNvSpPr>
              <a:spLocks noChangeShapeType="1"/>
            </p:cNvSpPr>
            <p:nvPr/>
          </p:nvSpPr>
          <p:spPr bwMode="auto">
            <a:xfrm>
              <a:off x="1594" y="2668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40" name="Text Box 234"/>
            <p:cNvSpPr txBox="1">
              <a:spLocks noChangeArrowheads="1"/>
            </p:cNvSpPr>
            <p:nvPr/>
          </p:nvSpPr>
          <p:spPr bwMode="auto">
            <a:xfrm>
              <a:off x="1475" y="1625"/>
              <a:ext cx="1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Frutiger 55 Roman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800" b="1"/>
                <a:t>W</a:t>
              </a:r>
            </a:p>
          </p:txBody>
        </p:sp>
        <p:sp>
          <p:nvSpPr>
            <p:cNvPr id="68741" name="Line 235"/>
            <p:cNvSpPr>
              <a:spLocks noChangeShapeType="1"/>
            </p:cNvSpPr>
            <p:nvPr/>
          </p:nvSpPr>
          <p:spPr bwMode="auto">
            <a:xfrm>
              <a:off x="1527" y="1655"/>
              <a:ext cx="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8616" name="Line 236"/>
          <p:cNvSpPr>
            <a:spLocks noChangeShapeType="1"/>
          </p:cNvSpPr>
          <p:nvPr/>
        </p:nvSpPr>
        <p:spPr bwMode="auto">
          <a:xfrm>
            <a:off x="4540250" y="170021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7" name="Line 237"/>
          <p:cNvSpPr>
            <a:spLocks noChangeShapeType="1"/>
          </p:cNvSpPr>
          <p:nvPr/>
        </p:nvSpPr>
        <p:spPr bwMode="auto">
          <a:xfrm>
            <a:off x="6562725" y="1701800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18" name="Line 238"/>
          <p:cNvSpPr>
            <a:spLocks noChangeShapeType="1"/>
          </p:cNvSpPr>
          <p:nvPr/>
        </p:nvSpPr>
        <p:spPr bwMode="auto">
          <a:xfrm rot="5400000" flipV="1">
            <a:off x="3722688" y="-1119188"/>
            <a:ext cx="9525" cy="5680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19" name="Line 239"/>
          <p:cNvSpPr>
            <a:spLocks noChangeShapeType="1"/>
          </p:cNvSpPr>
          <p:nvPr/>
        </p:nvSpPr>
        <p:spPr bwMode="auto">
          <a:xfrm>
            <a:off x="6115050" y="2097087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0" name="Line 240"/>
          <p:cNvSpPr>
            <a:spLocks noChangeShapeType="1"/>
          </p:cNvSpPr>
          <p:nvPr/>
        </p:nvSpPr>
        <p:spPr bwMode="auto">
          <a:xfrm>
            <a:off x="8137525" y="2087562"/>
            <a:ext cx="0" cy="395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21" name="Line 241"/>
          <p:cNvSpPr>
            <a:spLocks noChangeShapeType="1"/>
          </p:cNvSpPr>
          <p:nvPr/>
        </p:nvSpPr>
        <p:spPr bwMode="auto">
          <a:xfrm rot="-5400000">
            <a:off x="4429125" y="2309812"/>
            <a:ext cx="9525" cy="74580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3" name="Freeform 243"/>
          <p:cNvSpPr>
            <a:spLocks/>
          </p:cNvSpPr>
          <p:nvPr/>
        </p:nvSpPr>
        <p:spPr bwMode="auto">
          <a:xfrm>
            <a:off x="3527425" y="3802062"/>
            <a:ext cx="1928813" cy="142875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4" name="Freeform 244"/>
          <p:cNvSpPr>
            <a:spLocks/>
          </p:cNvSpPr>
          <p:nvPr/>
        </p:nvSpPr>
        <p:spPr bwMode="auto">
          <a:xfrm>
            <a:off x="3271838" y="5975350"/>
            <a:ext cx="2184400" cy="21431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5" name="Freeform 245"/>
          <p:cNvSpPr>
            <a:spLocks/>
          </p:cNvSpPr>
          <p:nvPr/>
        </p:nvSpPr>
        <p:spPr bwMode="auto">
          <a:xfrm>
            <a:off x="6350000" y="3790950"/>
            <a:ext cx="1106488" cy="131762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6" name="Freeform 246"/>
          <p:cNvSpPr>
            <a:spLocks/>
          </p:cNvSpPr>
          <p:nvPr/>
        </p:nvSpPr>
        <p:spPr bwMode="auto">
          <a:xfrm>
            <a:off x="6345238" y="5976937"/>
            <a:ext cx="1139825" cy="374650"/>
          </a:xfrm>
          <a:custGeom>
            <a:avLst/>
            <a:gdLst>
              <a:gd name="T0" fmla="*/ 2147483647 w 1056"/>
              <a:gd name="T1" fmla="*/ 0 h 90"/>
              <a:gd name="T2" fmla="*/ 2147483647 w 1056"/>
              <a:gd name="T3" fmla="*/ 2147483647 h 90"/>
              <a:gd name="T4" fmla="*/ 0 w 1056"/>
              <a:gd name="T5" fmla="*/ 2147483647 h 90"/>
              <a:gd name="T6" fmla="*/ 0 60000 65536"/>
              <a:gd name="T7" fmla="*/ 0 60000 65536"/>
              <a:gd name="T8" fmla="*/ 0 60000 65536"/>
              <a:gd name="T9" fmla="*/ 0 w 1056"/>
              <a:gd name="T10" fmla="*/ 0 h 90"/>
              <a:gd name="T11" fmla="*/ 1056 w 1056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56" h="90">
                <a:moveTo>
                  <a:pt x="1056" y="0"/>
                </a:moveTo>
                <a:cubicBezTo>
                  <a:pt x="1056" y="30"/>
                  <a:pt x="1056" y="60"/>
                  <a:pt x="1056" y="90"/>
                </a:cubicBezTo>
                <a:lnTo>
                  <a:pt x="0" y="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7" name="Line 247"/>
          <p:cNvSpPr>
            <a:spLocks noChangeShapeType="1"/>
          </p:cNvSpPr>
          <p:nvPr/>
        </p:nvSpPr>
        <p:spPr bwMode="auto">
          <a:xfrm>
            <a:off x="6359525" y="3944937"/>
            <a:ext cx="1588" cy="2398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28" name="Oval 248"/>
          <p:cNvSpPr>
            <a:spLocks noChangeArrowheads="1"/>
          </p:cNvSpPr>
          <p:nvPr/>
        </p:nvSpPr>
        <p:spPr bwMode="auto">
          <a:xfrm>
            <a:off x="6319838" y="630237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29" name="Oval 250"/>
          <p:cNvSpPr>
            <a:spLocks noChangeArrowheads="1"/>
          </p:cNvSpPr>
          <p:nvPr/>
        </p:nvSpPr>
        <p:spPr bwMode="auto">
          <a:xfrm>
            <a:off x="4333875" y="1798637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30" name="Oval 251"/>
          <p:cNvSpPr>
            <a:spLocks noChangeArrowheads="1"/>
          </p:cNvSpPr>
          <p:nvPr/>
        </p:nvSpPr>
        <p:spPr bwMode="auto">
          <a:xfrm>
            <a:off x="3503613" y="6138862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31" name="Line 253"/>
          <p:cNvSpPr>
            <a:spLocks noChangeShapeType="1"/>
          </p:cNvSpPr>
          <p:nvPr/>
        </p:nvSpPr>
        <p:spPr bwMode="auto">
          <a:xfrm flipH="1" flipV="1">
            <a:off x="2760663" y="6343650"/>
            <a:ext cx="3598862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2" name="Line 254"/>
          <p:cNvSpPr>
            <a:spLocks noChangeShapeType="1"/>
          </p:cNvSpPr>
          <p:nvPr/>
        </p:nvSpPr>
        <p:spPr bwMode="auto">
          <a:xfrm flipH="1">
            <a:off x="3525838" y="3954462"/>
            <a:ext cx="0" cy="2257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3" name="Line 255"/>
          <p:cNvSpPr>
            <a:spLocks noChangeShapeType="1"/>
          </p:cNvSpPr>
          <p:nvPr/>
        </p:nvSpPr>
        <p:spPr bwMode="auto">
          <a:xfrm flipV="1">
            <a:off x="3275013" y="4448175"/>
            <a:ext cx="1587" cy="173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4" name="Line 256"/>
          <p:cNvSpPr>
            <a:spLocks noChangeShapeType="1"/>
          </p:cNvSpPr>
          <p:nvPr/>
        </p:nvSpPr>
        <p:spPr bwMode="auto">
          <a:xfrm flipV="1">
            <a:off x="2784475" y="4775200"/>
            <a:ext cx="0" cy="1585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5" name="Line 263"/>
          <p:cNvSpPr>
            <a:spLocks noChangeShapeType="1"/>
          </p:cNvSpPr>
          <p:nvPr/>
        </p:nvSpPr>
        <p:spPr bwMode="auto">
          <a:xfrm>
            <a:off x="2924175" y="1844675"/>
            <a:ext cx="4406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6" name="Line 264"/>
          <p:cNvSpPr>
            <a:spLocks noChangeShapeType="1"/>
          </p:cNvSpPr>
          <p:nvPr/>
        </p:nvSpPr>
        <p:spPr bwMode="auto">
          <a:xfrm>
            <a:off x="4365625" y="4024312"/>
            <a:ext cx="3003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37" name="Line 265"/>
          <p:cNvSpPr>
            <a:spLocks noChangeShapeType="1"/>
          </p:cNvSpPr>
          <p:nvPr/>
        </p:nvSpPr>
        <p:spPr bwMode="auto">
          <a:xfrm flipV="1">
            <a:off x="4365625" y="1836737"/>
            <a:ext cx="0" cy="2187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8" name="Line 266"/>
          <p:cNvSpPr>
            <a:spLocks noChangeShapeType="1"/>
          </p:cNvSpPr>
          <p:nvPr/>
        </p:nvSpPr>
        <p:spPr bwMode="auto">
          <a:xfrm>
            <a:off x="7216775" y="3779837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39" name="Line 268"/>
          <p:cNvSpPr>
            <a:spLocks noChangeShapeType="1"/>
          </p:cNvSpPr>
          <p:nvPr/>
        </p:nvSpPr>
        <p:spPr bwMode="auto">
          <a:xfrm>
            <a:off x="5213350" y="3795712"/>
            <a:ext cx="0" cy="60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0" name="Line 269"/>
          <p:cNvSpPr>
            <a:spLocks noChangeShapeType="1"/>
          </p:cNvSpPr>
          <p:nvPr/>
        </p:nvSpPr>
        <p:spPr bwMode="auto">
          <a:xfrm flipH="1">
            <a:off x="6234113" y="3848100"/>
            <a:ext cx="974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1" name="Line 270"/>
          <p:cNvSpPr>
            <a:spLocks noChangeShapeType="1"/>
          </p:cNvSpPr>
          <p:nvPr/>
        </p:nvSpPr>
        <p:spPr bwMode="auto">
          <a:xfrm>
            <a:off x="7245350" y="5989637"/>
            <a:ext cx="1588" cy="58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2" name="Line 271"/>
          <p:cNvSpPr>
            <a:spLocks noChangeShapeType="1"/>
          </p:cNvSpPr>
          <p:nvPr/>
        </p:nvSpPr>
        <p:spPr bwMode="auto">
          <a:xfrm flipH="1">
            <a:off x="5227638" y="5981700"/>
            <a:ext cx="0" cy="604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3" name="Line 272"/>
          <p:cNvSpPr>
            <a:spLocks noChangeShapeType="1"/>
          </p:cNvSpPr>
          <p:nvPr/>
        </p:nvSpPr>
        <p:spPr bwMode="auto">
          <a:xfrm flipH="1" flipV="1">
            <a:off x="5222875" y="6581775"/>
            <a:ext cx="20224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4" name="Line 274"/>
          <p:cNvSpPr>
            <a:spLocks noChangeShapeType="1"/>
          </p:cNvSpPr>
          <p:nvPr/>
        </p:nvSpPr>
        <p:spPr bwMode="auto">
          <a:xfrm>
            <a:off x="6240463" y="3848100"/>
            <a:ext cx="0" cy="2705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5" name="Oval 275"/>
          <p:cNvSpPr>
            <a:spLocks noChangeArrowheads="1"/>
          </p:cNvSpPr>
          <p:nvPr/>
        </p:nvSpPr>
        <p:spPr bwMode="auto">
          <a:xfrm>
            <a:off x="6196013" y="6537325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46" name="Line 276"/>
          <p:cNvSpPr>
            <a:spLocks noChangeShapeType="1"/>
          </p:cNvSpPr>
          <p:nvPr/>
        </p:nvSpPr>
        <p:spPr bwMode="auto">
          <a:xfrm flipH="1">
            <a:off x="3943350" y="6572250"/>
            <a:ext cx="1273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7" name="Line 277"/>
          <p:cNvSpPr>
            <a:spLocks noChangeShapeType="1"/>
          </p:cNvSpPr>
          <p:nvPr/>
        </p:nvSpPr>
        <p:spPr bwMode="auto">
          <a:xfrm flipH="1">
            <a:off x="3932238" y="3863975"/>
            <a:ext cx="127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48" name="Line 278"/>
          <p:cNvSpPr>
            <a:spLocks noChangeShapeType="1"/>
          </p:cNvSpPr>
          <p:nvPr/>
        </p:nvSpPr>
        <p:spPr bwMode="auto">
          <a:xfrm flipH="1" flipV="1">
            <a:off x="3946525" y="2528887"/>
            <a:ext cx="0" cy="405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49" name="Oval 279"/>
          <p:cNvSpPr>
            <a:spLocks noChangeArrowheads="1"/>
          </p:cNvSpPr>
          <p:nvPr/>
        </p:nvSpPr>
        <p:spPr bwMode="auto">
          <a:xfrm>
            <a:off x="3900488" y="3806825"/>
            <a:ext cx="74612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68650" name="Line 280"/>
          <p:cNvSpPr>
            <a:spLocks noChangeShapeType="1"/>
          </p:cNvSpPr>
          <p:nvPr/>
        </p:nvSpPr>
        <p:spPr bwMode="auto">
          <a:xfrm flipH="1">
            <a:off x="2130425" y="2522537"/>
            <a:ext cx="1816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1" name="Line 282"/>
          <p:cNvSpPr>
            <a:spLocks noChangeShapeType="1"/>
          </p:cNvSpPr>
          <p:nvPr/>
        </p:nvSpPr>
        <p:spPr bwMode="auto">
          <a:xfrm flipH="1">
            <a:off x="2136775" y="4443412"/>
            <a:ext cx="1131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2" name="Line 283"/>
          <p:cNvSpPr>
            <a:spLocks noChangeShapeType="1"/>
          </p:cNvSpPr>
          <p:nvPr/>
        </p:nvSpPr>
        <p:spPr bwMode="auto">
          <a:xfrm flipH="1">
            <a:off x="2135188" y="4770437"/>
            <a:ext cx="6381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3" name="Line 284"/>
          <p:cNvSpPr>
            <a:spLocks noChangeShapeType="1"/>
          </p:cNvSpPr>
          <p:nvPr/>
        </p:nvSpPr>
        <p:spPr bwMode="auto">
          <a:xfrm>
            <a:off x="2925763" y="1841500"/>
            <a:ext cx="0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4" name="Line 285"/>
          <p:cNvSpPr>
            <a:spLocks noChangeShapeType="1"/>
          </p:cNvSpPr>
          <p:nvPr/>
        </p:nvSpPr>
        <p:spPr bwMode="auto">
          <a:xfrm flipH="1">
            <a:off x="2143125" y="2227262"/>
            <a:ext cx="773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6" name="Text Box 287"/>
          <p:cNvSpPr txBox="1">
            <a:spLocks noChangeArrowheads="1"/>
          </p:cNvSpPr>
          <p:nvPr/>
        </p:nvSpPr>
        <p:spPr bwMode="auto">
          <a:xfrm>
            <a:off x="327025" y="4895850"/>
            <a:ext cx="609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57" name="Rectangle 288"/>
          <p:cNvSpPr>
            <a:spLocks noChangeArrowheads="1"/>
          </p:cNvSpPr>
          <p:nvPr/>
        </p:nvSpPr>
        <p:spPr bwMode="auto">
          <a:xfrm>
            <a:off x="1422400" y="2035175"/>
            <a:ext cx="701675" cy="33321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68658" name="Text Box 289"/>
          <p:cNvSpPr txBox="1">
            <a:spLocks noChangeArrowheads="1"/>
          </p:cNvSpPr>
          <p:nvPr/>
        </p:nvSpPr>
        <p:spPr bwMode="auto">
          <a:xfrm rot="-5400000">
            <a:off x="666750" y="3594100"/>
            <a:ext cx="21478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DECODE LOGIC</a:t>
            </a:r>
          </a:p>
        </p:txBody>
      </p:sp>
      <p:sp>
        <p:nvSpPr>
          <p:cNvPr id="68659" name="Text Box 290"/>
          <p:cNvSpPr txBox="1">
            <a:spLocks noChangeArrowheads="1"/>
          </p:cNvSpPr>
          <p:nvPr/>
        </p:nvSpPr>
        <p:spPr bwMode="auto">
          <a:xfrm>
            <a:off x="2397125" y="1989137"/>
            <a:ext cx="3286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</a:t>
            </a:r>
          </a:p>
        </p:txBody>
      </p:sp>
      <p:sp>
        <p:nvSpPr>
          <p:cNvPr id="68660" name="Line 291"/>
          <p:cNvSpPr>
            <a:spLocks noChangeShapeType="1"/>
          </p:cNvSpPr>
          <p:nvPr/>
        </p:nvSpPr>
        <p:spPr bwMode="auto">
          <a:xfrm>
            <a:off x="2459038" y="2044700"/>
            <a:ext cx="161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1" name="Text Box 292"/>
          <p:cNvSpPr txBox="1">
            <a:spLocks noChangeArrowheads="1"/>
          </p:cNvSpPr>
          <p:nvPr/>
        </p:nvSpPr>
        <p:spPr bwMode="auto">
          <a:xfrm>
            <a:off x="276225" y="1960562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To uP</a:t>
            </a:r>
          </a:p>
        </p:txBody>
      </p:sp>
      <p:sp>
        <p:nvSpPr>
          <p:cNvPr id="68662" name="Line 293"/>
          <p:cNvSpPr>
            <a:spLocks noChangeShapeType="1"/>
          </p:cNvSpPr>
          <p:nvPr/>
        </p:nvSpPr>
        <p:spPr bwMode="auto">
          <a:xfrm flipH="1">
            <a:off x="538163" y="2441575"/>
            <a:ext cx="8937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3" name="Line 294"/>
          <p:cNvSpPr>
            <a:spLocks noChangeShapeType="1"/>
          </p:cNvSpPr>
          <p:nvPr/>
        </p:nvSpPr>
        <p:spPr bwMode="auto">
          <a:xfrm>
            <a:off x="609600" y="6027737"/>
            <a:ext cx="6905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64" name="Line 295"/>
          <p:cNvSpPr>
            <a:spLocks noChangeShapeType="1"/>
          </p:cNvSpPr>
          <p:nvPr/>
        </p:nvSpPr>
        <p:spPr bwMode="auto">
          <a:xfrm flipV="1">
            <a:off x="598488" y="1720850"/>
            <a:ext cx="812800" cy="95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6" name="Line 297"/>
          <p:cNvSpPr>
            <a:spLocks noChangeShapeType="1"/>
          </p:cNvSpPr>
          <p:nvPr/>
        </p:nvSpPr>
        <p:spPr bwMode="auto">
          <a:xfrm>
            <a:off x="558800" y="2452687"/>
            <a:ext cx="508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0" name="Text Box 301"/>
          <p:cNvSpPr txBox="1">
            <a:spLocks noChangeArrowheads="1"/>
          </p:cNvSpPr>
          <p:nvPr/>
        </p:nvSpPr>
        <p:spPr bwMode="auto">
          <a:xfrm>
            <a:off x="2349500" y="2293937"/>
            <a:ext cx="404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OE</a:t>
            </a:r>
          </a:p>
        </p:txBody>
      </p:sp>
      <p:sp>
        <p:nvSpPr>
          <p:cNvPr id="68671" name="Line 302"/>
          <p:cNvSpPr>
            <a:spLocks noChangeShapeType="1"/>
          </p:cNvSpPr>
          <p:nvPr/>
        </p:nvSpPr>
        <p:spPr bwMode="auto">
          <a:xfrm>
            <a:off x="2397125" y="2328862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2" name="Text Box 305"/>
          <p:cNvSpPr txBox="1">
            <a:spLocks noChangeArrowheads="1"/>
          </p:cNvSpPr>
          <p:nvPr/>
        </p:nvSpPr>
        <p:spPr bwMode="auto">
          <a:xfrm>
            <a:off x="2252663" y="4162425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CE0</a:t>
            </a:r>
          </a:p>
        </p:txBody>
      </p:sp>
      <p:sp>
        <p:nvSpPr>
          <p:cNvPr id="68673" name="Line 306"/>
          <p:cNvSpPr>
            <a:spLocks noChangeShapeType="1"/>
          </p:cNvSpPr>
          <p:nvPr/>
        </p:nvSpPr>
        <p:spPr bwMode="auto">
          <a:xfrm>
            <a:off x="2336800" y="4197350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4" name="Text Box 307"/>
          <p:cNvSpPr txBox="1">
            <a:spLocks noChangeArrowheads="1"/>
          </p:cNvSpPr>
          <p:nvPr/>
        </p:nvSpPr>
        <p:spPr bwMode="auto">
          <a:xfrm>
            <a:off x="2252663" y="4519612"/>
            <a:ext cx="479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CE1</a:t>
            </a:r>
          </a:p>
        </p:txBody>
      </p:sp>
      <p:sp>
        <p:nvSpPr>
          <p:cNvPr id="68675" name="Line 308"/>
          <p:cNvSpPr>
            <a:spLocks noChangeShapeType="1"/>
          </p:cNvSpPr>
          <p:nvPr/>
        </p:nvSpPr>
        <p:spPr bwMode="auto">
          <a:xfrm>
            <a:off x="2336800" y="4554537"/>
            <a:ext cx="2746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6" name="Line 309"/>
          <p:cNvSpPr>
            <a:spLocks noChangeShapeType="1"/>
          </p:cNvSpPr>
          <p:nvPr/>
        </p:nvSpPr>
        <p:spPr bwMode="auto">
          <a:xfrm flipH="1">
            <a:off x="538163" y="4106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7" name="Line 310"/>
          <p:cNvSpPr>
            <a:spLocks noChangeShapeType="1"/>
          </p:cNvSpPr>
          <p:nvPr/>
        </p:nvSpPr>
        <p:spPr bwMode="auto">
          <a:xfrm flipH="1">
            <a:off x="538163" y="4614862"/>
            <a:ext cx="8842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78" name="Text Box 311"/>
          <p:cNvSpPr txBox="1">
            <a:spLocks noChangeArrowheads="1"/>
          </p:cNvSpPr>
          <p:nvPr/>
        </p:nvSpPr>
        <p:spPr bwMode="auto">
          <a:xfrm>
            <a:off x="520700" y="3830637"/>
            <a:ext cx="403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RD</a:t>
            </a:r>
          </a:p>
        </p:txBody>
      </p:sp>
      <p:sp>
        <p:nvSpPr>
          <p:cNvPr id="68679" name="Line 312"/>
          <p:cNvSpPr>
            <a:spLocks noChangeShapeType="1"/>
          </p:cNvSpPr>
          <p:nvPr/>
        </p:nvSpPr>
        <p:spPr bwMode="auto">
          <a:xfrm>
            <a:off x="600075" y="38941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0" name="Text Box 313"/>
          <p:cNvSpPr txBox="1">
            <a:spLocks noChangeArrowheads="1"/>
          </p:cNvSpPr>
          <p:nvPr/>
        </p:nvSpPr>
        <p:spPr bwMode="auto">
          <a:xfrm>
            <a:off x="512763" y="4265612"/>
            <a:ext cx="438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WR</a:t>
            </a:r>
          </a:p>
        </p:txBody>
      </p:sp>
      <p:sp>
        <p:nvSpPr>
          <p:cNvPr id="68681" name="Line 314"/>
          <p:cNvSpPr>
            <a:spLocks noChangeShapeType="1"/>
          </p:cNvSpPr>
          <p:nvPr/>
        </p:nvSpPr>
        <p:spPr bwMode="auto">
          <a:xfrm>
            <a:off x="609600" y="4300537"/>
            <a:ext cx="222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2" name="Line 315"/>
          <p:cNvSpPr>
            <a:spLocks noChangeShapeType="1"/>
          </p:cNvSpPr>
          <p:nvPr/>
        </p:nvSpPr>
        <p:spPr bwMode="auto">
          <a:xfrm>
            <a:off x="528638" y="4097337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3" name="Line 316"/>
          <p:cNvSpPr>
            <a:spLocks noChangeShapeType="1"/>
          </p:cNvSpPr>
          <p:nvPr/>
        </p:nvSpPr>
        <p:spPr bwMode="auto">
          <a:xfrm>
            <a:off x="558800" y="4614862"/>
            <a:ext cx="25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85" name="Oval 318"/>
          <p:cNvSpPr>
            <a:spLocks noChangeArrowheads="1"/>
          </p:cNvSpPr>
          <p:nvPr/>
        </p:nvSpPr>
        <p:spPr bwMode="auto">
          <a:xfrm>
            <a:off x="5186363" y="6527800"/>
            <a:ext cx="82550" cy="920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304" name="Text Box 286"/>
          <p:cNvSpPr txBox="1">
            <a:spLocks noChangeArrowheads="1"/>
          </p:cNvSpPr>
          <p:nvPr/>
        </p:nvSpPr>
        <p:spPr bwMode="auto">
          <a:xfrm>
            <a:off x="2010519" y="1440656"/>
            <a:ext cx="17732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/>
              <a:t>Address Bus: A0..A14</a:t>
            </a:r>
            <a:endParaRPr lang="en-US" b="1" dirty="0"/>
          </a:p>
        </p:txBody>
      </p:sp>
      <p:sp>
        <p:nvSpPr>
          <p:cNvPr id="305" name="Text Box 296"/>
          <p:cNvSpPr txBox="1">
            <a:spLocks noChangeArrowheads="1"/>
          </p:cNvSpPr>
          <p:nvPr/>
        </p:nvSpPr>
        <p:spPr bwMode="auto">
          <a:xfrm>
            <a:off x="619645" y="2463949"/>
            <a:ext cx="4797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b="1" dirty="0"/>
              <a:t>A15</a:t>
            </a:r>
          </a:p>
          <a:p>
            <a:pPr algn="ctr" eaLnBrk="1" hangingPunct="1"/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06" name="Text Box 242"/>
          <p:cNvSpPr txBox="1">
            <a:spLocks noChangeArrowheads="1"/>
          </p:cNvSpPr>
          <p:nvPr/>
        </p:nvSpPr>
        <p:spPr bwMode="auto">
          <a:xfrm>
            <a:off x="8246386" y="3678237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Frutiger 55 Roman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b="1" dirty="0"/>
              <a:t>Data Bus: D0..D15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2663" y="3856037"/>
            <a:ext cx="644474" cy="1344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ular Callout 11"/>
          <p:cNvSpPr/>
          <p:nvPr/>
        </p:nvSpPr>
        <p:spPr>
          <a:xfrm>
            <a:off x="2286000" y="3103723"/>
            <a:ext cx="1600200" cy="612648"/>
          </a:xfrm>
          <a:prstGeom prst="wedgeRectCallout">
            <a:avLst/>
          </a:prstGeom>
          <a:noFill/>
          <a:ln>
            <a:solidFill>
              <a:srgbClr val="FF0000">
                <a:alpha val="5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What bus would these belong to?</a:t>
            </a:r>
          </a:p>
        </p:txBody>
      </p:sp>
      <p:sp>
        <p:nvSpPr>
          <p:cNvPr id="300" name="Rectangle 3"/>
          <p:cNvSpPr txBox="1">
            <a:spLocks noChangeArrowheads="1"/>
          </p:cNvSpPr>
          <p:nvPr/>
        </p:nvSpPr>
        <p:spPr bwMode="auto">
          <a:xfrm>
            <a:off x="533400" y="1104900"/>
            <a:ext cx="8382000" cy="355428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b="1" kern="0" dirty="0">
                <a:solidFill>
                  <a:srgbClr val="FF0000"/>
                </a:solidFill>
              </a:rPr>
              <a:t>Next: </a:t>
            </a:r>
            <a:r>
              <a:rPr lang="en-US" sz="1600" kern="0" dirty="0"/>
              <a:t>Design the SRAM  (64K x 16) memory system using 256K bit ( 32K x 8 ) SRAM chips</a:t>
            </a:r>
          </a:p>
          <a:p>
            <a:endParaRPr lang="en-US" sz="1800" kern="0" dirty="0"/>
          </a:p>
        </p:txBody>
      </p:sp>
      <p:sp>
        <p:nvSpPr>
          <p:cNvPr id="309" name="TextBox 308"/>
          <p:cNvSpPr txBox="1"/>
          <p:nvPr/>
        </p:nvSpPr>
        <p:spPr>
          <a:xfrm>
            <a:off x="2590800" y="698500"/>
            <a:ext cx="3962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Notice</a:t>
            </a:r>
            <a:r>
              <a:rPr lang="en-US" dirty="0"/>
              <a:t> the (2-3) busses here?</a:t>
            </a:r>
          </a:p>
        </p:txBody>
      </p:sp>
    </p:spTree>
    <p:extLst>
      <p:ext uri="{BB962C8B-B14F-4D97-AF65-F5344CB8AC3E}">
        <p14:creationId xmlns:p14="http://schemas.microsoft.com/office/powerpoint/2010/main" val="258283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908" y="0"/>
            <a:ext cx="9957816" cy="1600200"/>
          </a:xfrm>
        </p:spPr>
        <p:txBody>
          <a:bodyPr/>
          <a:lstStyle/>
          <a:p>
            <a:r>
              <a:rPr lang="en-US" dirty="0"/>
              <a:t>Random 422 Query:  </a:t>
            </a:r>
            <a:br>
              <a:rPr lang="en-US" dirty="0"/>
            </a:br>
            <a:r>
              <a:rPr lang="en-US" dirty="0"/>
              <a:t>Binary HW Counter V.S. ALU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/>
          <a:lstStyle/>
          <a:p>
            <a:r>
              <a:rPr lang="en-US" dirty="0"/>
              <a:t>One is a “hardware-level”, dedicated counter</a:t>
            </a:r>
          </a:p>
          <a:p>
            <a:pPr lvl="1"/>
            <a:r>
              <a:rPr lang="en-US" dirty="0"/>
              <a:t>Less hardware components (gates) than a complete full-adder + logic</a:t>
            </a:r>
          </a:p>
          <a:p>
            <a:pPr lvl="2"/>
            <a:r>
              <a:rPr lang="en-US" dirty="0"/>
              <a:t>Cheaper, less power</a:t>
            </a:r>
          </a:p>
          <a:p>
            <a:r>
              <a:rPr lang="en-US" dirty="0"/>
              <a:t>The other is guided by control signals</a:t>
            </a:r>
          </a:p>
          <a:p>
            <a:pPr lvl="1"/>
            <a:r>
              <a:rPr lang="en-US" dirty="0"/>
              <a:t>Software &amp; hardware</a:t>
            </a:r>
          </a:p>
          <a:p>
            <a:pPr lvl="1"/>
            <a:r>
              <a:rPr lang="en-US" dirty="0"/>
              <a:t>More flexible in operations that just +1</a:t>
            </a:r>
          </a:p>
          <a:p>
            <a:pPr lvl="2"/>
            <a:r>
              <a:rPr lang="en-US" dirty="0"/>
              <a:t>ADD arbitrary, AND, OR, NOT</a:t>
            </a:r>
          </a:p>
          <a:p>
            <a:pPr lvl="1"/>
            <a:endParaRPr lang="en-US" dirty="0"/>
          </a:p>
          <a:p>
            <a:r>
              <a:rPr lang="en-US" dirty="0"/>
              <a:t>What other pros &amp; cons?</a:t>
            </a:r>
          </a:p>
        </p:txBody>
      </p:sp>
    </p:spTree>
    <p:extLst>
      <p:ext uri="{BB962C8B-B14F-4D97-AF65-F5344CB8AC3E}">
        <p14:creationId xmlns:p14="http://schemas.microsoft.com/office/powerpoint/2010/main" val="927012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</a:t>
            </a:r>
            <a:r>
              <a:rPr lang="en-US" dirty="0"/>
              <a:t> of ASM &amp; Adding Registers to our ALU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 2 of “</a:t>
            </a:r>
            <a:r>
              <a:rPr lang="en-US" dirty="0" err="1"/>
              <a:t>BussesAndEvo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0626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ASM for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language is 100110</a:t>
            </a:r>
            <a:r>
              <a:rPr lang="mr-IN" dirty="0"/>
              <a:t>…</a:t>
            </a:r>
            <a:r>
              <a:rPr lang="en-US" dirty="0"/>
              <a:t>signals on a wire</a:t>
            </a:r>
          </a:p>
          <a:p>
            <a:pPr lvl="1"/>
            <a:r>
              <a:rPr lang="en-US" dirty="0"/>
              <a:t>F0 signal, F1 signal, </a:t>
            </a:r>
            <a:r>
              <a:rPr lang="en-US" dirty="0" err="1"/>
              <a:t>enableA</a:t>
            </a:r>
            <a:r>
              <a:rPr lang="en-US" dirty="0"/>
              <a:t>, </a:t>
            </a:r>
            <a:r>
              <a:rPr lang="en-US" dirty="0" err="1"/>
              <a:t>invertA</a:t>
            </a:r>
            <a:endParaRPr lang="en-US" dirty="0"/>
          </a:p>
          <a:p>
            <a:pPr lvl="2"/>
            <a:r>
              <a:rPr lang="en-US" dirty="0"/>
              <a:t>Put a zero on F0 and a 1 on F1 for the logical AND </a:t>
            </a:r>
            <a:r>
              <a:rPr lang="en-US" dirty="0" err="1"/>
              <a:t>operaton</a:t>
            </a:r>
            <a:r>
              <a:rPr lang="en-US" dirty="0"/>
              <a:t>, etc.</a:t>
            </a:r>
          </a:p>
          <a:p>
            <a:pPr lvl="2"/>
            <a:r>
              <a:rPr lang="en-US" dirty="0"/>
              <a:t>All part of the control bus</a:t>
            </a:r>
          </a:p>
          <a:p>
            <a:r>
              <a:rPr lang="en-US" dirty="0"/>
              <a:t>We’re getting swamped in a sea of binary </a:t>
            </a:r>
          </a:p>
          <a:p>
            <a:pPr lvl="1"/>
            <a:r>
              <a:rPr lang="en-US" dirty="0"/>
              <a:t>control wires everywhere to pick</a:t>
            </a:r>
            <a:r>
              <a:rPr lang="mr-IN" dirty="0"/>
              <a:t>…</a:t>
            </a:r>
            <a:endParaRPr lang="en-US" dirty="0"/>
          </a:p>
          <a:p>
            <a:pPr lvl="2"/>
            <a:r>
              <a:rPr lang="en-US" dirty="0"/>
              <a:t>which operation</a:t>
            </a:r>
          </a:p>
          <a:p>
            <a:pPr lvl="2"/>
            <a:r>
              <a:rPr lang="en-US" dirty="0"/>
              <a:t>which input (or its inverse)</a:t>
            </a:r>
          </a:p>
          <a:p>
            <a:pPr lvl="1"/>
            <a:r>
              <a:rPr lang="en-US" dirty="0"/>
              <a:t>Address wires to pick registers out of a register file</a:t>
            </a:r>
          </a:p>
          <a:p>
            <a:pPr lvl="1"/>
            <a:r>
              <a:rPr lang="en-US" dirty="0"/>
              <a:t>Data wires to hold the memory values that came from the register</a:t>
            </a:r>
          </a:p>
          <a:p>
            <a:r>
              <a:rPr lang="en-US" dirty="0"/>
              <a:t>We need to level up or we’ll never scale beyond simple CPUs/ALUs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71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152400"/>
            <a:ext cx="8686800" cy="838200"/>
          </a:xfrm>
        </p:spPr>
        <p:txBody>
          <a:bodyPr/>
          <a:lstStyle/>
          <a:p>
            <a:r>
              <a:rPr lang="en-US" sz="4400" dirty="0"/>
              <a:t>CPUs: Unification &amp; Organization</a:t>
            </a:r>
          </a:p>
        </p:txBody>
      </p:sp>
      <p:pic>
        <p:nvPicPr>
          <p:cNvPr id="4" name="Picture 3" descr="Screen Shot 2015-04-19 at 6.09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03400"/>
            <a:ext cx="8585200" cy="5054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762000"/>
            <a:ext cx="917448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TODO:</a:t>
            </a:r>
            <a:r>
              <a:rPr lang="en-US" dirty="0"/>
              <a:t> Add 2 registers (A,B) to HW1 (pictured below) to approach this design (the </a:t>
            </a:r>
            <a:r>
              <a:rPr lang="en-US" b="1" i="1" dirty="0"/>
              <a:t>68K!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0000"/>
                </a:solidFill>
              </a:rPr>
              <a:t>How?</a:t>
            </a:r>
            <a:r>
              <a:rPr lang="en-US" dirty="0"/>
              <a:t> If the ALUs was built with gates, build your registers with gates too, and add a </a:t>
            </a:r>
            <a:r>
              <a:rPr lang="en-US" dirty="0" err="1"/>
              <a:t>clk</a:t>
            </a:r>
            <a:r>
              <a:rPr lang="en-US" dirty="0"/>
              <a:t>  </a:t>
            </a:r>
          </a:p>
          <a:p>
            <a:r>
              <a:rPr lang="en-US" dirty="0">
                <a:solidFill>
                  <a:srgbClr val="FF0000"/>
                </a:solidFill>
              </a:rPr>
              <a:t>What’s left?</a:t>
            </a:r>
            <a:r>
              <a:rPr lang="en-US" dirty="0"/>
              <a:t> Add a data bus and a status bus.</a:t>
            </a:r>
          </a:p>
        </p:txBody>
      </p:sp>
    </p:spTree>
    <p:extLst>
      <p:ext uri="{BB962C8B-B14F-4D97-AF65-F5344CB8AC3E}">
        <p14:creationId xmlns:p14="http://schemas.microsoft.com/office/powerpoint/2010/main" val="2948203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686800" cy="838200"/>
          </a:xfrm>
        </p:spPr>
        <p:txBody>
          <a:bodyPr/>
          <a:lstStyle/>
          <a:p>
            <a:r>
              <a:rPr lang="en-US" sz="4400" dirty="0">
                <a:solidFill>
                  <a:srgbClr val="FF0000"/>
                </a:solidFill>
              </a:rPr>
              <a:t>Q:</a:t>
            </a:r>
            <a:r>
              <a:rPr lang="en-US" sz="4400" dirty="0"/>
              <a:t> How to ADD A &amp; B?</a:t>
            </a:r>
            <a:br>
              <a:rPr lang="en-US" sz="4400" dirty="0"/>
            </a:br>
            <a:r>
              <a:rPr lang="en-US" sz="4400" dirty="0">
                <a:solidFill>
                  <a:srgbClr val="FF0000"/>
                </a:solidFill>
              </a:rPr>
              <a:t>Q</a:t>
            </a:r>
            <a:r>
              <a:rPr lang="en-US" sz="4400" dirty="0"/>
              <a:t>/</a:t>
            </a:r>
            <a:r>
              <a:rPr lang="en-US" sz="4400" dirty="0">
                <a:solidFill>
                  <a:srgbClr val="3366FF"/>
                </a:solidFill>
              </a:rPr>
              <a:t>A:</a:t>
            </a:r>
            <a:r>
              <a:rPr lang="en-US" sz="4400" dirty="0"/>
              <a:t> How did we do it in HW1?</a:t>
            </a:r>
          </a:p>
        </p:txBody>
      </p:sp>
      <p:pic>
        <p:nvPicPr>
          <p:cNvPr id="4" name="Picture 3" descr="Screen Shot 2015-04-19 at 6.09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0"/>
            <a:ext cx="8585200" cy="5054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41673"/>
            <a:ext cx="3657600" cy="17543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</a:rPr>
              <a:t>Ada Asks:</a:t>
            </a:r>
            <a:r>
              <a:rPr lang="en-US" dirty="0"/>
              <a:t> We need a better method than just poking values on wires to enable a function… “</a:t>
            </a:r>
            <a:r>
              <a:rPr lang="en-US" i="1" dirty="0"/>
              <a:t>how can we control this in a repeatable, regular and simple way?”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1435448"/>
            <a:ext cx="710270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Everything is all set to march in lockstep, but</a:t>
            </a:r>
            <a:r>
              <a:rPr lang="mr-IN" dirty="0"/>
              <a:t>…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March where?  In which direction?  What should we do? </a:t>
            </a:r>
            <a:r>
              <a:rPr lang="en-US" b="1" dirty="0">
                <a:solidFill>
                  <a:srgbClr val="0000FF"/>
                </a:solidFill>
              </a:rPr>
              <a:t>FSMs</a:t>
            </a:r>
            <a:r>
              <a:rPr lang="en-US" dirty="0"/>
              <a:t>?</a:t>
            </a:r>
          </a:p>
          <a:p>
            <a:r>
              <a:rPr lang="en-US" dirty="0"/>
              <a:t>This is much like me baking a cake, when the panic sets in: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What do I do?  Which step is first?  Why me?</a:t>
            </a:r>
          </a:p>
          <a:p>
            <a:r>
              <a:rPr lang="en-US" b="1" dirty="0">
                <a:solidFill>
                  <a:srgbClr val="3366FF"/>
                </a:solidFill>
              </a:rPr>
              <a:t>Idea</a:t>
            </a:r>
            <a:r>
              <a:rPr lang="en-US" dirty="0">
                <a:solidFill>
                  <a:srgbClr val="3366FF"/>
                </a:solidFill>
              </a:rPr>
              <a:t>: </a:t>
            </a:r>
            <a:r>
              <a:rPr lang="en-US" dirty="0"/>
              <a:t>Google a recipe or algorithm for baking the cake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And, just dump the “operations” into the ROM and be done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this would be an “instruction memory”</a:t>
            </a:r>
          </a:p>
        </p:txBody>
      </p:sp>
    </p:spTree>
    <p:extLst>
      <p:ext uri="{BB962C8B-B14F-4D97-AF65-F5344CB8AC3E}">
        <p14:creationId xmlns:p14="http://schemas.microsoft.com/office/powerpoint/2010/main" val="271867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Shot 2015-04-19 at 6.09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65200"/>
            <a:ext cx="8585200" cy="5054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039278"/>
              </p:ext>
            </p:extLst>
          </p:nvPr>
        </p:nvGraphicFramePr>
        <p:xfrm>
          <a:off x="152400" y="3886200"/>
          <a:ext cx="8763000" cy="2936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r>
                        <a:rPr lang="en-US" baseline="0" dirty="0"/>
                        <a:t>-Level </a:t>
                      </a:r>
                      <a:r>
                        <a:rPr lang="en-US" dirty="0"/>
                        <a:t>Actions in 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is a high to low transition of the Register A (!OE). This will put Register A’s data on the bus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</a:t>
                      </a:r>
                      <a:r>
                        <a:rPr lang="en-US" baseline="0" dirty="0"/>
                        <a:t> the bus data in a temporary ALU input register (!W goes low)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pulse a high to low transition for the output enable of Register B to our bus,</a:t>
                      </a:r>
                      <a:r>
                        <a:rPr lang="en-US" baseline="0" dirty="0"/>
                        <a:t> also pulsing F0,F1 on the ALU so that it performs an add using the bus and the temp input register </a:t>
                      </a:r>
                      <a:r>
                        <a:rPr lang="en-US" i="1" baseline="0" dirty="0"/>
                        <a:t>at the same </a:t>
                      </a:r>
                      <a:r>
                        <a:rPr lang="en-US" i="1" baseline="0" dirty="0" err="1"/>
                        <a:t>timestep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 the output of the ALU back</a:t>
                      </a:r>
                      <a:r>
                        <a:rPr lang="en-US" baseline="0" dirty="0"/>
                        <a:t> to a register C </a:t>
                      </a:r>
                      <a:r>
                        <a:rPr lang="en-US" dirty="0"/>
                        <a:t>on the clock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121920" y="0"/>
            <a:ext cx="905256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First, in English: </a:t>
            </a:r>
            <a:r>
              <a:rPr lang="en-US" sz="2000" dirty="0"/>
              <a:t>(a.k.a. motivation for shorthand)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886200" y="6172200"/>
            <a:ext cx="5105400" cy="23867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32000"/>
                </a:schemeClr>
              </a:gs>
              <a:gs pos="80000">
                <a:schemeClr val="accent1">
                  <a:shade val="93000"/>
                  <a:satMod val="130000"/>
                  <a:alpha val="32000"/>
                </a:schemeClr>
              </a:gs>
              <a:gs pos="100000">
                <a:schemeClr val="accent1">
                  <a:shade val="94000"/>
                  <a:satMod val="135000"/>
                  <a:alpha val="32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Optimization; soon pipelining</a:t>
            </a:r>
          </a:p>
        </p:txBody>
      </p:sp>
      <p:sp>
        <p:nvSpPr>
          <p:cNvPr id="3" name="Curved Down Arrow 2"/>
          <p:cNvSpPr/>
          <p:nvPr/>
        </p:nvSpPr>
        <p:spPr>
          <a:xfrm>
            <a:off x="1143000" y="1219200"/>
            <a:ext cx="5029200" cy="838200"/>
          </a:xfrm>
          <a:prstGeom prst="curved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5889" y="4572000"/>
            <a:ext cx="557822" cy="31487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18000"/>
                </a:schemeClr>
              </a:gs>
              <a:gs pos="35000">
                <a:schemeClr val="accent2">
                  <a:tint val="37000"/>
                  <a:satMod val="300000"/>
                  <a:alpha val="18000"/>
                </a:schemeClr>
              </a:gs>
              <a:gs pos="100000">
                <a:schemeClr val="accent2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rved Down Arrow 9"/>
          <p:cNvSpPr/>
          <p:nvPr/>
        </p:nvSpPr>
        <p:spPr>
          <a:xfrm>
            <a:off x="2362200" y="1219200"/>
            <a:ext cx="5029200" cy="838200"/>
          </a:xfrm>
          <a:prstGeom prst="curved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100" y="5577924"/>
            <a:ext cx="557822" cy="31487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50000"/>
                  <a:satMod val="300000"/>
                  <a:alpha val="14000"/>
                </a:schemeClr>
              </a:gs>
              <a:gs pos="35000">
                <a:schemeClr val="accent1">
                  <a:tint val="37000"/>
                  <a:satMod val="300000"/>
                  <a:alpha val="14000"/>
                </a:schemeClr>
              </a:gs>
              <a:gs pos="100000">
                <a:schemeClr val="accent1">
                  <a:tint val="15000"/>
                  <a:satMod val="350000"/>
                  <a:alpha val="14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6200" y="6466924"/>
            <a:ext cx="557822" cy="31487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10000"/>
                </a:schemeClr>
              </a:gs>
              <a:gs pos="35000">
                <a:schemeClr val="accent5">
                  <a:tint val="37000"/>
                  <a:satMod val="300000"/>
                  <a:alpha val="10000"/>
                </a:schemeClr>
              </a:gs>
              <a:gs pos="100000">
                <a:schemeClr val="accent5">
                  <a:tint val="15000"/>
                  <a:satMod val="350000"/>
                  <a:alpha val="1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8100" y="5196924"/>
            <a:ext cx="557822" cy="31487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18000"/>
                </a:schemeClr>
              </a:gs>
              <a:gs pos="35000">
                <a:schemeClr val="accent2">
                  <a:tint val="37000"/>
                  <a:satMod val="300000"/>
                  <a:alpha val="18000"/>
                </a:schemeClr>
              </a:gs>
              <a:gs pos="100000">
                <a:schemeClr val="accent2">
                  <a:tint val="15000"/>
                  <a:satMod val="350000"/>
                  <a:alpha val="18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ent Arrow 7"/>
          <p:cNvSpPr/>
          <p:nvPr/>
        </p:nvSpPr>
        <p:spPr>
          <a:xfrm>
            <a:off x="5029200" y="3200400"/>
            <a:ext cx="533400" cy="533400"/>
          </a:xfrm>
          <a:prstGeom prst="ben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F0F1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313879" y="3467100"/>
            <a:ext cx="515252" cy="76200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0" grpId="0" animBg="1"/>
      <p:bldP spid="11" grpId="0" animBg="1"/>
      <p:bldP spid="12" grpId="0" animBg="1"/>
      <p:bldP spid="13" grpId="0" animBg="1"/>
      <p:bldP spid="8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66333"/>
              </p:ext>
            </p:extLst>
          </p:nvPr>
        </p:nvGraphicFramePr>
        <p:xfrm>
          <a:off x="152400" y="0"/>
          <a:ext cx="8839200" cy="2936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r>
                        <a:rPr lang="en-US" baseline="0" dirty="0"/>
                        <a:t>-Level </a:t>
                      </a:r>
                      <a:r>
                        <a:rPr lang="en-US" dirty="0"/>
                        <a:t>Actions in Words                                                         </a:t>
                      </a:r>
                      <a:r>
                        <a:rPr lang="en-US" sz="3400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is a high to low transition of the Register A (!OE). This will put Register A’s data on the bus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</a:t>
                      </a:r>
                      <a:r>
                        <a:rPr lang="en-US" baseline="0" dirty="0"/>
                        <a:t> the bus data in a temporary ALU input register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pulse a high to low transition for the output enable of Register B to our bus,</a:t>
                      </a:r>
                      <a:r>
                        <a:rPr lang="en-US" baseline="0" dirty="0"/>
                        <a:t> also pulsing F0,F1 on the ALU so that it performs an add using the bus and the temp input register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 the output of the ALU back</a:t>
                      </a:r>
                      <a:r>
                        <a:rPr lang="en-US" baseline="0" dirty="0"/>
                        <a:t> to a register C </a:t>
                      </a:r>
                      <a:r>
                        <a:rPr lang="en-US" dirty="0"/>
                        <a:t>on the clock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609600" y="388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In Control Signals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469971"/>
              </p:ext>
            </p:extLst>
          </p:nvPr>
        </p:nvGraphicFramePr>
        <p:xfrm>
          <a:off x="152400" y="3027681"/>
          <a:ext cx="8839200" cy="37541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Low-Level</a:t>
                      </a:r>
                      <a:r>
                        <a:rPr lang="en-US" baseline="0" dirty="0"/>
                        <a:t> Actions in the Circuitry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A1&lt;-0, assert low: !OE_R0 &lt;-0 (so all else is blocked from the bus with tri-state)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!WE_ALU_TEMP &lt;-0 (Register file and R0 still owns the bus)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!OE_R0</a:t>
                      </a:r>
                      <a:r>
                        <a:rPr lang="en-US" baseline="0" dirty="0"/>
                        <a:t> &lt;-1 (R0 loses the bus), !OE_R1 &lt;-0 (R1 now is on the bus for ALU)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A1&lt;-1, assert low to pull R1 from the </a:t>
                      </a:r>
                      <a:r>
                        <a:rPr lang="en-US" baseline="0" dirty="0" err="1"/>
                        <a:t>reg</a:t>
                      </a:r>
                      <a:r>
                        <a:rPr lang="en-US" baseline="0" dirty="0"/>
                        <a:t> file to the bus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F0&lt;-0, F1&lt;-0 (</a:t>
                      </a:r>
                      <a:r>
                        <a:rPr lang="en-US" baseline="0" dirty="0" err="1"/>
                        <a:t>Async</a:t>
                      </a:r>
                      <a:r>
                        <a:rPr lang="en-US" baseline="0" dirty="0"/>
                        <a:t> add operation for ALU)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!OE_R1 &lt;-1  (R1 frees the bus)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!OE_ALU &lt;-1 (ALU output gets the bus)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A1&lt;-1, A0&lt;-0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assert low: !WE_R2 &lt;-0 so R2 (row “three” in our RAM) pulls data off the bus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4267200" y="2667000"/>
            <a:ext cx="57150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sz="3600" dirty="0">
                <a:solidFill>
                  <a:srgbClr val="FFFFFF"/>
                </a:solidFill>
              </a:rPr>
              <a:t>Control Signals</a:t>
            </a:r>
          </a:p>
        </p:txBody>
      </p:sp>
    </p:spTree>
    <p:extLst>
      <p:ext uri="{BB962C8B-B14F-4D97-AF65-F5344CB8AC3E}">
        <p14:creationId xmlns:p14="http://schemas.microsoft.com/office/powerpoint/2010/main" val="1966545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-154939"/>
            <a:ext cx="9052560" cy="1450339"/>
          </a:xfrm>
        </p:spPr>
        <p:txBody>
          <a:bodyPr/>
          <a:lstStyle/>
          <a:p>
            <a:r>
              <a:rPr lang="en-US" sz="4000" dirty="0"/>
              <a:t>Actual Control Signal Timing Diagram</a:t>
            </a:r>
            <a:br>
              <a:rPr lang="en-US" sz="4000" dirty="0"/>
            </a:br>
            <a:endParaRPr lang="en-US" sz="4000" dirty="0"/>
          </a:p>
        </p:txBody>
      </p:sp>
      <p:pic>
        <p:nvPicPr>
          <p:cNvPr id="5" name="Picture 4" descr="Screen Shot 2015-04-19 at 8.27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7" y="1295400"/>
            <a:ext cx="8788400" cy="530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88668"/>
            <a:ext cx="8839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Introducing </a:t>
            </a:r>
            <a:r>
              <a:rPr lang="en-US" b="1" dirty="0"/>
              <a:t>!ADDR_VAL</a:t>
            </a:r>
            <a:r>
              <a:rPr lang="en-US" dirty="0"/>
              <a:t> &amp; </a:t>
            </a:r>
            <a:r>
              <a:rPr lang="en-US" b="1" dirty="0"/>
              <a:t>!WAIT</a:t>
            </a:r>
            <a:r>
              <a:rPr lang="en-US" dirty="0"/>
              <a:t> to help with the </a:t>
            </a:r>
            <a:r>
              <a:rPr lang="en-US" dirty="0" err="1"/>
              <a:t>Proc</a:t>
            </a:r>
            <a:r>
              <a:rPr lang="en-US" dirty="0"/>
              <a:t>-to-Memory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4470"/>
            <a:ext cx="91440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Only after we’ve stabilized the </a:t>
            </a:r>
            <a:r>
              <a:rPr lang="en-US" dirty="0" err="1"/>
              <a:t>Addr</a:t>
            </a:r>
            <a:r>
              <a:rPr lang="en-US" dirty="0"/>
              <a:t> bus do we assert low !ADDR_VAL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And note we need !ADDR_VAL for both reads and writes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Describe the delay between the time we signal !ADDR_VAL and !RD or !WR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8686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From the text: “We’ve omitted MANY additional signals that may be present (or absent!?) in various processors to restrict our discussion to the bare essentials.”</a:t>
            </a:r>
          </a:p>
        </p:txBody>
      </p:sp>
    </p:spTree>
    <p:extLst>
      <p:ext uri="{BB962C8B-B14F-4D97-AF65-F5344CB8AC3E}">
        <p14:creationId xmlns:p14="http://schemas.microsoft.com/office/powerpoint/2010/main" val="39826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98475" y="1981200"/>
            <a:ext cx="3082926" cy="414496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  <a:p>
            <a:endParaRPr lang="en-US" dirty="0"/>
          </a:p>
          <a:p>
            <a:r>
              <a:rPr lang="en-US" dirty="0"/>
              <a:t>Names for Registers?</a:t>
            </a:r>
          </a:p>
          <a:p>
            <a:pPr lvl="1"/>
            <a:r>
              <a:rPr lang="en-US" dirty="0"/>
              <a:t>Foo1, r1,  Ex, </a:t>
            </a:r>
            <a:r>
              <a:rPr lang="en-US" dirty="0" err="1"/>
              <a:t>Dx</a:t>
            </a:r>
            <a:r>
              <a:rPr lang="en-US" dirty="0"/>
              <a:t>,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81800" y="3935968"/>
            <a:ext cx="480058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>
                <a:solidFill>
                  <a:schemeClr val="tx1"/>
                </a:solidFill>
              </a:rPr>
              <a:t>What is this “Black Box” Register File?</a:t>
            </a:r>
          </a:p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>
                <a:solidFill>
                  <a:srgbClr val="000000"/>
                </a:solidFill>
              </a:rPr>
              <a:t>What are F0, F1?  </a:t>
            </a:r>
          </a:p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>
                <a:solidFill>
                  <a:srgbClr val="000000"/>
                </a:solidFill>
              </a:rPr>
              <a:t>What are control wires?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79294"/>
            <a:ext cx="8382000" cy="1116106"/>
          </a:xfrm>
        </p:spPr>
        <p:txBody>
          <a:bodyPr/>
          <a:lstStyle/>
          <a:p>
            <a:r>
              <a:rPr lang="en-US" sz="3600" dirty="0"/>
              <a:t>HW1 Extended </a:t>
            </a:r>
            <a:br>
              <a:rPr lang="en-US" sz="3600" dirty="0"/>
            </a:br>
            <a:r>
              <a:rPr lang="en-US" sz="3600" dirty="0"/>
              <a:t>With 4 Storage Registers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050268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9600" y="3669268"/>
            <a:ext cx="1295400" cy="533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File (4x8)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600" y="13070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1600" y="17642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1600" y="22214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600" y="26786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4572000" y="3135868"/>
            <a:ext cx="609600" cy="60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715000" y="3135868"/>
            <a:ext cx="1600200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3434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4958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38600" y="5498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F0 F1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5638800" y="38862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638800" y="41148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19800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9800" y="3962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5410200" y="4191000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486400" y="4191000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562600" y="4191000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638800" y="4191000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626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D0-D7</a:t>
            </a:r>
          </a:p>
        </p:txBody>
      </p:sp>
      <p:sp>
        <p:nvSpPr>
          <p:cNvPr id="3" name="Left-Up Arrow 2"/>
          <p:cNvSpPr/>
          <p:nvPr/>
        </p:nvSpPr>
        <p:spPr>
          <a:xfrm>
            <a:off x="5181600" y="4419600"/>
            <a:ext cx="457200" cy="457200"/>
          </a:xfrm>
          <a:prstGeom prst="left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400800" y="5808730"/>
            <a:ext cx="4797271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A: A simple chain of D-</a:t>
            </a:r>
            <a:r>
              <a:rPr lang="en-US" dirty="0" err="1">
                <a:solidFill>
                  <a:srgbClr val="3366FF"/>
                </a:solidFill>
              </a:rPr>
              <a:t>ffs</a:t>
            </a:r>
            <a:r>
              <a:rPr lang="en-US" dirty="0">
                <a:solidFill>
                  <a:srgbClr val="3366FF"/>
                </a:solidFill>
              </a:rPr>
              <a:t> to store 8 bits</a:t>
            </a:r>
          </a:p>
          <a:p>
            <a:r>
              <a:rPr lang="en-US" dirty="0">
                <a:solidFill>
                  <a:srgbClr val="3366FF"/>
                </a:solidFill>
              </a:rPr>
              <a:t>A: F0, F1 are control wires to choose the op</a:t>
            </a:r>
          </a:p>
          <a:p>
            <a:r>
              <a:rPr lang="en-US" dirty="0">
                <a:solidFill>
                  <a:srgbClr val="3366FF"/>
                </a:solidFill>
              </a:rPr>
              <a:t>A: Part of the Status/Control bus</a:t>
            </a:r>
          </a:p>
        </p:txBody>
      </p:sp>
    </p:spTree>
    <p:extLst>
      <p:ext uri="{BB962C8B-B14F-4D97-AF65-F5344CB8AC3E}">
        <p14:creationId xmlns:p14="http://schemas.microsoft.com/office/powerpoint/2010/main" val="316882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600200"/>
          </a:xfrm>
        </p:spPr>
        <p:txBody>
          <a:bodyPr/>
          <a:lstStyle/>
          <a:p>
            <a:r>
              <a:rPr lang="en-US" dirty="0"/>
              <a:t>R/W Control Signals for Register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Read Control Signals: </a:t>
            </a:r>
          </a:p>
          <a:p>
            <a:pPr lvl="1"/>
            <a:r>
              <a:rPr lang="en-US" b="1" dirty="0"/>
              <a:t>!</a:t>
            </a:r>
            <a:r>
              <a:rPr lang="en-US" b="1" dirty="0" err="1"/>
              <a:t>CS</a:t>
            </a:r>
            <a:r>
              <a:rPr lang="en-US" b="1" baseline="-25000" dirty="0" err="1"/>
              <a:t>wholeChip</a:t>
            </a:r>
            <a:r>
              <a:rPr lang="en-US" b="1" dirty="0"/>
              <a:t> </a:t>
            </a:r>
            <a:r>
              <a:rPr lang="en-US" dirty="0"/>
              <a:t>is low, </a:t>
            </a:r>
            <a:r>
              <a:rPr lang="en-US" b="1" dirty="0"/>
              <a:t>!</a:t>
            </a:r>
            <a:r>
              <a:rPr lang="en-US" b="1" dirty="0" err="1"/>
              <a:t>OE</a:t>
            </a:r>
            <a:r>
              <a:rPr lang="en-US" b="1" baseline="-25000" dirty="0" err="1"/>
              <a:t>somePage</a:t>
            </a:r>
            <a:r>
              <a:rPr lang="en-US" dirty="0"/>
              <a:t> is low, </a:t>
            </a:r>
            <a:r>
              <a:rPr lang="en-US" b="1" dirty="0"/>
              <a:t>!</a:t>
            </a:r>
            <a:r>
              <a:rPr lang="en-US" b="1" dirty="0" err="1"/>
              <a:t>WE</a:t>
            </a:r>
            <a:r>
              <a:rPr lang="en-US" b="1" baseline="-25000" dirty="0" err="1"/>
              <a:t>somePage</a:t>
            </a:r>
            <a:r>
              <a:rPr lang="en-US" dirty="0"/>
              <a:t> is high</a:t>
            </a:r>
          </a:p>
          <a:p>
            <a:r>
              <a:rPr lang="en-US" dirty="0"/>
              <a:t>General Write Control Signals:</a:t>
            </a:r>
          </a:p>
          <a:p>
            <a:pPr lvl="1"/>
            <a:r>
              <a:rPr lang="en-US" b="1" dirty="0"/>
              <a:t>!CS </a:t>
            </a:r>
            <a:r>
              <a:rPr lang="en-US" dirty="0"/>
              <a:t>is low, </a:t>
            </a:r>
            <a:r>
              <a:rPr lang="en-US" b="1" dirty="0"/>
              <a:t>!OE </a:t>
            </a:r>
            <a:r>
              <a:rPr lang="en-US" dirty="0"/>
              <a:t>is high, </a:t>
            </a:r>
            <a:r>
              <a:rPr lang="en-US" b="1" dirty="0"/>
              <a:t>!WE </a:t>
            </a:r>
            <a:r>
              <a:rPr lang="en-US" dirty="0"/>
              <a:t>is low</a:t>
            </a:r>
          </a:p>
          <a:p>
            <a:pPr lvl="2"/>
            <a:r>
              <a:rPr lang="en-US" dirty="0"/>
              <a:t>Never do we see both </a:t>
            </a:r>
            <a:r>
              <a:rPr lang="en-US" b="1" dirty="0"/>
              <a:t>!OE </a:t>
            </a:r>
            <a:r>
              <a:rPr lang="en-US" dirty="0"/>
              <a:t>and </a:t>
            </a:r>
            <a:r>
              <a:rPr lang="en-US" b="1" dirty="0"/>
              <a:t>!WE </a:t>
            </a:r>
            <a:r>
              <a:rPr lang="en-US" dirty="0"/>
              <a:t>low at the same time – why?</a:t>
            </a:r>
          </a:p>
          <a:p>
            <a:endParaRPr lang="en-US" dirty="0"/>
          </a:p>
          <a:p>
            <a:r>
              <a:rPr lang="en-US" dirty="0"/>
              <a:t>Read from the first page/row requires what else?</a:t>
            </a:r>
          </a:p>
          <a:p>
            <a:pPr lvl="1"/>
            <a:r>
              <a:rPr lang="en-US" dirty="0"/>
              <a:t>General Read signals above and then what else?</a:t>
            </a:r>
          </a:p>
          <a:p>
            <a:pPr lvl="2"/>
            <a:r>
              <a:rPr lang="en-US" dirty="0"/>
              <a:t>A0 &lt;- 0, A1 &lt;-0 and we assert low !</a:t>
            </a:r>
            <a:r>
              <a:rPr lang="en-US" dirty="0" err="1"/>
              <a:t>OE</a:t>
            </a:r>
            <a:r>
              <a:rPr lang="en-US" baseline="-25000" dirty="0" err="1"/>
              <a:t>pageOne</a:t>
            </a:r>
            <a:r>
              <a:rPr lang="en-US" baseline="-25000" dirty="0"/>
              <a:t> </a:t>
            </a:r>
            <a:r>
              <a:rPr lang="en-US" dirty="0"/>
              <a:t>while !</a:t>
            </a:r>
            <a:r>
              <a:rPr lang="en-US" dirty="0" err="1"/>
              <a:t>WE</a:t>
            </a:r>
            <a:r>
              <a:rPr lang="en-US" baseline="-25000" dirty="0" err="1"/>
              <a:t>pageOne</a:t>
            </a:r>
            <a:r>
              <a:rPr lang="en-US" dirty="0"/>
              <a:t> is high.</a:t>
            </a:r>
          </a:p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A write to the third page/row requires what?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852597"/>
              </p:ext>
            </p:extLst>
          </p:nvPr>
        </p:nvGraphicFramePr>
        <p:xfrm>
          <a:off x="990600" y="54102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  <a:r>
                        <a:rPr lang="en-US" baseline="-25000" dirty="0"/>
                        <a:t>lsb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491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98475" y="1981200"/>
            <a:ext cx="3082926" cy="414496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  <a:p>
            <a:endParaRPr lang="en-US" dirty="0"/>
          </a:p>
          <a:p>
            <a:r>
              <a:rPr lang="en-US" dirty="0"/>
              <a:t>Names for Registers?</a:t>
            </a:r>
          </a:p>
          <a:p>
            <a:pPr lvl="1"/>
            <a:r>
              <a:rPr lang="en-US" dirty="0"/>
              <a:t>Foo1, r1,  Ex, </a:t>
            </a:r>
            <a:r>
              <a:rPr lang="en-US" dirty="0" err="1"/>
              <a:t>Dx</a:t>
            </a:r>
            <a:r>
              <a:rPr lang="en-US" dirty="0"/>
              <a:t>,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73008" y="4724400"/>
            <a:ext cx="48006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Want to perform in hardware: </a:t>
            </a:r>
          </a:p>
          <a:p>
            <a:r>
              <a:rPr lang="en-US" dirty="0"/>
              <a:t>C = A  + B;     		//R3 = R0 + R1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What circuit does F0,F1 or A0,A1 realize?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What would we do with F0,F1, A0,A1?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76200"/>
            <a:ext cx="9372600" cy="1227717"/>
          </a:xfrm>
        </p:spPr>
        <p:txBody>
          <a:bodyPr/>
          <a:lstStyle/>
          <a:p>
            <a:r>
              <a:rPr lang="en-US" sz="3200" dirty="0"/>
              <a:t>Now That You’ve Mastered Controlling Memory… </a:t>
            </a:r>
            <a:br>
              <a:rPr lang="en-US" sz="3200" dirty="0"/>
            </a:br>
            <a:r>
              <a:rPr lang="en-US" sz="3200" dirty="0"/>
              <a:t>Unify &amp; Organize: Add it to HW1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050268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16880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0" y="21452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5400" y="26024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5400" y="3059668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4495800" y="3516868"/>
            <a:ext cx="609600" cy="6096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638800" y="3516868"/>
            <a:ext cx="1600200" cy="5334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1816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3340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76800" y="5498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F0 F1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5562600" y="42672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562600" y="44958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4050268"/>
            <a:ext cx="1295400" cy="533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File (4x8)</a:t>
            </a:r>
          </a:p>
        </p:txBody>
      </p:sp>
      <p:sp>
        <p:nvSpPr>
          <p:cNvPr id="3" name="Left-Up Arrow 2"/>
          <p:cNvSpPr/>
          <p:nvPr/>
        </p:nvSpPr>
        <p:spPr>
          <a:xfrm rot="5400000">
            <a:off x="4267200" y="4419600"/>
            <a:ext cx="457200" cy="457200"/>
          </a:xfrm>
          <a:prstGeom prst="left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59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98475" y="1981200"/>
            <a:ext cx="3082926" cy="414496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4050268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6764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2133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25908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0" y="30480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257800" y="2895600"/>
            <a:ext cx="838200" cy="1219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334000" y="3505200"/>
            <a:ext cx="26670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1816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3340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76800" y="5498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F0 F1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5562600" y="42672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562600" y="44958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77240" y="21253"/>
            <a:ext cx="6339840" cy="31393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 perform an ADD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put zeroes on F0, F1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To use R0 as the source for A, you’d pick R0 by asserting low on A0 and A1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To pick another register for B, we’d have to ask the register file for, say R1 by asserting a 0 and a 1 on A0 &amp; A1 respectively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To store results in yet a third register, we have to access the register file again and pick a 3</a:t>
            </a:r>
            <a:r>
              <a:rPr lang="en-US" baseline="30000" dirty="0"/>
              <a:t>rd</a:t>
            </a:r>
            <a:r>
              <a:rPr lang="en-US" dirty="0"/>
              <a:t> register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But in what order? (number these steps)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And, do we just manually change wire voltages!?</a:t>
            </a:r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6173662" y="-50800"/>
            <a:ext cx="3122738" cy="1600200"/>
          </a:xfrm>
        </p:spPr>
        <p:txBody>
          <a:bodyPr/>
          <a:lstStyle/>
          <a:p>
            <a:r>
              <a:rPr lang="en-US" dirty="0"/>
              <a:t>HW1 Extended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4050268"/>
            <a:ext cx="1295400" cy="533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File (4x8)</a:t>
            </a:r>
          </a:p>
        </p:txBody>
      </p:sp>
      <p:sp>
        <p:nvSpPr>
          <p:cNvPr id="3" name="Left-Up Arrow 2"/>
          <p:cNvSpPr/>
          <p:nvPr/>
        </p:nvSpPr>
        <p:spPr>
          <a:xfrm rot="5400000">
            <a:off x="4267200" y="4419600"/>
            <a:ext cx="457200" cy="457200"/>
          </a:xfrm>
          <a:prstGeom prst="left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038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 flipH="1">
            <a:off x="5257800" y="3505200"/>
            <a:ext cx="609600" cy="6096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334000" y="3505200"/>
            <a:ext cx="2667000" cy="685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98475" y="1981200"/>
            <a:ext cx="3082926" cy="414496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4050268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4050268"/>
            <a:ext cx="1295400" cy="533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File (4x8)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7400" y="16764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7400" y="2133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7400" y="25908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R2: 00000110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30480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51816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5334000" y="5269468"/>
            <a:ext cx="0" cy="304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76800" y="5498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F0 F1</a:t>
            </a:r>
          </a:p>
        </p:txBody>
      </p:sp>
      <p:sp>
        <p:nvSpPr>
          <p:cNvPr id="3" name="Left-Up Arrow 2"/>
          <p:cNvSpPr/>
          <p:nvPr/>
        </p:nvSpPr>
        <p:spPr>
          <a:xfrm rot="5400000">
            <a:off x="4267200" y="4419600"/>
            <a:ext cx="457200" cy="457200"/>
          </a:xfrm>
          <a:prstGeom prst="left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5562600" y="42672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562600" y="4495800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0" y="4038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43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886200" y="-804623"/>
            <a:ext cx="6714744" cy="258532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Assert low on A0 and A1 to choose R0 (source), assert OE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One clock cycle to load this into a temp ALU register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Assert a 0 and a 1 on A0 &amp; A1 to select R1 (source), assert OE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Another cycle to ready the data for direct ALU use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Put zeroes on F0, F1 to select the </a:t>
            </a:r>
            <a:r>
              <a:rPr lang="en-US" b="1" dirty="0">
                <a:solidFill>
                  <a:schemeClr val="bg1"/>
                </a:solidFill>
              </a:rPr>
              <a:t>ADD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function, </a:t>
            </a:r>
            <a:r>
              <a:rPr lang="en-US" dirty="0" err="1"/>
              <a:t>deassert</a:t>
            </a:r>
            <a:r>
              <a:rPr lang="en-US" dirty="0"/>
              <a:t> OE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ADD costs one clock cycle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After which the output is ready on bus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Assert high on A0, low on A1 to choose R2 (</a:t>
            </a:r>
            <a:r>
              <a:rPr lang="en-US" dirty="0" err="1"/>
              <a:t>dest</a:t>
            </a:r>
            <a:r>
              <a:rPr lang="en-US" dirty="0"/>
              <a:t>), assert WE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i="1" dirty="0">
                <a:solidFill>
                  <a:srgbClr val="000090"/>
                </a:solidFill>
              </a:rPr>
              <a:t>Simple, right?  Order of Ops and just control signals.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5381704"/>
            <a:ext cx="3276600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R0(A) to a temp </a:t>
            </a:r>
            <a:r>
              <a:rPr lang="en-US" dirty="0" err="1"/>
              <a:t>reg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R1(B) to the ALU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low on F0,F1 (ADD)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Store ALU result in R2 (C)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400" y="5000704"/>
            <a:ext cx="14478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 = A + B;</a:t>
            </a:r>
          </a:p>
          <a:p>
            <a:r>
              <a:rPr lang="en-US" dirty="0"/>
              <a:t>(</a:t>
            </a:r>
            <a:r>
              <a:rPr lang="en-US" dirty="0" err="1"/>
              <a:t>c++</a:t>
            </a:r>
            <a:r>
              <a:rPr lang="en-US" dirty="0"/>
              <a:t> op)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5000704"/>
            <a:ext cx="1447800" cy="64633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 A,B,C</a:t>
            </a:r>
          </a:p>
          <a:p>
            <a:r>
              <a:rPr lang="en-US" dirty="0"/>
              <a:t>(MIPS)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53400" y="1120676"/>
            <a:ext cx="5029200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</a:rPr>
              <a:t>A: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One high-level “action” on the previous slide was composed of many sub-steps that the hardware must orchestrate sequentially</a:t>
            </a:r>
          </a:p>
          <a:p>
            <a:r>
              <a:rPr lang="en-US" dirty="0"/>
              <a:t>     (</a:t>
            </a:r>
            <a:r>
              <a:rPr lang="en-US" b="1" dirty="0"/>
              <a:t>micro-operations, microcode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Use </a:t>
            </a:r>
            <a:r>
              <a:rPr lang="en-US" b="1" i="1" dirty="0"/>
              <a:t>macros</a:t>
            </a:r>
            <a:r>
              <a:rPr lang="en-US" dirty="0"/>
              <a:t> to represent control wire voltages at different steps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We’ll call this code: “</a:t>
            </a:r>
            <a:r>
              <a:rPr lang="en-US" dirty="0" err="1"/>
              <a:t>asm</a:t>
            </a:r>
            <a:r>
              <a:rPr lang="en-US" dirty="0"/>
              <a:t>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-3916703" y="6326663"/>
            <a:ext cx="6745247" cy="25146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88000"/>
                </a:schemeClr>
              </a:gs>
              <a:gs pos="80000">
                <a:schemeClr val="accent1">
                  <a:shade val="93000"/>
                  <a:satMod val="130000"/>
                  <a:alpha val="88000"/>
                </a:schemeClr>
              </a:gs>
              <a:gs pos="100000">
                <a:schemeClr val="accent1">
                  <a:shade val="94000"/>
                  <a:satMod val="135000"/>
                  <a:alpha val="88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Abbreviate these steps as “ADD “, rather than 00, 01, 00, 10…</a:t>
            </a:r>
          </a:p>
        </p:txBody>
      </p:sp>
    </p:spTree>
    <p:extLst>
      <p:ext uri="{BB962C8B-B14F-4D97-AF65-F5344CB8AC3E}">
        <p14:creationId xmlns:p14="http://schemas.microsoft.com/office/powerpoint/2010/main" val="326131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92522"/>
              </p:ext>
            </p:extLst>
          </p:nvPr>
        </p:nvGraphicFramePr>
        <p:xfrm>
          <a:off x="152400" y="0"/>
          <a:ext cx="8839200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r>
                        <a:rPr lang="en-US" baseline="0" dirty="0"/>
                        <a:t>-Level </a:t>
                      </a:r>
                      <a:r>
                        <a:rPr lang="en-US" dirty="0"/>
                        <a:t>Actions in Words                                                         </a:t>
                      </a:r>
                      <a:r>
                        <a:rPr lang="en-US" sz="3400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is a high to low transition of the Register A (!OE). This will put Register A’s data on the bus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</a:t>
                      </a:r>
                      <a:r>
                        <a:rPr lang="en-US" baseline="0" dirty="0"/>
                        <a:t> the bus data in a temporary ALU input register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pulse a high to low transition for the output enable of Register B to our bus,</a:t>
                      </a:r>
                      <a:r>
                        <a:rPr lang="en-US" baseline="0" dirty="0"/>
                        <a:t> also pulsing F0,F1 on the ALU so that it performs an add using the bus and the temp input register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 the output of the ALU back</a:t>
                      </a:r>
                      <a:r>
                        <a:rPr lang="en-US" baseline="0" dirty="0"/>
                        <a:t> to a register C </a:t>
                      </a:r>
                      <a:r>
                        <a:rPr lang="en-US" dirty="0"/>
                        <a:t>on the clock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609600" y="388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In Control Signals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729731"/>
              </p:ext>
            </p:extLst>
          </p:nvPr>
        </p:nvGraphicFramePr>
        <p:xfrm>
          <a:off x="152400" y="3027681"/>
          <a:ext cx="8839200" cy="3754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Low-Level</a:t>
                      </a:r>
                      <a:r>
                        <a:rPr lang="en-US" baseline="0" dirty="0"/>
                        <a:t> Actions in the Circuitry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A1&lt;-0, assert low: !OE_R0 &lt;-0 (so all else is blocked from the bus with tri-state)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!WE_ALU_TEMP &lt;-0 (Register file and R0 still owns the bus)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!OE_R0</a:t>
                      </a:r>
                      <a:r>
                        <a:rPr lang="en-US" baseline="0" dirty="0"/>
                        <a:t> &lt;-1 (R0 loses the bus), !OE_R1 &lt;-0 (R1 now is on the bus for ALU)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A1&lt;-1, assert low to pull R1 from the </a:t>
                      </a:r>
                      <a:r>
                        <a:rPr lang="en-US" baseline="0" dirty="0" err="1"/>
                        <a:t>reg</a:t>
                      </a:r>
                      <a:r>
                        <a:rPr lang="en-US" baseline="0" dirty="0"/>
                        <a:t> file to the bus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F0&lt;-0, F1&lt;-0 (</a:t>
                      </a:r>
                      <a:r>
                        <a:rPr lang="en-US" baseline="0" dirty="0" err="1"/>
                        <a:t>Async</a:t>
                      </a:r>
                      <a:r>
                        <a:rPr lang="en-US" baseline="0" dirty="0"/>
                        <a:t> add operation for ALU)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!OE_R1 &lt;-1  (R1 frees the bus)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!OE_ALU &lt;-1 (ALU output gets the bus)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A1&lt;-1, A0&lt;-0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assert low: !WE_R2 &lt;-0 so R2 (row “three” in our RAM) pulls data off the bus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4267200" y="2667000"/>
            <a:ext cx="57150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sz="3600" dirty="0">
                <a:solidFill>
                  <a:srgbClr val="FFFFFF"/>
                </a:solidFill>
              </a:rPr>
              <a:t>Control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09600"/>
            <a:ext cx="7543800" cy="2362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75000"/>
                </a:schemeClr>
              </a:gs>
              <a:gs pos="80000">
                <a:schemeClr val="accent1">
                  <a:shade val="93000"/>
                  <a:satMod val="130000"/>
                  <a:alpha val="75000"/>
                </a:schemeClr>
              </a:gs>
              <a:gs pos="100000">
                <a:schemeClr val="accent1">
                  <a:shade val="94000"/>
                  <a:satMod val="135000"/>
                  <a:alpha val="7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Too Vague</a:t>
            </a:r>
          </a:p>
          <a:p>
            <a:pPr algn="ctr"/>
            <a:r>
              <a:rPr lang="en-US" sz="3000" b="1" dirty="0"/>
              <a:t> Not Enough Details</a:t>
            </a:r>
          </a:p>
          <a:p>
            <a:pPr algn="ctr"/>
            <a:r>
              <a:rPr lang="en-US" sz="3000" b="1" dirty="0"/>
              <a:t>Yet Lengthy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200" y="3505200"/>
            <a:ext cx="8077200" cy="32004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66000"/>
                </a:schemeClr>
              </a:gs>
              <a:gs pos="80000">
                <a:schemeClr val="accent2">
                  <a:shade val="93000"/>
                  <a:satMod val="130000"/>
                  <a:alpha val="66000"/>
                </a:schemeClr>
              </a:gs>
              <a:gs pos="100000">
                <a:schemeClr val="accent2">
                  <a:shade val="94000"/>
                  <a:satMod val="135000"/>
                  <a:alpha val="66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Too Specific</a:t>
            </a:r>
          </a:p>
          <a:p>
            <a:pPr algn="ctr"/>
            <a:r>
              <a:rPr lang="en-US" sz="3000" b="1" dirty="0"/>
              <a:t>Too Much Detail to Scale, </a:t>
            </a:r>
          </a:p>
          <a:p>
            <a:pPr algn="ctr"/>
            <a:r>
              <a:rPr lang="en-US" sz="3000" b="1" dirty="0"/>
              <a:t>Unclear Abbreviations</a:t>
            </a:r>
          </a:p>
          <a:p>
            <a:pPr algn="ctr"/>
            <a:r>
              <a:rPr lang="en-US" sz="3000" b="1" dirty="0"/>
              <a:t>Even Lengthier?</a:t>
            </a:r>
          </a:p>
          <a:p>
            <a:pPr algn="ctr"/>
            <a:r>
              <a:rPr lang="en-US" sz="3000" b="1" dirty="0"/>
              <a:t>Clearly Architecture Specific!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6800" y="1066800"/>
            <a:ext cx="8001000" cy="4876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81000"/>
                </a:schemeClr>
              </a:gs>
              <a:gs pos="35000">
                <a:schemeClr val="accent5">
                  <a:tint val="37000"/>
                  <a:satMod val="300000"/>
                  <a:alpha val="81000"/>
                </a:schemeClr>
              </a:gs>
              <a:gs pos="100000">
                <a:schemeClr val="accent5">
                  <a:tint val="15000"/>
                  <a:satMod val="350000"/>
                  <a:alpha val="8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We Welcome Assembly Language: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Shorthand </a:t>
            </a:r>
            <a:r>
              <a:rPr lang="en-US" b="1" i="1" dirty="0"/>
              <a:t>macros</a:t>
            </a:r>
            <a:r>
              <a:rPr lang="en-US" dirty="0"/>
              <a:t> or abbreviations for a series of steps 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Brief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Explicitly defines a discrete operation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(Possibly in multiple sub-steps)</a:t>
            </a:r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4113073"/>
            <a:ext cx="7162800" cy="16312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i="1" dirty="0"/>
              <a:t>AHA Moment:    1011 1100 --&gt; ADD A,B</a:t>
            </a:r>
          </a:p>
          <a:p>
            <a:endParaRPr lang="en-US" dirty="0"/>
          </a:p>
          <a:p>
            <a:r>
              <a:rPr lang="en-US" dirty="0"/>
              <a:t>Someone woke up and wondered: “what if I DIDN’T have to poke at each wire every clock cycle, but I could instruct the machine to manage these control wires for me during an ADD?”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5151120"/>
            <a:ext cx="1524000" cy="6096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1011 1100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1524000" cy="10058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 ADD A,B</a:t>
            </a:r>
            <a:endParaRPr lang="en-US" dirty="0"/>
          </a:p>
        </p:txBody>
      </p:sp>
      <p:sp>
        <p:nvSpPr>
          <p:cNvPr id="15" name="Up-Down Arrow 14"/>
          <p:cNvSpPr/>
          <p:nvPr/>
        </p:nvSpPr>
        <p:spPr>
          <a:xfrm>
            <a:off x="656975" y="4788268"/>
            <a:ext cx="286251" cy="515252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0"/>
          <p:cNvSpPr txBox="1">
            <a:spLocks/>
          </p:cNvSpPr>
          <p:nvPr/>
        </p:nvSpPr>
        <p:spPr>
          <a:xfrm>
            <a:off x="381000" y="152400"/>
            <a:ext cx="1600200" cy="170656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A,B,C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302159"/>
              </p:ext>
            </p:extLst>
          </p:nvPr>
        </p:nvGraphicFramePr>
        <p:xfrm>
          <a:off x="685800" y="2514600"/>
          <a:ext cx="76200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#1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#1 A0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#2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#2 A0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/>
                        <a:t> A0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429000"/>
            <a:ext cx="8229600" cy="381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19000"/>
                </a:schemeClr>
              </a:gs>
              <a:gs pos="80000">
                <a:schemeClr val="accent1">
                  <a:shade val="93000"/>
                  <a:satMod val="130000"/>
                  <a:alpha val="19000"/>
                </a:schemeClr>
              </a:gs>
              <a:gs pos="100000">
                <a:schemeClr val="accent1">
                  <a:shade val="94000"/>
                  <a:satMod val="135000"/>
                  <a:alpha val="19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																	        </a:t>
            </a:r>
            <a:r>
              <a:rPr lang="en-US" dirty="0">
                <a:solidFill>
                  <a:srgbClr val="FF0000"/>
                </a:solidFill>
              </a:rPr>
              <a:t>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10000"/>
            <a:ext cx="8229600" cy="381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tint val="50000"/>
                  <a:satMod val="300000"/>
                  <a:alpha val="12000"/>
                </a:schemeClr>
              </a:gs>
              <a:gs pos="35000">
                <a:schemeClr val="accent4">
                  <a:tint val="37000"/>
                  <a:satMod val="300000"/>
                  <a:alpha val="12000"/>
                </a:schemeClr>
              </a:gs>
              <a:gs pos="100000">
                <a:schemeClr val="accent4">
                  <a:tint val="15000"/>
                  <a:satMod val="350000"/>
                  <a:alpha val="12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																	         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00600"/>
            <a:ext cx="62484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What do the following lines of Machine Language do?</a:t>
            </a:r>
          </a:p>
          <a:p>
            <a:r>
              <a:rPr lang="en-US" dirty="0">
                <a:solidFill>
                  <a:srgbClr val="FF0000"/>
                </a:solidFill>
              </a:rPr>
              <a:t>Q:</a:t>
            </a:r>
            <a:r>
              <a:rPr lang="en-US" dirty="0"/>
              <a:t> Which one corresponds to the ASM instruction above?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228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800" y="6858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800" y="11430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1800" y="16002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</p:spTree>
    <p:extLst>
      <p:ext uri="{BB962C8B-B14F-4D97-AF65-F5344CB8AC3E}">
        <p14:creationId xmlns:p14="http://schemas.microsoft.com/office/powerpoint/2010/main" val="23276076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A,B,C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413994"/>
              </p:ext>
            </p:extLst>
          </p:nvPr>
        </p:nvGraphicFramePr>
        <p:xfrm>
          <a:off x="685800" y="2514600"/>
          <a:ext cx="76200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#1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#1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#2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#2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4800600"/>
            <a:ext cx="62484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US" dirty="0"/>
              <a:t>What does the second “line of code” do?</a:t>
            </a:r>
          </a:p>
        </p:txBody>
      </p:sp>
      <p:sp>
        <p:nvSpPr>
          <p:cNvPr id="8" name="Content Placeholder 10"/>
          <p:cNvSpPr txBox="1">
            <a:spLocks/>
          </p:cNvSpPr>
          <p:nvPr/>
        </p:nvSpPr>
        <p:spPr>
          <a:xfrm>
            <a:off x="381000" y="152400"/>
            <a:ext cx="1600200" cy="170656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</p:txBody>
      </p:sp>
      <p:sp>
        <p:nvSpPr>
          <p:cNvPr id="3" name="Left Brace 2"/>
          <p:cNvSpPr/>
          <p:nvPr/>
        </p:nvSpPr>
        <p:spPr>
          <a:xfrm rot="5400000">
            <a:off x="3937740" y="-107672"/>
            <a:ext cx="437135" cy="709341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81000" y="2895600"/>
            <a:ext cx="82296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Machine language </a:t>
            </a:r>
            <a:r>
              <a:rPr lang="en-US" b="1" dirty="0"/>
              <a:t>of an </a:t>
            </a:r>
            <a:r>
              <a:rPr lang="en-US" b="1" dirty="0">
                <a:solidFill>
                  <a:srgbClr val="FF0000"/>
                </a:solidFill>
              </a:rPr>
              <a:t>ADD</a:t>
            </a:r>
            <a:r>
              <a:rPr lang="en-US" b="1" dirty="0"/>
              <a:t> instruction encoded in binary: “x06”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1800" y="228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1800" y="6858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1800" y="11430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1800" y="16002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</p:spTree>
    <p:extLst>
      <p:ext uri="{BB962C8B-B14F-4D97-AF65-F5344CB8AC3E}">
        <p14:creationId xmlns:p14="http://schemas.microsoft.com/office/powerpoint/2010/main" val="2428403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0"/>
          <p:cNvSpPr txBox="1">
            <a:spLocks/>
          </p:cNvSpPr>
          <p:nvPr/>
        </p:nvSpPr>
        <p:spPr>
          <a:xfrm>
            <a:off x="381000" y="152400"/>
            <a:ext cx="1600200" cy="170656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>
                <a:solidFill>
                  <a:srgbClr val="FF0000"/>
                </a:solidFill>
              </a:rPr>
              <a:t>ND</a:t>
            </a:r>
            <a:r>
              <a:rPr lang="en-US" dirty="0"/>
              <a:t> A,B,C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836696"/>
              </p:ext>
            </p:extLst>
          </p:nvPr>
        </p:nvGraphicFramePr>
        <p:xfrm>
          <a:off x="685800" y="2514600"/>
          <a:ext cx="76200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#1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#1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#2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#2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419600"/>
            <a:ext cx="82296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									</a:t>
            </a:r>
            <a:r>
              <a:rPr lang="en-US" b="1" i="1" dirty="0">
                <a:solidFill>
                  <a:schemeClr val="tx1"/>
                </a:solidFill>
              </a:rPr>
              <a:t>Machine Language </a:t>
            </a:r>
            <a:r>
              <a:rPr lang="en-US" b="1" dirty="0">
                <a:solidFill>
                  <a:schemeClr val="tx1"/>
                </a:solidFill>
              </a:rPr>
              <a:t>representation of A</a:t>
            </a:r>
            <a:r>
              <a:rPr lang="en-US" b="1" dirty="0">
                <a:solidFill>
                  <a:srgbClr val="FF0000"/>
                </a:solidFill>
              </a:rPr>
              <a:t>ND</a:t>
            </a:r>
            <a:r>
              <a:rPr lang="en-US" b="1" dirty="0">
                <a:solidFill>
                  <a:schemeClr val="tx1"/>
                </a:solidFill>
              </a:rPr>
              <a:t> A,B,C is “x46”	</a:t>
            </a: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						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1800" y="228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800" y="6858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1800" y="11430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800" y="16002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4007125" y="710461"/>
            <a:ext cx="437135" cy="709341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5880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0"/>
          <p:cNvSpPr txBox="1">
            <a:spLocks/>
          </p:cNvSpPr>
          <p:nvPr/>
        </p:nvSpPr>
        <p:spPr>
          <a:xfrm>
            <a:off x="0" y="0"/>
            <a:ext cx="1600200" cy="170656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00 //ADD</a:t>
            </a:r>
            <a:br>
              <a:rPr lang="en-US" dirty="0"/>
            </a:br>
            <a:r>
              <a:rPr lang="en-US" dirty="0"/>
              <a:t>01 //AND</a:t>
            </a:r>
            <a:br>
              <a:rPr lang="en-US" dirty="0"/>
            </a:br>
            <a:r>
              <a:rPr lang="en-US" dirty="0"/>
              <a:t>10 //OR</a:t>
            </a:r>
            <a:br>
              <a:rPr lang="en-US" dirty="0"/>
            </a:br>
            <a:r>
              <a:rPr lang="en-US" dirty="0"/>
              <a:t>11 //NOT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310200"/>
              </p:ext>
            </p:extLst>
          </p:nvPr>
        </p:nvGraphicFramePr>
        <p:xfrm>
          <a:off x="685800" y="2057400"/>
          <a:ext cx="76200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#1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#1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 #2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Source #2 A1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 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0" y="3417666"/>
            <a:ext cx="8763000" cy="130673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“ADD A,B,C” is assembled/compiled to the corresponding control signals above.</a:t>
            </a:r>
          </a:p>
          <a:p>
            <a:r>
              <a:rPr lang="en-US" b="1" dirty="0">
                <a:solidFill>
                  <a:schemeClr val="tx1"/>
                </a:solidFill>
              </a:rPr>
              <a:t>Control signals (binary patterns, “0x46”) are directly accepted by the machine.</a:t>
            </a:r>
          </a:p>
          <a:p>
            <a:r>
              <a:rPr lang="en-US" b="1" dirty="0">
                <a:solidFill>
                  <a:schemeClr val="tx1"/>
                </a:solidFill>
              </a:rPr>
              <a:t>Our Assembly Language is directly accepted by a human. </a:t>
            </a:r>
          </a:p>
          <a:p>
            <a:r>
              <a:rPr lang="en-US" b="1" dirty="0">
                <a:solidFill>
                  <a:schemeClr val="tx1"/>
                </a:solidFill>
              </a:rPr>
              <a:t>The Alpha abstraction is our own (custom to our HW) programming language!</a:t>
            </a:r>
          </a:p>
        </p:txBody>
      </p:sp>
      <p:sp>
        <p:nvSpPr>
          <p:cNvPr id="8" name="Rectangle 7"/>
          <p:cNvSpPr/>
          <p:nvPr/>
        </p:nvSpPr>
        <p:spPr>
          <a:xfrm>
            <a:off x="7010400" y="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R0: 00000001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0400" y="4572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R1: 00000101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9144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R2: 00000000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0" y="1371600"/>
            <a:ext cx="2133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R3: 00000110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4013940" y="-127739"/>
            <a:ext cx="437135" cy="709341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590800" y="1828800"/>
            <a:ext cx="5715000" cy="1066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20000"/>
                </a:schemeClr>
              </a:gs>
              <a:gs pos="35000">
                <a:schemeClr val="accent5">
                  <a:tint val="37000"/>
                  <a:satMod val="300000"/>
                  <a:alpha val="20000"/>
                </a:schemeClr>
              </a:gs>
              <a:gs pos="100000">
                <a:schemeClr val="accent5">
                  <a:tint val="15000"/>
                  <a:satMod val="350000"/>
                  <a:alpha val="2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Address Bus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647700" y="1828799"/>
            <a:ext cx="1946506" cy="114300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30000"/>
                </a:schemeClr>
              </a:gs>
              <a:gs pos="80000">
                <a:schemeClr val="accent1">
                  <a:shade val="93000"/>
                  <a:satMod val="130000"/>
                  <a:alpha val="30000"/>
                </a:schemeClr>
              </a:gs>
              <a:gs pos="100000">
                <a:schemeClr val="accent1">
                  <a:shade val="94000"/>
                  <a:satMod val="135000"/>
                  <a:alpha val="3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5595434" y="49492"/>
            <a:ext cx="3548566" cy="175183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  <a:alpha val="17000"/>
                </a:schemeClr>
              </a:gs>
              <a:gs pos="35000">
                <a:schemeClr val="accent3">
                  <a:tint val="37000"/>
                  <a:satMod val="300000"/>
                  <a:alpha val="17000"/>
                </a:schemeClr>
              </a:gs>
              <a:gs pos="100000">
                <a:schemeClr val="accent3">
                  <a:tint val="15000"/>
                  <a:satMod val="350000"/>
                  <a:alpha val="17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Data Bus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05000" y="152400"/>
            <a:ext cx="32766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To HW1 (Adder), we added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Registers (memory)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Clock &amp; Synchronization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Data, </a:t>
            </a:r>
            <a:r>
              <a:rPr lang="en-US" dirty="0" err="1"/>
              <a:t>Addr</a:t>
            </a:r>
            <a:r>
              <a:rPr lang="en-US" dirty="0"/>
              <a:t>, Control Busses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" y="5282613"/>
            <a:ext cx="8839200" cy="992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Q:</a:t>
            </a:r>
            <a:r>
              <a:rPr lang="en-US" b="1" dirty="0">
                <a:solidFill>
                  <a:schemeClr val="tx1"/>
                </a:solidFill>
              </a:rPr>
              <a:t> Given the increase in complexity, how do we rise up above the binary controls?</a:t>
            </a:r>
            <a:endParaRPr lang="en-US" dirty="0"/>
          </a:p>
          <a:p>
            <a:r>
              <a:rPr lang="en-US" dirty="0"/>
              <a:t>These additions require complex control (via the Control Bus), and so for even greater flexibility and control, we finally add</a:t>
            </a:r>
            <a:r>
              <a:rPr lang="mr-IN" dirty="0"/>
              <a:t>…</a:t>
            </a:r>
            <a:r>
              <a:rPr lang="en-US" dirty="0"/>
              <a:t>macros? Abbreviations?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57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76200"/>
            <a:ext cx="9144000" cy="2438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Assembler (Compiler) for HW1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5" name="Rounded Rectangle 44"/>
          <p:cNvSpPr/>
          <p:nvPr/>
        </p:nvSpPr>
        <p:spPr>
          <a:xfrm>
            <a:off x="1415034" y="668796"/>
            <a:ext cx="7652766" cy="10076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“HW4 Assembly”</a:t>
            </a:r>
          </a:p>
          <a:p>
            <a:pPr algn="r"/>
            <a:r>
              <a:rPr lang="en-US" dirty="0"/>
              <a:t>Human Code (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2400" y="1843243"/>
            <a:ext cx="6324600" cy="5204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“HW1 Binary”</a:t>
            </a:r>
          </a:p>
          <a:p>
            <a:r>
              <a:rPr lang="en-US" dirty="0"/>
              <a:t>Machine Code (</a:t>
            </a:r>
            <a:r>
              <a:rPr lang="en-US" dirty="0">
                <a:solidFill>
                  <a:srgbClr val="FF0000"/>
                </a:solidFill>
              </a:rPr>
              <a:t>Old</a:t>
            </a:r>
            <a:r>
              <a:rPr lang="en-US" dirty="0"/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0"/>
            <a:ext cx="5943600" cy="903271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ADD</a:t>
            </a:r>
            <a:r>
              <a:rPr lang="en-US" dirty="0"/>
              <a:t> A, B, </a:t>
            </a:r>
            <a:r>
              <a:rPr lang="en-US" dirty="0">
                <a:solidFill>
                  <a:schemeClr val="accent3"/>
                </a:solidFill>
              </a:rPr>
              <a:t>C</a:t>
            </a:r>
            <a:r>
              <a:rPr lang="en-US" dirty="0"/>
              <a:t>”</a:t>
            </a:r>
          </a:p>
        </p:txBody>
      </p:sp>
      <p:sp>
        <p:nvSpPr>
          <p:cNvPr id="4" name="Left Brace 3"/>
          <p:cNvSpPr/>
          <p:nvPr/>
        </p:nvSpPr>
        <p:spPr>
          <a:xfrm rot="5400000">
            <a:off x="3124200" y="1497430"/>
            <a:ext cx="533400" cy="586541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48446" y="1905000"/>
            <a:ext cx="4849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0 0</a:t>
            </a:r>
          </a:p>
        </p:txBody>
      </p:sp>
      <p:cxnSp>
        <p:nvCxnSpPr>
          <p:cNvPr id="7" name="Straight Arrow Connector 6"/>
          <p:cNvCxnSpPr>
            <a:stCxn id="5" idx="2"/>
            <a:endCxn id="11" idx="0"/>
          </p:cNvCxnSpPr>
          <p:nvPr/>
        </p:nvCxnSpPr>
        <p:spPr>
          <a:xfrm flipH="1">
            <a:off x="990600" y="2274332"/>
            <a:ext cx="2400301" cy="1154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00" y="3429000"/>
            <a:ext cx="1905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F0,F1 values piped to the ALU, found on the Control Bus</a:t>
            </a:r>
          </a:p>
        </p:txBody>
      </p:sp>
      <p:sp>
        <p:nvSpPr>
          <p:cNvPr id="13" name="Left Brace 12"/>
          <p:cNvSpPr/>
          <p:nvPr/>
        </p:nvSpPr>
        <p:spPr>
          <a:xfrm rot="5400000">
            <a:off x="4181389" y="1468103"/>
            <a:ext cx="440826" cy="6451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152900" y="1905000"/>
            <a:ext cx="489636" cy="3648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0 0</a:t>
            </a:r>
          </a:p>
        </p:txBody>
      </p:sp>
      <p:cxnSp>
        <p:nvCxnSpPr>
          <p:cNvPr id="15" name="Straight Arrow Connector 14"/>
          <p:cNvCxnSpPr>
            <a:stCxn id="14" idx="2"/>
            <a:endCxn id="18" idx="0"/>
          </p:cNvCxnSpPr>
          <p:nvPr/>
        </p:nvCxnSpPr>
        <p:spPr>
          <a:xfrm flipH="1">
            <a:off x="3390900" y="2269837"/>
            <a:ext cx="1006818" cy="11591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3429000"/>
            <a:ext cx="2667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A0,A1 values fed to the register memory unit for </a:t>
            </a:r>
            <a:r>
              <a:rPr lang="en-US" b="1" dirty="0">
                <a:solidFill>
                  <a:srgbClr val="2F5897"/>
                </a:solidFill>
              </a:rPr>
              <a:t>source operand A </a:t>
            </a:r>
            <a:r>
              <a:rPr lang="en-US" dirty="0"/>
              <a:t>(Register 00) (Omitted: Control Wire ~W==1)</a:t>
            </a:r>
          </a:p>
        </p:txBody>
      </p:sp>
      <p:cxnSp>
        <p:nvCxnSpPr>
          <p:cNvPr id="22" name="Straight Arrow Connector 21"/>
          <p:cNvCxnSpPr>
            <a:stCxn id="30" idx="2"/>
            <a:endCxn id="23" idx="0"/>
          </p:cNvCxnSpPr>
          <p:nvPr/>
        </p:nvCxnSpPr>
        <p:spPr>
          <a:xfrm>
            <a:off x="5274019" y="2286000"/>
            <a:ext cx="1012481" cy="1143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76800" y="3429000"/>
            <a:ext cx="28194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A0,A1 values fed to the register memory unit for </a:t>
            </a:r>
            <a:r>
              <a:rPr lang="en-US" b="1" dirty="0">
                <a:solidFill>
                  <a:schemeClr val="tx2"/>
                </a:solidFill>
              </a:rPr>
              <a:t>source operand B </a:t>
            </a:r>
            <a:r>
              <a:rPr lang="en-US" dirty="0"/>
              <a:t>(Register 01)</a:t>
            </a:r>
          </a:p>
        </p:txBody>
      </p:sp>
      <p:sp>
        <p:nvSpPr>
          <p:cNvPr id="29" name="Left Brace 28"/>
          <p:cNvSpPr/>
          <p:nvPr/>
        </p:nvSpPr>
        <p:spPr>
          <a:xfrm rot="5400000">
            <a:off x="5055185" y="1468103"/>
            <a:ext cx="440826" cy="6451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029201" y="1916668"/>
            <a:ext cx="4896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0 1</a:t>
            </a:r>
          </a:p>
        </p:txBody>
      </p:sp>
      <p:sp>
        <p:nvSpPr>
          <p:cNvPr id="34" name="Left Brace 33"/>
          <p:cNvSpPr/>
          <p:nvPr/>
        </p:nvSpPr>
        <p:spPr>
          <a:xfrm rot="5400000">
            <a:off x="5870489" y="1455403"/>
            <a:ext cx="440826" cy="645195"/>
          </a:xfrm>
          <a:prstGeom prst="lef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854700" y="1905000"/>
            <a:ext cx="48963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57400"/>
            <a:ext cx="2707934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A0,A1 values fed to the register memory unit for </a:t>
            </a:r>
            <a:r>
              <a:rPr lang="en-US" b="1" dirty="0">
                <a:solidFill>
                  <a:schemeClr val="accent3"/>
                </a:solidFill>
              </a:rPr>
              <a:t>destination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operand C</a:t>
            </a:r>
            <a:r>
              <a:rPr lang="en-US" dirty="0"/>
              <a:t> (Register 02)</a:t>
            </a:r>
          </a:p>
        </p:txBody>
      </p:sp>
      <p:cxnSp>
        <p:nvCxnSpPr>
          <p:cNvPr id="40" name="Straight Arrow Connector 39"/>
          <p:cNvCxnSpPr>
            <a:stCxn id="35" idx="2"/>
            <a:endCxn id="37" idx="1"/>
          </p:cNvCxnSpPr>
          <p:nvPr/>
        </p:nvCxnSpPr>
        <p:spPr>
          <a:xfrm>
            <a:off x="6099518" y="2274332"/>
            <a:ext cx="301282" cy="3832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7" name="Curved Right Arrow 46"/>
          <p:cNvSpPr/>
          <p:nvPr/>
        </p:nvSpPr>
        <p:spPr>
          <a:xfrm>
            <a:off x="762000" y="990600"/>
            <a:ext cx="1785031" cy="1521333"/>
          </a:xfrm>
          <a:prstGeom prst="curv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Assemble</a:t>
            </a:r>
          </a:p>
        </p:txBody>
      </p:sp>
      <p:sp>
        <p:nvSpPr>
          <p:cNvPr id="50" name="Curved Right Arrow 49"/>
          <p:cNvSpPr/>
          <p:nvPr/>
        </p:nvSpPr>
        <p:spPr>
          <a:xfrm flipH="1" flipV="1">
            <a:off x="2667000" y="838200"/>
            <a:ext cx="2024969" cy="1489646"/>
          </a:xfrm>
          <a:prstGeom prst="curv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Disassemble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838" y="5770879"/>
            <a:ext cx="8369562" cy="401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 Assemble == To Decode == To Compile == Machine Binary to Human Words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6248400"/>
            <a:ext cx="83695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 Disassemble  == To Reverse Assemble == To Reverse Compile ==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4684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5" grpId="0" animBg="1"/>
      <p:bldP spid="39" grpId="0" animBg="1"/>
      <p:bldP spid="47" grpId="0" animBg="1"/>
      <p:bldP spid="50" grpId="0" animBg="1"/>
      <p:bldP spid="51" grpId="0" animBg="1"/>
      <p:bldP spid="5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192530" y="3733799"/>
            <a:ext cx="7292340" cy="26011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HW Layers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0"/>
            <a:ext cx="9052560" cy="1600200"/>
          </a:xfrm>
        </p:spPr>
        <p:txBody>
          <a:bodyPr/>
          <a:lstStyle/>
          <a:p>
            <a:r>
              <a:rPr lang="en-US" dirty="0"/>
              <a:t>Instruction Set Architecture Unifies HW &amp; SW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0204" y="4941174"/>
            <a:ext cx="6643196" cy="8312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Sequential Logic</a:t>
            </a:r>
            <a:r>
              <a:rPr lang="en-US" dirty="0"/>
              <a:t> </a:t>
            </a:r>
            <a:r>
              <a:rPr lang="en-US" sz="1200" dirty="0"/>
              <a:t>(Gate Combinations That Remember)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06192" y="5758797"/>
            <a:ext cx="6647208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Gates </a:t>
            </a:r>
            <a:r>
              <a:rPr lang="en-US" sz="1200" dirty="0"/>
              <a:t>(AND, OR, NOT, NAND, XOR, </a:t>
            </a:r>
            <a:r>
              <a:rPr lang="mr-IN" sz="1200" dirty="0"/>
              <a:t>…</a:t>
            </a:r>
            <a:r>
              <a:rPr lang="en-US" sz="1200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2329" y="5271455"/>
            <a:ext cx="4721071" cy="50380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Adders, </a:t>
            </a:r>
            <a:r>
              <a:rPr lang="en-US" dirty="0" err="1"/>
              <a:t>Muxes</a:t>
            </a:r>
            <a:r>
              <a:rPr lang="en-US" dirty="0"/>
              <a:t>, Decoders, Parity Generators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5268650"/>
            <a:ext cx="1981200" cy="50380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Flip-Flops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4343400"/>
            <a:ext cx="66294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3366FF"/>
                </a:solidFill>
              </a:rPr>
              <a:t>Busses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0200" y="4378214"/>
            <a:ext cx="1133554" cy="539972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(Bi)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402758"/>
            <a:ext cx="1371600" cy="490884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Uni</a:t>
            </a:r>
            <a:r>
              <a:rPr lang="en-US" dirty="0"/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400" y="4378214"/>
            <a:ext cx="1825600" cy="539972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Control/Status</a:t>
            </a:r>
          </a:p>
          <a:p>
            <a:pPr algn="ctr"/>
            <a:r>
              <a:rPr lang="en-US" dirty="0"/>
              <a:t>(Hetero)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93800" y="1828800"/>
            <a:ext cx="7315200" cy="187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SW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3868" y="2895600"/>
            <a:ext cx="6998132" cy="36431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Decoding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ASM Instructions into Machine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514600"/>
            <a:ext cx="6998132" cy="3643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dirty="0"/>
              <a:t>…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371600" y="2133600"/>
            <a:ext cx="6998132" cy="36431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HW4-6, Final Project all in Assembly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3614462"/>
            <a:ext cx="8610600" cy="31487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ISA: Alpha Coding Interface to Hardware</a:t>
            </a:r>
          </a:p>
        </p:txBody>
      </p:sp>
      <p:sp>
        <p:nvSpPr>
          <p:cNvPr id="18" name="Curved Right Arrow 17"/>
          <p:cNvSpPr/>
          <p:nvPr/>
        </p:nvSpPr>
        <p:spPr>
          <a:xfrm>
            <a:off x="228600" y="634365"/>
            <a:ext cx="629752" cy="3227070"/>
          </a:xfrm>
          <a:prstGeom prst="curv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75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" y="209049"/>
            <a:ext cx="9052560" cy="572502"/>
          </a:xfrm>
        </p:spPr>
        <p:txBody>
          <a:bodyPr/>
          <a:lstStyle/>
          <a:p>
            <a:r>
              <a:rPr lang="en-US" sz="2800" dirty="0"/>
              <a:t>Decoding ASM on a Real Architecture: 68K &amp; MOVE</a:t>
            </a:r>
          </a:p>
        </p:txBody>
      </p:sp>
      <p:sp>
        <p:nvSpPr>
          <p:cNvPr id="175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119" y="1022350"/>
            <a:ext cx="8178800" cy="5302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Refer the 68K manual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Recall that the MOVE instruction format was shown as: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We can decompose this further to: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Opcode</a:t>
            </a:r>
            <a:r>
              <a:rPr lang="en-US" sz="1800" dirty="0"/>
              <a:t> word: MOVE.B </a:t>
            </a:r>
            <a:r>
              <a:rPr lang="en-US" sz="1800" b="1" i="1" dirty="0">
                <a:solidFill>
                  <a:srgbClr val="FF0000"/>
                </a:solidFill>
              </a:rPr>
              <a:t>D3</a:t>
            </a:r>
            <a:r>
              <a:rPr lang="en-US" sz="1800" dirty="0"/>
              <a:t>, </a:t>
            </a:r>
            <a:r>
              <a:rPr lang="en-US" sz="1800" b="1" dirty="0">
                <a:solidFill>
                  <a:srgbClr val="3333FF"/>
                </a:solidFill>
              </a:rPr>
              <a:t>D0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175110" name="Rectangle 4"/>
          <p:cNvSpPr>
            <a:spLocks noChangeArrowheads="1"/>
          </p:cNvSpPr>
          <p:nvPr/>
        </p:nvSpPr>
        <p:spPr bwMode="auto">
          <a:xfrm>
            <a:off x="1363663" y="2011363"/>
            <a:ext cx="57912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175111" name="Rectangle 5"/>
          <p:cNvSpPr>
            <a:spLocks noChangeArrowheads="1"/>
          </p:cNvSpPr>
          <p:nvPr/>
        </p:nvSpPr>
        <p:spPr bwMode="auto">
          <a:xfrm>
            <a:off x="3040063" y="2011363"/>
            <a:ext cx="41148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175112" name="Rectangle 6"/>
          <p:cNvSpPr>
            <a:spLocks noChangeArrowheads="1"/>
          </p:cNvSpPr>
          <p:nvPr/>
        </p:nvSpPr>
        <p:spPr bwMode="auto">
          <a:xfrm>
            <a:off x="5097463" y="2011363"/>
            <a:ext cx="20574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175113" name="Text Box 7"/>
          <p:cNvSpPr txBox="1">
            <a:spLocks noChangeArrowheads="1"/>
          </p:cNvSpPr>
          <p:nvPr/>
        </p:nvSpPr>
        <p:spPr bwMode="auto">
          <a:xfrm>
            <a:off x="1744663" y="2073275"/>
            <a:ext cx="727075" cy="2746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opcode</a:t>
            </a:r>
          </a:p>
        </p:txBody>
      </p:sp>
      <p:sp>
        <p:nvSpPr>
          <p:cNvPr id="175114" name="Text Box 8"/>
          <p:cNvSpPr txBox="1">
            <a:spLocks noChangeArrowheads="1"/>
          </p:cNvSpPr>
          <p:nvPr/>
        </p:nvSpPr>
        <p:spPr bwMode="auto">
          <a:xfrm>
            <a:off x="3725863" y="2087563"/>
            <a:ext cx="6667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dst EA</a:t>
            </a:r>
          </a:p>
        </p:txBody>
      </p:sp>
      <p:sp>
        <p:nvSpPr>
          <p:cNvPr id="175115" name="Text Box 9"/>
          <p:cNvSpPr txBox="1">
            <a:spLocks noChangeArrowheads="1"/>
          </p:cNvSpPr>
          <p:nvPr/>
        </p:nvSpPr>
        <p:spPr bwMode="auto">
          <a:xfrm>
            <a:off x="5859463" y="2087563"/>
            <a:ext cx="70802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src EA </a:t>
            </a:r>
          </a:p>
        </p:txBody>
      </p:sp>
      <p:sp>
        <p:nvSpPr>
          <p:cNvPr id="175116" name="Text Box 10"/>
          <p:cNvSpPr txBox="1">
            <a:spLocks noChangeArrowheads="1"/>
          </p:cNvSpPr>
          <p:nvPr/>
        </p:nvSpPr>
        <p:spPr bwMode="auto">
          <a:xfrm>
            <a:off x="1271588" y="2421652"/>
            <a:ext cx="5929828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000" b="1"/>
              <a:t>15                                           12  11                                                         6     5                                                       0</a:t>
            </a:r>
          </a:p>
        </p:txBody>
      </p:sp>
      <p:sp>
        <p:nvSpPr>
          <p:cNvPr id="175117" name="Rectangle 11"/>
          <p:cNvSpPr>
            <a:spLocks noChangeArrowheads="1"/>
          </p:cNvSpPr>
          <p:nvPr/>
        </p:nvSpPr>
        <p:spPr bwMode="auto">
          <a:xfrm>
            <a:off x="1227138" y="3527588"/>
            <a:ext cx="6791325" cy="2616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100" b="1"/>
          </a:p>
        </p:txBody>
      </p:sp>
      <p:sp>
        <p:nvSpPr>
          <p:cNvPr id="175118" name="Text Box 12"/>
          <p:cNvSpPr txBox="1">
            <a:spLocks noChangeArrowheads="1"/>
          </p:cNvSpPr>
          <p:nvPr/>
        </p:nvSpPr>
        <p:spPr bwMode="auto">
          <a:xfrm>
            <a:off x="1301750" y="3495675"/>
            <a:ext cx="582211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0       0</a:t>
            </a:r>
          </a:p>
        </p:txBody>
      </p:sp>
      <p:sp>
        <p:nvSpPr>
          <p:cNvPr id="175120" name="Rectangle 14"/>
          <p:cNvSpPr>
            <a:spLocks noChangeArrowheads="1"/>
          </p:cNvSpPr>
          <p:nvPr/>
        </p:nvSpPr>
        <p:spPr bwMode="auto">
          <a:xfrm>
            <a:off x="1646238" y="3517900"/>
            <a:ext cx="411162" cy="2808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 sz="1100" b="1"/>
          </a:p>
        </p:txBody>
      </p:sp>
      <p:sp>
        <p:nvSpPr>
          <p:cNvPr id="175121" name="Text Box 15"/>
          <p:cNvSpPr txBox="1">
            <a:spLocks noChangeArrowheads="1"/>
          </p:cNvSpPr>
          <p:nvPr/>
        </p:nvSpPr>
        <p:spPr bwMode="auto">
          <a:xfrm>
            <a:off x="1290638" y="3987800"/>
            <a:ext cx="5557932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15     14     13       12      11      10       9        8         7       6        5        4        3        2        1        0 </a:t>
            </a:r>
          </a:p>
        </p:txBody>
      </p:sp>
      <p:sp>
        <p:nvSpPr>
          <p:cNvPr id="175122" name="Rectangle 16"/>
          <p:cNvSpPr>
            <a:spLocks noChangeArrowheads="1"/>
          </p:cNvSpPr>
          <p:nvPr/>
        </p:nvSpPr>
        <p:spPr bwMode="auto">
          <a:xfrm>
            <a:off x="2078038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3" name="Rectangle 17"/>
          <p:cNvSpPr>
            <a:spLocks noChangeArrowheads="1"/>
          </p:cNvSpPr>
          <p:nvPr/>
        </p:nvSpPr>
        <p:spPr bwMode="auto">
          <a:xfrm>
            <a:off x="2500313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4" name="Rectangle 18"/>
          <p:cNvSpPr>
            <a:spLocks noChangeArrowheads="1"/>
          </p:cNvSpPr>
          <p:nvPr/>
        </p:nvSpPr>
        <p:spPr bwMode="auto">
          <a:xfrm>
            <a:off x="2921000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5" name="Rectangle 19"/>
          <p:cNvSpPr>
            <a:spLocks noChangeArrowheads="1"/>
          </p:cNvSpPr>
          <p:nvPr/>
        </p:nvSpPr>
        <p:spPr bwMode="auto">
          <a:xfrm>
            <a:off x="3349625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6" name="Rectangle 20"/>
          <p:cNvSpPr>
            <a:spLocks noChangeArrowheads="1"/>
          </p:cNvSpPr>
          <p:nvPr/>
        </p:nvSpPr>
        <p:spPr bwMode="auto">
          <a:xfrm>
            <a:off x="3770313" y="3518063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7" name="Rectangle 21"/>
          <p:cNvSpPr>
            <a:spLocks noChangeArrowheads="1"/>
          </p:cNvSpPr>
          <p:nvPr/>
        </p:nvSpPr>
        <p:spPr bwMode="auto">
          <a:xfrm>
            <a:off x="4192588" y="3518063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8" name="Rectangle 22"/>
          <p:cNvSpPr>
            <a:spLocks noChangeArrowheads="1"/>
          </p:cNvSpPr>
          <p:nvPr/>
        </p:nvSpPr>
        <p:spPr bwMode="auto">
          <a:xfrm>
            <a:off x="4613275" y="351488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9" name="Rectangle 23"/>
          <p:cNvSpPr>
            <a:spLocks noChangeArrowheads="1"/>
          </p:cNvSpPr>
          <p:nvPr/>
        </p:nvSpPr>
        <p:spPr bwMode="auto">
          <a:xfrm>
            <a:off x="5045075" y="352123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0" name="Rectangle 24"/>
          <p:cNvSpPr>
            <a:spLocks noChangeArrowheads="1"/>
          </p:cNvSpPr>
          <p:nvPr/>
        </p:nvSpPr>
        <p:spPr bwMode="auto">
          <a:xfrm>
            <a:off x="5465763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1" name="Rectangle 25"/>
          <p:cNvSpPr>
            <a:spLocks noChangeArrowheads="1"/>
          </p:cNvSpPr>
          <p:nvPr/>
        </p:nvSpPr>
        <p:spPr bwMode="auto">
          <a:xfrm>
            <a:off x="5888038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2" name="Rectangle 26"/>
          <p:cNvSpPr>
            <a:spLocks noChangeArrowheads="1"/>
          </p:cNvSpPr>
          <p:nvPr/>
        </p:nvSpPr>
        <p:spPr bwMode="auto">
          <a:xfrm>
            <a:off x="6308725" y="352600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3" name="Rectangle 27"/>
          <p:cNvSpPr>
            <a:spLocks noChangeArrowheads="1"/>
          </p:cNvSpPr>
          <p:nvPr/>
        </p:nvSpPr>
        <p:spPr bwMode="auto">
          <a:xfrm>
            <a:off x="6738938" y="352123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4" name="Rectangle 28"/>
          <p:cNvSpPr>
            <a:spLocks noChangeArrowheads="1"/>
          </p:cNvSpPr>
          <p:nvPr/>
        </p:nvSpPr>
        <p:spPr bwMode="auto">
          <a:xfrm>
            <a:off x="7159625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5" name="Rectangle 29"/>
          <p:cNvSpPr>
            <a:spLocks noChangeArrowheads="1"/>
          </p:cNvSpPr>
          <p:nvPr/>
        </p:nvSpPr>
        <p:spPr bwMode="auto">
          <a:xfrm>
            <a:off x="7581900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6" name="Text Box 31"/>
          <p:cNvSpPr txBox="1">
            <a:spLocks noChangeArrowheads="1"/>
          </p:cNvSpPr>
          <p:nvPr/>
        </p:nvSpPr>
        <p:spPr bwMode="auto">
          <a:xfrm>
            <a:off x="1079500" y="4198938"/>
            <a:ext cx="518091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MSB</a:t>
            </a:r>
          </a:p>
        </p:txBody>
      </p:sp>
      <p:sp>
        <p:nvSpPr>
          <p:cNvPr id="175137" name="Text Box 32"/>
          <p:cNvSpPr txBox="1">
            <a:spLocks noChangeArrowheads="1"/>
          </p:cNvSpPr>
          <p:nvPr/>
        </p:nvSpPr>
        <p:spPr bwMode="auto">
          <a:xfrm>
            <a:off x="7824788" y="4221163"/>
            <a:ext cx="453970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LSB</a:t>
            </a:r>
          </a:p>
        </p:txBody>
      </p:sp>
      <p:sp>
        <p:nvSpPr>
          <p:cNvPr id="175138" name="Rectangle 37"/>
          <p:cNvSpPr>
            <a:spLocks noChangeArrowheads="1"/>
          </p:cNvSpPr>
          <p:nvPr/>
        </p:nvSpPr>
        <p:spPr bwMode="auto">
          <a:xfrm>
            <a:off x="4211638" y="3434219"/>
            <a:ext cx="1238250" cy="430887"/>
          </a:xfrm>
          <a:prstGeom prst="rect">
            <a:avLst/>
          </a:prstGeom>
          <a:solidFill>
            <a:schemeClr val="accent2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DESTINATION</a:t>
            </a:r>
          </a:p>
          <a:p>
            <a:pPr algn="ctr"/>
            <a:r>
              <a:rPr lang="en-US" sz="1100" b="1"/>
              <a:t>MODE</a:t>
            </a:r>
          </a:p>
        </p:txBody>
      </p:sp>
      <p:sp>
        <p:nvSpPr>
          <p:cNvPr id="175139" name="Rectangle 38"/>
          <p:cNvSpPr>
            <a:spLocks noChangeArrowheads="1"/>
          </p:cNvSpPr>
          <p:nvPr/>
        </p:nvSpPr>
        <p:spPr bwMode="auto">
          <a:xfrm>
            <a:off x="6754813" y="3434219"/>
            <a:ext cx="1238250" cy="430887"/>
          </a:xfrm>
          <a:prstGeom prst="rect">
            <a:avLst/>
          </a:prstGeom>
          <a:solidFill>
            <a:srgbClr val="FFFF66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SOURCE</a:t>
            </a:r>
          </a:p>
          <a:p>
            <a:pPr algn="ctr"/>
            <a:r>
              <a:rPr lang="en-US" sz="1100" b="1"/>
              <a:t>REGISTER</a:t>
            </a:r>
          </a:p>
        </p:txBody>
      </p:sp>
      <p:sp>
        <p:nvSpPr>
          <p:cNvPr id="175140" name="Rectangle 34"/>
          <p:cNvSpPr>
            <a:spLocks noChangeArrowheads="1"/>
          </p:cNvSpPr>
          <p:nvPr/>
        </p:nvSpPr>
        <p:spPr bwMode="auto">
          <a:xfrm>
            <a:off x="2098675" y="3512507"/>
            <a:ext cx="823913" cy="261610"/>
          </a:xfrm>
          <a:prstGeom prst="rect">
            <a:avLst/>
          </a:prstGeom>
          <a:solidFill>
            <a:srgbClr val="EAEAEA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SIZE</a:t>
            </a:r>
          </a:p>
        </p:txBody>
      </p:sp>
      <p:sp>
        <p:nvSpPr>
          <p:cNvPr id="175141" name="Rectangle 40"/>
          <p:cNvSpPr>
            <a:spLocks noChangeArrowheads="1"/>
          </p:cNvSpPr>
          <p:nvPr/>
        </p:nvSpPr>
        <p:spPr bwMode="auto">
          <a:xfrm>
            <a:off x="5478463" y="3442156"/>
            <a:ext cx="1238250" cy="430887"/>
          </a:xfrm>
          <a:prstGeom prst="rect">
            <a:avLst/>
          </a:prstGeom>
          <a:solidFill>
            <a:srgbClr val="FF6699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SOURCE</a:t>
            </a:r>
          </a:p>
          <a:p>
            <a:pPr algn="ctr"/>
            <a:r>
              <a:rPr lang="en-US" sz="1100" b="1"/>
              <a:t>MODE</a:t>
            </a:r>
          </a:p>
        </p:txBody>
      </p:sp>
      <p:sp>
        <p:nvSpPr>
          <p:cNvPr id="175142" name="Rectangle 35"/>
          <p:cNvSpPr>
            <a:spLocks noChangeArrowheads="1"/>
          </p:cNvSpPr>
          <p:nvPr/>
        </p:nvSpPr>
        <p:spPr bwMode="auto">
          <a:xfrm>
            <a:off x="2943225" y="3443744"/>
            <a:ext cx="1238250" cy="430887"/>
          </a:xfrm>
          <a:prstGeom prst="rect">
            <a:avLst/>
          </a:prstGeom>
          <a:solidFill>
            <a:srgbClr val="99FF66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 dirty="0"/>
              <a:t>DESTINATION</a:t>
            </a:r>
          </a:p>
          <a:p>
            <a:pPr algn="ctr"/>
            <a:r>
              <a:rPr lang="en-US" sz="1100" b="1" dirty="0"/>
              <a:t>REGISTER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227143" y="5496560"/>
          <a:ext cx="676592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 rot="5400000">
            <a:off x="4036495" y="4255656"/>
            <a:ext cx="317827" cy="2123192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6" name="Left Brace 45"/>
          <p:cNvSpPr/>
          <p:nvPr/>
        </p:nvSpPr>
        <p:spPr>
          <a:xfrm rot="5400000">
            <a:off x="6465282" y="4276050"/>
            <a:ext cx="317827" cy="2123192"/>
          </a:xfrm>
          <a:prstGeom prst="leftBrac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" name="TextBox 3"/>
          <p:cNvSpPr txBox="1"/>
          <p:nvPr/>
        </p:nvSpPr>
        <p:spPr>
          <a:xfrm>
            <a:off x="3349625" y="4838038"/>
            <a:ext cx="1747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rgbClr val="0033CC"/>
                </a:solidFill>
              </a:rPr>
              <a:t>Dest</a:t>
            </a:r>
            <a:r>
              <a:rPr lang="en-US" sz="1100" b="1" dirty="0">
                <a:solidFill>
                  <a:srgbClr val="0033CC"/>
                </a:solidFill>
              </a:rPr>
              <a:t> = D0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0276" y="4834324"/>
            <a:ext cx="1747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Source = D3 </a:t>
            </a:r>
          </a:p>
        </p:txBody>
      </p:sp>
    </p:spTree>
    <p:extLst>
      <p:ext uri="{BB962C8B-B14F-4D97-AF65-F5344CB8AC3E}">
        <p14:creationId xmlns:p14="http://schemas.microsoft.com/office/powerpoint/2010/main" val="564081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838200"/>
          </a:xfrm>
        </p:spPr>
        <p:txBody>
          <a:bodyPr/>
          <a:lstStyle/>
          <a:p>
            <a:r>
              <a:rPr lang="en-US" sz="2800" dirty="0"/>
              <a:t>Decomposing the MOVE instruction</a:t>
            </a:r>
          </a:p>
        </p:txBody>
      </p:sp>
      <p:sp>
        <p:nvSpPr>
          <p:cNvPr id="175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119" y="1022350"/>
            <a:ext cx="8178800" cy="53022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Refer the 68K manual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Recall that the MOVE instruction format was shown as: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We can decompose this further to: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Opcode</a:t>
            </a:r>
            <a:r>
              <a:rPr lang="en-US" sz="1800" dirty="0"/>
              <a:t> word: MOVE.B </a:t>
            </a:r>
            <a:r>
              <a:rPr lang="en-US" sz="1800" b="1" i="1" dirty="0">
                <a:solidFill>
                  <a:srgbClr val="FF0000"/>
                </a:solidFill>
              </a:rPr>
              <a:t>D3</a:t>
            </a:r>
            <a:r>
              <a:rPr lang="en-US" sz="1800" dirty="0"/>
              <a:t>, </a:t>
            </a:r>
            <a:r>
              <a:rPr lang="en-US" sz="1800" b="1" dirty="0">
                <a:solidFill>
                  <a:srgbClr val="3333FF"/>
                </a:solidFill>
              </a:rPr>
              <a:t>D0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333FF"/>
                </a:solidFill>
              </a:rPr>
              <a:t>1003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175110" name="Rectangle 4"/>
          <p:cNvSpPr>
            <a:spLocks noChangeArrowheads="1"/>
          </p:cNvSpPr>
          <p:nvPr/>
        </p:nvSpPr>
        <p:spPr bwMode="auto">
          <a:xfrm>
            <a:off x="1363663" y="2011363"/>
            <a:ext cx="57912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175111" name="Rectangle 5"/>
          <p:cNvSpPr>
            <a:spLocks noChangeArrowheads="1"/>
          </p:cNvSpPr>
          <p:nvPr/>
        </p:nvSpPr>
        <p:spPr bwMode="auto">
          <a:xfrm>
            <a:off x="3040063" y="2011363"/>
            <a:ext cx="41148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400" b="1"/>
          </a:p>
        </p:txBody>
      </p:sp>
      <p:sp>
        <p:nvSpPr>
          <p:cNvPr id="175112" name="Rectangle 6"/>
          <p:cNvSpPr>
            <a:spLocks noChangeArrowheads="1"/>
          </p:cNvSpPr>
          <p:nvPr/>
        </p:nvSpPr>
        <p:spPr bwMode="auto">
          <a:xfrm>
            <a:off x="5097463" y="2011363"/>
            <a:ext cx="2057400" cy="381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400" b="1"/>
          </a:p>
        </p:txBody>
      </p:sp>
      <p:sp>
        <p:nvSpPr>
          <p:cNvPr id="175113" name="Text Box 7"/>
          <p:cNvSpPr txBox="1">
            <a:spLocks noChangeArrowheads="1"/>
          </p:cNvSpPr>
          <p:nvPr/>
        </p:nvSpPr>
        <p:spPr bwMode="auto">
          <a:xfrm>
            <a:off x="1744663" y="2073275"/>
            <a:ext cx="727075" cy="2746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 dirty="0"/>
              <a:t>opcode</a:t>
            </a:r>
          </a:p>
        </p:txBody>
      </p:sp>
      <p:sp>
        <p:nvSpPr>
          <p:cNvPr id="175114" name="Text Box 8"/>
          <p:cNvSpPr txBox="1">
            <a:spLocks noChangeArrowheads="1"/>
          </p:cNvSpPr>
          <p:nvPr/>
        </p:nvSpPr>
        <p:spPr bwMode="auto">
          <a:xfrm>
            <a:off x="3725863" y="2087563"/>
            <a:ext cx="666750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dst EA</a:t>
            </a:r>
          </a:p>
        </p:txBody>
      </p:sp>
      <p:sp>
        <p:nvSpPr>
          <p:cNvPr id="175115" name="Text Box 9"/>
          <p:cNvSpPr txBox="1">
            <a:spLocks noChangeArrowheads="1"/>
          </p:cNvSpPr>
          <p:nvPr/>
        </p:nvSpPr>
        <p:spPr bwMode="auto">
          <a:xfrm>
            <a:off x="5859463" y="2087563"/>
            <a:ext cx="708025" cy="2746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1"/>
              <a:t>src EA </a:t>
            </a:r>
          </a:p>
        </p:txBody>
      </p:sp>
      <p:sp>
        <p:nvSpPr>
          <p:cNvPr id="175116" name="Text Box 10"/>
          <p:cNvSpPr txBox="1">
            <a:spLocks noChangeArrowheads="1"/>
          </p:cNvSpPr>
          <p:nvPr/>
        </p:nvSpPr>
        <p:spPr bwMode="auto">
          <a:xfrm>
            <a:off x="1271588" y="2421652"/>
            <a:ext cx="5993949" cy="24622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000" b="1" dirty="0"/>
              <a:t>15                                           12  11                                                         6     5                                                      0</a:t>
            </a:r>
          </a:p>
        </p:txBody>
      </p:sp>
      <p:sp>
        <p:nvSpPr>
          <p:cNvPr id="175117" name="Rectangle 11"/>
          <p:cNvSpPr>
            <a:spLocks noChangeArrowheads="1"/>
          </p:cNvSpPr>
          <p:nvPr/>
        </p:nvSpPr>
        <p:spPr bwMode="auto">
          <a:xfrm>
            <a:off x="1227138" y="3527588"/>
            <a:ext cx="6791325" cy="2616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sz="1100" b="1"/>
          </a:p>
        </p:txBody>
      </p:sp>
      <p:sp>
        <p:nvSpPr>
          <p:cNvPr id="175118" name="Text Box 12"/>
          <p:cNvSpPr txBox="1">
            <a:spLocks noChangeArrowheads="1"/>
          </p:cNvSpPr>
          <p:nvPr/>
        </p:nvSpPr>
        <p:spPr bwMode="auto">
          <a:xfrm>
            <a:off x="1301750" y="3495675"/>
            <a:ext cx="582211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0       0</a:t>
            </a:r>
          </a:p>
        </p:txBody>
      </p:sp>
      <p:sp>
        <p:nvSpPr>
          <p:cNvPr id="175120" name="Rectangle 14"/>
          <p:cNvSpPr>
            <a:spLocks noChangeArrowheads="1"/>
          </p:cNvSpPr>
          <p:nvPr/>
        </p:nvSpPr>
        <p:spPr bwMode="auto">
          <a:xfrm>
            <a:off x="1621966" y="3524413"/>
            <a:ext cx="435434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1" name="Text Box 15"/>
          <p:cNvSpPr txBox="1">
            <a:spLocks noChangeArrowheads="1"/>
          </p:cNvSpPr>
          <p:nvPr/>
        </p:nvSpPr>
        <p:spPr bwMode="auto">
          <a:xfrm>
            <a:off x="1290638" y="3987800"/>
            <a:ext cx="5557932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15     14     13       12      11      10       9        8         7       6        5        4        3        2        1        0 </a:t>
            </a:r>
          </a:p>
        </p:txBody>
      </p:sp>
      <p:sp>
        <p:nvSpPr>
          <p:cNvPr id="175122" name="Rectangle 16"/>
          <p:cNvSpPr>
            <a:spLocks noChangeArrowheads="1"/>
          </p:cNvSpPr>
          <p:nvPr/>
        </p:nvSpPr>
        <p:spPr bwMode="auto">
          <a:xfrm>
            <a:off x="2078038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3" name="Rectangle 17"/>
          <p:cNvSpPr>
            <a:spLocks noChangeArrowheads="1"/>
          </p:cNvSpPr>
          <p:nvPr/>
        </p:nvSpPr>
        <p:spPr bwMode="auto">
          <a:xfrm>
            <a:off x="2500313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4" name="Rectangle 18"/>
          <p:cNvSpPr>
            <a:spLocks noChangeArrowheads="1"/>
          </p:cNvSpPr>
          <p:nvPr/>
        </p:nvSpPr>
        <p:spPr bwMode="auto">
          <a:xfrm>
            <a:off x="2921000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5" name="Rectangle 19"/>
          <p:cNvSpPr>
            <a:spLocks noChangeArrowheads="1"/>
          </p:cNvSpPr>
          <p:nvPr/>
        </p:nvSpPr>
        <p:spPr bwMode="auto">
          <a:xfrm>
            <a:off x="3349625" y="353235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6" name="Rectangle 20"/>
          <p:cNvSpPr>
            <a:spLocks noChangeArrowheads="1"/>
          </p:cNvSpPr>
          <p:nvPr/>
        </p:nvSpPr>
        <p:spPr bwMode="auto">
          <a:xfrm>
            <a:off x="3770313" y="3518063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7" name="Rectangle 21"/>
          <p:cNvSpPr>
            <a:spLocks noChangeArrowheads="1"/>
          </p:cNvSpPr>
          <p:nvPr/>
        </p:nvSpPr>
        <p:spPr bwMode="auto">
          <a:xfrm>
            <a:off x="4192588" y="3518063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8" name="Rectangle 22"/>
          <p:cNvSpPr>
            <a:spLocks noChangeArrowheads="1"/>
          </p:cNvSpPr>
          <p:nvPr/>
        </p:nvSpPr>
        <p:spPr bwMode="auto">
          <a:xfrm>
            <a:off x="4613275" y="351488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29" name="Rectangle 23"/>
          <p:cNvSpPr>
            <a:spLocks noChangeArrowheads="1"/>
          </p:cNvSpPr>
          <p:nvPr/>
        </p:nvSpPr>
        <p:spPr bwMode="auto">
          <a:xfrm>
            <a:off x="5045075" y="352123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0" name="Rectangle 24"/>
          <p:cNvSpPr>
            <a:spLocks noChangeArrowheads="1"/>
          </p:cNvSpPr>
          <p:nvPr/>
        </p:nvSpPr>
        <p:spPr bwMode="auto">
          <a:xfrm>
            <a:off x="5465763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1" name="Rectangle 25"/>
          <p:cNvSpPr>
            <a:spLocks noChangeArrowheads="1"/>
          </p:cNvSpPr>
          <p:nvPr/>
        </p:nvSpPr>
        <p:spPr bwMode="auto">
          <a:xfrm>
            <a:off x="5888038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2" name="Rectangle 26"/>
          <p:cNvSpPr>
            <a:spLocks noChangeArrowheads="1"/>
          </p:cNvSpPr>
          <p:nvPr/>
        </p:nvSpPr>
        <p:spPr bwMode="auto">
          <a:xfrm>
            <a:off x="6308725" y="3526001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3" name="Rectangle 27"/>
          <p:cNvSpPr>
            <a:spLocks noChangeArrowheads="1"/>
          </p:cNvSpPr>
          <p:nvPr/>
        </p:nvSpPr>
        <p:spPr bwMode="auto">
          <a:xfrm>
            <a:off x="6738938" y="3521238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4" name="Rectangle 28"/>
          <p:cNvSpPr>
            <a:spLocks noChangeArrowheads="1"/>
          </p:cNvSpPr>
          <p:nvPr/>
        </p:nvSpPr>
        <p:spPr bwMode="auto">
          <a:xfrm>
            <a:off x="7159625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5" name="Rectangle 29"/>
          <p:cNvSpPr>
            <a:spLocks noChangeArrowheads="1"/>
          </p:cNvSpPr>
          <p:nvPr/>
        </p:nvSpPr>
        <p:spPr bwMode="auto">
          <a:xfrm>
            <a:off x="7581900" y="3529176"/>
            <a:ext cx="184666" cy="261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100" b="1"/>
          </a:p>
        </p:txBody>
      </p:sp>
      <p:sp>
        <p:nvSpPr>
          <p:cNvPr id="175136" name="Text Box 31"/>
          <p:cNvSpPr txBox="1">
            <a:spLocks noChangeArrowheads="1"/>
          </p:cNvSpPr>
          <p:nvPr/>
        </p:nvSpPr>
        <p:spPr bwMode="auto">
          <a:xfrm>
            <a:off x="1079500" y="4198938"/>
            <a:ext cx="518091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MSB</a:t>
            </a:r>
          </a:p>
        </p:txBody>
      </p:sp>
      <p:sp>
        <p:nvSpPr>
          <p:cNvPr id="175137" name="Text Box 32"/>
          <p:cNvSpPr txBox="1">
            <a:spLocks noChangeArrowheads="1"/>
          </p:cNvSpPr>
          <p:nvPr/>
        </p:nvSpPr>
        <p:spPr bwMode="auto">
          <a:xfrm>
            <a:off x="7824788" y="4221163"/>
            <a:ext cx="453970" cy="2616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/>
              <a:t>LSB</a:t>
            </a:r>
          </a:p>
        </p:txBody>
      </p:sp>
      <p:sp>
        <p:nvSpPr>
          <p:cNvPr id="175138" name="Rectangle 37"/>
          <p:cNvSpPr>
            <a:spLocks noChangeArrowheads="1"/>
          </p:cNvSpPr>
          <p:nvPr/>
        </p:nvSpPr>
        <p:spPr bwMode="auto">
          <a:xfrm>
            <a:off x="4211638" y="3434220"/>
            <a:ext cx="1238250" cy="430887"/>
          </a:xfrm>
          <a:prstGeom prst="rect">
            <a:avLst/>
          </a:prstGeom>
          <a:solidFill>
            <a:schemeClr val="accent2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DESTINATION</a:t>
            </a:r>
          </a:p>
          <a:p>
            <a:pPr algn="ctr"/>
            <a:r>
              <a:rPr lang="en-US" sz="1100" b="1"/>
              <a:t>MODE</a:t>
            </a:r>
          </a:p>
        </p:txBody>
      </p:sp>
      <p:sp>
        <p:nvSpPr>
          <p:cNvPr id="175139" name="Rectangle 38"/>
          <p:cNvSpPr>
            <a:spLocks noChangeArrowheads="1"/>
          </p:cNvSpPr>
          <p:nvPr/>
        </p:nvSpPr>
        <p:spPr bwMode="auto">
          <a:xfrm>
            <a:off x="6754813" y="3434219"/>
            <a:ext cx="1238250" cy="430887"/>
          </a:xfrm>
          <a:prstGeom prst="rect">
            <a:avLst/>
          </a:prstGeom>
          <a:solidFill>
            <a:srgbClr val="FFFF66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SOURCE</a:t>
            </a:r>
          </a:p>
          <a:p>
            <a:pPr algn="ctr"/>
            <a:r>
              <a:rPr lang="en-US" sz="1100" b="1"/>
              <a:t>REGISTER</a:t>
            </a:r>
          </a:p>
        </p:txBody>
      </p:sp>
      <p:sp>
        <p:nvSpPr>
          <p:cNvPr id="175140" name="Rectangle 34"/>
          <p:cNvSpPr>
            <a:spLocks noChangeArrowheads="1"/>
          </p:cNvSpPr>
          <p:nvPr/>
        </p:nvSpPr>
        <p:spPr bwMode="auto">
          <a:xfrm>
            <a:off x="2098675" y="3512507"/>
            <a:ext cx="823913" cy="261610"/>
          </a:xfrm>
          <a:prstGeom prst="rect">
            <a:avLst/>
          </a:prstGeom>
          <a:solidFill>
            <a:srgbClr val="EAEAEA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SIZE</a:t>
            </a:r>
          </a:p>
        </p:txBody>
      </p:sp>
      <p:sp>
        <p:nvSpPr>
          <p:cNvPr id="175141" name="Rectangle 40"/>
          <p:cNvSpPr>
            <a:spLocks noChangeArrowheads="1"/>
          </p:cNvSpPr>
          <p:nvPr/>
        </p:nvSpPr>
        <p:spPr bwMode="auto">
          <a:xfrm>
            <a:off x="5478463" y="3442156"/>
            <a:ext cx="1238250" cy="430887"/>
          </a:xfrm>
          <a:prstGeom prst="rect">
            <a:avLst/>
          </a:prstGeom>
          <a:solidFill>
            <a:srgbClr val="FF6699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/>
              <a:t>SOURCE</a:t>
            </a:r>
          </a:p>
          <a:p>
            <a:pPr algn="ctr"/>
            <a:r>
              <a:rPr lang="en-US" sz="1100" b="1"/>
              <a:t>MODE</a:t>
            </a:r>
          </a:p>
        </p:txBody>
      </p:sp>
      <p:sp>
        <p:nvSpPr>
          <p:cNvPr id="175142" name="Rectangle 35"/>
          <p:cNvSpPr>
            <a:spLocks noChangeArrowheads="1"/>
          </p:cNvSpPr>
          <p:nvPr/>
        </p:nvSpPr>
        <p:spPr bwMode="auto">
          <a:xfrm>
            <a:off x="2943225" y="3443745"/>
            <a:ext cx="1238250" cy="430887"/>
          </a:xfrm>
          <a:prstGeom prst="rect">
            <a:avLst/>
          </a:prstGeom>
          <a:solidFill>
            <a:srgbClr val="99FF66"/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1100" b="1" dirty="0"/>
              <a:t>DESTINATION</a:t>
            </a:r>
          </a:p>
          <a:p>
            <a:pPr algn="ctr"/>
            <a:r>
              <a:rPr lang="en-US" sz="1100" b="1" dirty="0"/>
              <a:t>REGISTER</a:t>
            </a:r>
          </a:p>
        </p:txBody>
      </p:sp>
      <p:sp>
        <p:nvSpPr>
          <p:cNvPr id="5" name="Left Brace 4"/>
          <p:cNvSpPr/>
          <p:nvPr/>
        </p:nvSpPr>
        <p:spPr>
          <a:xfrm rot="5400000">
            <a:off x="4425432" y="4255656"/>
            <a:ext cx="317827" cy="2123192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6" name="Left Brace 45"/>
          <p:cNvSpPr/>
          <p:nvPr/>
        </p:nvSpPr>
        <p:spPr>
          <a:xfrm rot="5400000">
            <a:off x="6854219" y="4276050"/>
            <a:ext cx="317827" cy="2123192"/>
          </a:xfrm>
          <a:prstGeom prst="leftBrac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" name="TextBox 3"/>
          <p:cNvSpPr txBox="1"/>
          <p:nvPr/>
        </p:nvSpPr>
        <p:spPr>
          <a:xfrm>
            <a:off x="3738562" y="4838038"/>
            <a:ext cx="1747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rgbClr val="0033CC"/>
                </a:solidFill>
              </a:rPr>
              <a:t>Dest</a:t>
            </a:r>
            <a:r>
              <a:rPr lang="en-US" sz="1100" b="1" dirty="0">
                <a:solidFill>
                  <a:srgbClr val="0033CC"/>
                </a:solidFill>
              </a:rPr>
              <a:t> = D0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9213" y="4834324"/>
            <a:ext cx="1747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Source = D3 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3140"/>
              </p:ext>
            </p:extLst>
          </p:nvPr>
        </p:nvGraphicFramePr>
        <p:xfrm>
          <a:off x="1616080" y="5496560"/>
          <a:ext cx="676592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2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28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F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F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F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0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196135"/>
              </p:ext>
            </p:extLst>
          </p:nvPr>
        </p:nvGraphicFramePr>
        <p:xfrm>
          <a:off x="152400" y="0"/>
          <a:ext cx="8839200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r>
                        <a:rPr lang="en-US" baseline="0" dirty="0"/>
                        <a:t>-Level </a:t>
                      </a:r>
                      <a:r>
                        <a:rPr lang="en-US" dirty="0"/>
                        <a:t>Actions in 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is a high to low transition of the Register A (!OE). This will put Register A’s data on the bus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</a:t>
                      </a:r>
                      <a:r>
                        <a:rPr lang="en-US" baseline="0" dirty="0"/>
                        <a:t> the bus data in a temporary ALU input register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pulse a high to low transition for the output enable of Register B to our bus,</a:t>
                      </a:r>
                      <a:r>
                        <a:rPr lang="en-US" baseline="0" dirty="0"/>
                        <a:t> also pulsing F0,F1 on the ALU so that it performs an add using the bus and the temp input register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save the output of the ALU back</a:t>
                      </a:r>
                      <a:r>
                        <a:rPr lang="en-US" baseline="0" dirty="0"/>
                        <a:t> to a register C </a:t>
                      </a:r>
                      <a:r>
                        <a:rPr lang="en-US" dirty="0"/>
                        <a:t>on the clock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609600" y="38862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In Control Signals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46748"/>
              </p:ext>
            </p:extLst>
          </p:nvPr>
        </p:nvGraphicFramePr>
        <p:xfrm>
          <a:off x="152400" y="3027681"/>
          <a:ext cx="8839200" cy="3754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Clock</a:t>
                      </a:r>
                      <a:r>
                        <a:rPr lang="en-US" baseline="0" dirty="0"/>
                        <a:t> Pulse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Low-Level</a:t>
                      </a:r>
                      <a:r>
                        <a:rPr lang="en-US" baseline="0" dirty="0"/>
                        <a:t> Actions on the Circuit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A1&lt;-0, assert low: !OE_R0 &lt;-0 so  all else is blocked from the bus with tri-state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!WE_ALU_TEMP &lt;-0 (Register file and R0 still owns the bus)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!OE_R0</a:t>
                      </a:r>
                      <a:r>
                        <a:rPr lang="en-US" baseline="0" dirty="0"/>
                        <a:t> &lt;-1 (R0 loses the bus)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A0</a:t>
                      </a:r>
                      <a:r>
                        <a:rPr lang="en-US" baseline="0" dirty="0"/>
                        <a:t> &lt;- 0, A1&lt;-1, assert low: !OE_R1 &lt;-0 (R1 now is on the bus)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F0&lt;-0, F1&lt;-0 (</a:t>
                      </a:r>
                      <a:r>
                        <a:rPr lang="en-US" baseline="0" dirty="0" err="1"/>
                        <a:t>Async</a:t>
                      </a:r>
                      <a:r>
                        <a:rPr lang="en-US" baseline="0" dirty="0"/>
                        <a:t> add operation for ALU)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!OE_R1 &lt;-1  (R1 frees the bus)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!OE_ALU &lt;-1 (ALU output gets the bus)</a:t>
                      </a: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A0&lt;-1, A1&lt;-0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assert low: !WE_R2 &lt;-0 so R2 pulls from the bus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8991600" y="-144780"/>
            <a:ext cx="7543800" cy="2362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56000"/>
                </a:schemeClr>
              </a:gs>
              <a:gs pos="80000">
                <a:schemeClr val="accent1">
                  <a:shade val="93000"/>
                  <a:satMod val="130000"/>
                  <a:alpha val="56000"/>
                </a:schemeClr>
              </a:gs>
              <a:gs pos="100000">
                <a:schemeClr val="accent1">
                  <a:shade val="94000"/>
                  <a:satMod val="135000"/>
                  <a:alpha val="56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Too Vague</a:t>
            </a:r>
          </a:p>
          <a:p>
            <a:pPr algn="ctr"/>
            <a:r>
              <a:rPr lang="en-US" b="1" dirty="0"/>
              <a:t> Not Enough Details</a:t>
            </a:r>
          </a:p>
          <a:p>
            <a:pPr algn="ctr"/>
            <a:r>
              <a:rPr lang="en-US" b="1" dirty="0"/>
              <a:t>Yet Lengthy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89100" y="6756401"/>
            <a:ext cx="7543800" cy="32004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51000"/>
                  <a:satMod val="130000"/>
                  <a:alpha val="41000"/>
                </a:schemeClr>
              </a:gs>
              <a:gs pos="80000">
                <a:schemeClr val="accent2">
                  <a:shade val="93000"/>
                  <a:satMod val="130000"/>
                  <a:alpha val="41000"/>
                </a:schemeClr>
              </a:gs>
              <a:gs pos="100000">
                <a:schemeClr val="accent2">
                  <a:shade val="94000"/>
                  <a:satMod val="135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Too Specific</a:t>
            </a:r>
          </a:p>
          <a:p>
            <a:pPr algn="ctr"/>
            <a:r>
              <a:rPr lang="en-US" b="1" dirty="0"/>
              <a:t>Too Much Detail to Scale</a:t>
            </a:r>
          </a:p>
          <a:p>
            <a:pPr algn="ctr"/>
            <a:r>
              <a:rPr lang="en-US" b="1" dirty="0"/>
              <a:t>Even Lengthier?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17000" y="2048511"/>
            <a:ext cx="8001000" cy="48768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  <a:alpha val="81000"/>
                </a:schemeClr>
              </a:gs>
              <a:gs pos="35000">
                <a:schemeClr val="accent5">
                  <a:tint val="37000"/>
                  <a:satMod val="300000"/>
                  <a:alpha val="81000"/>
                </a:schemeClr>
              </a:gs>
              <a:gs pos="100000">
                <a:schemeClr val="accent5">
                  <a:tint val="15000"/>
                  <a:satMod val="350000"/>
                  <a:alpha val="81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We Welcome Assembly Language: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Shorthand </a:t>
            </a:r>
            <a:r>
              <a:rPr lang="en-US" b="1" i="1" dirty="0"/>
              <a:t>macros</a:t>
            </a:r>
            <a:r>
              <a:rPr lang="en-US" dirty="0"/>
              <a:t> or abbreviations for a series of steps 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Brief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Explicitly defines a discrete operation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/>
              <a:t>(Possibly in multiple sub-steps)</a:t>
            </a:r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  <a:p>
            <a:pPr marL="285750" indent="-285750" algn="ctr">
              <a:buFont typeface="Arial"/>
              <a:buChar char="•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62384" y="6044168"/>
            <a:ext cx="177241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AHA Moment: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1963400" y="6261100"/>
            <a:ext cx="1524000" cy="6096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1011 1100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63400" y="5224780"/>
            <a:ext cx="1524000" cy="10058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 ADD A,B</a:t>
            </a:r>
            <a:endParaRPr lang="en-US" dirty="0"/>
          </a:p>
        </p:txBody>
      </p:sp>
      <p:sp>
        <p:nvSpPr>
          <p:cNvPr id="11" name="Up-Down Arrow 10"/>
          <p:cNvSpPr/>
          <p:nvPr/>
        </p:nvSpPr>
        <p:spPr>
          <a:xfrm>
            <a:off x="12620375" y="5898248"/>
            <a:ext cx="286251" cy="515252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146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Memory Chips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Byte-Selection the responsibility of the Address Bus</a:t>
            </a:r>
          </a:p>
          <a:p>
            <a:pPr lvl="1"/>
            <a:r>
              <a:rPr lang="en-US" dirty="0"/>
              <a:t>Older</a:t>
            </a:r>
          </a:p>
          <a:p>
            <a:r>
              <a:rPr lang="en-US" dirty="0"/>
              <a:t>OR is Byte-Selection the responsibility of the Control Bus?</a:t>
            </a:r>
          </a:p>
          <a:p>
            <a:pPr lvl="1"/>
            <a:r>
              <a:rPr lang="en-US" dirty="0"/>
              <a:t>Newer, “additional features”</a:t>
            </a:r>
          </a:p>
        </p:txBody>
      </p:sp>
    </p:spTree>
    <p:extLst>
      <p:ext uri="{BB962C8B-B14F-4D97-AF65-F5344CB8AC3E}">
        <p14:creationId xmlns:p14="http://schemas.microsoft.com/office/powerpoint/2010/main" val="1327779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30.17.01"/>
  <p:tag name="PPTVERSION" val="14"/>
  <p:tag name="TPOS" val="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Theme">
  <a:themeElements>
    <a:clrScheme name="2_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Theme">
      <a:majorFont>
        <a:latin typeface="Frutiger 55 Roman"/>
        <a:ea typeface="ＭＳ Ｐゴシック"/>
        <a:cs typeface=""/>
      </a:majorFont>
      <a:minorFont>
        <a:latin typeface="Frutiger 55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22829</TotalTime>
  <Words>5616</Words>
  <Application>Microsoft Office PowerPoint</Application>
  <PresentationFormat>On-screen Show (4:3)</PresentationFormat>
  <Paragraphs>1311</Paragraphs>
  <Slides>59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4" baseType="lpstr">
      <vt:lpstr>굴림</vt:lpstr>
      <vt:lpstr>HY중고딕</vt:lpstr>
      <vt:lpstr>맑은 고딕</vt:lpstr>
      <vt:lpstr>ＭＳ Ｐゴシック</vt:lpstr>
      <vt:lpstr>Arial</vt:lpstr>
      <vt:lpstr>Calibri</vt:lpstr>
      <vt:lpstr>Century Gothic</vt:lpstr>
      <vt:lpstr>Courier New</vt:lpstr>
      <vt:lpstr>Frutiger 55 Roman</vt:lpstr>
      <vt:lpstr>Mangal</vt:lpstr>
      <vt:lpstr>Palatino Linotype</vt:lpstr>
      <vt:lpstr>Wingdings</vt:lpstr>
      <vt:lpstr>Executive</vt:lpstr>
      <vt:lpstr>2_Office Theme</vt:lpstr>
      <vt:lpstr>3_Office Theme</vt:lpstr>
      <vt:lpstr>Busses, Tri-State Logic, &amp; the Evolution of Assembly</vt:lpstr>
      <vt:lpstr>First… A Review of Building Up</vt:lpstr>
      <vt:lpstr>One Gate -&gt; Sets of Gates (Combinatorial Circuits)</vt:lpstr>
      <vt:lpstr>Circuits-&gt; Feedback Circuits (Sequential Circuits)</vt:lpstr>
      <vt:lpstr>Feedback Circuits &amp; Organization  -&gt; Sequential Logic Components</vt:lpstr>
      <vt:lpstr>Mux/DeMux </vt:lpstr>
      <vt:lpstr>Decoder</vt:lpstr>
      <vt:lpstr>ALU</vt:lpstr>
      <vt:lpstr>PowerPoint Presentation</vt:lpstr>
      <vt:lpstr>Iterate Again… But Shorter Clock Cycle</vt:lpstr>
      <vt:lpstr>Summary of L2 &amp; L3 Abstractions</vt:lpstr>
      <vt:lpstr>PowerPoint Presentation</vt:lpstr>
      <vt:lpstr>Bus Motivation Consider Only 6 Units</vt:lpstr>
      <vt:lpstr>Consider Only 6 Units Talking Unidirectionally</vt:lpstr>
      <vt:lpstr>Now Input &amp; Output (1 b)</vt:lpstr>
      <vt:lpstr>…4 Bits</vt:lpstr>
      <vt:lpstr>Bus Organization</vt:lpstr>
      <vt:lpstr>Bus Organization</vt:lpstr>
      <vt:lpstr>(The Wheels On) The Bus &amp; Arbiter</vt:lpstr>
      <vt:lpstr>4-b Width</vt:lpstr>
      <vt:lpstr>Bus Structure: Tri-State</vt:lpstr>
      <vt:lpstr>Packaged (Augmented) “D” Flip-Flop</vt:lpstr>
      <vt:lpstr>Types of Busses</vt:lpstr>
      <vt:lpstr>Bus Organization</vt:lpstr>
      <vt:lpstr>Data Stride</vt:lpstr>
      <vt:lpstr>Expanding Memory Stride</vt:lpstr>
      <vt:lpstr>ALU &lt;-&gt; MEMORY via Bus &amp; Control</vt:lpstr>
      <vt:lpstr>Motorola 68K Black Box</vt:lpstr>
      <vt:lpstr>The Status Bus &amp; M68K</vt:lpstr>
      <vt:lpstr>A “Modern” PC Bus Set</vt:lpstr>
      <vt:lpstr>External PC  Busses</vt:lpstr>
      <vt:lpstr>RAM OK: What’s in the Box?</vt:lpstr>
      <vt:lpstr>How Many Control Wires?</vt:lpstr>
      <vt:lpstr>ROM Contrast Less Control Wires</vt:lpstr>
      <vt:lpstr>Busses Working With Memory</vt:lpstr>
      <vt:lpstr>Random 422 Query:   Binary HW Counter V.S. ALU</vt:lpstr>
      <vt:lpstr>Evo of ASM &amp; Adding Registers to our ALU</vt:lpstr>
      <vt:lpstr>Evolution of ASM for Hardware</vt:lpstr>
      <vt:lpstr>CPUs: Unification &amp; Organization</vt:lpstr>
      <vt:lpstr>Q: How to ADD A &amp; B? Q/A: How did we do it in HW1?</vt:lpstr>
      <vt:lpstr>PowerPoint Presentation</vt:lpstr>
      <vt:lpstr>PowerPoint Presentation</vt:lpstr>
      <vt:lpstr>Actual Control Signal Timing Diagram </vt:lpstr>
      <vt:lpstr>HW1 Extended  With 4 Storage Registers</vt:lpstr>
      <vt:lpstr>R/W Control Signals for Register File</vt:lpstr>
      <vt:lpstr>Now That You’ve Mastered Controlling Memory…  Unify &amp; Organize: Add it to HW1</vt:lpstr>
      <vt:lpstr>HW1 Extended</vt:lpstr>
      <vt:lpstr>PowerPoint Presentation</vt:lpstr>
      <vt:lpstr>PowerPoint Presentation</vt:lpstr>
      <vt:lpstr>ADD A,B,C</vt:lpstr>
      <vt:lpstr>ADD A,B,C</vt:lpstr>
      <vt:lpstr>AND A,B,C</vt:lpstr>
      <vt:lpstr>PowerPoint Presentation</vt:lpstr>
      <vt:lpstr>“ADD A, B, C”</vt:lpstr>
      <vt:lpstr>Instruction Set Architecture Unifies HW &amp; SW</vt:lpstr>
      <vt:lpstr>Decoding ASM on a Real Architecture: 68K &amp; MOVE</vt:lpstr>
      <vt:lpstr>Decomposing the MOVE instruction</vt:lpstr>
      <vt:lpstr>PowerPoint Presentation</vt:lpstr>
      <vt:lpstr>Custom Memory Chips &amp;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ArrayLists</dc:title>
  <dc:creator>ThinBlade</dc:creator>
  <cp:lastModifiedBy>Ryan Peters</cp:lastModifiedBy>
  <cp:revision>1917</cp:revision>
  <dcterms:created xsi:type="dcterms:W3CDTF">2006-08-16T00:00:00Z</dcterms:created>
  <dcterms:modified xsi:type="dcterms:W3CDTF">2018-10-30T18:29:03Z</dcterms:modified>
</cp:coreProperties>
</file>