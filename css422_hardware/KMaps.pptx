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76"/>
  </p:notesMasterIdLst>
  <p:sldIdLst>
    <p:sldId id="331" r:id="rId2"/>
    <p:sldId id="387" r:id="rId3"/>
    <p:sldId id="394" r:id="rId4"/>
    <p:sldId id="266" r:id="rId5"/>
    <p:sldId id="269" r:id="rId6"/>
    <p:sldId id="272" r:id="rId7"/>
    <p:sldId id="270" r:id="rId8"/>
    <p:sldId id="271" r:id="rId9"/>
    <p:sldId id="347" r:id="rId10"/>
    <p:sldId id="348" r:id="rId11"/>
    <p:sldId id="334" r:id="rId12"/>
    <p:sldId id="349" r:id="rId13"/>
    <p:sldId id="351" r:id="rId14"/>
    <p:sldId id="297" r:id="rId15"/>
    <p:sldId id="298" r:id="rId16"/>
    <p:sldId id="336" r:id="rId17"/>
    <p:sldId id="299" r:id="rId18"/>
    <p:sldId id="300" r:id="rId19"/>
    <p:sldId id="301" r:id="rId20"/>
    <p:sldId id="353" r:id="rId21"/>
    <p:sldId id="337" r:id="rId22"/>
    <p:sldId id="324" r:id="rId23"/>
    <p:sldId id="338" r:id="rId24"/>
    <p:sldId id="339" r:id="rId25"/>
    <p:sldId id="340" r:id="rId26"/>
    <p:sldId id="341" r:id="rId27"/>
    <p:sldId id="386" r:id="rId28"/>
    <p:sldId id="342" r:id="rId29"/>
    <p:sldId id="343" r:id="rId30"/>
    <p:sldId id="344" r:id="rId31"/>
    <p:sldId id="383" r:id="rId32"/>
    <p:sldId id="384" r:id="rId33"/>
    <p:sldId id="385" r:id="rId34"/>
    <p:sldId id="359" r:id="rId35"/>
    <p:sldId id="360" r:id="rId36"/>
    <p:sldId id="361" r:id="rId37"/>
    <p:sldId id="362" r:id="rId38"/>
    <p:sldId id="363" r:id="rId39"/>
    <p:sldId id="364" r:id="rId40"/>
    <p:sldId id="365" r:id="rId41"/>
    <p:sldId id="396" r:id="rId42"/>
    <p:sldId id="397" r:id="rId43"/>
    <p:sldId id="398" r:id="rId44"/>
    <p:sldId id="399" r:id="rId45"/>
    <p:sldId id="400" r:id="rId46"/>
    <p:sldId id="402" r:id="rId47"/>
    <p:sldId id="382" r:id="rId48"/>
    <p:sldId id="395" r:id="rId49"/>
    <p:sldId id="358" r:id="rId50"/>
    <p:sldId id="355" r:id="rId51"/>
    <p:sldId id="356" r:id="rId52"/>
    <p:sldId id="366" r:id="rId53"/>
    <p:sldId id="367" r:id="rId54"/>
    <p:sldId id="368" r:id="rId55"/>
    <p:sldId id="369" r:id="rId56"/>
    <p:sldId id="371" r:id="rId57"/>
    <p:sldId id="372" r:id="rId58"/>
    <p:sldId id="373" r:id="rId59"/>
    <p:sldId id="374" r:id="rId60"/>
    <p:sldId id="375" r:id="rId61"/>
    <p:sldId id="403" r:id="rId62"/>
    <p:sldId id="376" r:id="rId63"/>
    <p:sldId id="380" r:id="rId64"/>
    <p:sldId id="381" r:id="rId65"/>
    <p:sldId id="268" r:id="rId66"/>
    <p:sldId id="273" r:id="rId67"/>
    <p:sldId id="274" r:id="rId68"/>
    <p:sldId id="277" r:id="rId69"/>
    <p:sldId id="327" r:id="rId70"/>
    <p:sldId id="330" r:id="rId71"/>
    <p:sldId id="323" r:id="rId72"/>
    <p:sldId id="267" r:id="rId73"/>
    <p:sldId id="378" r:id="rId74"/>
    <p:sldId id="379" r:id="rId75"/>
  </p:sldIdLst>
  <p:sldSz cx="9144000" cy="6858000" type="screen4x3"/>
  <p:notesSz cx="6858000" cy="9144000"/>
  <p:custDataLst>
    <p:tags r:id="rId7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033" autoAdjust="0"/>
  </p:normalViewPr>
  <p:slideViewPr>
    <p:cSldViewPr>
      <p:cViewPr>
        <p:scale>
          <a:sx n="100" d="100"/>
          <a:sy n="100" d="100"/>
        </p:scale>
        <p:origin x="-1048" y="-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interSettings" Target="printerSettings/printerSettings1.bin"/><Relationship Id="rId78" Type="http://schemas.openxmlformats.org/officeDocument/2006/relationships/tags" Target="tags/tag1.xml"/><Relationship Id="rId79" Type="http://schemas.openxmlformats.org/officeDocument/2006/relationships/presProps" Target="presProp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3A21E-83F8-EE44-81F9-10C5709DB7A8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8A107-C767-904F-BD4E-B3CFA410B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0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01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is out of Null’s 3A</a:t>
            </a:r>
            <a:r>
              <a:rPr lang="en-US" baseline="0" dirty="0" smtClean="0"/>
              <a:t> section – great practice 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96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is out of Null’s 3A</a:t>
            </a:r>
            <a:r>
              <a:rPr lang="en-US" baseline="0" dirty="0" smtClean="0"/>
              <a:t> section – great practice 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96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#1 &amp; #2) Not the</a:t>
            </a:r>
            <a:r>
              <a:rPr lang="en-US" baseline="0" dirty="0" smtClean="0"/>
              <a:t> biggest groupings, wraparound is legal</a:t>
            </a:r>
            <a:endParaRPr lang="en-US" dirty="0" smtClean="0"/>
          </a:p>
          <a:p>
            <a:r>
              <a:rPr lang="en-US" dirty="0" smtClean="0"/>
              <a:t>#3a) No diagonals</a:t>
            </a:r>
          </a:p>
          <a:p>
            <a:r>
              <a:rPr lang="en-US" dirty="0" smtClean="0"/>
              <a:t>#3b) Must be powers of 2</a:t>
            </a: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96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A: NO – one loop shares no unique “1”, and should be removed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80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A: !A never factors into the final reduced formula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75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Currently we go places without remembering where we’ve been.  Next, we’ll</a:t>
            </a:r>
            <a:r>
              <a:rPr lang="en-US" baseline="0" dirty="0" smtClean="0"/>
              <a:t> keep track of where we are, and have our </a:t>
            </a:r>
            <a:r>
              <a:rPr lang="en-US" baseline="0" dirty="0" err="1" smtClean="0"/>
              <a:t>behaviour</a:t>
            </a:r>
            <a:r>
              <a:rPr lang="en-US" baseline="0" dirty="0" smtClean="0"/>
              <a:t> change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12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duplicate here is a loop with no</a:t>
            </a:r>
            <a:r>
              <a:rPr lang="en-US" baseline="0" dirty="0" smtClean="0"/>
              <a:t> unique minterm, like below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09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94D960-74BE-4620-A5B1-123E61DB28FC}" type="slidenum">
              <a:rPr lang="ko-KR" altLang="en-US" smtClean="0"/>
              <a:pPr>
                <a:defRPr/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024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94D960-74BE-4620-A5B1-123E61DB28FC}" type="slidenum">
              <a:rPr lang="ko-KR" altLang="en-US" smtClean="0"/>
              <a:pPr>
                <a:defRPr/>
              </a:pPr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3664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X = Batman comes out to play or destroy</a:t>
            </a:r>
          </a:p>
          <a:p>
            <a:endParaRPr lang="en-US" dirty="0" smtClean="0"/>
          </a:p>
          <a:p>
            <a:r>
              <a:rPr lang="en-US" dirty="0" smtClean="0"/>
              <a:t>A: The Bat Signal was flashed</a:t>
            </a:r>
          </a:p>
          <a:p>
            <a:r>
              <a:rPr lang="en-US" dirty="0" smtClean="0"/>
              <a:t>B: Commissioner</a:t>
            </a:r>
            <a:r>
              <a:rPr lang="en-US" baseline="0" dirty="0" smtClean="0"/>
              <a:t> and cops are present  </a:t>
            </a:r>
          </a:p>
          <a:p>
            <a:r>
              <a:rPr lang="en-US" baseline="0" dirty="0" smtClean="0"/>
              <a:t>C: Everything is ok</a:t>
            </a:r>
          </a:p>
          <a:p>
            <a:endParaRPr lang="en-US" baseline="0" dirty="0" smtClean="0"/>
          </a:p>
          <a:p>
            <a:r>
              <a:rPr lang="en-US" baseline="0" dirty="0" smtClean="0"/>
              <a:t>So batman comes out if:</a:t>
            </a:r>
          </a:p>
          <a:p>
            <a:r>
              <a:rPr lang="en-US" baseline="0" dirty="0" smtClean="0"/>
              <a:t>No signal, no cops, but everything isn’t ok</a:t>
            </a:r>
          </a:p>
          <a:p>
            <a:r>
              <a:rPr lang="en-US" baseline="0" dirty="0" smtClean="0"/>
              <a:t>OR the signal was flashed, no cops and things are not ok  </a:t>
            </a:r>
          </a:p>
          <a:p>
            <a:r>
              <a:rPr lang="en-US" baseline="0" dirty="0" smtClean="0"/>
              <a:t>OR the signal was flashed with no cops present and things are ok (Awards ceremony for </a:t>
            </a:r>
            <a:r>
              <a:rPr lang="en-US" baseline="0" dirty="0" err="1" smtClean="0"/>
              <a:t>bman</a:t>
            </a:r>
            <a:r>
              <a:rPr lang="en-US" baseline="0" dirty="0" smtClean="0"/>
              <a:t>)</a:t>
            </a:r>
          </a:p>
          <a:p>
            <a:r>
              <a:rPr lang="en-US" baseline="0" dirty="0" smtClean="0"/>
              <a:t>OR the bat signal was flashed,  cops are present, and things are bad</a:t>
            </a:r>
          </a:p>
          <a:p>
            <a:endParaRPr lang="en-US" baseline="0" dirty="0" smtClean="0"/>
          </a:p>
          <a:p>
            <a:r>
              <a:rPr lang="en-US" baseline="0" dirty="0" smtClean="0"/>
              <a:t>Note that if things are not ok but the cops are there, batman </a:t>
            </a:r>
            <a:r>
              <a:rPr lang="en-US" baseline="0" dirty="0" err="1" smtClean="0"/>
              <a:t>doesn</a:t>
            </a:r>
            <a:r>
              <a:rPr lang="fr-FR" baseline="0" dirty="0" smtClean="0"/>
              <a:t>’</a:t>
            </a:r>
            <a:r>
              <a:rPr lang="en-US" baseline="0" dirty="0" smtClean="0"/>
              <a:t>t lift a finger (the only case where things are not ok but no batman)</a:t>
            </a:r>
          </a:p>
          <a:p>
            <a:endParaRPr lang="en-US" baseline="0" dirty="0" smtClean="0"/>
          </a:p>
          <a:p>
            <a:r>
              <a:rPr lang="en-US" baseline="0" dirty="0" smtClean="0"/>
              <a:t>He also </a:t>
            </a:r>
            <a:r>
              <a:rPr lang="en-US" baseline="0" dirty="0" err="1" smtClean="0"/>
              <a:t>doesn</a:t>
            </a:r>
            <a:r>
              <a:rPr lang="fr-FR" baseline="0" dirty="0" smtClean="0"/>
              <a:t>’</a:t>
            </a:r>
            <a:r>
              <a:rPr lang="en-US" baseline="0" dirty="0" smtClean="0"/>
              <a:t>t come out if:</a:t>
            </a:r>
          </a:p>
          <a:p>
            <a:endParaRPr lang="en-US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No signal, no cops, and things are ok</a:t>
            </a:r>
          </a:p>
          <a:p>
            <a:r>
              <a:rPr lang="en-US" baseline="0" dirty="0" smtClean="0"/>
              <a:t>No signal, cops present, and things are ok  (cops are a DC – Don’t care)</a:t>
            </a:r>
          </a:p>
          <a:p>
            <a:r>
              <a:rPr lang="en-US" dirty="0" smtClean="0"/>
              <a:t>No signal,</a:t>
            </a:r>
            <a:r>
              <a:rPr lang="en-US" baseline="0" dirty="0" smtClean="0"/>
              <a:t> cops are present, and things are NOT OK.  (lets the cops handle this)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The signal is on but the cops are there and things are ok (let the cops handle this – this is the least believable </a:t>
            </a:r>
            <a:r>
              <a:rPr lang="en-US" baseline="0" dirty="0" err="1" smtClean="0"/>
              <a:t>bman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behaviour</a:t>
            </a:r>
            <a:r>
              <a:rPr lang="en-US" baseline="0" dirty="0" smtClean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94D960-74BE-4620-A5B1-123E61DB28FC}" type="slidenum">
              <a:rPr lang="ko-KR" altLang="en-US" smtClean="0"/>
              <a:pPr>
                <a:defRPr/>
              </a:pPr>
              <a:t>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3664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latin typeface="Courier New" pitchFamily="49" charset="0"/>
              </a:rPr>
              <a:t>(hint: 3 terms)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94D960-74BE-4620-A5B1-123E61DB28FC}" type="slidenum">
              <a:rPr lang="ko-KR" altLang="en-US" smtClean="0"/>
              <a:pPr>
                <a:defRPr/>
              </a:pPr>
              <a:t>60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4612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Hardcoding</a:t>
            </a:r>
            <a:r>
              <a:rPr lang="en-US" baseline="0" dirty="0" smtClean="0"/>
              <a:t> -&gt; </a:t>
            </a:r>
            <a:r>
              <a:rPr lang="en-US" baseline="0" dirty="0" err="1" smtClean="0"/>
              <a:t>hardWIRING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8A107-C767-904F-BD4E-B3CFA410BF38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63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latin typeface="Arial" pitchFamily="34" charset="0"/>
                <a:cs typeface="Arial" pitchFamily="34" charset="0"/>
              </a:rPr>
              <a:t>How to express the product of sums with K-map?</a:t>
            </a: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871" indent="-28572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2879" indent="-228576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031" indent="-228576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183" indent="-228576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333" indent="-22857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485" indent="-22857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8637" indent="-22857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5788" indent="-22857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fld id="{2729C697-CBE2-4768-B5B3-4967127D6639}" type="slidenum">
              <a:rPr lang="ko-KR" altLang="en-US" smtClean="0">
                <a:latin typeface="Arial" pitchFamily="34" charset="0"/>
                <a:ea typeface="굴림" pitchFamily="34" charset="-127"/>
              </a:rPr>
              <a:pPr/>
              <a:t>73</a:t>
            </a:fld>
            <a:endParaRPr lang="en-US" altLang="ko-KR" smtClean="0">
              <a:latin typeface="Arial" pitchFamily="34" charset="0"/>
              <a:ea typeface="굴림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8376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How to express the product of sums with K-map?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F = ~A*D + A*B*~D +A*C*~D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~F = ~(~A*D + A*B*~D +A*C*~D)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~F = (A + ~D)(~A+~B+D)(~A+~C+D)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871" indent="-28572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2879" indent="-228576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031" indent="-228576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183" indent="-228576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333" indent="-22857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485" indent="-22857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8637" indent="-22857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5788" indent="-22857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fld id="{2729C697-CBE2-4768-B5B3-4967127D6639}" type="slidenum">
              <a:rPr lang="ko-KR" altLang="en-US" smtClean="0">
                <a:latin typeface="Arial" pitchFamily="34" charset="0"/>
                <a:ea typeface="굴림" pitchFamily="34" charset="-127"/>
              </a:rPr>
              <a:pPr/>
              <a:t>74</a:t>
            </a:fld>
            <a:endParaRPr lang="en-US" altLang="ko-KR" smtClean="0">
              <a:latin typeface="Arial" pitchFamily="34" charset="0"/>
              <a:ea typeface="굴림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1146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1" Type="http://schemas.openxmlformats.org/officeDocument/2006/relationships/tags" Target="../tags/tag2.xml"/><Relationship Id="rId2" Type="http://schemas.openxmlformats.org/officeDocument/2006/relationships/tags" Target="../tags/tag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1" Type="http://schemas.openxmlformats.org/officeDocument/2006/relationships/tags" Target="../tags/tag6.xml"/><Relationship Id="rId2" Type="http://schemas.openxmlformats.org/officeDocument/2006/relationships/tags" Target="../tags/tag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1" Type="http://schemas.openxmlformats.org/officeDocument/2006/relationships/tags" Target="../tags/tag10.xml"/><Relationship Id="rId2" Type="http://schemas.openxmlformats.org/officeDocument/2006/relationships/tags" Target="../tags/tag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1" Type="http://schemas.openxmlformats.org/officeDocument/2006/relationships/tags" Target="../tags/tag14.xml"/><Relationship Id="rId2" Type="http://schemas.openxmlformats.org/officeDocument/2006/relationships/tags" Target="../tags/tag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ourceforge.net/projects/k-map/files/k-map/0.4/Kmap-04-setup.exe/download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1" Type="http://schemas.openxmlformats.org/officeDocument/2006/relationships/tags" Target="../tags/tag18.xml"/><Relationship Id="rId2" Type="http://schemas.openxmlformats.org/officeDocument/2006/relationships/tags" Target="../tags/tag1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38200"/>
            <a:ext cx="7024744" cy="7097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K-Maps For Boolean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23652"/>
            <a:ext cx="8229600" cy="415334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“Car</a:t>
            </a:r>
            <a:r>
              <a:rPr lang="mr-IN" dirty="0" smtClean="0"/>
              <a:t>–</a:t>
            </a:r>
            <a:r>
              <a:rPr lang="en-US" dirty="0" smtClean="0"/>
              <a:t>now maps” are </a:t>
            </a:r>
            <a:r>
              <a:rPr lang="en-US" b="1" i="1" dirty="0" smtClean="0"/>
              <a:t>shortcuts</a:t>
            </a:r>
            <a:r>
              <a:rPr lang="en-US" dirty="0" smtClean="0"/>
              <a:t> </a:t>
            </a:r>
            <a:r>
              <a:rPr lang="en-US" b="1" i="1" dirty="0" smtClean="0"/>
              <a:t>for </a:t>
            </a:r>
            <a:r>
              <a:rPr lang="en-US" b="1" i="1" dirty="0"/>
              <a:t>B</a:t>
            </a:r>
            <a:r>
              <a:rPr lang="en-US" b="1" i="1" dirty="0" smtClean="0"/>
              <a:t>oolean reductions</a:t>
            </a:r>
          </a:p>
          <a:p>
            <a:pPr lvl="1"/>
            <a:r>
              <a:rPr lang="en-US" dirty="0" smtClean="0"/>
              <a:t>But, did Maurice steal from Marquand?</a:t>
            </a:r>
          </a:p>
          <a:p>
            <a:r>
              <a:rPr lang="en-US" dirty="0" smtClean="0"/>
              <a:t>Senior Lecturer: Rob Nash</a:t>
            </a:r>
          </a:p>
          <a:p>
            <a:endParaRPr lang="en-US" dirty="0"/>
          </a:p>
          <a:p>
            <a:r>
              <a:rPr lang="en-US" dirty="0" smtClean="0"/>
              <a:t>Optimal reduction in 4 or less input variables</a:t>
            </a:r>
          </a:p>
          <a:p>
            <a:pPr lvl="1"/>
            <a:r>
              <a:rPr lang="en-US" dirty="0" smtClean="0"/>
              <a:t>For 5 or more, you need a map of maps</a:t>
            </a:r>
            <a:endParaRPr lang="en-US" dirty="0"/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r>
              <a:rPr lang="en-US" dirty="0" smtClean="0"/>
              <a:t>“Using identities can be difficult because no rules are given on how or when to use [them], and there is no well-defined set of steps to follow” //Null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r>
              <a:rPr lang="en-US" dirty="0" smtClean="0"/>
              <a:t>“I have neither the time nor inclination to complete truth tables with more than 4+ inputs”</a:t>
            </a:r>
          </a:p>
          <a:p>
            <a:pPr marL="6858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2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19056" y="304800"/>
            <a:ext cx="84725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Karnaugh Maps</a:t>
            </a:r>
            <a:br>
              <a:rPr lang="en-US" dirty="0" smtClean="0"/>
            </a:br>
            <a:r>
              <a:rPr lang="en-US" dirty="0" smtClean="0"/>
              <a:t>Reduce Boolean Functions Visually</a:t>
            </a:r>
          </a:p>
        </p:txBody>
      </p:sp>
      <p:grpSp>
        <p:nvGrpSpPr>
          <p:cNvPr id="33795" name="Group 12"/>
          <p:cNvGrpSpPr>
            <a:grpSpLocks/>
          </p:cNvGrpSpPr>
          <p:nvPr/>
        </p:nvGrpSpPr>
        <p:grpSpPr bwMode="auto">
          <a:xfrm>
            <a:off x="1770062" y="2363788"/>
            <a:ext cx="1708150" cy="836612"/>
            <a:chOff x="749" y="1126"/>
            <a:chExt cx="1076" cy="527"/>
          </a:xfrm>
        </p:grpSpPr>
        <p:sp>
          <p:nvSpPr>
            <p:cNvPr id="33897" name="Rectangle 3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8" name="Rectangle 5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9" name="Rectangle 6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0" name="Rectangle 7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1" name="Rectangle 8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2" name="Rectangle 9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3" name="Rectangle 10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4" name="Rectangle 11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796" name="Text Box 14"/>
          <p:cNvSpPr txBox="1">
            <a:spLocks noChangeArrowheads="1"/>
          </p:cNvSpPr>
          <p:nvPr/>
        </p:nvSpPr>
        <p:spPr bwMode="auto">
          <a:xfrm>
            <a:off x="1733550" y="2058988"/>
            <a:ext cx="1901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AB   AB    AB    AB   </a:t>
            </a:r>
          </a:p>
        </p:txBody>
      </p:sp>
      <p:sp>
        <p:nvSpPr>
          <p:cNvPr id="33797" name="Line 15"/>
          <p:cNvSpPr>
            <a:spLocks noChangeShapeType="1"/>
          </p:cNvSpPr>
          <p:nvPr/>
        </p:nvSpPr>
        <p:spPr bwMode="auto">
          <a:xfrm>
            <a:off x="1454150" y="24257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8" name="Line 16"/>
          <p:cNvSpPr>
            <a:spLocks noChangeShapeType="1"/>
          </p:cNvSpPr>
          <p:nvPr/>
        </p:nvSpPr>
        <p:spPr bwMode="auto">
          <a:xfrm>
            <a:off x="3240088" y="2100263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9" name="Line 17"/>
          <p:cNvSpPr>
            <a:spLocks noChangeShapeType="1"/>
          </p:cNvSpPr>
          <p:nvPr/>
        </p:nvSpPr>
        <p:spPr bwMode="auto">
          <a:xfrm>
            <a:off x="2197100" y="2100263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800" name="Line 18"/>
          <p:cNvSpPr>
            <a:spLocks noChangeShapeType="1"/>
          </p:cNvSpPr>
          <p:nvPr/>
        </p:nvSpPr>
        <p:spPr bwMode="auto">
          <a:xfrm>
            <a:off x="1981200" y="2111375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801" name="Line 19"/>
          <p:cNvSpPr>
            <a:spLocks noChangeShapeType="1"/>
          </p:cNvSpPr>
          <p:nvPr/>
        </p:nvSpPr>
        <p:spPr bwMode="auto">
          <a:xfrm>
            <a:off x="1800225" y="2109788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802" name="Text Box 20"/>
          <p:cNvSpPr txBox="1">
            <a:spLocks noChangeArrowheads="1"/>
          </p:cNvSpPr>
          <p:nvPr/>
        </p:nvSpPr>
        <p:spPr bwMode="auto">
          <a:xfrm>
            <a:off x="1370012" y="2405063"/>
            <a:ext cx="31273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C</a:t>
            </a:r>
          </a:p>
        </p:txBody>
      </p:sp>
      <p:sp>
        <p:nvSpPr>
          <p:cNvPr id="33803" name="Text Box 21"/>
          <p:cNvSpPr txBox="1">
            <a:spLocks noChangeArrowheads="1"/>
          </p:cNvSpPr>
          <p:nvPr/>
        </p:nvSpPr>
        <p:spPr bwMode="auto">
          <a:xfrm>
            <a:off x="1352550" y="1612900"/>
            <a:ext cx="2457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 dirty="0"/>
              <a:t>K-Map for 3 input variables</a:t>
            </a:r>
          </a:p>
        </p:txBody>
      </p:sp>
      <p:grpSp>
        <p:nvGrpSpPr>
          <p:cNvPr id="33804" name="Group 22"/>
          <p:cNvGrpSpPr>
            <a:grpSpLocks/>
          </p:cNvGrpSpPr>
          <p:nvPr/>
        </p:nvGrpSpPr>
        <p:grpSpPr bwMode="auto">
          <a:xfrm>
            <a:off x="6016625" y="2184400"/>
            <a:ext cx="1708150" cy="836613"/>
            <a:chOff x="749" y="1126"/>
            <a:chExt cx="1076" cy="527"/>
          </a:xfrm>
        </p:grpSpPr>
        <p:sp>
          <p:nvSpPr>
            <p:cNvPr id="33889" name="Rectangle 23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0" name="Rectangle 24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1" name="Rectangle 25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2" name="Rectangle 26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3" name="Rectangle 27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4" name="Rectangle 28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5" name="Rectangle 29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6" name="Rectangle 30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05" name="Text Box 31"/>
          <p:cNvSpPr txBox="1">
            <a:spLocks noChangeArrowheads="1"/>
          </p:cNvSpPr>
          <p:nvPr/>
        </p:nvSpPr>
        <p:spPr bwMode="auto">
          <a:xfrm>
            <a:off x="5980113" y="1879600"/>
            <a:ext cx="1901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AB   AB    AB    AB   </a:t>
            </a:r>
          </a:p>
        </p:txBody>
      </p:sp>
      <p:sp>
        <p:nvSpPr>
          <p:cNvPr id="33806" name="Line 32"/>
          <p:cNvSpPr>
            <a:spLocks noChangeShapeType="1"/>
          </p:cNvSpPr>
          <p:nvPr/>
        </p:nvSpPr>
        <p:spPr bwMode="auto">
          <a:xfrm flipV="1">
            <a:off x="5602288" y="2211388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07" name="Line 36"/>
          <p:cNvSpPr>
            <a:spLocks noChangeShapeType="1"/>
          </p:cNvSpPr>
          <p:nvPr/>
        </p:nvSpPr>
        <p:spPr bwMode="auto">
          <a:xfrm flipV="1">
            <a:off x="6061075" y="1919288"/>
            <a:ext cx="122238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08" name="Text Box 37"/>
          <p:cNvSpPr txBox="1">
            <a:spLocks noChangeArrowheads="1"/>
          </p:cNvSpPr>
          <p:nvPr/>
        </p:nvSpPr>
        <p:spPr bwMode="auto">
          <a:xfrm>
            <a:off x="5491163" y="2176463"/>
            <a:ext cx="441325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CD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CD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CD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CD</a:t>
            </a:r>
          </a:p>
          <a:p>
            <a:pPr algn="ctr" eaLnBrk="1" hangingPunct="1"/>
            <a:endParaRPr lang="en-US" sz="1400" b="1"/>
          </a:p>
        </p:txBody>
      </p:sp>
      <p:grpSp>
        <p:nvGrpSpPr>
          <p:cNvPr id="33809" name="Group 38"/>
          <p:cNvGrpSpPr>
            <a:grpSpLocks/>
          </p:cNvGrpSpPr>
          <p:nvPr/>
        </p:nvGrpSpPr>
        <p:grpSpPr bwMode="auto">
          <a:xfrm>
            <a:off x="6016625" y="3013075"/>
            <a:ext cx="1708150" cy="836613"/>
            <a:chOff x="749" y="1126"/>
            <a:chExt cx="1076" cy="527"/>
          </a:xfrm>
        </p:grpSpPr>
        <p:sp>
          <p:nvSpPr>
            <p:cNvPr id="33881" name="Rectangle 39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2" name="Rectangle 40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3" name="Rectangle 41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4" name="Rectangle 42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5" name="Rectangle 43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6" name="Rectangle 44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7" name="Rectangle 45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8" name="Rectangle 46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10" name="Line 47"/>
          <p:cNvSpPr>
            <a:spLocks noChangeShapeType="1"/>
          </p:cNvSpPr>
          <p:nvPr/>
        </p:nvSpPr>
        <p:spPr bwMode="auto">
          <a:xfrm flipV="1">
            <a:off x="6218238" y="1919288"/>
            <a:ext cx="122237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1" name="Line 48"/>
          <p:cNvSpPr>
            <a:spLocks noChangeShapeType="1"/>
          </p:cNvSpPr>
          <p:nvPr/>
        </p:nvSpPr>
        <p:spPr bwMode="auto">
          <a:xfrm flipV="1">
            <a:off x="6473825" y="1914525"/>
            <a:ext cx="122238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2" name="Line 49"/>
          <p:cNvSpPr>
            <a:spLocks noChangeShapeType="1"/>
          </p:cNvSpPr>
          <p:nvPr/>
        </p:nvSpPr>
        <p:spPr bwMode="auto">
          <a:xfrm flipV="1">
            <a:off x="7512050" y="1928813"/>
            <a:ext cx="122238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3" name="Line 50"/>
          <p:cNvSpPr>
            <a:spLocks noChangeShapeType="1"/>
          </p:cNvSpPr>
          <p:nvPr/>
        </p:nvSpPr>
        <p:spPr bwMode="auto">
          <a:xfrm flipV="1">
            <a:off x="5753100" y="2205038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4" name="Line 51"/>
          <p:cNvSpPr>
            <a:spLocks noChangeShapeType="1"/>
          </p:cNvSpPr>
          <p:nvPr/>
        </p:nvSpPr>
        <p:spPr bwMode="auto">
          <a:xfrm flipV="1">
            <a:off x="5591175" y="2646363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5" name="Line 52"/>
          <p:cNvSpPr>
            <a:spLocks noChangeShapeType="1"/>
          </p:cNvSpPr>
          <p:nvPr/>
        </p:nvSpPr>
        <p:spPr bwMode="auto">
          <a:xfrm flipV="1">
            <a:off x="5722938" y="3505200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6" name="Text Box 53"/>
          <p:cNvSpPr txBox="1">
            <a:spLocks noChangeArrowheads="1"/>
          </p:cNvSpPr>
          <p:nvPr/>
        </p:nvSpPr>
        <p:spPr bwMode="auto">
          <a:xfrm>
            <a:off x="5619750" y="1524000"/>
            <a:ext cx="2457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K-Map for 4 input variables</a:t>
            </a:r>
          </a:p>
        </p:txBody>
      </p:sp>
      <p:grpSp>
        <p:nvGrpSpPr>
          <p:cNvPr id="33817" name="Group 54"/>
          <p:cNvGrpSpPr>
            <a:grpSpLocks/>
          </p:cNvGrpSpPr>
          <p:nvPr/>
        </p:nvGrpSpPr>
        <p:grpSpPr bwMode="auto">
          <a:xfrm>
            <a:off x="1090613" y="4487863"/>
            <a:ext cx="1708150" cy="836612"/>
            <a:chOff x="749" y="1126"/>
            <a:chExt cx="1076" cy="527"/>
          </a:xfrm>
        </p:grpSpPr>
        <p:sp>
          <p:nvSpPr>
            <p:cNvPr id="33873" name="Rectangle 55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4" name="Rectangle 56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5" name="Rectangle 57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6" name="Rectangle 58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7" name="Rectangle 59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8" name="Rectangle 60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9" name="Rectangle 61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0" name="Rectangle 62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18" name="Text Box 63"/>
          <p:cNvSpPr txBox="1">
            <a:spLocks noChangeArrowheads="1"/>
          </p:cNvSpPr>
          <p:nvPr/>
        </p:nvSpPr>
        <p:spPr bwMode="auto">
          <a:xfrm>
            <a:off x="1039813" y="4197350"/>
            <a:ext cx="3584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ABC  ABC  ABC   ABC  ABC  ABC  ABC   ABC  </a:t>
            </a:r>
          </a:p>
        </p:txBody>
      </p:sp>
      <p:sp>
        <p:nvSpPr>
          <p:cNvPr id="33819" name="Line 64"/>
          <p:cNvSpPr>
            <a:spLocks noChangeShapeType="1"/>
          </p:cNvSpPr>
          <p:nvPr/>
        </p:nvSpPr>
        <p:spPr bwMode="auto">
          <a:xfrm flipV="1">
            <a:off x="676275" y="4514850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0" name="Line 65"/>
          <p:cNvSpPr>
            <a:spLocks noChangeShapeType="1"/>
          </p:cNvSpPr>
          <p:nvPr/>
        </p:nvSpPr>
        <p:spPr bwMode="auto">
          <a:xfrm flipV="1">
            <a:off x="1135063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1" name="Text Box 66"/>
          <p:cNvSpPr txBox="1">
            <a:spLocks noChangeArrowheads="1"/>
          </p:cNvSpPr>
          <p:nvPr/>
        </p:nvSpPr>
        <p:spPr bwMode="auto">
          <a:xfrm>
            <a:off x="569913" y="4479925"/>
            <a:ext cx="4318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DE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DE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DE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DE</a:t>
            </a:r>
          </a:p>
          <a:p>
            <a:pPr algn="ctr" eaLnBrk="1" hangingPunct="1"/>
            <a:endParaRPr lang="en-US" sz="1400" b="1"/>
          </a:p>
        </p:txBody>
      </p:sp>
      <p:grpSp>
        <p:nvGrpSpPr>
          <p:cNvPr id="33822" name="Group 67"/>
          <p:cNvGrpSpPr>
            <a:grpSpLocks/>
          </p:cNvGrpSpPr>
          <p:nvPr/>
        </p:nvGrpSpPr>
        <p:grpSpPr bwMode="auto">
          <a:xfrm>
            <a:off x="1090613" y="5326063"/>
            <a:ext cx="1708150" cy="836612"/>
            <a:chOff x="749" y="1126"/>
            <a:chExt cx="1076" cy="527"/>
          </a:xfrm>
        </p:grpSpPr>
        <p:sp>
          <p:nvSpPr>
            <p:cNvPr id="33865" name="Rectangle 68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6" name="Rectangle 69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7" name="Rectangle 70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8" name="Rectangle 71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9" name="Rectangle 72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0" name="Rectangle 73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1" name="Rectangle 74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2" name="Rectangle 75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23" name="Line 79"/>
          <p:cNvSpPr>
            <a:spLocks noChangeShapeType="1"/>
          </p:cNvSpPr>
          <p:nvPr/>
        </p:nvSpPr>
        <p:spPr bwMode="auto">
          <a:xfrm flipV="1">
            <a:off x="827088" y="4508500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4" name="Line 80"/>
          <p:cNvSpPr>
            <a:spLocks noChangeShapeType="1"/>
          </p:cNvSpPr>
          <p:nvPr/>
        </p:nvSpPr>
        <p:spPr bwMode="auto">
          <a:xfrm flipV="1">
            <a:off x="665163" y="4949825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5" name="Line 81"/>
          <p:cNvSpPr>
            <a:spLocks noChangeShapeType="1"/>
          </p:cNvSpPr>
          <p:nvPr/>
        </p:nvSpPr>
        <p:spPr bwMode="auto">
          <a:xfrm flipV="1">
            <a:off x="796925" y="5808663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33826" name="Group 82"/>
          <p:cNvGrpSpPr>
            <a:grpSpLocks/>
          </p:cNvGrpSpPr>
          <p:nvPr/>
        </p:nvGrpSpPr>
        <p:grpSpPr bwMode="auto">
          <a:xfrm>
            <a:off x="2795588" y="4486275"/>
            <a:ext cx="1708150" cy="836613"/>
            <a:chOff x="749" y="1126"/>
            <a:chExt cx="1076" cy="527"/>
          </a:xfrm>
        </p:grpSpPr>
        <p:sp>
          <p:nvSpPr>
            <p:cNvPr id="33857" name="Rectangle 83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8" name="Rectangle 84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9" name="Rectangle 85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0" name="Rectangle 86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1" name="Rectangle 87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2" name="Rectangle 88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3" name="Rectangle 89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4" name="Rectangle 90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33827" name="Group 91"/>
          <p:cNvGrpSpPr>
            <a:grpSpLocks/>
          </p:cNvGrpSpPr>
          <p:nvPr/>
        </p:nvGrpSpPr>
        <p:grpSpPr bwMode="auto">
          <a:xfrm>
            <a:off x="2795588" y="5324475"/>
            <a:ext cx="1708150" cy="836613"/>
            <a:chOff x="749" y="1126"/>
            <a:chExt cx="1076" cy="527"/>
          </a:xfrm>
        </p:grpSpPr>
        <p:sp>
          <p:nvSpPr>
            <p:cNvPr id="33849" name="Rectangle 92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0" name="Rectangle 93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1" name="Rectangle 94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2" name="Rectangle 95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3" name="Rectangle 96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4" name="Rectangle 97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5" name="Rectangle 98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6" name="Rectangle 99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28" name="Line 100"/>
          <p:cNvSpPr>
            <a:spLocks noChangeShapeType="1"/>
          </p:cNvSpPr>
          <p:nvPr/>
        </p:nvSpPr>
        <p:spPr bwMode="auto">
          <a:xfrm flipV="1">
            <a:off x="1254125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9" name="Line 101"/>
          <p:cNvSpPr>
            <a:spLocks noChangeShapeType="1"/>
          </p:cNvSpPr>
          <p:nvPr/>
        </p:nvSpPr>
        <p:spPr bwMode="auto">
          <a:xfrm flipV="1">
            <a:off x="1368425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0" name="Line 102"/>
          <p:cNvSpPr>
            <a:spLocks noChangeShapeType="1"/>
          </p:cNvSpPr>
          <p:nvPr/>
        </p:nvSpPr>
        <p:spPr bwMode="auto">
          <a:xfrm flipV="1">
            <a:off x="4122738" y="4243388"/>
            <a:ext cx="920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1" name="Line 103"/>
          <p:cNvSpPr>
            <a:spLocks noChangeShapeType="1"/>
          </p:cNvSpPr>
          <p:nvPr/>
        </p:nvSpPr>
        <p:spPr bwMode="auto">
          <a:xfrm flipV="1">
            <a:off x="4241800" y="4243388"/>
            <a:ext cx="920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2" name="Line 104"/>
          <p:cNvSpPr>
            <a:spLocks noChangeShapeType="1"/>
          </p:cNvSpPr>
          <p:nvPr/>
        </p:nvSpPr>
        <p:spPr bwMode="auto">
          <a:xfrm flipV="1">
            <a:off x="1654175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3" name="Line 105"/>
          <p:cNvSpPr>
            <a:spLocks noChangeShapeType="1"/>
          </p:cNvSpPr>
          <p:nvPr/>
        </p:nvSpPr>
        <p:spPr bwMode="auto">
          <a:xfrm flipV="1">
            <a:off x="1773238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4" name="Line 106"/>
          <p:cNvSpPr>
            <a:spLocks noChangeShapeType="1"/>
          </p:cNvSpPr>
          <p:nvPr/>
        </p:nvSpPr>
        <p:spPr bwMode="auto">
          <a:xfrm flipV="1">
            <a:off x="2181225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5" name="Line 107"/>
          <p:cNvSpPr>
            <a:spLocks noChangeShapeType="1"/>
          </p:cNvSpPr>
          <p:nvPr/>
        </p:nvSpPr>
        <p:spPr bwMode="auto">
          <a:xfrm flipV="1">
            <a:off x="2422525" y="4230688"/>
            <a:ext cx="920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6" name="Line 108"/>
          <p:cNvSpPr>
            <a:spLocks noChangeShapeType="1"/>
          </p:cNvSpPr>
          <p:nvPr/>
        </p:nvSpPr>
        <p:spPr bwMode="auto">
          <a:xfrm flipV="1">
            <a:off x="2636838" y="422910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7" name="Line 109"/>
          <p:cNvSpPr>
            <a:spLocks noChangeShapeType="1"/>
          </p:cNvSpPr>
          <p:nvPr/>
        </p:nvSpPr>
        <p:spPr bwMode="auto">
          <a:xfrm flipV="1">
            <a:off x="2832100" y="4230688"/>
            <a:ext cx="920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8" name="Line 110"/>
          <p:cNvSpPr>
            <a:spLocks noChangeShapeType="1"/>
          </p:cNvSpPr>
          <p:nvPr/>
        </p:nvSpPr>
        <p:spPr bwMode="auto">
          <a:xfrm flipV="1">
            <a:off x="3762375" y="424180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9" name="Text Box 112"/>
          <p:cNvSpPr txBox="1">
            <a:spLocks noChangeArrowheads="1"/>
          </p:cNvSpPr>
          <p:nvPr/>
        </p:nvSpPr>
        <p:spPr bwMode="auto">
          <a:xfrm>
            <a:off x="1471613" y="3790950"/>
            <a:ext cx="2457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K-Map for 5 input variables</a:t>
            </a:r>
          </a:p>
        </p:txBody>
      </p:sp>
      <p:sp>
        <p:nvSpPr>
          <p:cNvPr id="33840" name="Text Box 113"/>
          <p:cNvSpPr txBox="1">
            <a:spLocks noChangeArrowheads="1"/>
          </p:cNvSpPr>
          <p:nvPr/>
        </p:nvSpPr>
        <p:spPr bwMode="auto">
          <a:xfrm>
            <a:off x="4876800" y="4876562"/>
            <a:ext cx="3962400" cy="1600438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 smtClean="0">
                <a:latin typeface="Arial" pitchFamily="34" charset="0"/>
              </a:rPr>
              <a:t>Notes:</a:t>
            </a:r>
            <a:endParaRPr lang="en-US" sz="1400" b="1" dirty="0">
              <a:latin typeface="Arial" pitchFamily="34" charset="0"/>
            </a:endParaRPr>
          </a:p>
          <a:p>
            <a:pPr eaLnBrk="1" hangingPunct="1"/>
            <a:r>
              <a:rPr lang="en-US" sz="1400" b="1" dirty="0" smtClean="0">
                <a:latin typeface="Arial" pitchFamily="34" charset="0"/>
              </a:rPr>
              <a:t>1: Colored </a:t>
            </a:r>
            <a:r>
              <a:rPr lang="en-US" sz="1400" b="1" dirty="0">
                <a:latin typeface="Arial" pitchFamily="34" charset="0"/>
              </a:rPr>
              <a:t>lines are </a:t>
            </a:r>
            <a:r>
              <a:rPr lang="en-US" sz="1400" b="1" dirty="0" smtClean="0">
                <a:latin typeface="Arial" pitchFamily="34" charset="0"/>
              </a:rPr>
              <a:t>adjacent (torus)</a:t>
            </a:r>
            <a:endParaRPr lang="en-US" sz="1400" b="1" dirty="0">
              <a:latin typeface="Arial" pitchFamily="34" charset="0"/>
            </a:endParaRPr>
          </a:p>
          <a:p>
            <a:pPr eaLnBrk="1" hangingPunct="1"/>
            <a:r>
              <a:rPr lang="en-US" sz="1400" b="1" dirty="0" smtClean="0">
                <a:latin typeface="Arial" pitchFamily="34" charset="0"/>
              </a:rPr>
              <a:t>2: </a:t>
            </a:r>
            <a:r>
              <a:rPr lang="en-US" sz="1400" b="1" dirty="0">
                <a:latin typeface="Arial" pitchFamily="34" charset="0"/>
              </a:rPr>
              <a:t>The corner cells are adjacent</a:t>
            </a:r>
          </a:p>
          <a:p>
            <a:pPr eaLnBrk="1" hangingPunct="1"/>
            <a:r>
              <a:rPr lang="en-US" sz="1400" b="1" dirty="0" smtClean="0">
                <a:latin typeface="Arial" pitchFamily="34" charset="0"/>
              </a:rPr>
              <a:t>3: Only </a:t>
            </a:r>
            <a:r>
              <a:rPr lang="en-US" sz="1400" b="1" dirty="0">
                <a:latin typeface="Arial" pitchFamily="34" charset="0"/>
              </a:rPr>
              <a:t>one variable </a:t>
            </a:r>
            <a:r>
              <a:rPr lang="en-US" sz="1400" b="1" dirty="0" smtClean="0">
                <a:latin typeface="Arial" pitchFamily="34" charset="0"/>
              </a:rPr>
              <a:t>changes as </a:t>
            </a:r>
            <a:r>
              <a:rPr lang="en-US" sz="1400" b="1" dirty="0">
                <a:latin typeface="Arial" pitchFamily="34" charset="0"/>
              </a:rPr>
              <a:t>you </a:t>
            </a:r>
            <a:r>
              <a:rPr lang="en-US" sz="1400" b="1" dirty="0" smtClean="0">
                <a:latin typeface="Arial" pitchFamily="34" charset="0"/>
              </a:rPr>
              <a:t>go </a:t>
            </a:r>
            <a:r>
              <a:rPr lang="en-US" sz="1400" b="1" dirty="0">
                <a:latin typeface="Arial" pitchFamily="34" charset="0"/>
              </a:rPr>
              <a:t>from cell to </a:t>
            </a:r>
            <a:r>
              <a:rPr lang="en-US" sz="1400" b="1" dirty="0" smtClean="0">
                <a:latin typeface="Arial" pitchFamily="34" charset="0"/>
              </a:rPr>
              <a:t>cell in both x and y, including the </a:t>
            </a:r>
            <a:r>
              <a:rPr lang="en-US" sz="1400" b="1" dirty="0">
                <a:latin typeface="Arial" pitchFamily="34" charset="0"/>
              </a:rPr>
              <a:t>opposite </a:t>
            </a:r>
            <a:r>
              <a:rPr lang="en-US" sz="1400" b="1" dirty="0" smtClean="0">
                <a:latin typeface="Arial" pitchFamily="34" charset="0"/>
              </a:rPr>
              <a:t>ends {~A~B,~AB,</a:t>
            </a:r>
            <a:r>
              <a:rPr lang="mr-IN" sz="1400" b="1" dirty="0" smtClean="0">
                <a:latin typeface="Arial" pitchFamily="34" charset="0"/>
              </a:rPr>
              <a:t>…</a:t>
            </a:r>
            <a:r>
              <a:rPr lang="en-US" sz="1400" b="1" dirty="0" smtClean="0">
                <a:latin typeface="Arial" pitchFamily="34" charset="0"/>
              </a:rPr>
              <a:t>}</a:t>
            </a:r>
            <a:endParaRPr lang="en-US" sz="1400" b="1" dirty="0">
              <a:latin typeface="Arial" pitchFamily="34" charset="0"/>
            </a:endParaRPr>
          </a:p>
          <a:p>
            <a:pPr eaLnBrk="1" hangingPunct="1"/>
            <a:r>
              <a:rPr lang="en-US" sz="1400" b="1" dirty="0" smtClean="0">
                <a:latin typeface="Arial" pitchFamily="34" charset="0"/>
              </a:rPr>
              <a:t>4: No diagonals (they aren’t adjacent)</a:t>
            </a:r>
            <a:endParaRPr lang="en-US" sz="1400" b="1" dirty="0">
              <a:latin typeface="Arial" pitchFamily="34" charset="0"/>
            </a:endParaRPr>
          </a:p>
        </p:txBody>
      </p:sp>
      <p:sp>
        <p:nvSpPr>
          <p:cNvPr id="33841" name="Line 114"/>
          <p:cNvSpPr>
            <a:spLocks noChangeShapeType="1"/>
          </p:cNvSpPr>
          <p:nvPr/>
        </p:nvSpPr>
        <p:spPr bwMode="auto">
          <a:xfrm>
            <a:off x="7724775" y="2193925"/>
            <a:ext cx="0" cy="165576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42" name="Line 115"/>
          <p:cNvSpPr>
            <a:spLocks noChangeShapeType="1"/>
          </p:cNvSpPr>
          <p:nvPr/>
        </p:nvSpPr>
        <p:spPr bwMode="auto">
          <a:xfrm>
            <a:off x="6016625" y="2184400"/>
            <a:ext cx="0" cy="165576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843" name="Line 116"/>
          <p:cNvSpPr>
            <a:spLocks noChangeShapeType="1"/>
          </p:cNvSpPr>
          <p:nvPr/>
        </p:nvSpPr>
        <p:spPr bwMode="auto">
          <a:xfrm>
            <a:off x="6013450" y="3852863"/>
            <a:ext cx="170656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44" name="Line 117"/>
          <p:cNvSpPr>
            <a:spLocks noChangeShapeType="1"/>
          </p:cNvSpPr>
          <p:nvPr/>
        </p:nvSpPr>
        <p:spPr bwMode="auto">
          <a:xfrm>
            <a:off x="6003925" y="2187575"/>
            <a:ext cx="1708150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45" name="Rectangle 118"/>
          <p:cNvSpPr>
            <a:spLocks noChangeArrowheads="1"/>
          </p:cNvSpPr>
          <p:nvPr/>
        </p:nvSpPr>
        <p:spPr bwMode="auto">
          <a:xfrm>
            <a:off x="1098550" y="4511675"/>
            <a:ext cx="395288" cy="3746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3846" name="Rectangle 119"/>
          <p:cNvSpPr>
            <a:spLocks noChangeArrowheads="1"/>
          </p:cNvSpPr>
          <p:nvPr/>
        </p:nvSpPr>
        <p:spPr bwMode="auto">
          <a:xfrm>
            <a:off x="1108075" y="5759450"/>
            <a:ext cx="395288" cy="3746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3847" name="Rectangle 120"/>
          <p:cNvSpPr>
            <a:spLocks noChangeArrowheads="1"/>
          </p:cNvSpPr>
          <p:nvPr/>
        </p:nvSpPr>
        <p:spPr bwMode="auto">
          <a:xfrm>
            <a:off x="4084638" y="4511675"/>
            <a:ext cx="395287" cy="3746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3848" name="Rectangle 121"/>
          <p:cNvSpPr>
            <a:spLocks noChangeArrowheads="1"/>
          </p:cNvSpPr>
          <p:nvPr/>
        </p:nvSpPr>
        <p:spPr bwMode="auto">
          <a:xfrm>
            <a:off x="4094163" y="5759450"/>
            <a:ext cx="395287" cy="3746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113" name="Line 115"/>
          <p:cNvSpPr>
            <a:spLocks noChangeShapeType="1"/>
          </p:cNvSpPr>
          <p:nvPr/>
        </p:nvSpPr>
        <p:spPr bwMode="auto">
          <a:xfrm>
            <a:off x="8064500" y="5118100"/>
            <a:ext cx="0" cy="184914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4" name="Line 117"/>
          <p:cNvSpPr>
            <a:spLocks noChangeShapeType="1"/>
          </p:cNvSpPr>
          <p:nvPr/>
        </p:nvSpPr>
        <p:spPr bwMode="auto">
          <a:xfrm>
            <a:off x="8229600" y="5181600"/>
            <a:ext cx="23082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" name="Line 117"/>
          <p:cNvSpPr>
            <a:spLocks noChangeShapeType="1"/>
          </p:cNvSpPr>
          <p:nvPr/>
        </p:nvSpPr>
        <p:spPr bwMode="auto">
          <a:xfrm>
            <a:off x="8229600" y="5257800"/>
            <a:ext cx="23082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" name="Line 115"/>
          <p:cNvSpPr>
            <a:spLocks noChangeShapeType="1"/>
          </p:cNvSpPr>
          <p:nvPr/>
        </p:nvSpPr>
        <p:spPr bwMode="auto">
          <a:xfrm>
            <a:off x="8140700" y="5123686"/>
            <a:ext cx="0" cy="184914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7" name="Line 115"/>
          <p:cNvSpPr>
            <a:spLocks noChangeShapeType="1"/>
          </p:cNvSpPr>
          <p:nvPr/>
        </p:nvSpPr>
        <p:spPr bwMode="auto">
          <a:xfrm>
            <a:off x="7696200" y="5377686"/>
            <a:ext cx="0" cy="184914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8" name="Line 117"/>
          <p:cNvSpPr>
            <a:spLocks noChangeShapeType="1"/>
          </p:cNvSpPr>
          <p:nvPr/>
        </p:nvSpPr>
        <p:spPr bwMode="auto">
          <a:xfrm>
            <a:off x="7670800" y="5397500"/>
            <a:ext cx="23082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9" name="Line 115"/>
          <p:cNvSpPr>
            <a:spLocks noChangeShapeType="1"/>
          </p:cNvSpPr>
          <p:nvPr/>
        </p:nvSpPr>
        <p:spPr bwMode="auto">
          <a:xfrm>
            <a:off x="8026400" y="5397500"/>
            <a:ext cx="0" cy="184914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" name="Line 117"/>
          <p:cNvSpPr>
            <a:spLocks noChangeShapeType="1"/>
          </p:cNvSpPr>
          <p:nvPr/>
        </p:nvSpPr>
        <p:spPr bwMode="auto">
          <a:xfrm>
            <a:off x="7835900" y="5562600"/>
            <a:ext cx="23082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&quot;No&quot; Symbol 1"/>
          <p:cNvSpPr/>
          <p:nvPr/>
        </p:nvSpPr>
        <p:spPr>
          <a:xfrm>
            <a:off x="8166100" y="6146800"/>
            <a:ext cx="304800" cy="304800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05400" y="4278868"/>
            <a:ext cx="35052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#of Minterm Cells = 2</a:t>
            </a:r>
            <a:r>
              <a:rPr lang="en-US" baseline="30000" dirty="0" smtClean="0"/>
              <a:t>num_vars</a:t>
            </a:r>
            <a:endParaRPr lang="en-US" dirty="0"/>
          </a:p>
        </p:txBody>
      </p:sp>
      <p:sp>
        <p:nvSpPr>
          <p:cNvPr id="123" name="Line 117"/>
          <p:cNvSpPr>
            <a:spLocks noChangeShapeType="1"/>
          </p:cNvSpPr>
          <p:nvPr/>
        </p:nvSpPr>
        <p:spPr bwMode="auto">
          <a:xfrm>
            <a:off x="1765300" y="2362200"/>
            <a:ext cx="1708150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4" name="Line 117"/>
          <p:cNvSpPr>
            <a:spLocks noChangeShapeType="1"/>
          </p:cNvSpPr>
          <p:nvPr/>
        </p:nvSpPr>
        <p:spPr bwMode="auto">
          <a:xfrm>
            <a:off x="1765300" y="3200400"/>
            <a:ext cx="1708150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5" name="Line 117"/>
          <p:cNvSpPr>
            <a:spLocks noChangeShapeType="1"/>
          </p:cNvSpPr>
          <p:nvPr/>
        </p:nvSpPr>
        <p:spPr bwMode="auto">
          <a:xfrm>
            <a:off x="1559424" y="4495800"/>
            <a:ext cx="250090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6" name="Line 117"/>
          <p:cNvSpPr>
            <a:spLocks noChangeShapeType="1"/>
          </p:cNvSpPr>
          <p:nvPr/>
        </p:nvSpPr>
        <p:spPr bwMode="auto">
          <a:xfrm>
            <a:off x="1549400" y="6159500"/>
            <a:ext cx="250090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7" name="Line 115"/>
          <p:cNvSpPr>
            <a:spLocks noChangeShapeType="1"/>
          </p:cNvSpPr>
          <p:nvPr/>
        </p:nvSpPr>
        <p:spPr bwMode="auto">
          <a:xfrm>
            <a:off x="3492500" y="2348978"/>
            <a:ext cx="0" cy="84966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" name="Line 115"/>
          <p:cNvSpPr>
            <a:spLocks noChangeShapeType="1"/>
          </p:cNvSpPr>
          <p:nvPr/>
        </p:nvSpPr>
        <p:spPr bwMode="auto">
          <a:xfrm>
            <a:off x="1752600" y="2362200"/>
            <a:ext cx="0" cy="84966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" name="Line 115"/>
          <p:cNvSpPr>
            <a:spLocks noChangeShapeType="1"/>
          </p:cNvSpPr>
          <p:nvPr/>
        </p:nvSpPr>
        <p:spPr bwMode="auto">
          <a:xfrm>
            <a:off x="4495800" y="4876800"/>
            <a:ext cx="0" cy="84966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" name="Line 115"/>
          <p:cNvSpPr>
            <a:spLocks noChangeShapeType="1"/>
          </p:cNvSpPr>
          <p:nvPr/>
        </p:nvSpPr>
        <p:spPr bwMode="auto">
          <a:xfrm>
            <a:off x="1079500" y="4876800"/>
            <a:ext cx="0" cy="84966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4" name="Picture 3" descr="Screen Shot 2018-10-08 at 3.43.4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3352800"/>
            <a:ext cx="5168900" cy="3238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69988"/>
            <a:ext cx="4892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Image Source</a:t>
            </a:r>
            <a:r>
              <a:rPr lang="en-US" sz="1200" dirty="0"/>
              <a:t>: https://</a:t>
            </a:r>
            <a:r>
              <a:rPr lang="en-US" sz="1200" dirty="0" err="1"/>
              <a:t>en.wikipedia.org</a:t>
            </a:r>
            <a:r>
              <a:rPr lang="en-US" sz="1200" dirty="0"/>
              <a:t>/wiki/</a:t>
            </a:r>
            <a:r>
              <a:rPr lang="en-US" sz="1200" dirty="0" err="1"/>
              <a:t>Karnaugh_map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79431913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253" y="523124"/>
            <a:ext cx="7727218" cy="858753"/>
          </a:xfrm>
        </p:spPr>
        <p:txBody>
          <a:bodyPr/>
          <a:lstStyle/>
          <a:p>
            <a:r>
              <a:rPr lang="en-US" dirty="0" smtClean="0"/>
              <a:t>A Simple Example KMap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4800" y="3730672"/>
            <a:ext cx="2514600" cy="61272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F(</a:t>
            </a:r>
            <a:r>
              <a:rPr lang="en-US" dirty="0" err="1" smtClean="0"/>
              <a:t>x,y</a:t>
            </a:r>
            <a:r>
              <a:rPr lang="en-US" dirty="0" smtClean="0"/>
              <a:t>) = x + y</a:t>
            </a:r>
          </a:p>
          <a:p>
            <a:pPr marL="6858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605397"/>
              </p:ext>
            </p:extLst>
          </p:nvPr>
        </p:nvGraphicFramePr>
        <p:xfrm>
          <a:off x="1905000" y="4648200"/>
          <a:ext cx="60960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endParaRPr lang="en-US" dirty="0"/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!Y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Y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380625"/>
              </p:ext>
            </p:extLst>
          </p:nvPr>
        </p:nvGraphicFramePr>
        <p:xfrm>
          <a:off x="2514600" y="17526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05155" y="2506518"/>
            <a:ext cx="277091" cy="34636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20000"/>
                  <a:satMod val="180000"/>
                  <a:lumMod val="98000"/>
                  <a:alpha val="18000"/>
                </a:schemeClr>
              </a:gs>
              <a:gs pos="40000">
                <a:schemeClr val="accent6">
                  <a:tint val="30000"/>
                  <a:satMod val="260000"/>
                  <a:lumMod val="84000"/>
                  <a:alpha val="18000"/>
                </a:schemeClr>
              </a:gs>
              <a:gs pos="100000">
                <a:schemeClr val="accent6">
                  <a:tint val="100000"/>
                  <a:satMod val="110000"/>
                  <a:lumMod val="100000"/>
                  <a:alpha val="18000"/>
                </a:schemeClr>
              </a:gs>
            </a:gsLst>
            <a:lin ang="504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606309" y="2854036"/>
            <a:ext cx="277091" cy="3463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alpha val="13000"/>
                </a:schemeClr>
              </a:gs>
              <a:gs pos="100000">
                <a:schemeClr val="accent5">
                  <a:shade val="75000"/>
                  <a:satMod val="120000"/>
                  <a:lumMod val="90000"/>
                  <a:alpha val="1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606309" y="3222336"/>
            <a:ext cx="277091" cy="3463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15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962400" y="5410200"/>
            <a:ext cx="277091" cy="34636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20000"/>
                  <a:satMod val="180000"/>
                  <a:lumMod val="98000"/>
                  <a:alpha val="18000"/>
                </a:schemeClr>
              </a:gs>
              <a:gs pos="40000">
                <a:schemeClr val="accent6">
                  <a:tint val="30000"/>
                  <a:satMod val="260000"/>
                  <a:lumMod val="84000"/>
                  <a:alpha val="18000"/>
                </a:schemeClr>
              </a:gs>
              <a:gs pos="100000">
                <a:schemeClr val="accent6">
                  <a:tint val="100000"/>
                  <a:satMod val="110000"/>
                  <a:lumMod val="100000"/>
                  <a:alpha val="18000"/>
                </a:schemeClr>
              </a:gs>
            </a:gsLst>
            <a:lin ang="504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019800" y="5029200"/>
            <a:ext cx="277091" cy="3463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alpha val="13000"/>
                </a:schemeClr>
              </a:gs>
              <a:gs pos="100000">
                <a:schemeClr val="accent5">
                  <a:shade val="75000"/>
                  <a:satMod val="120000"/>
                  <a:lumMod val="90000"/>
                  <a:alpha val="1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019800" y="5410200"/>
            <a:ext cx="277091" cy="3463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15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ame 12"/>
          <p:cNvSpPr/>
          <p:nvPr/>
        </p:nvSpPr>
        <p:spPr>
          <a:xfrm>
            <a:off x="3810000" y="5345546"/>
            <a:ext cx="2667000" cy="484909"/>
          </a:xfrm>
          <a:prstGeom prst="fram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/>
          <p:cNvSpPr/>
          <p:nvPr/>
        </p:nvSpPr>
        <p:spPr>
          <a:xfrm>
            <a:off x="5851241" y="4940300"/>
            <a:ext cx="638459" cy="944951"/>
          </a:xfrm>
          <a:prstGeom prst="fram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05000" y="5943600"/>
            <a:ext cx="609600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Draw Loops (powers of 2) around the 1s, greedy. </a:t>
            </a:r>
            <a:r>
              <a:rPr lang="en-US" sz="200" dirty="0" smtClean="0"/>
              <a:t>(</a:t>
            </a:r>
            <a:r>
              <a:rPr lang="en-US" sz="200" dirty="0" err="1" smtClean="0"/>
              <a:t>Trumpish</a:t>
            </a:r>
            <a:r>
              <a:rPr lang="en-US" sz="200" dirty="0" smtClean="0"/>
              <a:t>) 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Do this until no 1 is left behind (out of the loop)</a:t>
            </a:r>
          </a:p>
          <a:p>
            <a:pPr marL="285750" indent="-285750">
              <a:buFont typeface="Arial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Which is easier? Boolean Identities or pictures?</a:t>
            </a: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387600" y="3746500"/>
            <a:ext cx="6858000" cy="990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None/>
            </a:pPr>
            <a:r>
              <a:rPr lang="en-US" dirty="0" smtClean="0"/>
              <a:t>= x(y+!y) + y(x+!x) = </a:t>
            </a:r>
            <a:r>
              <a:rPr lang="en-US" dirty="0" err="1" smtClean="0"/>
              <a:t>xy</a:t>
            </a:r>
            <a:r>
              <a:rPr lang="en-US" dirty="0" smtClean="0"/>
              <a:t> +</a:t>
            </a:r>
            <a:r>
              <a:rPr lang="en-US" dirty="0"/>
              <a:t> </a:t>
            </a:r>
            <a:r>
              <a:rPr lang="en-US" dirty="0" err="1" smtClean="0"/>
              <a:t>xy</a:t>
            </a:r>
            <a:r>
              <a:rPr lang="en-US" dirty="0" smtClean="0"/>
              <a:t> + </a:t>
            </a:r>
            <a:r>
              <a:rPr lang="en-US" dirty="0" err="1" smtClean="0"/>
              <a:t>x!y</a:t>
            </a:r>
            <a:r>
              <a:rPr lang="en-US" dirty="0" smtClean="0"/>
              <a:t> + !</a:t>
            </a:r>
            <a:r>
              <a:rPr lang="en-US" dirty="0" err="1" smtClean="0"/>
              <a:t>xy</a:t>
            </a:r>
            <a:endParaRPr lang="en-US" dirty="0" smtClean="0"/>
          </a:p>
          <a:p>
            <a:pPr marL="68580" indent="0">
              <a:buNone/>
            </a:pPr>
            <a:r>
              <a:rPr lang="en-US" dirty="0" smtClean="0"/>
              <a:t>//built from BEs or the output rows with 1’s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" y="2353270"/>
            <a:ext cx="243078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008000"/>
                </a:solidFill>
              </a:rPr>
              <a:t>From TT to BE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0000FF"/>
                </a:solidFill>
              </a:rPr>
              <a:t>From BE to KMap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0000FF"/>
                </a:solidFill>
              </a:rPr>
              <a:t>From TT to KMap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urved Up Arrow 2"/>
          <p:cNvSpPr/>
          <p:nvPr/>
        </p:nvSpPr>
        <p:spPr>
          <a:xfrm rot="15837017">
            <a:off x="6820635" y="3167195"/>
            <a:ext cx="940110" cy="430129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Up Arrow 17"/>
          <p:cNvSpPr/>
          <p:nvPr/>
        </p:nvSpPr>
        <p:spPr>
          <a:xfrm rot="15837017">
            <a:off x="7482512" y="2865554"/>
            <a:ext cx="1665459" cy="76200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/>
          <p:cNvSpPr/>
          <p:nvPr/>
        </p:nvSpPr>
        <p:spPr>
          <a:xfrm rot="15837017">
            <a:off x="6199378" y="3524546"/>
            <a:ext cx="583734" cy="267076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6415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5" grpId="0" animBg="1"/>
      <p:bldP spid="16" grpId="0"/>
      <p:bldP spid="3" grpId="0" animBg="1"/>
      <p:bldP spid="3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95286"/>
            <a:ext cx="8382000" cy="7097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Forms of Logic Standardization:</a:t>
            </a:r>
            <a:br>
              <a:rPr lang="en-US" dirty="0" smtClean="0"/>
            </a:br>
            <a:r>
              <a:rPr lang="en-US" dirty="0" smtClean="0">
                <a:solidFill>
                  <a:srgbClr val="0000FF"/>
                </a:solidFill>
              </a:rPr>
              <a:t>S.O.P.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660066"/>
                </a:solidFill>
              </a:rPr>
              <a:t>P.O.S.</a:t>
            </a:r>
            <a:endParaRPr lang="en-US" dirty="0"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305800" cy="4534348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We seek a </a:t>
            </a:r>
            <a:r>
              <a:rPr lang="en-US" b="1" dirty="0" smtClean="0">
                <a:solidFill>
                  <a:srgbClr val="0000FF"/>
                </a:solidFill>
              </a:rPr>
              <a:t>canonical form </a:t>
            </a:r>
            <a:r>
              <a:rPr lang="en-US" dirty="0" smtClean="0"/>
              <a:t>(</a:t>
            </a:r>
            <a:r>
              <a:rPr lang="en-US" b="1" dirty="0" smtClean="0"/>
              <a:t>GUID</a:t>
            </a:r>
            <a:r>
              <a:rPr lang="en-US" dirty="0" smtClean="0"/>
              <a:t>) to uniquely express our logic equations</a:t>
            </a:r>
          </a:p>
          <a:p>
            <a:pPr lvl="1"/>
            <a:r>
              <a:rPr lang="en-US" dirty="0" smtClean="0"/>
              <a:t>So we can find an all-encompassing hardware framework that can </a:t>
            </a:r>
            <a:r>
              <a:rPr lang="en-US" b="1" i="1" dirty="0" smtClean="0"/>
              <a:t>uniquely</a:t>
            </a:r>
            <a:r>
              <a:rPr lang="en-US" dirty="0" smtClean="0"/>
              <a:t> express any logic equation</a:t>
            </a:r>
          </a:p>
          <a:p>
            <a:pPr lvl="1"/>
            <a:r>
              <a:rPr lang="en-US" dirty="0" smtClean="0"/>
              <a:t>Since all logic reduces to AND, OR, and NOT…</a:t>
            </a:r>
          </a:p>
          <a:p>
            <a:pPr lvl="2"/>
            <a:r>
              <a:rPr lang="en-US" dirty="0" smtClean="0"/>
              <a:t>A set of AND gates </a:t>
            </a:r>
          </a:p>
          <a:p>
            <a:pPr lvl="2"/>
            <a:r>
              <a:rPr lang="en-US" dirty="0" smtClean="0"/>
              <a:t>A second set of OR gates</a:t>
            </a:r>
          </a:p>
          <a:p>
            <a:pPr lvl="1"/>
            <a:r>
              <a:rPr lang="en-US" dirty="0"/>
              <a:t>To do this, we need a </a:t>
            </a:r>
            <a:r>
              <a:rPr lang="en-US" b="1" dirty="0">
                <a:solidFill>
                  <a:srgbClr val="0000FF"/>
                </a:solidFill>
              </a:rPr>
              <a:t>normalized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rgbClr val="0000FF"/>
                </a:solidFill>
              </a:rPr>
              <a:t>regular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form </a:t>
            </a:r>
          </a:p>
          <a:p>
            <a:pPr lvl="1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r>
              <a:rPr lang="en-US" b="1" dirty="0" smtClean="0">
                <a:solidFill>
                  <a:srgbClr val="0000FF"/>
                </a:solidFill>
              </a:rPr>
              <a:t>Sum of products</a:t>
            </a:r>
            <a:r>
              <a:rPr lang="en-US" dirty="0" smtClean="0"/>
              <a:t> is a standard form (</a:t>
            </a:r>
            <a:r>
              <a:rPr lang="en-US" b="1" dirty="0" smtClean="0">
                <a:solidFill>
                  <a:srgbClr val="0000FF"/>
                </a:solidFill>
              </a:rPr>
              <a:t>S.O.P.</a:t>
            </a:r>
            <a:r>
              <a:rPr lang="en-US" dirty="0" smtClean="0"/>
              <a:t> V.S</a:t>
            </a:r>
            <a:r>
              <a:rPr lang="en-US" dirty="0" smtClean="0">
                <a:solidFill>
                  <a:srgbClr val="660066"/>
                </a:solidFill>
              </a:rPr>
              <a:t>. </a:t>
            </a:r>
            <a:r>
              <a:rPr lang="en-US" b="1" dirty="0" smtClean="0">
                <a:solidFill>
                  <a:srgbClr val="660066"/>
                </a:solidFill>
              </a:rPr>
              <a:t>P.O.S.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Same with </a:t>
            </a:r>
            <a:r>
              <a:rPr lang="en-US" b="1" dirty="0" smtClean="0">
                <a:solidFill>
                  <a:srgbClr val="660066"/>
                </a:solidFill>
              </a:rPr>
              <a:t>product of sums</a:t>
            </a:r>
            <a:r>
              <a:rPr lang="en-US" dirty="0" smtClean="0"/>
              <a:t>, and like negative/positive logic we’ll pick one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This is a </a:t>
            </a:r>
            <a:r>
              <a:rPr lang="en-US" b="1" dirty="0" smtClean="0">
                <a:solidFill>
                  <a:srgbClr val="0000FF"/>
                </a:solidFill>
              </a:rPr>
              <a:t>canonical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00FF"/>
                </a:solidFill>
              </a:rPr>
              <a:t>unique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00FF"/>
                </a:solidFill>
              </a:rPr>
              <a:t>signature </a:t>
            </a:r>
            <a:r>
              <a:rPr lang="en-US" dirty="0" smtClean="0"/>
              <a:t>of any set of AND, OR operations…</a:t>
            </a:r>
          </a:p>
          <a:p>
            <a:pPr lvl="1"/>
            <a:r>
              <a:rPr lang="en-US" dirty="0" smtClean="0"/>
              <a:t>Establishes a two-Level hardware array that can represent any logic function.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03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685800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Representing </a:t>
            </a:r>
            <a:r>
              <a:rPr lang="en-US" dirty="0" smtClean="0">
                <a:solidFill>
                  <a:srgbClr val="4A6300"/>
                </a:solidFill>
              </a:rPr>
              <a:t>Boolean Functions</a:t>
            </a:r>
            <a:r>
              <a:rPr lang="en-US" dirty="0"/>
              <a:t> </a:t>
            </a:r>
            <a:r>
              <a:rPr lang="en-US" dirty="0" smtClean="0"/>
              <a:t>in</a:t>
            </a:r>
            <a:br>
              <a:rPr lang="en-US" dirty="0" smtClean="0"/>
            </a:br>
            <a:r>
              <a:rPr lang="en-US" dirty="0" smtClean="0"/>
              <a:t>Standardized (Sum-of-Products )Form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229600" cy="43434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Why establish a standardized form?</a:t>
            </a:r>
          </a:p>
          <a:p>
            <a:pPr lvl="1"/>
            <a:r>
              <a:rPr lang="en-US" dirty="0" smtClean="0"/>
              <a:t>Useful for implementing a relationship between a general form of logic and a general hardware array format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S.O.P.</a:t>
            </a:r>
            <a:r>
              <a:rPr lang="en-US" dirty="0" smtClean="0"/>
              <a:t>: Useful for offering a </a:t>
            </a:r>
            <a:r>
              <a:rPr lang="en-US" b="1" i="1" dirty="0" smtClean="0">
                <a:solidFill>
                  <a:srgbClr val="0000FF"/>
                </a:solidFill>
              </a:rPr>
              <a:t>unique, standardized, configurable</a:t>
            </a:r>
            <a:r>
              <a:rPr lang="en-US" dirty="0" smtClean="0"/>
              <a:t> (programmable) logic as a 2D array of (AND, OR) operations</a:t>
            </a:r>
          </a:p>
          <a:p>
            <a:pPr lvl="1"/>
            <a:r>
              <a:rPr lang="en-US" dirty="0" smtClean="0"/>
              <a:t>Inner operations are ANDS</a:t>
            </a:r>
          </a:p>
          <a:p>
            <a:pPr lvl="2"/>
            <a:r>
              <a:rPr lang="en-US" dirty="0" smtClean="0"/>
              <a:t>So an array of ANDS, with one for each product term</a:t>
            </a:r>
          </a:p>
          <a:p>
            <a:pPr lvl="1"/>
            <a:r>
              <a:rPr lang="en-US" dirty="0" smtClean="0"/>
              <a:t>Outer operations are ORs</a:t>
            </a:r>
          </a:p>
          <a:p>
            <a:pPr lvl="2"/>
            <a:r>
              <a:rPr lang="en-US" dirty="0" smtClean="0"/>
              <a:t>And a second array of ORs, fed by the ANDs, one for each sum</a:t>
            </a:r>
          </a:p>
          <a:p>
            <a:endParaRPr lang="en-US" dirty="0" smtClean="0"/>
          </a:p>
          <a:p>
            <a:r>
              <a:rPr lang="en-US" dirty="0" smtClean="0"/>
              <a:t>All negations (or inversions) are on individual lines/variables</a:t>
            </a:r>
          </a:p>
          <a:p>
            <a:pPr marL="114300" indent="0">
              <a:buNone/>
            </a:pPr>
            <a:r>
              <a:rPr lang="en-US" dirty="0" smtClean="0"/>
              <a:t>            </a:t>
            </a:r>
          </a:p>
          <a:p>
            <a:r>
              <a:rPr lang="en-US" dirty="0" smtClean="0"/>
              <a:t>E(A,B,C) = ( A * B * !C )  + ( !A * B * C )  //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en-US" dirty="0" smtClean="0"/>
              <a:t> </a:t>
            </a:r>
            <a:r>
              <a:rPr lang="en-US" b="1" i="1" dirty="0" smtClean="0">
                <a:solidFill>
                  <a:schemeClr val="accent1">
                    <a:lumMod val="50000"/>
                  </a:schemeClr>
                </a:solidFill>
              </a:rPr>
              <a:t>Boolean Function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82600" y="2895600"/>
            <a:ext cx="8204200" cy="184144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1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6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024744" cy="1143000"/>
          </a:xfrm>
        </p:spPr>
        <p:txBody>
          <a:bodyPr/>
          <a:lstStyle/>
          <a:p>
            <a:r>
              <a:rPr lang="en-US" dirty="0" smtClean="0"/>
              <a:t>Two-Level Logic &amp; Minterms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7948108" cy="446102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Each product (or </a:t>
            </a:r>
            <a:r>
              <a:rPr lang="en-US" b="1" dirty="0" smtClean="0"/>
              <a:t>minterm</a:t>
            </a:r>
            <a:r>
              <a:rPr lang="en-US" dirty="0" smtClean="0"/>
              <a:t>) consists of only ANDs</a:t>
            </a:r>
          </a:p>
          <a:p>
            <a:r>
              <a:rPr lang="en-US" dirty="0" smtClean="0"/>
              <a:t>Each outer operation on two </a:t>
            </a:r>
            <a:r>
              <a:rPr lang="en-US" b="1" dirty="0" smtClean="0"/>
              <a:t>minterms</a:t>
            </a:r>
            <a:r>
              <a:rPr lang="en-US" dirty="0" smtClean="0"/>
              <a:t> consists of ORs</a:t>
            </a:r>
          </a:p>
          <a:p>
            <a:endParaRPr lang="en-US" dirty="0" smtClean="0"/>
          </a:p>
          <a:p>
            <a:r>
              <a:rPr lang="en-US" dirty="0" smtClean="0"/>
              <a:t>We can build the hardware analog explicitly as a collection of ANDS then fed into ORs</a:t>
            </a:r>
          </a:p>
          <a:p>
            <a:pPr lvl="1"/>
            <a:r>
              <a:rPr lang="en-US" dirty="0" smtClean="0"/>
              <a:t>As the </a:t>
            </a:r>
            <a:r>
              <a:rPr lang="en-US" b="1" dirty="0" smtClean="0"/>
              <a:t>minterms</a:t>
            </a:r>
            <a:r>
              <a:rPr lang="en-US" dirty="0" smtClean="0"/>
              <a:t> are evaluated first and then fed to the output ORs</a:t>
            </a:r>
          </a:p>
          <a:p>
            <a:r>
              <a:rPr lang="en-US" dirty="0" smtClean="0"/>
              <a:t>Or, we can build a general array of ORs (enough for all of our </a:t>
            </a:r>
            <a:r>
              <a:rPr lang="en-US" b="1" dirty="0" smtClean="0"/>
              <a:t>maxterms</a:t>
            </a:r>
            <a:r>
              <a:rPr lang="en-US" dirty="0" smtClean="0"/>
              <a:t>) </a:t>
            </a:r>
          </a:p>
          <a:p>
            <a:pPr lvl="1"/>
            <a:r>
              <a:rPr lang="en-US" dirty="0" smtClean="0"/>
              <a:t>And feed this to a general array of ANDS for the output</a:t>
            </a:r>
          </a:p>
          <a:p>
            <a:pPr lvl="2"/>
            <a:r>
              <a:rPr lang="en-US" dirty="0" smtClean="0"/>
              <a:t>Both can be realized “in the field” as a PLA with two levels</a:t>
            </a:r>
          </a:p>
          <a:p>
            <a:pPr lvl="3"/>
            <a:r>
              <a:rPr lang="en-US" dirty="0" smtClean="0"/>
              <a:t>Flexibility and RAP(RAD) at the cost of speed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56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7391400" cy="1143000"/>
          </a:xfrm>
        </p:spPr>
        <p:txBody>
          <a:bodyPr>
            <a:normAutofit/>
          </a:bodyPr>
          <a:lstStyle/>
          <a:p>
            <a:r>
              <a:rPr lang="en-US" sz="3800" dirty="0" smtClean="0"/>
              <a:t>Sum of Products &amp; Truth Tables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01800"/>
            <a:ext cx="8077200" cy="5025551"/>
          </a:xfrm>
        </p:spPr>
        <p:txBody>
          <a:bodyPr>
            <a:normAutofit/>
          </a:bodyPr>
          <a:lstStyle/>
          <a:p>
            <a:r>
              <a:rPr lang="en-US" dirty="0" smtClean="0"/>
              <a:t>We can build any SOP formula given a truth table</a:t>
            </a:r>
          </a:p>
          <a:p>
            <a:pPr lvl="1"/>
            <a:r>
              <a:rPr lang="en-US" dirty="0" smtClean="0"/>
              <a:t>Same for a Boolean Equation (BE), &amp; vice versa</a:t>
            </a:r>
          </a:p>
          <a:p>
            <a:pPr marL="68580" indent="0">
              <a:buNone/>
            </a:pPr>
            <a:endParaRPr lang="en-US" dirty="0" smtClean="0"/>
          </a:p>
          <a:p>
            <a:r>
              <a:rPr lang="en-US" dirty="0"/>
              <a:t>E</a:t>
            </a:r>
            <a:r>
              <a:rPr lang="en-US" dirty="0" smtClean="0"/>
              <a:t>ach entry for which the function’s output is true(1) produces a (min)term.</a:t>
            </a:r>
          </a:p>
          <a:p>
            <a:pPr lvl="1"/>
            <a:r>
              <a:rPr lang="en-US" dirty="0" smtClean="0"/>
              <a:t>The final function is the sum (OR) of each of the terms</a:t>
            </a:r>
          </a:p>
          <a:p>
            <a:r>
              <a:rPr lang="en-US" b="1" dirty="0" smtClean="0"/>
              <a:t>Said another way</a:t>
            </a:r>
            <a:r>
              <a:rPr lang="en-US" dirty="0" smtClean="0"/>
              <a:t>, only those entries for which the function is true generate terms in our equation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So, what is the S.O.P. form for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out</a:t>
            </a:r>
            <a:r>
              <a:rPr lang="en-US" dirty="0" smtClean="0"/>
              <a:t>(</a:t>
            </a:r>
            <a:r>
              <a:rPr lang="en-US" dirty="0" err="1" smtClean="0"/>
              <a:t>a,b</a:t>
            </a:r>
            <a:r>
              <a:rPr lang="en-US" dirty="0" smtClean="0"/>
              <a:t>)?</a:t>
            </a:r>
            <a:endParaRPr lang="en-US" dirty="0"/>
          </a:p>
          <a:p>
            <a:r>
              <a:rPr lang="en-US" dirty="0" smtClean="0"/>
              <a:t>We can easily generate a gate-level implementation to realize any set of logic functions in this form.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739294"/>
              </p:ext>
            </p:extLst>
          </p:nvPr>
        </p:nvGraphicFramePr>
        <p:xfrm>
          <a:off x="0" y="0"/>
          <a:ext cx="1447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/>
                <a:gridCol w="355600"/>
                <a:gridCol w="609600"/>
              </a:tblGrid>
              <a:tr h="29972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29972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29972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997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997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10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524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Karnaugh Maps (are K-Maps)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915400" cy="4800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 method for simplifying redundant hardware required to implement a truth table.</a:t>
            </a:r>
          </a:p>
          <a:p>
            <a:endParaRPr lang="en-US" dirty="0"/>
          </a:p>
          <a:p>
            <a:r>
              <a:rPr lang="en-US" dirty="0" smtClean="0"/>
              <a:t>For any give table, we set up a K-Map for each output</a:t>
            </a:r>
          </a:p>
          <a:p>
            <a:pPr lvl="1"/>
            <a:r>
              <a:rPr lang="en-US" dirty="0" smtClean="0"/>
              <a:t>Dependent on the inputs.</a:t>
            </a:r>
          </a:p>
          <a:p>
            <a:endParaRPr lang="en-US" dirty="0"/>
          </a:p>
          <a:p>
            <a:r>
              <a:rPr lang="en-US" dirty="0" smtClean="0"/>
              <a:t>Goal: Try to make “loops” </a:t>
            </a:r>
          </a:p>
          <a:p>
            <a:pPr lvl="1"/>
            <a:r>
              <a:rPr lang="en-US" dirty="0" smtClean="0"/>
              <a:t>A loop will remove terms (thus gates)</a:t>
            </a:r>
          </a:p>
          <a:p>
            <a:endParaRPr lang="en-US" dirty="0" smtClean="0"/>
          </a:p>
          <a:p>
            <a:r>
              <a:rPr lang="en-US" dirty="0" smtClean="0"/>
              <a:t>Rule #1: Loops must be (greedy) powers of 2, so  2, 4, 8, 16, etc.</a:t>
            </a:r>
            <a:endParaRPr lang="en-US" dirty="0"/>
          </a:p>
          <a:p>
            <a:r>
              <a:rPr lang="en-US" dirty="0" smtClean="0"/>
              <a:t>Rule #2: Number of cells == # of possible combinations of inputs (2</a:t>
            </a:r>
            <a:r>
              <a:rPr lang="en-US" baseline="30000" dirty="0" smtClean="0"/>
              <a:t>n</a:t>
            </a:r>
            <a:r>
              <a:rPr lang="en-US" dirty="0" smtClean="0"/>
              <a:t>)</a:t>
            </a:r>
          </a:p>
          <a:p>
            <a:r>
              <a:rPr lang="en-US" dirty="0" smtClean="0"/>
              <a:t>Rule #3: Toggle only one variable per row or column transition.</a:t>
            </a:r>
          </a:p>
          <a:p>
            <a:pPr lvl="1"/>
            <a:r>
              <a:rPr lang="en-US" dirty="0" smtClean="0"/>
              <a:t>The x and y axes are labeled such that only one variable changes from complemented to un-complemented as you go across or down.</a:t>
            </a:r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28518" y="4245998"/>
            <a:ext cx="1108364" cy="100760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30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30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52187" y="3213100"/>
            <a:ext cx="3248313" cy="381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5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915"/>
            <a:ext cx="7024744" cy="780685"/>
          </a:xfrm>
        </p:spPr>
        <p:txBody>
          <a:bodyPr/>
          <a:lstStyle/>
          <a:p>
            <a:r>
              <a:rPr lang="en-US" dirty="0" smtClean="0"/>
              <a:t>K-Map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3508977"/>
          </a:xfrm>
        </p:spPr>
        <p:txBody>
          <a:bodyPr/>
          <a:lstStyle/>
          <a:p>
            <a:r>
              <a:rPr lang="en-US" dirty="0"/>
              <a:t>We’ll start with systems with 2,3, and 4 input variables</a:t>
            </a:r>
          </a:p>
          <a:p>
            <a:pPr lvl="1"/>
            <a:r>
              <a:rPr lang="en-US" dirty="0"/>
              <a:t>3D K-Maps for 5 or more variables are for simulators</a:t>
            </a:r>
          </a:p>
          <a:p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625600" y="4000370"/>
            <a:ext cx="4343400" cy="2553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415746"/>
              </p:ext>
            </p:extLst>
          </p:nvPr>
        </p:nvGraphicFramePr>
        <p:xfrm>
          <a:off x="2438400" y="42976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F(</a:t>
                      </a:r>
                      <a:r>
                        <a:rPr lang="en-US" dirty="0" err="1" smtClean="0"/>
                        <a:t>x,y,z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!Z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Left Brace 5"/>
          <p:cNvSpPr/>
          <p:nvPr/>
        </p:nvSpPr>
        <p:spPr>
          <a:xfrm>
            <a:off x="1905000" y="4724400"/>
            <a:ext cx="609600" cy="609600"/>
          </a:xfrm>
          <a:prstGeom prst="leftBrace">
            <a:avLst>
              <a:gd name="adj1" fmla="val 8333"/>
              <a:gd name="adj2" fmla="val 35417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025900"/>
            <a:ext cx="12954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Not an Arbitrary Axis Setup</a:t>
            </a:r>
            <a:endParaRPr lang="en-US" dirty="0"/>
          </a:p>
        </p:txBody>
      </p:sp>
      <p:sp>
        <p:nvSpPr>
          <p:cNvPr id="8" name="Left Brace 7"/>
          <p:cNvSpPr/>
          <p:nvPr/>
        </p:nvSpPr>
        <p:spPr>
          <a:xfrm rot="5400000">
            <a:off x="5794953" y="1905001"/>
            <a:ext cx="373493" cy="4648200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40080" y="6145330"/>
            <a:ext cx="766572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ProTip: Follow my convention here or risk losing points via tired TAs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090629"/>
              </p:ext>
            </p:extLst>
          </p:nvPr>
        </p:nvGraphicFramePr>
        <p:xfrm>
          <a:off x="2895600" y="2362200"/>
          <a:ext cx="3657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F(</a:t>
                      </a:r>
                      <a:r>
                        <a:rPr lang="en-US" dirty="0" err="1" smtClean="0"/>
                        <a:t>x,y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!Y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905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7024744" cy="1143000"/>
          </a:xfrm>
        </p:spPr>
        <p:txBody>
          <a:bodyPr/>
          <a:lstStyle/>
          <a:p>
            <a:r>
              <a:rPr lang="en-US" dirty="0" smtClean="0"/>
              <a:t>K-Map Intro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3508977"/>
          </a:xfrm>
        </p:spPr>
        <p:txBody>
          <a:bodyPr>
            <a:normAutofit/>
          </a:bodyPr>
          <a:lstStyle/>
          <a:p>
            <a:r>
              <a:rPr lang="en-US" dirty="0" smtClean="0"/>
              <a:t>Start with some problem definition and produce a</a:t>
            </a:r>
            <a:r>
              <a:rPr lang="mr-IN" dirty="0" smtClean="0"/>
              <a:t>…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Truth Table</a:t>
            </a:r>
            <a:r>
              <a:rPr lang="en-US" dirty="0" smtClean="0"/>
              <a:t> ==  </a:t>
            </a:r>
            <a:r>
              <a:rPr lang="en-US" b="1" dirty="0" smtClean="0">
                <a:solidFill>
                  <a:srgbClr val="0000FF"/>
                </a:solidFill>
              </a:rPr>
              <a:t>Boolean Equation </a:t>
            </a:r>
            <a:r>
              <a:rPr lang="en-US" dirty="0" smtClean="0"/>
              <a:t>== </a:t>
            </a:r>
            <a:r>
              <a:rPr lang="en-US" b="1" dirty="0" smtClean="0">
                <a:solidFill>
                  <a:srgbClr val="0000FF"/>
                </a:solidFill>
              </a:rPr>
              <a:t>Circuit </a:t>
            </a:r>
            <a:r>
              <a:rPr lang="en-US" dirty="0" smtClean="0">
                <a:solidFill>
                  <a:schemeClr val="tx1"/>
                </a:solidFill>
              </a:rPr>
              <a:t>==</a:t>
            </a:r>
            <a:r>
              <a:rPr lang="en-US" b="1" dirty="0" smtClean="0">
                <a:solidFill>
                  <a:srgbClr val="0000FF"/>
                </a:solidFill>
              </a:rPr>
              <a:t> KMap</a:t>
            </a:r>
          </a:p>
          <a:p>
            <a:pPr lvl="1"/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x!yz</a:t>
            </a:r>
            <a:r>
              <a:rPr lang="en-US" dirty="0" smtClean="0"/>
              <a:t> + !xyz + </a:t>
            </a:r>
            <a:r>
              <a:rPr lang="en-US" dirty="0" err="1" smtClean="0"/>
              <a:t>x!yz</a:t>
            </a:r>
            <a:r>
              <a:rPr lang="en-US" dirty="0" smtClean="0"/>
              <a:t> + xyz</a:t>
            </a: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b="1" dirty="0" smtClean="0"/>
              <a:t> </a:t>
            </a:r>
            <a:r>
              <a:rPr lang="en-US" dirty="0" smtClean="0"/>
              <a:t>Anyone care to take a whack at this using laws?</a:t>
            </a: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Who wants to build an 8 row TT? 16 row?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A: </a:t>
            </a:r>
            <a:r>
              <a:rPr lang="en-US" dirty="0" smtClean="0"/>
              <a:t>Build a K-Map for every output variable (just F here)</a:t>
            </a:r>
          </a:p>
          <a:p>
            <a:pPr lvl="1"/>
            <a:r>
              <a:rPr lang="en-US" dirty="0" smtClean="0"/>
              <a:t>With a 1 for every </a:t>
            </a:r>
            <a:r>
              <a:rPr lang="en-US" b="1" dirty="0" smtClean="0"/>
              <a:t>minterm</a:t>
            </a:r>
            <a:r>
              <a:rPr lang="en-US" dirty="0" smtClean="0"/>
              <a:t> where F outputs a 1</a:t>
            </a:r>
          </a:p>
          <a:p>
            <a:pPr lvl="2"/>
            <a:r>
              <a:rPr lang="en-US" dirty="0"/>
              <a:t>Pull this data from the </a:t>
            </a:r>
            <a:r>
              <a:rPr lang="en-US" b="1" dirty="0">
                <a:solidFill>
                  <a:srgbClr val="0000FF"/>
                </a:solidFill>
              </a:rPr>
              <a:t>TT</a:t>
            </a:r>
            <a:r>
              <a:rPr lang="en-US" dirty="0"/>
              <a:t>? or use the equivalent </a:t>
            </a:r>
            <a:r>
              <a:rPr lang="en-US" b="1" dirty="0">
                <a:solidFill>
                  <a:srgbClr val="0000FF"/>
                </a:solidFill>
              </a:rPr>
              <a:t>B.E.</a:t>
            </a:r>
            <a:r>
              <a:rPr lang="en-US" dirty="0"/>
              <a:t> above?</a:t>
            </a:r>
          </a:p>
          <a:p>
            <a:pPr lvl="1"/>
            <a:endParaRPr lang="en-US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990600" y="1821326"/>
            <a:ext cx="7467600" cy="3122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8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                                     </a:t>
            </a:r>
            <a:r>
              <a:rPr lang="en-US" dirty="0"/>
              <a:t> </a:t>
            </a:r>
            <a:r>
              <a:rPr lang="en-US" dirty="0" smtClean="0"/>
              <a:t>                         </a:t>
            </a:r>
            <a:r>
              <a:rPr lang="en-US" b="1" dirty="0" smtClean="0"/>
              <a:t>(Needs Simplification)</a:t>
            </a:r>
            <a:endParaRPr lang="en-US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96190"/>
              </p:ext>
            </p:extLst>
          </p:nvPr>
        </p:nvGraphicFramePr>
        <p:xfrm>
          <a:off x="1524000" y="49834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!Z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Left Brace 5"/>
          <p:cNvSpPr/>
          <p:nvPr/>
        </p:nvSpPr>
        <p:spPr>
          <a:xfrm>
            <a:off x="990600" y="5410200"/>
            <a:ext cx="609600" cy="609600"/>
          </a:xfrm>
          <a:prstGeom prst="leftBrace">
            <a:avLst>
              <a:gd name="adj1" fmla="val 8333"/>
              <a:gd name="adj2" fmla="val 37500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76200" y="4715470"/>
            <a:ext cx="12954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Not an Arbitrary Axis Setup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87400" y="236220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87400" y="266700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00100" y="23622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060381"/>
              </p:ext>
            </p:extLst>
          </p:nvPr>
        </p:nvGraphicFramePr>
        <p:xfrm>
          <a:off x="1524000" y="50292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!Z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Left Brace 11"/>
          <p:cNvSpPr/>
          <p:nvPr/>
        </p:nvSpPr>
        <p:spPr>
          <a:xfrm rot="5400000">
            <a:off x="4649342" y="2872764"/>
            <a:ext cx="312822" cy="4150507"/>
          </a:xfrm>
          <a:prstGeom prst="leftBrace">
            <a:avLst>
              <a:gd name="adj1" fmla="val 8333"/>
              <a:gd name="adj2" fmla="val 54167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219200" y="4749800"/>
            <a:ext cx="33528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4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7024744" cy="1143000"/>
          </a:xfrm>
        </p:spPr>
        <p:txBody>
          <a:bodyPr/>
          <a:lstStyle/>
          <a:p>
            <a:r>
              <a:rPr lang="en-US" dirty="0" smtClean="0"/>
              <a:t>K-Map First 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3508977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x!yz</a:t>
            </a:r>
            <a:r>
              <a:rPr lang="en-US" dirty="0" smtClean="0"/>
              <a:t> + !xyz + </a:t>
            </a:r>
            <a:r>
              <a:rPr lang="en-US" dirty="0" err="1" smtClean="0"/>
              <a:t>x!yz</a:t>
            </a:r>
            <a:r>
              <a:rPr lang="en-US" dirty="0" smtClean="0"/>
              <a:t> + xyz</a:t>
            </a:r>
          </a:p>
          <a:p>
            <a:pPr lvl="1"/>
            <a:r>
              <a:rPr lang="en-US" b="1" dirty="0" smtClean="0">
                <a:solidFill>
                  <a:srgbClr val="3366FF"/>
                </a:solidFill>
              </a:rPr>
              <a:t>Step 1: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3366FF"/>
                </a:solidFill>
              </a:rPr>
              <a:t>Make loops</a:t>
            </a:r>
            <a:r>
              <a:rPr lang="en-US" dirty="0" smtClean="0"/>
              <a:t>, observing the following rules</a:t>
            </a:r>
          </a:p>
          <a:p>
            <a:pPr lvl="2"/>
            <a:r>
              <a:rPr lang="en-US" dirty="0" smtClean="0"/>
              <a:t>Up/Down and Left/Right wraparounds are legal</a:t>
            </a:r>
          </a:p>
          <a:p>
            <a:pPr lvl="3"/>
            <a:r>
              <a:rPr lang="en-US" dirty="0" smtClean="0"/>
              <a:t>Imagine this table as a wrapped cylinder</a:t>
            </a:r>
          </a:p>
          <a:p>
            <a:pPr lvl="4"/>
            <a:r>
              <a:rPr lang="en-US" dirty="0" smtClean="0"/>
              <a:t>Diagonals are illegal, inline or wrapped</a:t>
            </a:r>
          </a:p>
          <a:p>
            <a:pPr lvl="2"/>
            <a:r>
              <a:rPr lang="en-US" dirty="0" smtClean="0"/>
              <a:t>Loops must be powers of 2 (greedy)</a:t>
            </a:r>
          </a:p>
          <a:p>
            <a:pPr lvl="3"/>
            <a:r>
              <a:rPr lang="en-US" dirty="0" smtClean="0"/>
              <a:t>Largest contiguous loops trump lesser loops</a:t>
            </a:r>
          </a:p>
          <a:p>
            <a:pPr lvl="1"/>
            <a:r>
              <a:rPr lang="en-US" b="1" dirty="0" smtClean="0">
                <a:solidFill>
                  <a:srgbClr val="3366FF"/>
                </a:solidFill>
              </a:rPr>
              <a:t>Step 2: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3366FF"/>
                </a:solidFill>
              </a:rPr>
              <a:t>Remove/Reduce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smtClean="0"/>
              <a:t>variables across columns </a:t>
            </a:r>
          </a:p>
          <a:p>
            <a:pPr lvl="2"/>
            <a:r>
              <a:rPr lang="en-US" dirty="0" smtClean="0"/>
              <a:t>ABC + !ABC =(A+!A)BC = BC //distributive then inverse laws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600" y="990600"/>
            <a:ext cx="7467600" cy="3122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8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                                     </a:t>
            </a:r>
            <a:r>
              <a:rPr lang="en-US" dirty="0"/>
              <a:t> </a:t>
            </a:r>
            <a:r>
              <a:rPr lang="en-US" dirty="0" smtClean="0"/>
              <a:t>                         (Needs Simplification)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81617"/>
              </p:ext>
            </p:extLst>
          </p:nvPr>
        </p:nvGraphicFramePr>
        <p:xfrm>
          <a:off x="1524000" y="49834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!Z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5" y="2057400"/>
            <a:ext cx="1190625" cy="127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124200" y="5715000"/>
            <a:ext cx="457200" cy="3810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16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16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343400" y="5715000"/>
            <a:ext cx="2971800" cy="3810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16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16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14600" y="4431268"/>
            <a:ext cx="4849091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US" dirty="0">
                <a:solidFill>
                  <a:srgbClr val="FF0000"/>
                </a:solidFill>
              </a:rPr>
              <a:t>Q: What’s wrong with the loops below</a:t>
            </a:r>
            <a:r>
              <a:rPr lang="en-US" dirty="0" smtClean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19400" y="5738153"/>
            <a:ext cx="4572000" cy="33469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33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3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28800" y="6139718"/>
            <a:ext cx="5791200" cy="369332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41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41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z  //</a:t>
            </a:r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How many </a:t>
            </a:r>
            <a:r>
              <a:rPr lang="en-US" dirty="0" err="1"/>
              <a:t>B</a:t>
            </a:r>
            <a:r>
              <a:rPr lang="en-US" dirty="0" err="1" smtClean="0"/>
              <a:t>othans</a:t>
            </a:r>
            <a:r>
              <a:rPr lang="en-US" dirty="0" smtClean="0"/>
              <a:t> were saved?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43000" y="4495800"/>
            <a:ext cx="7010400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K-Map for one output variable (F) given 3 input variables </a:t>
            </a:r>
            <a:r>
              <a:rPr lang="en-US" dirty="0" err="1" smtClean="0"/>
              <a:t>x,y,z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66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6" grpId="0" animBg="1"/>
      <p:bldP spid="6" grpId="1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524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Karnaugh Maps (are K-Maps)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9154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 method for simplifying redundant expressions and thus hardware</a:t>
            </a:r>
          </a:p>
          <a:p>
            <a:endParaRPr lang="en-US" dirty="0"/>
          </a:p>
          <a:p>
            <a:r>
              <a:rPr lang="en-US" dirty="0" smtClean="0"/>
              <a:t>For any give table, we </a:t>
            </a:r>
            <a:r>
              <a:rPr lang="en-US" b="1" i="1" dirty="0" smtClean="0"/>
              <a:t>set up a K-Map for each output</a:t>
            </a:r>
          </a:p>
          <a:p>
            <a:pPr lvl="1"/>
            <a:r>
              <a:rPr lang="en-US" dirty="0" smtClean="0"/>
              <a:t>Dependent on the inputs.</a:t>
            </a:r>
          </a:p>
          <a:p>
            <a:endParaRPr lang="en-US" dirty="0"/>
          </a:p>
          <a:p>
            <a:r>
              <a:rPr lang="en-US" dirty="0" smtClean="0"/>
              <a:t>Goal: Try to make “loops” </a:t>
            </a:r>
          </a:p>
          <a:p>
            <a:pPr lvl="1"/>
            <a:r>
              <a:rPr lang="en-US" dirty="0" smtClean="0"/>
              <a:t>A loop will remove terms (thus gates)</a:t>
            </a:r>
          </a:p>
          <a:p>
            <a:endParaRPr lang="en-US" dirty="0" smtClean="0"/>
          </a:p>
          <a:p>
            <a:r>
              <a:rPr lang="en-US" dirty="0" smtClean="0"/>
              <a:t>Rule #1: loops must be powers of 2, so  2, 4, 8, 16, etc.</a:t>
            </a:r>
            <a:endParaRPr lang="en-US" dirty="0"/>
          </a:p>
          <a:p>
            <a:r>
              <a:rPr lang="en-US" dirty="0" smtClean="0"/>
              <a:t>Rule #2: Number of cells == # of possible combinations of inputs (2</a:t>
            </a:r>
            <a:r>
              <a:rPr lang="en-US" baseline="30000" dirty="0" smtClean="0"/>
              <a:t>n</a:t>
            </a:r>
            <a:r>
              <a:rPr lang="en-US" dirty="0" smtClean="0"/>
              <a:t>)</a:t>
            </a:r>
          </a:p>
          <a:p>
            <a:r>
              <a:rPr lang="en-US" dirty="0" smtClean="0"/>
              <a:t>Rule #3: Remove redundant </a:t>
            </a:r>
            <a:r>
              <a:rPr lang="en-US" dirty="0"/>
              <a:t>l</a:t>
            </a:r>
            <a:r>
              <a:rPr lang="en-US" dirty="0" smtClean="0"/>
              <a:t>oops.</a:t>
            </a:r>
          </a:p>
          <a:p>
            <a:pPr lvl="1"/>
            <a:r>
              <a:rPr lang="en-US" dirty="0"/>
              <a:t>A loop is redundant if it is completely contained in another loop</a:t>
            </a:r>
          </a:p>
          <a:p>
            <a:pPr lvl="2"/>
            <a:r>
              <a:rPr lang="en-US" dirty="0" smtClean="0"/>
              <a:t>Meaning: Loops must have at least one non-overlapping minterm</a:t>
            </a:r>
          </a:p>
          <a:p>
            <a:r>
              <a:rPr lang="en-US" dirty="0" smtClean="0"/>
              <a:t>Bootstraps: </a:t>
            </a:r>
            <a:r>
              <a:rPr lang="en-US" dirty="0"/>
              <a:t>w</a:t>
            </a:r>
            <a:r>
              <a:rPr lang="en-US" dirty="0" smtClean="0"/>
              <a:t>hen building the K-</a:t>
            </a:r>
            <a:r>
              <a:rPr lang="en-US" dirty="0"/>
              <a:t>M</a:t>
            </a:r>
            <a:r>
              <a:rPr lang="en-US" dirty="0" smtClean="0"/>
              <a:t>ap, </a:t>
            </a:r>
            <a:r>
              <a:rPr lang="en-US" b="1" i="1" dirty="0" smtClean="0"/>
              <a:t>toggle only one variable </a:t>
            </a:r>
          </a:p>
          <a:p>
            <a:pPr lvl="1"/>
            <a:r>
              <a:rPr lang="en-US" dirty="0" smtClean="0"/>
              <a:t>per row or column transition.</a:t>
            </a:r>
          </a:p>
          <a:p>
            <a:pPr lvl="1"/>
            <a:r>
              <a:rPr lang="en-US" dirty="0" smtClean="0"/>
              <a:t>The x and y axes are labeled such that only one variable changes from complemented to un-complemented as you go across or down.</a:t>
            </a:r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07736" y="3561469"/>
            <a:ext cx="1108364" cy="83273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30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30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62000" y="2700062"/>
            <a:ext cx="762000" cy="31487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2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80600"/>
              </p:ext>
            </p:extLst>
          </p:nvPr>
        </p:nvGraphicFramePr>
        <p:xfrm>
          <a:off x="2362200" y="674132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!Z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86200" y="1481852"/>
            <a:ext cx="1981200" cy="2286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33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3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248400" y="1481852"/>
            <a:ext cx="1981200" cy="2286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33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3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05000" y="0"/>
            <a:ext cx="7239000" cy="64633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What’s the problem with this K-Map reduction?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Write out the F(</a:t>
            </a:r>
            <a:r>
              <a:rPr lang="en-US" dirty="0" err="1" smtClean="0"/>
              <a:t>x,y,z</a:t>
            </a:r>
            <a:r>
              <a:rPr lang="en-US" dirty="0" smtClean="0"/>
              <a:t>) to see it hasn’t reduced to z</a:t>
            </a:r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659498"/>
              </p:ext>
            </p:extLst>
          </p:nvPr>
        </p:nvGraphicFramePr>
        <p:xfrm>
          <a:off x="457200" y="33832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!Z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048000" y="4191000"/>
            <a:ext cx="1981200" cy="2286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33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3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5715000" y="4191000"/>
            <a:ext cx="1219200" cy="2286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alpha val="23000"/>
                </a:schemeClr>
              </a:gs>
              <a:gs pos="100000">
                <a:schemeClr val="accent4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0" y="2362200"/>
            <a:ext cx="7239000" cy="9233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What’s the problem with this K-Map reduction?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Aren’t wraparounds legal?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Write out the F(</a:t>
            </a:r>
            <a:r>
              <a:rPr lang="en-US" dirty="0" err="1" smtClean="0"/>
              <a:t>x,y,z</a:t>
            </a:r>
            <a:r>
              <a:rPr lang="en-US" dirty="0" smtClean="0"/>
              <a:t>) to see it hasn’t reduced to z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1371600" y="4191000"/>
            <a:ext cx="1219200" cy="2286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alpha val="23000"/>
                </a:schemeClr>
              </a:gs>
              <a:gs pos="100000">
                <a:schemeClr val="accent4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333745" y="4305300"/>
            <a:ext cx="49767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409699" y="4305300"/>
            <a:ext cx="457201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346897"/>
              </p:ext>
            </p:extLst>
          </p:nvPr>
        </p:nvGraphicFramePr>
        <p:xfrm>
          <a:off x="2362200" y="5659791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!Z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 rot="1379087">
            <a:off x="3761058" y="6158480"/>
            <a:ext cx="1981200" cy="404979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33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3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905000" y="4985659"/>
            <a:ext cx="7239000" cy="64633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What’s the problem with this K-Map reduction?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Write out the F(</a:t>
            </a:r>
            <a:r>
              <a:rPr lang="en-US" dirty="0" err="1" smtClean="0"/>
              <a:t>x,y,z</a:t>
            </a:r>
            <a:r>
              <a:rPr lang="en-US" dirty="0" smtClean="0"/>
              <a:t>), but how?</a:t>
            </a:r>
            <a:endParaRPr lang="en-US" dirty="0"/>
          </a:p>
        </p:txBody>
      </p:sp>
      <p:sp>
        <p:nvSpPr>
          <p:cNvPr id="29" name="L-Shape 28"/>
          <p:cNvSpPr/>
          <p:nvPr/>
        </p:nvSpPr>
        <p:spPr>
          <a:xfrm rot="16200000">
            <a:off x="6655689" y="5525987"/>
            <a:ext cx="1014222" cy="1662545"/>
          </a:xfrm>
          <a:prstGeom prst="corner">
            <a:avLst/>
          </a:prstGeom>
          <a:gradFill flip="none" rotWithShape="1">
            <a:gsLst>
              <a:gs pos="0">
                <a:schemeClr val="accent1">
                  <a:alpha val="47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47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96112" y="381000"/>
            <a:ext cx="9880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#1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488417" y="2734270"/>
            <a:ext cx="9880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#2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2000" y="5553670"/>
            <a:ext cx="9880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#3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471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5" grpId="0" animBg="1"/>
      <p:bldP spid="27" grpId="0" animBg="1"/>
      <p:bldP spid="29" grpId="0" animBg="1"/>
      <p:bldP spid="32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658304"/>
              </p:ext>
            </p:extLst>
          </p:nvPr>
        </p:nvGraphicFramePr>
        <p:xfrm>
          <a:off x="1524000" y="0"/>
          <a:ext cx="762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981271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An Arbitrary Circuit encoded as a TT? No problem. Now you try!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Pen-and-paper mode engaged.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What is the (unreduced) Boolean Formula using the TT: ?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(Hint: </a:t>
            </a:r>
            <a:r>
              <a:rPr lang="en-US" b="1" dirty="0" smtClean="0">
                <a:solidFill>
                  <a:srgbClr val="0000FF"/>
                </a:solidFill>
              </a:rPr>
              <a:t>S.O.P.</a:t>
            </a:r>
            <a:r>
              <a:rPr lang="en-US" dirty="0" smtClean="0"/>
              <a:t>, so “add” (+) </a:t>
            </a:r>
            <a:r>
              <a:rPr lang="en-US" b="1" dirty="0" smtClean="0"/>
              <a:t>minterms</a:t>
            </a:r>
            <a:r>
              <a:rPr lang="en-US" b="1" dirty="0"/>
              <a:t> </a:t>
            </a:r>
            <a:r>
              <a:rPr lang="en-US" b="1" dirty="0" smtClean="0"/>
              <a:t>(look for 1s</a:t>
            </a:r>
            <a:r>
              <a:rPr lang="en-US" dirty="0" smtClean="0"/>
              <a:t> in the output)) </a:t>
            </a:r>
          </a:p>
        </p:txBody>
      </p:sp>
      <p:sp>
        <p:nvSpPr>
          <p:cNvPr id="2" name="Rectangle 1"/>
          <p:cNvSpPr/>
          <p:nvPr/>
        </p:nvSpPr>
        <p:spPr>
          <a:xfrm>
            <a:off x="432067" y="152400"/>
            <a:ext cx="863333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 Maps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68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419006"/>
              </p:ext>
            </p:extLst>
          </p:nvPr>
        </p:nvGraphicFramePr>
        <p:xfrm>
          <a:off x="1524000" y="0"/>
          <a:ext cx="762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753217"/>
              </p:ext>
            </p:extLst>
          </p:nvPr>
        </p:nvGraphicFramePr>
        <p:xfrm>
          <a:off x="1143000" y="4983480"/>
          <a:ext cx="5105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080"/>
                <a:gridCol w="1021080"/>
                <a:gridCol w="1021080"/>
                <a:gridCol w="1021080"/>
                <a:gridCol w="10210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~C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3733800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Unreduced Boolean Formula: </a:t>
            </a:r>
            <a:r>
              <a:rPr lang="en-US" dirty="0" smtClean="0">
                <a:solidFill>
                  <a:srgbClr val="FF0000"/>
                </a:solidFill>
              </a:rPr>
              <a:t>~A~B~C + A~B~C+AB~C+ABC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 Build an empty K-Map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 Use ~A~B to start the row</a:t>
            </a:r>
            <a:r>
              <a:rPr lang="en-US" dirty="0"/>
              <a:t> </a:t>
            </a:r>
            <a:r>
              <a:rPr lang="en-US" dirty="0" smtClean="0"/>
              <a:t>and ~C to start the col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Below will get you started, but it’s the wrong dimensions!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2067" y="152400"/>
            <a:ext cx="863333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 Maps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706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406402"/>
              </p:ext>
            </p:extLst>
          </p:nvPr>
        </p:nvGraphicFramePr>
        <p:xfrm>
          <a:off x="1524000" y="0"/>
          <a:ext cx="762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63467"/>
              </p:ext>
            </p:extLst>
          </p:nvPr>
        </p:nvGraphicFramePr>
        <p:xfrm>
          <a:off x="1143000" y="48310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~C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373380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Unreduced Boolean Formula: </a:t>
            </a:r>
            <a:r>
              <a:rPr lang="en-US" dirty="0" smtClean="0">
                <a:solidFill>
                  <a:srgbClr val="FF0000"/>
                </a:solidFill>
              </a:rPr>
              <a:t>~A~B~C + A~B~C+AB~C+ABC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How many AND, OR, and NOT gates are required here?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Fill out the K map below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2067" y="152400"/>
            <a:ext cx="863333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 Maps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098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844531"/>
              </p:ext>
            </p:extLst>
          </p:nvPr>
        </p:nvGraphicFramePr>
        <p:xfrm>
          <a:off x="1524000" y="0"/>
          <a:ext cx="762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823884"/>
              </p:ext>
            </p:extLst>
          </p:nvPr>
        </p:nvGraphicFramePr>
        <p:xfrm>
          <a:off x="1143000" y="48310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~C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47800" y="381000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Unreduced Boolean Formula: ~A~B~C + A~B~C+AB~C+ABC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# of </a:t>
            </a:r>
            <a:r>
              <a:rPr lang="en-US" b="1" i="1" dirty="0" smtClean="0"/>
              <a:t>unreduced</a:t>
            </a:r>
            <a:r>
              <a:rPr lang="en-US" dirty="0" smtClean="0"/>
              <a:t> gates: </a:t>
            </a:r>
            <a:r>
              <a:rPr lang="en-US" dirty="0"/>
              <a:t>8</a:t>
            </a:r>
            <a:r>
              <a:rPr lang="en-US" dirty="0" smtClean="0"/>
              <a:t> ANDS + 3 ANDS+ 3 NOTS = </a:t>
            </a:r>
            <a:r>
              <a:rPr lang="en-US" dirty="0" smtClean="0">
                <a:solidFill>
                  <a:srgbClr val="FF0000"/>
                </a:solidFill>
              </a:rPr>
              <a:t>14 gates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 How many loops below? Draw them.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67" y="152400"/>
            <a:ext cx="863333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 Maps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706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736742"/>
              </p:ext>
            </p:extLst>
          </p:nvPr>
        </p:nvGraphicFramePr>
        <p:xfrm>
          <a:off x="1524000" y="0"/>
          <a:ext cx="762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913778"/>
              </p:ext>
            </p:extLst>
          </p:nvPr>
        </p:nvGraphicFramePr>
        <p:xfrm>
          <a:off x="1143000" y="48310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~C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24000" y="3810000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Unreduced Boolean Formula: ~A~B~C + A~B~C+AB~C+ABC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Have we constructed all loops that we could below?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796863" y="5181600"/>
            <a:ext cx="312274" cy="762000"/>
          </a:xfrm>
          <a:prstGeom prst="rect">
            <a:avLst/>
          </a:prstGeom>
          <a:solidFill>
            <a:srgbClr val="0000FF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2067" y="152400"/>
            <a:ext cx="863333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 Maps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0" y="5257800"/>
            <a:ext cx="2209800" cy="304800"/>
          </a:xfrm>
          <a:prstGeom prst="roundRect">
            <a:avLst/>
          </a:prstGeom>
          <a:solidFill>
            <a:srgbClr val="FF0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6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231585"/>
              </p:ext>
            </p:extLst>
          </p:nvPr>
        </p:nvGraphicFramePr>
        <p:xfrm>
          <a:off x="1524000" y="0"/>
          <a:ext cx="762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660496"/>
              </p:ext>
            </p:extLst>
          </p:nvPr>
        </p:nvGraphicFramePr>
        <p:xfrm>
          <a:off x="1143000" y="48310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~C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2590800"/>
            <a:ext cx="7162800" cy="17543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Unreduced Boolean Formula: ~A~B~C + A~B~C+AB~C+ABC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A: No. See the green loop.</a:t>
            </a:r>
          </a:p>
          <a:p>
            <a:pPr marL="742950" lvl="1" indent="-285750">
              <a:buFont typeface="Arial"/>
              <a:buChar char="•"/>
            </a:pPr>
            <a:r>
              <a:rPr lang="en-US" b="1" i="1" dirty="0" smtClean="0"/>
              <a:t>Also Legal: </a:t>
            </a:r>
            <a:r>
              <a:rPr lang="en-US" dirty="0" smtClean="0"/>
              <a:t>Notice how one cell is used in multiple loops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Is the loop that wraps around (purple) equivalent to the non-wrapped version?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Are the loops below correct</a:t>
            </a:r>
            <a:r>
              <a:rPr lang="en-US" dirty="0" smtClean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67400" y="5257800"/>
            <a:ext cx="1905000" cy="304800"/>
          </a:xfrm>
          <a:prstGeom prst="roundRect">
            <a:avLst/>
          </a:prstGeom>
          <a:solidFill>
            <a:srgbClr val="008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85800" y="5181600"/>
            <a:ext cx="2209800" cy="381000"/>
          </a:xfrm>
          <a:prstGeom prst="roundRect">
            <a:avLst/>
          </a:prstGeom>
          <a:solidFill>
            <a:srgbClr val="008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800600" y="4648200"/>
            <a:ext cx="304800" cy="914400"/>
          </a:xfrm>
          <a:prstGeom prst="roundRect">
            <a:avLst/>
          </a:prstGeom>
          <a:solidFill>
            <a:srgbClr val="660066">
              <a:alpha val="1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32067" y="152400"/>
            <a:ext cx="863333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 Maps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800600" y="5638800"/>
            <a:ext cx="304800" cy="914400"/>
          </a:xfrm>
          <a:prstGeom prst="roundRect">
            <a:avLst/>
          </a:prstGeom>
          <a:solidFill>
            <a:srgbClr val="660066">
              <a:alpha val="1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572000" y="5257800"/>
            <a:ext cx="2209800" cy="304800"/>
          </a:xfrm>
          <a:prstGeom prst="roundRect">
            <a:avLst/>
          </a:prstGeom>
          <a:solidFill>
            <a:srgbClr val="FF0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668199"/>
              </p:ext>
            </p:extLst>
          </p:nvPr>
        </p:nvGraphicFramePr>
        <p:xfrm>
          <a:off x="1524000" y="0"/>
          <a:ext cx="762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747615"/>
              </p:ext>
            </p:extLst>
          </p:nvPr>
        </p:nvGraphicFramePr>
        <p:xfrm>
          <a:off x="1143000" y="48310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~C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2590800"/>
            <a:ext cx="71628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Unreduced Boolean Formula: ~A~B~C + A~B~C+AB~C+ABC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A: </a:t>
            </a:r>
            <a:r>
              <a:rPr lang="en-US" dirty="0" smtClean="0">
                <a:solidFill>
                  <a:schemeClr val="tx1"/>
                </a:solidFill>
              </a:rPr>
              <a:t>No – one loop shares no unique minterm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Remove this for an optimal solution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What is the reduced formula for </a:t>
            </a:r>
            <a:r>
              <a:rPr lang="en-US" dirty="0" err="1"/>
              <a:t>X</a:t>
            </a:r>
            <a:r>
              <a:rPr lang="en-US" baseline="-25000" dirty="0" err="1"/>
              <a:t>out</a:t>
            </a:r>
            <a:r>
              <a:rPr lang="en-US" dirty="0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How many gates does it require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867400" y="5257800"/>
            <a:ext cx="1905000" cy="304800"/>
          </a:xfrm>
          <a:prstGeom prst="roundRect">
            <a:avLst/>
          </a:prstGeom>
          <a:solidFill>
            <a:srgbClr val="008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85800" y="5181600"/>
            <a:ext cx="2209800" cy="381000"/>
          </a:xfrm>
          <a:prstGeom prst="roundRect">
            <a:avLst/>
          </a:prstGeom>
          <a:solidFill>
            <a:srgbClr val="008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32067" y="152400"/>
            <a:ext cx="863333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 Maps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96863" y="5181600"/>
            <a:ext cx="312274" cy="762000"/>
          </a:xfrm>
          <a:prstGeom prst="rect">
            <a:avLst/>
          </a:prstGeom>
          <a:solidFill>
            <a:srgbClr val="0000FF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572000" y="5257800"/>
            <a:ext cx="2209800" cy="304800"/>
          </a:xfrm>
          <a:prstGeom prst="roundRect">
            <a:avLst/>
          </a:prstGeom>
          <a:solidFill>
            <a:srgbClr val="FF0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rved Left Arrow 1"/>
          <p:cNvSpPr/>
          <p:nvPr/>
        </p:nvSpPr>
        <p:spPr>
          <a:xfrm rot="1243028">
            <a:off x="5657758" y="3330737"/>
            <a:ext cx="744252" cy="2397252"/>
          </a:xfrm>
          <a:prstGeom prst="curved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9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2039573"/>
              </p:ext>
            </p:extLst>
          </p:nvPr>
        </p:nvGraphicFramePr>
        <p:xfrm>
          <a:off x="1524000" y="0"/>
          <a:ext cx="762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24000" y="3352800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Unreduced Boolean Formula: ~A~B~C + A~B~C+AB~C+ABC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67" y="152400"/>
            <a:ext cx="863333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 Maps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47800" y="3810000"/>
            <a:ext cx="6324600" cy="92333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err="1" smtClean="0"/>
              <a:t>X</a:t>
            </a:r>
            <a:r>
              <a:rPr lang="en-US" baseline="-25000" dirty="0" err="1" smtClean="0"/>
              <a:t>out</a:t>
            </a:r>
            <a:r>
              <a:rPr lang="en-US" dirty="0" smtClean="0"/>
              <a:t> =  AB + ~B~C</a:t>
            </a:r>
          </a:p>
          <a:p>
            <a:pPr marL="285750" lvl="1" indent="-285750">
              <a:buFont typeface="Arial"/>
              <a:buChar char="•"/>
            </a:pPr>
            <a:r>
              <a:rPr lang="en-US" dirty="0" smtClean="0"/>
              <a:t># of gates: 2 ANDs, 1 OR, 2 NOTs ==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gates </a:t>
            </a:r>
            <a:r>
              <a:rPr lang="en-US" dirty="0" smtClean="0">
                <a:solidFill>
                  <a:schemeClr val="bg1"/>
                </a:solidFill>
              </a:rPr>
              <a:t>vs. </a:t>
            </a:r>
            <a:r>
              <a:rPr lang="en-US" dirty="0">
                <a:solidFill>
                  <a:srgbClr val="FF0000"/>
                </a:solidFill>
              </a:rPr>
              <a:t>14</a:t>
            </a:r>
            <a:r>
              <a:rPr lang="en-US" dirty="0" smtClean="0">
                <a:solidFill>
                  <a:schemeClr val="bg1"/>
                </a:solidFill>
              </a:rPr>
              <a:t>!</a:t>
            </a:r>
            <a:r>
              <a:rPr lang="en-US" dirty="0" smtClean="0"/>
              <a:t> 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why not 3 NOT gates?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51371"/>
              </p:ext>
            </p:extLst>
          </p:nvPr>
        </p:nvGraphicFramePr>
        <p:xfrm>
          <a:off x="1143000" y="48310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~C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867400" y="5257800"/>
            <a:ext cx="1905000" cy="304800"/>
          </a:xfrm>
          <a:prstGeom prst="roundRect">
            <a:avLst/>
          </a:prstGeom>
          <a:solidFill>
            <a:srgbClr val="008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85800" y="5181600"/>
            <a:ext cx="2209800" cy="381000"/>
          </a:xfrm>
          <a:prstGeom prst="roundRect">
            <a:avLst/>
          </a:prstGeom>
          <a:solidFill>
            <a:srgbClr val="008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796863" y="5181600"/>
            <a:ext cx="312274" cy="762000"/>
          </a:xfrm>
          <a:prstGeom prst="rect">
            <a:avLst/>
          </a:prstGeom>
          <a:solidFill>
            <a:srgbClr val="0000FF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1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124200"/>
            <a:ext cx="8229600" cy="16002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Designing Digital Logic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305800" cy="430862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We can build a </a:t>
            </a:r>
            <a:r>
              <a:rPr lang="en-US" b="1" dirty="0" smtClean="0">
                <a:solidFill>
                  <a:srgbClr val="0000FF"/>
                </a:solidFill>
              </a:rPr>
              <a:t>Truth </a:t>
            </a:r>
            <a:r>
              <a:rPr lang="en-US" b="1" dirty="0">
                <a:solidFill>
                  <a:srgbClr val="0000FF"/>
                </a:solidFill>
              </a:rPr>
              <a:t>T</a:t>
            </a:r>
            <a:r>
              <a:rPr lang="en-US" b="1" dirty="0" smtClean="0">
                <a:solidFill>
                  <a:srgbClr val="0000FF"/>
                </a:solidFill>
              </a:rPr>
              <a:t>able </a:t>
            </a:r>
          </a:p>
          <a:p>
            <a:pPr lvl="1"/>
            <a:r>
              <a:rPr lang="en-US" dirty="0" smtClean="0"/>
              <a:t>And simplify it via </a:t>
            </a:r>
            <a:r>
              <a:rPr lang="en-US" b="1" dirty="0" smtClean="0">
                <a:solidFill>
                  <a:srgbClr val="0000FF"/>
                </a:solidFill>
              </a:rPr>
              <a:t>Karnaugh Maps</a:t>
            </a:r>
          </a:p>
          <a:p>
            <a:r>
              <a:rPr lang="en-US" dirty="0" smtClean="0"/>
              <a:t>We can build a </a:t>
            </a:r>
            <a:r>
              <a:rPr lang="en-US" b="1" dirty="0" smtClean="0">
                <a:solidFill>
                  <a:srgbClr val="0000FF"/>
                </a:solidFill>
              </a:rPr>
              <a:t>Boolean Algebra </a:t>
            </a:r>
            <a:r>
              <a:rPr lang="en-US" dirty="0" smtClean="0"/>
              <a:t>formula </a:t>
            </a:r>
          </a:p>
          <a:p>
            <a:r>
              <a:rPr lang="en-US" dirty="0" smtClean="0"/>
              <a:t>We can build a </a:t>
            </a:r>
            <a:r>
              <a:rPr lang="en-US" b="1" dirty="0" smtClean="0">
                <a:solidFill>
                  <a:srgbClr val="0000FF"/>
                </a:solidFill>
              </a:rPr>
              <a:t>circuit diagram </a:t>
            </a:r>
            <a:r>
              <a:rPr lang="en-US" dirty="0" smtClean="0"/>
              <a:t>directly in Logisim</a:t>
            </a:r>
          </a:p>
          <a:p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Establish the problem carefully in terms of inputs and outputs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Build a truth table that reflects all configurations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Convert the table to a </a:t>
            </a:r>
            <a:r>
              <a:rPr lang="en-US" dirty="0"/>
              <a:t>B</a:t>
            </a:r>
            <a:r>
              <a:rPr lang="en-US" dirty="0" smtClean="0"/>
              <a:t>oolean expression (minterms)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Reduce before building via </a:t>
            </a:r>
            <a:r>
              <a:rPr lang="en-US" dirty="0" err="1" smtClean="0"/>
              <a:t>KMaps</a:t>
            </a:r>
            <a:r>
              <a:rPr lang="en-US" dirty="0" smtClean="0"/>
              <a:t> or BA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 smtClean="0"/>
              <a:t>Currently: specifying some set of inputs and some set of outputs that are dependent </a:t>
            </a:r>
            <a:r>
              <a:rPr lang="en-US" b="1" i="1" dirty="0" smtClean="0">
                <a:solidFill>
                  <a:srgbClr val="FF0000"/>
                </a:solidFill>
              </a:rPr>
              <a:t>only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on those inputs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What’s missing here? 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114800" y="1752600"/>
            <a:ext cx="3581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6019800" y="2362200"/>
            <a:ext cx="1676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7010400" y="26670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620000" y="1492984"/>
            <a:ext cx="308216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Equ</a:t>
            </a:r>
            <a:r>
              <a:rPr lang="en-US" sz="2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al</a:t>
            </a:r>
            <a:endParaRPr lang="en-US" sz="2000" b="1" cap="none" spc="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146557" y="2057400"/>
            <a:ext cx="24734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7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024744" cy="1143000"/>
          </a:xfrm>
        </p:spPr>
        <p:txBody>
          <a:bodyPr/>
          <a:lstStyle/>
          <a:p>
            <a:r>
              <a:rPr lang="en-US" dirty="0" smtClean="0"/>
              <a:t>K-Map 3A.4 – Do it Again!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67823"/>
            <a:ext cx="8458200" cy="3508977"/>
          </a:xfrm>
        </p:spPr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x!y!z</a:t>
            </a:r>
            <a:r>
              <a:rPr lang="en-US" dirty="0" smtClean="0"/>
              <a:t> + !</a:t>
            </a:r>
            <a:r>
              <a:rPr lang="en-US" dirty="0" err="1" smtClean="0"/>
              <a:t>x!yz</a:t>
            </a:r>
            <a:r>
              <a:rPr lang="en-US" dirty="0" smtClean="0"/>
              <a:t> + !xyz+ !</a:t>
            </a:r>
            <a:r>
              <a:rPr lang="en-US" dirty="0" err="1" smtClean="0"/>
              <a:t>xy!z</a:t>
            </a:r>
            <a:r>
              <a:rPr lang="en-US" dirty="0" smtClean="0"/>
              <a:t> + </a:t>
            </a:r>
            <a:r>
              <a:rPr lang="en-US" dirty="0" err="1" smtClean="0"/>
              <a:t>x!y!z</a:t>
            </a:r>
            <a:r>
              <a:rPr lang="en-US" dirty="0" smtClean="0"/>
              <a:t> + </a:t>
            </a:r>
            <a:r>
              <a:rPr lang="en-US" dirty="0" err="1" smtClean="0"/>
              <a:t>xy!z</a:t>
            </a:r>
            <a:endParaRPr lang="en-US" dirty="0" smtClean="0"/>
          </a:p>
          <a:p>
            <a:pPr lvl="1"/>
            <a:r>
              <a:rPr lang="en-US" b="1" i="1" dirty="0" smtClean="0"/>
              <a:t>Lets get our Boolean Laws out</a:t>
            </a:r>
            <a:r>
              <a:rPr lang="en-US" i="1" dirty="0" smtClean="0"/>
              <a:t> </a:t>
            </a:r>
            <a:r>
              <a:rPr lang="en-US" dirty="0" smtClean="0"/>
              <a:t>– </a:t>
            </a:r>
            <a:r>
              <a:rPr lang="en-US" b="1" i="1" dirty="0" smtClean="0"/>
              <a:t>who’s with me</a:t>
            </a:r>
            <a:r>
              <a:rPr lang="en-US" dirty="0" smtClean="0"/>
              <a:t>!? &lt;404&gt;</a:t>
            </a:r>
          </a:p>
          <a:p>
            <a:pPr lvl="2"/>
            <a:r>
              <a:rPr lang="en-US" dirty="0" smtClean="0"/>
              <a:t>Or, who wants to make an 8 row Truth Table!?  </a:t>
            </a:r>
            <a:r>
              <a:rPr lang="en-US" sz="1000" dirty="0" smtClean="0"/>
              <a:t>&lt;404&gt;</a:t>
            </a:r>
          </a:p>
          <a:p>
            <a:pPr lvl="3"/>
            <a:r>
              <a:rPr lang="en-US" dirty="0" smtClean="0"/>
              <a:t>16 rows? (32 and beyond use a simulator) </a:t>
            </a:r>
            <a:r>
              <a:rPr lang="en-US" sz="400" dirty="0" smtClean="0"/>
              <a:t>&lt;404&gt;</a:t>
            </a:r>
          </a:p>
          <a:p>
            <a:pPr lvl="2"/>
            <a:r>
              <a:rPr lang="en-US" dirty="0" smtClean="0"/>
              <a:t>Then, lets use a K-Map</a:t>
            </a:r>
          </a:p>
          <a:p>
            <a:pPr lvl="3"/>
            <a:r>
              <a:rPr lang="en-US" dirty="0" smtClean="0">
                <a:solidFill>
                  <a:srgbClr val="FF0000"/>
                </a:solidFill>
              </a:rPr>
              <a:t>TODO: </a:t>
            </a:r>
            <a:r>
              <a:rPr lang="en-US" dirty="0" smtClean="0"/>
              <a:t>Build a TT (</a:t>
            </a:r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once an expert, can you skip this step?)</a:t>
            </a:r>
          </a:p>
          <a:p>
            <a:pPr lvl="3"/>
            <a:r>
              <a:rPr lang="en-US" dirty="0" smtClean="0">
                <a:solidFill>
                  <a:srgbClr val="FF0000"/>
                </a:solidFill>
              </a:rPr>
              <a:t>TODO:</a:t>
            </a:r>
            <a:r>
              <a:rPr lang="en-US" dirty="0" smtClean="0"/>
              <a:t> K-Map for this formula given the 3 inputs and 1 output F</a:t>
            </a:r>
          </a:p>
          <a:p>
            <a:pPr lvl="3"/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86438"/>
              </p:ext>
            </p:extLst>
          </p:nvPr>
        </p:nvGraphicFramePr>
        <p:xfrm>
          <a:off x="1219200" y="41148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 smtClean="0">
                          <a:solidFill>
                            <a:srgbClr val="FF0000"/>
                          </a:solidFill>
                        </a:rPr>
                        <a:t>…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6406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024744" cy="1143000"/>
          </a:xfrm>
        </p:spPr>
        <p:txBody>
          <a:bodyPr/>
          <a:lstStyle/>
          <a:p>
            <a:r>
              <a:rPr lang="en-US" dirty="0" smtClean="0"/>
              <a:t>K-Map 3A.4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7696200" cy="3508977"/>
          </a:xfrm>
        </p:spPr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x!y!z</a:t>
            </a:r>
            <a:r>
              <a:rPr lang="en-US" dirty="0" smtClean="0"/>
              <a:t> + !</a:t>
            </a:r>
            <a:r>
              <a:rPr lang="en-US" dirty="0" err="1" smtClean="0"/>
              <a:t>x!yz</a:t>
            </a:r>
            <a:r>
              <a:rPr lang="en-US" dirty="0" smtClean="0"/>
              <a:t> + !xyz+ !</a:t>
            </a:r>
            <a:r>
              <a:rPr lang="en-US" dirty="0" err="1" smtClean="0"/>
              <a:t>xy!z</a:t>
            </a:r>
            <a:r>
              <a:rPr lang="en-US" dirty="0" smtClean="0"/>
              <a:t> + </a:t>
            </a:r>
            <a:r>
              <a:rPr lang="en-US" dirty="0" err="1" smtClean="0"/>
              <a:t>x!y!z</a:t>
            </a:r>
            <a:r>
              <a:rPr lang="en-US" dirty="0" smtClean="0"/>
              <a:t> + </a:t>
            </a:r>
            <a:r>
              <a:rPr lang="en-US" dirty="0" err="1" smtClean="0"/>
              <a:t>xy!z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TODO: </a:t>
            </a:r>
            <a:r>
              <a:rPr lang="en-US" dirty="0" smtClean="0">
                <a:solidFill>
                  <a:schemeClr val="tx1"/>
                </a:solidFill>
              </a:rPr>
              <a:t>N</a:t>
            </a:r>
            <a:r>
              <a:rPr lang="en-US" dirty="0" smtClean="0"/>
              <a:t>ow add the 1s to it!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615792"/>
              </p:ext>
            </p:extLst>
          </p:nvPr>
        </p:nvGraphicFramePr>
        <p:xfrm>
          <a:off x="1981200" y="4800600"/>
          <a:ext cx="6324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!Z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543724"/>
              </p:ext>
            </p:extLst>
          </p:nvPr>
        </p:nvGraphicFramePr>
        <p:xfrm>
          <a:off x="1371600" y="2362200"/>
          <a:ext cx="2209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"/>
                <a:gridCol w="552450"/>
                <a:gridCol w="552450"/>
                <a:gridCol w="552450"/>
              </a:tblGrid>
              <a:tr h="30988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/>
                </a:tc>
              </a:tr>
              <a:tr h="30988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0988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09880">
                <a:tc>
                  <a:txBody>
                    <a:bodyPr/>
                    <a:lstStyle/>
                    <a:p>
                      <a:r>
                        <a:rPr lang="mr-IN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 smtClean="0"/>
                        <a:t>…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30988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Down Arrow 6"/>
          <p:cNvSpPr/>
          <p:nvPr/>
        </p:nvSpPr>
        <p:spPr>
          <a:xfrm>
            <a:off x="4800600" y="1974342"/>
            <a:ext cx="533400" cy="267385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31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024744" cy="1143000"/>
          </a:xfrm>
        </p:spPr>
        <p:txBody>
          <a:bodyPr/>
          <a:lstStyle/>
          <a:p>
            <a:r>
              <a:rPr lang="en-US" dirty="0" smtClean="0"/>
              <a:t>K-Map 3A.4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7696200" cy="3508977"/>
          </a:xfrm>
        </p:spPr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x!y!z</a:t>
            </a:r>
            <a:r>
              <a:rPr lang="en-US" dirty="0" smtClean="0"/>
              <a:t> + !</a:t>
            </a:r>
            <a:r>
              <a:rPr lang="en-US" dirty="0" err="1" smtClean="0"/>
              <a:t>x!yz</a:t>
            </a:r>
            <a:r>
              <a:rPr lang="en-US" dirty="0" smtClean="0"/>
              <a:t> + !xyz+ !</a:t>
            </a:r>
            <a:r>
              <a:rPr lang="en-US" dirty="0" err="1" smtClean="0"/>
              <a:t>xy!z</a:t>
            </a:r>
            <a:r>
              <a:rPr lang="en-US" dirty="0" smtClean="0"/>
              <a:t> + </a:t>
            </a:r>
            <a:r>
              <a:rPr lang="en-US" dirty="0" err="1" smtClean="0"/>
              <a:t>x!y!z</a:t>
            </a:r>
            <a:r>
              <a:rPr lang="en-US" dirty="0" smtClean="0"/>
              <a:t> + </a:t>
            </a:r>
            <a:r>
              <a:rPr lang="en-US" dirty="0" err="1" smtClean="0"/>
              <a:t>xy!z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TODO: </a:t>
            </a:r>
            <a:r>
              <a:rPr lang="en-US" dirty="0" smtClean="0"/>
              <a:t>Now make loops for all 1s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941557"/>
              </p:ext>
            </p:extLst>
          </p:nvPr>
        </p:nvGraphicFramePr>
        <p:xfrm>
          <a:off x="1295400" y="2468880"/>
          <a:ext cx="6324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!Z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812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024744" cy="1143000"/>
          </a:xfrm>
        </p:spPr>
        <p:txBody>
          <a:bodyPr/>
          <a:lstStyle/>
          <a:p>
            <a:r>
              <a:rPr lang="en-US" dirty="0" smtClean="0"/>
              <a:t>K-Map 3A.4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7696200" cy="3508977"/>
          </a:xfrm>
        </p:spPr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x!y!z</a:t>
            </a:r>
            <a:r>
              <a:rPr lang="en-US" dirty="0" smtClean="0"/>
              <a:t> + !</a:t>
            </a:r>
            <a:r>
              <a:rPr lang="en-US" dirty="0" err="1" smtClean="0"/>
              <a:t>x!yz</a:t>
            </a:r>
            <a:r>
              <a:rPr lang="en-US" dirty="0" smtClean="0"/>
              <a:t> + !xyz+ !</a:t>
            </a:r>
            <a:r>
              <a:rPr lang="en-US" dirty="0" err="1" smtClean="0"/>
              <a:t>xy!z</a:t>
            </a:r>
            <a:r>
              <a:rPr lang="en-US" dirty="0" smtClean="0"/>
              <a:t> + </a:t>
            </a:r>
            <a:r>
              <a:rPr lang="en-US" dirty="0" err="1" smtClean="0"/>
              <a:t>x!y!z</a:t>
            </a:r>
            <a:r>
              <a:rPr lang="en-US" dirty="0" smtClean="0"/>
              <a:t> + </a:t>
            </a:r>
            <a:r>
              <a:rPr lang="en-US" dirty="0" err="1" smtClean="0"/>
              <a:t>xy!z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Done?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530720"/>
              </p:ext>
            </p:extLst>
          </p:nvPr>
        </p:nvGraphicFramePr>
        <p:xfrm>
          <a:off x="1295400" y="2468880"/>
          <a:ext cx="6324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!Z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590800" y="2857500"/>
            <a:ext cx="415636" cy="6858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9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9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953000" y="2880469"/>
            <a:ext cx="1905000" cy="31993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alpha val="15000"/>
                </a:schemeClr>
              </a:gs>
              <a:gs pos="100000">
                <a:schemeClr val="accent5">
                  <a:shade val="75000"/>
                  <a:satMod val="120000"/>
                  <a:lumMod val="90000"/>
                  <a:alpha val="15000"/>
                </a:schemeClr>
              </a:gs>
            </a:gsLst>
            <a:lin ang="5400000" scaled="0"/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851564" y="2844800"/>
            <a:ext cx="415636" cy="6858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9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9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144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024744" cy="1143000"/>
          </a:xfrm>
        </p:spPr>
        <p:txBody>
          <a:bodyPr/>
          <a:lstStyle/>
          <a:p>
            <a:r>
              <a:rPr lang="en-US" dirty="0" smtClean="0"/>
              <a:t>K-Map 3A.4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7696200" cy="3508977"/>
          </a:xfrm>
        </p:spPr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x!y!z</a:t>
            </a:r>
            <a:r>
              <a:rPr lang="en-US" dirty="0" smtClean="0"/>
              <a:t> + !</a:t>
            </a:r>
            <a:r>
              <a:rPr lang="en-US" dirty="0" err="1" smtClean="0"/>
              <a:t>x!yz</a:t>
            </a:r>
            <a:r>
              <a:rPr lang="en-US" dirty="0" smtClean="0"/>
              <a:t> + !xyz+ !</a:t>
            </a:r>
            <a:r>
              <a:rPr lang="en-US" dirty="0" err="1" smtClean="0"/>
              <a:t>xy!z</a:t>
            </a:r>
            <a:r>
              <a:rPr lang="en-US" dirty="0" smtClean="0"/>
              <a:t> + </a:t>
            </a:r>
            <a:r>
              <a:rPr lang="en-US" dirty="0" err="1" smtClean="0"/>
              <a:t>x!y!z</a:t>
            </a:r>
            <a:r>
              <a:rPr lang="en-US" dirty="0" smtClean="0"/>
              <a:t> + </a:t>
            </a:r>
            <a:r>
              <a:rPr lang="en-US" dirty="0" err="1" smtClean="0"/>
              <a:t>xy!z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>
                <a:solidFill>
                  <a:schemeClr val="tx1"/>
                </a:solidFill>
              </a:rPr>
              <a:t>OK, now </a:t>
            </a:r>
            <a:r>
              <a:rPr lang="en-US" dirty="0" smtClean="0"/>
              <a:t>Done?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087188"/>
              </p:ext>
            </p:extLst>
          </p:nvPr>
        </p:nvGraphicFramePr>
        <p:xfrm>
          <a:off x="1371600" y="2468880"/>
          <a:ext cx="624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/>
                <a:gridCol w="1249680"/>
                <a:gridCol w="1249680"/>
                <a:gridCol w="1249680"/>
                <a:gridCol w="12496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!Z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667000" y="2857500"/>
            <a:ext cx="1905000" cy="6858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9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9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029200" y="2880469"/>
            <a:ext cx="1905000" cy="31993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alpha val="15000"/>
                </a:schemeClr>
              </a:gs>
              <a:gs pos="100000">
                <a:schemeClr val="accent5">
                  <a:shade val="75000"/>
                  <a:satMod val="120000"/>
                  <a:lumMod val="90000"/>
                  <a:alpha val="15000"/>
                </a:schemeClr>
              </a:gs>
            </a:gsLst>
            <a:lin ang="5400000" scaled="0"/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182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024744" cy="1143000"/>
          </a:xfrm>
        </p:spPr>
        <p:txBody>
          <a:bodyPr/>
          <a:lstStyle/>
          <a:p>
            <a:r>
              <a:rPr lang="en-US" dirty="0" smtClean="0"/>
              <a:t>K-Map 3A.4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7696200" cy="3508977"/>
          </a:xfrm>
        </p:spPr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x!y!z</a:t>
            </a:r>
            <a:r>
              <a:rPr lang="en-US" dirty="0" smtClean="0"/>
              <a:t> + !</a:t>
            </a:r>
            <a:r>
              <a:rPr lang="en-US" dirty="0" err="1" smtClean="0"/>
              <a:t>x!yz</a:t>
            </a:r>
            <a:r>
              <a:rPr lang="en-US" dirty="0" smtClean="0"/>
              <a:t> + !xyz+ !</a:t>
            </a:r>
            <a:r>
              <a:rPr lang="en-US" dirty="0" err="1" smtClean="0"/>
              <a:t>xy!z</a:t>
            </a:r>
            <a:r>
              <a:rPr lang="en-US" dirty="0" smtClean="0"/>
              <a:t> + </a:t>
            </a:r>
            <a:r>
              <a:rPr lang="en-US" dirty="0" err="1" smtClean="0"/>
              <a:t>x!y!z</a:t>
            </a:r>
            <a:r>
              <a:rPr lang="en-US" dirty="0" smtClean="0"/>
              <a:t> + </a:t>
            </a:r>
            <a:r>
              <a:rPr lang="en-US" dirty="0" err="1" smtClean="0"/>
              <a:t>xy!z</a:t>
            </a:r>
            <a:endParaRPr lang="en-US" dirty="0" smtClean="0"/>
          </a:p>
          <a:p>
            <a:pPr lvl="1"/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smtClean="0"/>
              <a:t>No! The right loop was too small!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Now what is the reduced Boolean formula?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109768"/>
              </p:ext>
            </p:extLst>
          </p:nvPr>
        </p:nvGraphicFramePr>
        <p:xfrm>
          <a:off x="1219200" y="2468880"/>
          <a:ext cx="6400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!Z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514600" y="2857500"/>
            <a:ext cx="1905000" cy="6858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9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9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590800" y="2880469"/>
            <a:ext cx="4191000" cy="31993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alpha val="15000"/>
                </a:schemeClr>
              </a:gs>
              <a:gs pos="100000">
                <a:schemeClr val="accent5">
                  <a:shade val="75000"/>
                  <a:satMod val="120000"/>
                  <a:lumMod val="90000"/>
                  <a:alpha val="15000"/>
                </a:schemeClr>
              </a:gs>
            </a:gsLst>
            <a:lin ang="5400000" scaled="0"/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560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024744" cy="1143000"/>
          </a:xfrm>
        </p:spPr>
        <p:txBody>
          <a:bodyPr/>
          <a:lstStyle/>
          <a:p>
            <a:r>
              <a:rPr lang="en-US" dirty="0" smtClean="0"/>
              <a:t>K-Map 3A.4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7696200" cy="3508977"/>
          </a:xfrm>
        </p:spPr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x!y!z</a:t>
            </a:r>
            <a:r>
              <a:rPr lang="en-US" dirty="0" smtClean="0"/>
              <a:t> + !</a:t>
            </a:r>
            <a:r>
              <a:rPr lang="en-US" dirty="0" err="1" smtClean="0"/>
              <a:t>x!yz</a:t>
            </a:r>
            <a:r>
              <a:rPr lang="en-US" dirty="0" smtClean="0"/>
              <a:t> + !xyz+ !</a:t>
            </a:r>
            <a:r>
              <a:rPr lang="en-US" dirty="0" err="1" smtClean="0"/>
              <a:t>xy!z</a:t>
            </a:r>
            <a:r>
              <a:rPr lang="en-US" dirty="0" smtClean="0"/>
              <a:t> + </a:t>
            </a:r>
            <a:r>
              <a:rPr lang="en-US" dirty="0" err="1" smtClean="0"/>
              <a:t>x!y!z</a:t>
            </a:r>
            <a:r>
              <a:rPr lang="en-US" dirty="0" smtClean="0"/>
              <a:t> + </a:t>
            </a:r>
            <a:r>
              <a:rPr lang="en-US" dirty="0" err="1" smtClean="0"/>
              <a:t>xy!z</a:t>
            </a:r>
            <a:endParaRPr lang="en-US" dirty="0" smtClean="0"/>
          </a:p>
          <a:p>
            <a:pPr lvl="1"/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out</a:t>
            </a:r>
            <a:r>
              <a:rPr lang="en-US" dirty="0" smtClean="0"/>
              <a:t>= !z + !x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How many gates were reduced?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577193"/>
              </p:ext>
            </p:extLst>
          </p:nvPr>
        </p:nvGraphicFramePr>
        <p:xfrm>
          <a:off x="1295400" y="2468880"/>
          <a:ext cx="6324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!Z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590800" y="2857500"/>
            <a:ext cx="1905000" cy="6858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9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9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667000" y="2880469"/>
            <a:ext cx="4191000" cy="31993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alpha val="15000"/>
                </a:schemeClr>
              </a:gs>
              <a:gs pos="100000">
                <a:schemeClr val="accent5">
                  <a:shade val="75000"/>
                  <a:satMod val="120000"/>
                  <a:lumMod val="90000"/>
                  <a:alpha val="15000"/>
                </a:schemeClr>
              </a:gs>
            </a:gsLst>
            <a:lin ang="5400000" scaled="0"/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08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024744" cy="1143000"/>
          </a:xfrm>
        </p:spPr>
        <p:txBody>
          <a:bodyPr/>
          <a:lstStyle/>
          <a:p>
            <a:r>
              <a:rPr lang="en-US" dirty="0" smtClean="0"/>
              <a:t>K-Map 3A.4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8077200" cy="3508977"/>
          </a:xfrm>
        </p:spPr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!</a:t>
            </a:r>
            <a:r>
              <a:rPr lang="en-US" dirty="0" err="1" smtClean="0"/>
              <a:t>x!y!z</a:t>
            </a:r>
            <a:r>
              <a:rPr lang="en-US" dirty="0" smtClean="0"/>
              <a:t> + !</a:t>
            </a:r>
            <a:r>
              <a:rPr lang="en-US" dirty="0" err="1" smtClean="0"/>
              <a:t>x!yz</a:t>
            </a:r>
            <a:r>
              <a:rPr lang="en-US" dirty="0" smtClean="0"/>
              <a:t> + !xyz + !</a:t>
            </a:r>
            <a:r>
              <a:rPr lang="en-US" dirty="0" err="1" smtClean="0"/>
              <a:t>xy!z</a:t>
            </a:r>
            <a:r>
              <a:rPr lang="en-US" dirty="0" smtClean="0"/>
              <a:t> + </a:t>
            </a:r>
            <a:r>
              <a:rPr lang="en-US" dirty="0" err="1" smtClean="0"/>
              <a:t>x!y!z</a:t>
            </a:r>
            <a:r>
              <a:rPr lang="en-US" dirty="0" smtClean="0"/>
              <a:t> + </a:t>
            </a:r>
            <a:r>
              <a:rPr lang="en-US" dirty="0" err="1" smtClean="0"/>
              <a:t>xy!z</a:t>
            </a:r>
            <a:endParaRPr lang="en-US" dirty="0" smtClean="0"/>
          </a:p>
          <a:p>
            <a:pPr lvl="1"/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/>
              <a:t>2</a:t>
            </a:r>
            <a:r>
              <a:rPr lang="en-US" dirty="0" smtClean="0"/>
              <a:t>*6 AND gates plus 5 OR gates plus 3 NOTs = 20 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A: Versus !x + !z, which is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OR and 2 NOTs =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 gates</a:t>
            </a: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11132"/>
              </p:ext>
            </p:extLst>
          </p:nvPr>
        </p:nvGraphicFramePr>
        <p:xfrm>
          <a:off x="1295400" y="2468880"/>
          <a:ext cx="6324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!Z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590800" y="2857500"/>
            <a:ext cx="1905000" cy="6858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9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9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616200" y="2880469"/>
            <a:ext cx="4191000" cy="31993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alpha val="15000"/>
                </a:schemeClr>
              </a:gs>
              <a:gs pos="100000">
                <a:schemeClr val="accent5">
                  <a:shade val="75000"/>
                  <a:satMod val="120000"/>
                  <a:lumMod val="90000"/>
                  <a:alpha val="15000"/>
                </a:schemeClr>
              </a:gs>
            </a:gsLst>
            <a:lin ang="5400000" scaled="0"/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828800" y="4876800"/>
            <a:ext cx="51816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Note the error here in Null’s text, 4</a:t>
            </a:r>
            <a:r>
              <a:rPr lang="en-US" b="1" baseline="30000" dirty="0" smtClean="0">
                <a:solidFill>
                  <a:schemeClr val="accent6"/>
                </a:solidFill>
              </a:rPr>
              <a:t>th</a:t>
            </a:r>
            <a:r>
              <a:rPr lang="en-US" b="1" dirty="0" smtClean="0">
                <a:solidFill>
                  <a:schemeClr val="accent6"/>
                </a:solidFill>
              </a:rPr>
              <a:t> Edition</a:t>
            </a:r>
            <a:endParaRPr lang="en-US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4972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K-Map Gotchas: Corners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088725"/>
              </p:ext>
            </p:extLst>
          </p:nvPr>
        </p:nvGraphicFramePr>
        <p:xfrm>
          <a:off x="1524000" y="26670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!A!B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!AB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AB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A!B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81200" y="4971871"/>
            <a:ext cx="3841487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A: No reductions above</a:t>
            </a:r>
          </a:p>
          <a:p>
            <a:r>
              <a:rPr lang="en-US" dirty="0" smtClean="0"/>
              <a:t>A: 2 loops of 2</a:t>
            </a:r>
          </a:p>
          <a:p>
            <a:r>
              <a:rPr lang="en-US" dirty="0" smtClean="0"/>
              <a:t>A: 1 loop of 4</a:t>
            </a:r>
          </a:p>
          <a:p>
            <a:r>
              <a:rPr lang="en-US" dirty="0" smtClean="0"/>
              <a:t>A: 2 loops of 4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81200" y="4572000"/>
            <a:ext cx="3810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Biggest loop above?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4005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32911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Solution: Find Largest Loop </a:t>
            </a:r>
            <a:br>
              <a:rPr lang="en-US" dirty="0" smtClean="0"/>
            </a:br>
            <a:r>
              <a:rPr lang="en-US" dirty="0" smtClean="0"/>
              <a:t>(Edges Wrap Like a Torus)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402099"/>
              </p:ext>
            </p:extLst>
          </p:nvPr>
        </p:nvGraphicFramePr>
        <p:xfrm>
          <a:off x="1524000" y="26670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!X!Y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X!Y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!A!B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!AB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AB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A!B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81200" y="4876800"/>
            <a:ext cx="464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 smtClean="0"/>
              <a:t>A: No reductions above</a:t>
            </a:r>
          </a:p>
          <a:p>
            <a:r>
              <a:rPr lang="en-US" strike="sngStrike" dirty="0" smtClean="0"/>
              <a:t>A: 2 loops of 2</a:t>
            </a:r>
          </a:p>
          <a:p>
            <a:r>
              <a:rPr lang="en-US" dirty="0" smtClean="0"/>
              <a:t>A: 1 loop of 4</a:t>
            </a:r>
          </a:p>
          <a:p>
            <a:r>
              <a:rPr lang="en-US" strike="sngStrike" dirty="0" smtClean="0"/>
              <a:t>A: 2 loops of 4</a:t>
            </a:r>
            <a:endParaRPr lang="en-US" strike="sngStrike" dirty="0"/>
          </a:p>
        </p:txBody>
      </p:sp>
      <p:sp>
        <p:nvSpPr>
          <p:cNvPr id="3" name="Rounded Rectangle 2"/>
          <p:cNvSpPr/>
          <p:nvPr/>
        </p:nvSpPr>
        <p:spPr>
          <a:xfrm>
            <a:off x="6400800" y="2667000"/>
            <a:ext cx="1219200" cy="762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3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3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400800" y="4191000"/>
            <a:ext cx="1219200" cy="6858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3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3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447800" y="4191000"/>
            <a:ext cx="1600200" cy="6858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3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3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447800" y="2590800"/>
            <a:ext cx="1600200" cy="762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alpha val="13000"/>
                </a:schemeClr>
              </a:gs>
              <a:gs pos="100000">
                <a:schemeClr val="accent6">
                  <a:shade val="75000"/>
                  <a:satMod val="120000"/>
                  <a:lumMod val="90000"/>
                  <a:alpha val="13000"/>
                </a:schemeClr>
              </a:gs>
            </a:gsLst>
            <a:lin ang="54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3975100" y="3441700"/>
            <a:ext cx="304800" cy="30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20000"/>
                  <a:satMod val="180000"/>
                  <a:lumMod val="98000"/>
                  <a:alpha val="15000"/>
                </a:schemeClr>
              </a:gs>
              <a:gs pos="40000">
                <a:schemeClr val="accent5">
                  <a:tint val="30000"/>
                  <a:satMod val="260000"/>
                  <a:lumMod val="84000"/>
                  <a:alpha val="15000"/>
                </a:schemeClr>
              </a:gs>
              <a:gs pos="100000">
                <a:schemeClr val="accent5">
                  <a:tint val="100000"/>
                  <a:satMod val="110000"/>
                  <a:lumMod val="100000"/>
                  <a:alpha val="15000"/>
                </a:schemeClr>
              </a:gs>
            </a:gsLst>
            <a:lin ang="504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934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027664"/>
            <a:ext cx="779571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K-Map Gotchas:</a:t>
            </a:r>
            <a:br>
              <a:rPr lang="en-US" dirty="0" smtClean="0"/>
            </a:br>
            <a:r>
              <a:rPr lang="en-US" dirty="0" smtClean="0"/>
              <a:t>“Duplicate” Loops are Redundant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23652"/>
            <a:ext cx="8686800" cy="3508977"/>
          </a:xfrm>
        </p:spPr>
        <p:txBody>
          <a:bodyPr/>
          <a:lstStyle/>
          <a:p>
            <a:r>
              <a:rPr lang="en-US" dirty="0" smtClean="0"/>
              <a:t>A duplicate here is a loop with no unique </a:t>
            </a:r>
            <a:r>
              <a:rPr lang="en-US" b="1" dirty="0" smtClean="0"/>
              <a:t>minterm</a:t>
            </a:r>
          </a:p>
          <a:p>
            <a:r>
              <a:rPr lang="en-US" dirty="0" smtClean="0"/>
              <a:t>No unique 1 in a loop will introduce redundancy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587612"/>
              </p:ext>
            </p:extLst>
          </p:nvPr>
        </p:nvGraphicFramePr>
        <p:xfrm>
          <a:off x="1143000" y="48310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~C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648200" y="5257800"/>
            <a:ext cx="2209800" cy="304800"/>
          </a:xfrm>
          <a:prstGeom prst="roundRect">
            <a:avLst/>
          </a:prstGeom>
          <a:solidFill>
            <a:srgbClr val="FF0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867400" y="5257800"/>
            <a:ext cx="1905000" cy="304800"/>
          </a:xfrm>
          <a:prstGeom prst="roundRect">
            <a:avLst/>
          </a:prstGeom>
          <a:solidFill>
            <a:srgbClr val="008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85800" y="5181600"/>
            <a:ext cx="2209800" cy="381000"/>
          </a:xfrm>
          <a:prstGeom prst="roundRect">
            <a:avLst/>
          </a:prstGeom>
          <a:solidFill>
            <a:srgbClr val="008000">
              <a:alpha val="2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800600" y="4648200"/>
            <a:ext cx="304800" cy="914400"/>
          </a:xfrm>
          <a:prstGeom prst="roundRect">
            <a:avLst/>
          </a:prstGeom>
          <a:solidFill>
            <a:srgbClr val="660066">
              <a:alpha val="1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800600" y="5638800"/>
            <a:ext cx="304800" cy="914400"/>
          </a:xfrm>
          <a:prstGeom prst="roundRect">
            <a:avLst/>
          </a:prstGeom>
          <a:solidFill>
            <a:srgbClr val="660066">
              <a:alpha val="1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19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533400" y="152400"/>
            <a:ext cx="7024744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latin typeface="Calibri" charset="0"/>
                <a:ea typeface="MS PGothic" charset="0"/>
              </a:rPr>
              <a:t>This K-Map Has How Many Loops?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33400" y="2255837"/>
            <a:ext cx="4114800" cy="4525963"/>
          </a:xfrm>
        </p:spPr>
        <p:txBody>
          <a:bodyPr/>
          <a:lstStyle/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0	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1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2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3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4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5</a:t>
            </a:r>
          </a:p>
        </p:txBody>
      </p:sp>
      <p:pic>
        <p:nvPicPr>
          <p:cNvPr id="2" name="TPChart" descr="61CA67DC390348CA93720A0FBA08E4FAChart20160406175753783.png" hidden="1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1600200"/>
            <a:ext cx="4572000" cy="5143500"/>
          </a:xfrm>
          <a:prstGeom prst="rect">
            <a:avLst/>
          </a:prstGeom>
        </p:spPr>
      </p:pic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101614"/>
              </p:ext>
            </p:extLst>
          </p:nvPr>
        </p:nvGraphicFramePr>
        <p:xfrm>
          <a:off x="3962400" y="25908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4102100" y="2311400"/>
            <a:ext cx="1901825" cy="304800"/>
            <a:chOff x="528" y="288"/>
            <a:chExt cx="1198" cy="192"/>
          </a:xfrm>
        </p:grpSpPr>
        <p:sp>
          <p:nvSpPr>
            <p:cNvPr id="9" name="Text Box 32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10" name="Line 33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34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35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36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37"/>
          <p:cNvGrpSpPr>
            <a:grpSpLocks/>
          </p:cNvGrpSpPr>
          <p:nvPr/>
        </p:nvGrpSpPr>
        <p:grpSpPr bwMode="auto">
          <a:xfrm>
            <a:off x="3470275" y="2616200"/>
            <a:ext cx="441325" cy="2051050"/>
            <a:chOff x="122" y="592"/>
            <a:chExt cx="278" cy="1292"/>
          </a:xfrm>
        </p:grpSpPr>
        <p:sp>
          <p:nvSpPr>
            <p:cNvPr id="15" name="Text Box 38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16" name="Line 39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40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41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42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TPGrid" descr="pp_response.png" hidden="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600"/>
            <a:ext cx="927100" cy="1168400"/>
          </a:xfrm>
          <a:prstGeom prst="rect">
            <a:avLst/>
          </a:prstGeom>
        </p:spPr>
      </p:pic>
      <p:sp>
        <p:nvSpPr>
          <p:cNvPr id="3" name="Frame 2"/>
          <p:cNvSpPr/>
          <p:nvPr/>
        </p:nvSpPr>
        <p:spPr>
          <a:xfrm>
            <a:off x="990600" y="4064000"/>
            <a:ext cx="457200" cy="381000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60040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519056" y="152400"/>
            <a:ext cx="7024744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latin typeface="Calibri" charset="0"/>
                <a:ea typeface="MS PGothic" charset="0"/>
              </a:rPr>
              <a:t>This K-Map Has How Many Loops?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2179637"/>
            <a:ext cx="4114800" cy="4525963"/>
          </a:xfrm>
        </p:spPr>
        <p:txBody>
          <a:bodyPr/>
          <a:lstStyle/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0	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1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2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3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4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5</a:t>
            </a:r>
          </a:p>
        </p:txBody>
      </p:sp>
      <p:pic>
        <p:nvPicPr>
          <p:cNvPr id="2" name="TPChart" descr="C64D5F66A83444A09D781557B38D36DAChart20160406175843915.png" hidden="1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1600200"/>
            <a:ext cx="4572000" cy="5143500"/>
          </a:xfrm>
          <a:prstGeom prst="rect">
            <a:avLst/>
          </a:prstGeom>
        </p:spPr>
      </p:pic>
      <p:graphicFrame>
        <p:nvGraphicFramePr>
          <p:cNvPr id="20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73296"/>
              </p:ext>
            </p:extLst>
          </p:nvPr>
        </p:nvGraphicFramePr>
        <p:xfrm>
          <a:off x="3581400" y="25527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1" name="Group 75"/>
          <p:cNvGrpSpPr>
            <a:grpSpLocks/>
          </p:cNvGrpSpPr>
          <p:nvPr/>
        </p:nvGrpSpPr>
        <p:grpSpPr bwMode="auto">
          <a:xfrm>
            <a:off x="3733800" y="2286000"/>
            <a:ext cx="1901825" cy="304800"/>
            <a:chOff x="528" y="288"/>
            <a:chExt cx="1198" cy="192"/>
          </a:xfrm>
        </p:grpSpPr>
        <p:sp>
          <p:nvSpPr>
            <p:cNvPr id="22" name="Text Box 76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23" name="Line 77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78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79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80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81"/>
          <p:cNvGrpSpPr>
            <a:grpSpLocks/>
          </p:cNvGrpSpPr>
          <p:nvPr/>
        </p:nvGrpSpPr>
        <p:grpSpPr bwMode="auto">
          <a:xfrm>
            <a:off x="3089275" y="2578100"/>
            <a:ext cx="441325" cy="2051050"/>
            <a:chOff x="122" y="592"/>
            <a:chExt cx="278" cy="1292"/>
          </a:xfrm>
        </p:grpSpPr>
        <p:sp>
          <p:nvSpPr>
            <p:cNvPr id="28" name="Text Box 82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29" name="Line 83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84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85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86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TPGrid" descr="pp_response.png" hidden="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600"/>
            <a:ext cx="927100" cy="1168400"/>
          </a:xfrm>
          <a:prstGeom prst="rect">
            <a:avLst/>
          </a:prstGeom>
        </p:spPr>
      </p:pic>
      <p:sp>
        <p:nvSpPr>
          <p:cNvPr id="19" name="Frame 18"/>
          <p:cNvSpPr/>
          <p:nvPr/>
        </p:nvSpPr>
        <p:spPr>
          <a:xfrm>
            <a:off x="914400" y="3124200"/>
            <a:ext cx="457200" cy="381000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52624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685800" y="152400"/>
            <a:ext cx="7024744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  <a:ea typeface="MS PGothic" charset="0"/>
              </a:rPr>
              <a:t>This K-Map Formula is?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447800"/>
            <a:ext cx="8991600" cy="3740465"/>
          </a:xfrm>
        </p:spPr>
        <p:txBody>
          <a:bodyPr/>
          <a:lstStyle/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 smtClean="0"/>
              <a:t>X </a:t>
            </a:r>
            <a:r>
              <a:rPr lang="en-US" sz="1600" b="1" dirty="0"/>
              <a:t>= ~A~B~C~D + ~AB~CD </a:t>
            </a:r>
            <a:endParaRPr lang="en-US" sz="1600" b="1" dirty="0" smtClean="0"/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 smtClean="0"/>
              <a:t>X </a:t>
            </a:r>
            <a:r>
              <a:rPr lang="en-US" sz="1600" b="1" dirty="0"/>
              <a:t>= ~A~B~C~D + ~AB~CD + AB~C~</a:t>
            </a:r>
            <a:r>
              <a:rPr lang="en-US" sz="1600" b="1" dirty="0" smtClean="0"/>
              <a:t>D</a:t>
            </a:r>
            <a:endParaRPr lang="en-US" sz="1600" dirty="0"/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 smtClean="0"/>
              <a:t>X </a:t>
            </a:r>
            <a:r>
              <a:rPr lang="en-US" sz="1600" b="1" dirty="0"/>
              <a:t>= ~A~B~C~D </a:t>
            </a:r>
            <a:r>
              <a:rPr lang="en-US" sz="1600" b="1" dirty="0" smtClean="0"/>
              <a:t>* </a:t>
            </a:r>
            <a:r>
              <a:rPr lang="en-US" sz="1600" b="1" dirty="0"/>
              <a:t>~AB~CD </a:t>
            </a:r>
            <a:r>
              <a:rPr lang="en-US" sz="1600" b="1" dirty="0" smtClean="0"/>
              <a:t>* </a:t>
            </a:r>
            <a:r>
              <a:rPr lang="en-US" sz="1600" b="1" dirty="0"/>
              <a:t>AB~C~D </a:t>
            </a:r>
            <a:r>
              <a:rPr lang="en-US" sz="1600" b="1" dirty="0" smtClean="0"/>
              <a:t>* </a:t>
            </a:r>
            <a:r>
              <a:rPr lang="en-US" sz="1600" b="1" dirty="0"/>
              <a:t>A~B~CD</a:t>
            </a:r>
            <a:endParaRPr lang="en-US" sz="1600" dirty="0"/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 smtClean="0"/>
              <a:t>X </a:t>
            </a:r>
            <a:r>
              <a:rPr lang="en-US" sz="1600" b="1" dirty="0"/>
              <a:t>= ~A~B~C~D + ~AB~CD + AB~C~D + A~B~CD</a:t>
            </a:r>
            <a:endParaRPr lang="en-US" sz="1600" dirty="0"/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 smtClean="0"/>
              <a:t>X </a:t>
            </a:r>
            <a:r>
              <a:rPr lang="en-US" sz="1600" b="1" dirty="0"/>
              <a:t>= </a:t>
            </a:r>
            <a:r>
              <a:rPr lang="en-US" sz="1600" b="1" dirty="0" smtClean="0"/>
              <a:t>A</a:t>
            </a:r>
            <a:r>
              <a:rPr lang="en-US" sz="1600" b="1" dirty="0"/>
              <a:t>~</a:t>
            </a:r>
            <a:r>
              <a:rPr lang="en-US" sz="1600" b="1" dirty="0" smtClean="0"/>
              <a:t>BC</a:t>
            </a:r>
            <a:r>
              <a:rPr lang="en-US" sz="1600" b="1" dirty="0"/>
              <a:t>~D + ~AB~CD + AB~C~D + A~B~</a:t>
            </a:r>
            <a:r>
              <a:rPr lang="en-US" sz="1600" b="1" dirty="0" smtClean="0"/>
              <a:t>CD</a:t>
            </a:r>
            <a:endParaRPr lang="en-US" sz="1600" dirty="0"/>
          </a:p>
        </p:txBody>
      </p:sp>
      <p:pic>
        <p:nvPicPr>
          <p:cNvPr id="4" name="TPChart" descr="9E8DAEFDD2484D7AAF4F1DF414CEC70CChart20160406175035223.png" hidden="1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1600200"/>
            <a:ext cx="4572000" cy="5143500"/>
          </a:xfrm>
          <a:prstGeom prst="rect">
            <a:avLst/>
          </a:prstGeom>
        </p:spPr>
      </p:pic>
      <p:graphicFrame>
        <p:nvGraphicFramePr>
          <p:cNvPr id="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37417"/>
              </p:ext>
            </p:extLst>
          </p:nvPr>
        </p:nvGraphicFramePr>
        <p:xfrm>
          <a:off x="3886200" y="36830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4025900" y="3403600"/>
            <a:ext cx="1901825" cy="304800"/>
            <a:chOff x="528" y="288"/>
            <a:chExt cx="1198" cy="192"/>
          </a:xfrm>
        </p:grpSpPr>
        <p:sp>
          <p:nvSpPr>
            <p:cNvPr id="8" name="Text Box 32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9" name="Line 33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34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35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36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37"/>
          <p:cNvGrpSpPr>
            <a:grpSpLocks/>
          </p:cNvGrpSpPr>
          <p:nvPr/>
        </p:nvGrpSpPr>
        <p:grpSpPr bwMode="auto">
          <a:xfrm>
            <a:off x="3394075" y="3708400"/>
            <a:ext cx="441325" cy="2051050"/>
            <a:chOff x="122" y="592"/>
            <a:chExt cx="278" cy="1292"/>
          </a:xfrm>
        </p:grpSpPr>
        <p:sp>
          <p:nvSpPr>
            <p:cNvPr id="14" name="Text Box 38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15" name="Line 39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40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41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42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" name="TPGrid" descr="pp_response.png" hidden="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81000"/>
            <a:ext cx="927100" cy="1168400"/>
          </a:xfrm>
          <a:prstGeom prst="rect">
            <a:avLst/>
          </a:prstGeom>
        </p:spPr>
      </p:pic>
      <p:sp>
        <p:nvSpPr>
          <p:cNvPr id="19" name="Frame 18"/>
          <p:cNvSpPr/>
          <p:nvPr/>
        </p:nvSpPr>
        <p:spPr>
          <a:xfrm>
            <a:off x="609600" y="2379448"/>
            <a:ext cx="457200" cy="260228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73593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685800" y="76200"/>
            <a:ext cx="7024744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  <a:ea typeface="MS PGothic" charset="0"/>
              </a:rPr>
              <a:t>This K-Map Formula is?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341437"/>
            <a:ext cx="8991600" cy="4525963"/>
          </a:xfrm>
        </p:spPr>
        <p:txBody>
          <a:bodyPr/>
          <a:lstStyle/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/>
              <a:t>X = ~B~C~D + A~B~D </a:t>
            </a:r>
            <a:endParaRPr lang="en-US" sz="1600" b="1" dirty="0" smtClean="0"/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/>
              <a:t>X = ~B~C~D + A~B~D </a:t>
            </a:r>
            <a:r>
              <a:rPr lang="en-US" sz="1600" b="1" dirty="0" smtClean="0"/>
              <a:t>+ A~BC~D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 smtClean="0"/>
              <a:t>X = ~B~C~D</a:t>
            </a:r>
            <a:endParaRPr lang="en-US" sz="1600" dirty="0"/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/>
              <a:t>X = ~A~B~C~D + A~B~C~D + A~BC~</a:t>
            </a:r>
            <a:r>
              <a:rPr lang="en-US" sz="1600" b="1" dirty="0" smtClean="0"/>
              <a:t>D</a:t>
            </a:r>
            <a:endParaRPr lang="en-US" sz="1600" dirty="0"/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b="1" dirty="0" smtClean="0"/>
              <a:t>X </a:t>
            </a:r>
            <a:r>
              <a:rPr lang="en-US" sz="1600" b="1" dirty="0"/>
              <a:t>= </a:t>
            </a:r>
            <a:r>
              <a:rPr lang="en-US" sz="1600" b="1" dirty="0" smtClean="0"/>
              <a:t>A</a:t>
            </a:r>
            <a:r>
              <a:rPr lang="en-US" sz="1600" b="1" dirty="0"/>
              <a:t>~</a:t>
            </a:r>
            <a:r>
              <a:rPr lang="en-US" sz="1600" b="1" dirty="0" smtClean="0"/>
              <a:t>BC</a:t>
            </a:r>
            <a:r>
              <a:rPr lang="en-US" sz="1600" b="1" dirty="0"/>
              <a:t>~D + ~AB~CD + AB~C~D + A~B~</a:t>
            </a:r>
            <a:r>
              <a:rPr lang="en-US" sz="1600" b="1" dirty="0" smtClean="0"/>
              <a:t>CD</a:t>
            </a:r>
            <a:endParaRPr lang="en-US" sz="1600" dirty="0"/>
          </a:p>
        </p:txBody>
      </p:sp>
      <p:pic>
        <p:nvPicPr>
          <p:cNvPr id="4" name="TPChart" descr="418CB08CAB8F490FB92DED9B0CBC7CF9Chart20160406180356621.png" hidden="1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1600200"/>
            <a:ext cx="4572000" cy="5143500"/>
          </a:xfrm>
          <a:prstGeom prst="rect">
            <a:avLst/>
          </a:prstGeom>
        </p:spPr>
      </p:pic>
      <p:graphicFrame>
        <p:nvGraphicFramePr>
          <p:cNvPr id="19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284691"/>
              </p:ext>
            </p:extLst>
          </p:nvPr>
        </p:nvGraphicFramePr>
        <p:xfrm>
          <a:off x="2971800" y="36068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0" name="Group 75"/>
          <p:cNvGrpSpPr>
            <a:grpSpLocks/>
          </p:cNvGrpSpPr>
          <p:nvPr/>
        </p:nvGrpSpPr>
        <p:grpSpPr bwMode="auto">
          <a:xfrm>
            <a:off x="3124200" y="3340100"/>
            <a:ext cx="1901825" cy="304800"/>
            <a:chOff x="528" y="288"/>
            <a:chExt cx="1198" cy="192"/>
          </a:xfrm>
        </p:grpSpPr>
        <p:sp>
          <p:nvSpPr>
            <p:cNvPr id="21" name="Text Box 76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22" name="Line 77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78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79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80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81"/>
          <p:cNvGrpSpPr>
            <a:grpSpLocks/>
          </p:cNvGrpSpPr>
          <p:nvPr/>
        </p:nvGrpSpPr>
        <p:grpSpPr bwMode="auto">
          <a:xfrm>
            <a:off x="2479675" y="3632200"/>
            <a:ext cx="441325" cy="2051050"/>
            <a:chOff x="122" y="592"/>
            <a:chExt cx="278" cy="1292"/>
          </a:xfrm>
        </p:grpSpPr>
        <p:sp>
          <p:nvSpPr>
            <p:cNvPr id="27" name="Text Box 82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28" name="Line 83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84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85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86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" name="TPGrid" descr="pp_response.png" hidden="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81000"/>
            <a:ext cx="927100" cy="1168400"/>
          </a:xfrm>
          <a:prstGeom prst="rect">
            <a:avLst/>
          </a:prstGeom>
        </p:spPr>
      </p:pic>
      <p:sp>
        <p:nvSpPr>
          <p:cNvPr id="32" name="Frame 31"/>
          <p:cNvSpPr/>
          <p:nvPr/>
        </p:nvSpPr>
        <p:spPr>
          <a:xfrm>
            <a:off x="609600" y="1410011"/>
            <a:ext cx="457200" cy="260228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8899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52400"/>
            <a:ext cx="7024744" cy="1143000"/>
          </a:xfrm>
        </p:spPr>
        <p:txBody>
          <a:bodyPr/>
          <a:lstStyle/>
          <a:p>
            <a:r>
              <a:rPr lang="en-US" dirty="0" smtClean="0"/>
              <a:t>K-Map Examples</a:t>
            </a:r>
          </a:p>
        </p:txBody>
      </p:sp>
      <p:graphicFrame>
        <p:nvGraphicFramePr>
          <p:cNvPr id="188211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472779"/>
              </p:ext>
            </p:extLst>
          </p:nvPr>
        </p:nvGraphicFramePr>
        <p:xfrm>
          <a:off x="962025" y="12700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4846" name="Group 31"/>
          <p:cNvGrpSpPr>
            <a:grpSpLocks/>
          </p:cNvGrpSpPr>
          <p:nvPr/>
        </p:nvGrpSpPr>
        <p:grpSpPr bwMode="auto">
          <a:xfrm>
            <a:off x="1101725" y="990600"/>
            <a:ext cx="1901825" cy="304800"/>
            <a:chOff x="528" y="288"/>
            <a:chExt cx="1198" cy="192"/>
          </a:xfrm>
        </p:grpSpPr>
        <p:sp>
          <p:nvSpPr>
            <p:cNvPr id="34902" name="Text Box 32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34903" name="Line 33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Line 34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Line 35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Line 36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47" name="Group 37"/>
          <p:cNvGrpSpPr>
            <a:grpSpLocks/>
          </p:cNvGrpSpPr>
          <p:nvPr/>
        </p:nvGrpSpPr>
        <p:grpSpPr bwMode="auto">
          <a:xfrm>
            <a:off x="469900" y="1295400"/>
            <a:ext cx="441325" cy="2051050"/>
            <a:chOff x="122" y="592"/>
            <a:chExt cx="278" cy="1292"/>
          </a:xfrm>
        </p:grpSpPr>
        <p:sp>
          <p:nvSpPr>
            <p:cNvPr id="34897" name="Text Box 38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34898" name="Line 39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Line 40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Line 41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Line 42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52" name="Text Box 47"/>
          <p:cNvSpPr txBox="1">
            <a:spLocks noChangeArrowheads="1"/>
          </p:cNvSpPr>
          <p:nvPr/>
        </p:nvSpPr>
        <p:spPr bwMode="auto">
          <a:xfrm>
            <a:off x="3276600" y="1595438"/>
            <a:ext cx="57263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dirty="0"/>
              <a:t>This K-Map has </a:t>
            </a:r>
            <a:r>
              <a:rPr lang="en-US" sz="1400" dirty="0" smtClean="0"/>
              <a:t>no loops</a:t>
            </a:r>
          </a:p>
          <a:p>
            <a:pPr eaLnBrk="1" hangingPunct="1"/>
            <a:r>
              <a:rPr lang="en-US" sz="1400" dirty="0" smtClean="0"/>
              <a:t>The </a:t>
            </a:r>
            <a:r>
              <a:rPr lang="en-US" sz="1400" dirty="0"/>
              <a:t>equation is </a:t>
            </a:r>
            <a:r>
              <a:rPr lang="en-US" sz="1400" b="1" dirty="0"/>
              <a:t>X = ~</a:t>
            </a:r>
            <a:r>
              <a:rPr lang="en-US" sz="1400" b="1" dirty="0" smtClean="0"/>
              <a:t>A~B~C~D </a:t>
            </a:r>
            <a:r>
              <a:rPr lang="en-US" sz="1400" b="1" dirty="0"/>
              <a:t>+ ~</a:t>
            </a:r>
            <a:r>
              <a:rPr lang="en-US" sz="1400" b="1" dirty="0" smtClean="0"/>
              <a:t>AB</a:t>
            </a:r>
            <a:r>
              <a:rPr lang="en-US" sz="1400" b="1" dirty="0"/>
              <a:t>~</a:t>
            </a:r>
            <a:r>
              <a:rPr lang="en-US" sz="1400" b="1" dirty="0" smtClean="0"/>
              <a:t>CD </a:t>
            </a:r>
            <a:r>
              <a:rPr lang="en-US" sz="1400" b="1" dirty="0"/>
              <a:t>+ </a:t>
            </a:r>
            <a:r>
              <a:rPr lang="en-US" sz="1400" b="1" dirty="0" smtClean="0"/>
              <a:t>AB</a:t>
            </a:r>
            <a:r>
              <a:rPr lang="en-US" sz="1400" b="1" dirty="0"/>
              <a:t>~C~</a:t>
            </a:r>
            <a:r>
              <a:rPr lang="en-US" sz="1400" b="1" dirty="0" smtClean="0"/>
              <a:t>D + A</a:t>
            </a:r>
            <a:r>
              <a:rPr lang="en-US" sz="1400" b="1" dirty="0"/>
              <a:t>~B~</a:t>
            </a:r>
            <a:r>
              <a:rPr lang="en-US" sz="1400" b="1" dirty="0" smtClean="0"/>
              <a:t>CD</a:t>
            </a:r>
            <a:endParaRPr lang="en-US" sz="1400" dirty="0"/>
          </a:p>
        </p:txBody>
      </p:sp>
      <p:graphicFrame>
        <p:nvGraphicFramePr>
          <p:cNvPr id="1882160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466358"/>
              </p:ext>
            </p:extLst>
          </p:nvPr>
        </p:nvGraphicFramePr>
        <p:xfrm>
          <a:off x="949325" y="40767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4880" name="Group 75"/>
          <p:cNvGrpSpPr>
            <a:grpSpLocks/>
          </p:cNvGrpSpPr>
          <p:nvPr/>
        </p:nvGrpSpPr>
        <p:grpSpPr bwMode="auto">
          <a:xfrm>
            <a:off x="1101725" y="3810000"/>
            <a:ext cx="1901825" cy="304800"/>
            <a:chOff x="528" y="288"/>
            <a:chExt cx="1198" cy="192"/>
          </a:xfrm>
        </p:grpSpPr>
        <p:sp>
          <p:nvSpPr>
            <p:cNvPr id="34892" name="Text Box 76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34893" name="Line 77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4" name="Line 78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5" name="Line 79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Line 80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81" name="Group 81"/>
          <p:cNvGrpSpPr>
            <a:grpSpLocks/>
          </p:cNvGrpSpPr>
          <p:nvPr/>
        </p:nvGrpSpPr>
        <p:grpSpPr bwMode="auto">
          <a:xfrm>
            <a:off x="457200" y="4102100"/>
            <a:ext cx="441325" cy="2051050"/>
            <a:chOff x="122" y="592"/>
            <a:chExt cx="278" cy="1292"/>
          </a:xfrm>
        </p:grpSpPr>
        <p:sp>
          <p:nvSpPr>
            <p:cNvPr id="34887" name="Text Box 82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34888" name="Line 83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9" name="Line 84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0" name="Line 85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1" name="Line 86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82" name="Text Box 87"/>
          <p:cNvSpPr txBox="1">
            <a:spLocks noChangeArrowheads="1"/>
          </p:cNvSpPr>
          <p:nvPr/>
        </p:nvSpPr>
        <p:spPr bwMode="auto">
          <a:xfrm>
            <a:off x="3048000" y="4114800"/>
            <a:ext cx="61722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marL="285750" indent="-285750" eaLnBrk="1" hangingPunct="1">
              <a:buFont typeface="Arial"/>
              <a:buChar char="•"/>
            </a:pPr>
            <a:r>
              <a:rPr lang="en-US" sz="1400" dirty="0" smtClean="0">
                <a:solidFill>
                  <a:srgbClr val="FF0000"/>
                </a:solidFill>
              </a:rPr>
              <a:t>Q:</a:t>
            </a:r>
            <a:r>
              <a:rPr lang="en-US" sz="1400" dirty="0" smtClean="0"/>
              <a:t> Remembering adjacent corners, this Map has how many loops? </a:t>
            </a:r>
            <a:endParaRPr lang="en-US" sz="1400" dirty="0"/>
          </a:p>
          <a:p>
            <a:pPr marL="285750" indent="-285750" eaLnBrk="1" hangingPunct="1">
              <a:buFont typeface="Arial"/>
              <a:buChar char="•"/>
            </a:pPr>
            <a:r>
              <a:rPr lang="en-US" sz="1400" dirty="0"/>
              <a:t> </a:t>
            </a:r>
            <a:r>
              <a:rPr lang="en-US" sz="1400" dirty="0" smtClean="0"/>
              <a:t>The naïve equation is </a:t>
            </a:r>
            <a:r>
              <a:rPr lang="en-US" sz="1400" b="1" dirty="0" smtClean="0"/>
              <a:t>X = ~A~B~C~D + A~B~C~D + A~BC~D</a:t>
            </a:r>
          </a:p>
          <a:p>
            <a:pPr marL="1028700" lvl="1" eaLnBrk="1" hangingPunct="1">
              <a:buFont typeface="Arial"/>
              <a:buChar char="•"/>
            </a:pPr>
            <a:r>
              <a:rPr lang="en-US" sz="1400" b="1" dirty="0" smtClean="0">
                <a:solidFill>
                  <a:srgbClr val="FF0000"/>
                </a:solidFill>
              </a:rPr>
              <a:t>Q:</a:t>
            </a:r>
            <a:r>
              <a:rPr lang="en-US" sz="1400" b="1" dirty="0" smtClean="0"/>
              <a:t> Can you reduce this via Boolean Algebra?</a:t>
            </a:r>
            <a:endParaRPr lang="en-US" sz="1400" b="1" dirty="0"/>
          </a:p>
          <a:p>
            <a:pPr marL="285750" indent="-285750" eaLnBrk="1" hangingPunct="1">
              <a:buFont typeface="Arial"/>
              <a:buChar char="•"/>
            </a:pPr>
            <a:r>
              <a:rPr lang="en-US" sz="1400" dirty="0"/>
              <a:t>The </a:t>
            </a:r>
            <a:r>
              <a:rPr lang="en-US" sz="1400" dirty="0" smtClean="0"/>
              <a:t>K-Map derived equation </a:t>
            </a:r>
            <a:r>
              <a:rPr lang="en-US" sz="1400" dirty="0"/>
              <a:t>is </a:t>
            </a:r>
            <a:r>
              <a:rPr lang="en-US" sz="1400" b="1" dirty="0"/>
              <a:t>X = </a:t>
            </a:r>
            <a:r>
              <a:rPr lang="en-US" sz="1400" b="1" dirty="0" smtClean="0"/>
              <a:t>~B~C~D + A~B~D  </a:t>
            </a:r>
            <a:endParaRPr lang="en-US" sz="1400" dirty="0"/>
          </a:p>
        </p:txBody>
      </p:sp>
      <p:sp>
        <p:nvSpPr>
          <p:cNvPr id="34883" name="Freeform 88"/>
          <p:cNvSpPr>
            <a:spLocks/>
          </p:cNvSpPr>
          <p:nvPr/>
        </p:nvSpPr>
        <p:spPr bwMode="auto">
          <a:xfrm>
            <a:off x="2676525" y="4140200"/>
            <a:ext cx="533400" cy="4191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4" name="Freeform 89"/>
          <p:cNvSpPr>
            <a:spLocks/>
          </p:cNvSpPr>
          <p:nvPr/>
        </p:nvSpPr>
        <p:spPr bwMode="auto">
          <a:xfrm flipH="1">
            <a:off x="847725" y="4152900"/>
            <a:ext cx="533400" cy="4191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6" name="Freeform 91"/>
          <p:cNvSpPr>
            <a:spLocks/>
          </p:cNvSpPr>
          <p:nvPr/>
        </p:nvSpPr>
        <p:spPr bwMode="auto">
          <a:xfrm rot="16200000" flipH="1">
            <a:off x="2517775" y="5848350"/>
            <a:ext cx="533400" cy="4191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ln>
            <a:headEnd type="triangle" w="med" len="med"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91"/>
          <p:cNvSpPr>
            <a:spLocks/>
          </p:cNvSpPr>
          <p:nvPr/>
        </p:nvSpPr>
        <p:spPr bwMode="auto">
          <a:xfrm rot="5400000" flipH="1">
            <a:off x="2555875" y="4019550"/>
            <a:ext cx="533400" cy="4191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ln>
            <a:headEnd type="triangle" w="med" len="med"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43345" y="5105400"/>
            <a:ext cx="8243455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Boolean </a:t>
            </a:r>
            <a:r>
              <a:rPr lang="en-US" b="1" dirty="0" smtClean="0">
                <a:solidFill>
                  <a:schemeClr val="accent1"/>
                </a:solidFill>
              </a:rPr>
              <a:t>Algebra Proof</a:t>
            </a:r>
            <a:r>
              <a:rPr lang="mr-IN" b="1" dirty="0" smtClean="0">
                <a:solidFill>
                  <a:schemeClr val="accent1"/>
                </a:solidFill>
              </a:rPr>
              <a:t>…</a:t>
            </a:r>
            <a:r>
              <a:rPr lang="en-US" b="1" dirty="0" smtClean="0">
                <a:solidFill>
                  <a:srgbClr val="FF0000"/>
                </a:solidFill>
              </a:rPr>
              <a:t>Preferences?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X= ~A~B~C~D + A~B~C~D + A~BC~D</a:t>
            </a:r>
          </a:p>
          <a:p>
            <a:r>
              <a:rPr lang="en-US" b="1" dirty="0"/>
              <a:t>X = ~A~B~C~D + ( A~B~C~D + A~B~C~D ) + A~BC~D   /</a:t>
            </a:r>
            <a:r>
              <a:rPr lang="en-US" b="1" dirty="0" smtClean="0"/>
              <a:t>/X </a:t>
            </a:r>
            <a:r>
              <a:rPr lang="en-US" b="1" dirty="0"/>
              <a:t>+ X = X </a:t>
            </a:r>
            <a:endParaRPr lang="en-US" b="1" dirty="0" smtClean="0"/>
          </a:p>
          <a:p>
            <a:r>
              <a:rPr lang="en-US" b="1" dirty="0" smtClean="0"/>
              <a:t>X</a:t>
            </a:r>
            <a:r>
              <a:rPr lang="en-US" b="1" dirty="0"/>
              <a:t>= (~A + A)~B~C~D + (C + ~C)A~B~D 		      //by distributive</a:t>
            </a:r>
          </a:p>
          <a:p>
            <a:r>
              <a:rPr lang="en-US" b="1" dirty="0"/>
              <a:t>X = ~B~C~D + A~B~D			    </a:t>
            </a:r>
            <a:r>
              <a:rPr lang="en-US" b="1" dirty="0" smtClean="0"/>
              <a:t>               </a:t>
            </a:r>
            <a:r>
              <a:rPr lang="en-US" b="1" dirty="0"/>
              <a:t>//by </a:t>
            </a:r>
            <a:r>
              <a:rPr lang="en-US" b="1" dirty="0" smtClean="0"/>
              <a:t>inverse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171267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52400"/>
            <a:ext cx="7024744" cy="1143000"/>
          </a:xfrm>
        </p:spPr>
        <p:txBody>
          <a:bodyPr/>
          <a:lstStyle/>
          <a:p>
            <a:r>
              <a:rPr lang="en-US" dirty="0" smtClean="0"/>
              <a:t>K-Map Examples</a:t>
            </a:r>
          </a:p>
        </p:txBody>
      </p:sp>
      <p:graphicFrame>
        <p:nvGraphicFramePr>
          <p:cNvPr id="188211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496230"/>
              </p:ext>
            </p:extLst>
          </p:nvPr>
        </p:nvGraphicFramePr>
        <p:xfrm>
          <a:off x="977900" y="12700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4846" name="Group 31"/>
          <p:cNvGrpSpPr>
            <a:grpSpLocks/>
          </p:cNvGrpSpPr>
          <p:nvPr/>
        </p:nvGrpSpPr>
        <p:grpSpPr bwMode="auto">
          <a:xfrm>
            <a:off x="1117600" y="990600"/>
            <a:ext cx="1901825" cy="304800"/>
            <a:chOff x="528" y="288"/>
            <a:chExt cx="1198" cy="192"/>
          </a:xfrm>
        </p:grpSpPr>
        <p:sp>
          <p:nvSpPr>
            <p:cNvPr id="34902" name="Text Box 32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34903" name="Line 33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Line 34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Line 35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Line 36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47" name="Group 37"/>
          <p:cNvGrpSpPr>
            <a:grpSpLocks/>
          </p:cNvGrpSpPr>
          <p:nvPr/>
        </p:nvGrpSpPr>
        <p:grpSpPr bwMode="auto">
          <a:xfrm>
            <a:off x="485775" y="1295400"/>
            <a:ext cx="441325" cy="2051050"/>
            <a:chOff x="122" y="592"/>
            <a:chExt cx="278" cy="1292"/>
          </a:xfrm>
        </p:grpSpPr>
        <p:sp>
          <p:nvSpPr>
            <p:cNvPr id="34897" name="Text Box 38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34898" name="Line 39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Line 40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Line 41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Line 42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48" name="Rectangle 43"/>
          <p:cNvSpPr>
            <a:spLocks noChangeArrowheads="1"/>
          </p:cNvSpPr>
          <p:nvPr/>
        </p:nvSpPr>
        <p:spPr bwMode="auto">
          <a:xfrm>
            <a:off x="1054100" y="1320800"/>
            <a:ext cx="927100" cy="9652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34849" name="Rectangle 44"/>
          <p:cNvSpPr>
            <a:spLocks noChangeArrowheads="1"/>
          </p:cNvSpPr>
          <p:nvPr/>
        </p:nvSpPr>
        <p:spPr bwMode="auto">
          <a:xfrm>
            <a:off x="2133600" y="2463800"/>
            <a:ext cx="355600" cy="9271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34850" name="Freeform 45"/>
          <p:cNvSpPr>
            <a:spLocks/>
          </p:cNvSpPr>
          <p:nvPr/>
        </p:nvSpPr>
        <p:spPr bwMode="auto">
          <a:xfrm>
            <a:off x="952500" y="1397000"/>
            <a:ext cx="508000" cy="825500"/>
          </a:xfrm>
          <a:custGeom>
            <a:avLst/>
            <a:gdLst>
              <a:gd name="T0" fmla="*/ 2147483647 w 584"/>
              <a:gd name="T1" fmla="*/ 0 h 520"/>
              <a:gd name="T2" fmla="*/ 2147483647 w 584"/>
              <a:gd name="T3" fmla="*/ 0 h 520"/>
              <a:gd name="T4" fmla="*/ 2147483647 w 584"/>
              <a:gd name="T5" fmla="*/ 2147483647 h 520"/>
              <a:gd name="T6" fmla="*/ 0 w 584"/>
              <a:gd name="T7" fmla="*/ 2147483647 h 520"/>
              <a:gd name="T8" fmla="*/ 0 60000 65536"/>
              <a:gd name="T9" fmla="*/ 0 60000 65536"/>
              <a:gd name="T10" fmla="*/ 0 60000 65536"/>
              <a:gd name="T11" fmla="*/ 0 60000 65536"/>
              <a:gd name="T12" fmla="*/ 0 w 584"/>
              <a:gd name="T13" fmla="*/ 0 h 520"/>
              <a:gd name="T14" fmla="*/ 584 w 584"/>
              <a:gd name="T15" fmla="*/ 520 h 5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4" h="520">
                <a:moveTo>
                  <a:pt x="8" y="0"/>
                </a:moveTo>
                <a:lnTo>
                  <a:pt x="584" y="0"/>
                </a:lnTo>
                <a:lnTo>
                  <a:pt x="584" y="520"/>
                </a:lnTo>
                <a:lnTo>
                  <a:pt x="0" y="520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1" name="Freeform 46"/>
          <p:cNvSpPr>
            <a:spLocks/>
          </p:cNvSpPr>
          <p:nvPr/>
        </p:nvSpPr>
        <p:spPr bwMode="auto">
          <a:xfrm>
            <a:off x="2578100" y="1358900"/>
            <a:ext cx="533400" cy="8890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2" name="Text Box 47"/>
          <p:cNvSpPr txBox="1">
            <a:spLocks noChangeArrowheads="1"/>
          </p:cNvSpPr>
          <p:nvPr/>
        </p:nvSpPr>
        <p:spPr bwMode="auto">
          <a:xfrm>
            <a:off x="3527425" y="1595438"/>
            <a:ext cx="3845436" cy="738664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dirty="0"/>
              <a:t>This K-Map has three loops. Notice that </a:t>
            </a:r>
            <a:r>
              <a:rPr lang="en-US" sz="1400" dirty="0" smtClean="0"/>
              <a:t>grey</a:t>
            </a:r>
            <a:endParaRPr lang="en-US" sz="1400" dirty="0"/>
          </a:p>
          <a:p>
            <a:pPr eaLnBrk="1" hangingPunct="1"/>
            <a:r>
              <a:rPr lang="en-US" sz="1400" dirty="0"/>
              <a:t> loop is actually adjacent. </a:t>
            </a:r>
          </a:p>
          <a:p>
            <a:pPr eaLnBrk="1" hangingPunct="1"/>
            <a:r>
              <a:rPr lang="en-US" sz="1400" dirty="0"/>
              <a:t>The equation is </a:t>
            </a:r>
            <a:r>
              <a:rPr lang="en-US" sz="1400" b="1" dirty="0"/>
              <a:t>X = ~A*~C  + ~B*~C + A*B*C</a:t>
            </a:r>
            <a:endParaRPr lang="en-US" sz="1400" dirty="0"/>
          </a:p>
        </p:txBody>
      </p:sp>
      <p:graphicFrame>
        <p:nvGraphicFramePr>
          <p:cNvPr id="1882160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534386"/>
              </p:ext>
            </p:extLst>
          </p:nvPr>
        </p:nvGraphicFramePr>
        <p:xfrm>
          <a:off x="965200" y="40767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4880" name="Group 75"/>
          <p:cNvGrpSpPr>
            <a:grpSpLocks/>
          </p:cNvGrpSpPr>
          <p:nvPr/>
        </p:nvGrpSpPr>
        <p:grpSpPr bwMode="auto">
          <a:xfrm>
            <a:off x="1117600" y="3810000"/>
            <a:ext cx="1901825" cy="304800"/>
            <a:chOff x="528" y="288"/>
            <a:chExt cx="1198" cy="192"/>
          </a:xfrm>
        </p:grpSpPr>
        <p:sp>
          <p:nvSpPr>
            <p:cNvPr id="34892" name="Text Box 76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34893" name="Line 77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4" name="Line 78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5" name="Line 79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Line 80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81" name="Group 81"/>
          <p:cNvGrpSpPr>
            <a:grpSpLocks/>
          </p:cNvGrpSpPr>
          <p:nvPr/>
        </p:nvGrpSpPr>
        <p:grpSpPr bwMode="auto">
          <a:xfrm>
            <a:off x="473075" y="4102100"/>
            <a:ext cx="441325" cy="2051050"/>
            <a:chOff x="122" y="592"/>
            <a:chExt cx="278" cy="1292"/>
          </a:xfrm>
        </p:grpSpPr>
        <p:sp>
          <p:nvSpPr>
            <p:cNvPr id="34887" name="Text Box 82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34888" name="Line 83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9" name="Line 84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0" name="Line 85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1" name="Line 86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82" name="Text Box 87"/>
          <p:cNvSpPr txBox="1">
            <a:spLocks noChangeArrowheads="1"/>
          </p:cNvSpPr>
          <p:nvPr/>
        </p:nvSpPr>
        <p:spPr bwMode="auto">
          <a:xfrm>
            <a:off x="3200399" y="4114800"/>
            <a:ext cx="5410201" cy="1600438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dirty="0"/>
              <a:t>This K-Map </a:t>
            </a:r>
            <a:r>
              <a:rPr lang="en-US" sz="1400" i="1" dirty="0"/>
              <a:t>first</a:t>
            </a:r>
            <a:r>
              <a:rPr lang="en-US" sz="1400" dirty="0"/>
              <a:t> appears to have two loops. The diagonal are not adjacent, </a:t>
            </a:r>
            <a:r>
              <a:rPr lang="en-US" sz="1400" dirty="0" smtClean="0"/>
              <a:t>but </a:t>
            </a:r>
            <a:r>
              <a:rPr lang="en-US" sz="1400" dirty="0"/>
              <a:t>by first rotating the map around the vertical axis and then around </a:t>
            </a:r>
            <a:r>
              <a:rPr lang="en-US" sz="1400" dirty="0" smtClean="0"/>
              <a:t>the horizontal </a:t>
            </a:r>
            <a:r>
              <a:rPr lang="en-US" sz="1400" dirty="0"/>
              <a:t>axis, we can cluster the four terms into a single 2 by 2 loop</a:t>
            </a:r>
            <a:r>
              <a:rPr lang="en-US" sz="1400" dirty="0" smtClean="0"/>
              <a:t>.</a:t>
            </a:r>
          </a:p>
          <a:p>
            <a:pPr eaLnBrk="1" hangingPunct="1"/>
            <a:endParaRPr lang="en-US" sz="1400" dirty="0"/>
          </a:p>
          <a:p>
            <a:pPr eaLnBrk="1" hangingPunct="1"/>
            <a:r>
              <a:rPr lang="en-US" sz="1400" dirty="0" smtClean="0"/>
              <a:t>Treat K-Maps like </a:t>
            </a:r>
            <a:r>
              <a:rPr lang="en-US" sz="1400" b="1" i="1" dirty="0" err="1" smtClean="0"/>
              <a:t>rollable</a:t>
            </a:r>
            <a:r>
              <a:rPr lang="en-US" sz="1400" b="1" i="1" dirty="0" smtClean="0"/>
              <a:t> scrolls</a:t>
            </a:r>
            <a:r>
              <a:rPr lang="en-US" sz="1400" dirty="0" smtClean="0"/>
              <a:t>, in both the x and y. </a:t>
            </a:r>
            <a:endParaRPr lang="en-US" sz="1400" dirty="0"/>
          </a:p>
          <a:p>
            <a:pPr eaLnBrk="1" hangingPunct="1"/>
            <a:r>
              <a:rPr lang="en-US" sz="1400" dirty="0"/>
              <a:t> </a:t>
            </a:r>
          </a:p>
        </p:txBody>
      </p:sp>
      <p:sp>
        <p:nvSpPr>
          <p:cNvPr id="34883" name="Freeform 88"/>
          <p:cNvSpPr>
            <a:spLocks/>
          </p:cNvSpPr>
          <p:nvPr/>
        </p:nvSpPr>
        <p:spPr bwMode="auto">
          <a:xfrm>
            <a:off x="2692400" y="4140200"/>
            <a:ext cx="533400" cy="4191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4" name="Freeform 89"/>
          <p:cNvSpPr>
            <a:spLocks/>
          </p:cNvSpPr>
          <p:nvPr/>
        </p:nvSpPr>
        <p:spPr bwMode="auto">
          <a:xfrm flipH="1">
            <a:off x="863600" y="4152900"/>
            <a:ext cx="533400" cy="4191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5" name="Freeform 90"/>
          <p:cNvSpPr>
            <a:spLocks/>
          </p:cNvSpPr>
          <p:nvPr/>
        </p:nvSpPr>
        <p:spPr bwMode="auto">
          <a:xfrm>
            <a:off x="2679700" y="5765800"/>
            <a:ext cx="533400" cy="4191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noFill/>
          <a:ln w="28575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6" name="Freeform 91"/>
          <p:cNvSpPr>
            <a:spLocks/>
          </p:cNvSpPr>
          <p:nvPr/>
        </p:nvSpPr>
        <p:spPr bwMode="auto">
          <a:xfrm flipH="1">
            <a:off x="901700" y="5778500"/>
            <a:ext cx="533400" cy="4191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noFill/>
          <a:ln w="28575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603500" y="3886200"/>
            <a:ext cx="685800" cy="6858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1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762000" y="3886200"/>
            <a:ext cx="685800" cy="6858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1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762000" y="5740400"/>
            <a:ext cx="685800" cy="6858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1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603500" y="5753100"/>
            <a:ext cx="685800" cy="6858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1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81400" y="5867400"/>
            <a:ext cx="36576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equation is </a:t>
            </a:r>
            <a:r>
              <a:rPr lang="en-US" b="1" dirty="0"/>
              <a:t>X = ~B*~</a:t>
            </a:r>
            <a:r>
              <a:rPr lang="en-US" b="1" dirty="0" smtClean="0"/>
              <a:t>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914400"/>
            <a:ext cx="4191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are the loops?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is the reduced equation?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941286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4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0" dur="2000"/>
                                        <p:tgtEl>
                                          <p:spTgt spid="348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3" dur="2000"/>
                                        <p:tgtEl>
                                          <p:spTgt spid="34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6" dur="2000"/>
                                        <p:tgtEl>
                                          <p:spTgt spid="348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9" dur="2000"/>
                                        <p:tgtEl>
                                          <p:spTgt spid="34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8" grpId="0" animBg="1"/>
      <p:bldP spid="34849" grpId="0" animBg="1"/>
      <p:bldP spid="34850" grpId="0" animBg="1"/>
      <p:bldP spid="34851" grpId="0" animBg="1"/>
      <p:bldP spid="34852" grpId="0" animBg="1"/>
      <p:bldP spid="34882" grpId="0" animBg="1"/>
      <p:bldP spid="34883" grpId="0" animBg="1"/>
      <p:bldP spid="34883" grpId="1" animBg="1"/>
      <p:bldP spid="34884" grpId="0" animBg="1"/>
      <p:bldP spid="34884" grpId="1" animBg="1"/>
      <p:bldP spid="34885" grpId="0" animBg="1"/>
      <p:bldP spid="34885" grpId="1" animBg="1"/>
      <p:bldP spid="34886" grpId="0" animBg="1"/>
      <p:bldP spid="34886" grpId="1" animBg="1"/>
      <p:bldP spid="2" grpId="0" animBg="1"/>
      <p:bldP spid="40" grpId="0" animBg="1"/>
      <p:bldP spid="41" grpId="0" animBg="1"/>
      <p:bldP spid="42" grpId="0" animBg="1"/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228600"/>
            <a:ext cx="7024744" cy="1143000"/>
          </a:xfrm>
        </p:spPr>
        <p:txBody>
          <a:bodyPr/>
          <a:lstStyle/>
          <a:p>
            <a:r>
              <a:rPr lang="en-US" dirty="0" smtClean="0"/>
              <a:t>More Examples</a:t>
            </a:r>
          </a:p>
        </p:txBody>
      </p:sp>
      <p:graphicFrame>
        <p:nvGraphicFramePr>
          <p:cNvPr id="188314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152212"/>
              </p:ext>
            </p:extLst>
          </p:nvPr>
        </p:nvGraphicFramePr>
        <p:xfrm>
          <a:off x="920750" y="13589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5870" name="Group 31"/>
          <p:cNvGrpSpPr>
            <a:grpSpLocks/>
          </p:cNvGrpSpPr>
          <p:nvPr/>
        </p:nvGrpSpPr>
        <p:grpSpPr bwMode="auto">
          <a:xfrm>
            <a:off x="1073150" y="1117600"/>
            <a:ext cx="1901825" cy="304800"/>
            <a:chOff x="528" y="288"/>
            <a:chExt cx="1198" cy="192"/>
          </a:xfrm>
        </p:grpSpPr>
        <p:sp>
          <p:nvSpPr>
            <p:cNvPr id="35922" name="Text Box 32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35923" name="Line 33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4" name="Line 34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5" name="Line 35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6" name="Line 36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71" name="Group 37"/>
          <p:cNvGrpSpPr>
            <a:grpSpLocks/>
          </p:cNvGrpSpPr>
          <p:nvPr/>
        </p:nvGrpSpPr>
        <p:grpSpPr bwMode="auto">
          <a:xfrm>
            <a:off x="428625" y="1384300"/>
            <a:ext cx="441325" cy="2051050"/>
            <a:chOff x="122" y="592"/>
            <a:chExt cx="278" cy="1292"/>
          </a:xfrm>
        </p:grpSpPr>
        <p:sp>
          <p:nvSpPr>
            <p:cNvPr id="35917" name="Text Box 38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35918" name="Line 39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19" name="Line 40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0" name="Line 41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1" name="Line 42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72" name="Rectangle 43"/>
          <p:cNvSpPr>
            <a:spLocks noChangeArrowheads="1"/>
          </p:cNvSpPr>
          <p:nvPr/>
        </p:nvSpPr>
        <p:spPr bwMode="auto">
          <a:xfrm>
            <a:off x="996950" y="1409700"/>
            <a:ext cx="1943100" cy="9652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graphicFrame>
        <p:nvGraphicFramePr>
          <p:cNvPr id="1883180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309944"/>
              </p:ext>
            </p:extLst>
          </p:nvPr>
        </p:nvGraphicFramePr>
        <p:xfrm>
          <a:off x="946150" y="4191000"/>
          <a:ext cx="2133600" cy="21844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  <a:gridCol w="5334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5900" name="Group 71"/>
          <p:cNvGrpSpPr>
            <a:grpSpLocks/>
          </p:cNvGrpSpPr>
          <p:nvPr/>
        </p:nvGrpSpPr>
        <p:grpSpPr bwMode="auto">
          <a:xfrm>
            <a:off x="1098550" y="3924300"/>
            <a:ext cx="1901825" cy="304800"/>
            <a:chOff x="528" y="288"/>
            <a:chExt cx="1198" cy="192"/>
          </a:xfrm>
        </p:grpSpPr>
        <p:sp>
          <p:nvSpPr>
            <p:cNvPr id="35912" name="Text Box 72"/>
            <p:cNvSpPr txBox="1">
              <a:spLocks noChangeArrowheads="1"/>
            </p:cNvSpPr>
            <p:nvPr/>
          </p:nvSpPr>
          <p:spPr bwMode="auto">
            <a:xfrm>
              <a:off x="528" y="288"/>
              <a:ext cx="11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AB    AB     AB     AB</a:t>
              </a:r>
            </a:p>
          </p:txBody>
        </p:sp>
        <p:sp>
          <p:nvSpPr>
            <p:cNvPr id="35913" name="Line 73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14" name="Line 74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15" name="Line 75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16" name="Line 76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901" name="Group 77"/>
          <p:cNvGrpSpPr>
            <a:grpSpLocks/>
          </p:cNvGrpSpPr>
          <p:nvPr/>
        </p:nvGrpSpPr>
        <p:grpSpPr bwMode="auto">
          <a:xfrm>
            <a:off x="454025" y="4216400"/>
            <a:ext cx="441325" cy="2051050"/>
            <a:chOff x="122" y="592"/>
            <a:chExt cx="278" cy="1292"/>
          </a:xfrm>
        </p:grpSpPr>
        <p:sp>
          <p:nvSpPr>
            <p:cNvPr id="35907" name="Text Box 78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endParaRPr lang="en-US" sz="1400" b="1"/>
            </a:p>
            <a:p>
              <a:pPr eaLnBrk="1" hangingPunct="1">
                <a:lnSpc>
                  <a:spcPct val="60000"/>
                </a:lnSpc>
              </a:pPr>
              <a:r>
                <a:rPr lang="en-US" sz="1400" b="1"/>
                <a:t>CD</a:t>
              </a:r>
            </a:p>
          </p:txBody>
        </p:sp>
        <p:sp>
          <p:nvSpPr>
            <p:cNvPr id="35908" name="Line 79"/>
            <p:cNvSpPr>
              <a:spLocks noChangeShapeType="1"/>
            </p:cNvSpPr>
            <p:nvPr/>
          </p:nvSpPr>
          <p:spPr bwMode="auto">
            <a:xfrm>
              <a:off x="152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09" name="Line 80"/>
            <p:cNvSpPr>
              <a:spLocks noChangeShapeType="1"/>
            </p:cNvSpPr>
            <p:nvPr/>
          </p:nvSpPr>
          <p:spPr bwMode="auto">
            <a:xfrm>
              <a:off x="268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10" name="Line 81"/>
            <p:cNvSpPr>
              <a:spLocks noChangeShapeType="1"/>
            </p:cNvSpPr>
            <p:nvPr/>
          </p:nvSpPr>
          <p:spPr bwMode="auto">
            <a:xfrm>
              <a:off x="168" y="10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11" name="Line 82"/>
            <p:cNvSpPr>
              <a:spLocks noChangeShapeType="1"/>
            </p:cNvSpPr>
            <p:nvPr/>
          </p:nvSpPr>
          <p:spPr bwMode="auto">
            <a:xfrm>
              <a:off x="264" y="172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902" name="Freeform 83"/>
          <p:cNvSpPr>
            <a:spLocks/>
          </p:cNvSpPr>
          <p:nvPr/>
        </p:nvSpPr>
        <p:spPr bwMode="auto">
          <a:xfrm rot="5400000">
            <a:off x="1727200" y="5213350"/>
            <a:ext cx="546100" cy="19685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noFill/>
          <a:ln w="28575">
            <a:solidFill>
              <a:srgbClr val="0066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3" name="Freeform 84"/>
          <p:cNvSpPr>
            <a:spLocks/>
          </p:cNvSpPr>
          <p:nvPr/>
        </p:nvSpPr>
        <p:spPr bwMode="auto">
          <a:xfrm rot="5400000" flipH="1">
            <a:off x="1689100" y="3346450"/>
            <a:ext cx="635000" cy="1981200"/>
          </a:xfrm>
          <a:custGeom>
            <a:avLst/>
            <a:gdLst>
              <a:gd name="T0" fmla="*/ 2147483647 w 336"/>
              <a:gd name="T1" fmla="*/ 0 h 560"/>
              <a:gd name="T2" fmla="*/ 0 w 336"/>
              <a:gd name="T3" fmla="*/ 0 h 560"/>
              <a:gd name="T4" fmla="*/ 0 w 336"/>
              <a:gd name="T5" fmla="*/ 2147483647 h 560"/>
              <a:gd name="T6" fmla="*/ 2147483647 w 336"/>
              <a:gd name="T7" fmla="*/ 2147483647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560"/>
              <a:gd name="T14" fmla="*/ 336 w 336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560">
                <a:moveTo>
                  <a:pt x="328" y="0"/>
                </a:moveTo>
                <a:lnTo>
                  <a:pt x="0" y="0"/>
                </a:lnTo>
                <a:lnTo>
                  <a:pt x="0" y="560"/>
                </a:lnTo>
                <a:lnTo>
                  <a:pt x="336" y="560"/>
                </a:lnTo>
              </a:path>
            </a:pathLst>
          </a:custGeom>
          <a:noFill/>
          <a:ln w="28575">
            <a:solidFill>
              <a:srgbClr val="0066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4" name="Text Box 85"/>
          <p:cNvSpPr txBox="1">
            <a:spLocks noChangeArrowheads="1"/>
          </p:cNvSpPr>
          <p:nvPr/>
        </p:nvSpPr>
        <p:spPr bwMode="auto">
          <a:xfrm>
            <a:off x="3368675" y="1430338"/>
            <a:ext cx="33650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dirty="0"/>
              <a:t>This K-Map can </a:t>
            </a:r>
            <a:r>
              <a:rPr lang="en-US" sz="1400" dirty="0" smtClean="0"/>
              <a:t>be simplified</a:t>
            </a:r>
            <a:r>
              <a:rPr lang="en-US" sz="1400" dirty="0"/>
              <a:t> </a:t>
            </a:r>
            <a:r>
              <a:rPr lang="en-US" sz="1400" dirty="0" smtClean="0"/>
              <a:t>beautifully.</a:t>
            </a:r>
            <a:endParaRPr lang="en-US" sz="1400" dirty="0"/>
          </a:p>
          <a:p>
            <a:pPr eaLnBrk="1" hangingPunct="1"/>
            <a:endParaRPr lang="en-US" sz="1400" dirty="0"/>
          </a:p>
          <a:p>
            <a:pPr eaLnBrk="1" hangingPunct="1"/>
            <a:r>
              <a:rPr lang="en-US" sz="1400" b="1" dirty="0"/>
              <a:t>X = ~C</a:t>
            </a:r>
            <a:endParaRPr lang="en-US" sz="1400" dirty="0"/>
          </a:p>
        </p:txBody>
      </p:sp>
      <p:sp>
        <p:nvSpPr>
          <p:cNvPr id="35905" name="Rectangle 86"/>
          <p:cNvSpPr>
            <a:spLocks noChangeArrowheads="1"/>
          </p:cNvSpPr>
          <p:nvPr/>
        </p:nvSpPr>
        <p:spPr bwMode="auto">
          <a:xfrm>
            <a:off x="1530350" y="4241800"/>
            <a:ext cx="393700" cy="20828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35906" name="Text Box 87"/>
          <p:cNvSpPr txBox="1">
            <a:spLocks noChangeArrowheads="1"/>
          </p:cNvSpPr>
          <p:nvPr/>
        </p:nvSpPr>
        <p:spPr bwMode="auto">
          <a:xfrm>
            <a:off x="3444875" y="4313238"/>
            <a:ext cx="5318125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dirty="0"/>
              <a:t>Here we have two loops. The blue loop wraps around the top and bottom edges, enclosing 8 terms, and the red loop encloses one column of 4 terms. The equation is </a:t>
            </a:r>
          </a:p>
          <a:p>
            <a:pPr eaLnBrk="1" hangingPunct="1"/>
            <a:endParaRPr lang="en-US" sz="1400" dirty="0"/>
          </a:p>
          <a:p>
            <a:pPr eaLnBrk="1" hangingPunct="1"/>
            <a:r>
              <a:rPr lang="en-US" sz="1400" b="1" dirty="0"/>
              <a:t>X =  ~D + ~A*B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41913786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382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</a:t>
            </a:r>
            <a:r>
              <a:rPr lang="en-US" b="1" i="1" dirty="0" smtClean="0"/>
              <a:t>Boss Battle </a:t>
            </a:r>
            <a:r>
              <a:rPr lang="en-US" dirty="0" smtClean="0"/>
              <a:t>Appears:</a:t>
            </a:r>
            <a:br>
              <a:rPr lang="en-US" dirty="0" smtClean="0"/>
            </a:br>
            <a:r>
              <a:rPr lang="en-US" dirty="0" err="1" smtClean="0"/>
              <a:t>KMaps</a:t>
            </a:r>
            <a:r>
              <a:rPr lang="en-US" dirty="0" smtClean="0"/>
              <a:t> or Boolean Equation?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23652"/>
            <a:ext cx="8153400" cy="3508977"/>
          </a:xfrm>
        </p:spPr>
        <p:txBody>
          <a:bodyPr/>
          <a:lstStyle/>
          <a:p>
            <a:r>
              <a:rPr lang="en-US" dirty="0" smtClean="0"/>
              <a:t>f(A,B,C,D) = AB!C!D + A!BC!D +ABC!D+!A!B!CD + </a:t>
            </a:r>
          </a:p>
          <a:p>
            <a:pPr marL="68580" indent="0">
              <a:buNone/>
            </a:pPr>
            <a:r>
              <a:rPr lang="en-US" dirty="0" smtClean="0"/>
              <a:t>!AB!CD + !A!BCD + !ABCD</a:t>
            </a:r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r>
              <a:rPr lang="en-US" dirty="0" smtClean="0"/>
              <a:t>K-Maps make this shorter</a:t>
            </a:r>
            <a:r>
              <a:rPr lang="mr-IN" dirty="0" smtClean="0"/>
              <a:t>…</a:t>
            </a:r>
            <a:endParaRPr lang="en-US" dirty="0" smtClean="0"/>
          </a:p>
          <a:p>
            <a:pPr marL="68580" indent="0">
              <a:buNone/>
            </a:pPr>
            <a:r>
              <a:rPr lang="en-US" dirty="0" smtClean="0"/>
              <a:t>Lets do both for completeness!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3108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382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</a:t>
            </a:r>
            <a:r>
              <a:rPr lang="en-US" b="1" i="1" dirty="0" smtClean="0"/>
              <a:t>Boss Battle </a:t>
            </a:r>
            <a:r>
              <a:rPr lang="en-US" dirty="0" smtClean="0"/>
              <a:t>Appears</a:t>
            </a:r>
            <a:br>
              <a:rPr lang="en-US" dirty="0" smtClean="0"/>
            </a:br>
            <a:r>
              <a:rPr lang="en-US" dirty="0" err="1" smtClean="0"/>
              <a:t>KMaps</a:t>
            </a:r>
            <a:r>
              <a:rPr lang="en-US" dirty="0" smtClean="0"/>
              <a:t> or Boolean Equation?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23652"/>
            <a:ext cx="8153400" cy="3508977"/>
          </a:xfrm>
        </p:spPr>
        <p:txBody>
          <a:bodyPr/>
          <a:lstStyle/>
          <a:p>
            <a:r>
              <a:rPr lang="en-US" dirty="0" smtClean="0"/>
              <a:t>f(A,B,C,D) = AB!C!D + A!BC!D +ABC!D+!A!B!CD + </a:t>
            </a:r>
          </a:p>
          <a:p>
            <a:pPr marL="68580" indent="0">
              <a:buNone/>
            </a:pPr>
            <a:r>
              <a:rPr lang="en-US" dirty="0" smtClean="0"/>
              <a:t>!AB!CD + !A!BCD + !ABCD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r>
              <a:rPr lang="en-US" dirty="0" smtClean="0"/>
              <a:t>Follow the color groupings for the Boolean Reductions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743200" y="2133600"/>
            <a:ext cx="1066800" cy="6454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</a:p>
          <a:p>
            <a:pPr algn="ctr"/>
            <a:endParaRPr lang="en-US" b="1" dirty="0"/>
          </a:p>
        </p:txBody>
      </p:sp>
      <p:sp>
        <p:nvSpPr>
          <p:cNvPr id="5" name="Rounded Rectangle 4"/>
          <p:cNvSpPr/>
          <p:nvPr/>
        </p:nvSpPr>
        <p:spPr>
          <a:xfrm>
            <a:off x="5507182" y="2057400"/>
            <a:ext cx="969818" cy="70995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</a:t>
            </a:r>
          </a:p>
          <a:p>
            <a:pPr algn="ctr"/>
            <a:endParaRPr lang="en-US" b="1" dirty="0"/>
          </a:p>
        </p:txBody>
      </p:sp>
      <p:sp>
        <p:nvSpPr>
          <p:cNvPr id="6" name="Rounded Rectangle 5"/>
          <p:cNvSpPr/>
          <p:nvPr/>
        </p:nvSpPr>
        <p:spPr>
          <a:xfrm>
            <a:off x="4191000" y="2125168"/>
            <a:ext cx="1066800" cy="64541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25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25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</a:t>
            </a:r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8" name="Rounded Rectangle 7"/>
          <p:cNvSpPr/>
          <p:nvPr/>
        </p:nvSpPr>
        <p:spPr>
          <a:xfrm>
            <a:off x="632460" y="2795245"/>
            <a:ext cx="1173480" cy="709955"/>
          </a:xfrm>
          <a:prstGeom prst="roundRect">
            <a:avLst/>
          </a:prstGeom>
          <a:gradFill flip="none" rotWithShape="1">
            <a:gsLst>
              <a:gs pos="0">
                <a:schemeClr val="dk1">
                  <a:tint val="20000"/>
                  <a:satMod val="180000"/>
                  <a:lumMod val="98000"/>
                  <a:alpha val="21000"/>
                </a:schemeClr>
              </a:gs>
              <a:gs pos="40000">
                <a:schemeClr val="dk1">
                  <a:tint val="30000"/>
                  <a:satMod val="260000"/>
                  <a:lumMod val="84000"/>
                  <a:alpha val="21000"/>
                </a:schemeClr>
              </a:gs>
              <a:gs pos="100000">
                <a:schemeClr val="dk1">
                  <a:tint val="100000"/>
                  <a:satMod val="110000"/>
                  <a:lumMod val="100000"/>
                  <a:alpha val="21000"/>
                </a:schemeClr>
              </a:gs>
            </a:gsLst>
            <a:lin ang="504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5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2057400" y="2819400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6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3429000" y="2819400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7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6633972" y="2127123"/>
            <a:ext cx="1290828" cy="5867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20000"/>
                  <a:satMod val="180000"/>
                  <a:lumMod val="98000"/>
                  <a:alpha val="31000"/>
                </a:schemeClr>
              </a:gs>
              <a:gs pos="40000">
                <a:schemeClr val="accent2">
                  <a:tint val="30000"/>
                  <a:satMod val="260000"/>
                  <a:lumMod val="84000"/>
                  <a:alpha val="31000"/>
                </a:schemeClr>
              </a:gs>
              <a:gs pos="100000">
                <a:schemeClr val="accent2">
                  <a:tint val="100000"/>
                  <a:satMod val="110000"/>
                  <a:lumMod val="100000"/>
                  <a:alpha val="31000"/>
                </a:schemeClr>
              </a:gs>
            </a:gsLst>
            <a:lin ang="504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</a:t>
            </a:r>
            <a:endParaRPr lang="en-US" b="1" dirty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92226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82731" y="4038600"/>
            <a:ext cx="3140269" cy="2100823"/>
          </a:xfrm>
          <a:prstGeom prst="roundRect">
            <a:avLst/>
          </a:prstGeom>
          <a:gradFill flip="none" rotWithShape="1">
            <a:gsLst>
              <a:gs pos="0">
                <a:schemeClr val="dk1">
                  <a:alpha val="26000"/>
                </a:schemeClr>
              </a:gs>
              <a:gs pos="100000">
                <a:schemeClr val="dk1">
                  <a:shade val="75000"/>
                  <a:satMod val="120000"/>
                  <a:lumMod val="90000"/>
                  <a:alpha val="26000"/>
                </a:schemeClr>
              </a:gs>
            </a:gsLst>
            <a:lin ang="5400000" scaled="0"/>
            <a:tileRect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r>
              <a:rPr lang="en-US" b="1" dirty="0" smtClean="0"/>
              <a:t>Q</a:t>
            </a:r>
            <a:endParaRPr lang="en-US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444500" y="4191000"/>
            <a:ext cx="2514600" cy="192702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17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17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858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</a:t>
            </a:r>
            <a:r>
              <a:rPr lang="en-US" b="1" i="1" dirty="0" smtClean="0"/>
              <a:t>Boss Battle </a:t>
            </a:r>
            <a:r>
              <a:rPr lang="en-US" dirty="0" smtClean="0"/>
              <a:t>Appears:</a:t>
            </a:r>
            <a:br>
              <a:rPr lang="en-US" dirty="0" smtClean="0"/>
            </a:br>
            <a:r>
              <a:rPr lang="en-US" dirty="0" err="1" smtClean="0"/>
              <a:t>KMaps</a:t>
            </a:r>
            <a:r>
              <a:rPr lang="en-US" dirty="0" smtClean="0"/>
              <a:t> or Boolean Equation?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2223"/>
            <a:ext cx="8839200" cy="3508977"/>
          </a:xfrm>
        </p:spPr>
        <p:txBody>
          <a:bodyPr>
            <a:normAutofit/>
          </a:bodyPr>
          <a:lstStyle/>
          <a:p>
            <a:r>
              <a:rPr lang="en-US" dirty="0" smtClean="0"/>
              <a:t>f(A,B,C,D) = AB!C!D + A!BC!D +ABC!D+!A!B!CD + </a:t>
            </a:r>
          </a:p>
          <a:p>
            <a:pPr marL="68580" indent="0">
              <a:buNone/>
            </a:pPr>
            <a:r>
              <a:rPr lang="en-US" dirty="0" smtClean="0"/>
              <a:t>!AB!CD + !A!BCD + !ABCD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r>
              <a:rPr lang="en-US" dirty="0" smtClean="0"/>
              <a:t>AB!C!D + ABC!D        !A!B!CD + !AB!CD     !A!BCD+!ABCD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514600" y="2057400"/>
            <a:ext cx="1066800" cy="6454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</a:p>
          <a:p>
            <a:pPr algn="ctr"/>
            <a:endParaRPr lang="en-US" b="1" dirty="0"/>
          </a:p>
        </p:txBody>
      </p:sp>
      <p:sp>
        <p:nvSpPr>
          <p:cNvPr id="5" name="Rounded Rectangle 4"/>
          <p:cNvSpPr/>
          <p:nvPr/>
        </p:nvSpPr>
        <p:spPr>
          <a:xfrm>
            <a:off x="5278582" y="2051570"/>
            <a:ext cx="969818" cy="6454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</a:t>
            </a:r>
          </a:p>
          <a:p>
            <a:pPr algn="ctr"/>
            <a:endParaRPr lang="en-US" b="1" dirty="0"/>
          </a:p>
        </p:txBody>
      </p:sp>
      <p:sp>
        <p:nvSpPr>
          <p:cNvPr id="6" name="Rounded Rectangle 5"/>
          <p:cNvSpPr/>
          <p:nvPr/>
        </p:nvSpPr>
        <p:spPr>
          <a:xfrm>
            <a:off x="3886200" y="2048968"/>
            <a:ext cx="1143000" cy="64541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25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25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</a:t>
            </a:r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7" name="Rounded Rectangle 6"/>
          <p:cNvSpPr/>
          <p:nvPr/>
        </p:nvSpPr>
        <p:spPr>
          <a:xfrm>
            <a:off x="6405372" y="2101723"/>
            <a:ext cx="1290828" cy="5867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20000"/>
                  <a:satMod val="180000"/>
                  <a:lumMod val="98000"/>
                  <a:alpha val="31000"/>
                </a:schemeClr>
              </a:gs>
              <a:gs pos="40000">
                <a:schemeClr val="accent2">
                  <a:tint val="30000"/>
                  <a:satMod val="260000"/>
                  <a:lumMod val="84000"/>
                  <a:alpha val="31000"/>
                </a:schemeClr>
              </a:gs>
              <a:gs pos="100000">
                <a:schemeClr val="accent2">
                  <a:tint val="100000"/>
                  <a:satMod val="110000"/>
                  <a:lumMod val="100000"/>
                  <a:alpha val="31000"/>
                </a:schemeClr>
              </a:gs>
            </a:gsLst>
            <a:lin ang="504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</a:t>
            </a:r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8" name="Rounded Rectangle 7"/>
          <p:cNvSpPr/>
          <p:nvPr/>
        </p:nvSpPr>
        <p:spPr>
          <a:xfrm>
            <a:off x="403860" y="2719045"/>
            <a:ext cx="1173480" cy="709955"/>
          </a:xfrm>
          <a:prstGeom prst="roundRect">
            <a:avLst/>
          </a:prstGeom>
          <a:gradFill flip="none" rotWithShape="1">
            <a:gsLst>
              <a:gs pos="0">
                <a:schemeClr val="dk1">
                  <a:tint val="20000"/>
                  <a:satMod val="180000"/>
                  <a:lumMod val="98000"/>
                  <a:alpha val="21000"/>
                </a:schemeClr>
              </a:gs>
              <a:gs pos="40000">
                <a:schemeClr val="dk1">
                  <a:tint val="30000"/>
                  <a:satMod val="260000"/>
                  <a:lumMod val="84000"/>
                  <a:alpha val="21000"/>
                </a:schemeClr>
              </a:gs>
              <a:gs pos="100000">
                <a:schemeClr val="dk1">
                  <a:tint val="100000"/>
                  <a:satMod val="110000"/>
                  <a:lumMod val="100000"/>
                  <a:alpha val="21000"/>
                </a:schemeClr>
              </a:gs>
            </a:gsLst>
            <a:lin ang="504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5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1828800" y="2743200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6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3200400" y="2743200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7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009900" y="4003548"/>
            <a:ext cx="0" cy="239725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273800" y="4003548"/>
            <a:ext cx="0" cy="239725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24600" y="3991356"/>
            <a:ext cx="2590800" cy="210464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20000"/>
                  <a:satMod val="180000"/>
                  <a:lumMod val="98000"/>
                  <a:alpha val="29000"/>
                </a:schemeClr>
              </a:gs>
              <a:gs pos="40000">
                <a:schemeClr val="accent5">
                  <a:tint val="30000"/>
                  <a:satMod val="260000"/>
                  <a:lumMod val="84000"/>
                  <a:alpha val="29000"/>
                </a:schemeClr>
              </a:gs>
              <a:gs pos="100000">
                <a:schemeClr val="accent5">
                  <a:tint val="100000"/>
                  <a:satMod val="110000"/>
                  <a:lumMod val="100000"/>
                  <a:alpha val="29000"/>
                </a:schemeClr>
              </a:gs>
            </a:gsLst>
            <a:lin ang="504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r>
              <a:rPr lang="en-US" b="1" dirty="0" smtClean="0"/>
              <a:t>R</a:t>
            </a:r>
            <a:endParaRPr lang="en-US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457200" y="4307586"/>
            <a:ext cx="1066800" cy="6454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</a:p>
          <a:p>
            <a:pPr algn="ctr"/>
            <a:endParaRPr lang="en-US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1862282" y="4288015"/>
            <a:ext cx="969818" cy="6454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</a:t>
            </a:r>
          </a:p>
          <a:p>
            <a:pPr algn="ctr"/>
            <a:endParaRPr lang="en-US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6400800" y="4471645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6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21" name="Rounded Rectangle 20"/>
          <p:cNvSpPr/>
          <p:nvPr/>
        </p:nvSpPr>
        <p:spPr>
          <a:xfrm>
            <a:off x="7696200" y="4471645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7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22" name="Rounded Rectangle 21"/>
          <p:cNvSpPr/>
          <p:nvPr/>
        </p:nvSpPr>
        <p:spPr>
          <a:xfrm>
            <a:off x="4953000" y="4495800"/>
            <a:ext cx="1173480" cy="709955"/>
          </a:xfrm>
          <a:prstGeom prst="roundRect">
            <a:avLst/>
          </a:prstGeom>
          <a:gradFill flip="none" rotWithShape="1">
            <a:gsLst>
              <a:gs pos="0">
                <a:schemeClr val="dk1">
                  <a:tint val="20000"/>
                  <a:satMod val="180000"/>
                  <a:lumMod val="98000"/>
                  <a:alpha val="21000"/>
                </a:schemeClr>
              </a:gs>
              <a:gs pos="40000">
                <a:schemeClr val="dk1">
                  <a:tint val="30000"/>
                  <a:satMod val="260000"/>
                  <a:lumMod val="84000"/>
                  <a:alpha val="21000"/>
                </a:schemeClr>
              </a:gs>
              <a:gs pos="100000">
                <a:schemeClr val="dk1">
                  <a:tint val="100000"/>
                  <a:satMod val="110000"/>
                  <a:lumMod val="100000"/>
                  <a:alpha val="21000"/>
                </a:schemeClr>
              </a:gs>
            </a:gsLst>
            <a:lin ang="504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5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23" name="Rounded Rectangle 22"/>
          <p:cNvSpPr/>
          <p:nvPr/>
        </p:nvSpPr>
        <p:spPr>
          <a:xfrm>
            <a:off x="3429000" y="4340860"/>
            <a:ext cx="1290828" cy="5867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20000"/>
                  <a:satMod val="180000"/>
                  <a:lumMod val="98000"/>
                  <a:alpha val="31000"/>
                </a:schemeClr>
              </a:gs>
              <a:gs pos="40000">
                <a:schemeClr val="accent2">
                  <a:tint val="30000"/>
                  <a:satMod val="260000"/>
                  <a:lumMod val="84000"/>
                  <a:alpha val="31000"/>
                </a:schemeClr>
              </a:gs>
              <a:gs pos="100000">
                <a:schemeClr val="accent2">
                  <a:tint val="100000"/>
                  <a:satMod val="110000"/>
                  <a:lumMod val="100000"/>
                  <a:alpha val="31000"/>
                </a:schemeClr>
              </a:gs>
            </a:gsLst>
            <a:lin ang="504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</a:t>
            </a:r>
            <a:endParaRPr lang="en-US" b="1" dirty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267605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858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</a:t>
            </a:r>
            <a:r>
              <a:rPr lang="en-US" b="1" i="1" dirty="0" smtClean="0"/>
              <a:t>Boss Battle </a:t>
            </a:r>
            <a:r>
              <a:rPr lang="en-US" dirty="0" smtClean="0"/>
              <a:t>Appears:</a:t>
            </a:r>
            <a:br>
              <a:rPr lang="en-US" dirty="0" smtClean="0"/>
            </a:br>
            <a:r>
              <a:rPr lang="en-US" dirty="0" err="1" smtClean="0"/>
              <a:t>KMaps</a:t>
            </a:r>
            <a:r>
              <a:rPr lang="en-US" dirty="0" smtClean="0"/>
              <a:t> or Boolean Equation?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323652"/>
            <a:ext cx="8839200" cy="350897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f(A,B,C,D) = AB!C!D + A!BC!D +ABC!D+!A!B!CD + </a:t>
            </a:r>
          </a:p>
          <a:p>
            <a:pPr marL="68580" indent="0">
              <a:buNone/>
            </a:pPr>
            <a:r>
              <a:rPr lang="en-US" dirty="0" smtClean="0"/>
              <a:t>!AB!CD + !A!BCD + !ABCD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r>
              <a:rPr lang="en-US" dirty="0" smtClean="0"/>
              <a:t>AB!C!D + ABC!D        !A!B!CD + !AB!CD     !A!BCD+!ABCD</a:t>
            </a:r>
          </a:p>
          <a:p>
            <a:pPr marL="68580" indent="0">
              <a:buNone/>
            </a:pPr>
            <a:r>
              <a:rPr lang="en-US" dirty="0" smtClean="0"/>
              <a:t>AB!D(C + !C)</a:t>
            </a:r>
            <a:r>
              <a:rPr lang="en-US" dirty="0"/>
              <a:t>	</a:t>
            </a:r>
            <a:r>
              <a:rPr lang="en-US" dirty="0" smtClean="0"/>
              <a:t>    !A!CD(!B+B)	       !ACD(!B+B)</a:t>
            </a:r>
          </a:p>
          <a:p>
            <a:pPr marL="68580" indent="0">
              <a:buNone/>
            </a:pPr>
            <a:r>
              <a:rPr lang="en-US" dirty="0" smtClean="0"/>
              <a:t>AB!D			    !A!CD		       !ACD</a:t>
            </a:r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514600" y="2057400"/>
            <a:ext cx="1066800" cy="6454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</a:p>
          <a:p>
            <a:pPr algn="ctr"/>
            <a:endParaRPr lang="en-US" b="1" dirty="0"/>
          </a:p>
        </p:txBody>
      </p:sp>
      <p:sp>
        <p:nvSpPr>
          <p:cNvPr id="8" name="Rounded Rectangle 7"/>
          <p:cNvSpPr/>
          <p:nvPr/>
        </p:nvSpPr>
        <p:spPr>
          <a:xfrm>
            <a:off x="403860" y="2719045"/>
            <a:ext cx="1173480" cy="709955"/>
          </a:xfrm>
          <a:prstGeom prst="roundRect">
            <a:avLst/>
          </a:prstGeom>
          <a:gradFill flip="none" rotWithShape="1">
            <a:gsLst>
              <a:gs pos="0">
                <a:schemeClr val="dk1">
                  <a:tint val="20000"/>
                  <a:satMod val="180000"/>
                  <a:lumMod val="98000"/>
                  <a:alpha val="21000"/>
                </a:schemeClr>
              </a:gs>
              <a:gs pos="40000">
                <a:schemeClr val="dk1">
                  <a:tint val="30000"/>
                  <a:satMod val="260000"/>
                  <a:lumMod val="84000"/>
                  <a:alpha val="21000"/>
                </a:schemeClr>
              </a:gs>
              <a:gs pos="100000">
                <a:schemeClr val="dk1">
                  <a:tint val="100000"/>
                  <a:satMod val="110000"/>
                  <a:lumMod val="100000"/>
                  <a:alpha val="21000"/>
                </a:schemeClr>
              </a:gs>
            </a:gsLst>
            <a:lin ang="504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5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1828800" y="2743200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6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3200400" y="2743200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7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048000" y="4038600"/>
            <a:ext cx="0" cy="19812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248400" y="4038600"/>
            <a:ext cx="0" cy="19812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09800" y="6096000"/>
            <a:ext cx="47244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Next, group </a:t>
            </a:r>
            <a:r>
              <a:rPr lang="en-US" b="1" dirty="0" smtClean="0"/>
              <a:t>Q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0000"/>
                </a:solidFill>
              </a:rPr>
              <a:t>R</a:t>
            </a:r>
            <a:r>
              <a:rPr lang="en-US" dirty="0" smtClean="0"/>
              <a:t>, and group </a:t>
            </a:r>
            <a:r>
              <a:rPr lang="en-US" b="1" dirty="0" smtClean="0">
                <a:solidFill>
                  <a:srgbClr val="3366FF"/>
                </a:solidFill>
              </a:rPr>
              <a:t>P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38900" y="5181600"/>
            <a:ext cx="914400" cy="457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20000"/>
                  <a:satMod val="180000"/>
                  <a:lumMod val="98000"/>
                  <a:alpha val="32000"/>
                </a:schemeClr>
              </a:gs>
              <a:gs pos="40000">
                <a:schemeClr val="accent5">
                  <a:tint val="30000"/>
                  <a:satMod val="260000"/>
                  <a:lumMod val="84000"/>
                  <a:alpha val="32000"/>
                </a:schemeClr>
              </a:gs>
              <a:gs pos="100000">
                <a:schemeClr val="accent5">
                  <a:tint val="100000"/>
                  <a:satMod val="110000"/>
                  <a:lumMod val="100000"/>
                  <a:alpha val="32000"/>
                </a:schemeClr>
              </a:gs>
            </a:gsLst>
            <a:lin ang="504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5181600"/>
            <a:ext cx="990600" cy="457200"/>
          </a:xfrm>
          <a:prstGeom prst="roundRect">
            <a:avLst/>
          </a:prstGeom>
          <a:gradFill flip="none" rotWithShape="1">
            <a:gsLst>
              <a:gs pos="0">
                <a:schemeClr val="dk1">
                  <a:alpha val="26000"/>
                </a:schemeClr>
              </a:gs>
              <a:gs pos="100000">
                <a:schemeClr val="dk1">
                  <a:shade val="75000"/>
                  <a:satMod val="120000"/>
                  <a:lumMod val="90000"/>
                  <a:alpha val="26000"/>
                </a:schemeClr>
              </a:gs>
            </a:gsLst>
            <a:lin ang="5400000" scaled="0"/>
            <a:tileRect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b="1" dirty="0"/>
              <a:t>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81600"/>
            <a:ext cx="762000" cy="457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4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b="1" dirty="0" smtClean="0">
                <a:solidFill>
                  <a:srgbClr val="0000FF"/>
                </a:solidFill>
              </a:rPr>
              <a:t>P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78582" y="2051570"/>
            <a:ext cx="969818" cy="6454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</a:t>
            </a:r>
          </a:p>
          <a:p>
            <a:pPr algn="ctr"/>
            <a:endParaRPr lang="en-US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3886200" y="2048968"/>
            <a:ext cx="1143000" cy="64541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25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25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</a:t>
            </a:r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6405372" y="2101723"/>
            <a:ext cx="1290828" cy="5867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20000"/>
                  <a:satMod val="180000"/>
                  <a:lumMod val="98000"/>
                  <a:alpha val="31000"/>
                </a:schemeClr>
              </a:gs>
              <a:gs pos="40000">
                <a:schemeClr val="accent2">
                  <a:tint val="30000"/>
                  <a:satMod val="260000"/>
                  <a:lumMod val="84000"/>
                  <a:alpha val="31000"/>
                </a:schemeClr>
              </a:gs>
              <a:gs pos="100000">
                <a:schemeClr val="accent2">
                  <a:tint val="100000"/>
                  <a:satMod val="110000"/>
                  <a:lumMod val="100000"/>
                  <a:alpha val="31000"/>
                </a:schemeClr>
              </a:gs>
            </a:gsLst>
            <a:lin ang="504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</a:t>
            </a:r>
            <a:endParaRPr lang="en-US" b="1" dirty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36501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096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</a:t>
            </a:r>
            <a:r>
              <a:rPr lang="en-US" b="1" i="1" dirty="0" smtClean="0"/>
              <a:t>Boss Battle </a:t>
            </a:r>
            <a:r>
              <a:rPr lang="en-US" dirty="0" smtClean="0"/>
              <a:t>Appears</a:t>
            </a:r>
            <a:br>
              <a:rPr lang="en-US" dirty="0" smtClean="0"/>
            </a:br>
            <a:r>
              <a:rPr lang="en-US" dirty="0" err="1" smtClean="0"/>
              <a:t>KMaps</a:t>
            </a:r>
            <a:r>
              <a:rPr lang="en-US" dirty="0" smtClean="0"/>
              <a:t> or Boolean Equation?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323652"/>
            <a:ext cx="8839200" cy="350897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f(A,B,C,D) = AB!C!D + A!BC!D +ABC!D+!A!B!CD + </a:t>
            </a:r>
          </a:p>
          <a:p>
            <a:pPr marL="68580" indent="0">
              <a:buNone/>
            </a:pPr>
            <a:r>
              <a:rPr lang="en-US" dirty="0" smtClean="0"/>
              <a:t>!AB!CD + !A!BCD + !ABCD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r>
              <a:rPr lang="en-US" dirty="0" smtClean="0"/>
              <a:t>AB!C!D + ABC!D        !A!B!CD + !AB!CD     !A!BCD+!ABCD</a:t>
            </a:r>
          </a:p>
          <a:p>
            <a:pPr marL="68580" indent="0">
              <a:buNone/>
            </a:pPr>
            <a:r>
              <a:rPr lang="en-US" dirty="0" smtClean="0"/>
              <a:t>AB!D(C + !C)</a:t>
            </a:r>
            <a:r>
              <a:rPr lang="en-US" dirty="0"/>
              <a:t>	</a:t>
            </a:r>
            <a:r>
              <a:rPr lang="en-US" dirty="0" smtClean="0"/>
              <a:t>    !A!CD(!B+B)	       !ACD(!B+B)</a:t>
            </a:r>
          </a:p>
          <a:p>
            <a:pPr marL="68580" indent="0">
              <a:buNone/>
            </a:pPr>
            <a:r>
              <a:rPr lang="en-US" dirty="0" smtClean="0"/>
              <a:t>AB!D	+ A!BC!D	    !A!CD		       !ACD</a:t>
            </a:r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514600" y="2057400"/>
            <a:ext cx="1066800" cy="6454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</a:p>
          <a:p>
            <a:pPr algn="ctr"/>
            <a:endParaRPr lang="en-US" b="1" dirty="0"/>
          </a:p>
        </p:txBody>
      </p:sp>
      <p:sp>
        <p:nvSpPr>
          <p:cNvPr id="8" name="Rounded Rectangle 7"/>
          <p:cNvSpPr/>
          <p:nvPr/>
        </p:nvSpPr>
        <p:spPr>
          <a:xfrm>
            <a:off x="403860" y="2719045"/>
            <a:ext cx="1173480" cy="709955"/>
          </a:xfrm>
          <a:prstGeom prst="roundRect">
            <a:avLst/>
          </a:prstGeom>
          <a:gradFill flip="none" rotWithShape="1">
            <a:gsLst>
              <a:gs pos="0">
                <a:schemeClr val="dk1">
                  <a:tint val="20000"/>
                  <a:satMod val="180000"/>
                  <a:lumMod val="98000"/>
                  <a:alpha val="21000"/>
                </a:schemeClr>
              </a:gs>
              <a:gs pos="40000">
                <a:schemeClr val="dk1">
                  <a:tint val="30000"/>
                  <a:satMod val="260000"/>
                  <a:lumMod val="84000"/>
                  <a:alpha val="21000"/>
                </a:schemeClr>
              </a:gs>
              <a:gs pos="100000">
                <a:schemeClr val="dk1">
                  <a:tint val="100000"/>
                  <a:satMod val="110000"/>
                  <a:lumMod val="100000"/>
                  <a:alpha val="21000"/>
                </a:schemeClr>
              </a:gs>
            </a:gsLst>
            <a:lin ang="504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5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1828800" y="2743200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6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3200400" y="2743200"/>
            <a:ext cx="1173480" cy="709955"/>
          </a:xfrm>
          <a:prstGeom prst="roundRect">
            <a:avLst/>
          </a:prstGeom>
          <a:solidFill>
            <a:schemeClr val="accent5">
              <a:alpha val="3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r>
              <a:rPr lang="en-US" b="1" dirty="0"/>
              <a:t>7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048000" y="4038600"/>
            <a:ext cx="0" cy="19812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248400" y="4074770"/>
            <a:ext cx="0" cy="84022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38900" y="5181600"/>
            <a:ext cx="914400" cy="457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20000"/>
                  <a:satMod val="180000"/>
                  <a:lumMod val="98000"/>
                  <a:alpha val="32000"/>
                </a:schemeClr>
              </a:gs>
              <a:gs pos="40000">
                <a:schemeClr val="accent5">
                  <a:tint val="30000"/>
                  <a:satMod val="260000"/>
                  <a:lumMod val="84000"/>
                  <a:alpha val="32000"/>
                </a:schemeClr>
              </a:gs>
              <a:gs pos="100000">
                <a:schemeClr val="accent5">
                  <a:tint val="100000"/>
                  <a:satMod val="110000"/>
                  <a:lumMod val="100000"/>
                  <a:alpha val="32000"/>
                </a:schemeClr>
              </a:gs>
            </a:gsLst>
            <a:lin ang="504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5181600"/>
            <a:ext cx="990600" cy="457200"/>
          </a:xfrm>
          <a:prstGeom prst="roundRect">
            <a:avLst/>
          </a:prstGeom>
          <a:gradFill flip="none" rotWithShape="1">
            <a:gsLst>
              <a:gs pos="0">
                <a:schemeClr val="dk1">
                  <a:alpha val="26000"/>
                </a:schemeClr>
              </a:gs>
              <a:gs pos="100000">
                <a:schemeClr val="dk1">
                  <a:shade val="75000"/>
                  <a:satMod val="120000"/>
                  <a:lumMod val="90000"/>
                  <a:alpha val="26000"/>
                </a:schemeClr>
              </a:gs>
            </a:gsLst>
            <a:lin ang="5400000" scaled="0"/>
            <a:tileRect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b="1" dirty="0"/>
              <a:t>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81600"/>
            <a:ext cx="762000" cy="457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4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b="1" dirty="0" smtClean="0">
                <a:solidFill>
                  <a:srgbClr val="0000FF"/>
                </a:solidFill>
              </a:rPr>
              <a:t>P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78582" y="2051570"/>
            <a:ext cx="969818" cy="6454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3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3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</a:t>
            </a:r>
          </a:p>
          <a:p>
            <a:pPr algn="ctr"/>
            <a:endParaRPr lang="en-US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3886200" y="2048968"/>
            <a:ext cx="1143000" cy="64541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25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25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</a:t>
            </a:r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6405372" y="2101723"/>
            <a:ext cx="1290828" cy="5867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20000"/>
                  <a:satMod val="180000"/>
                  <a:lumMod val="98000"/>
                  <a:alpha val="31000"/>
                </a:schemeClr>
              </a:gs>
              <a:gs pos="40000">
                <a:schemeClr val="accent2">
                  <a:tint val="30000"/>
                  <a:satMod val="260000"/>
                  <a:lumMod val="84000"/>
                  <a:alpha val="31000"/>
                </a:schemeClr>
              </a:gs>
              <a:gs pos="100000">
                <a:schemeClr val="accent2">
                  <a:tint val="100000"/>
                  <a:satMod val="110000"/>
                  <a:lumMod val="100000"/>
                  <a:alpha val="31000"/>
                </a:schemeClr>
              </a:gs>
            </a:gsLst>
            <a:lin ang="504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</a:t>
            </a:r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5" name="Rounded Rectangle 4"/>
          <p:cNvSpPr/>
          <p:nvPr/>
        </p:nvSpPr>
        <p:spPr>
          <a:xfrm>
            <a:off x="3276600" y="5105400"/>
            <a:ext cx="4495800" cy="12192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20000"/>
                  <a:satMod val="180000"/>
                  <a:lumMod val="98000"/>
                  <a:alpha val="17000"/>
                </a:schemeClr>
              </a:gs>
              <a:gs pos="40000">
                <a:schemeClr val="accent4">
                  <a:tint val="30000"/>
                  <a:satMod val="260000"/>
                  <a:lumMod val="84000"/>
                  <a:alpha val="17000"/>
                </a:schemeClr>
              </a:gs>
              <a:gs pos="100000">
                <a:schemeClr val="accent4">
                  <a:tint val="100000"/>
                  <a:satMod val="110000"/>
                  <a:lumMod val="100000"/>
                  <a:alpha val="17000"/>
                </a:schemeClr>
              </a:gs>
            </a:gsLst>
            <a:lin ang="5040000" scaled="1"/>
            <a:tileRect/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!AD(!C + C)</a:t>
            </a:r>
          </a:p>
          <a:p>
            <a:pPr algn="ctr"/>
            <a:r>
              <a:rPr lang="en-US" dirty="0" smtClean="0"/>
              <a:t>!AD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1562100" y="4942586"/>
            <a:ext cx="1143000" cy="64541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alpha val="25000"/>
                </a:schemeClr>
              </a:gs>
              <a:gs pos="100000">
                <a:schemeClr val="accent3">
                  <a:shade val="75000"/>
                  <a:satMod val="120000"/>
                  <a:lumMod val="90000"/>
                  <a:alpha val="25000"/>
                </a:schemeClr>
              </a:gs>
            </a:gsLst>
            <a:lin ang="54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</a:t>
            </a:r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22" name="Rounded Rectangle 21"/>
          <p:cNvSpPr/>
          <p:nvPr/>
        </p:nvSpPr>
        <p:spPr>
          <a:xfrm>
            <a:off x="381000" y="5029200"/>
            <a:ext cx="2690162" cy="1524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20000"/>
                  <a:satMod val="180000"/>
                  <a:lumMod val="98000"/>
                  <a:alpha val="17000"/>
                </a:schemeClr>
              </a:gs>
              <a:gs pos="40000">
                <a:schemeClr val="accent4">
                  <a:tint val="30000"/>
                  <a:satMod val="260000"/>
                  <a:lumMod val="84000"/>
                  <a:alpha val="17000"/>
                </a:schemeClr>
              </a:gs>
              <a:gs pos="100000">
                <a:schemeClr val="accent4">
                  <a:tint val="100000"/>
                  <a:satMod val="110000"/>
                  <a:lumMod val="100000"/>
                  <a:alpha val="17000"/>
                </a:schemeClr>
              </a:gs>
            </a:gsLst>
            <a:lin ang="5040000" scaled="1"/>
            <a:tileRect/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smtClean="0"/>
              <a:t>A!D(B + !BC)</a:t>
            </a:r>
          </a:p>
          <a:p>
            <a:pPr algn="ctr"/>
            <a:r>
              <a:rPr lang="en-US" dirty="0" smtClean="0"/>
              <a:t>A!D(B+C)</a:t>
            </a:r>
          </a:p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133600" y="6400800"/>
            <a:ext cx="3048000" cy="4572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/>
              <a:t>X</a:t>
            </a:r>
            <a:r>
              <a:rPr lang="en-US" baseline="-25000" dirty="0" err="1" smtClean="0"/>
              <a:t>out</a:t>
            </a:r>
            <a:r>
              <a:rPr lang="en-US" dirty="0" smtClean="0"/>
              <a:t>= A!D(B + C) + !AD</a:t>
            </a:r>
            <a:endParaRPr lang="en-US" dirty="0"/>
          </a:p>
        </p:txBody>
      </p:sp>
      <p:sp>
        <p:nvSpPr>
          <p:cNvPr id="7" name="Curved Down Arrow 6"/>
          <p:cNvSpPr/>
          <p:nvPr/>
        </p:nvSpPr>
        <p:spPr>
          <a:xfrm rot="8643189">
            <a:off x="4716198" y="6438583"/>
            <a:ext cx="922020" cy="301090"/>
          </a:xfrm>
          <a:prstGeom prst="curved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Curved Down Arrow 22"/>
          <p:cNvSpPr/>
          <p:nvPr/>
        </p:nvSpPr>
        <p:spPr>
          <a:xfrm rot="1309274">
            <a:off x="2205623" y="5979193"/>
            <a:ext cx="1484922" cy="329072"/>
          </a:xfrm>
          <a:prstGeom prst="curved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05000" y="3556000"/>
            <a:ext cx="5368277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000"/>
                </a:solidFill>
              </a:rPr>
              <a:t>Lesson:</a:t>
            </a:r>
            <a:r>
              <a:rPr lang="en-US" dirty="0" smtClean="0"/>
              <a:t> K-Maps will tell you this in 2 seconds!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Do it!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59400" y="511810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9190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2" grpId="0" animBg="1"/>
      <p:bldP spid="6" grpId="0" animBg="1"/>
      <p:bldP spid="7" grpId="0" animBg="1"/>
      <p:bldP spid="23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382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</a:t>
            </a:r>
            <a:r>
              <a:rPr lang="en-US" b="1" i="1" dirty="0" smtClean="0"/>
              <a:t>Boss Battle </a:t>
            </a:r>
            <a:r>
              <a:rPr lang="en-US" dirty="0" smtClean="0"/>
              <a:t>Appears:</a:t>
            </a:r>
            <a:br>
              <a:rPr lang="en-US" dirty="0" smtClean="0"/>
            </a:br>
            <a:r>
              <a:rPr lang="en-US" dirty="0" err="1" smtClean="0"/>
              <a:t>KMaps</a:t>
            </a:r>
            <a:r>
              <a:rPr lang="en-US" dirty="0" smtClean="0"/>
              <a:t>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23652"/>
            <a:ext cx="8153400" cy="3508977"/>
          </a:xfrm>
        </p:spPr>
        <p:txBody>
          <a:bodyPr/>
          <a:lstStyle/>
          <a:p>
            <a:r>
              <a:rPr lang="en-US" dirty="0" smtClean="0"/>
              <a:t>f(A,B,C,D) = AB!C!D + A!BC!D +ABC!D+!A!B!CD + </a:t>
            </a:r>
          </a:p>
          <a:p>
            <a:pPr marL="68580" indent="0">
              <a:buNone/>
            </a:pPr>
            <a:r>
              <a:rPr lang="en-US" dirty="0" smtClean="0"/>
              <a:t>!AB!CD + !A!BCD + !ABCD</a:t>
            </a:r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902717"/>
              </p:ext>
            </p:extLst>
          </p:nvPr>
        </p:nvGraphicFramePr>
        <p:xfrm>
          <a:off x="1295400" y="41656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!A!B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A!B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!C!D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!CD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CD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C!D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19600" y="4546600"/>
            <a:ext cx="914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Abadi MT Condensed Extra Bold"/>
                <a:cs typeface="Abadi MT Condensed Extra Bold"/>
              </a:rPr>
              <a:t>?</a:t>
            </a:r>
            <a:endParaRPr lang="en-US" sz="84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Abadi MT Condensed Extra Bold"/>
              <a:cs typeface="Abadi MT Condensed Extra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2110" y="3316069"/>
            <a:ext cx="55968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TODO:</a:t>
            </a:r>
            <a:r>
              <a:rPr lang="en-US" dirty="0" smtClean="0"/>
              <a:t> Memorize this KMap setup for 4 variables and complete this table using the BE above 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418574"/>
              </p:ext>
            </p:extLst>
          </p:nvPr>
        </p:nvGraphicFramePr>
        <p:xfrm>
          <a:off x="1295400" y="41910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KMap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!A!B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!AB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A!B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!C!D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-250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!CD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-25000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-25000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CD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-25000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-25000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C!D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-25000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-25000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40180" y="6172200"/>
            <a:ext cx="59512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TODO:</a:t>
            </a:r>
            <a:r>
              <a:rPr lang="en-US" dirty="0" smtClean="0"/>
              <a:t>  make loops and produce the reduced BE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2590800" y="4953000"/>
            <a:ext cx="457200" cy="838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6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6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733800" y="4953000"/>
            <a:ext cx="457200" cy="838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6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6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942389" y="5624601"/>
            <a:ext cx="1909839" cy="47314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6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6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905042" y="4572000"/>
            <a:ext cx="809958" cy="47314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6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6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514600" y="4970175"/>
            <a:ext cx="1662545" cy="34350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2528455" y="5410200"/>
            <a:ext cx="1662545" cy="3122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876800" y="5617837"/>
            <a:ext cx="533400" cy="85916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876800" y="4170037"/>
            <a:ext cx="533400" cy="85916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6172200" y="5562527"/>
            <a:ext cx="533400" cy="5334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20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438400" y="4914900"/>
            <a:ext cx="1828800" cy="9144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20000"/>
                  <a:satMod val="180000"/>
                  <a:lumMod val="98000"/>
                  <a:alpha val="15000"/>
                </a:schemeClr>
              </a:gs>
              <a:gs pos="40000">
                <a:schemeClr val="accent6">
                  <a:tint val="30000"/>
                  <a:satMod val="260000"/>
                  <a:lumMod val="84000"/>
                  <a:alpha val="15000"/>
                </a:schemeClr>
              </a:gs>
              <a:gs pos="100000">
                <a:schemeClr val="accent6">
                  <a:tint val="100000"/>
                  <a:satMod val="110000"/>
                  <a:lumMod val="100000"/>
                  <a:alpha val="15000"/>
                </a:schemeClr>
              </a:gs>
            </a:gsLst>
            <a:lin ang="504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876800" y="5626768"/>
            <a:ext cx="1828800" cy="46923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20000"/>
                  <a:satMod val="180000"/>
                  <a:lumMod val="98000"/>
                  <a:alpha val="15000"/>
                </a:schemeClr>
              </a:gs>
              <a:gs pos="40000">
                <a:schemeClr val="accent6">
                  <a:tint val="30000"/>
                  <a:satMod val="260000"/>
                  <a:lumMod val="84000"/>
                  <a:alpha val="15000"/>
                </a:schemeClr>
              </a:gs>
              <a:gs pos="100000">
                <a:schemeClr val="accent6">
                  <a:tint val="100000"/>
                  <a:satMod val="110000"/>
                  <a:lumMod val="100000"/>
                  <a:alpha val="15000"/>
                </a:schemeClr>
              </a:gs>
            </a:gsLst>
            <a:lin ang="504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876800" y="5638800"/>
            <a:ext cx="529739" cy="75570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20000"/>
                  <a:satMod val="180000"/>
                  <a:lumMod val="98000"/>
                  <a:alpha val="15000"/>
                </a:schemeClr>
              </a:gs>
              <a:gs pos="40000">
                <a:schemeClr val="accent6">
                  <a:tint val="30000"/>
                  <a:satMod val="260000"/>
                  <a:lumMod val="84000"/>
                  <a:alpha val="15000"/>
                </a:schemeClr>
              </a:gs>
              <a:gs pos="100000">
                <a:schemeClr val="accent6">
                  <a:tint val="100000"/>
                  <a:satMod val="110000"/>
                  <a:lumMod val="100000"/>
                  <a:alpha val="15000"/>
                </a:schemeClr>
              </a:gs>
            </a:gsLst>
            <a:lin ang="504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876800" y="4203700"/>
            <a:ext cx="529739" cy="75570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20000"/>
                  <a:satMod val="180000"/>
                  <a:lumMod val="98000"/>
                  <a:alpha val="15000"/>
                </a:schemeClr>
              </a:gs>
              <a:gs pos="40000">
                <a:schemeClr val="accent6">
                  <a:tint val="30000"/>
                  <a:satMod val="260000"/>
                  <a:lumMod val="84000"/>
                  <a:alpha val="15000"/>
                </a:schemeClr>
              </a:gs>
              <a:gs pos="100000">
                <a:schemeClr val="accent6">
                  <a:tint val="100000"/>
                  <a:satMod val="110000"/>
                  <a:lumMod val="100000"/>
                  <a:alpha val="15000"/>
                </a:schemeClr>
              </a:gs>
            </a:gsLst>
            <a:lin ang="504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440180" y="6286500"/>
            <a:ext cx="59512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Reduced: F=!AD + AB!D + AC!D == A!D(B + C) + !AD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8309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K-Maps, Part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92" y="2323652"/>
            <a:ext cx="7338508" cy="3508977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r>
              <a:rPr lang="en-US" sz="800" dirty="0" smtClean="0"/>
              <a:t>First, back to Combinational Circuits</a:t>
            </a:r>
          </a:p>
          <a:p>
            <a:r>
              <a:rPr lang="en-US" dirty="0"/>
              <a:t>See Exercise2.docx for more practice</a:t>
            </a:r>
          </a:p>
          <a:p>
            <a:pPr lvl="1"/>
            <a:r>
              <a:rPr lang="en-US" dirty="0"/>
              <a:t>But it’s not enough</a:t>
            </a:r>
          </a:p>
          <a:p>
            <a:r>
              <a:rPr lang="en-US" dirty="0"/>
              <a:t>Null</a:t>
            </a:r>
          </a:p>
          <a:p>
            <a:pPr lvl="1"/>
            <a:r>
              <a:rPr lang="en-US" dirty="0"/>
              <a:t>Boolean Algebra </a:t>
            </a:r>
          </a:p>
          <a:p>
            <a:pPr lvl="2"/>
            <a:r>
              <a:rPr lang="en-US" dirty="0"/>
              <a:t>3.2.3 Examples through 3.6</a:t>
            </a:r>
          </a:p>
          <a:p>
            <a:pPr lvl="1"/>
            <a:r>
              <a:rPr lang="en-US" dirty="0"/>
              <a:t>K-Maps 3A2</a:t>
            </a:r>
          </a:p>
          <a:p>
            <a:endParaRPr lang="en-US" sz="800" dirty="0" smtClean="0"/>
          </a:p>
          <a:p>
            <a:endParaRPr lang="en-US" sz="800" dirty="0"/>
          </a:p>
          <a:p>
            <a:r>
              <a:rPr lang="en-US" sz="800" dirty="0" smtClean="0"/>
              <a:t>Source</a:t>
            </a:r>
            <a:r>
              <a:rPr lang="en-US" sz="800" dirty="0"/>
              <a:t>: Arnie Berger with edits by Rob Nash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428501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19056" y="304800"/>
            <a:ext cx="84725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Karnaugh Maps</a:t>
            </a:r>
            <a:br>
              <a:rPr lang="en-US" dirty="0" smtClean="0"/>
            </a:br>
            <a:r>
              <a:rPr lang="en-US" dirty="0" smtClean="0"/>
              <a:t>Reduce Boolean Functions Visually</a:t>
            </a:r>
          </a:p>
        </p:txBody>
      </p:sp>
      <p:grpSp>
        <p:nvGrpSpPr>
          <p:cNvPr id="33795" name="Group 12"/>
          <p:cNvGrpSpPr>
            <a:grpSpLocks/>
          </p:cNvGrpSpPr>
          <p:nvPr/>
        </p:nvGrpSpPr>
        <p:grpSpPr bwMode="auto">
          <a:xfrm>
            <a:off x="1770062" y="2363788"/>
            <a:ext cx="1708150" cy="836612"/>
            <a:chOff x="749" y="1126"/>
            <a:chExt cx="1076" cy="527"/>
          </a:xfrm>
        </p:grpSpPr>
        <p:sp>
          <p:nvSpPr>
            <p:cNvPr id="33897" name="Rectangle 3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8" name="Rectangle 5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9" name="Rectangle 6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0" name="Rectangle 7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1" name="Rectangle 8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2" name="Rectangle 9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3" name="Rectangle 10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904" name="Rectangle 11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796" name="Text Box 14"/>
          <p:cNvSpPr txBox="1">
            <a:spLocks noChangeArrowheads="1"/>
          </p:cNvSpPr>
          <p:nvPr/>
        </p:nvSpPr>
        <p:spPr bwMode="auto">
          <a:xfrm>
            <a:off x="1733550" y="2058988"/>
            <a:ext cx="1901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AB   AB    AB    AB   </a:t>
            </a:r>
          </a:p>
        </p:txBody>
      </p:sp>
      <p:sp>
        <p:nvSpPr>
          <p:cNvPr id="33797" name="Line 15"/>
          <p:cNvSpPr>
            <a:spLocks noChangeShapeType="1"/>
          </p:cNvSpPr>
          <p:nvPr/>
        </p:nvSpPr>
        <p:spPr bwMode="auto">
          <a:xfrm>
            <a:off x="1454150" y="24257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8" name="Line 16"/>
          <p:cNvSpPr>
            <a:spLocks noChangeShapeType="1"/>
          </p:cNvSpPr>
          <p:nvPr/>
        </p:nvSpPr>
        <p:spPr bwMode="auto">
          <a:xfrm>
            <a:off x="3240088" y="2100263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799" name="Line 17"/>
          <p:cNvSpPr>
            <a:spLocks noChangeShapeType="1"/>
          </p:cNvSpPr>
          <p:nvPr/>
        </p:nvSpPr>
        <p:spPr bwMode="auto">
          <a:xfrm>
            <a:off x="2197100" y="2100263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800" name="Line 18"/>
          <p:cNvSpPr>
            <a:spLocks noChangeShapeType="1"/>
          </p:cNvSpPr>
          <p:nvPr/>
        </p:nvSpPr>
        <p:spPr bwMode="auto">
          <a:xfrm>
            <a:off x="1981200" y="2111375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801" name="Line 19"/>
          <p:cNvSpPr>
            <a:spLocks noChangeShapeType="1"/>
          </p:cNvSpPr>
          <p:nvPr/>
        </p:nvSpPr>
        <p:spPr bwMode="auto">
          <a:xfrm>
            <a:off x="1800225" y="2109788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802" name="Text Box 20"/>
          <p:cNvSpPr txBox="1">
            <a:spLocks noChangeArrowheads="1"/>
          </p:cNvSpPr>
          <p:nvPr/>
        </p:nvSpPr>
        <p:spPr bwMode="auto">
          <a:xfrm>
            <a:off x="1370012" y="2405063"/>
            <a:ext cx="31273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C</a:t>
            </a:r>
          </a:p>
        </p:txBody>
      </p:sp>
      <p:sp>
        <p:nvSpPr>
          <p:cNvPr id="33803" name="Text Box 21"/>
          <p:cNvSpPr txBox="1">
            <a:spLocks noChangeArrowheads="1"/>
          </p:cNvSpPr>
          <p:nvPr/>
        </p:nvSpPr>
        <p:spPr bwMode="auto">
          <a:xfrm>
            <a:off x="1352550" y="1612900"/>
            <a:ext cx="2457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 dirty="0"/>
              <a:t>K-Map for 3 input variables</a:t>
            </a:r>
          </a:p>
        </p:txBody>
      </p:sp>
      <p:grpSp>
        <p:nvGrpSpPr>
          <p:cNvPr id="33804" name="Group 22"/>
          <p:cNvGrpSpPr>
            <a:grpSpLocks/>
          </p:cNvGrpSpPr>
          <p:nvPr/>
        </p:nvGrpSpPr>
        <p:grpSpPr bwMode="auto">
          <a:xfrm>
            <a:off x="6016625" y="2184400"/>
            <a:ext cx="1708150" cy="836613"/>
            <a:chOff x="749" y="1126"/>
            <a:chExt cx="1076" cy="527"/>
          </a:xfrm>
        </p:grpSpPr>
        <p:sp>
          <p:nvSpPr>
            <p:cNvPr id="33889" name="Rectangle 23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0" name="Rectangle 24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1" name="Rectangle 25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2" name="Rectangle 26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3" name="Rectangle 27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4" name="Rectangle 28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5" name="Rectangle 29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96" name="Rectangle 30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05" name="Text Box 31"/>
          <p:cNvSpPr txBox="1">
            <a:spLocks noChangeArrowheads="1"/>
          </p:cNvSpPr>
          <p:nvPr/>
        </p:nvSpPr>
        <p:spPr bwMode="auto">
          <a:xfrm>
            <a:off x="5980113" y="1879600"/>
            <a:ext cx="1901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AB   AB    AB    AB   </a:t>
            </a:r>
          </a:p>
        </p:txBody>
      </p:sp>
      <p:sp>
        <p:nvSpPr>
          <p:cNvPr id="33806" name="Line 32"/>
          <p:cNvSpPr>
            <a:spLocks noChangeShapeType="1"/>
          </p:cNvSpPr>
          <p:nvPr/>
        </p:nvSpPr>
        <p:spPr bwMode="auto">
          <a:xfrm flipV="1">
            <a:off x="5602288" y="2211388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07" name="Line 36"/>
          <p:cNvSpPr>
            <a:spLocks noChangeShapeType="1"/>
          </p:cNvSpPr>
          <p:nvPr/>
        </p:nvSpPr>
        <p:spPr bwMode="auto">
          <a:xfrm flipV="1">
            <a:off x="6061075" y="1919288"/>
            <a:ext cx="122238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08" name="Text Box 37"/>
          <p:cNvSpPr txBox="1">
            <a:spLocks noChangeArrowheads="1"/>
          </p:cNvSpPr>
          <p:nvPr/>
        </p:nvSpPr>
        <p:spPr bwMode="auto">
          <a:xfrm>
            <a:off x="5491163" y="2176463"/>
            <a:ext cx="441325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CD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CD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CD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CD</a:t>
            </a:r>
          </a:p>
          <a:p>
            <a:pPr algn="ctr" eaLnBrk="1" hangingPunct="1"/>
            <a:endParaRPr lang="en-US" sz="1400" b="1"/>
          </a:p>
        </p:txBody>
      </p:sp>
      <p:grpSp>
        <p:nvGrpSpPr>
          <p:cNvPr id="33809" name="Group 38"/>
          <p:cNvGrpSpPr>
            <a:grpSpLocks/>
          </p:cNvGrpSpPr>
          <p:nvPr/>
        </p:nvGrpSpPr>
        <p:grpSpPr bwMode="auto">
          <a:xfrm>
            <a:off x="6016625" y="3013075"/>
            <a:ext cx="1708150" cy="836613"/>
            <a:chOff x="749" y="1126"/>
            <a:chExt cx="1076" cy="527"/>
          </a:xfrm>
        </p:grpSpPr>
        <p:sp>
          <p:nvSpPr>
            <p:cNvPr id="33881" name="Rectangle 39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2" name="Rectangle 40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3" name="Rectangle 41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4" name="Rectangle 42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5" name="Rectangle 43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6" name="Rectangle 44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7" name="Rectangle 45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8" name="Rectangle 46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10" name="Line 47"/>
          <p:cNvSpPr>
            <a:spLocks noChangeShapeType="1"/>
          </p:cNvSpPr>
          <p:nvPr/>
        </p:nvSpPr>
        <p:spPr bwMode="auto">
          <a:xfrm flipV="1">
            <a:off x="6218238" y="1919288"/>
            <a:ext cx="122237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1" name="Line 48"/>
          <p:cNvSpPr>
            <a:spLocks noChangeShapeType="1"/>
          </p:cNvSpPr>
          <p:nvPr/>
        </p:nvSpPr>
        <p:spPr bwMode="auto">
          <a:xfrm flipV="1">
            <a:off x="6473825" y="1914525"/>
            <a:ext cx="122238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2" name="Line 49"/>
          <p:cNvSpPr>
            <a:spLocks noChangeShapeType="1"/>
          </p:cNvSpPr>
          <p:nvPr/>
        </p:nvSpPr>
        <p:spPr bwMode="auto">
          <a:xfrm flipV="1">
            <a:off x="7512050" y="1928813"/>
            <a:ext cx="122238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3" name="Line 50"/>
          <p:cNvSpPr>
            <a:spLocks noChangeShapeType="1"/>
          </p:cNvSpPr>
          <p:nvPr/>
        </p:nvSpPr>
        <p:spPr bwMode="auto">
          <a:xfrm flipV="1">
            <a:off x="5753100" y="2205038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4" name="Line 51"/>
          <p:cNvSpPr>
            <a:spLocks noChangeShapeType="1"/>
          </p:cNvSpPr>
          <p:nvPr/>
        </p:nvSpPr>
        <p:spPr bwMode="auto">
          <a:xfrm flipV="1">
            <a:off x="5591175" y="2646363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5" name="Line 52"/>
          <p:cNvSpPr>
            <a:spLocks noChangeShapeType="1"/>
          </p:cNvSpPr>
          <p:nvPr/>
        </p:nvSpPr>
        <p:spPr bwMode="auto">
          <a:xfrm flipV="1">
            <a:off x="5722938" y="3505200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16" name="Text Box 53"/>
          <p:cNvSpPr txBox="1">
            <a:spLocks noChangeArrowheads="1"/>
          </p:cNvSpPr>
          <p:nvPr/>
        </p:nvSpPr>
        <p:spPr bwMode="auto">
          <a:xfrm>
            <a:off x="5619750" y="1524000"/>
            <a:ext cx="2457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K-Map for 4 input variables</a:t>
            </a:r>
          </a:p>
        </p:txBody>
      </p:sp>
      <p:grpSp>
        <p:nvGrpSpPr>
          <p:cNvPr id="33817" name="Group 54"/>
          <p:cNvGrpSpPr>
            <a:grpSpLocks/>
          </p:cNvGrpSpPr>
          <p:nvPr/>
        </p:nvGrpSpPr>
        <p:grpSpPr bwMode="auto">
          <a:xfrm>
            <a:off x="1090613" y="4487863"/>
            <a:ext cx="1708150" cy="836612"/>
            <a:chOff x="749" y="1126"/>
            <a:chExt cx="1076" cy="527"/>
          </a:xfrm>
        </p:grpSpPr>
        <p:sp>
          <p:nvSpPr>
            <p:cNvPr id="33873" name="Rectangle 55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4" name="Rectangle 56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5" name="Rectangle 57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6" name="Rectangle 58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7" name="Rectangle 59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8" name="Rectangle 60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9" name="Rectangle 61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80" name="Rectangle 62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18" name="Text Box 63"/>
          <p:cNvSpPr txBox="1">
            <a:spLocks noChangeArrowheads="1"/>
          </p:cNvSpPr>
          <p:nvPr/>
        </p:nvSpPr>
        <p:spPr bwMode="auto">
          <a:xfrm>
            <a:off x="1039813" y="4197350"/>
            <a:ext cx="3584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ABC  ABC  ABC   ABC  ABC  ABC  ABC   ABC  </a:t>
            </a:r>
          </a:p>
        </p:txBody>
      </p:sp>
      <p:sp>
        <p:nvSpPr>
          <p:cNvPr id="33819" name="Line 64"/>
          <p:cNvSpPr>
            <a:spLocks noChangeShapeType="1"/>
          </p:cNvSpPr>
          <p:nvPr/>
        </p:nvSpPr>
        <p:spPr bwMode="auto">
          <a:xfrm flipV="1">
            <a:off x="676275" y="4514850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0" name="Line 65"/>
          <p:cNvSpPr>
            <a:spLocks noChangeShapeType="1"/>
          </p:cNvSpPr>
          <p:nvPr/>
        </p:nvSpPr>
        <p:spPr bwMode="auto">
          <a:xfrm flipV="1">
            <a:off x="1135063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1" name="Text Box 66"/>
          <p:cNvSpPr txBox="1">
            <a:spLocks noChangeArrowheads="1"/>
          </p:cNvSpPr>
          <p:nvPr/>
        </p:nvSpPr>
        <p:spPr bwMode="auto">
          <a:xfrm>
            <a:off x="569913" y="4479925"/>
            <a:ext cx="4318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DE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DE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DE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DE</a:t>
            </a:r>
          </a:p>
          <a:p>
            <a:pPr algn="ctr" eaLnBrk="1" hangingPunct="1"/>
            <a:endParaRPr lang="en-US" sz="1400" b="1"/>
          </a:p>
        </p:txBody>
      </p:sp>
      <p:grpSp>
        <p:nvGrpSpPr>
          <p:cNvPr id="33822" name="Group 67"/>
          <p:cNvGrpSpPr>
            <a:grpSpLocks/>
          </p:cNvGrpSpPr>
          <p:nvPr/>
        </p:nvGrpSpPr>
        <p:grpSpPr bwMode="auto">
          <a:xfrm>
            <a:off x="1090613" y="5326063"/>
            <a:ext cx="1708150" cy="836612"/>
            <a:chOff x="749" y="1126"/>
            <a:chExt cx="1076" cy="527"/>
          </a:xfrm>
        </p:grpSpPr>
        <p:sp>
          <p:nvSpPr>
            <p:cNvPr id="33865" name="Rectangle 68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6" name="Rectangle 69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7" name="Rectangle 70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8" name="Rectangle 71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9" name="Rectangle 72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0" name="Rectangle 73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1" name="Rectangle 74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72" name="Rectangle 75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23" name="Line 79"/>
          <p:cNvSpPr>
            <a:spLocks noChangeShapeType="1"/>
          </p:cNvSpPr>
          <p:nvPr/>
        </p:nvSpPr>
        <p:spPr bwMode="auto">
          <a:xfrm flipV="1">
            <a:off x="827088" y="4508500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4" name="Line 80"/>
          <p:cNvSpPr>
            <a:spLocks noChangeShapeType="1"/>
          </p:cNvSpPr>
          <p:nvPr/>
        </p:nvSpPr>
        <p:spPr bwMode="auto">
          <a:xfrm flipV="1">
            <a:off x="665163" y="4949825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5" name="Line 81"/>
          <p:cNvSpPr>
            <a:spLocks noChangeShapeType="1"/>
          </p:cNvSpPr>
          <p:nvPr/>
        </p:nvSpPr>
        <p:spPr bwMode="auto">
          <a:xfrm flipV="1">
            <a:off x="796925" y="5808663"/>
            <a:ext cx="9842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33826" name="Group 82"/>
          <p:cNvGrpSpPr>
            <a:grpSpLocks/>
          </p:cNvGrpSpPr>
          <p:nvPr/>
        </p:nvGrpSpPr>
        <p:grpSpPr bwMode="auto">
          <a:xfrm>
            <a:off x="2795588" y="4486275"/>
            <a:ext cx="1708150" cy="836613"/>
            <a:chOff x="749" y="1126"/>
            <a:chExt cx="1076" cy="527"/>
          </a:xfrm>
        </p:grpSpPr>
        <p:sp>
          <p:nvSpPr>
            <p:cNvPr id="33857" name="Rectangle 83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8" name="Rectangle 84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9" name="Rectangle 85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0" name="Rectangle 86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1" name="Rectangle 87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2" name="Rectangle 88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3" name="Rectangle 89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64" name="Rectangle 90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33827" name="Group 91"/>
          <p:cNvGrpSpPr>
            <a:grpSpLocks/>
          </p:cNvGrpSpPr>
          <p:nvPr/>
        </p:nvGrpSpPr>
        <p:grpSpPr bwMode="auto">
          <a:xfrm>
            <a:off x="2795588" y="5324475"/>
            <a:ext cx="1708150" cy="836613"/>
            <a:chOff x="749" y="1126"/>
            <a:chExt cx="1076" cy="527"/>
          </a:xfrm>
        </p:grpSpPr>
        <p:sp>
          <p:nvSpPr>
            <p:cNvPr id="33849" name="Rectangle 92"/>
            <p:cNvSpPr>
              <a:spLocks noChangeArrowheads="1"/>
            </p:cNvSpPr>
            <p:nvPr/>
          </p:nvSpPr>
          <p:spPr bwMode="auto">
            <a:xfrm>
              <a:off x="74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0" name="Rectangle 93"/>
            <p:cNvSpPr>
              <a:spLocks noChangeArrowheads="1"/>
            </p:cNvSpPr>
            <p:nvPr/>
          </p:nvSpPr>
          <p:spPr bwMode="auto">
            <a:xfrm>
              <a:off x="1019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1" name="Rectangle 94"/>
            <p:cNvSpPr>
              <a:spLocks noChangeArrowheads="1"/>
            </p:cNvSpPr>
            <p:nvPr/>
          </p:nvSpPr>
          <p:spPr bwMode="auto">
            <a:xfrm>
              <a:off x="128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2" name="Rectangle 95"/>
            <p:cNvSpPr>
              <a:spLocks noChangeArrowheads="1"/>
            </p:cNvSpPr>
            <p:nvPr/>
          </p:nvSpPr>
          <p:spPr bwMode="auto">
            <a:xfrm>
              <a:off x="1556" y="1126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3" name="Rectangle 96"/>
            <p:cNvSpPr>
              <a:spLocks noChangeArrowheads="1"/>
            </p:cNvSpPr>
            <p:nvPr/>
          </p:nvSpPr>
          <p:spPr bwMode="auto">
            <a:xfrm>
              <a:off x="74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4" name="Rectangle 97"/>
            <p:cNvSpPr>
              <a:spLocks noChangeArrowheads="1"/>
            </p:cNvSpPr>
            <p:nvPr/>
          </p:nvSpPr>
          <p:spPr bwMode="auto">
            <a:xfrm>
              <a:off x="1019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5" name="Rectangle 98"/>
            <p:cNvSpPr>
              <a:spLocks noChangeArrowheads="1"/>
            </p:cNvSpPr>
            <p:nvPr/>
          </p:nvSpPr>
          <p:spPr bwMode="auto">
            <a:xfrm>
              <a:off x="128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856" name="Rectangle 99"/>
            <p:cNvSpPr>
              <a:spLocks noChangeArrowheads="1"/>
            </p:cNvSpPr>
            <p:nvPr/>
          </p:nvSpPr>
          <p:spPr bwMode="auto">
            <a:xfrm>
              <a:off x="1556" y="1390"/>
              <a:ext cx="269" cy="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828" name="Line 100"/>
          <p:cNvSpPr>
            <a:spLocks noChangeShapeType="1"/>
          </p:cNvSpPr>
          <p:nvPr/>
        </p:nvSpPr>
        <p:spPr bwMode="auto">
          <a:xfrm flipV="1">
            <a:off x="1254125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29" name="Line 101"/>
          <p:cNvSpPr>
            <a:spLocks noChangeShapeType="1"/>
          </p:cNvSpPr>
          <p:nvPr/>
        </p:nvSpPr>
        <p:spPr bwMode="auto">
          <a:xfrm flipV="1">
            <a:off x="1368425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0" name="Line 102"/>
          <p:cNvSpPr>
            <a:spLocks noChangeShapeType="1"/>
          </p:cNvSpPr>
          <p:nvPr/>
        </p:nvSpPr>
        <p:spPr bwMode="auto">
          <a:xfrm flipV="1">
            <a:off x="4122738" y="4243388"/>
            <a:ext cx="920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1" name="Line 103"/>
          <p:cNvSpPr>
            <a:spLocks noChangeShapeType="1"/>
          </p:cNvSpPr>
          <p:nvPr/>
        </p:nvSpPr>
        <p:spPr bwMode="auto">
          <a:xfrm flipV="1">
            <a:off x="4241800" y="4243388"/>
            <a:ext cx="920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2" name="Line 104"/>
          <p:cNvSpPr>
            <a:spLocks noChangeShapeType="1"/>
          </p:cNvSpPr>
          <p:nvPr/>
        </p:nvSpPr>
        <p:spPr bwMode="auto">
          <a:xfrm flipV="1">
            <a:off x="1654175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3" name="Line 105"/>
          <p:cNvSpPr>
            <a:spLocks noChangeShapeType="1"/>
          </p:cNvSpPr>
          <p:nvPr/>
        </p:nvSpPr>
        <p:spPr bwMode="auto">
          <a:xfrm flipV="1">
            <a:off x="1773238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4" name="Line 106"/>
          <p:cNvSpPr>
            <a:spLocks noChangeShapeType="1"/>
          </p:cNvSpPr>
          <p:nvPr/>
        </p:nvSpPr>
        <p:spPr bwMode="auto">
          <a:xfrm flipV="1">
            <a:off x="2181225" y="422275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5" name="Line 107"/>
          <p:cNvSpPr>
            <a:spLocks noChangeShapeType="1"/>
          </p:cNvSpPr>
          <p:nvPr/>
        </p:nvSpPr>
        <p:spPr bwMode="auto">
          <a:xfrm flipV="1">
            <a:off x="2422525" y="4230688"/>
            <a:ext cx="920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6" name="Line 108"/>
          <p:cNvSpPr>
            <a:spLocks noChangeShapeType="1"/>
          </p:cNvSpPr>
          <p:nvPr/>
        </p:nvSpPr>
        <p:spPr bwMode="auto">
          <a:xfrm flipV="1">
            <a:off x="2636838" y="422910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7" name="Line 109"/>
          <p:cNvSpPr>
            <a:spLocks noChangeShapeType="1"/>
          </p:cNvSpPr>
          <p:nvPr/>
        </p:nvSpPr>
        <p:spPr bwMode="auto">
          <a:xfrm flipV="1">
            <a:off x="2832100" y="4230688"/>
            <a:ext cx="920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8" name="Line 110"/>
          <p:cNvSpPr>
            <a:spLocks noChangeShapeType="1"/>
          </p:cNvSpPr>
          <p:nvPr/>
        </p:nvSpPr>
        <p:spPr bwMode="auto">
          <a:xfrm flipV="1">
            <a:off x="3762375" y="4241800"/>
            <a:ext cx="920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39" name="Text Box 112"/>
          <p:cNvSpPr txBox="1">
            <a:spLocks noChangeArrowheads="1"/>
          </p:cNvSpPr>
          <p:nvPr/>
        </p:nvSpPr>
        <p:spPr bwMode="auto">
          <a:xfrm>
            <a:off x="1471613" y="3790950"/>
            <a:ext cx="2457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K-Map for 5 input variables</a:t>
            </a:r>
          </a:p>
        </p:txBody>
      </p:sp>
      <p:sp>
        <p:nvSpPr>
          <p:cNvPr id="33840" name="Text Box 113"/>
          <p:cNvSpPr txBox="1">
            <a:spLocks noChangeArrowheads="1"/>
          </p:cNvSpPr>
          <p:nvPr/>
        </p:nvSpPr>
        <p:spPr bwMode="auto">
          <a:xfrm>
            <a:off x="4876800" y="4876562"/>
            <a:ext cx="3962400" cy="1600438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 smtClean="0">
                <a:latin typeface="Arial" pitchFamily="34" charset="0"/>
              </a:rPr>
              <a:t>Notes:</a:t>
            </a:r>
            <a:endParaRPr lang="en-US" sz="1400" b="1" dirty="0">
              <a:latin typeface="Arial" pitchFamily="34" charset="0"/>
            </a:endParaRPr>
          </a:p>
          <a:p>
            <a:pPr eaLnBrk="1" hangingPunct="1"/>
            <a:r>
              <a:rPr lang="en-US" sz="1400" b="1" dirty="0" smtClean="0">
                <a:latin typeface="Arial" pitchFamily="34" charset="0"/>
              </a:rPr>
              <a:t>1: Colored </a:t>
            </a:r>
            <a:r>
              <a:rPr lang="en-US" sz="1400" b="1" dirty="0">
                <a:latin typeface="Arial" pitchFamily="34" charset="0"/>
              </a:rPr>
              <a:t>lines are </a:t>
            </a:r>
            <a:r>
              <a:rPr lang="en-US" sz="1400" b="1" dirty="0" smtClean="0">
                <a:latin typeface="Arial" pitchFamily="34" charset="0"/>
              </a:rPr>
              <a:t>adjacent (torus)</a:t>
            </a:r>
            <a:endParaRPr lang="en-US" sz="1400" b="1" dirty="0">
              <a:latin typeface="Arial" pitchFamily="34" charset="0"/>
            </a:endParaRPr>
          </a:p>
          <a:p>
            <a:pPr eaLnBrk="1" hangingPunct="1"/>
            <a:r>
              <a:rPr lang="en-US" sz="1400" b="1" dirty="0" smtClean="0">
                <a:latin typeface="Arial" pitchFamily="34" charset="0"/>
              </a:rPr>
              <a:t>2: </a:t>
            </a:r>
            <a:r>
              <a:rPr lang="en-US" sz="1400" b="1" dirty="0">
                <a:latin typeface="Arial" pitchFamily="34" charset="0"/>
              </a:rPr>
              <a:t>The corner cells are adjacent</a:t>
            </a:r>
          </a:p>
          <a:p>
            <a:pPr eaLnBrk="1" hangingPunct="1"/>
            <a:r>
              <a:rPr lang="en-US" sz="1400" b="1" dirty="0" smtClean="0">
                <a:latin typeface="Arial" pitchFamily="34" charset="0"/>
              </a:rPr>
              <a:t>3: Only </a:t>
            </a:r>
            <a:r>
              <a:rPr lang="en-US" sz="1400" b="1" dirty="0">
                <a:latin typeface="Arial" pitchFamily="34" charset="0"/>
              </a:rPr>
              <a:t>one variable </a:t>
            </a:r>
            <a:r>
              <a:rPr lang="en-US" sz="1400" b="1" dirty="0" smtClean="0">
                <a:latin typeface="Arial" pitchFamily="34" charset="0"/>
              </a:rPr>
              <a:t>changes as </a:t>
            </a:r>
            <a:r>
              <a:rPr lang="en-US" sz="1400" b="1" dirty="0">
                <a:latin typeface="Arial" pitchFamily="34" charset="0"/>
              </a:rPr>
              <a:t>you </a:t>
            </a:r>
            <a:r>
              <a:rPr lang="en-US" sz="1400" b="1" dirty="0" smtClean="0">
                <a:latin typeface="Arial" pitchFamily="34" charset="0"/>
              </a:rPr>
              <a:t>go </a:t>
            </a:r>
            <a:r>
              <a:rPr lang="en-US" sz="1400" b="1" dirty="0">
                <a:latin typeface="Arial" pitchFamily="34" charset="0"/>
              </a:rPr>
              <a:t>from cell to </a:t>
            </a:r>
            <a:r>
              <a:rPr lang="en-US" sz="1400" b="1" dirty="0" smtClean="0">
                <a:latin typeface="Arial" pitchFamily="34" charset="0"/>
              </a:rPr>
              <a:t>cell in both x and y, including the </a:t>
            </a:r>
            <a:r>
              <a:rPr lang="en-US" sz="1400" b="1" dirty="0">
                <a:latin typeface="Arial" pitchFamily="34" charset="0"/>
              </a:rPr>
              <a:t>opposite </a:t>
            </a:r>
            <a:r>
              <a:rPr lang="en-US" sz="1400" b="1" dirty="0" smtClean="0">
                <a:latin typeface="Arial" pitchFamily="34" charset="0"/>
              </a:rPr>
              <a:t>ends {~A~B,~AB,</a:t>
            </a:r>
            <a:r>
              <a:rPr lang="mr-IN" sz="1400" b="1" dirty="0" smtClean="0">
                <a:latin typeface="Arial" pitchFamily="34" charset="0"/>
              </a:rPr>
              <a:t>…</a:t>
            </a:r>
            <a:r>
              <a:rPr lang="en-US" sz="1400" b="1" dirty="0" smtClean="0">
                <a:latin typeface="Arial" pitchFamily="34" charset="0"/>
              </a:rPr>
              <a:t>}</a:t>
            </a:r>
            <a:endParaRPr lang="en-US" sz="1400" b="1" dirty="0">
              <a:latin typeface="Arial" pitchFamily="34" charset="0"/>
            </a:endParaRPr>
          </a:p>
          <a:p>
            <a:pPr eaLnBrk="1" hangingPunct="1"/>
            <a:r>
              <a:rPr lang="en-US" sz="1400" b="1" dirty="0" smtClean="0">
                <a:latin typeface="Arial" pitchFamily="34" charset="0"/>
              </a:rPr>
              <a:t>4: No diagonals (they aren’t adjacent)</a:t>
            </a:r>
            <a:endParaRPr lang="en-US" sz="1400" b="1" dirty="0">
              <a:latin typeface="Arial" pitchFamily="34" charset="0"/>
            </a:endParaRPr>
          </a:p>
        </p:txBody>
      </p:sp>
      <p:sp>
        <p:nvSpPr>
          <p:cNvPr id="33841" name="Line 114"/>
          <p:cNvSpPr>
            <a:spLocks noChangeShapeType="1"/>
          </p:cNvSpPr>
          <p:nvPr/>
        </p:nvSpPr>
        <p:spPr bwMode="auto">
          <a:xfrm>
            <a:off x="7724775" y="2193925"/>
            <a:ext cx="0" cy="165576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42" name="Line 115"/>
          <p:cNvSpPr>
            <a:spLocks noChangeShapeType="1"/>
          </p:cNvSpPr>
          <p:nvPr/>
        </p:nvSpPr>
        <p:spPr bwMode="auto">
          <a:xfrm>
            <a:off x="6016625" y="2184400"/>
            <a:ext cx="0" cy="165576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843" name="Line 116"/>
          <p:cNvSpPr>
            <a:spLocks noChangeShapeType="1"/>
          </p:cNvSpPr>
          <p:nvPr/>
        </p:nvSpPr>
        <p:spPr bwMode="auto">
          <a:xfrm>
            <a:off x="6013450" y="3852863"/>
            <a:ext cx="170656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44" name="Line 117"/>
          <p:cNvSpPr>
            <a:spLocks noChangeShapeType="1"/>
          </p:cNvSpPr>
          <p:nvPr/>
        </p:nvSpPr>
        <p:spPr bwMode="auto">
          <a:xfrm>
            <a:off x="6003925" y="2187575"/>
            <a:ext cx="1708150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45" name="Rectangle 118"/>
          <p:cNvSpPr>
            <a:spLocks noChangeArrowheads="1"/>
          </p:cNvSpPr>
          <p:nvPr/>
        </p:nvSpPr>
        <p:spPr bwMode="auto">
          <a:xfrm>
            <a:off x="1098550" y="4511675"/>
            <a:ext cx="395288" cy="3746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3846" name="Rectangle 119"/>
          <p:cNvSpPr>
            <a:spLocks noChangeArrowheads="1"/>
          </p:cNvSpPr>
          <p:nvPr/>
        </p:nvSpPr>
        <p:spPr bwMode="auto">
          <a:xfrm>
            <a:off x="1108075" y="5759450"/>
            <a:ext cx="395288" cy="3746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3847" name="Rectangle 120"/>
          <p:cNvSpPr>
            <a:spLocks noChangeArrowheads="1"/>
          </p:cNvSpPr>
          <p:nvPr/>
        </p:nvSpPr>
        <p:spPr bwMode="auto">
          <a:xfrm>
            <a:off x="4084638" y="4511675"/>
            <a:ext cx="395287" cy="3746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3848" name="Rectangle 121"/>
          <p:cNvSpPr>
            <a:spLocks noChangeArrowheads="1"/>
          </p:cNvSpPr>
          <p:nvPr/>
        </p:nvSpPr>
        <p:spPr bwMode="auto">
          <a:xfrm>
            <a:off x="4094163" y="5759450"/>
            <a:ext cx="395287" cy="3746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113" name="Line 115"/>
          <p:cNvSpPr>
            <a:spLocks noChangeShapeType="1"/>
          </p:cNvSpPr>
          <p:nvPr/>
        </p:nvSpPr>
        <p:spPr bwMode="auto">
          <a:xfrm>
            <a:off x="8064500" y="5118100"/>
            <a:ext cx="0" cy="184914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4" name="Line 117"/>
          <p:cNvSpPr>
            <a:spLocks noChangeShapeType="1"/>
          </p:cNvSpPr>
          <p:nvPr/>
        </p:nvSpPr>
        <p:spPr bwMode="auto">
          <a:xfrm>
            <a:off x="8229600" y="5181600"/>
            <a:ext cx="23082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" name="Line 117"/>
          <p:cNvSpPr>
            <a:spLocks noChangeShapeType="1"/>
          </p:cNvSpPr>
          <p:nvPr/>
        </p:nvSpPr>
        <p:spPr bwMode="auto">
          <a:xfrm>
            <a:off x="8229600" y="5257800"/>
            <a:ext cx="23082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" name="Line 115"/>
          <p:cNvSpPr>
            <a:spLocks noChangeShapeType="1"/>
          </p:cNvSpPr>
          <p:nvPr/>
        </p:nvSpPr>
        <p:spPr bwMode="auto">
          <a:xfrm>
            <a:off x="8140700" y="5123686"/>
            <a:ext cx="0" cy="184914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7" name="Line 115"/>
          <p:cNvSpPr>
            <a:spLocks noChangeShapeType="1"/>
          </p:cNvSpPr>
          <p:nvPr/>
        </p:nvSpPr>
        <p:spPr bwMode="auto">
          <a:xfrm>
            <a:off x="7696200" y="5377686"/>
            <a:ext cx="0" cy="184914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8" name="Line 117"/>
          <p:cNvSpPr>
            <a:spLocks noChangeShapeType="1"/>
          </p:cNvSpPr>
          <p:nvPr/>
        </p:nvSpPr>
        <p:spPr bwMode="auto">
          <a:xfrm>
            <a:off x="7670800" y="5397500"/>
            <a:ext cx="23082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9" name="Line 115"/>
          <p:cNvSpPr>
            <a:spLocks noChangeShapeType="1"/>
          </p:cNvSpPr>
          <p:nvPr/>
        </p:nvSpPr>
        <p:spPr bwMode="auto">
          <a:xfrm>
            <a:off x="8026400" y="5397500"/>
            <a:ext cx="0" cy="184914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" name="Line 117"/>
          <p:cNvSpPr>
            <a:spLocks noChangeShapeType="1"/>
          </p:cNvSpPr>
          <p:nvPr/>
        </p:nvSpPr>
        <p:spPr bwMode="auto">
          <a:xfrm>
            <a:off x="7835900" y="5562600"/>
            <a:ext cx="23082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&quot;No&quot; Symbol 1"/>
          <p:cNvSpPr/>
          <p:nvPr/>
        </p:nvSpPr>
        <p:spPr>
          <a:xfrm>
            <a:off x="8166100" y="6146800"/>
            <a:ext cx="304800" cy="304800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05400" y="4278868"/>
            <a:ext cx="35052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#of Minterm Cells = 2</a:t>
            </a:r>
            <a:r>
              <a:rPr lang="en-US" baseline="30000" dirty="0" smtClean="0"/>
              <a:t>num_vars</a:t>
            </a:r>
            <a:endParaRPr lang="en-US" dirty="0"/>
          </a:p>
        </p:txBody>
      </p:sp>
      <p:sp>
        <p:nvSpPr>
          <p:cNvPr id="123" name="Line 117"/>
          <p:cNvSpPr>
            <a:spLocks noChangeShapeType="1"/>
          </p:cNvSpPr>
          <p:nvPr/>
        </p:nvSpPr>
        <p:spPr bwMode="auto">
          <a:xfrm>
            <a:off x="1765300" y="2362200"/>
            <a:ext cx="1708150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4" name="Line 117"/>
          <p:cNvSpPr>
            <a:spLocks noChangeShapeType="1"/>
          </p:cNvSpPr>
          <p:nvPr/>
        </p:nvSpPr>
        <p:spPr bwMode="auto">
          <a:xfrm>
            <a:off x="1765300" y="3200400"/>
            <a:ext cx="1708150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5" name="Line 117"/>
          <p:cNvSpPr>
            <a:spLocks noChangeShapeType="1"/>
          </p:cNvSpPr>
          <p:nvPr/>
        </p:nvSpPr>
        <p:spPr bwMode="auto">
          <a:xfrm>
            <a:off x="1559424" y="4495800"/>
            <a:ext cx="250090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6" name="Line 117"/>
          <p:cNvSpPr>
            <a:spLocks noChangeShapeType="1"/>
          </p:cNvSpPr>
          <p:nvPr/>
        </p:nvSpPr>
        <p:spPr bwMode="auto">
          <a:xfrm>
            <a:off x="1549400" y="6159500"/>
            <a:ext cx="2500903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7" name="Line 115"/>
          <p:cNvSpPr>
            <a:spLocks noChangeShapeType="1"/>
          </p:cNvSpPr>
          <p:nvPr/>
        </p:nvSpPr>
        <p:spPr bwMode="auto">
          <a:xfrm>
            <a:off x="3492500" y="2348978"/>
            <a:ext cx="0" cy="84966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" name="Line 115"/>
          <p:cNvSpPr>
            <a:spLocks noChangeShapeType="1"/>
          </p:cNvSpPr>
          <p:nvPr/>
        </p:nvSpPr>
        <p:spPr bwMode="auto">
          <a:xfrm>
            <a:off x="1752600" y="2362200"/>
            <a:ext cx="0" cy="84966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" name="Line 115"/>
          <p:cNvSpPr>
            <a:spLocks noChangeShapeType="1"/>
          </p:cNvSpPr>
          <p:nvPr/>
        </p:nvSpPr>
        <p:spPr bwMode="auto">
          <a:xfrm>
            <a:off x="4495800" y="4876800"/>
            <a:ext cx="0" cy="84966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" name="Line 115"/>
          <p:cNvSpPr>
            <a:spLocks noChangeShapeType="1"/>
          </p:cNvSpPr>
          <p:nvPr/>
        </p:nvSpPr>
        <p:spPr bwMode="auto">
          <a:xfrm>
            <a:off x="1079500" y="4876800"/>
            <a:ext cx="0" cy="84966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51549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8229600" cy="838200"/>
          </a:xfrm>
        </p:spPr>
        <p:txBody>
          <a:bodyPr/>
          <a:lstStyle/>
          <a:p>
            <a:r>
              <a:rPr lang="en-US" dirty="0" smtClean="0"/>
              <a:t>Simplification using K-Maps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839200" cy="55626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000" dirty="0" smtClean="0"/>
              <a:t>Construct a separate Karnaugh Map for every output variable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Place a “1” in cells with a 1 in the corresponding row of the truth table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Form the largest possible loops</a:t>
            </a:r>
            <a:r>
              <a:rPr lang="en-US" sz="2000" b="1" dirty="0" smtClean="0"/>
              <a:t> </a:t>
            </a:r>
            <a:r>
              <a:rPr lang="en-US" sz="2000" dirty="0" smtClean="0"/>
              <a:t>of adjacent cells containing 1, 2, 4, 8,16…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Any cell can be involved in any number of loops.</a:t>
            </a:r>
            <a:endParaRPr lang="en-US" sz="1600" dirty="0" smtClean="0"/>
          </a:p>
          <a:p>
            <a:pPr>
              <a:buFont typeface="+mj-lt"/>
              <a:buAutoNum type="arabicPeriod"/>
            </a:pPr>
            <a:r>
              <a:rPr lang="en-US" sz="2000" dirty="0" smtClean="0"/>
              <a:t>Remove redundant loops and build your newly reduced output:</a:t>
            </a:r>
          </a:p>
          <a:p>
            <a:pPr lvl="1">
              <a:buFont typeface="+mj-lt"/>
              <a:buAutoNum type="arabicPeriod"/>
            </a:pPr>
            <a:r>
              <a:rPr lang="en-US" sz="1600" dirty="0" smtClean="0"/>
              <a:t>Each loop represents a simplified </a:t>
            </a:r>
            <a:r>
              <a:rPr lang="en-US" sz="1600" b="1" dirty="0" smtClean="0"/>
              <a:t>minterm</a:t>
            </a:r>
            <a:r>
              <a:rPr lang="en-US" sz="1600" dirty="0" smtClean="0"/>
              <a:t> of the logic equation</a:t>
            </a:r>
          </a:p>
          <a:p>
            <a:pPr lvl="1">
              <a:buFont typeface="+mj-lt"/>
              <a:buAutoNum type="arabicPeriod"/>
            </a:pPr>
            <a:r>
              <a:rPr lang="en-US" sz="1600" dirty="0" smtClean="0"/>
              <a:t>Remove any variable that appears in its original &amp; negated form (A, ~A)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 smtClean="0"/>
              <a:t>X = ABC + ~ABC </a:t>
            </a:r>
          </a:p>
          <a:p>
            <a:r>
              <a:rPr lang="en-US" sz="2400" b="1" dirty="0" smtClean="0"/>
              <a:t>X = (A + ~A)BC </a:t>
            </a:r>
          </a:p>
          <a:p>
            <a:r>
              <a:rPr lang="en-US" sz="2400" b="1" dirty="0" smtClean="0"/>
              <a:t>X = BC</a:t>
            </a:r>
          </a:p>
        </p:txBody>
      </p:sp>
      <p:sp>
        <p:nvSpPr>
          <p:cNvPr id="2" name="Right Brace 1"/>
          <p:cNvSpPr/>
          <p:nvPr/>
        </p:nvSpPr>
        <p:spPr>
          <a:xfrm>
            <a:off x="2971800" y="5029200"/>
            <a:ext cx="2895600" cy="1219200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76800" y="5221069"/>
            <a:ext cx="34290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K-Maps Visually Illustrate this Boolean Reduction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166799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24025"/>
            <a:ext cx="8915400" cy="5438775"/>
          </a:xfrm>
        </p:spPr>
        <p:txBody>
          <a:bodyPr/>
          <a:lstStyle/>
          <a:p>
            <a:r>
              <a:rPr lang="en-US" sz="1800" dirty="0" smtClean="0"/>
              <a:t>We want to </a:t>
            </a:r>
            <a:r>
              <a:rPr lang="en-US" sz="1800" b="1" dirty="0" smtClean="0">
                <a:solidFill>
                  <a:srgbClr val="0000FF"/>
                </a:solidFill>
              </a:rPr>
              <a:t>systematic derivations </a:t>
            </a:r>
            <a:r>
              <a:rPr lang="en-US" sz="1800" dirty="0" smtClean="0">
                <a:solidFill>
                  <a:schemeClr val="tx1"/>
                </a:solidFill>
              </a:rPr>
              <a:t>of</a:t>
            </a:r>
            <a:r>
              <a:rPr lang="en-US" sz="1800" dirty="0" smtClean="0">
                <a:solidFill>
                  <a:srgbClr val="0000FF"/>
                </a:solidFill>
              </a:rPr>
              <a:t> </a:t>
            </a:r>
            <a:r>
              <a:rPr lang="en-US" sz="1800" dirty="0" smtClean="0"/>
              <a:t>a Boolean equation from a truth table</a:t>
            </a:r>
          </a:p>
          <a:p>
            <a:r>
              <a:rPr lang="en-US" sz="1800" dirty="0" smtClean="0"/>
              <a:t>The Karnaugh Map (pronounced “car know”) is a graphical method of simplifying the “Sum of Products” (</a:t>
            </a:r>
            <a:r>
              <a:rPr lang="en-US" sz="1800" b="1" dirty="0" smtClean="0"/>
              <a:t>minterm</a:t>
            </a:r>
            <a:r>
              <a:rPr lang="en-US" sz="1800" dirty="0" smtClean="0"/>
              <a:t>) truth table</a:t>
            </a:r>
          </a:p>
          <a:p>
            <a:r>
              <a:rPr lang="en-US" sz="1800" dirty="0" smtClean="0"/>
              <a:t>Based upon Boolean algebra simplification  </a:t>
            </a:r>
            <a:r>
              <a:rPr lang="en-US" sz="1800" b="1" dirty="0" smtClean="0"/>
              <a:t>A*B + A*B = </a:t>
            </a:r>
            <a:r>
              <a:rPr lang="en-US" sz="1800" b="1" dirty="0" smtClean="0"/>
              <a:t>A   //toggle</a:t>
            </a:r>
            <a:endParaRPr lang="en-US" sz="1800" b="1" dirty="0" smtClean="0"/>
          </a:p>
          <a:p>
            <a:pPr lvl="1"/>
            <a:r>
              <a:rPr lang="en-US" sz="1800" dirty="0" smtClean="0"/>
              <a:t>Why?</a:t>
            </a:r>
          </a:p>
          <a:p>
            <a:pPr lvl="2"/>
            <a:r>
              <a:rPr lang="en-US" sz="1800" dirty="0" smtClean="0"/>
              <a:t>First Distributive Law: </a:t>
            </a:r>
            <a:r>
              <a:rPr lang="en-US" sz="1800" b="1" dirty="0" smtClean="0"/>
              <a:t>A *( B + C ) = (A*B) + (A*C)</a:t>
            </a:r>
          </a:p>
          <a:p>
            <a:pPr lvl="2"/>
            <a:r>
              <a:rPr lang="en-US" sz="1800" dirty="0" smtClean="0"/>
              <a:t>Third Law of Complementation: </a:t>
            </a:r>
            <a:r>
              <a:rPr lang="en-US" sz="1800" b="1" dirty="0" smtClean="0"/>
              <a:t>B + B = 1</a:t>
            </a:r>
            <a:r>
              <a:rPr lang="en-US" sz="1800" dirty="0" smtClean="0"/>
              <a:t> </a:t>
            </a:r>
          </a:p>
          <a:p>
            <a:pPr lvl="2"/>
            <a:r>
              <a:rPr lang="en-US" sz="1800" dirty="0" smtClean="0"/>
              <a:t>Finally: </a:t>
            </a:r>
            <a:r>
              <a:rPr lang="en-US" sz="1800" b="1" dirty="0" smtClean="0"/>
              <a:t>A*1 = A</a:t>
            </a:r>
          </a:p>
          <a:p>
            <a:r>
              <a:rPr lang="en-US" sz="1800" dirty="0" smtClean="0"/>
              <a:t>Therefore:</a:t>
            </a:r>
          </a:p>
          <a:p>
            <a:r>
              <a:rPr lang="en-US" sz="1800" dirty="0" smtClean="0"/>
              <a:t> </a:t>
            </a:r>
            <a:r>
              <a:rPr lang="en-US" sz="1800" b="1" dirty="0" smtClean="0"/>
              <a:t>A*B + A*B = A * ( B + B ) = A * 1 = A</a:t>
            </a:r>
          </a:p>
          <a:p>
            <a:r>
              <a:rPr lang="en-US" sz="1800" dirty="0" smtClean="0">
                <a:hlinkClick r:id="rId2"/>
              </a:rPr>
              <a:t>http://sourceforge.net/projects/k-map/files/k-map/0.4/Kmap-04-setup.exe/download </a:t>
            </a:r>
            <a:r>
              <a:rPr lang="en-US" sz="1800" dirty="0" smtClean="0"/>
              <a:t>		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024744" cy="1143000"/>
          </a:xfrm>
        </p:spPr>
        <p:txBody>
          <a:bodyPr/>
          <a:lstStyle/>
          <a:p>
            <a:r>
              <a:rPr lang="en-US" dirty="0" smtClean="0"/>
              <a:t>Karnaugh Maps</a:t>
            </a: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5226050" y="3705225"/>
            <a:ext cx="193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5876203" y="2727325"/>
            <a:ext cx="17606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727200" y="4683125"/>
            <a:ext cx="160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3092989" y="4683125"/>
            <a:ext cx="14551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93194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470900" cy="4972050"/>
          </a:xfrm>
        </p:spPr>
        <p:txBody>
          <a:bodyPr/>
          <a:lstStyle/>
          <a:p>
            <a:r>
              <a:rPr lang="en-US" sz="2000" dirty="0" smtClean="0"/>
              <a:t>For each output, you have to build one k-map. </a:t>
            </a:r>
          </a:p>
          <a:p>
            <a:pPr lvl="1"/>
            <a:r>
              <a:rPr lang="en-US" sz="1800" dirty="0" smtClean="0"/>
              <a:t>For the 3 x 8 line decoder, we need eight k-maps</a:t>
            </a:r>
          </a:p>
          <a:p>
            <a:r>
              <a:rPr lang="en-US" sz="2000" dirty="0" smtClean="0"/>
              <a:t>Rules for building a Karnaugh Map of a truth table</a:t>
            </a:r>
          </a:p>
          <a:p>
            <a:pPr lvl="1"/>
            <a:r>
              <a:rPr lang="en-US" sz="2000" b="1" dirty="0" smtClean="0">
                <a:solidFill>
                  <a:srgbClr val="3366FF"/>
                </a:solidFill>
              </a:rPr>
              <a:t>Rule 1:</a:t>
            </a:r>
            <a:r>
              <a:rPr lang="en-US" sz="2000" dirty="0" smtClean="0"/>
              <a:t> # cells = # of possible combinations of input variables</a:t>
            </a:r>
          </a:p>
          <a:p>
            <a:pPr lvl="2"/>
            <a:r>
              <a:rPr lang="en-US" sz="2000" dirty="0" smtClean="0"/>
              <a:t>For example, </a:t>
            </a:r>
          </a:p>
          <a:p>
            <a:pPr lvl="3"/>
            <a:r>
              <a:rPr lang="en-US" dirty="0" smtClean="0"/>
              <a:t>3 input variables: A, B, C = 8 cells</a:t>
            </a:r>
          </a:p>
          <a:p>
            <a:pPr lvl="3"/>
            <a:r>
              <a:rPr lang="en-US" dirty="0" smtClean="0"/>
              <a:t>4 input variables: A, B, C, D = 16 cells</a:t>
            </a:r>
          </a:p>
          <a:p>
            <a:pPr lvl="3"/>
            <a:r>
              <a:rPr lang="en-US" dirty="0" smtClean="0"/>
              <a:t>5 input variables: A, B, C, D, E = 32 cells</a:t>
            </a:r>
          </a:p>
          <a:p>
            <a:pPr lvl="3"/>
            <a:r>
              <a:rPr lang="en-US" dirty="0" smtClean="0"/>
              <a:t>The number of cells = 2</a:t>
            </a:r>
            <a:r>
              <a:rPr lang="en-US" b="1" baseline="30000" dirty="0" smtClean="0"/>
              <a:t>(NUMBER OF INPUT VARIABLES)</a:t>
            </a:r>
          </a:p>
          <a:p>
            <a:pPr lvl="1"/>
            <a:r>
              <a:rPr lang="en-US" sz="2000" b="1" dirty="0" smtClean="0">
                <a:solidFill>
                  <a:srgbClr val="3366FF"/>
                </a:solidFill>
              </a:rPr>
              <a:t>Rule 2:</a:t>
            </a:r>
            <a:r>
              <a:rPr lang="en-US" sz="2000" dirty="0" smtClean="0"/>
              <a:t> The horizontal and vertical axes are labeled such that only one variable changes from complemented to un-complemented ( or vice versa) as you go across or down</a:t>
            </a:r>
          </a:p>
          <a:p>
            <a:pPr lvl="3"/>
            <a:r>
              <a:rPr lang="en-US" dirty="0" smtClean="0"/>
              <a:t>The first and last cells in a row or in a column are considered to be adjacent to each other </a:t>
            </a:r>
          </a:p>
          <a:p>
            <a:pPr lvl="1">
              <a:buFontTx/>
              <a:buNone/>
            </a:pPr>
            <a:endParaRPr lang="en-US" sz="2000" b="1" baseline="30000" dirty="0" smtClean="0"/>
          </a:p>
          <a:p>
            <a:pPr>
              <a:buFontTx/>
              <a:buNone/>
            </a:pPr>
            <a:endParaRPr lang="en-US" sz="2000" dirty="0" smtClean="0"/>
          </a:p>
          <a:p>
            <a:endParaRPr lang="en-US" sz="2000" dirty="0" smtClean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2856" y="-76200"/>
            <a:ext cx="7024744" cy="1143000"/>
          </a:xfrm>
        </p:spPr>
        <p:txBody>
          <a:bodyPr/>
          <a:lstStyle/>
          <a:p>
            <a:r>
              <a:rPr lang="en-US" dirty="0" smtClean="0"/>
              <a:t>Karnaugh Maps</a:t>
            </a:r>
          </a:p>
        </p:txBody>
      </p:sp>
    </p:spTree>
    <p:extLst>
      <p:ext uri="{BB962C8B-B14F-4D97-AF65-F5344CB8AC3E}">
        <p14:creationId xmlns:p14="http://schemas.microsoft.com/office/powerpoint/2010/main" val="718301083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838200"/>
          </a:xfrm>
        </p:spPr>
        <p:txBody>
          <a:bodyPr/>
          <a:lstStyle/>
          <a:p>
            <a:r>
              <a:rPr lang="en-US" dirty="0" smtClean="0"/>
              <a:t>K-Maps </a:t>
            </a:r>
            <a:r>
              <a:rPr lang="en-US" dirty="0" smtClean="0"/>
              <a:t>Process, Step-by-Step</a:t>
            </a:r>
            <a:endParaRPr lang="en-US" dirty="0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839200" cy="55626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1800" dirty="0" smtClean="0"/>
              <a:t>Construct a separate Karnaugh Map for every output variable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Place a “1” in cells with a 1 in the corresponding row of the truth table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Form the largest possible loops</a:t>
            </a:r>
            <a:r>
              <a:rPr lang="en-US" sz="1800" b="1" dirty="0" smtClean="0"/>
              <a:t> </a:t>
            </a:r>
            <a:r>
              <a:rPr lang="en-US" sz="1800" dirty="0" smtClean="0"/>
              <a:t>of adjacent cells containing 1, 2, 4, 8,16…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Any cell can be involved in any number of loops, however:</a:t>
            </a:r>
            <a:endParaRPr lang="en-US" sz="1800" dirty="0"/>
          </a:p>
          <a:p>
            <a:pPr lvl="1">
              <a:buFont typeface="+mj-lt"/>
              <a:buAutoNum type="arabicPeriod"/>
            </a:pPr>
            <a:r>
              <a:rPr lang="en-US" sz="1600" dirty="0" smtClean="0"/>
              <a:t>Each new loop must contain at one entry that exists in no other loop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Remove redundant loops</a:t>
            </a:r>
          </a:p>
          <a:p>
            <a:pPr lvl="1">
              <a:buFont typeface="+mj-lt"/>
              <a:buAutoNum type="arabicPeriod"/>
            </a:pPr>
            <a:r>
              <a:rPr lang="en-US" sz="1600" dirty="0" smtClean="0"/>
              <a:t>Any loop that is completely enclosed by a larger loop should be removed</a:t>
            </a:r>
          </a:p>
          <a:p>
            <a:pPr lvl="1">
              <a:buFont typeface="+mj-lt"/>
              <a:buAutoNum type="arabicPeriod"/>
            </a:pPr>
            <a:r>
              <a:rPr lang="en-US" sz="1600" dirty="0" smtClean="0"/>
              <a:t>Any loop that contains no unique entries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Each loop represents a simplified </a:t>
            </a:r>
            <a:r>
              <a:rPr lang="en-US" sz="1800" b="1" dirty="0" smtClean="0"/>
              <a:t>minterm</a:t>
            </a:r>
            <a:r>
              <a:rPr lang="en-US" sz="1800" dirty="0" smtClean="0"/>
              <a:t> of the logic equation</a:t>
            </a:r>
          </a:p>
          <a:p>
            <a:pPr lvl="1">
              <a:buFont typeface="+mj-lt"/>
              <a:buAutoNum type="arabicPeriod"/>
            </a:pPr>
            <a:r>
              <a:rPr lang="en-US" sz="1600" b="1" dirty="0" smtClean="0"/>
              <a:t>Minterm</a:t>
            </a:r>
            <a:r>
              <a:rPr lang="en-US" sz="1600" dirty="0" smtClean="0"/>
              <a:t> == sum of products == S.O.P.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Simplify the final </a:t>
            </a:r>
            <a:r>
              <a:rPr lang="en-US" sz="1800" dirty="0"/>
              <a:t>B</a:t>
            </a:r>
            <a:r>
              <a:rPr lang="en-US" sz="1800" dirty="0" smtClean="0"/>
              <a:t>oolean formula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600" dirty="0" smtClean="0"/>
              <a:t>Remove any variable that appears in its complemented and un-complemented form (A, ~A)</a:t>
            </a:r>
          </a:p>
          <a:p>
            <a:pPr marL="1257300" lvl="2" indent="-457200">
              <a:buFont typeface="+mj-lt"/>
              <a:buAutoNum type="arabicPeriod"/>
            </a:pPr>
            <a:r>
              <a:rPr lang="en-US" sz="1600" b="1" dirty="0" smtClean="0"/>
              <a:t>X = ABC + ~ABC = (A + ~A)BC = BC</a:t>
            </a:r>
          </a:p>
        </p:txBody>
      </p:sp>
    </p:spTree>
    <p:extLst>
      <p:ext uri="{BB962C8B-B14F-4D97-AF65-F5344CB8AC3E}">
        <p14:creationId xmlns:p14="http://schemas.microsoft.com/office/powerpoint/2010/main" val="4060503324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Another Example from the Text </a:t>
            </a:r>
          </a:p>
        </p:txBody>
      </p:sp>
      <p:sp>
        <p:nvSpPr>
          <p:cNvPr id="37901" name="Rectangle 22"/>
          <p:cNvSpPr>
            <a:spLocks noChangeArrowheads="1"/>
          </p:cNvSpPr>
          <p:nvPr/>
        </p:nvSpPr>
        <p:spPr bwMode="auto">
          <a:xfrm>
            <a:off x="914400" y="1939925"/>
            <a:ext cx="427037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02" name="Rectangle 23"/>
          <p:cNvSpPr>
            <a:spLocks noChangeArrowheads="1"/>
          </p:cNvSpPr>
          <p:nvPr/>
        </p:nvSpPr>
        <p:spPr bwMode="auto">
          <a:xfrm>
            <a:off x="1343025" y="1939925"/>
            <a:ext cx="427037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03" name="Rectangle 24"/>
          <p:cNvSpPr>
            <a:spLocks noChangeArrowheads="1"/>
          </p:cNvSpPr>
          <p:nvPr/>
        </p:nvSpPr>
        <p:spPr bwMode="auto">
          <a:xfrm>
            <a:off x="1766887" y="1939925"/>
            <a:ext cx="427038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04" name="Rectangle 26"/>
          <p:cNvSpPr>
            <a:spLocks noChangeArrowheads="1"/>
          </p:cNvSpPr>
          <p:nvPr/>
        </p:nvSpPr>
        <p:spPr bwMode="auto">
          <a:xfrm>
            <a:off x="914400" y="2359025"/>
            <a:ext cx="427037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05" name="Rectangle 27"/>
          <p:cNvSpPr>
            <a:spLocks noChangeArrowheads="1"/>
          </p:cNvSpPr>
          <p:nvPr/>
        </p:nvSpPr>
        <p:spPr bwMode="auto">
          <a:xfrm>
            <a:off x="1343025" y="2359025"/>
            <a:ext cx="427037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06" name="Rectangle 28"/>
          <p:cNvSpPr>
            <a:spLocks noChangeArrowheads="1"/>
          </p:cNvSpPr>
          <p:nvPr/>
        </p:nvSpPr>
        <p:spPr bwMode="auto">
          <a:xfrm>
            <a:off x="1766887" y="2359025"/>
            <a:ext cx="427038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07" name="Rectangle 30"/>
          <p:cNvSpPr>
            <a:spLocks noChangeArrowheads="1"/>
          </p:cNvSpPr>
          <p:nvPr/>
        </p:nvSpPr>
        <p:spPr bwMode="auto">
          <a:xfrm>
            <a:off x="914400" y="2768600"/>
            <a:ext cx="427037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08" name="Rectangle 31"/>
          <p:cNvSpPr>
            <a:spLocks noChangeArrowheads="1"/>
          </p:cNvSpPr>
          <p:nvPr/>
        </p:nvSpPr>
        <p:spPr bwMode="auto">
          <a:xfrm>
            <a:off x="1343025" y="2768600"/>
            <a:ext cx="427037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09" name="Rectangle 32"/>
          <p:cNvSpPr>
            <a:spLocks noChangeArrowheads="1"/>
          </p:cNvSpPr>
          <p:nvPr/>
        </p:nvSpPr>
        <p:spPr bwMode="auto">
          <a:xfrm>
            <a:off x="1766887" y="2768600"/>
            <a:ext cx="427038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0" name="Rectangle 33"/>
          <p:cNvSpPr>
            <a:spLocks noChangeArrowheads="1"/>
          </p:cNvSpPr>
          <p:nvPr/>
        </p:nvSpPr>
        <p:spPr bwMode="auto">
          <a:xfrm>
            <a:off x="914400" y="3187700"/>
            <a:ext cx="427037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1" name="Rectangle 34"/>
          <p:cNvSpPr>
            <a:spLocks noChangeArrowheads="1"/>
          </p:cNvSpPr>
          <p:nvPr/>
        </p:nvSpPr>
        <p:spPr bwMode="auto">
          <a:xfrm>
            <a:off x="1343025" y="3187700"/>
            <a:ext cx="427037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2" name="Rectangle 35"/>
          <p:cNvSpPr>
            <a:spLocks noChangeArrowheads="1"/>
          </p:cNvSpPr>
          <p:nvPr/>
        </p:nvSpPr>
        <p:spPr bwMode="auto">
          <a:xfrm>
            <a:off x="1766887" y="3187700"/>
            <a:ext cx="427038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3" name="Rectangle 36"/>
          <p:cNvSpPr>
            <a:spLocks noChangeArrowheads="1"/>
          </p:cNvSpPr>
          <p:nvPr/>
        </p:nvSpPr>
        <p:spPr bwMode="auto">
          <a:xfrm>
            <a:off x="914400" y="3605213"/>
            <a:ext cx="427037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4" name="Rectangle 37"/>
          <p:cNvSpPr>
            <a:spLocks noChangeArrowheads="1"/>
          </p:cNvSpPr>
          <p:nvPr/>
        </p:nvSpPr>
        <p:spPr bwMode="auto">
          <a:xfrm>
            <a:off x="1343025" y="3605213"/>
            <a:ext cx="427037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5" name="Rectangle 38"/>
          <p:cNvSpPr>
            <a:spLocks noChangeArrowheads="1"/>
          </p:cNvSpPr>
          <p:nvPr/>
        </p:nvSpPr>
        <p:spPr bwMode="auto">
          <a:xfrm>
            <a:off x="1766887" y="3605213"/>
            <a:ext cx="427038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6" name="Rectangle 39"/>
          <p:cNvSpPr>
            <a:spLocks noChangeArrowheads="1"/>
          </p:cNvSpPr>
          <p:nvPr/>
        </p:nvSpPr>
        <p:spPr bwMode="auto">
          <a:xfrm>
            <a:off x="914400" y="4024313"/>
            <a:ext cx="427037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7" name="Rectangle 40"/>
          <p:cNvSpPr>
            <a:spLocks noChangeArrowheads="1"/>
          </p:cNvSpPr>
          <p:nvPr/>
        </p:nvSpPr>
        <p:spPr bwMode="auto">
          <a:xfrm>
            <a:off x="1343025" y="4024313"/>
            <a:ext cx="427037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8" name="Rectangle 41"/>
          <p:cNvSpPr>
            <a:spLocks noChangeArrowheads="1"/>
          </p:cNvSpPr>
          <p:nvPr/>
        </p:nvSpPr>
        <p:spPr bwMode="auto">
          <a:xfrm>
            <a:off x="1766887" y="4024313"/>
            <a:ext cx="427038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19" name="Rectangle 42"/>
          <p:cNvSpPr>
            <a:spLocks noChangeArrowheads="1"/>
          </p:cNvSpPr>
          <p:nvPr/>
        </p:nvSpPr>
        <p:spPr bwMode="auto">
          <a:xfrm>
            <a:off x="914400" y="4433888"/>
            <a:ext cx="427037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0" name="Rectangle 43"/>
          <p:cNvSpPr>
            <a:spLocks noChangeArrowheads="1"/>
          </p:cNvSpPr>
          <p:nvPr/>
        </p:nvSpPr>
        <p:spPr bwMode="auto">
          <a:xfrm>
            <a:off x="1343025" y="4433888"/>
            <a:ext cx="427037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1" name="Rectangle 44"/>
          <p:cNvSpPr>
            <a:spLocks noChangeArrowheads="1"/>
          </p:cNvSpPr>
          <p:nvPr/>
        </p:nvSpPr>
        <p:spPr bwMode="auto">
          <a:xfrm>
            <a:off x="1766887" y="4433888"/>
            <a:ext cx="427038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2" name="Rectangle 45"/>
          <p:cNvSpPr>
            <a:spLocks noChangeArrowheads="1"/>
          </p:cNvSpPr>
          <p:nvPr/>
        </p:nvSpPr>
        <p:spPr bwMode="auto">
          <a:xfrm>
            <a:off x="914400" y="4852988"/>
            <a:ext cx="427037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3" name="Rectangle 46"/>
          <p:cNvSpPr>
            <a:spLocks noChangeArrowheads="1"/>
          </p:cNvSpPr>
          <p:nvPr/>
        </p:nvSpPr>
        <p:spPr bwMode="auto">
          <a:xfrm>
            <a:off x="1343025" y="4852988"/>
            <a:ext cx="427037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4" name="Rectangle 47"/>
          <p:cNvSpPr>
            <a:spLocks noChangeArrowheads="1"/>
          </p:cNvSpPr>
          <p:nvPr/>
        </p:nvSpPr>
        <p:spPr bwMode="auto">
          <a:xfrm>
            <a:off x="1766887" y="4852988"/>
            <a:ext cx="427038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5" name="Rectangle 48"/>
          <p:cNvSpPr>
            <a:spLocks noChangeArrowheads="1"/>
          </p:cNvSpPr>
          <p:nvPr/>
        </p:nvSpPr>
        <p:spPr bwMode="auto">
          <a:xfrm>
            <a:off x="2176462" y="1939925"/>
            <a:ext cx="427038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6" name="Rectangle 49"/>
          <p:cNvSpPr>
            <a:spLocks noChangeArrowheads="1"/>
          </p:cNvSpPr>
          <p:nvPr/>
        </p:nvSpPr>
        <p:spPr bwMode="auto">
          <a:xfrm>
            <a:off x="2176462" y="2359025"/>
            <a:ext cx="427038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7" name="Rectangle 50"/>
          <p:cNvSpPr>
            <a:spLocks noChangeArrowheads="1"/>
          </p:cNvSpPr>
          <p:nvPr/>
        </p:nvSpPr>
        <p:spPr bwMode="auto">
          <a:xfrm>
            <a:off x="2176462" y="2768600"/>
            <a:ext cx="427038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8" name="Rectangle 51"/>
          <p:cNvSpPr>
            <a:spLocks noChangeArrowheads="1"/>
          </p:cNvSpPr>
          <p:nvPr/>
        </p:nvSpPr>
        <p:spPr bwMode="auto">
          <a:xfrm>
            <a:off x="2176462" y="3187700"/>
            <a:ext cx="427038" cy="4175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29" name="Rectangle 52"/>
          <p:cNvSpPr>
            <a:spLocks noChangeArrowheads="1"/>
          </p:cNvSpPr>
          <p:nvPr/>
        </p:nvSpPr>
        <p:spPr bwMode="auto">
          <a:xfrm>
            <a:off x="2176462" y="3605213"/>
            <a:ext cx="427038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30" name="Rectangle 53"/>
          <p:cNvSpPr>
            <a:spLocks noChangeArrowheads="1"/>
          </p:cNvSpPr>
          <p:nvPr/>
        </p:nvSpPr>
        <p:spPr bwMode="auto">
          <a:xfrm>
            <a:off x="2176462" y="4024313"/>
            <a:ext cx="427038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31" name="Rectangle 54"/>
          <p:cNvSpPr>
            <a:spLocks noChangeArrowheads="1"/>
          </p:cNvSpPr>
          <p:nvPr/>
        </p:nvSpPr>
        <p:spPr bwMode="auto">
          <a:xfrm>
            <a:off x="2176462" y="4433888"/>
            <a:ext cx="427038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32" name="Rectangle 55"/>
          <p:cNvSpPr>
            <a:spLocks noChangeArrowheads="1"/>
          </p:cNvSpPr>
          <p:nvPr/>
        </p:nvSpPr>
        <p:spPr bwMode="auto">
          <a:xfrm>
            <a:off x="2176462" y="4852988"/>
            <a:ext cx="427038" cy="4175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7933" name="Text Box 56"/>
          <p:cNvSpPr txBox="1">
            <a:spLocks noChangeArrowheads="1"/>
          </p:cNvSpPr>
          <p:nvPr/>
        </p:nvSpPr>
        <p:spPr bwMode="auto">
          <a:xfrm>
            <a:off x="933450" y="1655763"/>
            <a:ext cx="1603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A      B       C      x</a:t>
            </a:r>
          </a:p>
        </p:txBody>
      </p:sp>
      <p:sp>
        <p:nvSpPr>
          <p:cNvPr id="37934" name="Text Box 58"/>
          <p:cNvSpPr txBox="1">
            <a:spLocks noChangeArrowheads="1"/>
          </p:cNvSpPr>
          <p:nvPr/>
        </p:nvSpPr>
        <p:spPr bwMode="auto">
          <a:xfrm>
            <a:off x="995362" y="2011363"/>
            <a:ext cx="151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/>
              <a:t>0       0      0      1</a:t>
            </a:r>
          </a:p>
        </p:txBody>
      </p:sp>
      <p:sp>
        <p:nvSpPr>
          <p:cNvPr id="37935" name="Text Box 59"/>
          <p:cNvSpPr txBox="1">
            <a:spLocks noChangeArrowheads="1"/>
          </p:cNvSpPr>
          <p:nvPr/>
        </p:nvSpPr>
        <p:spPr bwMode="auto">
          <a:xfrm>
            <a:off x="995362" y="2401888"/>
            <a:ext cx="151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1       0      0      1</a:t>
            </a:r>
          </a:p>
        </p:txBody>
      </p:sp>
      <p:sp>
        <p:nvSpPr>
          <p:cNvPr id="37936" name="Text Box 60"/>
          <p:cNvSpPr txBox="1">
            <a:spLocks noChangeArrowheads="1"/>
          </p:cNvSpPr>
          <p:nvPr/>
        </p:nvSpPr>
        <p:spPr bwMode="auto">
          <a:xfrm>
            <a:off x="985837" y="2820988"/>
            <a:ext cx="151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0       1      0      0</a:t>
            </a:r>
          </a:p>
        </p:txBody>
      </p:sp>
      <p:sp>
        <p:nvSpPr>
          <p:cNvPr id="37937" name="Text Box 61"/>
          <p:cNvSpPr txBox="1">
            <a:spLocks noChangeArrowheads="1"/>
          </p:cNvSpPr>
          <p:nvPr/>
        </p:nvSpPr>
        <p:spPr bwMode="auto">
          <a:xfrm>
            <a:off x="993775" y="3224213"/>
            <a:ext cx="1512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1       1      0      1</a:t>
            </a:r>
          </a:p>
        </p:txBody>
      </p:sp>
      <p:sp>
        <p:nvSpPr>
          <p:cNvPr id="37938" name="Text Box 62"/>
          <p:cNvSpPr txBox="1">
            <a:spLocks noChangeArrowheads="1"/>
          </p:cNvSpPr>
          <p:nvPr/>
        </p:nvSpPr>
        <p:spPr bwMode="auto">
          <a:xfrm>
            <a:off x="1004887" y="3678238"/>
            <a:ext cx="151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0       0      1      0</a:t>
            </a:r>
          </a:p>
        </p:txBody>
      </p:sp>
      <p:sp>
        <p:nvSpPr>
          <p:cNvPr id="37939" name="Text Box 63"/>
          <p:cNvSpPr txBox="1">
            <a:spLocks noChangeArrowheads="1"/>
          </p:cNvSpPr>
          <p:nvPr/>
        </p:nvSpPr>
        <p:spPr bwMode="auto">
          <a:xfrm>
            <a:off x="1004887" y="4068763"/>
            <a:ext cx="151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1       0      1      1</a:t>
            </a:r>
          </a:p>
        </p:txBody>
      </p:sp>
      <p:sp>
        <p:nvSpPr>
          <p:cNvPr id="37940" name="Text Box 64"/>
          <p:cNvSpPr txBox="1">
            <a:spLocks noChangeArrowheads="1"/>
          </p:cNvSpPr>
          <p:nvPr/>
        </p:nvSpPr>
        <p:spPr bwMode="auto">
          <a:xfrm>
            <a:off x="995362" y="4487863"/>
            <a:ext cx="151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0       1      1      0</a:t>
            </a:r>
          </a:p>
        </p:txBody>
      </p:sp>
      <p:sp>
        <p:nvSpPr>
          <p:cNvPr id="37941" name="Text Box 65"/>
          <p:cNvSpPr txBox="1">
            <a:spLocks noChangeArrowheads="1"/>
          </p:cNvSpPr>
          <p:nvPr/>
        </p:nvSpPr>
        <p:spPr bwMode="auto">
          <a:xfrm>
            <a:off x="1003300" y="4891088"/>
            <a:ext cx="1512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1       1      1      0</a:t>
            </a: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2951162" y="1295400"/>
            <a:ext cx="5562600" cy="417195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1800" kern="0" dirty="0" smtClean="0"/>
              <a:t>Suppose you have to design a circuit system that produces the output X based on the three A,B, C inputs</a:t>
            </a:r>
          </a:p>
          <a:p>
            <a:endParaRPr lang="en-US" sz="1800" kern="0" dirty="0"/>
          </a:p>
          <a:p>
            <a:r>
              <a:rPr lang="en-US" sz="1800" kern="0" dirty="0" smtClean="0"/>
              <a:t>Think about the circuit diagram for this system</a:t>
            </a:r>
          </a:p>
          <a:p>
            <a:pPr lvl="1"/>
            <a:r>
              <a:rPr lang="en-US" sz="1400" kern="0" dirty="0" smtClean="0"/>
              <a:t>How many gates?</a:t>
            </a:r>
          </a:p>
          <a:p>
            <a:pPr lvl="2"/>
            <a:r>
              <a:rPr lang="en-US" sz="1400" kern="0" dirty="0"/>
              <a:t>2</a:t>
            </a:r>
            <a:r>
              <a:rPr lang="en-US" sz="1400" kern="0" dirty="0" smtClean="0"/>
              <a:t> ANDS in each of 4 rows == 8 ANDS</a:t>
            </a:r>
          </a:p>
          <a:p>
            <a:pPr lvl="3"/>
            <a:r>
              <a:rPr lang="en-US" sz="1400" kern="0" dirty="0" smtClean="0"/>
              <a:t>Ex:  A*~B*C</a:t>
            </a:r>
          </a:p>
          <a:p>
            <a:pPr lvl="2"/>
            <a:r>
              <a:rPr lang="en-US" sz="1400" kern="0" dirty="0" smtClean="0"/>
              <a:t>3 NOTS (~A, ~B, ~C)</a:t>
            </a:r>
          </a:p>
          <a:p>
            <a:pPr lvl="2"/>
            <a:r>
              <a:rPr lang="en-US" sz="1400" kern="0" dirty="0" smtClean="0"/>
              <a:t>1 large OR</a:t>
            </a:r>
          </a:p>
          <a:p>
            <a:endParaRPr lang="en-US" sz="1800" kern="0" dirty="0"/>
          </a:p>
          <a:p>
            <a:r>
              <a:rPr lang="en-US" sz="1800" b="1" kern="0" dirty="0" smtClean="0">
                <a:solidFill>
                  <a:srgbClr val="FF0000"/>
                </a:solidFill>
              </a:rPr>
              <a:t>Q:</a:t>
            </a:r>
            <a:r>
              <a:rPr lang="en-US" sz="1800" kern="0" dirty="0" smtClean="0"/>
              <a:t> Is </a:t>
            </a:r>
            <a:r>
              <a:rPr lang="en-US" sz="1800" kern="0" dirty="0" smtClean="0"/>
              <a:t>this a minimal hardware configuration</a:t>
            </a:r>
            <a:r>
              <a:rPr lang="en-US" sz="1800" kern="0" dirty="0" smtClean="0"/>
              <a:t>?</a:t>
            </a:r>
          </a:p>
          <a:p>
            <a:r>
              <a:rPr lang="en-US" sz="1800" b="1" kern="0" dirty="0" smtClean="0">
                <a:solidFill>
                  <a:srgbClr val="0000FF"/>
                </a:solidFill>
              </a:rPr>
              <a:t>A:</a:t>
            </a:r>
            <a:r>
              <a:rPr lang="en-US" sz="1800" kern="0" dirty="0"/>
              <a:t> </a:t>
            </a:r>
            <a:r>
              <a:rPr lang="en-US" sz="1400" kern="0" dirty="0" smtClean="0"/>
              <a:t>KMap it</a:t>
            </a:r>
            <a:endParaRPr lang="en-US" sz="1400" kern="0" dirty="0" smtClean="0"/>
          </a:p>
        </p:txBody>
      </p: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58971"/>
              </p:ext>
            </p:extLst>
          </p:nvPr>
        </p:nvGraphicFramePr>
        <p:xfrm>
          <a:off x="2590800" y="52882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~C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960229"/>
              </p:ext>
            </p:extLst>
          </p:nvPr>
        </p:nvGraphicFramePr>
        <p:xfrm>
          <a:off x="2590800" y="53340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dirty="0"/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~C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94C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7200" y="5562600"/>
            <a:ext cx="207889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Reduced BE?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6192982" y="5755724"/>
            <a:ext cx="1731818" cy="31487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alpha val="19000"/>
                </a:schemeClr>
              </a:gs>
              <a:gs pos="100000">
                <a:schemeClr val="accent1">
                  <a:shade val="75000"/>
                  <a:satMod val="120000"/>
                  <a:lumMod val="90000"/>
                  <a:alpha val="19000"/>
                </a:schemeClr>
              </a:gs>
            </a:gsLst>
            <a:lin ang="54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/>
          <p:cNvSpPr/>
          <p:nvPr/>
        </p:nvSpPr>
        <p:spPr>
          <a:xfrm>
            <a:off x="7341020" y="5727700"/>
            <a:ext cx="1574380" cy="31487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20000"/>
                  <a:satMod val="180000"/>
                  <a:lumMod val="98000"/>
                  <a:alpha val="37000"/>
                </a:schemeClr>
              </a:gs>
              <a:gs pos="40000">
                <a:schemeClr val="accent6">
                  <a:tint val="30000"/>
                  <a:satMod val="260000"/>
                  <a:lumMod val="84000"/>
                  <a:alpha val="37000"/>
                </a:schemeClr>
              </a:gs>
              <a:gs pos="100000">
                <a:schemeClr val="accent6">
                  <a:tint val="100000"/>
                  <a:satMod val="110000"/>
                  <a:lumMod val="100000"/>
                  <a:alpha val="37000"/>
                </a:schemeClr>
              </a:gs>
            </a:gsLst>
            <a:lin ang="504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3035300" y="5727700"/>
            <a:ext cx="1308100" cy="31487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20000"/>
                  <a:satMod val="180000"/>
                  <a:lumMod val="98000"/>
                  <a:alpha val="37000"/>
                </a:schemeClr>
              </a:gs>
              <a:gs pos="40000">
                <a:schemeClr val="accent6">
                  <a:tint val="30000"/>
                  <a:satMod val="260000"/>
                  <a:lumMod val="84000"/>
                  <a:alpha val="37000"/>
                </a:schemeClr>
              </a:gs>
              <a:gs pos="100000">
                <a:schemeClr val="accent6">
                  <a:tint val="100000"/>
                  <a:satMod val="110000"/>
                  <a:lumMod val="100000"/>
                  <a:alpha val="37000"/>
                </a:schemeClr>
              </a:gs>
            </a:gsLst>
            <a:lin ang="504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7391400" y="5697417"/>
            <a:ext cx="501645" cy="81670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20000"/>
                  <a:satMod val="180000"/>
                  <a:lumMod val="98000"/>
                  <a:alpha val="47000"/>
                </a:schemeClr>
              </a:gs>
              <a:gs pos="40000">
                <a:schemeClr val="accent5">
                  <a:tint val="30000"/>
                  <a:satMod val="260000"/>
                  <a:lumMod val="84000"/>
                  <a:alpha val="47000"/>
                </a:schemeClr>
              </a:gs>
              <a:gs pos="100000">
                <a:schemeClr val="accent5">
                  <a:tint val="100000"/>
                  <a:satMod val="110000"/>
                  <a:lumMod val="100000"/>
                  <a:alpha val="47000"/>
                </a:schemeClr>
              </a:gs>
            </a:gsLst>
            <a:lin ang="504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28600" y="6035963"/>
            <a:ext cx="2286780" cy="3648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A:</a:t>
            </a:r>
            <a:r>
              <a:rPr lang="en-US" dirty="0" smtClean="0"/>
              <a:t> !B!C + A(!C+!B)</a:t>
            </a:r>
            <a:endParaRPr lang="en-US" dirty="0"/>
          </a:p>
        </p:txBody>
      </p:sp>
      <p:sp>
        <p:nvSpPr>
          <p:cNvPr id="4" name="Left Brace 3"/>
          <p:cNvSpPr/>
          <p:nvPr/>
        </p:nvSpPr>
        <p:spPr>
          <a:xfrm>
            <a:off x="457200" y="1897380"/>
            <a:ext cx="609600" cy="3436620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2971800"/>
            <a:ext cx="892516" cy="67755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Bad Order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418359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024744" cy="1143000"/>
          </a:xfrm>
        </p:spPr>
        <p:txBody>
          <a:bodyPr/>
          <a:lstStyle/>
          <a:p>
            <a:r>
              <a:rPr lang="en-US" dirty="0" smtClean="0"/>
              <a:t>Batwings Example </a:t>
            </a: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3124200" y="1447800"/>
            <a:ext cx="5562600" cy="417195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1800" kern="0" dirty="0" smtClean="0"/>
              <a:t>Suppose you have to design a circuit system that produces the output X based on the three A,B, C inputs</a:t>
            </a:r>
          </a:p>
          <a:p>
            <a:endParaRPr lang="en-US" sz="1800" kern="0" dirty="0"/>
          </a:p>
          <a:p>
            <a:r>
              <a:rPr lang="en-US" sz="1800" kern="0" dirty="0" smtClean="0"/>
              <a:t>Draw the circuit diagram for this system </a:t>
            </a:r>
            <a:r>
              <a:rPr lang="en-US" sz="1000" kern="0" dirty="0" smtClean="0"/>
              <a:t>(Logisim)</a:t>
            </a:r>
          </a:p>
          <a:p>
            <a:pPr lvl="1"/>
            <a:r>
              <a:rPr lang="en-US" sz="1400" kern="0" dirty="0"/>
              <a:t>2</a:t>
            </a:r>
            <a:r>
              <a:rPr lang="en-US" sz="1400" kern="0" dirty="0" smtClean="0"/>
              <a:t> ANDS in each of 4 rows == 8 ANDS</a:t>
            </a:r>
          </a:p>
          <a:p>
            <a:pPr lvl="2"/>
            <a:r>
              <a:rPr lang="en-US" sz="1000" kern="0" dirty="0" smtClean="0"/>
              <a:t>Ex:  A*~B*C</a:t>
            </a:r>
          </a:p>
          <a:p>
            <a:pPr lvl="1"/>
            <a:r>
              <a:rPr lang="en-US" sz="1400" kern="0" dirty="0" smtClean="0"/>
              <a:t>3 NOTS (~A, ~B, ~C)</a:t>
            </a:r>
          </a:p>
          <a:p>
            <a:pPr lvl="1"/>
            <a:r>
              <a:rPr lang="en-US" sz="1400" kern="0" dirty="0" smtClean="0"/>
              <a:t>1 large OR</a:t>
            </a:r>
          </a:p>
          <a:p>
            <a:endParaRPr lang="en-US" sz="1800" kern="0" dirty="0"/>
          </a:p>
          <a:p>
            <a:r>
              <a:rPr lang="en-US" sz="1800" b="1" kern="0" dirty="0" smtClean="0">
                <a:solidFill>
                  <a:srgbClr val="FF0000"/>
                </a:solidFill>
              </a:rPr>
              <a:t>Q:</a:t>
            </a:r>
            <a:r>
              <a:rPr lang="en-US" sz="1800" kern="0" dirty="0" smtClean="0"/>
              <a:t> Is </a:t>
            </a:r>
            <a:r>
              <a:rPr lang="en-US" sz="1800" kern="0" dirty="0" smtClean="0"/>
              <a:t>this a minimal hardware configuration</a:t>
            </a:r>
            <a:r>
              <a:rPr lang="en-US" sz="1800" kern="0" dirty="0" smtClean="0"/>
              <a:t>?</a:t>
            </a:r>
          </a:p>
          <a:p>
            <a:r>
              <a:rPr lang="en-US" sz="1800" b="1" kern="0" dirty="0" smtClean="0">
                <a:solidFill>
                  <a:srgbClr val="0000FF"/>
                </a:solidFill>
              </a:rPr>
              <a:t>A: </a:t>
            </a:r>
            <a:r>
              <a:rPr lang="en-US" sz="1800" kern="0" dirty="0" smtClean="0"/>
              <a:t>KMap it.</a:t>
            </a:r>
            <a:endParaRPr lang="en-US" sz="1800" kern="0" dirty="0" smtClean="0"/>
          </a:p>
          <a:p>
            <a:pPr lvl="1"/>
            <a:endParaRPr lang="en-US" sz="1400" kern="0" dirty="0" smtClean="0"/>
          </a:p>
        </p:txBody>
      </p:sp>
      <p:sp>
        <p:nvSpPr>
          <p:cNvPr id="45" name="Text Box 56"/>
          <p:cNvSpPr txBox="1">
            <a:spLocks noChangeArrowheads="1"/>
          </p:cNvSpPr>
          <p:nvPr/>
        </p:nvSpPr>
        <p:spPr bwMode="auto">
          <a:xfrm>
            <a:off x="1219200" y="1143000"/>
            <a:ext cx="1603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A      B       C      x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868678"/>
              </p:ext>
            </p:extLst>
          </p:nvPr>
        </p:nvGraphicFramePr>
        <p:xfrm>
          <a:off x="1139826" y="1592362"/>
          <a:ext cx="1755774" cy="364648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76516"/>
                <a:gridCol w="476516"/>
                <a:gridCol w="421742"/>
                <a:gridCol w="381000"/>
              </a:tblGrid>
              <a:tr h="45581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47" name="Straight Connector 46"/>
          <p:cNvCxnSpPr/>
          <p:nvPr/>
        </p:nvCxnSpPr>
        <p:spPr>
          <a:xfrm>
            <a:off x="2514600" y="1143000"/>
            <a:ext cx="0" cy="4372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143000" y="5257800"/>
            <a:ext cx="48006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dirty="0" smtClean="0"/>
              <a:t> </a:t>
            </a:r>
            <a:r>
              <a:rPr lang="en-US" dirty="0"/>
              <a:t>= Batman </a:t>
            </a:r>
            <a:r>
              <a:rPr lang="en-US" dirty="0" smtClean="0"/>
              <a:t>appears!</a:t>
            </a:r>
            <a:endParaRPr lang="en-US" dirty="0"/>
          </a:p>
          <a:p>
            <a:endParaRPr lang="en-US" dirty="0"/>
          </a:p>
          <a:p>
            <a:r>
              <a:rPr lang="en-US" dirty="0"/>
              <a:t>A: The Bat Signal was flashed</a:t>
            </a:r>
          </a:p>
          <a:p>
            <a:r>
              <a:rPr lang="en-US" dirty="0"/>
              <a:t>B: Commissioner and cops are present  </a:t>
            </a:r>
          </a:p>
          <a:p>
            <a:r>
              <a:rPr lang="en-US" dirty="0"/>
              <a:t>C: Everything is </a:t>
            </a:r>
            <a:r>
              <a:rPr lang="en-US" dirty="0" smtClean="0"/>
              <a:t>ok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4800600"/>
            <a:ext cx="1219200" cy="121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209800" y="1447800"/>
            <a:ext cx="6858000" cy="3733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We’ve </a:t>
            </a:r>
            <a:r>
              <a:rPr lang="en-US" dirty="0"/>
              <a:t>looked at </a:t>
            </a:r>
            <a:r>
              <a:rPr lang="en-US" dirty="0" smtClean="0"/>
              <a:t>designing circuit examples </a:t>
            </a:r>
            <a:r>
              <a:rPr lang="en-US" dirty="0"/>
              <a:t>from the book that </a:t>
            </a:r>
            <a:r>
              <a:rPr lang="en-US" b="1" dirty="0" smtClean="0"/>
              <a:t>already exist</a:t>
            </a:r>
            <a:r>
              <a:rPr lang="en-US" dirty="0" smtClean="0"/>
              <a:t>(</a:t>
            </a:r>
            <a:r>
              <a:rPr lang="en-US" dirty="0"/>
              <a:t>traffic </a:t>
            </a:r>
            <a:r>
              <a:rPr lang="en-US" dirty="0" smtClean="0"/>
              <a:t>lights, etc.)</a:t>
            </a:r>
            <a:endParaRPr lang="en-US" dirty="0" smtClean="0"/>
          </a:p>
          <a:p>
            <a:pPr marL="285750" indent="-285750">
              <a:buFont typeface="Arial"/>
              <a:buChar char="•"/>
            </a:pPr>
            <a:r>
              <a:rPr lang="en-US" b="1" dirty="0" smtClean="0"/>
              <a:t>Next</a:t>
            </a:r>
            <a:r>
              <a:rPr lang="en-US" dirty="0" smtClean="0"/>
              <a:t>, lets </a:t>
            </a:r>
            <a:r>
              <a:rPr lang="en-US" dirty="0"/>
              <a:t>consider some arbitrary, imaginary configuration that is not likely to have </a:t>
            </a:r>
            <a:r>
              <a:rPr lang="en-US" dirty="0" smtClean="0"/>
              <a:t>been a </a:t>
            </a:r>
            <a:r>
              <a:rPr lang="en-US" dirty="0"/>
              <a:t>circuit specification you’ve encountered or </a:t>
            </a:r>
            <a:r>
              <a:rPr lang="en-US" dirty="0" smtClean="0"/>
              <a:t>designed</a:t>
            </a:r>
          </a:p>
          <a:p>
            <a:pPr marL="285750" indent="-285750">
              <a:buFont typeface="Arial"/>
              <a:buChar char="•"/>
            </a:pPr>
            <a:r>
              <a:rPr lang="en-US" b="1" dirty="0" smtClean="0"/>
              <a:t>Lets prove </a:t>
            </a:r>
            <a:r>
              <a:rPr lang="en-US" b="1" dirty="0"/>
              <a:t>we can apply our circuit design </a:t>
            </a:r>
            <a:r>
              <a:rPr lang="en-US" dirty="0"/>
              <a:t>and minimization techniques to </a:t>
            </a:r>
            <a:r>
              <a:rPr lang="en-US" b="1" i="1" dirty="0" smtClean="0"/>
              <a:t>all</a:t>
            </a:r>
            <a:r>
              <a:rPr lang="en-US" dirty="0" smtClean="0"/>
              <a:t>?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Concrete and </a:t>
            </a:r>
            <a:r>
              <a:rPr lang="en-US" dirty="0" smtClean="0"/>
              <a:t>Undiscovered</a:t>
            </a:r>
            <a:endParaRPr lang="en-US" dirty="0"/>
          </a:p>
        </p:txBody>
      </p:sp>
      <p:sp>
        <p:nvSpPr>
          <p:cNvPr id="10" name="Left Brace 9"/>
          <p:cNvSpPr/>
          <p:nvPr/>
        </p:nvSpPr>
        <p:spPr>
          <a:xfrm>
            <a:off x="685800" y="1553718"/>
            <a:ext cx="609600" cy="3780282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3011269"/>
            <a:ext cx="892516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Good Order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487599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 animBg="1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0490" y="228600"/>
            <a:ext cx="930402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TODO: </a:t>
            </a:r>
            <a:r>
              <a:rPr lang="en-US" dirty="0" smtClean="0"/>
              <a:t>Complete the Batwings K-Map</a:t>
            </a:r>
          </a:p>
        </p:txBody>
      </p:sp>
      <p:sp>
        <p:nvSpPr>
          <p:cNvPr id="37892" name="Text Box 12"/>
          <p:cNvSpPr txBox="1">
            <a:spLocks noChangeArrowheads="1"/>
          </p:cNvSpPr>
          <p:nvPr/>
        </p:nvSpPr>
        <p:spPr bwMode="auto">
          <a:xfrm>
            <a:off x="5745163" y="1928813"/>
            <a:ext cx="1901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AB   AB    AB    AB   </a:t>
            </a:r>
          </a:p>
        </p:txBody>
      </p:sp>
      <p:sp>
        <p:nvSpPr>
          <p:cNvPr id="37893" name="Line 13"/>
          <p:cNvSpPr>
            <a:spLocks noChangeShapeType="1"/>
          </p:cNvSpPr>
          <p:nvPr/>
        </p:nvSpPr>
        <p:spPr bwMode="auto">
          <a:xfrm>
            <a:off x="5465763" y="2295525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4" name="Line 14"/>
          <p:cNvSpPr>
            <a:spLocks noChangeShapeType="1"/>
          </p:cNvSpPr>
          <p:nvPr/>
        </p:nvSpPr>
        <p:spPr bwMode="auto">
          <a:xfrm>
            <a:off x="7239000" y="1970088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5" name="Line 15"/>
          <p:cNvSpPr>
            <a:spLocks noChangeShapeType="1"/>
          </p:cNvSpPr>
          <p:nvPr/>
        </p:nvSpPr>
        <p:spPr bwMode="auto">
          <a:xfrm>
            <a:off x="6208713" y="1970088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6" name="Line 16"/>
          <p:cNvSpPr>
            <a:spLocks noChangeShapeType="1"/>
          </p:cNvSpPr>
          <p:nvPr/>
        </p:nvSpPr>
        <p:spPr bwMode="auto">
          <a:xfrm>
            <a:off x="5992813" y="19812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7" name="Line 17"/>
          <p:cNvSpPr>
            <a:spLocks noChangeShapeType="1"/>
          </p:cNvSpPr>
          <p:nvPr/>
        </p:nvSpPr>
        <p:spPr bwMode="auto">
          <a:xfrm>
            <a:off x="5811838" y="1979613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898" name="Text Box 18"/>
          <p:cNvSpPr txBox="1">
            <a:spLocks noChangeArrowheads="1"/>
          </p:cNvSpPr>
          <p:nvPr/>
        </p:nvSpPr>
        <p:spPr bwMode="auto">
          <a:xfrm>
            <a:off x="5381625" y="2274888"/>
            <a:ext cx="31273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</a:t>
            </a:r>
          </a:p>
          <a:p>
            <a:pPr algn="ctr" eaLnBrk="1" hangingPunct="1"/>
            <a:endParaRPr lang="en-US" sz="1400" b="1"/>
          </a:p>
          <a:p>
            <a:pPr algn="ctr" eaLnBrk="1" hangingPunct="1"/>
            <a:r>
              <a:rPr lang="en-US" sz="1400" b="1"/>
              <a:t>C</a:t>
            </a:r>
          </a:p>
        </p:txBody>
      </p:sp>
      <p:sp>
        <p:nvSpPr>
          <p:cNvPr id="37933" name="Text Box 56"/>
          <p:cNvSpPr txBox="1">
            <a:spLocks noChangeArrowheads="1"/>
          </p:cNvSpPr>
          <p:nvPr/>
        </p:nvSpPr>
        <p:spPr bwMode="auto">
          <a:xfrm>
            <a:off x="1524000" y="1665288"/>
            <a:ext cx="1603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A      B       C      x</a:t>
            </a:r>
          </a:p>
        </p:txBody>
      </p:sp>
      <p:sp>
        <p:nvSpPr>
          <p:cNvPr id="37942" name="Line 66"/>
          <p:cNvSpPr>
            <a:spLocks noChangeShapeType="1"/>
          </p:cNvSpPr>
          <p:nvPr/>
        </p:nvSpPr>
        <p:spPr bwMode="auto">
          <a:xfrm>
            <a:off x="3546475" y="2620963"/>
            <a:ext cx="1390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946" name="Text Box 70"/>
          <p:cNvSpPr txBox="1">
            <a:spLocks noChangeArrowheads="1"/>
          </p:cNvSpPr>
          <p:nvPr/>
        </p:nvSpPr>
        <p:spPr bwMode="auto">
          <a:xfrm>
            <a:off x="6174429" y="4079975"/>
            <a:ext cx="5987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 dirty="0"/>
              <a:t>x = </a:t>
            </a:r>
            <a:r>
              <a:rPr lang="en-US" sz="1400" b="1" dirty="0" smtClean="0">
                <a:solidFill>
                  <a:srgbClr val="FF0000"/>
                </a:solidFill>
              </a:rPr>
              <a:t>?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7951" name="Line 75"/>
          <p:cNvSpPr>
            <a:spLocks noChangeShapeType="1"/>
          </p:cNvSpPr>
          <p:nvPr/>
        </p:nvSpPr>
        <p:spPr bwMode="auto">
          <a:xfrm>
            <a:off x="6502400" y="3159125"/>
            <a:ext cx="0" cy="803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5847"/>
              </p:ext>
            </p:extLst>
          </p:nvPr>
        </p:nvGraphicFramePr>
        <p:xfrm>
          <a:off x="1444626" y="2114650"/>
          <a:ext cx="1755774" cy="364648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76516"/>
                <a:gridCol w="476516"/>
                <a:gridCol w="421742"/>
                <a:gridCol w="381000"/>
              </a:tblGrid>
              <a:tr h="45581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1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2819400" y="1665288"/>
            <a:ext cx="0" cy="4372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784066"/>
              </p:ext>
            </p:extLst>
          </p:nvPr>
        </p:nvGraphicFramePr>
        <p:xfrm>
          <a:off x="5694363" y="2238238"/>
          <a:ext cx="1804988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1247"/>
                <a:gridCol w="451247"/>
                <a:gridCol w="451247"/>
                <a:gridCol w="451247"/>
              </a:tblGrid>
              <a:tr h="338206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206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7543800" y="2225569"/>
            <a:ext cx="0" cy="427923"/>
          </a:xfrm>
          <a:prstGeom prst="line">
            <a:avLst/>
          </a:prstGeom>
          <a:ln w="47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5618163" y="2212532"/>
            <a:ext cx="0" cy="427923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272321"/>
              </p:ext>
            </p:extLst>
          </p:nvPr>
        </p:nvGraphicFramePr>
        <p:xfrm>
          <a:off x="5715000" y="2240280"/>
          <a:ext cx="1804988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1247"/>
                <a:gridCol w="451247"/>
                <a:gridCol w="451247"/>
                <a:gridCol w="451247"/>
              </a:tblGrid>
              <a:tr h="338206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206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20" name="Straight Connector 19"/>
          <p:cNvCxnSpPr/>
          <p:nvPr/>
        </p:nvCxnSpPr>
        <p:spPr>
          <a:xfrm>
            <a:off x="7564437" y="2227611"/>
            <a:ext cx="0" cy="427923"/>
          </a:xfrm>
          <a:prstGeom prst="line">
            <a:avLst/>
          </a:prstGeom>
          <a:ln w="47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29400" y="3364468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Draw Loops?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108825" y="2233613"/>
            <a:ext cx="282575" cy="771525"/>
          </a:xfrm>
          <a:prstGeom prst="rect">
            <a:avLst/>
          </a:prstGeom>
          <a:noFill/>
          <a:ln w="444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645642" y="2180919"/>
            <a:ext cx="776286" cy="43845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113465" y="2225569"/>
            <a:ext cx="432044" cy="438456"/>
          </a:xfrm>
          <a:prstGeom prst="rect">
            <a:avLst/>
          </a:prstGeom>
          <a:noFill/>
          <a:ln w="44450">
            <a:solidFill>
              <a:srgbClr val="002B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630741" y="2207266"/>
            <a:ext cx="432044" cy="438456"/>
          </a:xfrm>
          <a:prstGeom prst="rect">
            <a:avLst/>
          </a:prstGeom>
          <a:noFill/>
          <a:ln w="4445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Box 70"/>
          <p:cNvSpPr txBox="1">
            <a:spLocks noChangeArrowheads="1"/>
          </p:cNvSpPr>
          <p:nvPr/>
        </p:nvSpPr>
        <p:spPr bwMode="auto">
          <a:xfrm>
            <a:off x="5465763" y="4346903"/>
            <a:ext cx="2016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 dirty="0"/>
              <a:t>x = </a:t>
            </a:r>
            <a:r>
              <a:rPr lang="en-US" sz="1400" b="1" dirty="0">
                <a:solidFill>
                  <a:srgbClr val="0033CC"/>
                </a:solidFill>
              </a:rPr>
              <a:t>B*C</a:t>
            </a:r>
            <a:r>
              <a:rPr lang="en-US" sz="1400" b="1" dirty="0"/>
              <a:t> + </a:t>
            </a:r>
            <a:r>
              <a:rPr lang="en-US" sz="1400" b="1" dirty="0">
                <a:solidFill>
                  <a:srgbClr val="7030A0"/>
                </a:solidFill>
              </a:rPr>
              <a:t>A*B</a:t>
            </a:r>
            <a:r>
              <a:rPr lang="en-US" sz="1400" b="1" dirty="0"/>
              <a:t> + </a:t>
            </a:r>
            <a:r>
              <a:rPr lang="en-US" sz="1400" b="1" dirty="0">
                <a:solidFill>
                  <a:srgbClr val="FF0000"/>
                </a:solidFill>
              </a:rPr>
              <a:t>A*C</a:t>
            </a:r>
            <a:r>
              <a:rPr lang="en-US" sz="1400" b="1" dirty="0"/>
              <a:t>   </a:t>
            </a:r>
          </a:p>
        </p:txBody>
      </p:sp>
      <p:sp>
        <p:nvSpPr>
          <p:cNvPr id="33" name="Line 71"/>
          <p:cNvSpPr>
            <a:spLocks noChangeShapeType="1"/>
          </p:cNvSpPr>
          <p:nvPr/>
        </p:nvSpPr>
        <p:spPr bwMode="auto">
          <a:xfrm>
            <a:off x="5913438" y="440564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" name="Line 72"/>
          <p:cNvSpPr>
            <a:spLocks noChangeShapeType="1"/>
          </p:cNvSpPr>
          <p:nvPr/>
        </p:nvSpPr>
        <p:spPr bwMode="auto">
          <a:xfrm>
            <a:off x="6122988" y="440564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" name="Line 73"/>
          <p:cNvSpPr>
            <a:spLocks noChangeShapeType="1"/>
          </p:cNvSpPr>
          <p:nvPr/>
        </p:nvSpPr>
        <p:spPr bwMode="auto">
          <a:xfrm>
            <a:off x="6637338" y="4415165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" name="Line 74"/>
          <p:cNvSpPr>
            <a:spLocks noChangeShapeType="1"/>
          </p:cNvSpPr>
          <p:nvPr/>
        </p:nvSpPr>
        <p:spPr bwMode="auto">
          <a:xfrm>
            <a:off x="7162800" y="4416753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" name="Text Box 76"/>
          <p:cNvSpPr txBox="1">
            <a:spLocks noChangeArrowheads="1"/>
          </p:cNvSpPr>
          <p:nvPr/>
        </p:nvSpPr>
        <p:spPr bwMode="auto">
          <a:xfrm>
            <a:off x="4998941" y="4658380"/>
            <a:ext cx="2818011" cy="52322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 dirty="0" smtClean="0">
                <a:latin typeface="Arial" pitchFamily="34" charset="0"/>
              </a:rPr>
              <a:t>“Simplified” equation</a:t>
            </a:r>
          </a:p>
          <a:p>
            <a:pPr algn="ctr" eaLnBrk="1" hangingPunct="1"/>
            <a:r>
              <a:rPr lang="en-US" sz="1400" b="1" dirty="0" smtClean="0">
                <a:solidFill>
                  <a:srgbClr val="FF0000"/>
                </a:solidFill>
                <a:latin typeface="Arial" pitchFamily="34" charset="0"/>
              </a:rPr>
              <a:t>Q:</a:t>
            </a:r>
            <a:r>
              <a:rPr lang="en-US" sz="1400" b="1" dirty="0" smtClean="0">
                <a:latin typeface="Arial" pitchFamily="34" charset="0"/>
              </a:rPr>
              <a:t> Can it be further simplified?</a:t>
            </a:r>
            <a:endParaRPr lang="en-US" sz="1400" b="1" dirty="0">
              <a:latin typeface="Arial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29000" y="5257800"/>
            <a:ext cx="528066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A:</a:t>
            </a:r>
            <a:r>
              <a:rPr lang="en-US" dirty="0"/>
              <a:t> Yes.  K-maps aren’t optimal, but close.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A:</a:t>
            </a:r>
            <a:r>
              <a:rPr lang="en-US" dirty="0" smtClean="0"/>
              <a:t> x = !B(A + !C) + A!C  //saves 1 gate</a:t>
            </a:r>
          </a:p>
          <a:p>
            <a:r>
              <a:rPr lang="en-US" dirty="0" smtClean="0"/>
              <a:t>//We’ll still view the K-Map solution sufficient.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821526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8" dur="2000"/>
                                        <p:tgtEl>
                                          <p:spTgt spid="37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46" grpId="0"/>
      <p:bldP spid="3" grpId="0"/>
      <p:bldP spid="3" grpId="1"/>
      <p:bldP spid="22" grpId="0" animBg="1"/>
      <p:bldP spid="23" grpId="0" animBg="1"/>
      <p:bldP spid="24" grpId="0" animBg="1"/>
      <p:bldP spid="25" grpId="0" animBg="1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Designing the </a:t>
            </a:r>
            <a:br>
              <a:rPr lang="en-US" dirty="0" smtClean="0"/>
            </a:br>
            <a:r>
              <a:rPr lang="en-US" dirty="0" smtClean="0"/>
              <a:t>Batwings “Simplified” Hardware</a:t>
            </a:r>
          </a:p>
        </p:txBody>
      </p:sp>
      <p:sp>
        <p:nvSpPr>
          <p:cNvPr id="39939" name="Text Box 1027"/>
          <p:cNvSpPr txBox="1">
            <a:spLocks noChangeArrowheads="1"/>
          </p:cNvSpPr>
          <p:nvPr/>
        </p:nvSpPr>
        <p:spPr bwMode="auto">
          <a:xfrm>
            <a:off x="503238" y="1591082"/>
            <a:ext cx="3029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 dirty="0"/>
              <a:t>A       </a:t>
            </a:r>
            <a:r>
              <a:rPr lang="en-US" b="1" dirty="0" smtClean="0"/>
              <a:t>    </a:t>
            </a:r>
            <a:endParaRPr lang="en-US" b="1" dirty="0"/>
          </a:p>
        </p:txBody>
      </p:sp>
      <p:sp>
        <p:nvSpPr>
          <p:cNvPr id="39940" name="AutoShape 1028"/>
          <p:cNvSpPr>
            <a:spLocks noChangeArrowheads="1"/>
          </p:cNvSpPr>
          <p:nvPr/>
        </p:nvSpPr>
        <p:spPr bwMode="auto">
          <a:xfrm flipH="1">
            <a:off x="6780213" y="4238625"/>
            <a:ext cx="785812" cy="1000125"/>
          </a:xfrm>
          <a:prstGeom prst="moon">
            <a:avLst>
              <a:gd name="adj" fmla="val 73810"/>
            </a:avLst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39941" name="Text Box 1029"/>
          <p:cNvSpPr txBox="1">
            <a:spLocks noChangeArrowheads="1"/>
          </p:cNvSpPr>
          <p:nvPr/>
        </p:nvSpPr>
        <p:spPr bwMode="auto">
          <a:xfrm>
            <a:off x="7038975" y="4586288"/>
            <a:ext cx="412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OR</a:t>
            </a:r>
          </a:p>
        </p:txBody>
      </p:sp>
      <p:sp>
        <p:nvSpPr>
          <p:cNvPr id="39942" name="Line 1030"/>
          <p:cNvSpPr>
            <a:spLocks noChangeShapeType="1"/>
          </p:cNvSpPr>
          <p:nvPr/>
        </p:nvSpPr>
        <p:spPr bwMode="auto">
          <a:xfrm flipH="1">
            <a:off x="6099175" y="4341813"/>
            <a:ext cx="73660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3" name="Line 1031"/>
          <p:cNvSpPr>
            <a:spLocks noChangeShapeType="1"/>
          </p:cNvSpPr>
          <p:nvPr/>
        </p:nvSpPr>
        <p:spPr bwMode="auto">
          <a:xfrm flipH="1">
            <a:off x="7596188" y="4735513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4" name="Line 1032"/>
          <p:cNvSpPr>
            <a:spLocks noChangeShapeType="1"/>
          </p:cNvSpPr>
          <p:nvPr/>
        </p:nvSpPr>
        <p:spPr bwMode="auto">
          <a:xfrm flipH="1">
            <a:off x="6099175" y="5129213"/>
            <a:ext cx="73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5" name="Line 1033"/>
          <p:cNvSpPr>
            <a:spLocks noChangeShapeType="1"/>
          </p:cNvSpPr>
          <p:nvPr/>
        </p:nvSpPr>
        <p:spPr bwMode="auto">
          <a:xfrm>
            <a:off x="609600" y="1892300"/>
            <a:ext cx="0" cy="3721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9949" name="Oval 1039"/>
          <p:cNvSpPr>
            <a:spLocks noChangeArrowheads="1"/>
          </p:cNvSpPr>
          <p:nvPr/>
        </p:nvSpPr>
        <p:spPr bwMode="auto">
          <a:xfrm>
            <a:off x="558800" y="4508500"/>
            <a:ext cx="101600" cy="1143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9950" name="Oval 1040"/>
          <p:cNvSpPr>
            <a:spLocks noChangeArrowheads="1"/>
          </p:cNvSpPr>
          <p:nvPr/>
        </p:nvSpPr>
        <p:spPr bwMode="auto">
          <a:xfrm>
            <a:off x="3454400" y="3784600"/>
            <a:ext cx="101600" cy="1143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9951" name="Oval 1041"/>
          <p:cNvSpPr>
            <a:spLocks noChangeArrowheads="1"/>
          </p:cNvSpPr>
          <p:nvPr/>
        </p:nvSpPr>
        <p:spPr bwMode="auto">
          <a:xfrm>
            <a:off x="2222500" y="3416300"/>
            <a:ext cx="101600" cy="1143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9953" name="Text Box 1043"/>
          <p:cNvSpPr txBox="1">
            <a:spLocks noChangeArrowheads="1"/>
          </p:cNvSpPr>
          <p:nvPr/>
        </p:nvSpPr>
        <p:spPr bwMode="auto">
          <a:xfrm>
            <a:off x="1631950" y="1604963"/>
            <a:ext cx="8048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B        *B</a:t>
            </a:r>
          </a:p>
        </p:txBody>
      </p:sp>
      <p:sp>
        <p:nvSpPr>
          <p:cNvPr id="39954" name="Line 1044"/>
          <p:cNvSpPr>
            <a:spLocks noChangeShapeType="1"/>
          </p:cNvSpPr>
          <p:nvPr/>
        </p:nvSpPr>
        <p:spPr bwMode="auto">
          <a:xfrm flipH="1">
            <a:off x="1765300" y="1860592"/>
            <a:ext cx="0" cy="2152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39955" name="Group 1045"/>
          <p:cNvGrpSpPr>
            <a:grpSpLocks/>
          </p:cNvGrpSpPr>
          <p:nvPr/>
        </p:nvGrpSpPr>
        <p:grpSpPr bwMode="auto">
          <a:xfrm rot="5400000">
            <a:off x="1770857" y="2334418"/>
            <a:ext cx="1047750" cy="874713"/>
            <a:chOff x="1988" y="2158"/>
            <a:chExt cx="660" cy="551"/>
          </a:xfrm>
        </p:grpSpPr>
        <p:sp>
          <p:nvSpPr>
            <p:cNvPr id="40011" name="AutoShape 1046"/>
            <p:cNvSpPr>
              <a:spLocks noChangeArrowheads="1"/>
            </p:cNvSpPr>
            <p:nvPr/>
          </p:nvSpPr>
          <p:spPr bwMode="auto">
            <a:xfrm rot="5400000">
              <a:off x="1998" y="2148"/>
              <a:ext cx="551" cy="571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012" name="Oval 1047"/>
            <p:cNvSpPr>
              <a:spLocks noChangeArrowheads="1"/>
            </p:cNvSpPr>
            <p:nvPr/>
          </p:nvSpPr>
          <p:spPr bwMode="auto">
            <a:xfrm>
              <a:off x="2568" y="2384"/>
              <a:ext cx="80" cy="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9956" name="Freeform 1048"/>
          <p:cNvSpPr>
            <a:spLocks/>
          </p:cNvSpPr>
          <p:nvPr/>
        </p:nvSpPr>
        <p:spPr bwMode="auto">
          <a:xfrm>
            <a:off x="1778000" y="2070100"/>
            <a:ext cx="508000" cy="177800"/>
          </a:xfrm>
          <a:custGeom>
            <a:avLst/>
            <a:gdLst>
              <a:gd name="T0" fmla="*/ 0 w 320"/>
              <a:gd name="T1" fmla="*/ 0 h 112"/>
              <a:gd name="T2" fmla="*/ 2147483647 w 320"/>
              <a:gd name="T3" fmla="*/ 0 h 112"/>
              <a:gd name="T4" fmla="*/ 2147483647 w 320"/>
              <a:gd name="T5" fmla="*/ 2147483647 h 112"/>
              <a:gd name="T6" fmla="*/ 0 60000 65536"/>
              <a:gd name="T7" fmla="*/ 0 60000 65536"/>
              <a:gd name="T8" fmla="*/ 0 60000 65536"/>
              <a:gd name="T9" fmla="*/ 0 w 320"/>
              <a:gd name="T10" fmla="*/ 0 h 112"/>
              <a:gd name="T11" fmla="*/ 320 w 320"/>
              <a:gd name="T12" fmla="*/ 112 h 1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0" h="112">
                <a:moveTo>
                  <a:pt x="0" y="0"/>
                </a:moveTo>
                <a:lnTo>
                  <a:pt x="320" y="0"/>
                </a:lnTo>
                <a:lnTo>
                  <a:pt x="320" y="11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57" name="Oval 1049"/>
          <p:cNvSpPr>
            <a:spLocks noChangeArrowheads="1"/>
          </p:cNvSpPr>
          <p:nvPr/>
        </p:nvSpPr>
        <p:spPr bwMode="auto">
          <a:xfrm>
            <a:off x="1714500" y="2006600"/>
            <a:ext cx="101600" cy="1143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9958" name="Line 1050"/>
          <p:cNvSpPr>
            <a:spLocks noChangeShapeType="1"/>
          </p:cNvSpPr>
          <p:nvPr/>
        </p:nvSpPr>
        <p:spPr bwMode="auto">
          <a:xfrm>
            <a:off x="2286000" y="3289300"/>
            <a:ext cx="0" cy="165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9959" name="Text Box 1051"/>
          <p:cNvSpPr txBox="1">
            <a:spLocks noChangeArrowheads="1"/>
          </p:cNvSpPr>
          <p:nvPr/>
        </p:nvSpPr>
        <p:spPr bwMode="auto">
          <a:xfrm>
            <a:off x="2851150" y="1617663"/>
            <a:ext cx="8477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C         *C</a:t>
            </a:r>
          </a:p>
        </p:txBody>
      </p:sp>
      <p:sp>
        <p:nvSpPr>
          <p:cNvPr id="39960" name="Line 1052"/>
          <p:cNvSpPr>
            <a:spLocks noChangeShapeType="1"/>
          </p:cNvSpPr>
          <p:nvPr/>
        </p:nvSpPr>
        <p:spPr bwMode="auto">
          <a:xfrm>
            <a:off x="2984500" y="1857284"/>
            <a:ext cx="0" cy="20973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 dirty="0"/>
          </a:p>
        </p:txBody>
      </p:sp>
      <p:grpSp>
        <p:nvGrpSpPr>
          <p:cNvPr id="39961" name="Group 1053"/>
          <p:cNvGrpSpPr>
            <a:grpSpLocks/>
          </p:cNvGrpSpPr>
          <p:nvPr/>
        </p:nvGrpSpPr>
        <p:grpSpPr bwMode="auto">
          <a:xfrm rot="5400000">
            <a:off x="2990057" y="2347118"/>
            <a:ext cx="1047750" cy="874713"/>
            <a:chOff x="1988" y="2158"/>
            <a:chExt cx="660" cy="551"/>
          </a:xfrm>
        </p:grpSpPr>
        <p:sp>
          <p:nvSpPr>
            <p:cNvPr id="40009" name="AutoShape 1054"/>
            <p:cNvSpPr>
              <a:spLocks noChangeArrowheads="1"/>
            </p:cNvSpPr>
            <p:nvPr/>
          </p:nvSpPr>
          <p:spPr bwMode="auto">
            <a:xfrm rot="5400000">
              <a:off x="1998" y="2148"/>
              <a:ext cx="551" cy="571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010" name="Oval 1055"/>
            <p:cNvSpPr>
              <a:spLocks noChangeArrowheads="1"/>
            </p:cNvSpPr>
            <p:nvPr/>
          </p:nvSpPr>
          <p:spPr bwMode="auto">
            <a:xfrm>
              <a:off x="2568" y="2384"/>
              <a:ext cx="80" cy="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9962" name="Freeform 1056"/>
          <p:cNvSpPr>
            <a:spLocks/>
          </p:cNvSpPr>
          <p:nvPr/>
        </p:nvSpPr>
        <p:spPr bwMode="auto">
          <a:xfrm>
            <a:off x="2997200" y="2082800"/>
            <a:ext cx="508000" cy="177800"/>
          </a:xfrm>
          <a:custGeom>
            <a:avLst/>
            <a:gdLst>
              <a:gd name="T0" fmla="*/ 0 w 320"/>
              <a:gd name="T1" fmla="*/ 0 h 112"/>
              <a:gd name="T2" fmla="*/ 2147483647 w 320"/>
              <a:gd name="T3" fmla="*/ 0 h 112"/>
              <a:gd name="T4" fmla="*/ 2147483647 w 320"/>
              <a:gd name="T5" fmla="*/ 2147483647 h 112"/>
              <a:gd name="T6" fmla="*/ 0 60000 65536"/>
              <a:gd name="T7" fmla="*/ 0 60000 65536"/>
              <a:gd name="T8" fmla="*/ 0 60000 65536"/>
              <a:gd name="T9" fmla="*/ 0 w 320"/>
              <a:gd name="T10" fmla="*/ 0 h 112"/>
              <a:gd name="T11" fmla="*/ 320 w 320"/>
              <a:gd name="T12" fmla="*/ 112 h 1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0" h="112">
                <a:moveTo>
                  <a:pt x="0" y="0"/>
                </a:moveTo>
                <a:lnTo>
                  <a:pt x="320" y="0"/>
                </a:lnTo>
                <a:lnTo>
                  <a:pt x="320" y="11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63" name="Oval 1057"/>
          <p:cNvSpPr>
            <a:spLocks noChangeArrowheads="1"/>
          </p:cNvSpPr>
          <p:nvPr/>
        </p:nvSpPr>
        <p:spPr bwMode="auto">
          <a:xfrm>
            <a:off x="2933700" y="2019300"/>
            <a:ext cx="101600" cy="1143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9964" name="Line 1058"/>
          <p:cNvSpPr>
            <a:spLocks noChangeShapeType="1"/>
          </p:cNvSpPr>
          <p:nvPr/>
        </p:nvSpPr>
        <p:spPr bwMode="auto">
          <a:xfrm>
            <a:off x="3505200" y="3302000"/>
            <a:ext cx="6350" cy="2740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39965" name="Group 1059"/>
          <p:cNvGrpSpPr>
            <a:grpSpLocks/>
          </p:cNvGrpSpPr>
          <p:nvPr/>
        </p:nvGrpSpPr>
        <p:grpSpPr bwMode="auto">
          <a:xfrm>
            <a:off x="3875088" y="5491163"/>
            <a:ext cx="2195512" cy="685800"/>
            <a:chOff x="3609" y="2099"/>
            <a:chExt cx="1383" cy="432"/>
          </a:xfrm>
        </p:grpSpPr>
        <p:sp>
          <p:nvSpPr>
            <p:cNvPr id="40004" name="Line 1060"/>
            <p:cNvSpPr>
              <a:spLocks noChangeShapeType="1"/>
            </p:cNvSpPr>
            <p:nvPr/>
          </p:nvSpPr>
          <p:spPr bwMode="auto">
            <a:xfrm flipH="1">
              <a:off x="3617" y="2195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005" name="AutoShape 1061"/>
            <p:cNvSpPr>
              <a:spLocks noChangeArrowheads="1"/>
            </p:cNvSpPr>
            <p:nvPr/>
          </p:nvSpPr>
          <p:spPr bwMode="auto">
            <a:xfrm>
              <a:off x="4049" y="2099"/>
              <a:ext cx="528" cy="432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006" name="Line 1062"/>
            <p:cNvSpPr>
              <a:spLocks noChangeShapeType="1"/>
            </p:cNvSpPr>
            <p:nvPr/>
          </p:nvSpPr>
          <p:spPr bwMode="auto">
            <a:xfrm flipH="1">
              <a:off x="3609" y="2427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007" name="Line 1063"/>
            <p:cNvSpPr>
              <a:spLocks noChangeShapeType="1"/>
            </p:cNvSpPr>
            <p:nvPr/>
          </p:nvSpPr>
          <p:spPr bwMode="auto">
            <a:xfrm flipH="1">
              <a:off x="4560" y="230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008" name="Text Box 1064"/>
            <p:cNvSpPr txBox="1">
              <a:spLocks noChangeArrowheads="1"/>
            </p:cNvSpPr>
            <p:nvPr/>
          </p:nvSpPr>
          <p:spPr bwMode="auto">
            <a:xfrm>
              <a:off x="4111" y="2217"/>
              <a:ext cx="32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b="1"/>
                <a:t>AND</a:t>
              </a:r>
            </a:p>
          </p:txBody>
        </p:sp>
      </p:grpSp>
      <p:grpSp>
        <p:nvGrpSpPr>
          <p:cNvPr id="39966" name="Group 1065"/>
          <p:cNvGrpSpPr>
            <a:grpSpLocks/>
          </p:cNvGrpSpPr>
          <p:nvPr/>
        </p:nvGrpSpPr>
        <p:grpSpPr bwMode="auto">
          <a:xfrm>
            <a:off x="3887788" y="4424363"/>
            <a:ext cx="2195512" cy="685800"/>
            <a:chOff x="3609" y="2099"/>
            <a:chExt cx="1383" cy="432"/>
          </a:xfrm>
        </p:grpSpPr>
        <p:sp>
          <p:nvSpPr>
            <p:cNvPr id="39999" name="Line 1066"/>
            <p:cNvSpPr>
              <a:spLocks noChangeShapeType="1"/>
            </p:cNvSpPr>
            <p:nvPr/>
          </p:nvSpPr>
          <p:spPr bwMode="auto">
            <a:xfrm flipH="1">
              <a:off x="3617" y="2195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000" name="AutoShape 1067"/>
            <p:cNvSpPr>
              <a:spLocks noChangeArrowheads="1"/>
            </p:cNvSpPr>
            <p:nvPr/>
          </p:nvSpPr>
          <p:spPr bwMode="auto">
            <a:xfrm>
              <a:off x="4049" y="2099"/>
              <a:ext cx="528" cy="432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001" name="Line 1068"/>
            <p:cNvSpPr>
              <a:spLocks noChangeShapeType="1"/>
            </p:cNvSpPr>
            <p:nvPr/>
          </p:nvSpPr>
          <p:spPr bwMode="auto">
            <a:xfrm flipH="1">
              <a:off x="3609" y="2427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002" name="Line 1069"/>
            <p:cNvSpPr>
              <a:spLocks noChangeShapeType="1"/>
            </p:cNvSpPr>
            <p:nvPr/>
          </p:nvSpPr>
          <p:spPr bwMode="auto">
            <a:xfrm flipH="1">
              <a:off x="4560" y="230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003" name="Text Box 1070"/>
            <p:cNvSpPr txBox="1">
              <a:spLocks noChangeArrowheads="1"/>
            </p:cNvSpPr>
            <p:nvPr/>
          </p:nvSpPr>
          <p:spPr bwMode="auto">
            <a:xfrm>
              <a:off x="4111" y="2217"/>
              <a:ext cx="32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b="1"/>
                <a:t>AND</a:t>
              </a:r>
            </a:p>
          </p:txBody>
        </p:sp>
      </p:grpSp>
      <p:grpSp>
        <p:nvGrpSpPr>
          <p:cNvPr id="39967" name="Group 1071"/>
          <p:cNvGrpSpPr>
            <a:grpSpLocks/>
          </p:cNvGrpSpPr>
          <p:nvPr/>
        </p:nvGrpSpPr>
        <p:grpSpPr bwMode="auto">
          <a:xfrm>
            <a:off x="3900488" y="3332163"/>
            <a:ext cx="2195512" cy="685800"/>
            <a:chOff x="3609" y="2099"/>
            <a:chExt cx="1383" cy="432"/>
          </a:xfrm>
        </p:grpSpPr>
        <p:sp>
          <p:nvSpPr>
            <p:cNvPr id="39994" name="Line 1072"/>
            <p:cNvSpPr>
              <a:spLocks noChangeShapeType="1"/>
            </p:cNvSpPr>
            <p:nvPr/>
          </p:nvSpPr>
          <p:spPr bwMode="auto">
            <a:xfrm flipH="1">
              <a:off x="3617" y="2195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95" name="AutoShape 1073"/>
            <p:cNvSpPr>
              <a:spLocks noChangeArrowheads="1"/>
            </p:cNvSpPr>
            <p:nvPr/>
          </p:nvSpPr>
          <p:spPr bwMode="auto">
            <a:xfrm>
              <a:off x="4049" y="2099"/>
              <a:ext cx="528" cy="432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39996" name="Line 1074"/>
            <p:cNvSpPr>
              <a:spLocks noChangeShapeType="1"/>
            </p:cNvSpPr>
            <p:nvPr/>
          </p:nvSpPr>
          <p:spPr bwMode="auto">
            <a:xfrm flipH="1">
              <a:off x="3609" y="2427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97" name="Line 1075"/>
            <p:cNvSpPr>
              <a:spLocks noChangeShapeType="1"/>
            </p:cNvSpPr>
            <p:nvPr/>
          </p:nvSpPr>
          <p:spPr bwMode="auto">
            <a:xfrm flipH="1">
              <a:off x="4560" y="230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98" name="Text Box 1076"/>
            <p:cNvSpPr txBox="1">
              <a:spLocks noChangeArrowheads="1"/>
            </p:cNvSpPr>
            <p:nvPr/>
          </p:nvSpPr>
          <p:spPr bwMode="auto">
            <a:xfrm>
              <a:off x="4111" y="2217"/>
              <a:ext cx="32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b="1"/>
                <a:t>AND</a:t>
              </a:r>
            </a:p>
          </p:txBody>
        </p:sp>
      </p:grpSp>
      <p:sp>
        <p:nvSpPr>
          <p:cNvPr id="39968" name="Line 1077"/>
          <p:cNvSpPr>
            <a:spLocks noChangeShapeType="1"/>
          </p:cNvSpPr>
          <p:nvPr/>
        </p:nvSpPr>
        <p:spPr bwMode="auto">
          <a:xfrm flipH="1">
            <a:off x="2273300" y="3479800"/>
            <a:ext cx="1739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69" name="Line 1078"/>
          <p:cNvSpPr>
            <a:spLocks noChangeShapeType="1"/>
          </p:cNvSpPr>
          <p:nvPr/>
        </p:nvSpPr>
        <p:spPr bwMode="auto">
          <a:xfrm flipH="1">
            <a:off x="3505200" y="3860800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70" name="Line 1079"/>
          <p:cNvSpPr>
            <a:spLocks noChangeShapeType="1"/>
          </p:cNvSpPr>
          <p:nvPr/>
        </p:nvSpPr>
        <p:spPr bwMode="auto">
          <a:xfrm flipH="1">
            <a:off x="596900" y="4572000"/>
            <a:ext cx="340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71" name="Line 1080"/>
          <p:cNvSpPr>
            <a:spLocks noChangeShapeType="1"/>
          </p:cNvSpPr>
          <p:nvPr/>
        </p:nvSpPr>
        <p:spPr bwMode="auto">
          <a:xfrm flipH="1">
            <a:off x="2286000" y="4940300"/>
            <a:ext cx="1739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72" name="Line 1081"/>
          <p:cNvSpPr>
            <a:spLocks noChangeShapeType="1"/>
          </p:cNvSpPr>
          <p:nvPr/>
        </p:nvSpPr>
        <p:spPr bwMode="auto">
          <a:xfrm flipH="1">
            <a:off x="584200" y="5651500"/>
            <a:ext cx="340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73" name="Line 1082"/>
          <p:cNvSpPr>
            <a:spLocks noChangeShapeType="1"/>
          </p:cNvSpPr>
          <p:nvPr/>
        </p:nvSpPr>
        <p:spPr bwMode="auto">
          <a:xfrm flipH="1">
            <a:off x="3492500" y="6019800"/>
            <a:ext cx="49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74" name="Line 1083"/>
          <p:cNvSpPr>
            <a:spLocks noChangeShapeType="1"/>
          </p:cNvSpPr>
          <p:nvPr/>
        </p:nvSpPr>
        <p:spPr bwMode="auto">
          <a:xfrm>
            <a:off x="6007100" y="4749800"/>
            <a:ext cx="96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75" name="Line 1084"/>
          <p:cNvSpPr>
            <a:spLocks noChangeShapeType="1"/>
          </p:cNvSpPr>
          <p:nvPr/>
        </p:nvSpPr>
        <p:spPr bwMode="auto">
          <a:xfrm>
            <a:off x="6108700" y="3657600"/>
            <a:ext cx="0" cy="673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76" name="Line 1085"/>
          <p:cNvSpPr>
            <a:spLocks noChangeShapeType="1"/>
          </p:cNvSpPr>
          <p:nvPr/>
        </p:nvSpPr>
        <p:spPr bwMode="auto">
          <a:xfrm>
            <a:off x="6083300" y="51308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78" name="Text Box 1087"/>
          <p:cNvSpPr txBox="1">
            <a:spLocks noChangeArrowheads="1"/>
          </p:cNvSpPr>
          <p:nvPr/>
        </p:nvSpPr>
        <p:spPr bwMode="auto">
          <a:xfrm>
            <a:off x="2028825" y="2370138"/>
            <a:ext cx="5064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NOT</a:t>
            </a:r>
          </a:p>
        </p:txBody>
      </p:sp>
      <p:sp>
        <p:nvSpPr>
          <p:cNvPr id="39979" name="Text Box 1088"/>
          <p:cNvSpPr txBox="1">
            <a:spLocks noChangeArrowheads="1"/>
          </p:cNvSpPr>
          <p:nvPr/>
        </p:nvSpPr>
        <p:spPr bwMode="auto">
          <a:xfrm>
            <a:off x="3273425" y="2382838"/>
            <a:ext cx="5064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NOT</a:t>
            </a:r>
          </a:p>
        </p:txBody>
      </p:sp>
      <p:sp>
        <p:nvSpPr>
          <p:cNvPr id="39980" name="Text Box 1089"/>
          <p:cNvSpPr txBox="1">
            <a:spLocks noChangeArrowheads="1"/>
          </p:cNvSpPr>
          <p:nvPr/>
        </p:nvSpPr>
        <p:spPr bwMode="auto">
          <a:xfrm>
            <a:off x="4683125" y="3005138"/>
            <a:ext cx="461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B*C</a:t>
            </a:r>
          </a:p>
        </p:txBody>
      </p:sp>
      <p:sp>
        <p:nvSpPr>
          <p:cNvPr id="39981" name="Line 1090"/>
          <p:cNvSpPr>
            <a:spLocks noChangeShapeType="1"/>
          </p:cNvSpPr>
          <p:nvPr/>
        </p:nvSpPr>
        <p:spPr bwMode="auto">
          <a:xfrm>
            <a:off x="4876800" y="5232400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82" name="Line 1091"/>
          <p:cNvSpPr>
            <a:spLocks noChangeShapeType="1"/>
          </p:cNvSpPr>
          <p:nvPr/>
        </p:nvSpPr>
        <p:spPr bwMode="auto">
          <a:xfrm>
            <a:off x="4864100" y="4203700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83" name="Line 1092"/>
          <p:cNvSpPr>
            <a:spLocks noChangeShapeType="1"/>
          </p:cNvSpPr>
          <p:nvPr/>
        </p:nvSpPr>
        <p:spPr bwMode="auto">
          <a:xfrm>
            <a:off x="4927600" y="3009900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84" name="Line 1093"/>
          <p:cNvSpPr>
            <a:spLocks noChangeShapeType="1"/>
          </p:cNvSpPr>
          <p:nvPr/>
        </p:nvSpPr>
        <p:spPr bwMode="auto">
          <a:xfrm>
            <a:off x="4749800" y="3009900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9985" name="Text Box 1094"/>
          <p:cNvSpPr txBox="1">
            <a:spLocks noChangeArrowheads="1"/>
          </p:cNvSpPr>
          <p:nvPr/>
        </p:nvSpPr>
        <p:spPr bwMode="auto">
          <a:xfrm>
            <a:off x="4632325" y="4173538"/>
            <a:ext cx="461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A*B</a:t>
            </a:r>
          </a:p>
        </p:txBody>
      </p:sp>
      <p:sp>
        <p:nvSpPr>
          <p:cNvPr id="39986" name="Text Box 1095"/>
          <p:cNvSpPr txBox="1">
            <a:spLocks noChangeArrowheads="1"/>
          </p:cNvSpPr>
          <p:nvPr/>
        </p:nvSpPr>
        <p:spPr bwMode="auto">
          <a:xfrm>
            <a:off x="4632325" y="5214938"/>
            <a:ext cx="461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A*C</a:t>
            </a:r>
          </a:p>
        </p:txBody>
      </p:sp>
      <p:sp>
        <p:nvSpPr>
          <p:cNvPr id="39987" name="Text Box 1096"/>
          <p:cNvSpPr txBox="1">
            <a:spLocks noChangeArrowheads="1"/>
          </p:cNvSpPr>
          <p:nvPr/>
        </p:nvSpPr>
        <p:spPr bwMode="auto">
          <a:xfrm>
            <a:off x="6418263" y="3675063"/>
            <a:ext cx="2016125" cy="30480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>
                <a:latin typeface="Arial" pitchFamily="34" charset="0"/>
              </a:rPr>
              <a:t>x = B*C + A*B + A*C   </a:t>
            </a:r>
          </a:p>
        </p:txBody>
      </p:sp>
      <p:sp>
        <p:nvSpPr>
          <p:cNvPr id="39988" name="Line 1097"/>
          <p:cNvSpPr>
            <a:spLocks noChangeShapeType="1"/>
          </p:cNvSpPr>
          <p:nvPr/>
        </p:nvSpPr>
        <p:spPr bwMode="auto">
          <a:xfrm>
            <a:off x="6858000" y="37211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89" name="Line 1098"/>
          <p:cNvSpPr>
            <a:spLocks noChangeShapeType="1"/>
          </p:cNvSpPr>
          <p:nvPr/>
        </p:nvSpPr>
        <p:spPr bwMode="auto">
          <a:xfrm>
            <a:off x="7067550" y="37211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90" name="Line 1099"/>
          <p:cNvSpPr>
            <a:spLocks noChangeShapeType="1"/>
          </p:cNvSpPr>
          <p:nvPr/>
        </p:nvSpPr>
        <p:spPr bwMode="auto">
          <a:xfrm>
            <a:off x="7594600" y="3730625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91" name="Line 1100"/>
          <p:cNvSpPr>
            <a:spLocks noChangeShapeType="1"/>
          </p:cNvSpPr>
          <p:nvPr/>
        </p:nvSpPr>
        <p:spPr bwMode="auto">
          <a:xfrm>
            <a:off x="8120062" y="3732213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92" name="Text Box 1101"/>
          <p:cNvSpPr txBox="1">
            <a:spLocks noChangeArrowheads="1"/>
          </p:cNvSpPr>
          <p:nvPr/>
        </p:nvSpPr>
        <p:spPr bwMode="auto">
          <a:xfrm>
            <a:off x="8264525" y="4603750"/>
            <a:ext cx="2889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>
                <a:latin typeface="Tahoma" pitchFamily="34" charset="0"/>
              </a:rPr>
              <a:t>X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6208521"/>
            <a:ext cx="73914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dirty="0" smtClean="0"/>
              <a:t>Notice only 7 gates here (7</a:t>
            </a:r>
            <a:r>
              <a:rPr lang="en-US" baseline="30000" dirty="0" smtClean="0"/>
              <a:t>th</a:t>
            </a:r>
            <a:r>
              <a:rPr lang="en-US" dirty="0" smtClean="0"/>
              <a:t> is hidden by a triple input OR)</a:t>
            </a:r>
          </a:p>
          <a:p>
            <a:pPr marL="171450" indent="-171450">
              <a:buFont typeface="Arial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TODO:</a:t>
            </a:r>
            <a:r>
              <a:rPr lang="en-US" dirty="0" smtClean="0"/>
              <a:t> Design this in 6 in Logisim using x = !B( A + !C ) + A!C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769732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026"/>
          <p:cNvSpPr txBox="1">
            <a:spLocks noChangeArrowheads="1"/>
          </p:cNvSpPr>
          <p:nvPr/>
        </p:nvSpPr>
        <p:spPr bwMode="auto">
          <a:xfrm>
            <a:off x="636588" y="2844800"/>
            <a:ext cx="7442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Step 5:   x = A*B*C + A[(B+C)*(B + B)]               </a:t>
            </a:r>
            <a:r>
              <a:rPr lang="en-US" sz="1600" b="1" dirty="0">
                <a:solidFill>
                  <a:srgbClr val="0033CC"/>
                </a:solidFill>
              </a:rPr>
              <a:t>// Second Law of Distribution</a:t>
            </a:r>
          </a:p>
        </p:txBody>
      </p:sp>
      <p:sp>
        <p:nvSpPr>
          <p:cNvPr id="38915" name="Rectangle 1027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Different Process, Same Result</a:t>
            </a:r>
          </a:p>
        </p:txBody>
      </p:sp>
      <p:sp>
        <p:nvSpPr>
          <p:cNvPr id="38916" name="Text Box 1028"/>
          <p:cNvSpPr txBox="1">
            <a:spLocks noChangeArrowheads="1"/>
          </p:cNvSpPr>
          <p:nvPr/>
        </p:nvSpPr>
        <p:spPr bwMode="auto">
          <a:xfrm>
            <a:off x="649288" y="1600200"/>
            <a:ext cx="6538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Step 1:   x = A*B*C + A*B*C + A*B*C + A*B*C    </a:t>
            </a:r>
            <a:r>
              <a:rPr lang="en-US" sz="1600" b="1" dirty="0">
                <a:solidFill>
                  <a:srgbClr val="0033CC"/>
                </a:solidFill>
              </a:rPr>
              <a:t>//From Truth Table </a:t>
            </a:r>
          </a:p>
        </p:txBody>
      </p:sp>
      <p:sp>
        <p:nvSpPr>
          <p:cNvPr id="38917" name="Line 1029"/>
          <p:cNvSpPr>
            <a:spLocks noChangeShapeType="1"/>
          </p:cNvSpPr>
          <p:nvPr/>
        </p:nvSpPr>
        <p:spPr bwMode="auto">
          <a:xfrm>
            <a:off x="1938338" y="16668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18" name="Line 1030"/>
          <p:cNvSpPr>
            <a:spLocks noChangeShapeType="1"/>
          </p:cNvSpPr>
          <p:nvPr/>
        </p:nvSpPr>
        <p:spPr bwMode="auto">
          <a:xfrm>
            <a:off x="2160588" y="16668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19" name="Line 1031"/>
          <p:cNvSpPr>
            <a:spLocks noChangeShapeType="1"/>
          </p:cNvSpPr>
          <p:nvPr/>
        </p:nvSpPr>
        <p:spPr bwMode="auto">
          <a:xfrm>
            <a:off x="2382838" y="16668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20" name="Line 1032"/>
          <p:cNvSpPr>
            <a:spLocks noChangeShapeType="1"/>
          </p:cNvSpPr>
          <p:nvPr/>
        </p:nvSpPr>
        <p:spPr bwMode="auto">
          <a:xfrm>
            <a:off x="2986088" y="16668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21" name="Line 1033"/>
          <p:cNvSpPr>
            <a:spLocks noChangeShapeType="1"/>
          </p:cNvSpPr>
          <p:nvPr/>
        </p:nvSpPr>
        <p:spPr bwMode="auto">
          <a:xfrm>
            <a:off x="3214688" y="16668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22" name="Line 1034"/>
          <p:cNvSpPr>
            <a:spLocks noChangeShapeType="1"/>
          </p:cNvSpPr>
          <p:nvPr/>
        </p:nvSpPr>
        <p:spPr bwMode="auto">
          <a:xfrm>
            <a:off x="4040188" y="16668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23" name="Line 1035"/>
          <p:cNvSpPr>
            <a:spLocks noChangeShapeType="1"/>
          </p:cNvSpPr>
          <p:nvPr/>
        </p:nvSpPr>
        <p:spPr bwMode="auto">
          <a:xfrm>
            <a:off x="4643438" y="16668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24" name="Line 1036"/>
          <p:cNvSpPr>
            <a:spLocks noChangeShapeType="1"/>
          </p:cNvSpPr>
          <p:nvPr/>
        </p:nvSpPr>
        <p:spPr bwMode="auto">
          <a:xfrm>
            <a:off x="3214688" y="2022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25" name="Line 1037"/>
          <p:cNvSpPr>
            <a:spLocks noChangeShapeType="1"/>
          </p:cNvSpPr>
          <p:nvPr/>
        </p:nvSpPr>
        <p:spPr bwMode="auto">
          <a:xfrm>
            <a:off x="3805238" y="2022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26" name="Line 1038"/>
          <p:cNvSpPr>
            <a:spLocks noChangeShapeType="1"/>
          </p:cNvSpPr>
          <p:nvPr/>
        </p:nvSpPr>
        <p:spPr bwMode="auto">
          <a:xfrm>
            <a:off x="4414838" y="2022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27" name="Text Box 1039"/>
          <p:cNvSpPr txBox="1">
            <a:spLocks noChangeArrowheads="1"/>
          </p:cNvSpPr>
          <p:nvPr/>
        </p:nvSpPr>
        <p:spPr bwMode="auto">
          <a:xfrm>
            <a:off x="649288" y="1962150"/>
            <a:ext cx="72723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Step 2:   x = A*B*C + A*B*C + A*B(C + C)           </a:t>
            </a:r>
            <a:r>
              <a:rPr lang="en-US" sz="1600" b="1">
                <a:solidFill>
                  <a:srgbClr val="0033CC"/>
                </a:solidFill>
              </a:rPr>
              <a:t>// First Law of Distribution </a:t>
            </a:r>
          </a:p>
        </p:txBody>
      </p:sp>
      <p:sp>
        <p:nvSpPr>
          <p:cNvPr id="38928" name="Line 1040"/>
          <p:cNvSpPr>
            <a:spLocks noChangeShapeType="1"/>
          </p:cNvSpPr>
          <p:nvPr/>
        </p:nvSpPr>
        <p:spPr bwMode="auto">
          <a:xfrm>
            <a:off x="1931988" y="2022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29" name="Line 1041"/>
          <p:cNvSpPr>
            <a:spLocks noChangeShapeType="1"/>
          </p:cNvSpPr>
          <p:nvPr/>
        </p:nvSpPr>
        <p:spPr bwMode="auto">
          <a:xfrm>
            <a:off x="2154238" y="2022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30" name="Line 1042"/>
          <p:cNvSpPr>
            <a:spLocks noChangeShapeType="1"/>
          </p:cNvSpPr>
          <p:nvPr/>
        </p:nvSpPr>
        <p:spPr bwMode="auto">
          <a:xfrm>
            <a:off x="2376488" y="2022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31" name="Text Box 1043"/>
          <p:cNvSpPr txBox="1">
            <a:spLocks noChangeArrowheads="1"/>
          </p:cNvSpPr>
          <p:nvPr/>
        </p:nvSpPr>
        <p:spPr bwMode="auto">
          <a:xfrm>
            <a:off x="649288" y="2260600"/>
            <a:ext cx="7258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Step 3:   x = A*B*C + A*B*C + A*B                      </a:t>
            </a:r>
            <a:r>
              <a:rPr lang="en-US" sz="1600" b="1">
                <a:solidFill>
                  <a:srgbClr val="0033CC"/>
                </a:solidFill>
              </a:rPr>
              <a:t>// Law of Complementation</a:t>
            </a:r>
          </a:p>
        </p:txBody>
      </p:sp>
      <p:sp>
        <p:nvSpPr>
          <p:cNvPr id="38932" name="Line 1044"/>
          <p:cNvSpPr>
            <a:spLocks noChangeShapeType="1"/>
          </p:cNvSpPr>
          <p:nvPr/>
        </p:nvSpPr>
        <p:spPr bwMode="auto">
          <a:xfrm>
            <a:off x="3208338" y="23209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33" name="Line 1045"/>
          <p:cNvSpPr>
            <a:spLocks noChangeShapeType="1"/>
          </p:cNvSpPr>
          <p:nvPr/>
        </p:nvSpPr>
        <p:spPr bwMode="auto">
          <a:xfrm>
            <a:off x="3798888" y="23209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34" name="Line 1046"/>
          <p:cNvSpPr>
            <a:spLocks noChangeShapeType="1"/>
          </p:cNvSpPr>
          <p:nvPr/>
        </p:nvSpPr>
        <p:spPr bwMode="auto">
          <a:xfrm>
            <a:off x="1925638" y="23209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35" name="Line 1047"/>
          <p:cNvSpPr>
            <a:spLocks noChangeShapeType="1"/>
          </p:cNvSpPr>
          <p:nvPr/>
        </p:nvSpPr>
        <p:spPr bwMode="auto">
          <a:xfrm>
            <a:off x="2147888" y="23209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36" name="Line 1048"/>
          <p:cNvSpPr>
            <a:spLocks noChangeShapeType="1"/>
          </p:cNvSpPr>
          <p:nvPr/>
        </p:nvSpPr>
        <p:spPr bwMode="auto">
          <a:xfrm>
            <a:off x="2370138" y="23209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37" name="Text Box 1049"/>
          <p:cNvSpPr txBox="1">
            <a:spLocks noChangeArrowheads="1"/>
          </p:cNvSpPr>
          <p:nvPr/>
        </p:nvSpPr>
        <p:spPr bwMode="auto">
          <a:xfrm>
            <a:off x="642938" y="2552700"/>
            <a:ext cx="7185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Step 4:   x = A*B*C + A(B*C + B)                         </a:t>
            </a:r>
            <a:r>
              <a:rPr lang="en-US" sz="1600" b="1" dirty="0">
                <a:solidFill>
                  <a:srgbClr val="0033CC"/>
                </a:solidFill>
              </a:rPr>
              <a:t>// First Law of Distribution</a:t>
            </a:r>
          </a:p>
        </p:txBody>
      </p:sp>
      <p:sp>
        <p:nvSpPr>
          <p:cNvPr id="38938" name="Line 1050"/>
          <p:cNvSpPr>
            <a:spLocks noChangeShapeType="1"/>
          </p:cNvSpPr>
          <p:nvPr/>
        </p:nvSpPr>
        <p:spPr bwMode="auto">
          <a:xfrm>
            <a:off x="3182938" y="26130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39" name="Line 1051"/>
          <p:cNvSpPr>
            <a:spLocks noChangeShapeType="1"/>
          </p:cNvSpPr>
          <p:nvPr/>
        </p:nvSpPr>
        <p:spPr bwMode="auto">
          <a:xfrm>
            <a:off x="3570288" y="26130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0" name="Line 1052"/>
          <p:cNvSpPr>
            <a:spLocks noChangeShapeType="1"/>
          </p:cNvSpPr>
          <p:nvPr/>
        </p:nvSpPr>
        <p:spPr bwMode="auto">
          <a:xfrm>
            <a:off x="1925638" y="26130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1" name="Line 1053"/>
          <p:cNvSpPr>
            <a:spLocks noChangeShapeType="1"/>
          </p:cNvSpPr>
          <p:nvPr/>
        </p:nvSpPr>
        <p:spPr bwMode="auto">
          <a:xfrm>
            <a:off x="2147888" y="26130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2" name="Line 1054"/>
          <p:cNvSpPr>
            <a:spLocks noChangeShapeType="1"/>
          </p:cNvSpPr>
          <p:nvPr/>
        </p:nvSpPr>
        <p:spPr bwMode="auto">
          <a:xfrm>
            <a:off x="2370138" y="26130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3" name="Line 1055"/>
          <p:cNvSpPr>
            <a:spLocks noChangeShapeType="1"/>
          </p:cNvSpPr>
          <p:nvPr/>
        </p:nvSpPr>
        <p:spPr bwMode="auto">
          <a:xfrm>
            <a:off x="3024188" y="29051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4" name="Line 1056"/>
          <p:cNvSpPr>
            <a:spLocks noChangeShapeType="1"/>
          </p:cNvSpPr>
          <p:nvPr/>
        </p:nvSpPr>
        <p:spPr bwMode="auto">
          <a:xfrm>
            <a:off x="3278188" y="29051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5" name="Line 1057"/>
          <p:cNvSpPr>
            <a:spLocks noChangeShapeType="1"/>
          </p:cNvSpPr>
          <p:nvPr/>
        </p:nvSpPr>
        <p:spPr bwMode="auto">
          <a:xfrm>
            <a:off x="1906588" y="29051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6" name="Line 1058"/>
          <p:cNvSpPr>
            <a:spLocks noChangeShapeType="1"/>
          </p:cNvSpPr>
          <p:nvPr/>
        </p:nvSpPr>
        <p:spPr bwMode="auto">
          <a:xfrm>
            <a:off x="2128838" y="29051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7" name="Line 1059"/>
          <p:cNvSpPr>
            <a:spLocks noChangeShapeType="1"/>
          </p:cNvSpPr>
          <p:nvPr/>
        </p:nvSpPr>
        <p:spPr bwMode="auto">
          <a:xfrm>
            <a:off x="2351088" y="29051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8" name="Line 1060"/>
          <p:cNvSpPr>
            <a:spLocks noChangeShapeType="1"/>
          </p:cNvSpPr>
          <p:nvPr/>
        </p:nvSpPr>
        <p:spPr bwMode="auto">
          <a:xfrm>
            <a:off x="3633788" y="29051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9" name="Text Box 1061"/>
          <p:cNvSpPr txBox="1">
            <a:spLocks noChangeArrowheads="1"/>
          </p:cNvSpPr>
          <p:nvPr/>
        </p:nvSpPr>
        <p:spPr bwMode="auto">
          <a:xfrm>
            <a:off x="630238" y="3143250"/>
            <a:ext cx="72072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Step 6:   x = A*B*C + A(B+C)                              </a:t>
            </a:r>
            <a:r>
              <a:rPr lang="en-US" sz="1600" b="1">
                <a:solidFill>
                  <a:srgbClr val="0033CC"/>
                </a:solidFill>
              </a:rPr>
              <a:t>// Law of Complementation</a:t>
            </a:r>
          </a:p>
        </p:txBody>
      </p:sp>
      <p:sp>
        <p:nvSpPr>
          <p:cNvPr id="38950" name="Line 1062"/>
          <p:cNvSpPr>
            <a:spLocks noChangeShapeType="1"/>
          </p:cNvSpPr>
          <p:nvPr/>
        </p:nvSpPr>
        <p:spPr bwMode="auto">
          <a:xfrm>
            <a:off x="2922588" y="31972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51" name="Line 1063"/>
          <p:cNvSpPr>
            <a:spLocks noChangeShapeType="1"/>
          </p:cNvSpPr>
          <p:nvPr/>
        </p:nvSpPr>
        <p:spPr bwMode="auto">
          <a:xfrm>
            <a:off x="3214688" y="32099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52" name="Line 1064"/>
          <p:cNvSpPr>
            <a:spLocks noChangeShapeType="1"/>
          </p:cNvSpPr>
          <p:nvPr/>
        </p:nvSpPr>
        <p:spPr bwMode="auto">
          <a:xfrm>
            <a:off x="1887538" y="31972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53" name="Line 1065"/>
          <p:cNvSpPr>
            <a:spLocks noChangeShapeType="1"/>
          </p:cNvSpPr>
          <p:nvPr/>
        </p:nvSpPr>
        <p:spPr bwMode="auto">
          <a:xfrm>
            <a:off x="2109788" y="31972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54" name="Line 1066"/>
          <p:cNvSpPr>
            <a:spLocks noChangeShapeType="1"/>
          </p:cNvSpPr>
          <p:nvPr/>
        </p:nvSpPr>
        <p:spPr bwMode="auto">
          <a:xfrm>
            <a:off x="2332038" y="31972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55" name="Text Box 1067"/>
          <p:cNvSpPr txBox="1">
            <a:spLocks noChangeArrowheads="1"/>
          </p:cNvSpPr>
          <p:nvPr/>
        </p:nvSpPr>
        <p:spPr bwMode="auto">
          <a:xfrm>
            <a:off x="636588" y="3435350"/>
            <a:ext cx="7127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Step 7:   x = A*B*C + A*B + A*C                         </a:t>
            </a:r>
            <a:r>
              <a:rPr lang="en-US" sz="1600" b="1">
                <a:solidFill>
                  <a:srgbClr val="0033CC"/>
                </a:solidFill>
              </a:rPr>
              <a:t>// First Law of Distribution</a:t>
            </a:r>
          </a:p>
        </p:txBody>
      </p:sp>
      <p:sp>
        <p:nvSpPr>
          <p:cNvPr id="38956" name="Line 1068"/>
          <p:cNvSpPr>
            <a:spLocks noChangeShapeType="1"/>
          </p:cNvSpPr>
          <p:nvPr/>
        </p:nvSpPr>
        <p:spPr bwMode="auto">
          <a:xfrm>
            <a:off x="2947988" y="34956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57" name="Line 1069"/>
          <p:cNvSpPr>
            <a:spLocks noChangeShapeType="1"/>
          </p:cNvSpPr>
          <p:nvPr/>
        </p:nvSpPr>
        <p:spPr bwMode="auto">
          <a:xfrm>
            <a:off x="3570288" y="34956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58" name="Line 1070"/>
          <p:cNvSpPr>
            <a:spLocks noChangeShapeType="1"/>
          </p:cNvSpPr>
          <p:nvPr/>
        </p:nvSpPr>
        <p:spPr bwMode="auto">
          <a:xfrm>
            <a:off x="1912938" y="34956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59" name="Line 1071"/>
          <p:cNvSpPr>
            <a:spLocks noChangeShapeType="1"/>
          </p:cNvSpPr>
          <p:nvPr/>
        </p:nvSpPr>
        <p:spPr bwMode="auto">
          <a:xfrm>
            <a:off x="2135188" y="34956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60" name="Line 1072"/>
          <p:cNvSpPr>
            <a:spLocks noChangeShapeType="1"/>
          </p:cNvSpPr>
          <p:nvPr/>
        </p:nvSpPr>
        <p:spPr bwMode="auto">
          <a:xfrm>
            <a:off x="2357438" y="34956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61" name="Text Box 1073"/>
          <p:cNvSpPr txBox="1">
            <a:spLocks noChangeArrowheads="1"/>
          </p:cNvSpPr>
          <p:nvPr/>
        </p:nvSpPr>
        <p:spPr bwMode="auto">
          <a:xfrm>
            <a:off x="630238" y="3740150"/>
            <a:ext cx="7131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Step 8:   x = B(A*C + A) + A*C                            </a:t>
            </a:r>
            <a:r>
              <a:rPr lang="en-US" sz="1600" b="1">
                <a:solidFill>
                  <a:srgbClr val="0033CC"/>
                </a:solidFill>
              </a:rPr>
              <a:t>// First Law of Distribution</a:t>
            </a:r>
          </a:p>
        </p:txBody>
      </p:sp>
      <p:sp>
        <p:nvSpPr>
          <p:cNvPr id="38962" name="Line 1074"/>
          <p:cNvSpPr>
            <a:spLocks noChangeShapeType="1"/>
          </p:cNvSpPr>
          <p:nvPr/>
        </p:nvSpPr>
        <p:spPr bwMode="auto">
          <a:xfrm>
            <a:off x="3398838" y="3800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63" name="Line 1075"/>
          <p:cNvSpPr>
            <a:spLocks noChangeShapeType="1"/>
          </p:cNvSpPr>
          <p:nvPr/>
        </p:nvSpPr>
        <p:spPr bwMode="auto">
          <a:xfrm>
            <a:off x="1906588" y="3800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64" name="Line 1076"/>
          <p:cNvSpPr>
            <a:spLocks noChangeShapeType="1"/>
          </p:cNvSpPr>
          <p:nvPr/>
        </p:nvSpPr>
        <p:spPr bwMode="auto">
          <a:xfrm>
            <a:off x="2128838" y="3800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65" name="Line 1077"/>
          <p:cNvSpPr>
            <a:spLocks noChangeShapeType="1"/>
          </p:cNvSpPr>
          <p:nvPr/>
        </p:nvSpPr>
        <p:spPr bwMode="auto">
          <a:xfrm>
            <a:off x="2351088" y="38004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66" name="Text Box 1078"/>
          <p:cNvSpPr txBox="1">
            <a:spLocks noChangeArrowheads="1"/>
          </p:cNvSpPr>
          <p:nvPr/>
        </p:nvSpPr>
        <p:spPr bwMode="auto">
          <a:xfrm>
            <a:off x="642938" y="4019550"/>
            <a:ext cx="7388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Step 9:   x = B[(A+A)*(C + A)] + A*C                  </a:t>
            </a:r>
            <a:r>
              <a:rPr lang="en-US" sz="1600" b="1">
                <a:solidFill>
                  <a:srgbClr val="0033CC"/>
                </a:solidFill>
              </a:rPr>
              <a:t>// Second Law of Distribution</a:t>
            </a:r>
          </a:p>
        </p:txBody>
      </p:sp>
      <p:sp>
        <p:nvSpPr>
          <p:cNvPr id="38967" name="Line 1079"/>
          <p:cNvSpPr>
            <a:spLocks noChangeShapeType="1"/>
          </p:cNvSpPr>
          <p:nvPr/>
        </p:nvSpPr>
        <p:spPr bwMode="auto">
          <a:xfrm>
            <a:off x="3951288" y="40735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68" name="Line 1080"/>
          <p:cNvSpPr>
            <a:spLocks noChangeShapeType="1"/>
          </p:cNvSpPr>
          <p:nvPr/>
        </p:nvSpPr>
        <p:spPr bwMode="auto">
          <a:xfrm>
            <a:off x="1931988" y="40862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69" name="Line 1081"/>
          <p:cNvSpPr>
            <a:spLocks noChangeShapeType="1"/>
          </p:cNvSpPr>
          <p:nvPr/>
        </p:nvSpPr>
        <p:spPr bwMode="auto">
          <a:xfrm>
            <a:off x="2185988" y="40862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70" name="Line 1082"/>
          <p:cNvSpPr>
            <a:spLocks noChangeShapeType="1"/>
          </p:cNvSpPr>
          <p:nvPr/>
        </p:nvSpPr>
        <p:spPr bwMode="auto">
          <a:xfrm>
            <a:off x="2833688" y="40925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71" name="Text Box 1083"/>
          <p:cNvSpPr txBox="1">
            <a:spLocks noChangeArrowheads="1"/>
          </p:cNvSpPr>
          <p:nvPr/>
        </p:nvSpPr>
        <p:spPr bwMode="auto">
          <a:xfrm>
            <a:off x="636588" y="4324350"/>
            <a:ext cx="7075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Step 10: x = B(C + A) + A*C                               </a:t>
            </a:r>
            <a:r>
              <a:rPr lang="en-US" sz="1600" b="1" dirty="0">
                <a:solidFill>
                  <a:srgbClr val="0033CC"/>
                </a:solidFill>
              </a:rPr>
              <a:t>// First Law of Distribution</a:t>
            </a:r>
          </a:p>
        </p:txBody>
      </p:sp>
      <p:sp>
        <p:nvSpPr>
          <p:cNvPr id="38972" name="Line 1084"/>
          <p:cNvSpPr>
            <a:spLocks noChangeShapeType="1"/>
          </p:cNvSpPr>
          <p:nvPr/>
        </p:nvSpPr>
        <p:spPr bwMode="auto">
          <a:xfrm>
            <a:off x="1925638" y="43910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73" name="Line 1085"/>
          <p:cNvSpPr>
            <a:spLocks noChangeShapeType="1"/>
          </p:cNvSpPr>
          <p:nvPr/>
        </p:nvSpPr>
        <p:spPr bwMode="auto">
          <a:xfrm>
            <a:off x="2147888" y="43910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74" name="Line 1086"/>
          <p:cNvSpPr>
            <a:spLocks noChangeShapeType="1"/>
          </p:cNvSpPr>
          <p:nvPr/>
        </p:nvSpPr>
        <p:spPr bwMode="auto">
          <a:xfrm>
            <a:off x="3189288" y="43973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75" name="Text Box 1087"/>
          <p:cNvSpPr txBox="1">
            <a:spLocks noChangeArrowheads="1"/>
          </p:cNvSpPr>
          <p:nvPr/>
        </p:nvSpPr>
        <p:spPr bwMode="auto">
          <a:xfrm>
            <a:off x="630238" y="4946650"/>
            <a:ext cx="7243762" cy="33655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Step 11: x = B*C + B*A + A*C                               </a:t>
            </a:r>
            <a:r>
              <a:rPr lang="en-US" sz="1600" b="1" dirty="0">
                <a:solidFill>
                  <a:srgbClr val="0033CC"/>
                </a:solidFill>
              </a:rPr>
              <a:t>// First Law of Distribution</a:t>
            </a:r>
          </a:p>
        </p:txBody>
      </p:sp>
      <p:sp>
        <p:nvSpPr>
          <p:cNvPr id="38976" name="Line 1088"/>
          <p:cNvSpPr>
            <a:spLocks noChangeShapeType="1"/>
          </p:cNvSpPr>
          <p:nvPr/>
        </p:nvSpPr>
        <p:spPr bwMode="auto">
          <a:xfrm>
            <a:off x="1906588" y="50196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77" name="Line 1089"/>
          <p:cNvSpPr>
            <a:spLocks noChangeShapeType="1"/>
          </p:cNvSpPr>
          <p:nvPr/>
        </p:nvSpPr>
        <p:spPr bwMode="auto">
          <a:xfrm>
            <a:off x="2128838" y="50196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78" name="Line 1090"/>
          <p:cNvSpPr>
            <a:spLocks noChangeShapeType="1"/>
          </p:cNvSpPr>
          <p:nvPr/>
        </p:nvSpPr>
        <p:spPr bwMode="auto">
          <a:xfrm>
            <a:off x="3348038" y="502602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79" name="Line 1091"/>
          <p:cNvSpPr>
            <a:spLocks noChangeShapeType="1"/>
          </p:cNvSpPr>
          <p:nvPr/>
        </p:nvSpPr>
        <p:spPr bwMode="auto">
          <a:xfrm>
            <a:off x="2509838" y="5019675"/>
            <a:ext cx="1079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62200" y="5638800"/>
            <a:ext cx="45720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Robert Frost, The Mountain Interval</a:t>
            </a:r>
            <a:r>
              <a:rPr lang="mr-IN" dirty="0" smtClean="0"/>
              <a:t>…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Long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Path or the </a:t>
            </a:r>
            <a:r>
              <a:rPr lang="en-US" b="1" dirty="0" smtClean="0">
                <a:solidFill>
                  <a:srgbClr val="3366FF"/>
                </a:solidFill>
              </a:rPr>
              <a:t>Short</a:t>
            </a:r>
            <a:r>
              <a:rPr lang="en-US" dirty="0" smtClean="0"/>
              <a:t> Path?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847357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456" y="419100"/>
            <a:ext cx="7024744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Alternate Batwings Proof</a:t>
            </a:r>
            <a:br>
              <a:rPr lang="en-US" dirty="0" smtClean="0"/>
            </a:br>
            <a:r>
              <a:rPr lang="en-US" sz="2000" dirty="0" smtClean="0"/>
              <a:t>in Terms of </a:t>
            </a:r>
            <a:r>
              <a:rPr lang="en-US" sz="2000" dirty="0" err="1" smtClean="0"/>
              <a:t>MinTerms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2181284"/>
            <a:ext cx="9296400" cy="4524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800" dirty="0"/>
              <a:t>Step 1:   x = ~</a:t>
            </a:r>
            <a:r>
              <a:rPr lang="en-US" sz="1800" dirty="0" smtClean="0"/>
              <a:t>A~B~C </a:t>
            </a:r>
            <a:r>
              <a:rPr lang="en-US" sz="1800" dirty="0"/>
              <a:t>+ </a:t>
            </a:r>
            <a:r>
              <a:rPr lang="en-US" sz="1800" dirty="0" smtClean="0"/>
              <a:t>A~B~C </a:t>
            </a:r>
            <a:r>
              <a:rPr lang="en-US" sz="1800" dirty="0"/>
              <a:t>+ </a:t>
            </a:r>
            <a:r>
              <a:rPr lang="en-US" sz="1800" dirty="0" smtClean="0"/>
              <a:t>AB~C </a:t>
            </a:r>
            <a:r>
              <a:rPr lang="en-US" sz="1800" dirty="0"/>
              <a:t>+ </a:t>
            </a:r>
            <a:r>
              <a:rPr lang="en-US" sz="1800" dirty="0" smtClean="0"/>
              <a:t>A~BC </a:t>
            </a:r>
          </a:p>
          <a:p>
            <a:pPr marL="628650" lvl="1" indent="-171450">
              <a:buFont typeface="Arial"/>
              <a:buChar char="•"/>
            </a:pPr>
            <a:r>
              <a:rPr lang="en-US" sz="1800" dirty="0" smtClean="0"/>
              <a:t>From the truth table   		</a:t>
            </a:r>
          </a:p>
          <a:p>
            <a:pPr marL="171450" indent="-171450">
              <a:buFont typeface="Arial"/>
              <a:buChar char="•"/>
            </a:pPr>
            <a:endParaRPr lang="en-US" sz="1800" dirty="0" smtClean="0"/>
          </a:p>
          <a:p>
            <a:pPr marL="171450" indent="-171450">
              <a:buFont typeface="Arial"/>
              <a:buChar char="•"/>
            </a:pPr>
            <a:r>
              <a:rPr lang="en-US" sz="1800" dirty="0" smtClean="0"/>
              <a:t>Step 2:   Swap (A~B~C + A~B~C + A~B~C) for </a:t>
            </a:r>
            <a:r>
              <a:rPr lang="en-US" sz="1800" b="1" dirty="0" smtClean="0">
                <a:solidFill>
                  <a:srgbClr val="800000"/>
                </a:solidFill>
              </a:rPr>
              <a:t>T2</a:t>
            </a:r>
            <a:r>
              <a:rPr lang="en-US" sz="1800" dirty="0" smtClean="0">
                <a:solidFill>
                  <a:srgbClr val="800000"/>
                </a:solidFill>
              </a:rPr>
              <a:t> </a:t>
            </a:r>
            <a:r>
              <a:rPr lang="en-US" sz="1800" dirty="0" smtClean="0"/>
              <a:t>(==A~B~C)	</a:t>
            </a:r>
          </a:p>
          <a:p>
            <a:pPr marL="628650" lvl="1" indent="-171450">
              <a:buFont typeface="Arial"/>
              <a:buChar char="•"/>
            </a:pPr>
            <a:r>
              <a:rPr lang="en-US" sz="1800" dirty="0" smtClean="0"/>
              <a:t>Identity Law: X + X == X</a:t>
            </a:r>
          </a:p>
          <a:p>
            <a:pPr marL="628650" lvl="1" indent="-171450">
              <a:buFont typeface="Arial"/>
              <a:buChar char="•"/>
            </a:pPr>
            <a:endParaRPr lang="en-US" sz="1800" dirty="0" smtClean="0"/>
          </a:p>
          <a:p>
            <a:pPr marL="171450" indent="-171450">
              <a:buFont typeface="Arial"/>
              <a:buChar char="•"/>
            </a:pPr>
            <a:r>
              <a:rPr lang="en-US" sz="1800" dirty="0" smtClean="0"/>
              <a:t>Step 3:  </a:t>
            </a:r>
            <a:r>
              <a:rPr lang="en-US" sz="1800" b="1" dirty="0" smtClean="0">
                <a:solidFill>
                  <a:schemeClr val="accent5">
                    <a:lumMod val="75000"/>
                  </a:schemeClr>
                </a:solidFill>
              </a:rPr>
              <a:t>T1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dirty="0" smtClean="0"/>
              <a:t>rearranged next to a copy of 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</a:rPr>
              <a:t>T2</a:t>
            </a:r>
            <a:r>
              <a:rPr lang="en-US" sz="1800" dirty="0" smtClean="0"/>
              <a:t>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smtClean="0"/>
              <a:t> ~A~B~C + A~B~C == (~A+A)~B~C</a:t>
            </a:r>
          </a:p>
          <a:p>
            <a:pPr marL="628650" lvl="1" indent="-171450">
              <a:buFont typeface="Arial"/>
              <a:buChar char="•"/>
            </a:pPr>
            <a:r>
              <a:rPr lang="en-US" sz="1800" dirty="0" smtClean="0"/>
              <a:t>Associative Law: (X + Y) + Z = X + (Y + Z)</a:t>
            </a:r>
            <a:endParaRPr lang="en-US" sz="1800" dirty="0"/>
          </a:p>
          <a:p>
            <a:pPr marL="628650" lvl="1" indent="-171450">
              <a:buFont typeface="Arial"/>
              <a:buChar char="•"/>
            </a:pPr>
            <a:r>
              <a:rPr lang="en-US" sz="1800" dirty="0" smtClean="0"/>
              <a:t>Distributive Law: X * (Y + Z) = X*Y + X*Z</a:t>
            </a:r>
          </a:p>
          <a:p>
            <a:pPr marL="628650" lvl="1" indent="-171450">
              <a:buFont typeface="Arial"/>
              <a:buChar char="•"/>
            </a:pPr>
            <a:endParaRPr lang="en-US" sz="1800" dirty="0"/>
          </a:p>
          <a:p>
            <a:pPr marL="171450" indent="-171450">
              <a:buFont typeface="Arial"/>
              <a:buChar char="•"/>
            </a:pPr>
            <a:r>
              <a:rPr lang="en-US" sz="1800" dirty="0" smtClean="0"/>
              <a:t>Step 4: (~A+A)~B~C == ~B~C</a:t>
            </a:r>
          </a:p>
          <a:p>
            <a:pPr marL="628650" lvl="1" indent="-171450">
              <a:buFont typeface="Arial"/>
              <a:buChar char="•"/>
            </a:pPr>
            <a:r>
              <a:rPr lang="en-US" sz="1800" dirty="0" smtClean="0"/>
              <a:t>Inverse Law: (~X + X = 1)</a:t>
            </a:r>
          </a:p>
          <a:p>
            <a:pPr marL="628650" lvl="1" indent="-171450">
              <a:buFont typeface="Arial"/>
              <a:buChar char="•"/>
            </a:pPr>
            <a:endParaRPr lang="en-US" sz="1800" dirty="0"/>
          </a:p>
          <a:p>
            <a:pPr marL="171450" indent="-171450">
              <a:buFont typeface="Arial"/>
              <a:buChar char="•"/>
            </a:pPr>
            <a:r>
              <a:rPr lang="en-US" sz="1800" dirty="0" smtClean="0"/>
              <a:t>Step 5: You do steps 3 and 4 for </a:t>
            </a:r>
            <a:r>
              <a:rPr lang="en-US" sz="1800" b="1" dirty="0" smtClean="0"/>
              <a:t>T3 </a:t>
            </a:r>
            <a:r>
              <a:rPr lang="en-US" sz="1800" dirty="0" smtClean="0"/>
              <a:t>and </a:t>
            </a:r>
            <a:r>
              <a:rPr lang="en-US" sz="1800" b="1" dirty="0" smtClean="0">
                <a:solidFill>
                  <a:schemeClr val="accent5"/>
                </a:solidFill>
              </a:rPr>
              <a:t>T4</a:t>
            </a:r>
            <a:endParaRPr lang="en-US" sz="1800" b="1" dirty="0">
              <a:solidFill>
                <a:schemeClr val="accent5"/>
              </a:solidFill>
            </a:endParaRPr>
          </a:p>
          <a:p>
            <a:pPr marL="171450" indent="-171450">
              <a:buFont typeface="Arial"/>
              <a:buChar char="•"/>
            </a:pPr>
            <a:endParaRPr lang="en-US" sz="1800" dirty="0"/>
          </a:p>
        </p:txBody>
      </p:sp>
      <p:sp>
        <p:nvSpPr>
          <p:cNvPr id="5" name="Left Brace 4"/>
          <p:cNvSpPr/>
          <p:nvPr/>
        </p:nvSpPr>
        <p:spPr>
          <a:xfrm rot="5400000">
            <a:off x="2514600" y="1643102"/>
            <a:ext cx="533400" cy="838200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/>
          <p:cNvSpPr/>
          <p:nvPr/>
        </p:nvSpPr>
        <p:spPr>
          <a:xfrm rot="5400000">
            <a:off x="3543300" y="1681202"/>
            <a:ext cx="533400" cy="762000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 rot="5400000">
            <a:off x="4584700" y="1757402"/>
            <a:ext cx="533400" cy="60960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 rot="5400000">
            <a:off x="5448300" y="1757402"/>
            <a:ext cx="533400" cy="609600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90800" y="151850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T1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2200" y="150340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800000"/>
                </a:solidFill>
              </a:rPr>
              <a:t>T2</a:t>
            </a:r>
            <a:endParaRPr lang="en-US" b="1" dirty="0">
              <a:solidFill>
                <a:srgbClr val="8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60900" y="150340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T3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499100" y="150340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5"/>
                </a:solidFill>
              </a:rPr>
              <a:t>T4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7704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519056" y="152400"/>
            <a:ext cx="7024744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  <a:ea typeface="MS PGothic" charset="0"/>
              </a:rPr>
              <a:t>Final Reduced Form is?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9600" y="1524000"/>
            <a:ext cx="6019800" cy="4525963"/>
          </a:xfrm>
        </p:spPr>
        <p:txBody>
          <a:bodyPr/>
          <a:lstStyle/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~A~B~C + A~B~C + AB~C + A~BC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~A~B~C + A~B~C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A(~B + ~C) + ~B~C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~A~B~C + A~B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~B~C + A~C + A~B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~A + ~B + C</a:t>
            </a:r>
            <a:endParaRPr lang="en-US" dirty="0">
              <a:latin typeface="Calibri" charset="0"/>
              <a:ea typeface="MS PGothic" charset="0"/>
            </a:endParaRPr>
          </a:p>
        </p:txBody>
      </p:sp>
      <p:pic>
        <p:nvPicPr>
          <p:cNvPr id="2" name="TPChart" descr="7F0FDFEA499B470EB4A5EDF4D1BC71EDChart20160406184337943.png" hidden="1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723900"/>
            <a:ext cx="5029200" cy="6286500"/>
          </a:xfrm>
          <a:prstGeom prst="rect">
            <a:avLst/>
          </a:prstGeom>
        </p:spPr>
      </p:pic>
      <p:sp>
        <p:nvSpPr>
          <p:cNvPr id="4" name="Frame 3"/>
          <p:cNvSpPr/>
          <p:nvPr/>
        </p:nvSpPr>
        <p:spPr>
          <a:xfrm>
            <a:off x="533400" y="3352800"/>
            <a:ext cx="457200" cy="381000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1952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144"/>
          <p:cNvGrpSpPr>
            <a:grpSpLocks/>
          </p:cNvGrpSpPr>
          <p:nvPr/>
        </p:nvGrpSpPr>
        <p:grpSpPr bwMode="auto">
          <a:xfrm>
            <a:off x="447675" y="1190625"/>
            <a:ext cx="2143125" cy="5054600"/>
            <a:chOff x="242" y="126"/>
            <a:chExt cx="1350" cy="3677"/>
          </a:xfrm>
        </p:grpSpPr>
        <p:sp>
          <p:nvSpPr>
            <p:cNvPr id="41001" name="Rectangle 2"/>
            <p:cNvSpPr>
              <a:spLocks noChangeArrowheads="1"/>
            </p:cNvSpPr>
            <p:nvPr/>
          </p:nvSpPr>
          <p:spPr bwMode="auto">
            <a:xfrm>
              <a:off x="248" y="34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2" name="Rectangle 3"/>
            <p:cNvSpPr>
              <a:spLocks noChangeArrowheads="1"/>
            </p:cNvSpPr>
            <p:nvPr/>
          </p:nvSpPr>
          <p:spPr bwMode="auto">
            <a:xfrm>
              <a:off x="517" y="34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3" name="Rectangle 4"/>
            <p:cNvSpPr>
              <a:spLocks noChangeArrowheads="1"/>
            </p:cNvSpPr>
            <p:nvPr/>
          </p:nvSpPr>
          <p:spPr bwMode="auto">
            <a:xfrm>
              <a:off x="786" y="341"/>
              <a:ext cx="268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4" name="Rectangle 5"/>
            <p:cNvSpPr>
              <a:spLocks noChangeArrowheads="1"/>
            </p:cNvSpPr>
            <p:nvPr/>
          </p:nvSpPr>
          <p:spPr bwMode="auto">
            <a:xfrm>
              <a:off x="1054" y="34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5" name="Rectangle 6"/>
            <p:cNvSpPr>
              <a:spLocks noChangeArrowheads="1"/>
            </p:cNvSpPr>
            <p:nvPr/>
          </p:nvSpPr>
          <p:spPr bwMode="auto">
            <a:xfrm>
              <a:off x="1323" y="34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6" name="Rectangle 7"/>
            <p:cNvSpPr>
              <a:spLocks noChangeArrowheads="1"/>
            </p:cNvSpPr>
            <p:nvPr/>
          </p:nvSpPr>
          <p:spPr bwMode="auto">
            <a:xfrm>
              <a:off x="248" y="55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7" name="Rectangle 8"/>
            <p:cNvSpPr>
              <a:spLocks noChangeArrowheads="1"/>
            </p:cNvSpPr>
            <p:nvPr/>
          </p:nvSpPr>
          <p:spPr bwMode="auto">
            <a:xfrm>
              <a:off x="517" y="55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8" name="Rectangle 9"/>
            <p:cNvSpPr>
              <a:spLocks noChangeArrowheads="1"/>
            </p:cNvSpPr>
            <p:nvPr/>
          </p:nvSpPr>
          <p:spPr bwMode="auto">
            <a:xfrm>
              <a:off x="786" y="555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9" name="Rectangle 10"/>
            <p:cNvSpPr>
              <a:spLocks noChangeArrowheads="1"/>
            </p:cNvSpPr>
            <p:nvPr/>
          </p:nvSpPr>
          <p:spPr bwMode="auto">
            <a:xfrm>
              <a:off x="1054" y="55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0" name="Rectangle 11"/>
            <p:cNvSpPr>
              <a:spLocks noChangeArrowheads="1"/>
            </p:cNvSpPr>
            <p:nvPr/>
          </p:nvSpPr>
          <p:spPr bwMode="auto">
            <a:xfrm>
              <a:off x="1323" y="55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1" name="Rectangle 12"/>
            <p:cNvSpPr>
              <a:spLocks noChangeArrowheads="1"/>
            </p:cNvSpPr>
            <p:nvPr/>
          </p:nvSpPr>
          <p:spPr bwMode="auto">
            <a:xfrm>
              <a:off x="248" y="76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2" name="Rectangle 13"/>
            <p:cNvSpPr>
              <a:spLocks noChangeArrowheads="1"/>
            </p:cNvSpPr>
            <p:nvPr/>
          </p:nvSpPr>
          <p:spPr bwMode="auto">
            <a:xfrm>
              <a:off x="517" y="76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3" name="Rectangle 14"/>
            <p:cNvSpPr>
              <a:spLocks noChangeArrowheads="1"/>
            </p:cNvSpPr>
            <p:nvPr/>
          </p:nvSpPr>
          <p:spPr bwMode="auto">
            <a:xfrm>
              <a:off x="786" y="768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4" name="Rectangle 15"/>
            <p:cNvSpPr>
              <a:spLocks noChangeArrowheads="1"/>
            </p:cNvSpPr>
            <p:nvPr/>
          </p:nvSpPr>
          <p:spPr bwMode="auto">
            <a:xfrm>
              <a:off x="1054" y="76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5" name="Rectangle 16"/>
            <p:cNvSpPr>
              <a:spLocks noChangeArrowheads="1"/>
            </p:cNvSpPr>
            <p:nvPr/>
          </p:nvSpPr>
          <p:spPr bwMode="auto">
            <a:xfrm>
              <a:off x="1323" y="76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6" name="Rectangle 17"/>
            <p:cNvSpPr>
              <a:spLocks noChangeArrowheads="1"/>
            </p:cNvSpPr>
            <p:nvPr/>
          </p:nvSpPr>
          <p:spPr bwMode="auto">
            <a:xfrm>
              <a:off x="248" y="98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7" name="Rectangle 18"/>
            <p:cNvSpPr>
              <a:spLocks noChangeArrowheads="1"/>
            </p:cNvSpPr>
            <p:nvPr/>
          </p:nvSpPr>
          <p:spPr bwMode="auto">
            <a:xfrm>
              <a:off x="517" y="98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8" name="Rectangle 19"/>
            <p:cNvSpPr>
              <a:spLocks noChangeArrowheads="1"/>
            </p:cNvSpPr>
            <p:nvPr/>
          </p:nvSpPr>
          <p:spPr bwMode="auto">
            <a:xfrm>
              <a:off x="786" y="981"/>
              <a:ext cx="268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9" name="Rectangle 20"/>
            <p:cNvSpPr>
              <a:spLocks noChangeArrowheads="1"/>
            </p:cNvSpPr>
            <p:nvPr/>
          </p:nvSpPr>
          <p:spPr bwMode="auto">
            <a:xfrm>
              <a:off x="1054" y="98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0" name="Rectangle 21"/>
            <p:cNvSpPr>
              <a:spLocks noChangeArrowheads="1"/>
            </p:cNvSpPr>
            <p:nvPr/>
          </p:nvSpPr>
          <p:spPr bwMode="auto">
            <a:xfrm>
              <a:off x="1323" y="98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1" name="Rectangle 22"/>
            <p:cNvSpPr>
              <a:spLocks noChangeArrowheads="1"/>
            </p:cNvSpPr>
            <p:nvPr/>
          </p:nvSpPr>
          <p:spPr bwMode="auto">
            <a:xfrm>
              <a:off x="248" y="119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2" name="Rectangle 23"/>
            <p:cNvSpPr>
              <a:spLocks noChangeArrowheads="1"/>
            </p:cNvSpPr>
            <p:nvPr/>
          </p:nvSpPr>
          <p:spPr bwMode="auto">
            <a:xfrm>
              <a:off x="517" y="119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3" name="Rectangle 24"/>
            <p:cNvSpPr>
              <a:spLocks noChangeArrowheads="1"/>
            </p:cNvSpPr>
            <p:nvPr/>
          </p:nvSpPr>
          <p:spPr bwMode="auto">
            <a:xfrm>
              <a:off x="786" y="1195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4" name="Rectangle 25"/>
            <p:cNvSpPr>
              <a:spLocks noChangeArrowheads="1"/>
            </p:cNvSpPr>
            <p:nvPr/>
          </p:nvSpPr>
          <p:spPr bwMode="auto">
            <a:xfrm>
              <a:off x="1054" y="119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5" name="Rectangle 26"/>
            <p:cNvSpPr>
              <a:spLocks noChangeArrowheads="1"/>
            </p:cNvSpPr>
            <p:nvPr/>
          </p:nvSpPr>
          <p:spPr bwMode="auto">
            <a:xfrm>
              <a:off x="1323" y="119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6" name="Rectangle 27"/>
            <p:cNvSpPr>
              <a:spLocks noChangeArrowheads="1"/>
            </p:cNvSpPr>
            <p:nvPr/>
          </p:nvSpPr>
          <p:spPr bwMode="auto">
            <a:xfrm>
              <a:off x="248" y="140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7" name="Rectangle 28"/>
            <p:cNvSpPr>
              <a:spLocks noChangeArrowheads="1"/>
            </p:cNvSpPr>
            <p:nvPr/>
          </p:nvSpPr>
          <p:spPr bwMode="auto">
            <a:xfrm>
              <a:off x="517" y="140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8" name="Rectangle 29"/>
            <p:cNvSpPr>
              <a:spLocks noChangeArrowheads="1"/>
            </p:cNvSpPr>
            <p:nvPr/>
          </p:nvSpPr>
          <p:spPr bwMode="auto">
            <a:xfrm>
              <a:off x="786" y="1408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9" name="Rectangle 30"/>
            <p:cNvSpPr>
              <a:spLocks noChangeArrowheads="1"/>
            </p:cNvSpPr>
            <p:nvPr/>
          </p:nvSpPr>
          <p:spPr bwMode="auto">
            <a:xfrm>
              <a:off x="1054" y="140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0" name="Rectangle 31"/>
            <p:cNvSpPr>
              <a:spLocks noChangeArrowheads="1"/>
            </p:cNvSpPr>
            <p:nvPr/>
          </p:nvSpPr>
          <p:spPr bwMode="auto">
            <a:xfrm>
              <a:off x="1323" y="140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1" name="Rectangle 32"/>
            <p:cNvSpPr>
              <a:spLocks noChangeArrowheads="1"/>
            </p:cNvSpPr>
            <p:nvPr/>
          </p:nvSpPr>
          <p:spPr bwMode="auto">
            <a:xfrm>
              <a:off x="248" y="162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2" name="Rectangle 33"/>
            <p:cNvSpPr>
              <a:spLocks noChangeArrowheads="1"/>
            </p:cNvSpPr>
            <p:nvPr/>
          </p:nvSpPr>
          <p:spPr bwMode="auto">
            <a:xfrm>
              <a:off x="517" y="162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3" name="Rectangle 34"/>
            <p:cNvSpPr>
              <a:spLocks noChangeArrowheads="1"/>
            </p:cNvSpPr>
            <p:nvPr/>
          </p:nvSpPr>
          <p:spPr bwMode="auto">
            <a:xfrm>
              <a:off x="786" y="1621"/>
              <a:ext cx="268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4" name="Rectangle 35"/>
            <p:cNvSpPr>
              <a:spLocks noChangeArrowheads="1"/>
            </p:cNvSpPr>
            <p:nvPr/>
          </p:nvSpPr>
          <p:spPr bwMode="auto">
            <a:xfrm>
              <a:off x="1054" y="162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5" name="Rectangle 36"/>
            <p:cNvSpPr>
              <a:spLocks noChangeArrowheads="1"/>
            </p:cNvSpPr>
            <p:nvPr/>
          </p:nvSpPr>
          <p:spPr bwMode="auto">
            <a:xfrm>
              <a:off x="1323" y="162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6" name="Rectangle 37"/>
            <p:cNvSpPr>
              <a:spLocks noChangeArrowheads="1"/>
            </p:cNvSpPr>
            <p:nvPr/>
          </p:nvSpPr>
          <p:spPr bwMode="auto">
            <a:xfrm>
              <a:off x="248" y="183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7" name="Rectangle 38"/>
            <p:cNvSpPr>
              <a:spLocks noChangeArrowheads="1"/>
            </p:cNvSpPr>
            <p:nvPr/>
          </p:nvSpPr>
          <p:spPr bwMode="auto">
            <a:xfrm>
              <a:off x="517" y="183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8" name="Rectangle 39"/>
            <p:cNvSpPr>
              <a:spLocks noChangeArrowheads="1"/>
            </p:cNvSpPr>
            <p:nvPr/>
          </p:nvSpPr>
          <p:spPr bwMode="auto">
            <a:xfrm>
              <a:off x="786" y="1835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9" name="Rectangle 40"/>
            <p:cNvSpPr>
              <a:spLocks noChangeArrowheads="1"/>
            </p:cNvSpPr>
            <p:nvPr/>
          </p:nvSpPr>
          <p:spPr bwMode="auto">
            <a:xfrm>
              <a:off x="1054" y="183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0" name="Rectangle 41"/>
            <p:cNvSpPr>
              <a:spLocks noChangeArrowheads="1"/>
            </p:cNvSpPr>
            <p:nvPr/>
          </p:nvSpPr>
          <p:spPr bwMode="auto">
            <a:xfrm>
              <a:off x="1323" y="183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1" name="Rectangle 42"/>
            <p:cNvSpPr>
              <a:spLocks noChangeArrowheads="1"/>
            </p:cNvSpPr>
            <p:nvPr/>
          </p:nvSpPr>
          <p:spPr bwMode="auto">
            <a:xfrm>
              <a:off x="248" y="12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2" name="Rectangle 43"/>
            <p:cNvSpPr>
              <a:spLocks noChangeArrowheads="1"/>
            </p:cNvSpPr>
            <p:nvPr/>
          </p:nvSpPr>
          <p:spPr bwMode="auto">
            <a:xfrm>
              <a:off x="517" y="12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3" name="Rectangle 44"/>
            <p:cNvSpPr>
              <a:spLocks noChangeArrowheads="1"/>
            </p:cNvSpPr>
            <p:nvPr/>
          </p:nvSpPr>
          <p:spPr bwMode="auto">
            <a:xfrm>
              <a:off x="786" y="128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4" name="Rectangle 45"/>
            <p:cNvSpPr>
              <a:spLocks noChangeArrowheads="1"/>
            </p:cNvSpPr>
            <p:nvPr/>
          </p:nvSpPr>
          <p:spPr bwMode="auto">
            <a:xfrm>
              <a:off x="1054" y="12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5" name="Rectangle 46"/>
            <p:cNvSpPr>
              <a:spLocks noChangeArrowheads="1"/>
            </p:cNvSpPr>
            <p:nvPr/>
          </p:nvSpPr>
          <p:spPr bwMode="auto">
            <a:xfrm>
              <a:off x="1323" y="12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grpSp>
          <p:nvGrpSpPr>
            <p:cNvPr id="41046" name="Group 47"/>
            <p:cNvGrpSpPr>
              <a:grpSpLocks/>
            </p:cNvGrpSpPr>
            <p:nvPr/>
          </p:nvGrpSpPr>
          <p:grpSpPr bwMode="auto">
            <a:xfrm>
              <a:off x="248" y="2051"/>
              <a:ext cx="1344" cy="1707"/>
              <a:chOff x="758" y="2106"/>
              <a:chExt cx="1344" cy="1707"/>
            </a:xfrm>
          </p:grpSpPr>
          <p:sp>
            <p:nvSpPr>
              <p:cNvPr id="41066" name="Rectangle 48"/>
              <p:cNvSpPr>
                <a:spLocks noChangeArrowheads="1"/>
              </p:cNvSpPr>
              <p:nvPr/>
            </p:nvSpPr>
            <p:spPr bwMode="auto">
              <a:xfrm>
                <a:off x="758" y="210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67" name="Rectangle 49"/>
              <p:cNvSpPr>
                <a:spLocks noChangeArrowheads="1"/>
              </p:cNvSpPr>
              <p:nvPr/>
            </p:nvSpPr>
            <p:spPr bwMode="auto">
              <a:xfrm>
                <a:off x="1027" y="210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68" name="Rectangle 50"/>
              <p:cNvSpPr>
                <a:spLocks noChangeArrowheads="1"/>
              </p:cNvSpPr>
              <p:nvPr/>
            </p:nvSpPr>
            <p:spPr bwMode="auto">
              <a:xfrm>
                <a:off x="1296" y="2106"/>
                <a:ext cx="268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69" name="Rectangle 51"/>
              <p:cNvSpPr>
                <a:spLocks noChangeArrowheads="1"/>
              </p:cNvSpPr>
              <p:nvPr/>
            </p:nvSpPr>
            <p:spPr bwMode="auto">
              <a:xfrm>
                <a:off x="1564" y="210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0" name="Rectangle 52"/>
              <p:cNvSpPr>
                <a:spLocks noChangeArrowheads="1"/>
              </p:cNvSpPr>
              <p:nvPr/>
            </p:nvSpPr>
            <p:spPr bwMode="auto">
              <a:xfrm>
                <a:off x="1833" y="210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1" name="Rectangle 53"/>
              <p:cNvSpPr>
                <a:spLocks noChangeArrowheads="1"/>
              </p:cNvSpPr>
              <p:nvPr/>
            </p:nvSpPr>
            <p:spPr bwMode="auto">
              <a:xfrm>
                <a:off x="758" y="232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2" name="Rectangle 54"/>
              <p:cNvSpPr>
                <a:spLocks noChangeArrowheads="1"/>
              </p:cNvSpPr>
              <p:nvPr/>
            </p:nvSpPr>
            <p:spPr bwMode="auto">
              <a:xfrm>
                <a:off x="1027" y="232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3" name="Rectangle 55"/>
              <p:cNvSpPr>
                <a:spLocks noChangeArrowheads="1"/>
              </p:cNvSpPr>
              <p:nvPr/>
            </p:nvSpPr>
            <p:spPr bwMode="auto">
              <a:xfrm>
                <a:off x="1296" y="2320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4" name="Rectangle 56"/>
              <p:cNvSpPr>
                <a:spLocks noChangeArrowheads="1"/>
              </p:cNvSpPr>
              <p:nvPr/>
            </p:nvSpPr>
            <p:spPr bwMode="auto">
              <a:xfrm>
                <a:off x="1564" y="232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5" name="Rectangle 57"/>
              <p:cNvSpPr>
                <a:spLocks noChangeArrowheads="1"/>
              </p:cNvSpPr>
              <p:nvPr/>
            </p:nvSpPr>
            <p:spPr bwMode="auto">
              <a:xfrm>
                <a:off x="1833" y="232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6" name="Rectangle 58"/>
              <p:cNvSpPr>
                <a:spLocks noChangeArrowheads="1"/>
              </p:cNvSpPr>
              <p:nvPr/>
            </p:nvSpPr>
            <p:spPr bwMode="auto">
              <a:xfrm>
                <a:off x="758" y="253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7" name="Rectangle 59"/>
              <p:cNvSpPr>
                <a:spLocks noChangeArrowheads="1"/>
              </p:cNvSpPr>
              <p:nvPr/>
            </p:nvSpPr>
            <p:spPr bwMode="auto">
              <a:xfrm>
                <a:off x="1027" y="253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8" name="Rectangle 60"/>
              <p:cNvSpPr>
                <a:spLocks noChangeArrowheads="1"/>
              </p:cNvSpPr>
              <p:nvPr/>
            </p:nvSpPr>
            <p:spPr bwMode="auto">
              <a:xfrm>
                <a:off x="1296" y="2533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9" name="Rectangle 61"/>
              <p:cNvSpPr>
                <a:spLocks noChangeArrowheads="1"/>
              </p:cNvSpPr>
              <p:nvPr/>
            </p:nvSpPr>
            <p:spPr bwMode="auto">
              <a:xfrm>
                <a:off x="1564" y="253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0" name="Rectangle 62"/>
              <p:cNvSpPr>
                <a:spLocks noChangeArrowheads="1"/>
              </p:cNvSpPr>
              <p:nvPr/>
            </p:nvSpPr>
            <p:spPr bwMode="auto">
              <a:xfrm>
                <a:off x="1833" y="253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1" name="Rectangle 63"/>
              <p:cNvSpPr>
                <a:spLocks noChangeArrowheads="1"/>
              </p:cNvSpPr>
              <p:nvPr/>
            </p:nvSpPr>
            <p:spPr bwMode="auto">
              <a:xfrm>
                <a:off x="758" y="274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2" name="Rectangle 64"/>
              <p:cNvSpPr>
                <a:spLocks noChangeArrowheads="1"/>
              </p:cNvSpPr>
              <p:nvPr/>
            </p:nvSpPr>
            <p:spPr bwMode="auto">
              <a:xfrm>
                <a:off x="1027" y="274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3" name="Rectangle 65"/>
              <p:cNvSpPr>
                <a:spLocks noChangeArrowheads="1"/>
              </p:cNvSpPr>
              <p:nvPr/>
            </p:nvSpPr>
            <p:spPr bwMode="auto">
              <a:xfrm>
                <a:off x="1296" y="2746"/>
                <a:ext cx="268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4" name="Rectangle 66"/>
              <p:cNvSpPr>
                <a:spLocks noChangeArrowheads="1"/>
              </p:cNvSpPr>
              <p:nvPr/>
            </p:nvSpPr>
            <p:spPr bwMode="auto">
              <a:xfrm>
                <a:off x="1564" y="274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5" name="Rectangle 67"/>
              <p:cNvSpPr>
                <a:spLocks noChangeArrowheads="1"/>
              </p:cNvSpPr>
              <p:nvPr/>
            </p:nvSpPr>
            <p:spPr bwMode="auto">
              <a:xfrm>
                <a:off x="1833" y="274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6" name="Rectangle 68"/>
              <p:cNvSpPr>
                <a:spLocks noChangeArrowheads="1"/>
              </p:cNvSpPr>
              <p:nvPr/>
            </p:nvSpPr>
            <p:spPr bwMode="auto">
              <a:xfrm>
                <a:off x="758" y="296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7" name="Rectangle 69"/>
              <p:cNvSpPr>
                <a:spLocks noChangeArrowheads="1"/>
              </p:cNvSpPr>
              <p:nvPr/>
            </p:nvSpPr>
            <p:spPr bwMode="auto">
              <a:xfrm>
                <a:off x="1027" y="296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8" name="Rectangle 70"/>
              <p:cNvSpPr>
                <a:spLocks noChangeArrowheads="1"/>
              </p:cNvSpPr>
              <p:nvPr/>
            </p:nvSpPr>
            <p:spPr bwMode="auto">
              <a:xfrm>
                <a:off x="1296" y="2960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9" name="Rectangle 71"/>
              <p:cNvSpPr>
                <a:spLocks noChangeArrowheads="1"/>
              </p:cNvSpPr>
              <p:nvPr/>
            </p:nvSpPr>
            <p:spPr bwMode="auto">
              <a:xfrm>
                <a:off x="1564" y="296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0" name="Rectangle 72"/>
              <p:cNvSpPr>
                <a:spLocks noChangeArrowheads="1"/>
              </p:cNvSpPr>
              <p:nvPr/>
            </p:nvSpPr>
            <p:spPr bwMode="auto">
              <a:xfrm>
                <a:off x="1833" y="296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1" name="Rectangle 73"/>
              <p:cNvSpPr>
                <a:spLocks noChangeArrowheads="1"/>
              </p:cNvSpPr>
              <p:nvPr/>
            </p:nvSpPr>
            <p:spPr bwMode="auto">
              <a:xfrm>
                <a:off x="758" y="317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2" name="Rectangle 74"/>
              <p:cNvSpPr>
                <a:spLocks noChangeArrowheads="1"/>
              </p:cNvSpPr>
              <p:nvPr/>
            </p:nvSpPr>
            <p:spPr bwMode="auto">
              <a:xfrm>
                <a:off x="1027" y="317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3" name="Rectangle 75"/>
              <p:cNvSpPr>
                <a:spLocks noChangeArrowheads="1"/>
              </p:cNvSpPr>
              <p:nvPr/>
            </p:nvSpPr>
            <p:spPr bwMode="auto">
              <a:xfrm>
                <a:off x="1296" y="3173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4" name="Rectangle 76"/>
              <p:cNvSpPr>
                <a:spLocks noChangeArrowheads="1"/>
              </p:cNvSpPr>
              <p:nvPr/>
            </p:nvSpPr>
            <p:spPr bwMode="auto">
              <a:xfrm>
                <a:off x="1564" y="317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5" name="Rectangle 77"/>
              <p:cNvSpPr>
                <a:spLocks noChangeArrowheads="1"/>
              </p:cNvSpPr>
              <p:nvPr/>
            </p:nvSpPr>
            <p:spPr bwMode="auto">
              <a:xfrm>
                <a:off x="1833" y="317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6" name="Rectangle 78"/>
              <p:cNvSpPr>
                <a:spLocks noChangeArrowheads="1"/>
              </p:cNvSpPr>
              <p:nvPr/>
            </p:nvSpPr>
            <p:spPr bwMode="auto">
              <a:xfrm>
                <a:off x="758" y="338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7" name="Rectangle 79"/>
              <p:cNvSpPr>
                <a:spLocks noChangeArrowheads="1"/>
              </p:cNvSpPr>
              <p:nvPr/>
            </p:nvSpPr>
            <p:spPr bwMode="auto">
              <a:xfrm>
                <a:off x="1027" y="338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8" name="Rectangle 80"/>
              <p:cNvSpPr>
                <a:spLocks noChangeArrowheads="1"/>
              </p:cNvSpPr>
              <p:nvPr/>
            </p:nvSpPr>
            <p:spPr bwMode="auto">
              <a:xfrm>
                <a:off x="1296" y="3386"/>
                <a:ext cx="268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9" name="Rectangle 81"/>
              <p:cNvSpPr>
                <a:spLocks noChangeArrowheads="1"/>
              </p:cNvSpPr>
              <p:nvPr/>
            </p:nvSpPr>
            <p:spPr bwMode="auto">
              <a:xfrm>
                <a:off x="1564" y="338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0" name="Rectangle 82"/>
              <p:cNvSpPr>
                <a:spLocks noChangeArrowheads="1"/>
              </p:cNvSpPr>
              <p:nvPr/>
            </p:nvSpPr>
            <p:spPr bwMode="auto">
              <a:xfrm>
                <a:off x="1833" y="338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1" name="Rectangle 83"/>
              <p:cNvSpPr>
                <a:spLocks noChangeArrowheads="1"/>
              </p:cNvSpPr>
              <p:nvPr/>
            </p:nvSpPr>
            <p:spPr bwMode="auto">
              <a:xfrm>
                <a:off x="758" y="360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2" name="Rectangle 84"/>
              <p:cNvSpPr>
                <a:spLocks noChangeArrowheads="1"/>
              </p:cNvSpPr>
              <p:nvPr/>
            </p:nvSpPr>
            <p:spPr bwMode="auto">
              <a:xfrm>
                <a:off x="1027" y="360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3" name="Rectangle 85"/>
              <p:cNvSpPr>
                <a:spLocks noChangeArrowheads="1"/>
              </p:cNvSpPr>
              <p:nvPr/>
            </p:nvSpPr>
            <p:spPr bwMode="auto">
              <a:xfrm>
                <a:off x="1296" y="3600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4" name="Rectangle 86"/>
              <p:cNvSpPr>
                <a:spLocks noChangeArrowheads="1"/>
              </p:cNvSpPr>
              <p:nvPr/>
            </p:nvSpPr>
            <p:spPr bwMode="auto">
              <a:xfrm>
                <a:off x="1564" y="360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5" name="Rectangle 87"/>
              <p:cNvSpPr>
                <a:spLocks noChangeArrowheads="1"/>
              </p:cNvSpPr>
              <p:nvPr/>
            </p:nvSpPr>
            <p:spPr bwMode="auto">
              <a:xfrm>
                <a:off x="1833" y="360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</p:grpSp>
        <p:sp>
          <p:nvSpPr>
            <p:cNvPr id="41047" name="Line 88"/>
            <p:cNvSpPr>
              <a:spLocks noChangeShapeType="1"/>
            </p:cNvSpPr>
            <p:nvPr/>
          </p:nvSpPr>
          <p:spPr bwMode="auto">
            <a:xfrm>
              <a:off x="242" y="335"/>
              <a:ext cx="13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8" name="Line 89"/>
            <p:cNvSpPr>
              <a:spLocks noChangeShapeType="1"/>
            </p:cNvSpPr>
            <p:nvPr/>
          </p:nvSpPr>
          <p:spPr bwMode="auto">
            <a:xfrm>
              <a:off x="1323" y="131"/>
              <a:ext cx="9" cy="3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9" name="Text Box 90"/>
            <p:cNvSpPr txBox="1">
              <a:spLocks noChangeArrowheads="1"/>
            </p:cNvSpPr>
            <p:nvPr/>
          </p:nvSpPr>
          <p:spPr bwMode="auto">
            <a:xfrm>
              <a:off x="291" y="126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A  B  C  D  X</a:t>
              </a:r>
            </a:p>
          </p:txBody>
        </p:sp>
        <p:sp>
          <p:nvSpPr>
            <p:cNvPr id="41050" name="Text Box 91"/>
            <p:cNvSpPr txBox="1">
              <a:spLocks noChangeArrowheads="1"/>
            </p:cNvSpPr>
            <p:nvPr/>
          </p:nvSpPr>
          <p:spPr bwMode="auto">
            <a:xfrm>
              <a:off x="300" y="338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0  0  0  0  0</a:t>
              </a:r>
            </a:p>
          </p:txBody>
        </p:sp>
        <p:sp>
          <p:nvSpPr>
            <p:cNvPr id="41051" name="Text Box 92"/>
            <p:cNvSpPr txBox="1">
              <a:spLocks noChangeArrowheads="1"/>
            </p:cNvSpPr>
            <p:nvPr/>
          </p:nvSpPr>
          <p:spPr bwMode="auto">
            <a:xfrm>
              <a:off x="297" y="534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1  0  0  0  0</a:t>
              </a:r>
            </a:p>
          </p:txBody>
        </p:sp>
        <p:sp>
          <p:nvSpPr>
            <p:cNvPr id="41052" name="Text Box 93"/>
            <p:cNvSpPr txBox="1">
              <a:spLocks noChangeArrowheads="1"/>
            </p:cNvSpPr>
            <p:nvPr/>
          </p:nvSpPr>
          <p:spPr bwMode="auto">
            <a:xfrm>
              <a:off x="294" y="757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0  1  0  0  0</a:t>
              </a:r>
            </a:p>
          </p:txBody>
        </p:sp>
        <p:sp>
          <p:nvSpPr>
            <p:cNvPr id="41053" name="Text Box 94"/>
            <p:cNvSpPr txBox="1">
              <a:spLocks noChangeArrowheads="1"/>
            </p:cNvSpPr>
            <p:nvPr/>
          </p:nvSpPr>
          <p:spPr bwMode="auto">
            <a:xfrm>
              <a:off x="302" y="976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1  1  0  0  1</a:t>
              </a:r>
            </a:p>
          </p:txBody>
        </p:sp>
        <p:sp>
          <p:nvSpPr>
            <p:cNvPr id="41054" name="Text Box 95"/>
            <p:cNvSpPr txBox="1">
              <a:spLocks noChangeArrowheads="1"/>
            </p:cNvSpPr>
            <p:nvPr/>
          </p:nvSpPr>
          <p:spPr bwMode="auto">
            <a:xfrm>
              <a:off x="301" y="1818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1  1  1  0  1</a:t>
              </a:r>
            </a:p>
          </p:txBody>
        </p:sp>
        <p:sp>
          <p:nvSpPr>
            <p:cNvPr id="41055" name="Text Box 96"/>
            <p:cNvSpPr txBox="1">
              <a:spLocks noChangeArrowheads="1"/>
            </p:cNvSpPr>
            <p:nvPr/>
          </p:nvSpPr>
          <p:spPr bwMode="auto">
            <a:xfrm>
              <a:off x="299" y="1180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0  0  1  0  0</a:t>
              </a:r>
            </a:p>
          </p:txBody>
        </p:sp>
        <p:sp>
          <p:nvSpPr>
            <p:cNvPr id="41056" name="Text Box 97"/>
            <p:cNvSpPr txBox="1">
              <a:spLocks noChangeArrowheads="1"/>
            </p:cNvSpPr>
            <p:nvPr/>
          </p:nvSpPr>
          <p:spPr bwMode="auto">
            <a:xfrm>
              <a:off x="296" y="1392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1  0  1  0  1</a:t>
              </a:r>
            </a:p>
          </p:txBody>
        </p:sp>
        <p:sp>
          <p:nvSpPr>
            <p:cNvPr id="41057" name="Text Box 98"/>
            <p:cNvSpPr txBox="1">
              <a:spLocks noChangeArrowheads="1"/>
            </p:cNvSpPr>
            <p:nvPr/>
          </p:nvSpPr>
          <p:spPr bwMode="auto">
            <a:xfrm>
              <a:off x="302" y="1613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0  1  1  0  0</a:t>
              </a:r>
            </a:p>
          </p:txBody>
        </p:sp>
        <p:sp>
          <p:nvSpPr>
            <p:cNvPr id="41058" name="Text Box 99"/>
            <p:cNvSpPr txBox="1">
              <a:spLocks noChangeArrowheads="1"/>
            </p:cNvSpPr>
            <p:nvPr/>
          </p:nvSpPr>
          <p:spPr bwMode="auto">
            <a:xfrm>
              <a:off x="307" y="2030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0  0  0  1  1</a:t>
              </a:r>
            </a:p>
          </p:txBody>
        </p:sp>
        <p:sp>
          <p:nvSpPr>
            <p:cNvPr id="41059" name="Text Box 100"/>
            <p:cNvSpPr txBox="1">
              <a:spLocks noChangeArrowheads="1"/>
            </p:cNvSpPr>
            <p:nvPr/>
          </p:nvSpPr>
          <p:spPr bwMode="auto">
            <a:xfrm>
              <a:off x="305" y="2252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1  0  0  1  0</a:t>
              </a:r>
            </a:p>
          </p:txBody>
        </p:sp>
        <p:sp>
          <p:nvSpPr>
            <p:cNvPr id="41060" name="Text Box 101"/>
            <p:cNvSpPr txBox="1">
              <a:spLocks noChangeArrowheads="1"/>
            </p:cNvSpPr>
            <p:nvPr/>
          </p:nvSpPr>
          <p:spPr bwMode="auto">
            <a:xfrm>
              <a:off x="293" y="2456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0  1  0  1  1</a:t>
              </a:r>
            </a:p>
          </p:txBody>
        </p:sp>
        <p:sp>
          <p:nvSpPr>
            <p:cNvPr id="41061" name="Text Box 102"/>
            <p:cNvSpPr txBox="1">
              <a:spLocks noChangeArrowheads="1"/>
            </p:cNvSpPr>
            <p:nvPr/>
          </p:nvSpPr>
          <p:spPr bwMode="auto">
            <a:xfrm>
              <a:off x="301" y="2685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1  1  0  1  0</a:t>
              </a:r>
            </a:p>
          </p:txBody>
        </p:sp>
        <p:sp>
          <p:nvSpPr>
            <p:cNvPr id="41062" name="Text Box 103"/>
            <p:cNvSpPr txBox="1">
              <a:spLocks noChangeArrowheads="1"/>
            </p:cNvSpPr>
            <p:nvPr/>
          </p:nvSpPr>
          <p:spPr bwMode="auto">
            <a:xfrm>
              <a:off x="297" y="2907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0  0  1  1  1</a:t>
              </a:r>
            </a:p>
          </p:txBody>
        </p:sp>
        <p:sp>
          <p:nvSpPr>
            <p:cNvPr id="41063" name="Text Box 104"/>
            <p:cNvSpPr txBox="1">
              <a:spLocks noChangeArrowheads="1"/>
            </p:cNvSpPr>
            <p:nvPr/>
          </p:nvSpPr>
          <p:spPr bwMode="auto">
            <a:xfrm>
              <a:off x="285" y="3099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1  0  1  1  0</a:t>
              </a:r>
            </a:p>
          </p:txBody>
        </p:sp>
        <p:sp>
          <p:nvSpPr>
            <p:cNvPr id="41064" name="Text Box 105"/>
            <p:cNvSpPr txBox="1">
              <a:spLocks noChangeArrowheads="1"/>
            </p:cNvSpPr>
            <p:nvPr/>
          </p:nvSpPr>
          <p:spPr bwMode="auto">
            <a:xfrm>
              <a:off x="283" y="3323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0  1  1  1  1</a:t>
              </a:r>
            </a:p>
          </p:txBody>
        </p:sp>
        <p:sp>
          <p:nvSpPr>
            <p:cNvPr id="41065" name="Text Box 106"/>
            <p:cNvSpPr txBox="1">
              <a:spLocks noChangeArrowheads="1"/>
            </p:cNvSpPr>
            <p:nvPr/>
          </p:nvSpPr>
          <p:spPr bwMode="auto">
            <a:xfrm>
              <a:off x="309" y="3536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1  1  1  1  0</a:t>
              </a:r>
            </a:p>
          </p:txBody>
        </p:sp>
      </p:grpSp>
      <p:sp>
        <p:nvSpPr>
          <p:cNvPr id="40963" name="Text Box 107"/>
          <p:cNvSpPr txBox="1">
            <a:spLocks noChangeArrowheads="1"/>
          </p:cNvSpPr>
          <p:nvPr/>
        </p:nvSpPr>
        <p:spPr bwMode="auto">
          <a:xfrm>
            <a:off x="3152775" y="4106863"/>
            <a:ext cx="2232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>
                <a:latin typeface="Courier New" pitchFamily="49" charset="0"/>
              </a:rPr>
              <a:t>AB  AB  AB  AB </a:t>
            </a:r>
          </a:p>
        </p:txBody>
      </p:sp>
      <p:sp>
        <p:nvSpPr>
          <p:cNvPr id="40964" name="Text Box 108"/>
          <p:cNvSpPr txBox="1">
            <a:spLocks noChangeArrowheads="1"/>
          </p:cNvSpPr>
          <p:nvPr/>
        </p:nvSpPr>
        <p:spPr bwMode="auto">
          <a:xfrm>
            <a:off x="2603500" y="4624388"/>
            <a:ext cx="457200" cy="172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</p:txBody>
      </p:sp>
      <p:sp>
        <p:nvSpPr>
          <p:cNvPr id="40965" name="Line 109"/>
          <p:cNvSpPr>
            <a:spLocks noChangeShapeType="1"/>
          </p:cNvSpPr>
          <p:nvPr/>
        </p:nvSpPr>
        <p:spPr bwMode="auto">
          <a:xfrm>
            <a:off x="2697163" y="5113338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6" name="Line 110"/>
          <p:cNvSpPr>
            <a:spLocks noChangeShapeType="1"/>
          </p:cNvSpPr>
          <p:nvPr/>
        </p:nvSpPr>
        <p:spPr bwMode="auto">
          <a:xfrm>
            <a:off x="2849563" y="46656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7" name="Line 111"/>
          <p:cNvSpPr>
            <a:spLocks noChangeShapeType="1"/>
          </p:cNvSpPr>
          <p:nvPr/>
        </p:nvSpPr>
        <p:spPr bwMode="auto">
          <a:xfrm>
            <a:off x="2678113" y="46656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8" name="Line 112"/>
          <p:cNvSpPr>
            <a:spLocks noChangeShapeType="1"/>
          </p:cNvSpPr>
          <p:nvPr/>
        </p:nvSpPr>
        <p:spPr bwMode="auto">
          <a:xfrm>
            <a:off x="5002213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9" name="Line 113"/>
          <p:cNvSpPr>
            <a:spLocks noChangeShapeType="1"/>
          </p:cNvSpPr>
          <p:nvPr/>
        </p:nvSpPr>
        <p:spPr bwMode="auto">
          <a:xfrm>
            <a:off x="3773488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0" name="Line 114"/>
          <p:cNvSpPr>
            <a:spLocks noChangeShapeType="1"/>
          </p:cNvSpPr>
          <p:nvPr/>
        </p:nvSpPr>
        <p:spPr bwMode="auto">
          <a:xfrm>
            <a:off x="3402013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1" name="Line 115"/>
          <p:cNvSpPr>
            <a:spLocks noChangeShapeType="1"/>
          </p:cNvSpPr>
          <p:nvPr/>
        </p:nvSpPr>
        <p:spPr bwMode="auto">
          <a:xfrm>
            <a:off x="3230563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2" name="Line 116"/>
          <p:cNvSpPr>
            <a:spLocks noChangeShapeType="1"/>
          </p:cNvSpPr>
          <p:nvPr/>
        </p:nvSpPr>
        <p:spPr bwMode="auto">
          <a:xfrm>
            <a:off x="2820988" y="605631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0973" name="Group 117"/>
          <p:cNvGrpSpPr>
            <a:grpSpLocks/>
          </p:cNvGrpSpPr>
          <p:nvPr/>
        </p:nvGrpSpPr>
        <p:grpSpPr bwMode="auto">
          <a:xfrm>
            <a:off x="3136900" y="4445000"/>
            <a:ext cx="2133600" cy="1981200"/>
            <a:chOff x="3264" y="2352"/>
            <a:chExt cx="1152" cy="1152"/>
          </a:xfrm>
        </p:grpSpPr>
        <p:sp>
          <p:nvSpPr>
            <p:cNvPr id="40985" name="Rectangle 118"/>
            <p:cNvSpPr>
              <a:spLocks noChangeArrowheads="1"/>
            </p:cNvSpPr>
            <p:nvPr/>
          </p:nvSpPr>
          <p:spPr bwMode="auto">
            <a:xfrm>
              <a:off x="3264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86" name="Rectangle 119"/>
            <p:cNvSpPr>
              <a:spLocks noChangeArrowheads="1"/>
            </p:cNvSpPr>
            <p:nvPr/>
          </p:nvSpPr>
          <p:spPr bwMode="auto">
            <a:xfrm>
              <a:off x="3552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87" name="Rectangle 120"/>
            <p:cNvSpPr>
              <a:spLocks noChangeArrowheads="1"/>
            </p:cNvSpPr>
            <p:nvPr/>
          </p:nvSpPr>
          <p:spPr bwMode="auto">
            <a:xfrm>
              <a:off x="3840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88" name="Rectangle 121"/>
            <p:cNvSpPr>
              <a:spLocks noChangeArrowheads="1"/>
            </p:cNvSpPr>
            <p:nvPr/>
          </p:nvSpPr>
          <p:spPr bwMode="auto">
            <a:xfrm>
              <a:off x="4128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89" name="Rectangle 122"/>
            <p:cNvSpPr>
              <a:spLocks noChangeArrowheads="1"/>
            </p:cNvSpPr>
            <p:nvPr/>
          </p:nvSpPr>
          <p:spPr bwMode="auto">
            <a:xfrm>
              <a:off x="3264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0" name="Rectangle 123"/>
            <p:cNvSpPr>
              <a:spLocks noChangeArrowheads="1"/>
            </p:cNvSpPr>
            <p:nvPr/>
          </p:nvSpPr>
          <p:spPr bwMode="auto">
            <a:xfrm>
              <a:off x="3552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1" name="Rectangle 124"/>
            <p:cNvSpPr>
              <a:spLocks noChangeArrowheads="1"/>
            </p:cNvSpPr>
            <p:nvPr/>
          </p:nvSpPr>
          <p:spPr bwMode="auto">
            <a:xfrm>
              <a:off x="3840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2" name="Rectangle 125"/>
            <p:cNvSpPr>
              <a:spLocks noChangeArrowheads="1"/>
            </p:cNvSpPr>
            <p:nvPr/>
          </p:nvSpPr>
          <p:spPr bwMode="auto">
            <a:xfrm>
              <a:off x="4128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3" name="Rectangle 126"/>
            <p:cNvSpPr>
              <a:spLocks noChangeArrowheads="1"/>
            </p:cNvSpPr>
            <p:nvPr/>
          </p:nvSpPr>
          <p:spPr bwMode="auto">
            <a:xfrm>
              <a:off x="3264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4" name="Rectangle 127"/>
            <p:cNvSpPr>
              <a:spLocks noChangeArrowheads="1"/>
            </p:cNvSpPr>
            <p:nvPr/>
          </p:nvSpPr>
          <p:spPr bwMode="auto">
            <a:xfrm>
              <a:off x="3552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5" name="Rectangle 128"/>
            <p:cNvSpPr>
              <a:spLocks noChangeArrowheads="1"/>
            </p:cNvSpPr>
            <p:nvPr/>
          </p:nvSpPr>
          <p:spPr bwMode="auto">
            <a:xfrm>
              <a:off x="3840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6" name="Rectangle 129"/>
            <p:cNvSpPr>
              <a:spLocks noChangeArrowheads="1"/>
            </p:cNvSpPr>
            <p:nvPr/>
          </p:nvSpPr>
          <p:spPr bwMode="auto">
            <a:xfrm>
              <a:off x="4128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7" name="Rectangle 130"/>
            <p:cNvSpPr>
              <a:spLocks noChangeArrowheads="1"/>
            </p:cNvSpPr>
            <p:nvPr/>
          </p:nvSpPr>
          <p:spPr bwMode="auto">
            <a:xfrm>
              <a:off x="3264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8" name="Rectangle 131"/>
            <p:cNvSpPr>
              <a:spLocks noChangeArrowheads="1"/>
            </p:cNvSpPr>
            <p:nvPr/>
          </p:nvSpPr>
          <p:spPr bwMode="auto">
            <a:xfrm>
              <a:off x="3552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9" name="Rectangle 132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0" name="Rectangle 133"/>
            <p:cNvSpPr>
              <a:spLocks noChangeArrowheads="1"/>
            </p:cNvSpPr>
            <p:nvPr/>
          </p:nvSpPr>
          <p:spPr bwMode="auto">
            <a:xfrm>
              <a:off x="4128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</p:grpSp>
      <p:sp>
        <p:nvSpPr>
          <p:cNvPr id="40974" name="Text Box 134"/>
          <p:cNvSpPr txBox="1">
            <a:spLocks noChangeArrowheads="1"/>
          </p:cNvSpPr>
          <p:nvPr/>
        </p:nvSpPr>
        <p:spPr bwMode="auto">
          <a:xfrm>
            <a:off x="3213100" y="4978400"/>
            <a:ext cx="184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   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0975" name="Text Box 135"/>
          <p:cNvSpPr txBox="1">
            <a:spLocks noChangeArrowheads="1"/>
          </p:cNvSpPr>
          <p:nvPr/>
        </p:nvSpPr>
        <p:spPr bwMode="auto">
          <a:xfrm>
            <a:off x="3213100" y="5449888"/>
            <a:ext cx="184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   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0976" name="Text Box 136"/>
          <p:cNvSpPr txBox="1">
            <a:spLocks noChangeArrowheads="1"/>
          </p:cNvSpPr>
          <p:nvPr/>
        </p:nvSpPr>
        <p:spPr bwMode="auto">
          <a:xfrm>
            <a:off x="4327525" y="6007100"/>
            <a:ext cx="184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   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0978" name="Text Box 138"/>
          <p:cNvSpPr txBox="1">
            <a:spLocks noChangeArrowheads="1"/>
          </p:cNvSpPr>
          <p:nvPr/>
        </p:nvSpPr>
        <p:spPr bwMode="auto">
          <a:xfrm>
            <a:off x="2625725" y="1195388"/>
            <a:ext cx="6300788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 smtClean="0">
                <a:latin typeface="Tahoma" pitchFamily="34" charset="0"/>
              </a:rPr>
              <a:t>X </a:t>
            </a:r>
            <a:r>
              <a:rPr lang="en-US" sz="1400" b="1" dirty="0">
                <a:latin typeface="Tahoma" pitchFamily="34" charset="0"/>
              </a:rPr>
              <a:t>=  A*B*~C*~D + A*~B*C*~D + A*B*C*~D + ~A*~B*~C*D + ~A*B*~C*D + ~A*~B*C*D + ~A*B*C*D</a:t>
            </a:r>
          </a:p>
          <a:p>
            <a:pPr eaLnBrk="1" hangingPunct="1"/>
            <a:endParaRPr lang="en-US" sz="1400" b="1" dirty="0" smtClean="0">
              <a:latin typeface="Tahoma" pitchFamily="34" charset="0"/>
            </a:endParaRPr>
          </a:p>
          <a:p>
            <a:pPr eaLnBrk="1" hangingPunct="1"/>
            <a:endParaRPr lang="en-US" sz="1400" b="1" dirty="0">
              <a:latin typeface="Tahoma" pitchFamily="34" charset="0"/>
            </a:endParaRPr>
          </a:p>
          <a:p>
            <a:pPr eaLnBrk="1" hangingPunct="1"/>
            <a:r>
              <a:rPr lang="en-US" sz="1400" b="1" dirty="0" smtClean="0">
                <a:solidFill>
                  <a:srgbClr val="FF0000"/>
                </a:solidFill>
                <a:latin typeface="Tahoma" pitchFamily="34" charset="0"/>
              </a:rPr>
              <a:t>Q: </a:t>
            </a:r>
            <a:r>
              <a:rPr lang="en-US" sz="1400" b="1" dirty="0" smtClean="0">
                <a:latin typeface="Tahoma" pitchFamily="34" charset="0"/>
              </a:rPr>
              <a:t>Reduce or K-Map?</a:t>
            </a:r>
            <a:endParaRPr lang="en-US" sz="1400" b="1" dirty="0">
              <a:latin typeface="Tahoma" pitchFamily="34" charset="0"/>
            </a:endParaRPr>
          </a:p>
        </p:txBody>
      </p:sp>
      <p:sp>
        <p:nvSpPr>
          <p:cNvPr id="146" name="Text Box 141"/>
          <p:cNvSpPr txBox="1">
            <a:spLocks noChangeArrowheads="1"/>
          </p:cNvSpPr>
          <p:nvPr/>
        </p:nvSpPr>
        <p:spPr bwMode="auto">
          <a:xfrm>
            <a:off x="5292725" y="5314950"/>
            <a:ext cx="8772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 dirty="0">
                <a:latin typeface="Courier New" pitchFamily="49" charset="0"/>
              </a:rPr>
              <a:t>X = </a:t>
            </a:r>
            <a:r>
              <a:rPr lang="en-US" sz="1800" b="1" dirty="0" smtClean="0">
                <a:latin typeface="Courier New" pitchFamily="49" charset="0"/>
              </a:rPr>
              <a:t>? </a:t>
            </a:r>
            <a:endParaRPr lang="en-US" sz="1800" b="1" dirty="0">
              <a:latin typeface="Courier New" pitchFamily="49" charset="0"/>
            </a:endParaRPr>
          </a:p>
        </p:txBody>
      </p:sp>
      <p:sp>
        <p:nvSpPr>
          <p:cNvPr id="141" name="Rectangle 2"/>
          <p:cNvSpPr txBox="1">
            <a:spLocks noChangeArrowheads="1"/>
          </p:cNvSpPr>
          <p:nvPr/>
        </p:nvSpPr>
        <p:spPr>
          <a:xfrm>
            <a:off x="533400" y="542637"/>
            <a:ext cx="8229600" cy="6927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Another Arbitrary Example</a:t>
            </a:r>
          </a:p>
        </p:txBody>
      </p:sp>
    </p:spTree>
    <p:extLst>
      <p:ext uri="{BB962C8B-B14F-4D97-AF65-F5344CB8AC3E}">
        <p14:creationId xmlns:p14="http://schemas.microsoft.com/office/powerpoint/2010/main" val="14638410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64" grpId="0"/>
      <p:bldP spid="40965" grpId="0" animBg="1"/>
      <p:bldP spid="40966" grpId="0" animBg="1"/>
      <p:bldP spid="40967" grpId="0" animBg="1"/>
      <p:bldP spid="40968" grpId="0" animBg="1"/>
      <p:bldP spid="40969" grpId="0" animBg="1"/>
      <p:bldP spid="40970" grpId="0" animBg="1"/>
      <p:bldP spid="40971" grpId="0" animBg="1"/>
      <p:bldP spid="40972" grpId="0" animBg="1"/>
      <p:bldP spid="40974" grpId="0"/>
      <p:bldP spid="40975" grpId="0"/>
      <p:bldP spid="40976" grpId="0"/>
      <p:bldP spid="40978" grpId="0"/>
      <p:bldP spid="14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7"/>
          <p:cNvSpPr txBox="1">
            <a:spLocks noChangeArrowheads="1"/>
          </p:cNvSpPr>
          <p:nvPr/>
        </p:nvSpPr>
        <p:spPr bwMode="auto">
          <a:xfrm>
            <a:off x="3152775" y="4106863"/>
            <a:ext cx="2232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>
                <a:latin typeface="Courier New" pitchFamily="49" charset="0"/>
              </a:rPr>
              <a:t>AB  AB  AB  AB </a:t>
            </a:r>
          </a:p>
        </p:txBody>
      </p:sp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2603500" y="4624388"/>
            <a:ext cx="457200" cy="172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</p:txBody>
      </p:sp>
      <p:sp>
        <p:nvSpPr>
          <p:cNvPr id="4" name="Line 109"/>
          <p:cNvSpPr>
            <a:spLocks noChangeShapeType="1"/>
          </p:cNvSpPr>
          <p:nvPr/>
        </p:nvSpPr>
        <p:spPr bwMode="auto">
          <a:xfrm>
            <a:off x="2697163" y="5113338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110"/>
          <p:cNvSpPr>
            <a:spLocks noChangeShapeType="1"/>
          </p:cNvSpPr>
          <p:nvPr/>
        </p:nvSpPr>
        <p:spPr bwMode="auto">
          <a:xfrm>
            <a:off x="2849563" y="46656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11"/>
          <p:cNvSpPr>
            <a:spLocks noChangeShapeType="1"/>
          </p:cNvSpPr>
          <p:nvPr/>
        </p:nvSpPr>
        <p:spPr bwMode="auto">
          <a:xfrm>
            <a:off x="2678113" y="46656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12"/>
          <p:cNvSpPr>
            <a:spLocks noChangeShapeType="1"/>
          </p:cNvSpPr>
          <p:nvPr/>
        </p:nvSpPr>
        <p:spPr bwMode="auto">
          <a:xfrm>
            <a:off x="5002213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13"/>
          <p:cNvSpPr>
            <a:spLocks noChangeShapeType="1"/>
          </p:cNvSpPr>
          <p:nvPr/>
        </p:nvSpPr>
        <p:spPr bwMode="auto">
          <a:xfrm>
            <a:off x="3773488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4"/>
          <p:cNvSpPr>
            <a:spLocks noChangeShapeType="1"/>
          </p:cNvSpPr>
          <p:nvPr/>
        </p:nvSpPr>
        <p:spPr bwMode="auto">
          <a:xfrm>
            <a:off x="3402013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5"/>
          <p:cNvSpPr>
            <a:spLocks noChangeShapeType="1"/>
          </p:cNvSpPr>
          <p:nvPr/>
        </p:nvSpPr>
        <p:spPr bwMode="auto">
          <a:xfrm>
            <a:off x="3230563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16"/>
          <p:cNvSpPr>
            <a:spLocks noChangeShapeType="1"/>
          </p:cNvSpPr>
          <p:nvPr/>
        </p:nvSpPr>
        <p:spPr bwMode="auto">
          <a:xfrm>
            <a:off x="2820988" y="605631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" name="Group 117"/>
          <p:cNvGrpSpPr>
            <a:grpSpLocks/>
          </p:cNvGrpSpPr>
          <p:nvPr/>
        </p:nvGrpSpPr>
        <p:grpSpPr bwMode="auto">
          <a:xfrm>
            <a:off x="3136900" y="4445000"/>
            <a:ext cx="2133600" cy="1981200"/>
            <a:chOff x="3264" y="2352"/>
            <a:chExt cx="1152" cy="1152"/>
          </a:xfrm>
        </p:grpSpPr>
        <p:sp>
          <p:nvSpPr>
            <p:cNvPr id="13" name="Rectangle 118"/>
            <p:cNvSpPr>
              <a:spLocks noChangeArrowheads="1"/>
            </p:cNvSpPr>
            <p:nvPr/>
          </p:nvSpPr>
          <p:spPr bwMode="auto">
            <a:xfrm>
              <a:off x="3264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4" name="Rectangle 119"/>
            <p:cNvSpPr>
              <a:spLocks noChangeArrowheads="1"/>
            </p:cNvSpPr>
            <p:nvPr/>
          </p:nvSpPr>
          <p:spPr bwMode="auto">
            <a:xfrm>
              <a:off x="3552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5" name="Rectangle 120"/>
            <p:cNvSpPr>
              <a:spLocks noChangeArrowheads="1"/>
            </p:cNvSpPr>
            <p:nvPr/>
          </p:nvSpPr>
          <p:spPr bwMode="auto">
            <a:xfrm>
              <a:off x="3840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6" name="Rectangle 121"/>
            <p:cNvSpPr>
              <a:spLocks noChangeArrowheads="1"/>
            </p:cNvSpPr>
            <p:nvPr/>
          </p:nvSpPr>
          <p:spPr bwMode="auto">
            <a:xfrm>
              <a:off x="4128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7" name="Rectangle 122"/>
            <p:cNvSpPr>
              <a:spLocks noChangeArrowheads="1"/>
            </p:cNvSpPr>
            <p:nvPr/>
          </p:nvSpPr>
          <p:spPr bwMode="auto">
            <a:xfrm>
              <a:off x="3264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8" name="Rectangle 123"/>
            <p:cNvSpPr>
              <a:spLocks noChangeArrowheads="1"/>
            </p:cNvSpPr>
            <p:nvPr/>
          </p:nvSpPr>
          <p:spPr bwMode="auto">
            <a:xfrm>
              <a:off x="3552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" name="Rectangle 124"/>
            <p:cNvSpPr>
              <a:spLocks noChangeArrowheads="1"/>
            </p:cNvSpPr>
            <p:nvPr/>
          </p:nvSpPr>
          <p:spPr bwMode="auto">
            <a:xfrm>
              <a:off x="3840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0" name="Rectangle 125"/>
            <p:cNvSpPr>
              <a:spLocks noChangeArrowheads="1"/>
            </p:cNvSpPr>
            <p:nvPr/>
          </p:nvSpPr>
          <p:spPr bwMode="auto">
            <a:xfrm>
              <a:off x="4128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" name="Rectangle 126"/>
            <p:cNvSpPr>
              <a:spLocks noChangeArrowheads="1"/>
            </p:cNvSpPr>
            <p:nvPr/>
          </p:nvSpPr>
          <p:spPr bwMode="auto">
            <a:xfrm>
              <a:off x="3264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2" name="Rectangle 127"/>
            <p:cNvSpPr>
              <a:spLocks noChangeArrowheads="1"/>
            </p:cNvSpPr>
            <p:nvPr/>
          </p:nvSpPr>
          <p:spPr bwMode="auto">
            <a:xfrm>
              <a:off x="3552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3" name="Rectangle 128"/>
            <p:cNvSpPr>
              <a:spLocks noChangeArrowheads="1"/>
            </p:cNvSpPr>
            <p:nvPr/>
          </p:nvSpPr>
          <p:spPr bwMode="auto">
            <a:xfrm>
              <a:off x="3840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4" name="Rectangle 129"/>
            <p:cNvSpPr>
              <a:spLocks noChangeArrowheads="1"/>
            </p:cNvSpPr>
            <p:nvPr/>
          </p:nvSpPr>
          <p:spPr bwMode="auto">
            <a:xfrm>
              <a:off x="4128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5" name="Rectangle 130"/>
            <p:cNvSpPr>
              <a:spLocks noChangeArrowheads="1"/>
            </p:cNvSpPr>
            <p:nvPr/>
          </p:nvSpPr>
          <p:spPr bwMode="auto">
            <a:xfrm>
              <a:off x="3264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6" name="Rectangle 131"/>
            <p:cNvSpPr>
              <a:spLocks noChangeArrowheads="1"/>
            </p:cNvSpPr>
            <p:nvPr/>
          </p:nvSpPr>
          <p:spPr bwMode="auto">
            <a:xfrm>
              <a:off x="3552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7" name="Rectangle 132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8" name="Rectangle 133"/>
            <p:cNvSpPr>
              <a:spLocks noChangeArrowheads="1"/>
            </p:cNvSpPr>
            <p:nvPr/>
          </p:nvSpPr>
          <p:spPr bwMode="auto">
            <a:xfrm>
              <a:off x="4128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</p:grpSp>
      <p:sp>
        <p:nvSpPr>
          <p:cNvPr id="29" name="Text Box 134"/>
          <p:cNvSpPr txBox="1">
            <a:spLocks noChangeArrowheads="1"/>
          </p:cNvSpPr>
          <p:nvPr/>
        </p:nvSpPr>
        <p:spPr bwMode="auto">
          <a:xfrm>
            <a:off x="3213100" y="4978400"/>
            <a:ext cx="184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   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0" name="Text Box 135"/>
          <p:cNvSpPr txBox="1">
            <a:spLocks noChangeArrowheads="1"/>
          </p:cNvSpPr>
          <p:nvPr/>
        </p:nvSpPr>
        <p:spPr bwMode="auto">
          <a:xfrm>
            <a:off x="3213100" y="5449888"/>
            <a:ext cx="184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   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1" name="Text Box 136"/>
          <p:cNvSpPr txBox="1">
            <a:spLocks noChangeArrowheads="1"/>
          </p:cNvSpPr>
          <p:nvPr/>
        </p:nvSpPr>
        <p:spPr bwMode="auto">
          <a:xfrm>
            <a:off x="4327525" y="6007100"/>
            <a:ext cx="184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   </a:t>
            </a:r>
            <a:endParaRPr lang="en-US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059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144"/>
          <p:cNvGrpSpPr>
            <a:grpSpLocks/>
          </p:cNvGrpSpPr>
          <p:nvPr/>
        </p:nvGrpSpPr>
        <p:grpSpPr bwMode="auto">
          <a:xfrm>
            <a:off x="447675" y="1190625"/>
            <a:ext cx="2143125" cy="5054600"/>
            <a:chOff x="242" y="126"/>
            <a:chExt cx="1350" cy="3677"/>
          </a:xfrm>
        </p:grpSpPr>
        <p:sp>
          <p:nvSpPr>
            <p:cNvPr id="41001" name="Rectangle 2"/>
            <p:cNvSpPr>
              <a:spLocks noChangeArrowheads="1"/>
            </p:cNvSpPr>
            <p:nvPr/>
          </p:nvSpPr>
          <p:spPr bwMode="auto">
            <a:xfrm>
              <a:off x="248" y="34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2" name="Rectangle 3"/>
            <p:cNvSpPr>
              <a:spLocks noChangeArrowheads="1"/>
            </p:cNvSpPr>
            <p:nvPr/>
          </p:nvSpPr>
          <p:spPr bwMode="auto">
            <a:xfrm>
              <a:off x="517" y="34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3" name="Rectangle 4"/>
            <p:cNvSpPr>
              <a:spLocks noChangeArrowheads="1"/>
            </p:cNvSpPr>
            <p:nvPr/>
          </p:nvSpPr>
          <p:spPr bwMode="auto">
            <a:xfrm>
              <a:off x="786" y="341"/>
              <a:ext cx="268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4" name="Rectangle 5"/>
            <p:cNvSpPr>
              <a:spLocks noChangeArrowheads="1"/>
            </p:cNvSpPr>
            <p:nvPr/>
          </p:nvSpPr>
          <p:spPr bwMode="auto">
            <a:xfrm>
              <a:off x="1054" y="34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5" name="Rectangle 6"/>
            <p:cNvSpPr>
              <a:spLocks noChangeArrowheads="1"/>
            </p:cNvSpPr>
            <p:nvPr/>
          </p:nvSpPr>
          <p:spPr bwMode="auto">
            <a:xfrm>
              <a:off x="1323" y="34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6" name="Rectangle 7"/>
            <p:cNvSpPr>
              <a:spLocks noChangeArrowheads="1"/>
            </p:cNvSpPr>
            <p:nvPr/>
          </p:nvSpPr>
          <p:spPr bwMode="auto">
            <a:xfrm>
              <a:off x="248" y="55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7" name="Rectangle 8"/>
            <p:cNvSpPr>
              <a:spLocks noChangeArrowheads="1"/>
            </p:cNvSpPr>
            <p:nvPr/>
          </p:nvSpPr>
          <p:spPr bwMode="auto">
            <a:xfrm>
              <a:off x="517" y="55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8" name="Rectangle 9"/>
            <p:cNvSpPr>
              <a:spLocks noChangeArrowheads="1"/>
            </p:cNvSpPr>
            <p:nvPr/>
          </p:nvSpPr>
          <p:spPr bwMode="auto">
            <a:xfrm>
              <a:off x="786" y="555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9" name="Rectangle 10"/>
            <p:cNvSpPr>
              <a:spLocks noChangeArrowheads="1"/>
            </p:cNvSpPr>
            <p:nvPr/>
          </p:nvSpPr>
          <p:spPr bwMode="auto">
            <a:xfrm>
              <a:off x="1054" y="55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0" name="Rectangle 11"/>
            <p:cNvSpPr>
              <a:spLocks noChangeArrowheads="1"/>
            </p:cNvSpPr>
            <p:nvPr/>
          </p:nvSpPr>
          <p:spPr bwMode="auto">
            <a:xfrm>
              <a:off x="1323" y="55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1" name="Rectangle 12"/>
            <p:cNvSpPr>
              <a:spLocks noChangeArrowheads="1"/>
            </p:cNvSpPr>
            <p:nvPr/>
          </p:nvSpPr>
          <p:spPr bwMode="auto">
            <a:xfrm>
              <a:off x="248" y="76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2" name="Rectangle 13"/>
            <p:cNvSpPr>
              <a:spLocks noChangeArrowheads="1"/>
            </p:cNvSpPr>
            <p:nvPr/>
          </p:nvSpPr>
          <p:spPr bwMode="auto">
            <a:xfrm>
              <a:off x="517" y="76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3" name="Rectangle 14"/>
            <p:cNvSpPr>
              <a:spLocks noChangeArrowheads="1"/>
            </p:cNvSpPr>
            <p:nvPr/>
          </p:nvSpPr>
          <p:spPr bwMode="auto">
            <a:xfrm>
              <a:off x="786" y="768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4" name="Rectangle 15"/>
            <p:cNvSpPr>
              <a:spLocks noChangeArrowheads="1"/>
            </p:cNvSpPr>
            <p:nvPr/>
          </p:nvSpPr>
          <p:spPr bwMode="auto">
            <a:xfrm>
              <a:off x="1054" y="76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5" name="Rectangle 16"/>
            <p:cNvSpPr>
              <a:spLocks noChangeArrowheads="1"/>
            </p:cNvSpPr>
            <p:nvPr/>
          </p:nvSpPr>
          <p:spPr bwMode="auto">
            <a:xfrm>
              <a:off x="1323" y="76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6" name="Rectangle 17"/>
            <p:cNvSpPr>
              <a:spLocks noChangeArrowheads="1"/>
            </p:cNvSpPr>
            <p:nvPr/>
          </p:nvSpPr>
          <p:spPr bwMode="auto">
            <a:xfrm>
              <a:off x="248" y="98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7" name="Rectangle 18"/>
            <p:cNvSpPr>
              <a:spLocks noChangeArrowheads="1"/>
            </p:cNvSpPr>
            <p:nvPr/>
          </p:nvSpPr>
          <p:spPr bwMode="auto">
            <a:xfrm>
              <a:off x="517" y="98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8" name="Rectangle 19"/>
            <p:cNvSpPr>
              <a:spLocks noChangeArrowheads="1"/>
            </p:cNvSpPr>
            <p:nvPr/>
          </p:nvSpPr>
          <p:spPr bwMode="auto">
            <a:xfrm>
              <a:off x="786" y="981"/>
              <a:ext cx="268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19" name="Rectangle 20"/>
            <p:cNvSpPr>
              <a:spLocks noChangeArrowheads="1"/>
            </p:cNvSpPr>
            <p:nvPr/>
          </p:nvSpPr>
          <p:spPr bwMode="auto">
            <a:xfrm>
              <a:off x="1054" y="98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0" name="Rectangle 21"/>
            <p:cNvSpPr>
              <a:spLocks noChangeArrowheads="1"/>
            </p:cNvSpPr>
            <p:nvPr/>
          </p:nvSpPr>
          <p:spPr bwMode="auto">
            <a:xfrm>
              <a:off x="1323" y="98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1" name="Rectangle 22"/>
            <p:cNvSpPr>
              <a:spLocks noChangeArrowheads="1"/>
            </p:cNvSpPr>
            <p:nvPr/>
          </p:nvSpPr>
          <p:spPr bwMode="auto">
            <a:xfrm>
              <a:off x="248" y="119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2" name="Rectangle 23"/>
            <p:cNvSpPr>
              <a:spLocks noChangeArrowheads="1"/>
            </p:cNvSpPr>
            <p:nvPr/>
          </p:nvSpPr>
          <p:spPr bwMode="auto">
            <a:xfrm>
              <a:off x="517" y="119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3" name="Rectangle 24"/>
            <p:cNvSpPr>
              <a:spLocks noChangeArrowheads="1"/>
            </p:cNvSpPr>
            <p:nvPr/>
          </p:nvSpPr>
          <p:spPr bwMode="auto">
            <a:xfrm>
              <a:off x="786" y="1195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4" name="Rectangle 25"/>
            <p:cNvSpPr>
              <a:spLocks noChangeArrowheads="1"/>
            </p:cNvSpPr>
            <p:nvPr/>
          </p:nvSpPr>
          <p:spPr bwMode="auto">
            <a:xfrm>
              <a:off x="1054" y="119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5" name="Rectangle 26"/>
            <p:cNvSpPr>
              <a:spLocks noChangeArrowheads="1"/>
            </p:cNvSpPr>
            <p:nvPr/>
          </p:nvSpPr>
          <p:spPr bwMode="auto">
            <a:xfrm>
              <a:off x="1323" y="119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6" name="Rectangle 27"/>
            <p:cNvSpPr>
              <a:spLocks noChangeArrowheads="1"/>
            </p:cNvSpPr>
            <p:nvPr/>
          </p:nvSpPr>
          <p:spPr bwMode="auto">
            <a:xfrm>
              <a:off x="248" y="140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7" name="Rectangle 28"/>
            <p:cNvSpPr>
              <a:spLocks noChangeArrowheads="1"/>
            </p:cNvSpPr>
            <p:nvPr/>
          </p:nvSpPr>
          <p:spPr bwMode="auto">
            <a:xfrm>
              <a:off x="517" y="140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8" name="Rectangle 29"/>
            <p:cNvSpPr>
              <a:spLocks noChangeArrowheads="1"/>
            </p:cNvSpPr>
            <p:nvPr/>
          </p:nvSpPr>
          <p:spPr bwMode="auto">
            <a:xfrm>
              <a:off x="786" y="1408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29" name="Rectangle 30"/>
            <p:cNvSpPr>
              <a:spLocks noChangeArrowheads="1"/>
            </p:cNvSpPr>
            <p:nvPr/>
          </p:nvSpPr>
          <p:spPr bwMode="auto">
            <a:xfrm>
              <a:off x="1054" y="140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0" name="Rectangle 31"/>
            <p:cNvSpPr>
              <a:spLocks noChangeArrowheads="1"/>
            </p:cNvSpPr>
            <p:nvPr/>
          </p:nvSpPr>
          <p:spPr bwMode="auto">
            <a:xfrm>
              <a:off x="1323" y="140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1" name="Rectangle 32"/>
            <p:cNvSpPr>
              <a:spLocks noChangeArrowheads="1"/>
            </p:cNvSpPr>
            <p:nvPr/>
          </p:nvSpPr>
          <p:spPr bwMode="auto">
            <a:xfrm>
              <a:off x="248" y="162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2" name="Rectangle 33"/>
            <p:cNvSpPr>
              <a:spLocks noChangeArrowheads="1"/>
            </p:cNvSpPr>
            <p:nvPr/>
          </p:nvSpPr>
          <p:spPr bwMode="auto">
            <a:xfrm>
              <a:off x="517" y="162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3" name="Rectangle 34"/>
            <p:cNvSpPr>
              <a:spLocks noChangeArrowheads="1"/>
            </p:cNvSpPr>
            <p:nvPr/>
          </p:nvSpPr>
          <p:spPr bwMode="auto">
            <a:xfrm>
              <a:off x="786" y="1621"/>
              <a:ext cx="268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4" name="Rectangle 35"/>
            <p:cNvSpPr>
              <a:spLocks noChangeArrowheads="1"/>
            </p:cNvSpPr>
            <p:nvPr/>
          </p:nvSpPr>
          <p:spPr bwMode="auto">
            <a:xfrm>
              <a:off x="1054" y="162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5" name="Rectangle 36"/>
            <p:cNvSpPr>
              <a:spLocks noChangeArrowheads="1"/>
            </p:cNvSpPr>
            <p:nvPr/>
          </p:nvSpPr>
          <p:spPr bwMode="auto">
            <a:xfrm>
              <a:off x="1323" y="1621"/>
              <a:ext cx="269" cy="2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6" name="Rectangle 37"/>
            <p:cNvSpPr>
              <a:spLocks noChangeArrowheads="1"/>
            </p:cNvSpPr>
            <p:nvPr/>
          </p:nvSpPr>
          <p:spPr bwMode="auto">
            <a:xfrm>
              <a:off x="248" y="183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7" name="Rectangle 38"/>
            <p:cNvSpPr>
              <a:spLocks noChangeArrowheads="1"/>
            </p:cNvSpPr>
            <p:nvPr/>
          </p:nvSpPr>
          <p:spPr bwMode="auto">
            <a:xfrm>
              <a:off x="517" y="183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8" name="Rectangle 39"/>
            <p:cNvSpPr>
              <a:spLocks noChangeArrowheads="1"/>
            </p:cNvSpPr>
            <p:nvPr/>
          </p:nvSpPr>
          <p:spPr bwMode="auto">
            <a:xfrm>
              <a:off x="786" y="1835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39" name="Rectangle 40"/>
            <p:cNvSpPr>
              <a:spLocks noChangeArrowheads="1"/>
            </p:cNvSpPr>
            <p:nvPr/>
          </p:nvSpPr>
          <p:spPr bwMode="auto">
            <a:xfrm>
              <a:off x="1054" y="183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0" name="Rectangle 41"/>
            <p:cNvSpPr>
              <a:spLocks noChangeArrowheads="1"/>
            </p:cNvSpPr>
            <p:nvPr/>
          </p:nvSpPr>
          <p:spPr bwMode="auto">
            <a:xfrm>
              <a:off x="1323" y="1835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1" name="Rectangle 42"/>
            <p:cNvSpPr>
              <a:spLocks noChangeArrowheads="1"/>
            </p:cNvSpPr>
            <p:nvPr/>
          </p:nvSpPr>
          <p:spPr bwMode="auto">
            <a:xfrm>
              <a:off x="248" y="12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2" name="Rectangle 43"/>
            <p:cNvSpPr>
              <a:spLocks noChangeArrowheads="1"/>
            </p:cNvSpPr>
            <p:nvPr/>
          </p:nvSpPr>
          <p:spPr bwMode="auto">
            <a:xfrm>
              <a:off x="517" y="12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3" name="Rectangle 44"/>
            <p:cNvSpPr>
              <a:spLocks noChangeArrowheads="1"/>
            </p:cNvSpPr>
            <p:nvPr/>
          </p:nvSpPr>
          <p:spPr bwMode="auto">
            <a:xfrm>
              <a:off x="786" y="128"/>
              <a:ext cx="268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4" name="Rectangle 45"/>
            <p:cNvSpPr>
              <a:spLocks noChangeArrowheads="1"/>
            </p:cNvSpPr>
            <p:nvPr/>
          </p:nvSpPr>
          <p:spPr bwMode="auto">
            <a:xfrm>
              <a:off x="1054" y="12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45" name="Rectangle 46"/>
            <p:cNvSpPr>
              <a:spLocks noChangeArrowheads="1"/>
            </p:cNvSpPr>
            <p:nvPr/>
          </p:nvSpPr>
          <p:spPr bwMode="auto">
            <a:xfrm>
              <a:off x="1323" y="128"/>
              <a:ext cx="269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grpSp>
          <p:nvGrpSpPr>
            <p:cNvPr id="41046" name="Group 47"/>
            <p:cNvGrpSpPr>
              <a:grpSpLocks/>
            </p:cNvGrpSpPr>
            <p:nvPr/>
          </p:nvGrpSpPr>
          <p:grpSpPr bwMode="auto">
            <a:xfrm>
              <a:off x="248" y="2051"/>
              <a:ext cx="1344" cy="1707"/>
              <a:chOff x="758" y="2106"/>
              <a:chExt cx="1344" cy="1707"/>
            </a:xfrm>
          </p:grpSpPr>
          <p:sp>
            <p:nvSpPr>
              <p:cNvPr id="41066" name="Rectangle 48"/>
              <p:cNvSpPr>
                <a:spLocks noChangeArrowheads="1"/>
              </p:cNvSpPr>
              <p:nvPr/>
            </p:nvSpPr>
            <p:spPr bwMode="auto">
              <a:xfrm>
                <a:off x="758" y="210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67" name="Rectangle 49"/>
              <p:cNvSpPr>
                <a:spLocks noChangeArrowheads="1"/>
              </p:cNvSpPr>
              <p:nvPr/>
            </p:nvSpPr>
            <p:spPr bwMode="auto">
              <a:xfrm>
                <a:off x="1027" y="210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68" name="Rectangle 50"/>
              <p:cNvSpPr>
                <a:spLocks noChangeArrowheads="1"/>
              </p:cNvSpPr>
              <p:nvPr/>
            </p:nvSpPr>
            <p:spPr bwMode="auto">
              <a:xfrm>
                <a:off x="1296" y="2106"/>
                <a:ext cx="268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69" name="Rectangle 51"/>
              <p:cNvSpPr>
                <a:spLocks noChangeArrowheads="1"/>
              </p:cNvSpPr>
              <p:nvPr/>
            </p:nvSpPr>
            <p:spPr bwMode="auto">
              <a:xfrm>
                <a:off x="1564" y="210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0" name="Rectangle 52"/>
              <p:cNvSpPr>
                <a:spLocks noChangeArrowheads="1"/>
              </p:cNvSpPr>
              <p:nvPr/>
            </p:nvSpPr>
            <p:spPr bwMode="auto">
              <a:xfrm>
                <a:off x="1833" y="210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1" name="Rectangle 53"/>
              <p:cNvSpPr>
                <a:spLocks noChangeArrowheads="1"/>
              </p:cNvSpPr>
              <p:nvPr/>
            </p:nvSpPr>
            <p:spPr bwMode="auto">
              <a:xfrm>
                <a:off x="758" y="232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2" name="Rectangle 54"/>
              <p:cNvSpPr>
                <a:spLocks noChangeArrowheads="1"/>
              </p:cNvSpPr>
              <p:nvPr/>
            </p:nvSpPr>
            <p:spPr bwMode="auto">
              <a:xfrm>
                <a:off x="1027" y="232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3" name="Rectangle 55"/>
              <p:cNvSpPr>
                <a:spLocks noChangeArrowheads="1"/>
              </p:cNvSpPr>
              <p:nvPr/>
            </p:nvSpPr>
            <p:spPr bwMode="auto">
              <a:xfrm>
                <a:off x="1296" y="2320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4" name="Rectangle 56"/>
              <p:cNvSpPr>
                <a:spLocks noChangeArrowheads="1"/>
              </p:cNvSpPr>
              <p:nvPr/>
            </p:nvSpPr>
            <p:spPr bwMode="auto">
              <a:xfrm>
                <a:off x="1564" y="232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5" name="Rectangle 57"/>
              <p:cNvSpPr>
                <a:spLocks noChangeArrowheads="1"/>
              </p:cNvSpPr>
              <p:nvPr/>
            </p:nvSpPr>
            <p:spPr bwMode="auto">
              <a:xfrm>
                <a:off x="1833" y="232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6" name="Rectangle 58"/>
              <p:cNvSpPr>
                <a:spLocks noChangeArrowheads="1"/>
              </p:cNvSpPr>
              <p:nvPr/>
            </p:nvSpPr>
            <p:spPr bwMode="auto">
              <a:xfrm>
                <a:off x="758" y="253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7" name="Rectangle 59"/>
              <p:cNvSpPr>
                <a:spLocks noChangeArrowheads="1"/>
              </p:cNvSpPr>
              <p:nvPr/>
            </p:nvSpPr>
            <p:spPr bwMode="auto">
              <a:xfrm>
                <a:off x="1027" y="253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8" name="Rectangle 60"/>
              <p:cNvSpPr>
                <a:spLocks noChangeArrowheads="1"/>
              </p:cNvSpPr>
              <p:nvPr/>
            </p:nvSpPr>
            <p:spPr bwMode="auto">
              <a:xfrm>
                <a:off x="1296" y="2533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79" name="Rectangle 61"/>
              <p:cNvSpPr>
                <a:spLocks noChangeArrowheads="1"/>
              </p:cNvSpPr>
              <p:nvPr/>
            </p:nvSpPr>
            <p:spPr bwMode="auto">
              <a:xfrm>
                <a:off x="1564" y="253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0" name="Rectangle 62"/>
              <p:cNvSpPr>
                <a:spLocks noChangeArrowheads="1"/>
              </p:cNvSpPr>
              <p:nvPr/>
            </p:nvSpPr>
            <p:spPr bwMode="auto">
              <a:xfrm>
                <a:off x="1833" y="253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1" name="Rectangle 63"/>
              <p:cNvSpPr>
                <a:spLocks noChangeArrowheads="1"/>
              </p:cNvSpPr>
              <p:nvPr/>
            </p:nvSpPr>
            <p:spPr bwMode="auto">
              <a:xfrm>
                <a:off x="758" y="274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2" name="Rectangle 64"/>
              <p:cNvSpPr>
                <a:spLocks noChangeArrowheads="1"/>
              </p:cNvSpPr>
              <p:nvPr/>
            </p:nvSpPr>
            <p:spPr bwMode="auto">
              <a:xfrm>
                <a:off x="1027" y="274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3" name="Rectangle 65"/>
              <p:cNvSpPr>
                <a:spLocks noChangeArrowheads="1"/>
              </p:cNvSpPr>
              <p:nvPr/>
            </p:nvSpPr>
            <p:spPr bwMode="auto">
              <a:xfrm>
                <a:off x="1296" y="2746"/>
                <a:ext cx="268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4" name="Rectangle 66"/>
              <p:cNvSpPr>
                <a:spLocks noChangeArrowheads="1"/>
              </p:cNvSpPr>
              <p:nvPr/>
            </p:nvSpPr>
            <p:spPr bwMode="auto">
              <a:xfrm>
                <a:off x="1564" y="274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5" name="Rectangle 67"/>
              <p:cNvSpPr>
                <a:spLocks noChangeArrowheads="1"/>
              </p:cNvSpPr>
              <p:nvPr/>
            </p:nvSpPr>
            <p:spPr bwMode="auto">
              <a:xfrm>
                <a:off x="1833" y="274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6" name="Rectangle 68"/>
              <p:cNvSpPr>
                <a:spLocks noChangeArrowheads="1"/>
              </p:cNvSpPr>
              <p:nvPr/>
            </p:nvSpPr>
            <p:spPr bwMode="auto">
              <a:xfrm>
                <a:off x="758" y="296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7" name="Rectangle 69"/>
              <p:cNvSpPr>
                <a:spLocks noChangeArrowheads="1"/>
              </p:cNvSpPr>
              <p:nvPr/>
            </p:nvSpPr>
            <p:spPr bwMode="auto">
              <a:xfrm>
                <a:off x="1027" y="296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8" name="Rectangle 70"/>
              <p:cNvSpPr>
                <a:spLocks noChangeArrowheads="1"/>
              </p:cNvSpPr>
              <p:nvPr/>
            </p:nvSpPr>
            <p:spPr bwMode="auto">
              <a:xfrm>
                <a:off x="1296" y="2960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89" name="Rectangle 71"/>
              <p:cNvSpPr>
                <a:spLocks noChangeArrowheads="1"/>
              </p:cNvSpPr>
              <p:nvPr/>
            </p:nvSpPr>
            <p:spPr bwMode="auto">
              <a:xfrm>
                <a:off x="1564" y="296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0" name="Rectangle 72"/>
              <p:cNvSpPr>
                <a:spLocks noChangeArrowheads="1"/>
              </p:cNvSpPr>
              <p:nvPr/>
            </p:nvSpPr>
            <p:spPr bwMode="auto">
              <a:xfrm>
                <a:off x="1833" y="296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1" name="Rectangle 73"/>
              <p:cNvSpPr>
                <a:spLocks noChangeArrowheads="1"/>
              </p:cNvSpPr>
              <p:nvPr/>
            </p:nvSpPr>
            <p:spPr bwMode="auto">
              <a:xfrm>
                <a:off x="758" y="317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2" name="Rectangle 74"/>
              <p:cNvSpPr>
                <a:spLocks noChangeArrowheads="1"/>
              </p:cNvSpPr>
              <p:nvPr/>
            </p:nvSpPr>
            <p:spPr bwMode="auto">
              <a:xfrm>
                <a:off x="1027" y="317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3" name="Rectangle 75"/>
              <p:cNvSpPr>
                <a:spLocks noChangeArrowheads="1"/>
              </p:cNvSpPr>
              <p:nvPr/>
            </p:nvSpPr>
            <p:spPr bwMode="auto">
              <a:xfrm>
                <a:off x="1296" y="3173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4" name="Rectangle 76"/>
              <p:cNvSpPr>
                <a:spLocks noChangeArrowheads="1"/>
              </p:cNvSpPr>
              <p:nvPr/>
            </p:nvSpPr>
            <p:spPr bwMode="auto">
              <a:xfrm>
                <a:off x="1564" y="317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5" name="Rectangle 77"/>
              <p:cNvSpPr>
                <a:spLocks noChangeArrowheads="1"/>
              </p:cNvSpPr>
              <p:nvPr/>
            </p:nvSpPr>
            <p:spPr bwMode="auto">
              <a:xfrm>
                <a:off x="1833" y="3173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6" name="Rectangle 78"/>
              <p:cNvSpPr>
                <a:spLocks noChangeArrowheads="1"/>
              </p:cNvSpPr>
              <p:nvPr/>
            </p:nvSpPr>
            <p:spPr bwMode="auto">
              <a:xfrm>
                <a:off x="758" y="338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7" name="Rectangle 79"/>
              <p:cNvSpPr>
                <a:spLocks noChangeArrowheads="1"/>
              </p:cNvSpPr>
              <p:nvPr/>
            </p:nvSpPr>
            <p:spPr bwMode="auto">
              <a:xfrm>
                <a:off x="1027" y="338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8" name="Rectangle 80"/>
              <p:cNvSpPr>
                <a:spLocks noChangeArrowheads="1"/>
              </p:cNvSpPr>
              <p:nvPr/>
            </p:nvSpPr>
            <p:spPr bwMode="auto">
              <a:xfrm>
                <a:off x="1296" y="3386"/>
                <a:ext cx="268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099" name="Rectangle 81"/>
              <p:cNvSpPr>
                <a:spLocks noChangeArrowheads="1"/>
              </p:cNvSpPr>
              <p:nvPr/>
            </p:nvSpPr>
            <p:spPr bwMode="auto">
              <a:xfrm>
                <a:off x="1564" y="338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0" name="Rectangle 82"/>
              <p:cNvSpPr>
                <a:spLocks noChangeArrowheads="1"/>
              </p:cNvSpPr>
              <p:nvPr/>
            </p:nvSpPr>
            <p:spPr bwMode="auto">
              <a:xfrm>
                <a:off x="1833" y="3386"/>
                <a:ext cx="269" cy="2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1" name="Rectangle 83"/>
              <p:cNvSpPr>
                <a:spLocks noChangeArrowheads="1"/>
              </p:cNvSpPr>
              <p:nvPr/>
            </p:nvSpPr>
            <p:spPr bwMode="auto">
              <a:xfrm>
                <a:off x="758" y="360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2" name="Rectangle 84"/>
              <p:cNvSpPr>
                <a:spLocks noChangeArrowheads="1"/>
              </p:cNvSpPr>
              <p:nvPr/>
            </p:nvSpPr>
            <p:spPr bwMode="auto">
              <a:xfrm>
                <a:off x="1027" y="360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3" name="Rectangle 85"/>
              <p:cNvSpPr>
                <a:spLocks noChangeArrowheads="1"/>
              </p:cNvSpPr>
              <p:nvPr/>
            </p:nvSpPr>
            <p:spPr bwMode="auto">
              <a:xfrm>
                <a:off x="1296" y="3600"/>
                <a:ext cx="268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4" name="Rectangle 86"/>
              <p:cNvSpPr>
                <a:spLocks noChangeArrowheads="1"/>
              </p:cNvSpPr>
              <p:nvPr/>
            </p:nvSpPr>
            <p:spPr bwMode="auto">
              <a:xfrm>
                <a:off x="1564" y="360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41105" name="Rectangle 87"/>
              <p:cNvSpPr>
                <a:spLocks noChangeArrowheads="1"/>
              </p:cNvSpPr>
              <p:nvPr/>
            </p:nvSpPr>
            <p:spPr bwMode="auto">
              <a:xfrm>
                <a:off x="1833" y="3600"/>
                <a:ext cx="269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 b="1"/>
              </a:p>
            </p:txBody>
          </p:sp>
        </p:grpSp>
        <p:sp>
          <p:nvSpPr>
            <p:cNvPr id="41047" name="Line 88"/>
            <p:cNvSpPr>
              <a:spLocks noChangeShapeType="1"/>
            </p:cNvSpPr>
            <p:nvPr/>
          </p:nvSpPr>
          <p:spPr bwMode="auto">
            <a:xfrm>
              <a:off x="242" y="335"/>
              <a:ext cx="13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8" name="Line 89"/>
            <p:cNvSpPr>
              <a:spLocks noChangeShapeType="1"/>
            </p:cNvSpPr>
            <p:nvPr/>
          </p:nvSpPr>
          <p:spPr bwMode="auto">
            <a:xfrm>
              <a:off x="1323" y="131"/>
              <a:ext cx="9" cy="3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9" name="Text Box 90"/>
            <p:cNvSpPr txBox="1">
              <a:spLocks noChangeArrowheads="1"/>
            </p:cNvSpPr>
            <p:nvPr/>
          </p:nvSpPr>
          <p:spPr bwMode="auto">
            <a:xfrm>
              <a:off x="291" y="126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A  B  C  D  X</a:t>
              </a:r>
            </a:p>
          </p:txBody>
        </p:sp>
        <p:sp>
          <p:nvSpPr>
            <p:cNvPr id="41050" name="Text Box 91"/>
            <p:cNvSpPr txBox="1">
              <a:spLocks noChangeArrowheads="1"/>
            </p:cNvSpPr>
            <p:nvPr/>
          </p:nvSpPr>
          <p:spPr bwMode="auto">
            <a:xfrm>
              <a:off x="300" y="338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0  0  0  0  0</a:t>
              </a:r>
            </a:p>
          </p:txBody>
        </p:sp>
        <p:sp>
          <p:nvSpPr>
            <p:cNvPr id="41051" name="Text Box 92"/>
            <p:cNvSpPr txBox="1">
              <a:spLocks noChangeArrowheads="1"/>
            </p:cNvSpPr>
            <p:nvPr/>
          </p:nvSpPr>
          <p:spPr bwMode="auto">
            <a:xfrm>
              <a:off x="297" y="534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1  0  0  0  0</a:t>
              </a:r>
            </a:p>
          </p:txBody>
        </p:sp>
        <p:sp>
          <p:nvSpPr>
            <p:cNvPr id="41052" name="Text Box 93"/>
            <p:cNvSpPr txBox="1">
              <a:spLocks noChangeArrowheads="1"/>
            </p:cNvSpPr>
            <p:nvPr/>
          </p:nvSpPr>
          <p:spPr bwMode="auto">
            <a:xfrm>
              <a:off x="294" y="757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0  1  0  0  0</a:t>
              </a:r>
            </a:p>
          </p:txBody>
        </p:sp>
        <p:sp>
          <p:nvSpPr>
            <p:cNvPr id="41053" name="Text Box 94"/>
            <p:cNvSpPr txBox="1">
              <a:spLocks noChangeArrowheads="1"/>
            </p:cNvSpPr>
            <p:nvPr/>
          </p:nvSpPr>
          <p:spPr bwMode="auto">
            <a:xfrm>
              <a:off x="302" y="976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1  1  0  0  1</a:t>
              </a:r>
            </a:p>
          </p:txBody>
        </p:sp>
        <p:sp>
          <p:nvSpPr>
            <p:cNvPr id="41054" name="Text Box 95"/>
            <p:cNvSpPr txBox="1">
              <a:spLocks noChangeArrowheads="1"/>
            </p:cNvSpPr>
            <p:nvPr/>
          </p:nvSpPr>
          <p:spPr bwMode="auto">
            <a:xfrm>
              <a:off x="301" y="1818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1  1  1  0  1</a:t>
              </a:r>
            </a:p>
          </p:txBody>
        </p:sp>
        <p:sp>
          <p:nvSpPr>
            <p:cNvPr id="41055" name="Text Box 96"/>
            <p:cNvSpPr txBox="1">
              <a:spLocks noChangeArrowheads="1"/>
            </p:cNvSpPr>
            <p:nvPr/>
          </p:nvSpPr>
          <p:spPr bwMode="auto">
            <a:xfrm>
              <a:off x="299" y="1180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0  0  1  0  0</a:t>
              </a:r>
            </a:p>
          </p:txBody>
        </p:sp>
        <p:sp>
          <p:nvSpPr>
            <p:cNvPr id="41056" name="Text Box 97"/>
            <p:cNvSpPr txBox="1">
              <a:spLocks noChangeArrowheads="1"/>
            </p:cNvSpPr>
            <p:nvPr/>
          </p:nvSpPr>
          <p:spPr bwMode="auto">
            <a:xfrm>
              <a:off x="296" y="1392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1  0  1  0  1</a:t>
              </a:r>
            </a:p>
          </p:txBody>
        </p:sp>
        <p:sp>
          <p:nvSpPr>
            <p:cNvPr id="41057" name="Text Box 98"/>
            <p:cNvSpPr txBox="1">
              <a:spLocks noChangeArrowheads="1"/>
            </p:cNvSpPr>
            <p:nvPr/>
          </p:nvSpPr>
          <p:spPr bwMode="auto">
            <a:xfrm>
              <a:off x="302" y="1613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0  1  1  0  0</a:t>
              </a:r>
            </a:p>
          </p:txBody>
        </p:sp>
        <p:sp>
          <p:nvSpPr>
            <p:cNvPr id="41058" name="Text Box 99"/>
            <p:cNvSpPr txBox="1">
              <a:spLocks noChangeArrowheads="1"/>
            </p:cNvSpPr>
            <p:nvPr/>
          </p:nvSpPr>
          <p:spPr bwMode="auto">
            <a:xfrm>
              <a:off x="307" y="2030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0  0  0  1  1</a:t>
              </a:r>
            </a:p>
          </p:txBody>
        </p:sp>
        <p:sp>
          <p:nvSpPr>
            <p:cNvPr id="41059" name="Text Box 100"/>
            <p:cNvSpPr txBox="1">
              <a:spLocks noChangeArrowheads="1"/>
            </p:cNvSpPr>
            <p:nvPr/>
          </p:nvSpPr>
          <p:spPr bwMode="auto">
            <a:xfrm>
              <a:off x="305" y="2252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1  0  0  1  0</a:t>
              </a:r>
            </a:p>
          </p:txBody>
        </p:sp>
        <p:sp>
          <p:nvSpPr>
            <p:cNvPr id="41060" name="Text Box 101"/>
            <p:cNvSpPr txBox="1">
              <a:spLocks noChangeArrowheads="1"/>
            </p:cNvSpPr>
            <p:nvPr/>
          </p:nvSpPr>
          <p:spPr bwMode="auto">
            <a:xfrm>
              <a:off x="293" y="2456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0  1  0  1  1</a:t>
              </a:r>
            </a:p>
          </p:txBody>
        </p:sp>
        <p:sp>
          <p:nvSpPr>
            <p:cNvPr id="41061" name="Text Box 102"/>
            <p:cNvSpPr txBox="1">
              <a:spLocks noChangeArrowheads="1"/>
            </p:cNvSpPr>
            <p:nvPr/>
          </p:nvSpPr>
          <p:spPr bwMode="auto">
            <a:xfrm>
              <a:off x="301" y="2685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1  1  0  1  0</a:t>
              </a:r>
            </a:p>
          </p:txBody>
        </p:sp>
        <p:sp>
          <p:nvSpPr>
            <p:cNvPr id="41062" name="Text Box 103"/>
            <p:cNvSpPr txBox="1">
              <a:spLocks noChangeArrowheads="1"/>
            </p:cNvSpPr>
            <p:nvPr/>
          </p:nvSpPr>
          <p:spPr bwMode="auto">
            <a:xfrm>
              <a:off x="297" y="2907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0  0  1  1  1</a:t>
              </a:r>
            </a:p>
          </p:txBody>
        </p:sp>
        <p:sp>
          <p:nvSpPr>
            <p:cNvPr id="41063" name="Text Box 104"/>
            <p:cNvSpPr txBox="1">
              <a:spLocks noChangeArrowheads="1"/>
            </p:cNvSpPr>
            <p:nvPr/>
          </p:nvSpPr>
          <p:spPr bwMode="auto">
            <a:xfrm>
              <a:off x="285" y="3099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1  0  1  1  0</a:t>
              </a:r>
            </a:p>
          </p:txBody>
        </p:sp>
        <p:sp>
          <p:nvSpPr>
            <p:cNvPr id="41064" name="Text Box 105"/>
            <p:cNvSpPr txBox="1">
              <a:spLocks noChangeArrowheads="1"/>
            </p:cNvSpPr>
            <p:nvPr/>
          </p:nvSpPr>
          <p:spPr bwMode="auto">
            <a:xfrm>
              <a:off x="283" y="3323"/>
              <a:ext cx="12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0  1  1  1  1</a:t>
              </a:r>
            </a:p>
          </p:txBody>
        </p:sp>
        <p:sp>
          <p:nvSpPr>
            <p:cNvPr id="41065" name="Text Box 106"/>
            <p:cNvSpPr txBox="1">
              <a:spLocks noChangeArrowheads="1"/>
            </p:cNvSpPr>
            <p:nvPr/>
          </p:nvSpPr>
          <p:spPr bwMode="auto">
            <a:xfrm>
              <a:off x="309" y="3536"/>
              <a:ext cx="123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latin typeface="Courier New" pitchFamily="49" charset="0"/>
                </a:rPr>
                <a:t>1  1  1  1  0</a:t>
              </a:r>
            </a:p>
          </p:txBody>
        </p:sp>
      </p:grpSp>
      <p:sp>
        <p:nvSpPr>
          <p:cNvPr id="40963" name="Text Box 107"/>
          <p:cNvSpPr txBox="1">
            <a:spLocks noChangeArrowheads="1"/>
          </p:cNvSpPr>
          <p:nvPr/>
        </p:nvSpPr>
        <p:spPr bwMode="auto">
          <a:xfrm>
            <a:off x="3154362" y="4106863"/>
            <a:ext cx="2232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>
                <a:latin typeface="Courier New" pitchFamily="49" charset="0"/>
              </a:rPr>
              <a:t>AB  AB  AB  AB </a:t>
            </a:r>
          </a:p>
        </p:txBody>
      </p:sp>
      <p:sp>
        <p:nvSpPr>
          <p:cNvPr id="40964" name="Text Box 108"/>
          <p:cNvSpPr txBox="1">
            <a:spLocks noChangeArrowheads="1"/>
          </p:cNvSpPr>
          <p:nvPr/>
        </p:nvSpPr>
        <p:spPr bwMode="auto">
          <a:xfrm>
            <a:off x="2605087" y="4624388"/>
            <a:ext cx="457200" cy="172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</p:txBody>
      </p:sp>
      <p:sp>
        <p:nvSpPr>
          <p:cNvPr id="40965" name="Line 109"/>
          <p:cNvSpPr>
            <a:spLocks noChangeShapeType="1"/>
          </p:cNvSpPr>
          <p:nvPr/>
        </p:nvSpPr>
        <p:spPr bwMode="auto">
          <a:xfrm>
            <a:off x="2698750" y="5113338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6" name="Line 110"/>
          <p:cNvSpPr>
            <a:spLocks noChangeShapeType="1"/>
          </p:cNvSpPr>
          <p:nvPr/>
        </p:nvSpPr>
        <p:spPr bwMode="auto">
          <a:xfrm>
            <a:off x="2851150" y="46656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7" name="Line 111"/>
          <p:cNvSpPr>
            <a:spLocks noChangeShapeType="1"/>
          </p:cNvSpPr>
          <p:nvPr/>
        </p:nvSpPr>
        <p:spPr bwMode="auto">
          <a:xfrm>
            <a:off x="2679700" y="46656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8" name="Line 112"/>
          <p:cNvSpPr>
            <a:spLocks noChangeShapeType="1"/>
          </p:cNvSpPr>
          <p:nvPr/>
        </p:nvSpPr>
        <p:spPr bwMode="auto">
          <a:xfrm>
            <a:off x="5003800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9" name="Line 113"/>
          <p:cNvSpPr>
            <a:spLocks noChangeShapeType="1"/>
          </p:cNvSpPr>
          <p:nvPr/>
        </p:nvSpPr>
        <p:spPr bwMode="auto">
          <a:xfrm>
            <a:off x="3775075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0" name="Line 114"/>
          <p:cNvSpPr>
            <a:spLocks noChangeShapeType="1"/>
          </p:cNvSpPr>
          <p:nvPr/>
        </p:nvSpPr>
        <p:spPr bwMode="auto">
          <a:xfrm>
            <a:off x="3403600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1" name="Line 115"/>
          <p:cNvSpPr>
            <a:spLocks noChangeShapeType="1"/>
          </p:cNvSpPr>
          <p:nvPr/>
        </p:nvSpPr>
        <p:spPr bwMode="auto">
          <a:xfrm>
            <a:off x="3232150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2" name="Line 116"/>
          <p:cNvSpPr>
            <a:spLocks noChangeShapeType="1"/>
          </p:cNvSpPr>
          <p:nvPr/>
        </p:nvSpPr>
        <p:spPr bwMode="auto">
          <a:xfrm>
            <a:off x="2822575" y="605631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0973" name="Group 117"/>
          <p:cNvGrpSpPr>
            <a:grpSpLocks/>
          </p:cNvGrpSpPr>
          <p:nvPr/>
        </p:nvGrpSpPr>
        <p:grpSpPr bwMode="auto">
          <a:xfrm>
            <a:off x="3138487" y="4445000"/>
            <a:ext cx="2133600" cy="1981200"/>
            <a:chOff x="3264" y="2352"/>
            <a:chExt cx="1152" cy="1152"/>
          </a:xfrm>
        </p:grpSpPr>
        <p:sp>
          <p:nvSpPr>
            <p:cNvPr id="40985" name="Rectangle 118"/>
            <p:cNvSpPr>
              <a:spLocks noChangeArrowheads="1"/>
            </p:cNvSpPr>
            <p:nvPr/>
          </p:nvSpPr>
          <p:spPr bwMode="auto">
            <a:xfrm>
              <a:off x="3264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86" name="Rectangle 119"/>
            <p:cNvSpPr>
              <a:spLocks noChangeArrowheads="1"/>
            </p:cNvSpPr>
            <p:nvPr/>
          </p:nvSpPr>
          <p:spPr bwMode="auto">
            <a:xfrm>
              <a:off x="3552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87" name="Rectangle 120"/>
            <p:cNvSpPr>
              <a:spLocks noChangeArrowheads="1"/>
            </p:cNvSpPr>
            <p:nvPr/>
          </p:nvSpPr>
          <p:spPr bwMode="auto">
            <a:xfrm>
              <a:off x="3840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88" name="Rectangle 121"/>
            <p:cNvSpPr>
              <a:spLocks noChangeArrowheads="1"/>
            </p:cNvSpPr>
            <p:nvPr/>
          </p:nvSpPr>
          <p:spPr bwMode="auto">
            <a:xfrm>
              <a:off x="4128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89" name="Rectangle 122"/>
            <p:cNvSpPr>
              <a:spLocks noChangeArrowheads="1"/>
            </p:cNvSpPr>
            <p:nvPr/>
          </p:nvSpPr>
          <p:spPr bwMode="auto">
            <a:xfrm>
              <a:off x="3264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0" name="Rectangle 123"/>
            <p:cNvSpPr>
              <a:spLocks noChangeArrowheads="1"/>
            </p:cNvSpPr>
            <p:nvPr/>
          </p:nvSpPr>
          <p:spPr bwMode="auto">
            <a:xfrm>
              <a:off x="3552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1" name="Rectangle 124"/>
            <p:cNvSpPr>
              <a:spLocks noChangeArrowheads="1"/>
            </p:cNvSpPr>
            <p:nvPr/>
          </p:nvSpPr>
          <p:spPr bwMode="auto">
            <a:xfrm>
              <a:off x="3840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2" name="Rectangle 125"/>
            <p:cNvSpPr>
              <a:spLocks noChangeArrowheads="1"/>
            </p:cNvSpPr>
            <p:nvPr/>
          </p:nvSpPr>
          <p:spPr bwMode="auto">
            <a:xfrm>
              <a:off x="4128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3" name="Rectangle 126"/>
            <p:cNvSpPr>
              <a:spLocks noChangeArrowheads="1"/>
            </p:cNvSpPr>
            <p:nvPr/>
          </p:nvSpPr>
          <p:spPr bwMode="auto">
            <a:xfrm>
              <a:off x="3264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4" name="Rectangle 127"/>
            <p:cNvSpPr>
              <a:spLocks noChangeArrowheads="1"/>
            </p:cNvSpPr>
            <p:nvPr/>
          </p:nvSpPr>
          <p:spPr bwMode="auto">
            <a:xfrm>
              <a:off x="3552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5" name="Rectangle 128"/>
            <p:cNvSpPr>
              <a:spLocks noChangeArrowheads="1"/>
            </p:cNvSpPr>
            <p:nvPr/>
          </p:nvSpPr>
          <p:spPr bwMode="auto">
            <a:xfrm>
              <a:off x="3840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6" name="Rectangle 129"/>
            <p:cNvSpPr>
              <a:spLocks noChangeArrowheads="1"/>
            </p:cNvSpPr>
            <p:nvPr/>
          </p:nvSpPr>
          <p:spPr bwMode="auto">
            <a:xfrm>
              <a:off x="4128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7" name="Rectangle 130"/>
            <p:cNvSpPr>
              <a:spLocks noChangeArrowheads="1"/>
            </p:cNvSpPr>
            <p:nvPr/>
          </p:nvSpPr>
          <p:spPr bwMode="auto">
            <a:xfrm>
              <a:off x="3264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8" name="Rectangle 131"/>
            <p:cNvSpPr>
              <a:spLocks noChangeArrowheads="1"/>
            </p:cNvSpPr>
            <p:nvPr/>
          </p:nvSpPr>
          <p:spPr bwMode="auto">
            <a:xfrm>
              <a:off x="3552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0999" name="Rectangle 132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1000" name="Rectangle 133"/>
            <p:cNvSpPr>
              <a:spLocks noChangeArrowheads="1"/>
            </p:cNvSpPr>
            <p:nvPr/>
          </p:nvSpPr>
          <p:spPr bwMode="auto">
            <a:xfrm>
              <a:off x="4128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</p:grpSp>
      <p:sp>
        <p:nvSpPr>
          <p:cNvPr id="40974" name="Text Box 134"/>
          <p:cNvSpPr txBox="1">
            <a:spLocks noChangeArrowheads="1"/>
          </p:cNvSpPr>
          <p:nvPr/>
        </p:nvSpPr>
        <p:spPr bwMode="auto">
          <a:xfrm>
            <a:off x="3214687" y="4978400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>
                <a:latin typeface="Courier New" pitchFamily="49" charset="0"/>
              </a:rPr>
              <a:t>1   1</a:t>
            </a:r>
          </a:p>
        </p:txBody>
      </p:sp>
      <p:sp>
        <p:nvSpPr>
          <p:cNvPr id="40975" name="Text Box 135"/>
          <p:cNvSpPr txBox="1">
            <a:spLocks noChangeArrowheads="1"/>
          </p:cNvSpPr>
          <p:nvPr/>
        </p:nvSpPr>
        <p:spPr bwMode="auto">
          <a:xfrm>
            <a:off x="3214687" y="5449888"/>
            <a:ext cx="866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>
                <a:latin typeface="Courier New" pitchFamily="49" charset="0"/>
              </a:rPr>
              <a:t>1   1</a:t>
            </a:r>
          </a:p>
        </p:txBody>
      </p:sp>
      <p:sp>
        <p:nvSpPr>
          <p:cNvPr id="40976" name="Text Box 136"/>
          <p:cNvSpPr txBox="1">
            <a:spLocks noChangeArrowheads="1"/>
          </p:cNvSpPr>
          <p:nvPr/>
        </p:nvSpPr>
        <p:spPr bwMode="auto">
          <a:xfrm>
            <a:off x="4329112" y="6007100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>
                <a:latin typeface="Courier New" pitchFamily="49" charset="0"/>
              </a:rPr>
              <a:t>1   1</a:t>
            </a:r>
          </a:p>
        </p:txBody>
      </p:sp>
      <p:sp>
        <p:nvSpPr>
          <p:cNvPr id="40977" name="Text Box 137"/>
          <p:cNvSpPr txBox="1">
            <a:spLocks noChangeArrowheads="1"/>
          </p:cNvSpPr>
          <p:nvPr/>
        </p:nvSpPr>
        <p:spPr bwMode="auto">
          <a:xfrm>
            <a:off x="4306887" y="450215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>
                <a:latin typeface="Courier New" pitchFamily="49" charset="0"/>
              </a:rPr>
              <a:t>1</a:t>
            </a:r>
          </a:p>
        </p:txBody>
      </p:sp>
      <p:sp>
        <p:nvSpPr>
          <p:cNvPr id="40978" name="Text Box 138"/>
          <p:cNvSpPr txBox="1">
            <a:spLocks noChangeArrowheads="1"/>
          </p:cNvSpPr>
          <p:nvPr/>
        </p:nvSpPr>
        <p:spPr bwMode="auto">
          <a:xfrm>
            <a:off x="2625725" y="1195388"/>
            <a:ext cx="6300788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>
                <a:latin typeface="Tahoma" pitchFamily="34" charset="0"/>
              </a:rPr>
              <a:t>1- X =  A*B*~C*~D + A*~B*C*~D + A*B*C*~D + ~A*~B*~C*D + ~A*B*~C*D + ~A*~B*C*D + ~A*B*C*D</a:t>
            </a:r>
          </a:p>
          <a:p>
            <a:pPr eaLnBrk="1" hangingPunct="1"/>
            <a:endParaRPr lang="en-US" sz="1400" b="1" dirty="0">
              <a:latin typeface="Tahoma" pitchFamily="34" charset="0"/>
            </a:endParaRPr>
          </a:p>
          <a:p>
            <a:pPr eaLnBrk="1" hangingPunct="1"/>
            <a:r>
              <a:rPr lang="en-US" sz="1400" b="1" dirty="0">
                <a:latin typeface="Tahoma" pitchFamily="34" charset="0"/>
              </a:rPr>
              <a:t>2- X = A*B*~D*( ~C + C ) + A*~B*C*~D + ~A*~C*D* ( ~B+ B )</a:t>
            </a:r>
          </a:p>
          <a:p>
            <a:pPr eaLnBrk="1" hangingPunct="1"/>
            <a:r>
              <a:rPr lang="en-US" sz="1400" b="1" dirty="0">
                <a:latin typeface="Tahoma" pitchFamily="34" charset="0"/>
              </a:rPr>
              <a:t>           + ~A*C*D*( B + ~B )</a:t>
            </a:r>
          </a:p>
          <a:p>
            <a:pPr eaLnBrk="1" hangingPunct="1"/>
            <a:endParaRPr lang="en-US" sz="1400" b="1" dirty="0">
              <a:latin typeface="Tahoma" pitchFamily="34" charset="0"/>
            </a:endParaRPr>
          </a:p>
          <a:p>
            <a:pPr eaLnBrk="1" hangingPunct="1"/>
            <a:r>
              <a:rPr lang="en-US" sz="1400" b="1" dirty="0">
                <a:latin typeface="Tahoma" pitchFamily="34" charset="0"/>
              </a:rPr>
              <a:t>3- X = A*B*~D + A*~B*C*~D + ~A*D*( C + ~C )</a:t>
            </a:r>
          </a:p>
          <a:p>
            <a:pPr eaLnBrk="1" hangingPunct="1"/>
            <a:r>
              <a:rPr lang="en-US" sz="1400" b="1" dirty="0">
                <a:latin typeface="Tahoma" pitchFamily="34" charset="0"/>
              </a:rPr>
              <a:t>4- X = A*B*~D + A*~B*C*~D + ~A*D</a:t>
            </a:r>
          </a:p>
          <a:p>
            <a:pPr eaLnBrk="1" hangingPunct="1"/>
            <a:r>
              <a:rPr lang="en-US" sz="1400" b="1" dirty="0">
                <a:latin typeface="Tahoma" pitchFamily="34" charset="0"/>
              </a:rPr>
              <a:t>5- X = A*~D*(B + ~B*C) + ~A*D</a:t>
            </a:r>
          </a:p>
          <a:p>
            <a:pPr eaLnBrk="1" hangingPunct="1"/>
            <a:endParaRPr lang="en-US" sz="1400" b="1" dirty="0">
              <a:latin typeface="Tahoma" pitchFamily="34" charset="0"/>
            </a:endParaRPr>
          </a:p>
          <a:p>
            <a:pPr eaLnBrk="1" hangingPunct="1"/>
            <a:r>
              <a:rPr lang="en-US" sz="1400" b="1" dirty="0">
                <a:latin typeface="Tahoma" pitchFamily="34" charset="0"/>
              </a:rPr>
              <a:t>6- X = A*~D*(C + B) + ~A*D //Second law of Dist</a:t>
            </a:r>
            <a:r>
              <a:rPr lang="en-US" sz="1400" b="1" dirty="0" smtClean="0">
                <a:latin typeface="Tahoma" pitchFamily="34" charset="0"/>
              </a:rPr>
              <a:t>.</a:t>
            </a:r>
          </a:p>
          <a:p>
            <a:pPr eaLnBrk="1" hangingPunct="1"/>
            <a:endParaRPr lang="en-US" sz="1400" b="1" dirty="0">
              <a:latin typeface="Tahoma" pitchFamily="34" charset="0"/>
            </a:endParaRPr>
          </a:p>
          <a:p>
            <a:pPr eaLnBrk="1" hangingPunct="1"/>
            <a:r>
              <a:rPr lang="en-US" sz="1400" b="1" dirty="0" smtClean="0">
                <a:solidFill>
                  <a:srgbClr val="FF0000"/>
                </a:solidFill>
                <a:latin typeface="Tahoma" pitchFamily="34" charset="0"/>
              </a:rPr>
              <a:t>Q</a:t>
            </a:r>
            <a:r>
              <a:rPr lang="en-US" sz="1400" b="1" smtClean="0">
                <a:solidFill>
                  <a:srgbClr val="FF0000"/>
                </a:solidFill>
                <a:latin typeface="Tahoma" pitchFamily="34" charset="0"/>
              </a:rPr>
              <a:t>:</a:t>
            </a:r>
            <a:r>
              <a:rPr lang="en-US" sz="1400" b="1" smtClean="0">
                <a:latin typeface="Tahoma" pitchFamily="34" charset="0"/>
              </a:rPr>
              <a:t> KMap </a:t>
            </a:r>
            <a:r>
              <a:rPr lang="en-US" sz="1400" b="1" dirty="0" smtClean="0">
                <a:latin typeface="Tahoma" pitchFamily="34" charset="0"/>
              </a:rPr>
              <a:t>&amp; Loops &amp; BE?</a:t>
            </a:r>
            <a:endParaRPr lang="en-US" sz="1400" b="1" dirty="0">
              <a:latin typeface="Tahoma" pitchFamily="34" charset="0"/>
            </a:endParaRPr>
          </a:p>
        </p:txBody>
      </p:sp>
      <p:sp>
        <p:nvSpPr>
          <p:cNvPr id="40979" name="Rectangle 139"/>
          <p:cNvSpPr>
            <a:spLocks noChangeArrowheads="1"/>
          </p:cNvSpPr>
          <p:nvPr/>
        </p:nvSpPr>
        <p:spPr bwMode="auto">
          <a:xfrm>
            <a:off x="3214687" y="5016500"/>
            <a:ext cx="914400" cy="838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40980" name="Rectangle 140"/>
          <p:cNvSpPr>
            <a:spLocks noChangeArrowheads="1"/>
          </p:cNvSpPr>
          <p:nvPr/>
        </p:nvSpPr>
        <p:spPr bwMode="auto">
          <a:xfrm>
            <a:off x="4319587" y="5994400"/>
            <a:ext cx="914400" cy="368300"/>
          </a:xfrm>
          <a:prstGeom prst="rect">
            <a:avLst/>
          </a:prstGeom>
          <a:noFill/>
          <a:ln w="38100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40981" name="Text Box 141"/>
          <p:cNvSpPr txBox="1">
            <a:spLocks noChangeArrowheads="1"/>
          </p:cNvSpPr>
          <p:nvPr/>
        </p:nvSpPr>
        <p:spPr bwMode="auto">
          <a:xfrm>
            <a:off x="5470525" y="5340350"/>
            <a:ext cx="35972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 dirty="0">
                <a:latin typeface="Courier New" pitchFamily="49" charset="0"/>
              </a:rPr>
              <a:t>X = ~A*D + A*B*~D +A*C*~D</a:t>
            </a:r>
          </a:p>
        </p:txBody>
      </p:sp>
      <p:sp>
        <p:nvSpPr>
          <p:cNvPr id="40982" name="Freeform 142"/>
          <p:cNvSpPr>
            <a:spLocks/>
          </p:cNvSpPr>
          <p:nvPr/>
        </p:nvSpPr>
        <p:spPr bwMode="auto">
          <a:xfrm>
            <a:off x="4294187" y="4470400"/>
            <a:ext cx="330200" cy="381000"/>
          </a:xfrm>
          <a:custGeom>
            <a:avLst/>
            <a:gdLst>
              <a:gd name="T0" fmla="*/ 0 w 208"/>
              <a:gd name="T1" fmla="*/ 0 h 240"/>
              <a:gd name="T2" fmla="*/ 0 w 208"/>
              <a:gd name="T3" fmla="*/ 2147483647 h 240"/>
              <a:gd name="T4" fmla="*/ 2147483647 w 208"/>
              <a:gd name="T5" fmla="*/ 2147483647 h 240"/>
              <a:gd name="T6" fmla="*/ 2147483647 w 208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08"/>
              <a:gd name="T13" fmla="*/ 0 h 240"/>
              <a:gd name="T14" fmla="*/ 208 w 20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8" h="240">
                <a:moveTo>
                  <a:pt x="0" y="0"/>
                </a:moveTo>
                <a:lnTo>
                  <a:pt x="0" y="240"/>
                </a:lnTo>
                <a:lnTo>
                  <a:pt x="208" y="240"/>
                </a:lnTo>
                <a:lnTo>
                  <a:pt x="208" y="0"/>
                </a:lnTo>
              </a:path>
            </a:pathLst>
          </a:custGeom>
          <a:noFill/>
          <a:ln w="28575">
            <a:solidFill>
              <a:srgbClr val="0033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3" name="Freeform 143"/>
          <p:cNvSpPr>
            <a:spLocks/>
          </p:cNvSpPr>
          <p:nvPr/>
        </p:nvSpPr>
        <p:spPr bwMode="auto">
          <a:xfrm flipV="1">
            <a:off x="4256087" y="6019800"/>
            <a:ext cx="330200" cy="381000"/>
          </a:xfrm>
          <a:custGeom>
            <a:avLst/>
            <a:gdLst>
              <a:gd name="T0" fmla="*/ 0 w 208"/>
              <a:gd name="T1" fmla="*/ 0 h 240"/>
              <a:gd name="T2" fmla="*/ 0 w 208"/>
              <a:gd name="T3" fmla="*/ 2147483647 h 240"/>
              <a:gd name="T4" fmla="*/ 2147483647 w 208"/>
              <a:gd name="T5" fmla="*/ 2147483647 h 240"/>
              <a:gd name="T6" fmla="*/ 2147483647 w 208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08"/>
              <a:gd name="T13" fmla="*/ 0 h 240"/>
              <a:gd name="T14" fmla="*/ 208 w 20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8" h="240">
                <a:moveTo>
                  <a:pt x="0" y="0"/>
                </a:moveTo>
                <a:lnTo>
                  <a:pt x="0" y="240"/>
                </a:lnTo>
                <a:lnTo>
                  <a:pt x="208" y="240"/>
                </a:lnTo>
                <a:lnTo>
                  <a:pt x="208" y="0"/>
                </a:lnTo>
              </a:path>
            </a:pathLst>
          </a:custGeom>
          <a:noFill/>
          <a:ln w="28575">
            <a:solidFill>
              <a:srgbClr val="0033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Left-Right Arrow 1"/>
          <p:cNvSpPr/>
          <p:nvPr/>
        </p:nvSpPr>
        <p:spPr>
          <a:xfrm rot="2431327">
            <a:off x="4620761" y="4207618"/>
            <a:ext cx="2526377" cy="457200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Identical?</a:t>
            </a:r>
            <a:endParaRPr lang="en-US" dirty="0"/>
          </a:p>
        </p:txBody>
      </p:sp>
      <p:sp>
        <p:nvSpPr>
          <p:cNvPr id="147" name="Rectangle 2"/>
          <p:cNvSpPr txBox="1">
            <a:spLocks noChangeArrowheads="1"/>
          </p:cNvSpPr>
          <p:nvPr/>
        </p:nvSpPr>
        <p:spPr>
          <a:xfrm>
            <a:off x="533400" y="542637"/>
            <a:ext cx="8229600" cy="6927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Another Arbitrary Example</a:t>
            </a:r>
          </a:p>
        </p:txBody>
      </p:sp>
      <p:sp>
        <p:nvSpPr>
          <p:cNvPr id="178" name="Text Box 107"/>
          <p:cNvSpPr txBox="1">
            <a:spLocks noChangeArrowheads="1"/>
          </p:cNvSpPr>
          <p:nvPr/>
        </p:nvSpPr>
        <p:spPr bwMode="auto">
          <a:xfrm>
            <a:off x="3152775" y="4106863"/>
            <a:ext cx="2232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>
                <a:latin typeface="Courier New" pitchFamily="49" charset="0"/>
              </a:rPr>
              <a:t>AB  AB  AB  AB </a:t>
            </a:r>
          </a:p>
        </p:txBody>
      </p:sp>
      <p:sp>
        <p:nvSpPr>
          <p:cNvPr id="179" name="Text Box 108"/>
          <p:cNvSpPr txBox="1">
            <a:spLocks noChangeArrowheads="1"/>
          </p:cNvSpPr>
          <p:nvPr/>
        </p:nvSpPr>
        <p:spPr bwMode="auto">
          <a:xfrm>
            <a:off x="2603500" y="4624388"/>
            <a:ext cx="457200" cy="172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</p:txBody>
      </p:sp>
      <p:sp>
        <p:nvSpPr>
          <p:cNvPr id="180" name="Line 109"/>
          <p:cNvSpPr>
            <a:spLocks noChangeShapeType="1"/>
          </p:cNvSpPr>
          <p:nvPr/>
        </p:nvSpPr>
        <p:spPr bwMode="auto">
          <a:xfrm>
            <a:off x="2697163" y="5113338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" name="Line 110"/>
          <p:cNvSpPr>
            <a:spLocks noChangeShapeType="1"/>
          </p:cNvSpPr>
          <p:nvPr/>
        </p:nvSpPr>
        <p:spPr bwMode="auto">
          <a:xfrm>
            <a:off x="2849563" y="46656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" name="Line 111"/>
          <p:cNvSpPr>
            <a:spLocks noChangeShapeType="1"/>
          </p:cNvSpPr>
          <p:nvPr/>
        </p:nvSpPr>
        <p:spPr bwMode="auto">
          <a:xfrm>
            <a:off x="2678113" y="46656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" name="Line 112"/>
          <p:cNvSpPr>
            <a:spLocks noChangeShapeType="1"/>
          </p:cNvSpPr>
          <p:nvPr/>
        </p:nvSpPr>
        <p:spPr bwMode="auto">
          <a:xfrm>
            <a:off x="5003800" y="41656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" name="Line 113"/>
          <p:cNvSpPr>
            <a:spLocks noChangeShapeType="1"/>
          </p:cNvSpPr>
          <p:nvPr/>
        </p:nvSpPr>
        <p:spPr bwMode="auto">
          <a:xfrm>
            <a:off x="3773488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" name="Line 114"/>
          <p:cNvSpPr>
            <a:spLocks noChangeShapeType="1"/>
          </p:cNvSpPr>
          <p:nvPr/>
        </p:nvSpPr>
        <p:spPr bwMode="auto">
          <a:xfrm>
            <a:off x="3402013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" name="Line 115"/>
          <p:cNvSpPr>
            <a:spLocks noChangeShapeType="1"/>
          </p:cNvSpPr>
          <p:nvPr/>
        </p:nvSpPr>
        <p:spPr bwMode="auto">
          <a:xfrm>
            <a:off x="3230563" y="417036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7" name="Line 116"/>
          <p:cNvSpPr>
            <a:spLocks noChangeShapeType="1"/>
          </p:cNvSpPr>
          <p:nvPr/>
        </p:nvSpPr>
        <p:spPr bwMode="auto">
          <a:xfrm>
            <a:off x="2820988" y="6056313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8" name="Group 117"/>
          <p:cNvGrpSpPr>
            <a:grpSpLocks/>
          </p:cNvGrpSpPr>
          <p:nvPr/>
        </p:nvGrpSpPr>
        <p:grpSpPr bwMode="auto">
          <a:xfrm>
            <a:off x="3136900" y="4445000"/>
            <a:ext cx="2133600" cy="1981200"/>
            <a:chOff x="3264" y="2352"/>
            <a:chExt cx="1152" cy="1152"/>
          </a:xfrm>
        </p:grpSpPr>
        <p:sp>
          <p:nvSpPr>
            <p:cNvPr id="189" name="Rectangle 118"/>
            <p:cNvSpPr>
              <a:spLocks noChangeArrowheads="1"/>
            </p:cNvSpPr>
            <p:nvPr/>
          </p:nvSpPr>
          <p:spPr bwMode="auto">
            <a:xfrm>
              <a:off x="3264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0" name="Rectangle 119"/>
            <p:cNvSpPr>
              <a:spLocks noChangeArrowheads="1"/>
            </p:cNvSpPr>
            <p:nvPr/>
          </p:nvSpPr>
          <p:spPr bwMode="auto">
            <a:xfrm>
              <a:off x="3552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1" name="Rectangle 120"/>
            <p:cNvSpPr>
              <a:spLocks noChangeArrowheads="1"/>
            </p:cNvSpPr>
            <p:nvPr/>
          </p:nvSpPr>
          <p:spPr bwMode="auto">
            <a:xfrm>
              <a:off x="3840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2" name="Rectangle 121"/>
            <p:cNvSpPr>
              <a:spLocks noChangeArrowheads="1"/>
            </p:cNvSpPr>
            <p:nvPr/>
          </p:nvSpPr>
          <p:spPr bwMode="auto">
            <a:xfrm>
              <a:off x="4128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3" name="Rectangle 122"/>
            <p:cNvSpPr>
              <a:spLocks noChangeArrowheads="1"/>
            </p:cNvSpPr>
            <p:nvPr/>
          </p:nvSpPr>
          <p:spPr bwMode="auto">
            <a:xfrm>
              <a:off x="3264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4" name="Rectangle 123"/>
            <p:cNvSpPr>
              <a:spLocks noChangeArrowheads="1"/>
            </p:cNvSpPr>
            <p:nvPr/>
          </p:nvSpPr>
          <p:spPr bwMode="auto">
            <a:xfrm>
              <a:off x="3552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5" name="Rectangle 124"/>
            <p:cNvSpPr>
              <a:spLocks noChangeArrowheads="1"/>
            </p:cNvSpPr>
            <p:nvPr/>
          </p:nvSpPr>
          <p:spPr bwMode="auto">
            <a:xfrm>
              <a:off x="3840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6" name="Rectangle 125"/>
            <p:cNvSpPr>
              <a:spLocks noChangeArrowheads="1"/>
            </p:cNvSpPr>
            <p:nvPr/>
          </p:nvSpPr>
          <p:spPr bwMode="auto">
            <a:xfrm>
              <a:off x="4128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7" name="Rectangle 126"/>
            <p:cNvSpPr>
              <a:spLocks noChangeArrowheads="1"/>
            </p:cNvSpPr>
            <p:nvPr/>
          </p:nvSpPr>
          <p:spPr bwMode="auto">
            <a:xfrm>
              <a:off x="3264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8" name="Rectangle 127"/>
            <p:cNvSpPr>
              <a:spLocks noChangeArrowheads="1"/>
            </p:cNvSpPr>
            <p:nvPr/>
          </p:nvSpPr>
          <p:spPr bwMode="auto">
            <a:xfrm>
              <a:off x="3552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199" name="Rectangle 128"/>
            <p:cNvSpPr>
              <a:spLocks noChangeArrowheads="1"/>
            </p:cNvSpPr>
            <p:nvPr/>
          </p:nvSpPr>
          <p:spPr bwMode="auto">
            <a:xfrm>
              <a:off x="3840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00" name="Rectangle 129"/>
            <p:cNvSpPr>
              <a:spLocks noChangeArrowheads="1"/>
            </p:cNvSpPr>
            <p:nvPr/>
          </p:nvSpPr>
          <p:spPr bwMode="auto">
            <a:xfrm>
              <a:off x="4128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01" name="Rectangle 130"/>
            <p:cNvSpPr>
              <a:spLocks noChangeArrowheads="1"/>
            </p:cNvSpPr>
            <p:nvPr/>
          </p:nvSpPr>
          <p:spPr bwMode="auto">
            <a:xfrm>
              <a:off x="3264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02" name="Rectangle 131"/>
            <p:cNvSpPr>
              <a:spLocks noChangeArrowheads="1"/>
            </p:cNvSpPr>
            <p:nvPr/>
          </p:nvSpPr>
          <p:spPr bwMode="auto">
            <a:xfrm>
              <a:off x="3552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03" name="Rectangle 132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04" name="Rectangle 133"/>
            <p:cNvSpPr>
              <a:spLocks noChangeArrowheads="1"/>
            </p:cNvSpPr>
            <p:nvPr/>
          </p:nvSpPr>
          <p:spPr bwMode="auto">
            <a:xfrm>
              <a:off x="4128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</p:grpSp>
      <p:sp>
        <p:nvSpPr>
          <p:cNvPr id="205" name="Text Box 134"/>
          <p:cNvSpPr txBox="1">
            <a:spLocks noChangeArrowheads="1"/>
          </p:cNvSpPr>
          <p:nvPr/>
        </p:nvSpPr>
        <p:spPr bwMode="auto">
          <a:xfrm>
            <a:off x="3213100" y="4978400"/>
            <a:ext cx="184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   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06" name="Text Box 135"/>
          <p:cNvSpPr txBox="1">
            <a:spLocks noChangeArrowheads="1"/>
          </p:cNvSpPr>
          <p:nvPr/>
        </p:nvSpPr>
        <p:spPr bwMode="auto">
          <a:xfrm>
            <a:off x="3213100" y="5449888"/>
            <a:ext cx="184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   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07" name="Text Box 136"/>
          <p:cNvSpPr txBox="1">
            <a:spLocks noChangeArrowheads="1"/>
          </p:cNvSpPr>
          <p:nvPr/>
        </p:nvSpPr>
        <p:spPr bwMode="auto">
          <a:xfrm>
            <a:off x="4327525" y="6007100"/>
            <a:ext cx="1846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   </a:t>
            </a:r>
            <a:endParaRPr lang="en-US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3050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64" grpId="0"/>
      <p:bldP spid="40965" grpId="0" animBg="1"/>
      <p:bldP spid="40966" grpId="0" animBg="1"/>
      <p:bldP spid="40967" grpId="0" animBg="1"/>
      <p:bldP spid="40968" grpId="0" animBg="1"/>
      <p:bldP spid="40969" grpId="0" animBg="1"/>
      <p:bldP spid="40970" grpId="0" animBg="1"/>
      <p:bldP spid="40971" grpId="0" animBg="1"/>
      <p:bldP spid="40972" grpId="0" animBg="1"/>
      <p:bldP spid="40974" grpId="0"/>
      <p:bldP spid="40975" grpId="0"/>
      <p:bldP spid="40976" grpId="0"/>
      <p:bldP spid="40977" grpId="0"/>
      <p:bldP spid="40978" grpId="0"/>
      <p:bldP spid="40979" grpId="0" animBg="1"/>
      <p:bldP spid="40980" grpId="0" animBg="1"/>
      <p:bldP spid="40981" grpId="0" animBg="1"/>
      <p:bldP spid="40982" grpId="0" animBg="1"/>
      <p:bldP spid="40983" grpId="0" animBg="1"/>
      <p:bldP spid="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2856" y="5334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Advanced K-Maps</a:t>
            </a:r>
            <a:br>
              <a:rPr lang="en-US" dirty="0" smtClean="0"/>
            </a:br>
            <a:r>
              <a:rPr lang="en-US" dirty="0" smtClean="0"/>
              <a:t>Don’t Cares</a:t>
            </a:r>
          </a:p>
        </p:txBody>
      </p:sp>
      <p:graphicFrame>
        <p:nvGraphicFramePr>
          <p:cNvPr id="2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0454"/>
              </p:ext>
            </p:extLst>
          </p:nvPr>
        </p:nvGraphicFramePr>
        <p:xfrm>
          <a:off x="4494212" y="1524000"/>
          <a:ext cx="3506788" cy="4038600"/>
        </p:xfrm>
        <a:graphic>
          <a:graphicData uri="http://schemas.openxmlformats.org/drawingml/2006/table">
            <a:tbl>
              <a:tblPr/>
              <a:tblGrid>
                <a:gridCol w="876697"/>
                <a:gridCol w="876697"/>
                <a:gridCol w="876697"/>
                <a:gridCol w="876697"/>
              </a:tblGrid>
              <a:tr h="9702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02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02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02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</a:p>
                  </a:txBody>
                  <a:tcPr marL="91448" marR="9144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2558" name="Group 31"/>
          <p:cNvGrpSpPr>
            <a:grpSpLocks/>
          </p:cNvGrpSpPr>
          <p:nvPr/>
        </p:nvGrpSpPr>
        <p:grpSpPr bwMode="auto">
          <a:xfrm>
            <a:off x="4792662" y="1168400"/>
            <a:ext cx="3046412" cy="400050"/>
            <a:chOff x="528" y="288"/>
            <a:chExt cx="1167" cy="252"/>
          </a:xfrm>
        </p:grpSpPr>
        <p:sp>
          <p:nvSpPr>
            <p:cNvPr id="22566" name="Text Box 32"/>
            <p:cNvSpPr txBox="1">
              <a:spLocks noChangeArrowheads="1"/>
            </p:cNvSpPr>
            <p:nvPr/>
          </p:nvSpPr>
          <p:spPr bwMode="auto">
            <a:xfrm>
              <a:off x="528" y="288"/>
              <a:ext cx="116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2000" b="1"/>
                <a:t>A  B    AB     AB         AB</a:t>
              </a:r>
            </a:p>
          </p:txBody>
        </p:sp>
        <p:sp>
          <p:nvSpPr>
            <p:cNvPr id="22567" name="Line 33"/>
            <p:cNvSpPr>
              <a:spLocks noChangeShapeType="1"/>
            </p:cNvSpPr>
            <p:nvPr/>
          </p:nvSpPr>
          <p:spPr bwMode="auto">
            <a:xfrm>
              <a:off x="570" y="32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Line 34"/>
            <p:cNvSpPr>
              <a:spLocks noChangeShapeType="1"/>
            </p:cNvSpPr>
            <p:nvPr/>
          </p:nvSpPr>
          <p:spPr bwMode="auto">
            <a:xfrm>
              <a:off x="666" y="32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Line 35"/>
            <p:cNvSpPr>
              <a:spLocks noChangeShapeType="1"/>
            </p:cNvSpPr>
            <p:nvPr/>
          </p:nvSpPr>
          <p:spPr bwMode="auto">
            <a:xfrm>
              <a:off x="863" y="33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0" name="Line 36"/>
            <p:cNvSpPr>
              <a:spLocks noChangeShapeType="1"/>
            </p:cNvSpPr>
            <p:nvPr/>
          </p:nvSpPr>
          <p:spPr bwMode="auto">
            <a:xfrm>
              <a:off x="1575" y="328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59" name="Group 37"/>
          <p:cNvGrpSpPr>
            <a:grpSpLocks/>
          </p:cNvGrpSpPr>
          <p:nvPr/>
        </p:nvGrpSpPr>
        <p:grpSpPr bwMode="auto">
          <a:xfrm>
            <a:off x="3657599" y="1473200"/>
            <a:ext cx="798513" cy="3654425"/>
            <a:chOff x="122" y="592"/>
            <a:chExt cx="278" cy="2302"/>
          </a:xfrm>
        </p:grpSpPr>
        <p:sp>
          <p:nvSpPr>
            <p:cNvPr id="22561" name="Text Box 38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2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20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r>
                <a:rPr lang="en-US" sz="20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r>
                <a:rPr lang="en-US" sz="20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r>
                <a:rPr lang="en-US" sz="2000" b="1"/>
                <a:t>CD</a:t>
              </a:r>
            </a:p>
          </p:txBody>
        </p:sp>
        <p:sp>
          <p:nvSpPr>
            <p:cNvPr id="22562" name="Line 39"/>
            <p:cNvSpPr>
              <a:spLocks noChangeShapeType="1"/>
            </p:cNvSpPr>
            <p:nvPr/>
          </p:nvSpPr>
          <p:spPr bwMode="auto">
            <a:xfrm>
              <a:off x="133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Line 40"/>
            <p:cNvSpPr>
              <a:spLocks noChangeShapeType="1"/>
            </p:cNvSpPr>
            <p:nvPr/>
          </p:nvSpPr>
          <p:spPr bwMode="auto">
            <a:xfrm>
              <a:off x="223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Line 41"/>
            <p:cNvSpPr>
              <a:spLocks noChangeShapeType="1"/>
            </p:cNvSpPr>
            <p:nvPr/>
          </p:nvSpPr>
          <p:spPr bwMode="auto">
            <a:xfrm>
              <a:off x="151" y="1293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Line 42"/>
            <p:cNvSpPr>
              <a:spLocks noChangeShapeType="1"/>
            </p:cNvSpPr>
            <p:nvPr/>
          </p:nvSpPr>
          <p:spPr bwMode="auto">
            <a:xfrm>
              <a:off x="211" y="2669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60" name="Rectangle 3"/>
          <p:cNvSpPr txBox="1">
            <a:spLocks/>
          </p:cNvSpPr>
          <p:nvPr/>
        </p:nvSpPr>
        <p:spPr bwMode="auto">
          <a:xfrm>
            <a:off x="838200" y="5410200"/>
            <a:ext cx="7010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800" dirty="0" smtClean="0"/>
              <a:t>x’s above </a:t>
            </a:r>
            <a:r>
              <a:rPr lang="en-US" altLang="ko-KR" sz="1800" dirty="0"/>
              <a:t>can be 0 or 1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800" dirty="0" smtClean="0"/>
              <a:t>Design this in your favor, as </a:t>
            </a:r>
            <a:r>
              <a:rPr lang="en-US" altLang="ko-KR" sz="1800" dirty="0"/>
              <a:t>simple as possible.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800" dirty="0"/>
              <a:t>F = ?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427776589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760267"/>
              </p:ext>
            </p:extLst>
          </p:nvPr>
        </p:nvGraphicFramePr>
        <p:xfrm>
          <a:off x="4494212" y="1305560"/>
          <a:ext cx="3506788" cy="4038600"/>
        </p:xfrm>
        <a:graphic>
          <a:graphicData uri="http://schemas.openxmlformats.org/drawingml/2006/table">
            <a:tbl>
              <a:tblPr/>
              <a:tblGrid>
                <a:gridCol w="876697"/>
                <a:gridCol w="876697"/>
                <a:gridCol w="876697"/>
                <a:gridCol w="876697"/>
              </a:tblGrid>
              <a:tr h="9702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02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02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02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91448" marR="9144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48" marR="9144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2558" name="Group 31"/>
          <p:cNvGrpSpPr>
            <a:grpSpLocks/>
          </p:cNvGrpSpPr>
          <p:nvPr/>
        </p:nvGrpSpPr>
        <p:grpSpPr bwMode="auto">
          <a:xfrm>
            <a:off x="4830762" y="939800"/>
            <a:ext cx="3046412" cy="400050"/>
            <a:chOff x="528" y="288"/>
            <a:chExt cx="1167" cy="252"/>
          </a:xfrm>
        </p:grpSpPr>
        <p:sp>
          <p:nvSpPr>
            <p:cNvPr id="22566" name="Text Box 32"/>
            <p:cNvSpPr txBox="1">
              <a:spLocks noChangeArrowheads="1"/>
            </p:cNvSpPr>
            <p:nvPr/>
          </p:nvSpPr>
          <p:spPr bwMode="auto">
            <a:xfrm>
              <a:off x="528" y="288"/>
              <a:ext cx="116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2000" b="1"/>
                <a:t>A  B    AB     AB         AB</a:t>
              </a:r>
            </a:p>
          </p:txBody>
        </p:sp>
        <p:sp>
          <p:nvSpPr>
            <p:cNvPr id="22567" name="Line 33"/>
            <p:cNvSpPr>
              <a:spLocks noChangeShapeType="1"/>
            </p:cNvSpPr>
            <p:nvPr/>
          </p:nvSpPr>
          <p:spPr bwMode="auto">
            <a:xfrm>
              <a:off x="580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Line 34"/>
            <p:cNvSpPr>
              <a:spLocks noChangeShapeType="1"/>
            </p:cNvSpPr>
            <p:nvPr/>
          </p:nvSpPr>
          <p:spPr bwMode="auto">
            <a:xfrm>
              <a:off x="676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Line 35"/>
            <p:cNvSpPr>
              <a:spLocks noChangeShapeType="1"/>
            </p:cNvSpPr>
            <p:nvPr/>
          </p:nvSpPr>
          <p:spPr bwMode="auto">
            <a:xfrm>
              <a:off x="868" y="30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0" name="Line 36"/>
            <p:cNvSpPr>
              <a:spLocks noChangeShapeType="1"/>
            </p:cNvSpPr>
            <p:nvPr/>
          </p:nvSpPr>
          <p:spPr bwMode="auto">
            <a:xfrm>
              <a:off x="1580" y="304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59" name="Group 37"/>
          <p:cNvGrpSpPr>
            <a:grpSpLocks/>
          </p:cNvGrpSpPr>
          <p:nvPr/>
        </p:nvGrpSpPr>
        <p:grpSpPr bwMode="auto">
          <a:xfrm>
            <a:off x="3695699" y="1244600"/>
            <a:ext cx="798513" cy="3654425"/>
            <a:chOff x="122" y="592"/>
            <a:chExt cx="278" cy="2302"/>
          </a:xfrm>
        </p:grpSpPr>
        <p:sp>
          <p:nvSpPr>
            <p:cNvPr id="22561" name="Text Box 38"/>
            <p:cNvSpPr txBox="1">
              <a:spLocks noChangeArrowheads="1"/>
            </p:cNvSpPr>
            <p:nvPr/>
          </p:nvSpPr>
          <p:spPr bwMode="auto">
            <a:xfrm>
              <a:off x="122" y="626"/>
              <a:ext cx="278" cy="2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>
                <a:lnSpc>
                  <a:spcPct val="60000"/>
                </a:lnSpc>
              </a:pPr>
              <a:r>
                <a:rPr lang="en-US" sz="20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r>
                <a:rPr lang="en-US" sz="20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r>
                <a:rPr lang="en-US" sz="2000" b="1"/>
                <a:t>CD</a:t>
              </a:r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endParaRPr lang="en-US" sz="2000" b="1"/>
            </a:p>
            <a:p>
              <a:pPr eaLnBrk="1" hangingPunct="1">
                <a:lnSpc>
                  <a:spcPct val="60000"/>
                </a:lnSpc>
              </a:pPr>
              <a:r>
                <a:rPr lang="en-US" sz="2000" b="1"/>
                <a:t>CD</a:t>
              </a:r>
            </a:p>
          </p:txBody>
        </p:sp>
        <p:sp>
          <p:nvSpPr>
            <p:cNvPr id="22562" name="Line 39"/>
            <p:cNvSpPr>
              <a:spLocks noChangeShapeType="1"/>
            </p:cNvSpPr>
            <p:nvPr/>
          </p:nvSpPr>
          <p:spPr bwMode="auto">
            <a:xfrm>
              <a:off x="133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Line 40"/>
            <p:cNvSpPr>
              <a:spLocks noChangeShapeType="1"/>
            </p:cNvSpPr>
            <p:nvPr/>
          </p:nvSpPr>
          <p:spPr bwMode="auto">
            <a:xfrm>
              <a:off x="223" y="592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Line 41"/>
            <p:cNvSpPr>
              <a:spLocks noChangeShapeType="1"/>
            </p:cNvSpPr>
            <p:nvPr/>
          </p:nvSpPr>
          <p:spPr bwMode="auto">
            <a:xfrm>
              <a:off x="151" y="1293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Line 42"/>
            <p:cNvSpPr>
              <a:spLocks noChangeShapeType="1"/>
            </p:cNvSpPr>
            <p:nvPr/>
          </p:nvSpPr>
          <p:spPr bwMode="auto">
            <a:xfrm>
              <a:off x="227" y="2637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60" name="Rectangle 3"/>
          <p:cNvSpPr txBox="1">
            <a:spLocks/>
          </p:cNvSpPr>
          <p:nvPr/>
        </p:nvSpPr>
        <p:spPr bwMode="auto">
          <a:xfrm>
            <a:off x="838200" y="5410200"/>
            <a:ext cx="7010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800" dirty="0"/>
              <a:t>X can be 0 or 1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800" dirty="0"/>
              <a:t>Choose so the expression can be as simple as possible.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800" dirty="0"/>
              <a:t>F = ?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altLang="ko-KR" sz="1800" dirty="0"/>
          </a:p>
        </p:txBody>
      </p:sp>
      <p:sp>
        <p:nvSpPr>
          <p:cNvPr id="17" name="Rectangle 139"/>
          <p:cNvSpPr>
            <a:spLocks noChangeArrowheads="1"/>
          </p:cNvSpPr>
          <p:nvPr/>
        </p:nvSpPr>
        <p:spPr bwMode="auto">
          <a:xfrm>
            <a:off x="6286499" y="1339850"/>
            <a:ext cx="914400" cy="39941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18" name="Rectangle 139"/>
          <p:cNvSpPr>
            <a:spLocks noChangeArrowheads="1"/>
          </p:cNvSpPr>
          <p:nvPr/>
        </p:nvSpPr>
        <p:spPr bwMode="auto">
          <a:xfrm>
            <a:off x="5316308" y="2357438"/>
            <a:ext cx="1981200" cy="2089150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152400"/>
            <a:ext cx="7024744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Don’t Cares</a:t>
            </a:r>
          </a:p>
        </p:txBody>
      </p:sp>
    </p:spTree>
    <p:extLst>
      <p:ext uri="{BB962C8B-B14F-4D97-AF65-F5344CB8AC3E}">
        <p14:creationId xmlns:p14="http://schemas.microsoft.com/office/powerpoint/2010/main" val="1015483183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643308" cy="350897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Not the best use of the word “memory”, since</a:t>
            </a:r>
          </a:p>
          <a:p>
            <a:pPr lvl="1"/>
            <a:r>
              <a:rPr lang="en-US" dirty="0" smtClean="0"/>
              <a:t>We’ll define memory dynamically using atomic &amp; universal gates</a:t>
            </a:r>
          </a:p>
          <a:p>
            <a:r>
              <a:rPr lang="en-US" dirty="0" smtClean="0"/>
              <a:t>Not a memory that can be configured, so like a </a:t>
            </a:r>
            <a:r>
              <a:rPr lang="en-US" dirty="0" err="1" smtClean="0"/>
              <a:t>const</a:t>
            </a:r>
            <a:r>
              <a:rPr lang="en-US" dirty="0" smtClean="0"/>
              <a:t> variable</a:t>
            </a:r>
          </a:p>
          <a:p>
            <a:pPr lvl="1"/>
            <a:r>
              <a:rPr lang="en-US" dirty="0" smtClean="0"/>
              <a:t>Is it technically a variable if it can’t vary?</a:t>
            </a:r>
          </a:p>
          <a:p>
            <a:pPr lvl="1"/>
            <a:endParaRPr lang="en-US" dirty="0"/>
          </a:p>
          <a:p>
            <a:r>
              <a:rPr lang="en-US" dirty="0" smtClean="0"/>
              <a:t>Programmable ROMs</a:t>
            </a:r>
          </a:p>
          <a:p>
            <a:r>
              <a:rPr lang="en-US" dirty="0" smtClean="0"/>
              <a:t>Erasable Programmable ROMS</a:t>
            </a:r>
          </a:p>
          <a:p>
            <a:pPr lvl="1"/>
            <a:r>
              <a:rPr lang="en-US" dirty="0" smtClean="0"/>
              <a:t>If memory speeds were glue speeds, this is </a:t>
            </a:r>
            <a:r>
              <a:rPr lang="en-US" dirty="0" err="1"/>
              <a:t>E</a:t>
            </a:r>
            <a:r>
              <a:rPr lang="en-US" dirty="0" err="1" smtClean="0"/>
              <a:t>lmers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45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94811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ROMS can </a:t>
            </a:r>
            <a:r>
              <a:rPr lang="en-US" dirty="0"/>
              <a:t>E</a:t>
            </a:r>
            <a:r>
              <a:rPr lang="en-US" dirty="0" smtClean="0"/>
              <a:t>ncode Logic Directly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2623"/>
            <a:ext cx="8534400" cy="3508977"/>
          </a:xfrm>
        </p:spPr>
        <p:txBody>
          <a:bodyPr/>
          <a:lstStyle/>
          <a:p>
            <a:r>
              <a:rPr lang="en-US" dirty="0" smtClean="0"/>
              <a:t>As a truth table, removing the need for the hardware!</a:t>
            </a:r>
          </a:p>
          <a:p>
            <a:pPr lvl="1"/>
            <a:r>
              <a:rPr lang="en-US" dirty="0" smtClean="0"/>
              <a:t>Really, this is just an alternate hardware configuration that “remembers” what outputs correspond with what inputs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400" y="3657600"/>
            <a:ext cx="3352800" cy="29718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Box 1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" y="4114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2400" y="4267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2400" y="44196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886200" y="43434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886200" y="4495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886200" y="4648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886200" y="48006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886200" y="49530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86200" y="51054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886200" y="5257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86200" y="5410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5400" y="3657600"/>
            <a:ext cx="3352800" cy="29718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Box 2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4724400" y="4114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724400" y="4267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724400" y="44196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458200" y="43434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458200" y="4495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458200" y="4648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458200" y="48006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458200" y="49530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458200" y="51054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458200" y="5257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458200" y="5410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01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077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Build the Gates or Store in ROM?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33400" y="3657600"/>
            <a:ext cx="3352800" cy="29718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Box 1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52400" y="4114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" y="4267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52400" y="44196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886200" y="43434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886200" y="4495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886200" y="4648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886200" y="48006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886200" y="49530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886200" y="51054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886200" y="5257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86200" y="5410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Delay 15"/>
          <p:cNvSpPr/>
          <p:nvPr/>
        </p:nvSpPr>
        <p:spPr>
          <a:xfrm>
            <a:off x="1524000" y="4343400"/>
            <a:ext cx="609600" cy="457200"/>
          </a:xfrm>
          <a:prstGeom prst="flowChartDela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ored Data 16"/>
          <p:cNvSpPr/>
          <p:nvPr/>
        </p:nvSpPr>
        <p:spPr>
          <a:xfrm rot="10800000">
            <a:off x="2667000" y="5486400"/>
            <a:ext cx="533400" cy="685800"/>
          </a:xfrm>
          <a:prstGeom prst="flowChartOnlineStorag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elay 17"/>
          <p:cNvSpPr/>
          <p:nvPr/>
        </p:nvSpPr>
        <p:spPr>
          <a:xfrm>
            <a:off x="2590800" y="4038600"/>
            <a:ext cx="609600" cy="457200"/>
          </a:xfrm>
          <a:prstGeom prst="flowChartDela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ored Data 18"/>
          <p:cNvSpPr/>
          <p:nvPr/>
        </p:nvSpPr>
        <p:spPr>
          <a:xfrm rot="10800000">
            <a:off x="3200400" y="4648200"/>
            <a:ext cx="533400" cy="685800"/>
          </a:xfrm>
          <a:prstGeom prst="flowChartOnlineStorag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3200400" y="4267200"/>
            <a:ext cx="685800" cy="228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33400" y="4114800"/>
            <a:ext cx="2057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133600" y="3886200"/>
            <a:ext cx="0" cy="228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2133600" y="3886200"/>
            <a:ext cx="1371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505200" y="3886200"/>
            <a:ext cx="381000" cy="457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33400" y="4267200"/>
            <a:ext cx="2057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57200" y="4419600"/>
            <a:ext cx="106680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90600" y="4267200"/>
            <a:ext cx="0" cy="152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990600" y="4419600"/>
            <a:ext cx="533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16" idx="3"/>
          </p:cNvCxnSpPr>
          <p:nvPr/>
        </p:nvCxnSpPr>
        <p:spPr>
          <a:xfrm flipH="1" flipV="1">
            <a:off x="2133600" y="4572000"/>
            <a:ext cx="1143000" cy="609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762000" y="4114800"/>
            <a:ext cx="0" cy="1981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762000" y="6096000"/>
            <a:ext cx="1981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2971800" y="4343400"/>
            <a:ext cx="457200" cy="381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2971800" y="4724400"/>
            <a:ext cx="304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3733800" y="4953000"/>
            <a:ext cx="228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2514600" y="4800600"/>
            <a:ext cx="0" cy="838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2514600" y="5638800"/>
            <a:ext cx="228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3200400" y="5410200"/>
            <a:ext cx="685800" cy="457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5105400" y="3581400"/>
            <a:ext cx="3352800" cy="29718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Box 2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73" name="Straight Connector 72"/>
          <p:cNvCxnSpPr/>
          <p:nvPr/>
        </p:nvCxnSpPr>
        <p:spPr>
          <a:xfrm>
            <a:off x="4724400" y="40386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724400" y="41910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724400" y="43434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8458200" y="4267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8458200" y="44196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458200" y="45720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8458200" y="47244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8458200" y="48768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8458200" y="50292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8458200" y="51816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8458200" y="5334000"/>
            <a:ext cx="38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4" name="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178924"/>
              </p:ext>
            </p:extLst>
          </p:nvPr>
        </p:nvGraphicFramePr>
        <p:xfrm>
          <a:off x="5410200" y="3019425"/>
          <a:ext cx="2743204" cy="368617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04800"/>
                <a:gridCol w="264717"/>
                <a:gridCol w="317983"/>
                <a:gridCol w="231963"/>
                <a:gridCol w="231963"/>
                <a:gridCol w="231963"/>
                <a:gridCol w="231963"/>
                <a:gridCol w="231963"/>
                <a:gridCol w="231963"/>
                <a:gridCol w="231963"/>
                <a:gridCol w="231963"/>
              </a:tblGrid>
              <a:tr h="409575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8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6868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ROM Memory VS RAM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4023"/>
            <a:ext cx="8382000" cy="3508977"/>
          </a:xfrm>
        </p:spPr>
        <p:txBody>
          <a:bodyPr/>
          <a:lstStyle/>
          <a:p>
            <a:r>
              <a:rPr lang="en-US" dirty="0" smtClean="0"/>
              <a:t>Primary difference: the ability to change state,</a:t>
            </a:r>
          </a:p>
          <a:p>
            <a:pPr lvl="1"/>
            <a:r>
              <a:rPr lang="en-US" dirty="0" smtClean="0"/>
              <a:t>Mutability, volatility</a:t>
            </a:r>
          </a:p>
          <a:p>
            <a:r>
              <a:rPr lang="en-US" dirty="0" smtClean="0"/>
              <a:t>We’ll discuss SRAM, DRAM shortly and ROMS here</a:t>
            </a:r>
          </a:p>
          <a:p>
            <a:pPr lvl="1"/>
            <a:r>
              <a:rPr lang="en-US" dirty="0" smtClean="0"/>
              <a:t>As a ROM is really just a decoder to pick one bit out of an array of bits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76400" y="4038600"/>
            <a:ext cx="1676400" cy="1447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2-4 Decoder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066800" y="44196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66800" y="46482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52800" y="41910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352800" y="4648200"/>
            <a:ext cx="1066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276600" y="5029200"/>
            <a:ext cx="1143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352800" y="53340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0" y="3429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Vcc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810000" y="60198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Ground</a:t>
            </a:r>
            <a:endParaRPr lang="en-US" dirty="0"/>
          </a:p>
        </p:txBody>
      </p:sp>
      <p:sp>
        <p:nvSpPr>
          <p:cNvPr id="15" name="Delay 14"/>
          <p:cNvSpPr/>
          <p:nvPr/>
        </p:nvSpPr>
        <p:spPr>
          <a:xfrm>
            <a:off x="4343400" y="52578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4038600" y="55626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038600" y="53340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038600" y="4876800"/>
            <a:ext cx="0" cy="1295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5" idx="3"/>
          </p:cNvCxnSpPr>
          <p:nvPr/>
        </p:nvCxnSpPr>
        <p:spPr>
          <a:xfrm>
            <a:off x="4724400" y="54483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elay 30"/>
          <p:cNvSpPr/>
          <p:nvPr/>
        </p:nvSpPr>
        <p:spPr>
          <a:xfrm>
            <a:off x="4343400" y="38862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3962400" y="3962400"/>
            <a:ext cx="501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31" idx="3"/>
          </p:cNvCxnSpPr>
          <p:nvPr/>
        </p:nvCxnSpPr>
        <p:spPr>
          <a:xfrm>
            <a:off x="4724400" y="40767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962400" y="41910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962400" y="3733800"/>
            <a:ext cx="0" cy="76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886200" y="38862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elay 41"/>
          <p:cNvSpPr/>
          <p:nvPr/>
        </p:nvSpPr>
        <p:spPr>
          <a:xfrm>
            <a:off x="4343400" y="43434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46" name="Straight Connector 45"/>
          <p:cNvCxnSpPr/>
          <p:nvPr/>
        </p:nvCxnSpPr>
        <p:spPr>
          <a:xfrm>
            <a:off x="3994517" y="4419600"/>
            <a:ext cx="501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918317" y="43434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>
            <a:off x="4724400" y="44958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elay 49"/>
          <p:cNvSpPr/>
          <p:nvPr/>
        </p:nvSpPr>
        <p:spPr>
          <a:xfrm>
            <a:off x="4343400" y="48006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60" name="Straight Connector 59"/>
          <p:cNvCxnSpPr/>
          <p:nvPr/>
        </p:nvCxnSpPr>
        <p:spPr>
          <a:xfrm>
            <a:off x="4038600" y="48768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962400" y="54864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3962400" y="48006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/>
          <p:cNvCxnSpPr/>
          <p:nvPr/>
        </p:nvCxnSpPr>
        <p:spPr>
          <a:xfrm>
            <a:off x="4724400" y="49530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34000" y="3886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Addr0: 1</a:t>
            </a:r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5334000" y="427886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Addr1: 1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5334000" y="4724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Addr2: </a:t>
            </a:r>
            <a:r>
              <a:rPr lang="en-US" dirty="0"/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34000" y="5181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Addr3: </a:t>
            </a:r>
            <a:r>
              <a:rPr lang="en-US" dirty="0"/>
              <a:t>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23000" y="3886200"/>
            <a:ext cx="152400" cy="1752600"/>
          </a:xfrm>
          <a:prstGeom prst="roundRect">
            <a:avLst/>
          </a:prstGeom>
          <a:solidFill>
            <a:schemeClr val="accent3">
              <a:alpha val="37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533400" y="41264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 smtClean="0"/>
              <a:t>0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533400" y="43550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49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Delay 93"/>
          <p:cNvSpPr/>
          <p:nvPr/>
        </p:nvSpPr>
        <p:spPr>
          <a:xfrm>
            <a:off x="5029200" y="4419600"/>
            <a:ext cx="381000" cy="381000"/>
          </a:xfrm>
          <a:prstGeom prst="flowChartDelay">
            <a:avLst/>
          </a:prstGeom>
          <a:solidFill>
            <a:schemeClr val="accent4">
              <a:alpha val="2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5" name="Delay 94"/>
          <p:cNvSpPr/>
          <p:nvPr/>
        </p:nvSpPr>
        <p:spPr>
          <a:xfrm>
            <a:off x="5029200" y="3048000"/>
            <a:ext cx="381000" cy="381000"/>
          </a:xfrm>
          <a:prstGeom prst="flowChartDelay">
            <a:avLst/>
          </a:prstGeom>
          <a:solidFill>
            <a:schemeClr val="accent4">
              <a:alpha val="2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6" name="Delay 95"/>
          <p:cNvSpPr/>
          <p:nvPr/>
        </p:nvSpPr>
        <p:spPr>
          <a:xfrm>
            <a:off x="5029200" y="3505200"/>
            <a:ext cx="381000" cy="381000"/>
          </a:xfrm>
          <a:prstGeom prst="flowChartDelay">
            <a:avLst/>
          </a:prstGeom>
          <a:solidFill>
            <a:schemeClr val="accent4">
              <a:alpha val="2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7" name="Delay 96"/>
          <p:cNvSpPr/>
          <p:nvPr/>
        </p:nvSpPr>
        <p:spPr>
          <a:xfrm>
            <a:off x="5029200" y="3962400"/>
            <a:ext cx="381000" cy="381000"/>
          </a:xfrm>
          <a:prstGeom prst="flowChartDelay">
            <a:avLst/>
          </a:prstGeom>
          <a:solidFill>
            <a:schemeClr val="accent4">
              <a:alpha val="2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82" name="Delay 81"/>
          <p:cNvSpPr/>
          <p:nvPr/>
        </p:nvSpPr>
        <p:spPr>
          <a:xfrm>
            <a:off x="4495800" y="4953000"/>
            <a:ext cx="381000" cy="381000"/>
          </a:xfrm>
          <a:prstGeom prst="flowChartDelay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84" name="Delay 83"/>
          <p:cNvSpPr/>
          <p:nvPr/>
        </p:nvSpPr>
        <p:spPr>
          <a:xfrm>
            <a:off x="4495800" y="3581400"/>
            <a:ext cx="381000" cy="381000"/>
          </a:xfrm>
          <a:prstGeom prst="flowChartDelay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86" name="Delay 85"/>
          <p:cNvSpPr/>
          <p:nvPr/>
        </p:nvSpPr>
        <p:spPr>
          <a:xfrm>
            <a:off x="4495800" y="4038600"/>
            <a:ext cx="381000" cy="381000"/>
          </a:xfrm>
          <a:prstGeom prst="flowChartDelay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88" name="Delay 87"/>
          <p:cNvSpPr/>
          <p:nvPr/>
        </p:nvSpPr>
        <p:spPr>
          <a:xfrm>
            <a:off x="4495800" y="4495800"/>
            <a:ext cx="381000" cy="381000"/>
          </a:xfrm>
          <a:prstGeom prst="flowChartDelay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228600"/>
            <a:ext cx="7024744" cy="1143000"/>
          </a:xfrm>
        </p:spPr>
        <p:txBody>
          <a:bodyPr/>
          <a:lstStyle/>
          <a:p>
            <a:r>
              <a:rPr lang="en-US" dirty="0" smtClean="0"/>
              <a:t>Want </a:t>
            </a:r>
            <a:r>
              <a:rPr lang="en-US" dirty="0"/>
              <a:t>M</a:t>
            </a:r>
            <a:r>
              <a:rPr lang="en-US" dirty="0" smtClean="0"/>
              <a:t>ore </a:t>
            </a:r>
            <a:r>
              <a:rPr lang="en-US" dirty="0"/>
              <a:t>T</a:t>
            </a:r>
            <a:r>
              <a:rPr lang="en-US" dirty="0" smtClean="0"/>
              <a:t>han 4x1 bit?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76400" y="4038600"/>
            <a:ext cx="1676400" cy="1447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2-4 Decoder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066800" y="44196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66800" y="46482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352800" y="41910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52800" y="4648200"/>
            <a:ext cx="1066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76600" y="5029200"/>
            <a:ext cx="1143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352800" y="53340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0" y="3429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Vcc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0" y="60198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Ground</a:t>
            </a:r>
            <a:endParaRPr lang="en-US" dirty="0"/>
          </a:p>
        </p:txBody>
      </p:sp>
      <p:sp>
        <p:nvSpPr>
          <p:cNvPr id="13" name="Delay 12"/>
          <p:cNvSpPr/>
          <p:nvPr/>
        </p:nvSpPr>
        <p:spPr>
          <a:xfrm>
            <a:off x="4343400" y="52578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4038600" y="55626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038600" y="53340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038600" y="4876800"/>
            <a:ext cx="0" cy="1295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3" idx="3"/>
          </p:cNvCxnSpPr>
          <p:nvPr/>
        </p:nvCxnSpPr>
        <p:spPr>
          <a:xfrm>
            <a:off x="4724400" y="54483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elay 17"/>
          <p:cNvSpPr/>
          <p:nvPr/>
        </p:nvSpPr>
        <p:spPr>
          <a:xfrm>
            <a:off x="4343400" y="38862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962400" y="3962400"/>
            <a:ext cx="501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8" idx="3"/>
          </p:cNvCxnSpPr>
          <p:nvPr/>
        </p:nvCxnSpPr>
        <p:spPr>
          <a:xfrm>
            <a:off x="4724400" y="40767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962400" y="41910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962400" y="3733800"/>
            <a:ext cx="0" cy="76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886200" y="38862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elay 23"/>
          <p:cNvSpPr/>
          <p:nvPr/>
        </p:nvSpPr>
        <p:spPr>
          <a:xfrm>
            <a:off x="4343400" y="43434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3994517" y="4419600"/>
            <a:ext cx="501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918317" y="43434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4724400" y="44958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elay 27"/>
          <p:cNvSpPr/>
          <p:nvPr/>
        </p:nvSpPr>
        <p:spPr>
          <a:xfrm>
            <a:off x="4343400" y="48006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4038600" y="48768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962400" y="54864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962400" y="48006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4724400" y="49530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34000" y="3886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334000" y="4267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334000" y="4724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334000" y="519326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37" name="Rounded Rectangle 36"/>
          <p:cNvSpPr/>
          <p:nvPr/>
        </p:nvSpPr>
        <p:spPr>
          <a:xfrm>
            <a:off x="5410200" y="3886200"/>
            <a:ext cx="152400" cy="1752600"/>
          </a:xfrm>
          <a:prstGeom prst="roundRect">
            <a:avLst/>
          </a:prstGeom>
          <a:solidFill>
            <a:schemeClr val="accent3">
              <a:alpha val="37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533400" y="41264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 smtClean="0"/>
              <a:t>0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33400" y="43550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5562600" y="3657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62600" y="4038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5562600" y="4495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62600" y="4953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71" name="Rounded Rectangle 70"/>
          <p:cNvSpPr/>
          <p:nvPr/>
        </p:nvSpPr>
        <p:spPr>
          <a:xfrm>
            <a:off x="5638800" y="3657600"/>
            <a:ext cx="152400" cy="1752600"/>
          </a:xfrm>
          <a:prstGeom prst="roundRect">
            <a:avLst/>
          </a:prstGeom>
          <a:solidFill>
            <a:schemeClr val="accent2">
              <a:alpha val="21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5791200" y="3352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791200" y="3733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791200" y="4191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91200" y="4648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67400" y="3352800"/>
            <a:ext cx="152400" cy="1752600"/>
          </a:xfrm>
          <a:prstGeom prst="roundRect">
            <a:avLst/>
          </a:prstGeom>
          <a:solidFill>
            <a:schemeClr val="accent6">
              <a:alpha val="28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6019800" y="3124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19800" y="3505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19800" y="3962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19800" y="4419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6000" y="3124200"/>
            <a:ext cx="152400" cy="1752600"/>
          </a:xfrm>
          <a:prstGeom prst="roundRect">
            <a:avLst/>
          </a:prstGeom>
          <a:solidFill>
            <a:schemeClr val="accent4">
              <a:alpha val="18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Delay 89"/>
          <p:cNvSpPr/>
          <p:nvPr/>
        </p:nvSpPr>
        <p:spPr>
          <a:xfrm>
            <a:off x="4724400" y="4648200"/>
            <a:ext cx="381000" cy="381000"/>
          </a:xfrm>
          <a:prstGeom prst="flowChartDelay">
            <a:avLst/>
          </a:prstGeom>
          <a:solidFill>
            <a:schemeClr val="accent5">
              <a:alpha val="13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1" name="Delay 90"/>
          <p:cNvSpPr/>
          <p:nvPr/>
        </p:nvSpPr>
        <p:spPr>
          <a:xfrm>
            <a:off x="4724400" y="3276600"/>
            <a:ext cx="381000" cy="381000"/>
          </a:xfrm>
          <a:prstGeom prst="flowChartDelay">
            <a:avLst/>
          </a:prstGeom>
          <a:solidFill>
            <a:schemeClr val="accent5">
              <a:alpha val="13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2" name="Delay 91"/>
          <p:cNvSpPr/>
          <p:nvPr/>
        </p:nvSpPr>
        <p:spPr>
          <a:xfrm>
            <a:off x="4724400" y="3733800"/>
            <a:ext cx="381000" cy="381000"/>
          </a:xfrm>
          <a:prstGeom prst="flowChartDelay">
            <a:avLst/>
          </a:prstGeom>
          <a:solidFill>
            <a:schemeClr val="accent5">
              <a:alpha val="13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3" name="Delay 92"/>
          <p:cNvSpPr/>
          <p:nvPr/>
        </p:nvSpPr>
        <p:spPr>
          <a:xfrm>
            <a:off x="4724400" y="4191000"/>
            <a:ext cx="381000" cy="381000"/>
          </a:xfrm>
          <a:prstGeom prst="flowChartDelay">
            <a:avLst/>
          </a:prstGeom>
          <a:solidFill>
            <a:schemeClr val="accent5">
              <a:alpha val="13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8" name="Rounded Rectangle 97"/>
          <p:cNvSpPr/>
          <p:nvPr/>
        </p:nvSpPr>
        <p:spPr>
          <a:xfrm rot="2311799">
            <a:off x="5763881" y="4154340"/>
            <a:ext cx="214313" cy="1676400"/>
          </a:xfrm>
          <a:prstGeom prst="roundRect">
            <a:avLst/>
          </a:prstGeom>
          <a:solidFill>
            <a:srgbClr val="9939D5">
              <a:alpha val="37000"/>
            </a:srgb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344702"/>
              </p:ext>
            </p:extLst>
          </p:nvPr>
        </p:nvGraphicFramePr>
        <p:xfrm>
          <a:off x="457200" y="1447800"/>
          <a:ext cx="381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0</a:t>
                      </a:r>
                      <a:r>
                        <a:rPr lang="en-US" baseline="0" dirty="0" smtClean="0"/>
                        <a:t>A</a:t>
                      </a:r>
                      <a:r>
                        <a:rPr lang="en-US" baseline="-25000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8D87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D3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>
                    <a:solidFill>
                      <a:srgbClr val="8D87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>
                    <a:solidFill>
                      <a:srgbClr val="8D87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>
                    <a:solidFill>
                      <a:srgbClr val="8D87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>
                    <a:solidFill>
                      <a:srgbClr val="8D87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3" name="Rounded Rectangle 82"/>
          <p:cNvSpPr/>
          <p:nvPr/>
        </p:nvSpPr>
        <p:spPr>
          <a:xfrm rot="5400000">
            <a:off x="2590800" y="1676403"/>
            <a:ext cx="228600" cy="2819400"/>
          </a:xfrm>
          <a:prstGeom prst="roundRect">
            <a:avLst/>
          </a:prstGeom>
          <a:solidFill>
            <a:srgbClr val="9939D5">
              <a:alpha val="37000"/>
            </a:srgb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3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Straight Connector 103"/>
          <p:cNvCxnSpPr/>
          <p:nvPr/>
        </p:nvCxnSpPr>
        <p:spPr>
          <a:xfrm>
            <a:off x="5397500" y="4610100"/>
            <a:ext cx="533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5397500" y="3238500"/>
            <a:ext cx="533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5397500" y="3683000"/>
            <a:ext cx="1651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5397500" y="4114800"/>
            <a:ext cx="533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4" name="Delay 93"/>
          <p:cNvSpPr/>
          <p:nvPr/>
        </p:nvSpPr>
        <p:spPr>
          <a:xfrm>
            <a:off x="5029200" y="4419600"/>
            <a:ext cx="381000" cy="381000"/>
          </a:xfrm>
          <a:prstGeom prst="flowChartDelay">
            <a:avLst/>
          </a:prstGeom>
          <a:solidFill>
            <a:schemeClr val="accent4">
              <a:alpha val="2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5" name="Delay 94"/>
          <p:cNvSpPr/>
          <p:nvPr/>
        </p:nvSpPr>
        <p:spPr>
          <a:xfrm>
            <a:off x="5029200" y="3048000"/>
            <a:ext cx="381000" cy="381000"/>
          </a:xfrm>
          <a:prstGeom prst="flowChartDelay">
            <a:avLst/>
          </a:prstGeom>
          <a:solidFill>
            <a:schemeClr val="accent4">
              <a:alpha val="2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6" name="Delay 95"/>
          <p:cNvSpPr/>
          <p:nvPr/>
        </p:nvSpPr>
        <p:spPr>
          <a:xfrm>
            <a:off x="5029200" y="3505200"/>
            <a:ext cx="381000" cy="381000"/>
          </a:xfrm>
          <a:prstGeom prst="flowChartDelay">
            <a:avLst/>
          </a:prstGeom>
          <a:solidFill>
            <a:schemeClr val="accent4">
              <a:alpha val="2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7" name="Delay 96"/>
          <p:cNvSpPr/>
          <p:nvPr/>
        </p:nvSpPr>
        <p:spPr>
          <a:xfrm>
            <a:off x="5029200" y="3962400"/>
            <a:ext cx="381000" cy="381000"/>
          </a:xfrm>
          <a:prstGeom prst="flowChartDelay">
            <a:avLst/>
          </a:prstGeom>
          <a:solidFill>
            <a:schemeClr val="accent4">
              <a:alpha val="2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82" name="Delay 81"/>
          <p:cNvSpPr/>
          <p:nvPr/>
        </p:nvSpPr>
        <p:spPr>
          <a:xfrm>
            <a:off x="4495800" y="4953000"/>
            <a:ext cx="381000" cy="381000"/>
          </a:xfrm>
          <a:prstGeom prst="flowChartDelay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84" name="Delay 83"/>
          <p:cNvSpPr/>
          <p:nvPr/>
        </p:nvSpPr>
        <p:spPr>
          <a:xfrm>
            <a:off x="4495800" y="3581400"/>
            <a:ext cx="381000" cy="381000"/>
          </a:xfrm>
          <a:prstGeom prst="flowChartDelay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86" name="Delay 85"/>
          <p:cNvSpPr/>
          <p:nvPr/>
        </p:nvSpPr>
        <p:spPr>
          <a:xfrm>
            <a:off x="4495800" y="4038600"/>
            <a:ext cx="381000" cy="381000"/>
          </a:xfrm>
          <a:prstGeom prst="flowChartDelay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88" name="Delay 87"/>
          <p:cNvSpPr/>
          <p:nvPr/>
        </p:nvSpPr>
        <p:spPr>
          <a:xfrm>
            <a:off x="4495800" y="4495800"/>
            <a:ext cx="381000" cy="381000"/>
          </a:xfrm>
          <a:prstGeom prst="flowChartDelay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78475"/>
            <a:ext cx="7024744" cy="1143000"/>
          </a:xfrm>
        </p:spPr>
        <p:txBody>
          <a:bodyPr/>
          <a:lstStyle/>
          <a:p>
            <a:r>
              <a:rPr lang="en-US" dirty="0" smtClean="0"/>
              <a:t>Want More </a:t>
            </a:r>
            <a:r>
              <a:rPr lang="en-US" dirty="0"/>
              <a:t>T</a:t>
            </a:r>
            <a:r>
              <a:rPr lang="en-US" dirty="0" smtClean="0"/>
              <a:t>han 4x1 bit?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76400" y="4038600"/>
            <a:ext cx="1676400" cy="1447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2-4 Decoder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066800" y="44196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66800" y="46482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352800" y="41910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52800" y="4648200"/>
            <a:ext cx="1066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76600" y="5029200"/>
            <a:ext cx="1143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352800" y="53340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0" y="3429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Vcc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0" y="60198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Ground</a:t>
            </a:r>
            <a:endParaRPr lang="en-US" dirty="0"/>
          </a:p>
        </p:txBody>
      </p:sp>
      <p:sp>
        <p:nvSpPr>
          <p:cNvPr id="13" name="Delay 12"/>
          <p:cNvSpPr/>
          <p:nvPr/>
        </p:nvSpPr>
        <p:spPr>
          <a:xfrm>
            <a:off x="4343400" y="52578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4038600" y="55626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038600" y="53340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038600" y="4876800"/>
            <a:ext cx="0" cy="1295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3" idx="3"/>
          </p:cNvCxnSpPr>
          <p:nvPr/>
        </p:nvCxnSpPr>
        <p:spPr>
          <a:xfrm>
            <a:off x="4724400" y="54483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elay 17"/>
          <p:cNvSpPr/>
          <p:nvPr/>
        </p:nvSpPr>
        <p:spPr>
          <a:xfrm>
            <a:off x="4343400" y="38862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962400" y="3962400"/>
            <a:ext cx="501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8" idx="3"/>
          </p:cNvCxnSpPr>
          <p:nvPr/>
        </p:nvCxnSpPr>
        <p:spPr>
          <a:xfrm>
            <a:off x="4724400" y="40767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962400" y="41910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962400" y="3733800"/>
            <a:ext cx="0" cy="76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886200" y="38862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elay 23"/>
          <p:cNvSpPr/>
          <p:nvPr/>
        </p:nvSpPr>
        <p:spPr>
          <a:xfrm>
            <a:off x="4343400" y="43434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3994517" y="4419600"/>
            <a:ext cx="501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918317" y="43434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4724400" y="44958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elay 27"/>
          <p:cNvSpPr/>
          <p:nvPr/>
        </p:nvSpPr>
        <p:spPr>
          <a:xfrm>
            <a:off x="4343400" y="4800600"/>
            <a:ext cx="381000" cy="381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4038600" y="4876800"/>
            <a:ext cx="425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962400" y="54864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962400" y="48006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4724400" y="49530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34000" y="3886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334000" y="4267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334000" y="4724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334000" y="519326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33400" y="41264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 smtClean="0"/>
              <a:t>0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33400" y="43550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5562600" y="3657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62600" y="4038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5562600" y="4495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62600" y="4953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5791200" y="3352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791200" y="3733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791200" y="4191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91200" y="4648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19800" y="3124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19800" y="3505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19800" y="3962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19800" y="4419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0" name="Delay 89"/>
          <p:cNvSpPr/>
          <p:nvPr/>
        </p:nvSpPr>
        <p:spPr>
          <a:xfrm>
            <a:off x="4724400" y="4648200"/>
            <a:ext cx="381000" cy="381000"/>
          </a:xfrm>
          <a:prstGeom prst="flowChartDelay">
            <a:avLst/>
          </a:prstGeom>
          <a:solidFill>
            <a:schemeClr val="accent5">
              <a:alpha val="13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1" name="Delay 90"/>
          <p:cNvSpPr/>
          <p:nvPr/>
        </p:nvSpPr>
        <p:spPr>
          <a:xfrm>
            <a:off x="4724400" y="3276600"/>
            <a:ext cx="381000" cy="381000"/>
          </a:xfrm>
          <a:prstGeom prst="flowChartDelay">
            <a:avLst/>
          </a:prstGeom>
          <a:solidFill>
            <a:schemeClr val="accent5">
              <a:alpha val="13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2" name="Delay 91"/>
          <p:cNvSpPr/>
          <p:nvPr/>
        </p:nvSpPr>
        <p:spPr>
          <a:xfrm>
            <a:off x="4724400" y="3733800"/>
            <a:ext cx="381000" cy="381000"/>
          </a:xfrm>
          <a:prstGeom prst="flowChartDelay">
            <a:avLst/>
          </a:prstGeom>
          <a:solidFill>
            <a:schemeClr val="accent5">
              <a:alpha val="13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3" name="Delay 92"/>
          <p:cNvSpPr/>
          <p:nvPr/>
        </p:nvSpPr>
        <p:spPr>
          <a:xfrm>
            <a:off x="4724400" y="4191000"/>
            <a:ext cx="381000" cy="381000"/>
          </a:xfrm>
          <a:prstGeom prst="flowChartDelay">
            <a:avLst/>
          </a:prstGeom>
          <a:solidFill>
            <a:schemeClr val="accent5">
              <a:alpha val="13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8" name="Rounded Rectangle 97"/>
          <p:cNvSpPr/>
          <p:nvPr/>
        </p:nvSpPr>
        <p:spPr>
          <a:xfrm rot="2311799">
            <a:off x="5763881" y="4154340"/>
            <a:ext cx="214313" cy="1676400"/>
          </a:xfrm>
          <a:prstGeom prst="roundRect">
            <a:avLst/>
          </a:prstGeom>
          <a:solidFill>
            <a:srgbClr val="9939D5">
              <a:alpha val="37000"/>
            </a:srgb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457200" y="1245275"/>
            <a:ext cx="8305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Add more AND gates and wire them to ground or current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We now have a </a:t>
            </a:r>
            <a:r>
              <a:rPr lang="en-US" b="1" i="1" dirty="0" smtClean="0">
                <a:solidFill>
                  <a:srgbClr val="0000FF"/>
                </a:solidFill>
              </a:rPr>
              <a:t>decoder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/>
              <a:t>that picks one of 4 addressable locations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Where each slot is now 4 bits rather than just one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4x1 -&gt; 4x4 memory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In fact, given the starting 1-bit ROM we could just copy that whole piece to produce 4x4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We’ll see this recursively! </a:t>
            </a:r>
            <a:endParaRPr lang="en-US" dirty="0"/>
          </a:p>
        </p:txBody>
      </p:sp>
      <p:cxnSp>
        <p:nvCxnSpPr>
          <p:cNvPr id="83" name="Straight Connector 82"/>
          <p:cNvCxnSpPr/>
          <p:nvPr/>
        </p:nvCxnSpPr>
        <p:spPr>
          <a:xfrm>
            <a:off x="4876800" y="5181600"/>
            <a:ext cx="5334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876800" y="3810000"/>
            <a:ext cx="5334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876800" y="4229100"/>
            <a:ext cx="5334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4876800" y="4686300"/>
            <a:ext cx="5334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5105400" y="4838700"/>
            <a:ext cx="5334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5105400" y="3467100"/>
            <a:ext cx="5334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5105400" y="3886200"/>
            <a:ext cx="5334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5105400" y="4343400"/>
            <a:ext cx="5334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410200" y="3886200"/>
            <a:ext cx="152400" cy="1752600"/>
          </a:xfrm>
          <a:prstGeom prst="roundRect">
            <a:avLst/>
          </a:prstGeom>
          <a:solidFill>
            <a:schemeClr val="accent3">
              <a:alpha val="37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5638800" y="3657600"/>
            <a:ext cx="152400" cy="1752600"/>
          </a:xfrm>
          <a:prstGeom prst="roundRect">
            <a:avLst/>
          </a:prstGeom>
          <a:solidFill>
            <a:schemeClr val="accent2">
              <a:alpha val="21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/>
          <p:cNvSpPr/>
          <p:nvPr/>
        </p:nvSpPr>
        <p:spPr>
          <a:xfrm>
            <a:off x="5867400" y="3352800"/>
            <a:ext cx="152400" cy="1752600"/>
          </a:xfrm>
          <a:prstGeom prst="roundRect">
            <a:avLst/>
          </a:prstGeom>
          <a:solidFill>
            <a:schemeClr val="accent6">
              <a:alpha val="28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ed Rectangle 80"/>
          <p:cNvSpPr/>
          <p:nvPr/>
        </p:nvSpPr>
        <p:spPr>
          <a:xfrm>
            <a:off x="6096000" y="3124200"/>
            <a:ext cx="152400" cy="1752600"/>
          </a:xfrm>
          <a:prstGeom prst="roundRect">
            <a:avLst/>
          </a:prstGeom>
          <a:solidFill>
            <a:schemeClr val="accent4">
              <a:alpha val="18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37724" y="6502016"/>
            <a:ext cx="4306276" cy="3559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Punchline</a:t>
            </a:r>
            <a:r>
              <a:rPr lang="en-US" dirty="0" smtClean="0"/>
              <a:t>: Memory is just a Decoder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533400"/>
            <a:ext cx="7024744" cy="16734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Soft END:</a:t>
            </a:r>
            <a:br>
              <a:rPr lang="en-US" dirty="0" smtClean="0"/>
            </a:br>
            <a:r>
              <a:rPr lang="en-US" dirty="0" smtClean="0"/>
              <a:t>Exercise2 &amp; </a:t>
            </a:r>
            <a:br>
              <a:rPr lang="en-US" dirty="0" smtClean="0"/>
            </a:br>
            <a:r>
              <a:rPr lang="en-US" dirty="0" smtClean="0"/>
              <a:t>Great Book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See Exercise2.docx for more practice</a:t>
            </a:r>
          </a:p>
          <a:p>
            <a:pPr lvl="1"/>
            <a:r>
              <a:rPr lang="en-US" dirty="0" smtClean="0"/>
              <a:t>But it’s not enough</a:t>
            </a:r>
          </a:p>
          <a:p>
            <a:r>
              <a:rPr lang="en-US" dirty="0" smtClean="0"/>
              <a:t>Null</a:t>
            </a:r>
          </a:p>
          <a:p>
            <a:pPr lvl="1"/>
            <a:r>
              <a:rPr lang="en-US" dirty="0" smtClean="0"/>
              <a:t>Boolean Algebra </a:t>
            </a:r>
          </a:p>
          <a:p>
            <a:pPr lvl="2"/>
            <a:r>
              <a:rPr lang="en-US" dirty="0" smtClean="0"/>
              <a:t>3.2.3 Examples through 3.6</a:t>
            </a:r>
          </a:p>
          <a:p>
            <a:pPr lvl="1"/>
            <a:r>
              <a:rPr lang="en-US" dirty="0" smtClean="0"/>
              <a:t>K-Maps 3A2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1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PLAs and PALs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323652"/>
            <a:ext cx="8458200" cy="3508977"/>
          </a:xfrm>
        </p:spPr>
        <p:txBody>
          <a:bodyPr>
            <a:normAutofit/>
          </a:bodyPr>
          <a:lstStyle/>
          <a:p>
            <a:r>
              <a:rPr lang="en-US" dirty="0" smtClean="0"/>
              <a:t>PLA structure is fixed upon creation</a:t>
            </a:r>
          </a:p>
          <a:p>
            <a:r>
              <a:rPr lang="en-US" dirty="0" smtClean="0"/>
              <a:t>PALS can be programmed electronically when in use</a:t>
            </a:r>
          </a:p>
          <a:p>
            <a:pPr lvl="1"/>
            <a:r>
              <a:rPr lang="en-US" dirty="0" smtClean="0"/>
              <a:t>Amenable to dynamic configuration </a:t>
            </a:r>
          </a:p>
          <a:p>
            <a:r>
              <a:rPr lang="en-US" dirty="0" smtClean="0"/>
              <a:t>Both require algorithms specified in SOP or POS form</a:t>
            </a:r>
          </a:p>
          <a:p>
            <a:pPr lvl="1"/>
            <a:r>
              <a:rPr lang="en-US" dirty="0" smtClean="0"/>
              <a:t>Then one level of the array could be NANDS or ANDs	</a:t>
            </a:r>
          </a:p>
          <a:p>
            <a:pPr lvl="2"/>
            <a:r>
              <a:rPr lang="en-US" dirty="0" smtClean="0"/>
              <a:t>And the other level NORs or 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18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3"/>
          <p:cNvSpPr txBox="1">
            <a:spLocks/>
          </p:cNvSpPr>
          <p:nvPr/>
        </p:nvSpPr>
        <p:spPr bwMode="auto">
          <a:xfrm>
            <a:off x="609600" y="1143000"/>
            <a:ext cx="82296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1800" b="1" dirty="0" smtClean="0"/>
              <a:t>How to express as “product-of-sums”?</a:t>
            </a:r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US" altLang="ko-KR" sz="1800" dirty="0" smtClean="0"/>
              <a:t> </a:t>
            </a:r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US" altLang="ko-KR" sz="1800" dirty="0" smtClean="0"/>
              <a:t>(hint: Use </a:t>
            </a:r>
            <a:r>
              <a:rPr lang="en-US" altLang="ko-KR" sz="1800" dirty="0" err="1" smtClean="0"/>
              <a:t>DeMorgan</a:t>
            </a:r>
            <a:r>
              <a:rPr lang="en-US" altLang="ko-KR" sz="1800" dirty="0" smtClean="0"/>
              <a:t> law)</a:t>
            </a:r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endParaRPr lang="en-US" altLang="ko-KR" sz="1800" dirty="0" smtClean="0"/>
          </a:p>
          <a:p>
            <a:pPr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ko-KR" sz="1800" dirty="0" smtClean="0"/>
              <a:t>Express the negation of output as sum of products terms.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r>
              <a:rPr lang="en-US" altLang="ko-KR" sz="1800" dirty="0" smtClean="0"/>
              <a:t>Suppose the output is F. Let’s get ~F as sum of product term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endParaRPr lang="en-US" altLang="ko-KR" sz="1800" dirty="0" smtClean="0"/>
          </a:p>
          <a:p>
            <a:pPr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ko-KR" sz="1800" dirty="0" smtClean="0"/>
              <a:t>Then F = ~(~F): So, by </a:t>
            </a:r>
            <a:r>
              <a:rPr lang="en-US" altLang="ko-KR" sz="1800" dirty="0" err="1" smtClean="0"/>
              <a:t>DeMorgan’s</a:t>
            </a:r>
            <a:r>
              <a:rPr lang="en-US" altLang="ko-KR" sz="1800" dirty="0" smtClean="0"/>
              <a:t> law, product becomes sum, sum becomes product</a:t>
            </a:r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endParaRPr lang="en-US" altLang="ko-KR" sz="1800" dirty="0"/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US" altLang="ko-KR" sz="1800" dirty="0" smtClean="0"/>
              <a:t>Example) If ~F = ~AD + AB~D + AC~D, </a:t>
            </a:r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US" altLang="ko-KR" sz="1800" dirty="0"/>
              <a:t>	</a:t>
            </a:r>
            <a:endParaRPr lang="en-US" altLang="ko-KR" sz="1800" dirty="0" smtClean="0"/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then F = ~(~F) = ~(~AD+AB~D+AC~D)</a:t>
            </a:r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			   = ~(~AD) ~(AB~D) ~(AC~D) </a:t>
            </a:r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	                        = (A+~D) (~A+~B+D) (~A ~C D)</a:t>
            </a:r>
          </a:p>
          <a:p>
            <a:pPr>
              <a:lnSpc>
                <a:spcPct val="80000"/>
              </a:lnSpc>
              <a:defRPr/>
            </a:pPr>
            <a:endParaRPr lang="en-US" altLang="ko-KR" sz="1800" dirty="0" smtClean="0"/>
          </a:p>
          <a:p>
            <a:pPr>
              <a:lnSpc>
                <a:spcPct val="80000"/>
              </a:lnSpc>
              <a:defRPr/>
            </a:pPr>
            <a:endParaRPr lang="en-US" altLang="ko-KR" sz="1800" dirty="0" smtClean="0"/>
          </a:p>
          <a:p>
            <a:pPr>
              <a:lnSpc>
                <a:spcPct val="80000"/>
              </a:lnSpc>
              <a:buFont typeface="Arial" pitchFamily="34" charset="0"/>
              <a:buNone/>
              <a:defRPr/>
            </a:pPr>
            <a:endParaRPr lang="en-US" altLang="ko-KR" sz="18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38200"/>
          </a:xfrm>
        </p:spPr>
        <p:txBody>
          <a:bodyPr/>
          <a:lstStyle/>
          <a:p>
            <a:r>
              <a:rPr lang="en-US" dirty="0" smtClean="0">
                <a:solidFill>
                  <a:srgbClr val="660066"/>
                </a:solidFill>
              </a:rPr>
              <a:t>Product of Sums</a:t>
            </a:r>
          </a:p>
        </p:txBody>
      </p:sp>
    </p:spTree>
    <p:extLst>
      <p:ext uri="{BB962C8B-B14F-4D97-AF65-F5344CB8AC3E}">
        <p14:creationId xmlns:p14="http://schemas.microsoft.com/office/powerpoint/2010/main" val="3860293378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3"/>
          <p:cNvSpPr txBox="1">
            <a:spLocks/>
          </p:cNvSpPr>
          <p:nvPr/>
        </p:nvSpPr>
        <p:spPr bwMode="auto">
          <a:xfrm>
            <a:off x="555941" y="4006851"/>
            <a:ext cx="508635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1800" dirty="0" smtClean="0"/>
              <a:t>To express F as a product-of-sums, read ~F as a sum-of-product using K-maps (read only the 0’s)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ko-KR" sz="1800" dirty="0" smtClean="0"/>
              <a:t>     ~F = ~A~D + AD + A~B~C</a:t>
            </a:r>
          </a:p>
          <a:p>
            <a:pPr>
              <a:lnSpc>
                <a:spcPct val="80000"/>
              </a:lnSpc>
              <a:defRPr/>
            </a:pPr>
            <a:r>
              <a:rPr lang="en-US" altLang="ko-KR" sz="1800" dirty="0" smtClean="0"/>
              <a:t>Now take the negation of ~F to obtain F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ko-KR" sz="1800" dirty="0" smtClean="0"/>
          </a:p>
          <a:p>
            <a:pPr>
              <a:lnSpc>
                <a:spcPct val="80000"/>
              </a:lnSpc>
              <a:defRPr/>
            </a:pPr>
            <a:endParaRPr lang="en-US" altLang="ko-KR" sz="1800" dirty="0" smtClean="0"/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ko-KR" sz="1800" dirty="0" smtClean="0"/>
          </a:p>
          <a:p>
            <a:pPr>
              <a:lnSpc>
                <a:spcPct val="80000"/>
              </a:lnSpc>
              <a:defRPr/>
            </a:pPr>
            <a:r>
              <a:rPr lang="en-US" altLang="ko-KR" sz="1800" dirty="0" smtClean="0"/>
              <a:t>Can you prove algebraically?</a:t>
            </a:r>
          </a:p>
          <a:p>
            <a:pPr>
              <a:lnSpc>
                <a:spcPct val="80000"/>
              </a:lnSpc>
              <a:buFont typeface="Arial" pitchFamily="34" charset="0"/>
              <a:buNone/>
              <a:defRPr/>
            </a:pPr>
            <a:endParaRPr lang="en-US" altLang="ko-KR" sz="1800" dirty="0" smtClean="0"/>
          </a:p>
        </p:txBody>
      </p:sp>
      <p:sp>
        <p:nvSpPr>
          <p:cNvPr id="21507" name="Text Box 107"/>
          <p:cNvSpPr txBox="1">
            <a:spLocks noChangeArrowheads="1"/>
          </p:cNvSpPr>
          <p:nvPr/>
        </p:nvSpPr>
        <p:spPr bwMode="auto">
          <a:xfrm>
            <a:off x="1309688" y="1447800"/>
            <a:ext cx="2232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 dirty="0">
                <a:latin typeface="Courier New" pitchFamily="49" charset="0"/>
              </a:rPr>
              <a:t>AB  </a:t>
            </a:r>
            <a:r>
              <a:rPr lang="en-US" sz="1800" b="1" dirty="0" err="1">
                <a:latin typeface="Courier New" pitchFamily="49" charset="0"/>
              </a:rPr>
              <a:t>AB</a:t>
            </a:r>
            <a:r>
              <a:rPr lang="en-US" sz="1800" b="1" dirty="0">
                <a:latin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</a:rPr>
              <a:t>AB</a:t>
            </a:r>
            <a:r>
              <a:rPr lang="en-US" sz="1800" b="1" dirty="0">
                <a:latin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</a:rPr>
              <a:t>AB</a:t>
            </a:r>
            <a:r>
              <a:rPr lang="en-US" sz="1800" b="1" dirty="0">
                <a:latin typeface="Courier New" pitchFamily="49" charset="0"/>
              </a:rPr>
              <a:t> </a:t>
            </a:r>
          </a:p>
        </p:txBody>
      </p:sp>
      <p:sp>
        <p:nvSpPr>
          <p:cNvPr id="21508" name="Text Box 108"/>
          <p:cNvSpPr txBox="1">
            <a:spLocks noChangeArrowheads="1"/>
          </p:cNvSpPr>
          <p:nvPr/>
        </p:nvSpPr>
        <p:spPr bwMode="auto">
          <a:xfrm>
            <a:off x="760413" y="1965325"/>
            <a:ext cx="457200" cy="172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>
                <a:latin typeface="Courier New" pitchFamily="49" charset="0"/>
              </a:rPr>
              <a:t>CD</a:t>
            </a:r>
          </a:p>
        </p:txBody>
      </p:sp>
      <p:sp>
        <p:nvSpPr>
          <p:cNvPr id="21509" name="Line 109"/>
          <p:cNvSpPr>
            <a:spLocks noChangeShapeType="1"/>
          </p:cNvSpPr>
          <p:nvPr/>
        </p:nvSpPr>
        <p:spPr bwMode="auto">
          <a:xfrm>
            <a:off x="854075" y="2454275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Line 110"/>
          <p:cNvSpPr>
            <a:spLocks noChangeShapeType="1"/>
          </p:cNvSpPr>
          <p:nvPr/>
        </p:nvSpPr>
        <p:spPr bwMode="auto">
          <a:xfrm>
            <a:off x="1006475" y="20066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Line 111"/>
          <p:cNvSpPr>
            <a:spLocks noChangeShapeType="1"/>
          </p:cNvSpPr>
          <p:nvPr/>
        </p:nvSpPr>
        <p:spPr bwMode="auto">
          <a:xfrm>
            <a:off x="835025" y="20066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Line 112"/>
          <p:cNvSpPr>
            <a:spLocks noChangeShapeType="1"/>
          </p:cNvSpPr>
          <p:nvPr/>
        </p:nvSpPr>
        <p:spPr bwMode="auto">
          <a:xfrm>
            <a:off x="3159125" y="15113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113"/>
          <p:cNvSpPr>
            <a:spLocks noChangeShapeType="1"/>
          </p:cNvSpPr>
          <p:nvPr/>
        </p:nvSpPr>
        <p:spPr bwMode="auto">
          <a:xfrm>
            <a:off x="1930400" y="15113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4" name="Line 114"/>
          <p:cNvSpPr>
            <a:spLocks noChangeShapeType="1"/>
          </p:cNvSpPr>
          <p:nvPr/>
        </p:nvSpPr>
        <p:spPr bwMode="auto">
          <a:xfrm>
            <a:off x="1558925" y="15113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Line 115"/>
          <p:cNvSpPr>
            <a:spLocks noChangeShapeType="1"/>
          </p:cNvSpPr>
          <p:nvPr/>
        </p:nvSpPr>
        <p:spPr bwMode="auto">
          <a:xfrm>
            <a:off x="1387475" y="15113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16"/>
          <p:cNvSpPr>
            <a:spLocks noChangeShapeType="1"/>
          </p:cNvSpPr>
          <p:nvPr/>
        </p:nvSpPr>
        <p:spPr bwMode="auto">
          <a:xfrm>
            <a:off x="977900" y="339725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517" name="Group 117"/>
          <p:cNvGrpSpPr>
            <a:grpSpLocks/>
          </p:cNvGrpSpPr>
          <p:nvPr/>
        </p:nvGrpSpPr>
        <p:grpSpPr bwMode="auto">
          <a:xfrm>
            <a:off x="1293813" y="1785938"/>
            <a:ext cx="2133600" cy="1981200"/>
            <a:chOff x="3264" y="2352"/>
            <a:chExt cx="1152" cy="1152"/>
          </a:xfrm>
        </p:grpSpPr>
        <p:sp>
          <p:nvSpPr>
            <p:cNvPr id="21528" name="Rectangle 118"/>
            <p:cNvSpPr>
              <a:spLocks noChangeArrowheads="1"/>
            </p:cNvSpPr>
            <p:nvPr/>
          </p:nvSpPr>
          <p:spPr bwMode="auto">
            <a:xfrm>
              <a:off x="3264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29" name="Rectangle 119"/>
            <p:cNvSpPr>
              <a:spLocks noChangeArrowheads="1"/>
            </p:cNvSpPr>
            <p:nvPr/>
          </p:nvSpPr>
          <p:spPr bwMode="auto">
            <a:xfrm>
              <a:off x="3552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0" name="Rectangle 120"/>
            <p:cNvSpPr>
              <a:spLocks noChangeArrowheads="1"/>
            </p:cNvSpPr>
            <p:nvPr/>
          </p:nvSpPr>
          <p:spPr bwMode="auto">
            <a:xfrm>
              <a:off x="3840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1" name="Rectangle 121"/>
            <p:cNvSpPr>
              <a:spLocks noChangeArrowheads="1"/>
            </p:cNvSpPr>
            <p:nvPr/>
          </p:nvSpPr>
          <p:spPr bwMode="auto">
            <a:xfrm>
              <a:off x="4128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2" name="Rectangle 122"/>
            <p:cNvSpPr>
              <a:spLocks noChangeArrowheads="1"/>
            </p:cNvSpPr>
            <p:nvPr/>
          </p:nvSpPr>
          <p:spPr bwMode="auto">
            <a:xfrm>
              <a:off x="3264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3" name="Rectangle 123"/>
            <p:cNvSpPr>
              <a:spLocks noChangeArrowheads="1"/>
            </p:cNvSpPr>
            <p:nvPr/>
          </p:nvSpPr>
          <p:spPr bwMode="auto">
            <a:xfrm>
              <a:off x="3552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4" name="Rectangle 124"/>
            <p:cNvSpPr>
              <a:spLocks noChangeArrowheads="1"/>
            </p:cNvSpPr>
            <p:nvPr/>
          </p:nvSpPr>
          <p:spPr bwMode="auto">
            <a:xfrm>
              <a:off x="3840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5" name="Rectangle 125"/>
            <p:cNvSpPr>
              <a:spLocks noChangeArrowheads="1"/>
            </p:cNvSpPr>
            <p:nvPr/>
          </p:nvSpPr>
          <p:spPr bwMode="auto">
            <a:xfrm>
              <a:off x="4128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6" name="Rectangle 126"/>
            <p:cNvSpPr>
              <a:spLocks noChangeArrowheads="1"/>
            </p:cNvSpPr>
            <p:nvPr/>
          </p:nvSpPr>
          <p:spPr bwMode="auto">
            <a:xfrm>
              <a:off x="3264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7" name="Rectangle 127"/>
            <p:cNvSpPr>
              <a:spLocks noChangeArrowheads="1"/>
            </p:cNvSpPr>
            <p:nvPr/>
          </p:nvSpPr>
          <p:spPr bwMode="auto">
            <a:xfrm>
              <a:off x="3552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8" name="Rectangle 128"/>
            <p:cNvSpPr>
              <a:spLocks noChangeArrowheads="1"/>
            </p:cNvSpPr>
            <p:nvPr/>
          </p:nvSpPr>
          <p:spPr bwMode="auto">
            <a:xfrm>
              <a:off x="3840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39" name="Rectangle 129"/>
            <p:cNvSpPr>
              <a:spLocks noChangeArrowheads="1"/>
            </p:cNvSpPr>
            <p:nvPr/>
          </p:nvSpPr>
          <p:spPr bwMode="auto">
            <a:xfrm>
              <a:off x="4128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40" name="Rectangle 130"/>
            <p:cNvSpPr>
              <a:spLocks noChangeArrowheads="1"/>
            </p:cNvSpPr>
            <p:nvPr/>
          </p:nvSpPr>
          <p:spPr bwMode="auto">
            <a:xfrm>
              <a:off x="3264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41" name="Rectangle 131"/>
            <p:cNvSpPr>
              <a:spLocks noChangeArrowheads="1"/>
            </p:cNvSpPr>
            <p:nvPr/>
          </p:nvSpPr>
          <p:spPr bwMode="auto">
            <a:xfrm>
              <a:off x="3552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42" name="Rectangle 132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21543" name="Rectangle 133"/>
            <p:cNvSpPr>
              <a:spLocks noChangeArrowheads="1"/>
            </p:cNvSpPr>
            <p:nvPr/>
          </p:nvSpPr>
          <p:spPr bwMode="auto">
            <a:xfrm>
              <a:off x="4128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</p:grpSp>
      <p:sp>
        <p:nvSpPr>
          <p:cNvPr id="21518" name="Text Box 134"/>
          <p:cNvSpPr txBox="1">
            <a:spLocks noChangeArrowheads="1"/>
          </p:cNvSpPr>
          <p:nvPr/>
        </p:nvSpPr>
        <p:spPr bwMode="auto">
          <a:xfrm>
            <a:off x="1370013" y="2319338"/>
            <a:ext cx="866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>
                <a:latin typeface="Courier New" pitchFamily="49" charset="0"/>
              </a:rPr>
              <a:t>1   1</a:t>
            </a:r>
          </a:p>
        </p:txBody>
      </p:sp>
      <p:sp>
        <p:nvSpPr>
          <p:cNvPr id="21519" name="Text Box 135"/>
          <p:cNvSpPr txBox="1">
            <a:spLocks noChangeArrowheads="1"/>
          </p:cNvSpPr>
          <p:nvPr/>
        </p:nvSpPr>
        <p:spPr bwMode="auto">
          <a:xfrm>
            <a:off x="1370013" y="2790825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>
                <a:latin typeface="Courier New" pitchFamily="49" charset="0"/>
              </a:rPr>
              <a:t>1   1</a:t>
            </a:r>
          </a:p>
        </p:txBody>
      </p:sp>
      <p:sp>
        <p:nvSpPr>
          <p:cNvPr id="21520" name="Text Box 136"/>
          <p:cNvSpPr txBox="1">
            <a:spLocks noChangeArrowheads="1"/>
          </p:cNvSpPr>
          <p:nvPr/>
        </p:nvSpPr>
        <p:spPr bwMode="auto">
          <a:xfrm>
            <a:off x="2484438" y="3348038"/>
            <a:ext cx="866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>
                <a:latin typeface="Courier New" pitchFamily="49" charset="0"/>
              </a:rPr>
              <a:t>1   1</a:t>
            </a:r>
          </a:p>
        </p:txBody>
      </p:sp>
      <p:sp>
        <p:nvSpPr>
          <p:cNvPr id="21521" name="Text Box 137"/>
          <p:cNvSpPr txBox="1">
            <a:spLocks noChangeArrowheads="1"/>
          </p:cNvSpPr>
          <p:nvPr/>
        </p:nvSpPr>
        <p:spPr bwMode="auto">
          <a:xfrm>
            <a:off x="2462213" y="1843088"/>
            <a:ext cx="320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>
                <a:latin typeface="Courier New" pitchFamily="49" charset="0"/>
              </a:rPr>
              <a:t>1</a:t>
            </a:r>
          </a:p>
        </p:txBody>
      </p:sp>
      <p:sp>
        <p:nvSpPr>
          <p:cNvPr id="21522" name="Rectangle 139"/>
          <p:cNvSpPr>
            <a:spLocks noChangeArrowheads="1"/>
          </p:cNvSpPr>
          <p:nvPr/>
        </p:nvSpPr>
        <p:spPr bwMode="auto">
          <a:xfrm>
            <a:off x="1370013" y="2357438"/>
            <a:ext cx="914400" cy="838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21523" name="Rectangle 140"/>
          <p:cNvSpPr>
            <a:spLocks noChangeArrowheads="1"/>
          </p:cNvSpPr>
          <p:nvPr/>
        </p:nvSpPr>
        <p:spPr bwMode="auto">
          <a:xfrm>
            <a:off x="2474913" y="3335338"/>
            <a:ext cx="914400" cy="368300"/>
          </a:xfrm>
          <a:prstGeom prst="rect">
            <a:avLst/>
          </a:prstGeom>
          <a:noFill/>
          <a:ln w="38100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21524" name="Text Box 141"/>
          <p:cNvSpPr txBox="1">
            <a:spLocks noChangeArrowheads="1"/>
          </p:cNvSpPr>
          <p:nvPr/>
        </p:nvSpPr>
        <p:spPr bwMode="auto">
          <a:xfrm>
            <a:off x="4210050" y="2757488"/>
            <a:ext cx="35972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>
                <a:latin typeface="Courier New" pitchFamily="49" charset="0"/>
              </a:rPr>
              <a:t>F = ~A*D + A*B*~D +A*C*~D</a:t>
            </a:r>
          </a:p>
        </p:txBody>
      </p:sp>
      <p:sp>
        <p:nvSpPr>
          <p:cNvPr id="21525" name="Freeform 142"/>
          <p:cNvSpPr>
            <a:spLocks/>
          </p:cNvSpPr>
          <p:nvPr/>
        </p:nvSpPr>
        <p:spPr bwMode="auto">
          <a:xfrm>
            <a:off x="2457450" y="1811338"/>
            <a:ext cx="330200" cy="381000"/>
          </a:xfrm>
          <a:custGeom>
            <a:avLst/>
            <a:gdLst>
              <a:gd name="T0" fmla="*/ 0 w 208"/>
              <a:gd name="T1" fmla="*/ 0 h 240"/>
              <a:gd name="T2" fmla="*/ 0 w 208"/>
              <a:gd name="T3" fmla="*/ 2147483647 h 240"/>
              <a:gd name="T4" fmla="*/ 2147483647 w 208"/>
              <a:gd name="T5" fmla="*/ 2147483647 h 240"/>
              <a:gd name="T6" fmla="*/ 2147483647 w 208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08"/>
              <a:gd name="T13" fmla="*/ 0 h 240"/>
              <a:gd name="T14" fmla="*/ 208 w 20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8" h="240">
                <a:moveTo>
                  <a:pt x="0" y="0"/>
                </a:moveTo>
                <a:lnTo>
                  <a:pt x="0" y="240"/>
                </a:lnTo>
                <a:lnTo>
                  <a:pt x="208" y="240"/>
                </a:lnTo>
                <a:lnTo>
                  <a:pt x="208" y="0"/>
                </a:lnTo>
              </a:path>
            </a:pathLst>
          </a:custGeom>
          <a:noFill/>
          <a:ln w="28575">
            <a:solidFill>
              <a:srgbClr val="0033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6" name="Freeform 143"/>
          <p:cNvSpPr>
            <a:spLocks/>
          </p:cNvSpPr>
          <p:nvPr/>
        </p:nvSpPr>
        <p:spPr bwMode="auto">
          <a:xfrm flipV="1">
            <a:off x="2411413" y="3360738"/>
            <a:ext cx="330200" cy="381000"/>
          </a:xfrm>
          <a:custGeom>
            <a:avLst/>
            <a:gdLst>
              <a:gd name="T0" fmla="*/ 0 w 208"/>
              <a:gd name="T1" fmla="*/ 0 h 240"/>
              <a:gd name="T2" fmla="*/ 0 w 208"/>
              <a:gd name="T3" fmla="*/ 2147483647 h 240"/>
              <a:gd name="T4" fmla="*/ 2147483647 w 208"/>
              <a:gd name="T5" fmla="*/ 2147483647 h 240"/>
              <a:gd name="T6" fmla="*/ 2147483647 w 208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08"/>
              <a:gd name="T13" fmla="*/ 0 h 240"/>
              <a:gd name="T14" fmla="*/ 208 w 20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8" h="240">
                <a:moveTo>
                  <a:pt x="0" y="0"/>
                </a:moveTo>
                <a:lnTo>
                  <a:pt x="0" y="240"/>
                </a:lnTo>
                <a:lnTo>
                  <a:pt x="208" y="240"/>
                </a:lnTo>
                <a:lnTo>
                  <a:pt x="208" y="0"/>
                </a:lnTo>
              </a:path>
            </a:pathLst>
          </a:custGeom>
          <a:noFill/>
          <a:ln w="28575">
            <a:solidFill>
              <a:srgbClr val="0033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Rectangle 3"/>
          <p:cNvSpPr txBox="1">
            <a:spLocks/>
          </p:cNvSpPr>
          <p:nvPr/>
        </p:nvSpPr>
        <p:spPr bwMode="auto">
          <a:xfrm>
            <a:off x="3676650" y="1233488"/>
            <a:ext cx="508635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1800" dirty="0" smtClean="0"/>
              <a:t>Suppose you have a system with 4 inputs and one output F</a:t>
            </a:r>
          </a:p>
          <a:p>
            <a:pPr>
              <a:lnSpc>
                <a:spcPct val="80000"/>
              </a:lnSpc>
              <a:defRPr/>
            </a:pPr>
            <a:r>
              <a:rPr lang="en-US" altLang="ko-KR" sz="1800" dirty="0" smtClean="0"/>
              <a:t>Then the sum-of-product form for  F is, </a:t>
            </a:r>
          </a:p>
          <a:p>
            <a:pPr lvl="1">
              <a:lnSpc>
                <a:spcPct val="80000"/>
              </a:lnSpc>
              <a:buFont typeface="+mj-lt"/>
              <a:buAutoNum type="arabicPeriod"/>
              <a:defRPr/>
            </a:pPr>
            <a:endParaRPr lang="en-US" altLang="ko-KR" sz="1800" dirty="0" smtClean="0"/>
          </a:p>
          <a:p>
            <a:pPr>
              <a:lnSpc>
                <a:spcPct val="80000"/>
              </a:lnSpc>
              <a:defRPr/>
            </a:pPr>
            <a:endParaRPr lang="en-US" altLang="ko-KR" sz="1800" dirty="0" smtClean="0"/>
          </a:p>
          <a:p>
            <a:pPr>
              <a:lnSpc>
                <a:spcPct val="80000"/>
              </a:lnSpc>
              <a:defRPr/>
            </a:pPr>
            <a:endParaRPr lang="en-US" altLang="ko-KR" sz="1800" dirty="0" smtClean="0"/>
          </a:p>
          <a:p>
            <a:pPr>
              <a:lnSpc>
                <a:spcPct val="80000"/>
              </a:lnSpc>
              <a:buFont typeface="Arial" pitchFamily="34" charset="0"/>
              <a:buNone/>
              <a:defRPr/>
            </a:pPr>
            <a:endParaRPr lang="en-US" altLang="ko-KR" sz="1800" dirty="0" smtClean="0"/>
          </a:p>
        </p:txBody>
      </p:sp>
      <p:sp>
        <p:nvSpPr>
          <p:cNvPr id="41" name="Text Box 107"/>
          <p:cNvSpPr txBox="1">
            <a:spLocks noChangeArrowheads="1"/>
          </p:cNvSpPr>
          <p:nvPr/>
        </p:nvSpPr>
        <p:spPr bwMode="auto">
          <a:xfrm>
            <a:off x="6397625" y="3810000"/>
            <a:ext cx="2232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>
                <a:latin typeface="Courier New" pitchFamily="49" charset="0"/>
              </a:rPr>
              <a:t>AB  AB  AB  AB </a:t>
            </a:r>
          </a:p>
        </p:txBody>
      </p:sp>
      <p:sp>
        <p:nvSpPr>
          <p:cNvPr id="42" name="Text Box 108"/>
          <p:cNvSpPr txBox="1">
            <a:spLocks noChangeArrowheads="1"/>
          </p:cNvSpPr>
          <p:nvPr/>
        </p:nvSpPr>
        <p:spPr bwMode="auto">
          <a:xfrm>
            <a:off x="5848350" y="4327525"/>
            <a:ext cx="457200" cy="172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1800" b="1" dirty="0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 dirty="0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 dirty="0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 dirty="0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 dirty="0">
                <a:latin typeface="Courier New" pitchFamily="49" charset="0"/>
              </a:rPr>
              <a:t>CD</a:t>
            </a:r>
          </a:p>
          <a:p>
            <a:pPr eaLnBrk="1" hangingPunct="1">
              <a:lnSpc>
                <a:spcPct val="85000"/>
              </a:lnSpc>
            </a:pPr>
            <a:endParaRPr lang="en-US" sz="1800" b="1" dirty="0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b="1" dirty="0">
                <a:latin typeface="Courier New" pitchFamily="49" charset="0"/>
              </a:rPr>
              <a:t>CD</a:t>
            </a:r>
          </a:p>
        </p:txBody>
      </p:sp>
      <p:sp>
        <p:nvSpPr>
          <p:cNvPr id="43" name="Line 109"/>
          <p:cNvSpPr>
            <a:spLocks noChangeShapeType="1"/>
          </p:cNvSpPr>
          <p:nvPr/>
        </p:nvSpPr>
        <p:spPr bwMode="auto">
          <a:xfrm>
            <a:off x="5942012" y="4816475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10"/>
          <p:cNvSpPr>
            <a:spLocks noChangeShapeType="1"/>
          </p:cNvSpPr>
          <p:nvPr/>
        </p:nvSpPr>
        <p:spPr bwMode="auto">
          <a:xfrm>
            <a:off x="6094412" y="43688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11"/>
          <p:cNvSpPr>
            <a:spLocks noChangeShapeType="1"/>
          </p:cNvSpPr>
          <p:nvPr/>
        </p:nvSpPr>
        <p:spPr bwMode="auto">
          <a:xfrm>
            <a:off x="5922962" y="43688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112"/>
          <p:cNvSpPr>
            <a:spLocks noChangeShapeType="1"/>
          </p:cNvSpPr>
          <p:nvPr/>
        </p:nvSpPr>
        <p:spPr bwMode="auto">
          <a:xfrm>
            <a:off x="8247062" y="38735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113"/>
          <p:cNvSpPr>
            <a:spLocks noChangeShapeType="1"/>
          </p:cNvSpPr>
          <p:nvPr/>
        </p:nvSpPr>
        <p:spPr bwMode="auto">
          <a:xfrm>
            <a:off x="7018337" y="38735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14"/>
          <p:cNvSpPr>
            <a:spLocks noChangeShapeType="1"/>
          </p:cNvSpPr>
          <p:nvPr/>
        </p:nvSpPr>
        <p:spPr bwMode="auto">
          <a:xfrm>
            <a:off x="6646862" y="38735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115"/>
          <p:cNvSpPr>
            <a:spLocks noChangeShapeType="1"/>
          </p:cNvSpPr>
          <p:nvPr/>
        </p:nvSpPr>
        <p:spPr bwMode="auto">
          <a:xfrm>
            <a:off x="6475412" y="387350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116"/>
          <p:cNvSpPr>
            <a:spLocks noChangeShapeType="1"/>
          </p:cNvSpPr>
          <p:nvPr/>
        </p:nvSpPr>
        <p:spPr bwMode="auto">
          <a:xfrm>
            <a:off x="6065837" y="5759450"/>
            <a:ext cx="12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" name="Group 117"/>
          <p:cNvGrpSpPr>
            <a:grpSpLocks/>
          </p:cNvGrpSpPr>
          <p:nvPr/>
        </p:nvGrpSpPr>
        <p:grpSpPr bwMode="auto">
          <a:xfrm>
            <a:off x="6381750" y="4148138"/>
            <a:ext cx="2133600" cy="1981200"/>
            <a:chOff x="3264" y="2352"/>
            <a:chExt cx="1152" cy="1152"/>
          </a:xfrm>
        </p:grpSpPr>
        <p:sp>
          <p:nvSpPr>
            <p:cNvPr id="52" name="Rectangle 118"/>
            <p:cNvSpPr>
              <a:spLocks noChangeArrowheads="1"/>
            </p:cNvSpPr>
            <p:nvPr/>
          </p:nvSpPr>
          <p:spPr bwMode="auto">
            <a:xfrm>
              <a:off x="3264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3" name="Rectangle 119"/>
            <p:cNvSpPr>
              <a:spLocks noChangeArrowheads="1"/>
            </p:cNvSpPr>
            <p:nvPr/>
          </p:nvSpPr>
          <p:spPr bwMode="auto">
            <a:xfrm>
              <a:off x="3552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4" name="Rectangle 120"/>
            <p:cNvSpPr>
              <a:spLocks noChangeArrowheads="1"/>
            </p:cNvSpPr>
            <p:nvPr/>
          </p:nvSpPr>
          <p:spPr bwMode="auto">
            <a:xfrm>
              <a:off x="3840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5" name="Rectangle 121"/>
            <p:cNvSpPr>
              <a:spLocks noChangeArrowheads="1"/>
            </p:cNvSpPr>
            <p:nvPr/>
          </p:nvSpPr>
          <p:spPr bwMode="auto">
            <a:xfrm>
              <a:off x="4128" y="3216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6" name="Rectangle 122"/>
            <p:cNvSpPr>
              <a:spLocks noChangeArrowheads="1"/>
            </p:cNvSpPr>
            <p:nvPr/>
          </p:nvSpPr>
          <p:spPr bwMode="auto">
            <a:xfrm>
              <a:off x="3264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7" name="Rectangle 123"/>
            <p:cNvSpPr>
              <a:spLocks noChangeArrowheads="1"/>
            </p:cNvSpPr>
            <p:nvPr/>
          </p:nvSpPr>
          <p:spPr bwMode="auto">
            <a:xfrm>
              <a:off x="3552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8" name="Rectangle 124"/>
            <p:cNvSpPr>
              <a:spLocks noChangeArrowheads="1"/>
            </p:cNvSpPr>
            <p:nvPr/>
          </p:nvSpPr>
          <p:spPr bwMode="auto">
            <a:xfrm>
              <a:off x="3840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9" name="Rectangle 125"/>
            <p:cNvSpPr>
              <a:spLocks noChangeArrowheads="1"/>
            </p:cNvSpPr>
            <p:nvPr/>
          </p:nvSpPr>
          <p:spPr bwMode="auto">
            <a:xfrm>
              <a:off x="4128" y="2928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0" name="Rectangle 126"/>
            <p:cNvSpPr>
              <a:spLocks noChangeArrowheads="1"/>
            </p:cNvSpPr>
            <p:nvPr/>
          </p:nvSpPr>
          <p:spPr bwMode="auto">
            <a:xfrm>
              <a:off x="3264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1" name="Rectangle 127"/>
            <p:cNvSpPr>
              <a:spLocks noChangeArrowheads="1"/>
            </p:cNvSpPr>
            <p:nvPr/>
          </p:nvSpPr>
          <p:spPr bwMode="auto">
            <a:xfrm>
              <a:off x="3552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2" name="Rectangle 128"/>
            <p:cNvSpPr>
              <a:spLocks noChangeArrowheads="1"/>
            </p:cNvSpPr>
            <p:nvPr/>
          </p:nvSpPr>
          <p:spPr bwMode="auto">
            <a:xfrm>
              <a:off x="3840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3" name="Rectangle 129"/>
            <p:cNvSpPr>
              <a:spLocks noChangeArrowheads="1"/>
            </p:cNvSpPr>
            <p:nvPr/>
          </p:nvSpPr>
          <p:spPr bwMode="auto">
            <a:xfrm>
              <a:off x="4128" y="264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5" name="Rectangle 130"/>
            <p:cNvSpPr>
              <a:spLocks noChangeArrowheads="1"/>
            </p:cNvSpPr>
            <p:nvPr/>
          </p:nvSpPr>
          <p:spPr bwMode="auto">
            <a:xfrm>
              <a:off x="3264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6" name="Rectangle 131"/>
            <p:cNvSpPr>
              <a:spLocks noChangeArrowheads="1"/>
            </p:cNvSpPr>
            <p:nvPr/>
          </p:nvSpPr>
          <p:spPr bwMode="auto">
            <a:xfrm>
              <a:off x="3552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7" name="Rectangle 132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8" name="Rectangle 133"/>
            <p:cNvSpPr>
              <a:spLocks noChangeArrowheads="1"/>
            </p:cNvSpPr>
            <p:nvPr/>
          </p:nvSpPr>
          <p:spPr bwMode="auto">
            <a:xfrm>
              <a:off x="4128" y="235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</p:grpSp>
      <p:sp>
        <p:nvSpPr>
          <p:cNvPr id="77" name="Text Box 141"/>
          <p:cNvSpPr txBox="1">
            <a:spLocks noChangeArrowheads="1"/>
          </p:cNvSpPr>
          <p:nvPr/>
        </p:nvSpPr>
        <p:spPr bwMode="auto">
          <a:xfrm>
            <a:off x="1025525" y="5533611"/>
            <a:ext cx="3304494" cy="28931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600" b="1" dirty="0">
                <a:latin typeface="Courier New" pitchFamily="49" charset="0"/>
              </a:rPr>
              <a:t>F = </a:t>
            </a:r>
            <a:r>
              <a:rPr lang="en-US" altLang="ko-KR" sz="1600" b="1" dirty="0"/>
              <a:t>(A+D) (~A+~D) (~A + B + C</a:t>
            </a:r>
            <a:r>
              <a:rPr lang="en-US" altLang="ko-KR" sz="1600" dirty="0"/>
              <a:t>)</a:t>
            </a:r>
          </a:p>
        </p:txBody>
      </p:sp>
      <p:sp>
        <p:nvSpPr>
          <p:cNvPr id="81" name="Text Box 134"/>
          <p:cNvSpPr txBox="1">
            <a:spLocks noChangeArrowheads="1"/>
          </p:cNvSpPr>
          <p:nvPr/>
        </p:nvSpPr>
        <p:spPr bwMode="auto">
          <a:xfrm>
            <a:off x="6538912" y="4212432"/>
            <a:ext cx="873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0   0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82" name="Text Box 134"/>
          <p:cNvSpPr txBox="1">
            <a:spLocks noChangeArrowheads="1"/>
          </p:cNvSpPr>
          <p:nvPr/>
        </p:nvSpPr>
        <p:spPr bwMode="auto">
          <a:xfrm>
            <a:off x="6538911" y="5697022"/>
            <a:ext cx="873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0   0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83" name="Text Box 134"/>
          <p:cNvSpPr txBox="1">
            <a:spLocks noChangeArrowheads="1"/>
          </p:cNvSpPr>
          <p:nvPr/>
        </p:nvSpPr>
        <p:spPr bwMode="auto">
          <a:xfrm>
            <a:off x="7565268" y="4706422"/>
            <a:ext cx="873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0   0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84" name="Text Box 134"/>
          <p:cNvSpPr txBox="1">
            <a:spLocks noChangeArrowheads="1"/>
          </p:cNvSpPr>
          <p:nvPr/>
        </p:nvSpPr>
        <p:spPr bwMode="auto">
          <a:xfrm>
            <a:off x="7544971" y="5190331"/>
            <a:ext cx="873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0   0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85" name="Text Box 137"/>
          <p:cNvSpPr txBox="1">
            <a:spLocks noChangeArrowheads="1"/>
          </p:cNvSpPr>
          <p:nvPr/>
        </p:nvSpPr>
        <p:spPr bwMode="auto">
          <a:xfrm>
            <a:off x="8132541" y="4185444"/>
            <a:ext cx="320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 smtClean="0">
                <a:latin typeface="Courier New" pitchFamily="49" charset="0"/>
              </a:rPr>
              <a:t>0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86" name="Rectangle 139"/>
          <p:cNvSpPr>
            <a:spLocks noChangeArrowheads="1"/>
          </p:cNvSpPr>
          <p:nvPr/>
        </p:nvSpPr>
        <p:spPr bwMode="auto">
          <a:xfrm>
            <a:off x="7513637" y="4706422"/>
            <a:ext cx="914400" cy="838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90" name="Freeform 142"/>
          <p:cNvSpPr>
            <a:spLocks/>
          </p:cNvSpPr>
          <p:nvPr/>
        </p:nvSpPr>
        <p:spPr bwMode="auto">
          <a:xfrm>
            <a:off x="6414134" y="4121944"/>
            <a:ext cx="998734" cy="381000"/>
          </a:xfrm>
          <a:custGeom>
            <a:avLst/>
            <a:gdLst>
              <a:gd name="T0" fmla="*/ 0 w 208"/>
              <a:gd name="T1" fmla="*/ 0 h 240"/>
              <a:gd name="T2" fmla="*/ 0 w 208"/>
              <a:gd name="T3" fmla="*/ 2147483647 h 240"/>
              <a:gd name="T4" fmla="*/ 2147483647 w 208"/>
              <a:gd name="T5" fmla="*/ 2147483647 h 240"/>
              <a:gd name="T6" fmla="*/ 2147483647 w 208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08"/>
              <a:gd name="T13" fmla="*/ 0 h 240"/>
              <a:gd name="T14" fmla="*/ 208 w 20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8" h="240">
                <a:moveTo>
                  <a:pt x="0" y="0"/>
                </a:moveTo>
                <a:lnTo>
                  <a:pt x="0" y="240"/>
                </a:lnTo>
                <a:lnTo>
                  <a:pt x="208" y="240"/>
                </a:lnTo>
                <a:lnTo>
                  <a:pt x="208" y="0"/>
                </a:lnTo>
              </a:path>
            </a:pathLst>
          </a:custGeom>
          <a:noFill/>
          <a:ln w="28575">
            <a:solidFill>
              <a:srgbClr val="0033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Freeform 142"/>
          <p:cNvSpPr>
            <a:spLocks/>
          </p:cNvSpPr>
          <p:nvPr/>
        </p:nvSpPr>
        <p:spPr bwMode="auto">
          <a:xfrm rot="10800000">
            <a:off x="6397625" y="5691188"/>
            <a:ext cx="998734" cy="381000"/>
          </a:xfrm>
          <a:custGeom>
            <a:avLst/>
            <a:gdLst>
              <a:gd name="T0" fmla="*/ 0 w 208"/>
              <a:gd name="T1" fmla="*/ 0 h 240"/>
              <a:gd name="T2" fmla="*/ 0 w 208"/>
              <a:gd name="T3" fmla="*/ 2147483647 h 240"/>
              <a:gd name="T4" fmla="*/ 2147483647 w 208"/>
              <a:gd name="T5" fmla="*/ 2147483647 h 240"/>
              <a:gd name="T6" fmla="*/ 2147483647 w 208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08"/>
              <a:gd name="T13" fmla="*/ 0 h 240"/>
              <a:gd name="T14" fmla="*/ 208 w 20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8" h="240">
                <a:moveTo>
                  <a:pt x="0" y="0"/>
                </a:moveTo>
                <a:lnTo>
                  <a:pt x="0" y="240"/>
                </a:lnTo>
                <a:lnTo>
                  <a:pt x="208" y="240"/>
                </a:lnTo>
                <a:lnTo>
                  <a:pt x="208" y="0"/>
                </a:lnTo>
              </a:path>
            </a:pathLst>
          </a:custGeom>
          <a:noFill/>
          <a:ln w="28575">
            <a:solidFill>
              <a:srgbClr val="0033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Rectangle 140"/>
          <p:cNvSpPr>
            <a:spLocks noChangeArrowheads="1"/>
          </p:cNvSpPr>
          <p:nvPr/>
        </p:nvSpPr>
        <p:spPr bwMode="auto">
          <a:xfrm>
            <a:off x="8004469" y="4186556"/>
            <a:ext cx="457200" cy="938966"/>
          </a:xfrm>
          <a:prstGeom prst="rect">
            <a:avLst/>
          </a:prstGeom>
          <a:noFill/>
          <a:ln w="38100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2" name="TextBox 1"/>
          <p:cNvSpPr txBox="1"/>
          <p:nvPr/>
        </p:nvSpPr>
        <p:spPr>
          <a:xfrm>
            <a:off x="8048649" y="3305546"/>
            <a:ext cx="184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229600" cy="838200"/>
          </a:xfrm>
        </p:spPr>
        <p:txBody>
          <a:bodyPr/>
          <a:lstStyle/>
          <a:p>
            <a:r>
              <a:rPr lang="en-US" dirty="0" smtClean="0">
                <a:solidFill>
                  <a:srgbClr val="660066"/>
                </a:solidFill>
              </a:rPr>
              <a:t>P.O.S.</a:t>
            </a:r>
            <a:r>
              <a:rPr lang="en-US" dirty="0" smtClean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2977655591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2" grpId="0" animBg="1"/>
      <p:bldP spid="21523" grpId="0" animBg="1"/>
      <p:bldP spid="21524" grpId="0" animBg="1"/>
      <p:bldP spid="21525" grpId="0" animBg="1"/>
      <p:bldP spid="21526" grpId="0" animBg="1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77" grpId="0" animBg="1"/>
      <p:bldP spid="81" grpId="0"/>
      <p:bldP spid="82" grpId="0"/>
      <p:bldP spid="83" grpId="0"/>
      <p:bldP spid="84" grpId="0"/>
      <p:bldP spid="85" grpId="0"/>
      <p:bldP spid="86" grpId="0" animBg="1"/>
      <p:bldP spid="90" grpId="0" animBg="1"/>
      <p:bldP spid="91" grpId="0" animBg="1"/>
      <p:bldP spid="9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05030.17.01"/>
  <p:tag name="PPTVERSION" val="14"/>
  <p:tag name="TPOS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626DAB32CDDA48B6A8BA047DB8F79E00"/>
  <p:tag name="AUTOOPENPOLL" val="False"/>
  <p:tag name="TYPE" val="MultiChoiceSlide"/>
  <p:tag name="TPSLIDEBULLETSTYLE" val="2"/>
  <p:tag name="CHARTTYPE" val="0"/>
  <p:tag name="CHARTDEFINEDCOLORS" val="3,6,10,45,32,50,13,4,9,55,1"/>
  <p:tag name="HASRESULTS" val="True"/>
  <p:tag name="RESULTS" val="This K-Map Has How Many Loops?[;crlf;]11[;]29[;]11[;]False[;]0[;][;crlf;]1.5455[;]1[;]1.1571[;]1.3388[;crlf;]9[;]0[;]01[;]0[;][;crlf;]0[;]0[;]12[;]1[;][;crlf;]0[;]0[;]23[;]2[;][;crlf;]2[;]0[;]34[;]3[;][;crlf;]0[;]0[;]45[;]4[;][;crlf;]0[;]0[;]56[;]5[;][;crlf;]"/>
  <p:tag name="TPQUESTIONXML" val="&lt;?xml version=&quot;1.0&quot; encoding=&quot;UTF-8&quot; standalone=&quot;yes&quot;?&gt;&lt;questionlist&gt;&lt;properties&gt;&lt;guid&gt;C2CB2C6DDD9E410399E7E498C18CF7B5&lt;/guid&gt;&lt;date&gt;4/6/2016 06:44:24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626DAB32CDDA48B6A8BA047DB8F79E00&lt;/guid&gt;&lt;repollguid&gt;0B8A29C64D2D4DD0A253CCF95E5A5DB9&lt;/repollguid&gt;&lt;sourceid&gt;BD793BC9903C4AF7BD2233F2485C3443&lt;/sourceid&gt;&lt;questiontext&gt;This K-Map Has How Many Loops?&lt;/questiontext&gt;&lt;showresults&gt;True&lt;/showresults&gt;&lt;responsegrid&gt;2&lt;/responsegrid&gt;&lt;countdowntime&gt;30&lt;/countdowntime&gt;&lt;correctvalue&gt;1&lt;/correctvalue&gt;&lt;incorrectvalue&gt;0&lt;/incorrectvalue&gt;&lt;responselimit&gt;1&lt;/responselimit&gt;&lt;bulletstyle&gt;2&lt;/bulletstyle&gt;&lt;answers&gt;&lt;answer&gt;&lt;guid&gt;23AA7D1DE3494E9C883193872D966D8A&lt;/guid&gt;&lt;answertext&gt;0&lt;/answertext&gt;&lt;valuetype&gt;0&lt;/valuetype&gt;&lt;/answer&gt;&lt;answer&gt;&lt;guid&gt;458AAF9C218A48A1AFD5BF08B1C240DA&lt;/guid&gt;&lt;answertext&gt;1&lt;/answertext&gt;&lt;valuetype&gt;0&lt;/valuetype&gt;&lt;/answer&gt;&lt;answer&gt;&lt;guid&gt;6F7329D7FFB740E0AD2AD5B09ED6B3F4&lt;/guid&gt;&lt;answertext&gt;2&lt;/answertext&gt;&lt;valuetype&gt;0&lt;/valuetype&gt;&lt;/answer&gt;&lt;answer&gt;&lt;guid&gt;5399430E90824B8C896054E9BA24A8B6&lt;/guid&gt;&lt;answertext&gt;3&lt;/answertext&gt;&lt;valuetype&gt;0&lt;/valuetype&gt;&lt;/answer&gt;&lt;answer&gt;&lt;guid&gt;C95EF0AF924A4548B08185A677DB0EFC&lt;/guid&gt;&lt;answertext&gt;4&lt;/answertext&gt;&lt;valuetype&gt;0&lt;/valuetype&gt;&lt;/answer&gt;&lt;answer&gt;&lt;guid&gt;C4FF54DCAE6D45BC9534AA50D8502B6B&lt;/guid&gt;&lt;answertext&gt;5&lt;/answertext&gt;&lt;valuetype&gt;0&lt;/valuetype&gt;&lt;/answer&gt;&lt;/answers&gt;&lt;/multichoice&gt;&lt;/questions&gt;&lt;/questionlist&gt;"/>
  <p:tag name="LIVECHARTING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DEFINEDCOLORS" val="3,6,10,45,32,50,13,4,9,55,1"/>
  <p:tag name="COLORTYPE" val="SCHEME"/>
  <p:tag name="NUMBERFORMAT" val="0"/>
  <p:tag name="LABELFORMAT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TOOPENPOLL" val="False"/>
  <p:tag name="TYPE" val="MultiChoiceSlide"/>
  <p:tag name="TPSLIDEBULLETSTYLE" val="2"/>
  <p:tag name="SLIDEGUID" val="704B29883F9142A4A385DDF99CCF2D9A"/>
  <p:tag name="CHARTTYPE" val="0"/>
  <p:tag name="CHARTDEFINEDCOLORS" val="3,6,10,45,32,50,13,4,9,55,1"/>
  <p:tag name="HASRESULTS" val="True"/>
  <p:tag name="RESULTS" val="This K-Map Has How Many Loops?[;crlf;]22[;]29[;]22[;]False[;]0[;][;crlf;]2.5[;]3[;]0.5839[;]0.3409[;crlf;]1[;]0[;]01[;]0[;][;crlf;]9[;]0[;]12[;]1[;][;crlf;]12[;]0[;]23[;]2[;][;crlf;]0[;]0[;]34[;]3[;][;crlf;]0[;]0[;]45[;]4[;][;crlf;]0[;]0[;]56[;]5[;][;crlf;]"/>
  <p:tag name="TPQUESTIONXML" val="&lt;?xml version=&quot;1.0&quot; encoding=&quot;UTF-8&quot; standalone=&quot;yes&quot;?&gt;&lt;questionlist&gt;&lt;properties&gt;&lt;guid&gt;F4E841B726F44270972CDC92232F507E&lt;/guid&gt;&lt;date&gt;4/6/2016 06:44:24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704B29883F9142A4A385DDF99CCF2D9A&lt;/guid&gt;&lt;repollguid&gt;0B8A29C64D2D4DD0A253CCF95E5A5DB9&lt;/repollguid&gt;&lt;sourceid&gt;BD793BC9903C4AF7BD2233F2485C3443&lt;/sourceid&gt;&lt;questiontext&gt;This K-Map Has How Many Loops?&lt;/questiontext&gt;&lt;showresults&gt;True&lt;/showresults&gt;&lt;responsegrid&gt;2&lt;/responsegrid&gt;&lt;countdowntime&gt;30&lt;/countdowntime&gt;&lt;correctvalue&gt;1&lt;/correctvalue&gt;&lt;incorrectvalue&gt;0&lt;/incorrectvalue&gt;&lt;responselimit&gt;1&lt;/responselimit&gt;&lt;bulletstyle&gt;2&lt;/bulletstyle&gt;&lt;answers&gt;&lt;answer&gt;&lt;guid&gt;23AA7D1DE3494E9C883193872D966D8A&lt;/guid&gt;&lt;answertext&gt;0&lt;/answertext&gt;&lt;valuetype&gt;0&lt;/valuetype&gt;&lt;/answer&gt;&lt;answer&gt;&lt;guid&gt;458AAF9C218A48A1AFD5BF08B1C240DA&lt;/guid&gt;&lt;answertext&gt;1&lt;/answertext&gt;&lt;valuetype&gt;0&lt;/valuetype&gt;&lt;/answer&gt;&lt;answer&gt;&lt;guid&gt;6F7329D7FFB740E0AD2AD5B09ED6B3F4&lt;/guid&gt;&lt;answertext&gt;2&lt;/answertext&gt;&lt;valuetype&gt;0&lt;/valuetype&gt;&lt;/answer&gt;&lt;answer&gt;&lt;guid&gt;5399430E90824B8C896054E9BA24A8B6&lt;/guid&gt;&lt;answertext&gt;3&lt;/answertext&gt;&lt;valuetype&gt;0&lt;/valuetype&gt;&lt;/answer&gt;&lt;answer&gt;&lt;guid&gt;C95EF0AF924A4548B08185A677DB0EFC&lt;/guid&gt;&lt;answertext&gt;4&lt;/answertext&gt;&lt;valuetype&gt;0&lt;/valuetype&gt;&lt;/answer&gt;&lt;answer&gt;&lt;guid&gt;C4FF54DCAE6D45BC9534AA50D8502B6B&lt;/guid&gt;&lt;answertext&gt;5&lt;/answertext&gt;&lt;valuetype&gt;0&lt;/valuetype&gt;&lt;/answer&gt;&lt;/answers&gt;&lt;/multichoice&gt;&lt;/questions&gt;&lt;/questionlist&gt;"/>
  <p:tag name="LIVECHARTING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DEFINEDCOLORS" val="3,6,10,45,32,50,13,4,9,55,1"/>
  <p:tag name="COLORTYPE" val="SCHEME"/>
  <p:tag name="NUMBERFORMAT" val="0"/>
  <p:tag name="LABELFORMAT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9E8DAEFDD2484D7AAF4F1DF414CEC70C"/>
  <p:tag name="AUTOOPENPOLL" val="False"/>
  <p:tag name="TYPE" val="MultiChoiceSlide"/>
  <p:tag name="TPSLIDEBULLETSTYLE" val="2"/>
  <p:tag name="HASRESULTS" val="False"/>
  <p:tag name="CHARTTYPE" val="0"/>
  <p:tag name="CHARTDEFINEDCOLORS" val="3,6,10,45,32,50,13,4,9,55,1"/>
  <p:tag name="TPQUESTIONXML" val="&lt;?xml version=&quot;1.0&quot; encoding=&quot;UTF-8&quot; standalone=&quot;yes&quot;?&gt;&lt;questionlist&gt;&lt;properties&gt;&lt;guid&gt;7E3A7574F4094793A760EB3C5B48038A&lt;/guid&gt;&lt;date&gt;4/6/2016 06:44:24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9E8DAEFDD2484D7AAF4F1DF414CEC70C&lt;/guid&gt;&lt;repollguid&gt;0D3060F7319C4BC881B1E722468421FE&lt;/repollguid&gt;&lt;sourceid&gt;065F93A173E94E01AD3387BFEB7698A8&lt;/sourceid&gt;&lt;questiontext&gt;This K-Map Formula is?&lt;/questiontext&gt;&lt;showresults&gt;True&lt;/showresults&gt;&lt;responsegrid&gt;2&lt;/responsegrid&gt;&lt;countdowntime&gt;30&lt;/countdowntime&gt;&lt;correctvalue&gt;1&lt;/correctvalue&gt;&lt;incorrectvalue&gt;0&lt;/incorrectvalue&gt;&lt;responselimit&gt;1&lt;/responselimit&gt;&lt;bulletstyle&gt;2&lt;/bulletstyle&gt;&lt;answers&gt;&lt;answer&gt;&lt;guid&gt;AD49DA7732804E70AF7B96766BD97901&lt;/guid&gt;&lt;answertext&gt;X = ~A~B~C~D + ~AB~CD&lt;/answertext&gt;&lt;valuetype&gt;-1&lt;/valuetype&gt;&lt;/answer&gt;&lt;answer&gt;&lt;guid&gt;95F01142F8C74E7AB0E0BC9695FE9930&lt;/guid&gt;&lt;answertext&gt;X = ~A~B~C~D + ~AB~CD + AB~C~D&lt;/answertext&gt;&lt;valuetype&gt;-1&lt;/valuetype&gt;&lt;/answer&gt;&lt;answer&gt;&lt;guid&gt;A55AD900D682477794268BD1ECA2C88D&lt;/guid&gt;&lt;answertext&gt;X = ~A~B~C~D * ~AB~CD * AB~C~D * A~B~CD&lt;/answertext&gt;&lt;valuetype&gt;1&lt;/valuetype&gt;&lt;/answer&gt;&lt;answer&gt;&lt;guid&gt;B7AFAA8AA7C44D728F879A62997A234B&lt;/guid&gt;&lt;answertext&gt;X = ~A~B~C~D + ~AB~CD + AB~C~D + A~B~CD&lt;/answertext&gt;&lt;valuetype&gt;-1&lt;/valuetype&gt;&lt;/answer&gt;&lt;answer&gt;&lt;guid&gt;20CB9DDA3EB340E4AC77F4CF5EEA4FAC&lt;/guid&gt;&lt;answertext&gt;X = A~BC~D + ~AB~CD + AB~C~D + A~B~CD&lt;/answertext&gt;&lt;valuetype&gt;-1&lt;/valuetype&gt;&lt;/answer&gt;&lt;/answers&gt;&lt;/multichoice&gt;&lt;/questions&gt;&lt;/questionlist&gt;"/>
  <p:tag name="LIVECHARTING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DEFINEDCOLORS" val="3,6,10,45,32,50,13,4,9,55,1"/>
  <p:tag name="COLORTYPE" val="SCHEME"/>
  <p:tag name="NUMBERFORMAT" val="0"/>
  <p:tag name="LABELFORMAT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TOOPENPOLL" val="False"/>
  <p:tag name="TYPE" val="MultiChoiceSlide"/>
  <p:tag name="TPSLIDEBULLETSTYLE" val="2"/>
  <p:tag name="SLIDEGUID" val="3A8D216F42EE4D298B34AC073EA66ECB"/>
  <p:tag name="CHARTTYPE" val="0"/>
  <p:tag name="CHARTDEFINEDCOLORS" val="3,6,10,45,32,50,13,4,9,55,1"/>
  <p:tag name="HASRESULTS" val="True"/>
  <p:tag name="RESULTS" val="This K-Map Formula is?[;crlf;]17[;]29[;]17[;]False[;]0[;][;crlf;]2.2353[;]1[;]1.4765[;]2.1799[;crlf;]9[;]-1[;]X = ~B~C~D + A~B~D1[;]X = ~B~C~D + A~B~D[;][;crlf;]2[;]-1[;]X = ~B~C~D + A~B~D + A~BC~D2[;]X = ~B~C~D + A~B~D + A~BC~D[;][;crlf;]0[;]1[;]X = ~B~C~D3[;]X = ~B~C~D[;][;crlf;]5[;]-1[;]X = ~A~B~C~D + A~B~C~D + A~BC~D4[;]X = ~A~B~C~D + A~B~C~D + A~BC~D[;][;crlf;]1[;]-1[;]X = A~BC~D + ~AB~CD + AB~C~D + A~B~CD5[;]X = A~BC~D + ~AB~CD + AB~C~D + A~B~CD[;][;crlf;]"/>
  <p:tag name="TPQUESTIONXML" val="&lt;?xml version=&quot;1.0&quot; encoding=&quot;UTF-8&quot; standalone=&quot;yes&quot;?&gt;&lt;questionlist&gt;&lt;properties&gt;&lt;guid&gt;428C9F2E27EB4970901D23BCBF7FDC95&lt;/guid&gt;&lt;date&gt;4/6/2016 06:44:24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3A8D216F42EE4D298B34AC073EA66ECB&lt;/guid&gt;&lt;repollguid&gt;0D3060F7319C4BC881B1E722468421FE&lt;/repollguid&gt;&lt;sourceid&gt;065F93A173E94E01AD3387BFEB7698A8&lt;/sourceid&gt;&lt;questiontext&gt;This K-Map Formula is?&lt;/questiontext&gt;&lt;showresults&gt;True&lt;/showresults&gt;&lt;responsegrid&gt;2&lt;/responsegrid&gt;&lt;countdowntime&gt;30&lt;/countdowntime&gt;&lt;correctvalue&gt;1&lt;/correctvalue&gt;&lt;incorrectvalue&gt;0&lt;/incorrectvalue&gt;&lt;responselimit&gt;1&lt;/responselimit&gt;&lt;bulletstyle&gt;2&lt;/bulletstyle&gt;&lt;answers&gt;&lt;answer&gt;&lt;guid&gt;AD49DA7732804E70AF7B96766BD97901&lt;/guid&gt;&lt;answertext&gt;X = ~B~C~D + A~B~D&lt;/answertext&gt;&lt;valuetype&gt;-1&lt;/valuetype&gt;&lt;/answer&gt;&lt;answer&gt;&lt;guid&gt;95F01142F8C74E7AB0E0BC9695FE9930&lt;/guid&gt;&lt;answertext&gt;X = ~B~C~D + A~B~D + A~BC~D&lt;/answertext&gt;&lt;valuetype&gt;-1&lt;/valuetype&gt;&lt;/answer&gt;&lt;answer&gt;&lt;guid&gt;A55AD900D682477794268BD1ECA2C88D&lt;/guid&gt;&lt;answertext&gt;X = ~B~C~D&lt;/answertext&gt;&lt;valuetype&gt;1&lt;/valuetype&gt;&lt;/answer&gt;&lt;answer&gt;&lt;guid&gt;B7AFAA8AA7C44D728F879A62997A234B&lt;/guid&gt;&lt;answertext&gt;X = ~A~B~C~D + A~B~C~D + A~BC~D&lt;/answertext&gt;&lt;valuetype&gt;-1&lt;/valuetype&gt;&lt;/answer&gt;&lt;answer&gt;&lt;guid&gt;560E3B0206424070A0A784ABA4E1F6FC&lt;/guid&gt;&lt;answertext&gt;X = A~BC~D + ~AB~CD + AB~C~D + A~B~CD&lt;/answertext&gt;&lt;valuetype&gt;-1&lt;/valuetype&gt;&lt;/answer&gt;&lt;/answers&gt;&lt;/multichoice&gt;&lt;/questions&gt;&lt;/questionlist&gt;"/>
  <p:tag name="LIVECHARTING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DEFINEDCOLORS" val="3,6,10,45,32,50,13,4,9,55,1"/>
  <p:tag name="COLORTYPE" val="SCHEME"/>
  <p:tag name="NUMBERFORMAT" val="0"/>
  <p:tag name="LABELFORMAT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DA37E9E1AB5F46D198DAB8B0194E76C9"/>
  <p:tag name="AUTOOPENPOLL" val="False"/>
  <p:tag name="TYPE" val="MultiChoiceSlide"/>
  <p:tag name="TPSLIDEBULLETSTYLE" val="2"/>
  <p:tag name="CHARTTYPE" val="0"/>
  <p:tag name="CHARTDEFINEDCOLORS" val="3,6,10,45,32,50,13,4,9,55,1"/>
  <p:tag name="HASRESULTS" val="True"/>
  <p:tag name="RESULTS" val="Final Reduced Minterm Form is?[;crlf;]2[;]29[;]2[;]False[;]0[;][;crlf;]4[;]4[;]0[;]0[;crlf;]0[;]-1[;]~A~B~C + A~B~C + AB~C + A~BC1[;]~A~B~C + A~B~C + AB~C + A~BC[;][;crlf;]0[;]-1[;]~A~B~C + A~B~C2[;]~A~B~C + A~B~C[;][;crlf;]0[;]1[;]A(~B + ~C) + ~B~C3[;]A(~B + ~C) + ~B~C[;][;crlf;]2[;]-1[;]~A~B~C + A~B4[;]~A~B~C + A~B[;][;crlf;]0[;]1[;]~B~C + A~C + A~B5[;]~B~C + A~C + A~B[;][;crlf;]0[;]-1[;]~A + ~B + C6[;]~A + ~B + C[;][;crlf;]"/>
  <p:tag name="TPQUESTIONXML" val="&lt;?xml version=&quot;1.0&quot; encoding=&quot;UTF-8&quot; standalone=&quot;yes&quot;?&gt;&lt;questionlist&gt;&lt;properties&gt;&lt;guid&gt;4A2F9B21382E4F56ABFB452CFA0B1FEE&lt;/guid&gt;&lt;date&gt;4/6/2016 06:44:24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DA37E9E1AB5F46D198DAB8B0194E76C9&lt;/guid&gt;&lt;repollguid&gt;F1900EC38DB945D186427BBB254F068F&lt;/repollguid&gt;&lt;sourceid&gt;294C5ECE6CF246BFAAF7236A59C0C1A4&lt;/sourceid&gt;&lt;questiontext&gt;Final Reduced Minterm Form is?&lt;/questiontext&gt;&lt;showresults&gt;True&lt;/showresults&gt;&lt;responsegrid&gt;0&lt;/responsegrid&gt;&lt;countdowntime&gt;30&lt;/countdowntime&gt;&lt;correctvalue&gt;1&lt;/correctvalue&gt;&lt;incorrectvalue&gt;0&lt;/incorrectvalue&gt;&lt;responselimit&gt;1&lt;/responselimit&gt;&lt;bulletstyle&gt;2&lt;/bulletstyle&gt;&lt;answers&gt;&lt;answer&gt;&lt;guid&gt;965976EC88A149B68DB85EA02F2B4D44&lt;/guid&gt;&lt;answertext&gt;~A~B~C + A~B~C + AB~C + A~BC&lt;/answertext&gt;&lt;valuetype&gt;-1&lt;/valuetype&gt;&lt;/answer&gt;&lt;answer&gt;&lt;guid&gt;C18A25C4EC944471B20658B43C315E86&lt;/guid&gt;&lt;answertext&gt;~A~B~C + A~B~C&lt;/answertext&gt;&lt;valuetype&gt;-1&lt;/valuetype&gt;&lt;/answer&gt;&lt;answer&gt;&lt;guid&gt;82D7FEAA4A4144A1A741FE306736D676&lt;/guid&gt;&lt;answertext&gt;A(~B + ~C) + ~B~C&lt;/answertext&gt;&lt;valuetype&gt;1&lt;/valuetype&gt;&lt;/answer&gt;&lt;answer&gt;&lt;guid&gt;E0DAB1CFD5294A28B567914086BFF99C&lt;/guid&gt;&lt;answertext&gt;~A~B~C + A~B&lt;/answertext&gt;&lt;valuetype&gt;-1&lt;/valuetype&gt;&lt;/answer&gt;&lt;answer&gt;&lt;guid&gt;FFCDDE0F08F9488B9BFB1C56F1359922&lt;/guid&gt;&lt;answertext&gt;~B~C + A~C + A~B&lt;/answertext&gt;&lt;valuetype&gt;1&lt;/valuetype&gt;&lt;/answer&gt;&lt;answer&gt;&lt;guid&gt;FCFF251FC0F04F35A5C563B7EC849328&lt;/guid&gt;&lt;answertext&gt;~A + ~B + C&lt;/answertext&gt;&lt;valuetype&gt;-1&lt;/valuetype&gt;&lt;/answer&gt;&lt;/answers&gt;&lt;/multichoice&gt;&lt;/questions&gt;&lt;/questionlist&gt;"/>
  <p:tag name="LIVECHARTING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DEFINEDCOLORS" val="3,6,10,45,32,50,13,4,9,55,1"/>
  <p:tag name="COLORTYPE" val="SCHEME"/>
  <p:tag name="NUMBERFORMAT" val="0"/>
  <p:tag name="LABELFORMAT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26257</TotalTime>
  <Words>8720</Words>
  <Application>Microsoft Macintosh PowerPoint</Application>
  <PresentationFormat>On-screen Show (4:3)</PresentationFormat>
  <Paragraphs>2258</Paragraphs>
  <Slides>74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5" baseType="lpstr">
      <vt:lpstr>Austin</vt:lpstr>
      <vt:lpstr>K-Maps For Boolean Algebra</vt:lpstr>
      <vt:lpstr>Karnaugh Maps Reduce Boolean Functions Visually</vt:lpstr>
      <vt:lpstr>A Simple Example KMap</vt:lpstr>
      <vt:lpstr>Forms of Logic Standardization: S.O.P. and P.O.S.</vt:lpstr>
      <vt:lpstr>Representing Boolean Functions in Standardized (Sum-of-Products )Form</vt:lpstr>
      <vt:lpstr>Two-Level Logic &amp; Minterms</vt:lpstr>
      <vt:lpstr>Sum of Products &amp; Truth Tables</vt:lpstr>
      <vt:lpstr>Karnaugh Maps (are K-Maps)</vt:lpstr>
      <vt:lpstr>K-Map Example</vt:lpstr>
      <vt:lpstr>K-Map Intro</vt:lpstr>
      <vt:lpstr>K-Map First Try</vt:lpstr>
      <vt:lpstr>Karnaugh Maps (are K-Maps)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Designing Digital Logic Summary</vt:lpstr>
      <vt:lpstr>K-Map 3A.4 – Do it Again!</vt:lpstr>
      <vt:lpstr>K-Map 3A.4</vt:lpstr>
      <vt:lpstr>K-Map 3A.4</vt:lpstr>
      <vt:lpstr>K-Map 3A.4</vt:lpstr>
      <vt:lpstr>K-Map 3A.4</vt:lpstr>
      <vt:lpstr>K-Map 3A.4</vt:lpstr>
      <vt:lpstr>K-Map 3A.4</vt:lpstr>
      <vt:lpstr>K-Map 3A.4</vt:lpstr>
      <vt:lpstr>K-Map Gotchas: Corners</vt:lpstr>
      <vt:lpstr>Solution: Find Largest Loop  (Edges Wrap Like a Torus)</vt:lpstr>
      <vt:lpstr>K-Map Gotchas: “Duplicate” Loops are Redundant</vt:lpstr>
      <vt:lpstr>This K-Map Has How Many Loops?</vt:lpstr>
      <vt:lpstr>This K-Map Has How Many Loops?</vt:lpstr>
      <vt:lpstr>This K-Map Formula is?</vt:lpstr>
      <vt:lpstr>This K-Map Formula is?</vt:lpstr>
      <vt:lpstr>K-Map Examples</vt:lpstr>
      <vt:lpstr>K-Map Examples</vt:lpstr>
      <vt:lpstr>More Examples</vt:lpstr>
      <vt:lpstr>A Boss Battle Appears: KMaps or Boolean Equation?</vt:lpstr>
      <vt:lpstr>A Boss Battle Appears KMaps or Boolean Equation?</vt:lpstr>
      <vt:lpstr>A Boss Battle Appears: KMaps or Boolean Equation?</vt:lpstr>
      <vt:lpstr>A Boss Battle Appears: KMaps or Boolean Equation?</vt:lpstr>
      <vt:lpstr>A Boss Battle Appears KMaps or Boolean Equation?</vt:lpstr>
      <vt:lpstr>A Boss Battle Appears: KMaps!</vt:lpstr>
      <vt:lpstr>K-Maps, Part II</vt:lpstr>
      <vt:lpstr>Karnaugh Maps Reduce Boolean Functions Visually</vt:lpstr>
      <vt:lpstr>Simplification using K-Maps</vt:lpstr>
      <vt:lpstr>Karnaugh Maps</vt:lpstr>
      <vt:lpstr>Karnaugh Maps</vt:lpstr>
      <vt:lpstr>K-Maps Process, Step-by-Step</vt:lpstr>
      <vt:lpstr>Another Example from the Text </vt:lpstr>
      <vt:lpstr>Batwings Example </vt:lpstr>
      <vt:lpstr>TODO: Complete the Batwings K-Map</vt:lpstr>
      <vt:lpstr>Designing the  Batwings “Simplified” Hardware</vt:lpstr>
      <vt:lpstr>Different Process, Same Result</vt:lpstr>
      <vt:lpstr>Alternate Batwings Proof in Terms of MinTerms</vt:lpstr>
      <vt:lpstr>Final Reduced Form is?</vt:lpstr>
      <vt:lpstr>PowerPoint Presentation</vt:lpstr>
      <vt:lpstr>PowerPoint Presentation</vt:lpstr>
      <vt:lpstr>PowerPoint Presentation</vt:lpstr>
      <vt:lpstr> Advanced K-Maps Don’t Cares</vt:lpstr>
      <vt:lpstr>Don’t Cares</vt:lpstr>
      <vt:lpstr>ROMs</vt:lpstr>
      <vt:lpstr>ROMS can Encode Logic Directly</vt:lpstr>
      <vt:lpstr>Build the Gates or Store in ROM?</vt:lpstr>
      <vt:lpstr>ROM Memory VS RAM Memory</vt:lpstr>
      <vt:lpstr>Want More Than 4x1 bit?</vt:lpstr>
      <vt:lpstr>Want More Than 4x1 bit?</vt:lpstr>
      <vt:lpstr>Soft END: Exercise2 &amp;  Great Book Problems</vt:lpstr>
      <vt:lpstr>PLAs and PALs</vt:lpstr>
      <vt:lpstr>Product of Sums</vt:lpstr>
      <vt:lpstr>P.O.S. Example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ArrayLists</dc:title>
  <dc:creator>ThinBlade</dc:creator>
  <cp:lastModifiedBy>Rob Nash</cp:lastModifiedBy>
  <cp:revision>1642</cp:revision>
  <dcterms:created xsi:type="dcterms:W3CDTF">2006-08-16T00:00:00Z</dcterms:created>
  <dcterms:modified xsi:type="dcterms:W3CDTF">2018-10-11T00:31:08Z</dcterms:modified>
</cp:coreProperties>
</file>