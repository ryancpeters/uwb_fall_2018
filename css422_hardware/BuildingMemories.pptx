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696" r:id="rId2"/>
    <p:sldMasterId id="2147483708" r:id="rId3"/>
  </p:sldMasterIdLst>
  <p:notesMasterIdLst>
    <p:notesMasterId r:id="rId68"/>
  </p:notesMasterIdLst>
  <p:sldIdLst>
    <p:sldId id="256" r:id="rId4"/>
    <p:sldId id="416" r:id="rId5"/>
    <p:sldId id="380" r:id="rId6"/>
    <p:sldId id="327" r:id="rId7"/>
    <p:sldId id="287" r:id="rId8"/>
    <p:sldId id="288" r:id="rId9"/>
    <p:sldId id="272" r:id="rId10"/>
    <p:sldId id="269" r:id="rId11"/>
    <p:sldId id="274" r:id="rId12"/>
    <p:sldId id="273" r:id="rId13"/>
    <p:sldId id="271" r:id="rId14"/>
    <p:sldId id="406" r:id="rId15"/>
    <p:sldId id="309" r:id="rId16"/>
    <p:sldId id="282" r:id="rId17"/>
    <p:sldId id="376" r:id="rId18"/>
    <p:sldId id="335" r:id="rId19"/>
    <p:sldId id="336" r:id="rId20"/>
    <p:sldId id="333" r:id="rId21"/>
    <p:sldId id="334" r:id="rId22"/>
    <p:sldId id="375" r:id="rId23"/>
    <p:sldId id="330" r:id="rId24"/>
    <p:sldId id="332" r:id="rId25"/>
    <p:sldId id="275" r:id="rId26"/>
    <p:sldId id="417" r:id="rId27"/>
    <p:sldId id="270" r:id="rId28"/>
    <p:sldId id="407" r:id="rId29"/>
    <p:sldId id="329" r:id="rId30"/>
    <p:sldId id="277" r:id="rId31"/>
    <p:sldId id="340" r:id="rId32"/>
    <p:sldId id="359" r:id="rId33"/>
    <p:sldId id="377" r:id="rId34"/>
    <p:sldId id="360" r:id="rId35"/>
    <p:sldId id="361" r:id="rId36"/>
    <p:sldId id="422" r:id="rId37"/>
    <p:sldId id="373" r:id="rId38"/>
    <p:sldId id="374" r:id="rId39"/>
    <p:sldId id="371" r:id="rId40"/>
    <p:sldId id="372" r:id="rId41"/>
    <p:sldId id="366" r:id="rId42"/>
    <p:sldId id="367" r:id="rId43"/>
    <p:sldId id="368" r:id="rId44"/>
    <p:sldId id="383" r:id="rId45"/>
    <p:sldId id="341" r:id="rId46"/>
    <p:sldId id="343" r:id="rId47"/>
    <p:sldId id="384" r:id="rId48"/>
    <p:sldId id="390" r:id="rId49"/>
    <p:sldId id="347" r:id="rId50"/>
    <p:sldId id="345" r:id="rId51"/>
    <p:sldId id="346" r:id="rId52"/>
    <p:sldId id="348" r:id="rId53"/>
    <p:sldId id="349" r:id="rId54"/>
    <p:sldId id="350" r:id="rId55"/>
    <p:sldId id="352" r:id="rId56"/>
    <p:sldId id="353" r:id="rId57"/>
    <p:sldId id="354" r:id="rId58"/>
    <p:sldId id="355" r:id="rId59"/>
    <p:sldId id="356" r:id="rId60"/>
    <p:sldId id="408" r:id="rId61"/>
    <p:sldId id="396" r:id="rId62"/>
    <p:sldId id="397" r:id="rId63"/>
    <p:sldId id="398" r:id="rId64"/>
    <p:sldId id="399" r:id="rId65"/>
    <p:sldId id="400" r:id="rId66"/>
    <p:sldId id="401" r:id="rId67"/>
  </p:sldIdLst>
  <p:sldSz cx="9144000" cy="6858000" type="screen4x3"/>
  <p:notesSz cx="6858000" cy="9144000"/>
  <p:custDataLst>
    <p:tags r:id="rId6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86404" autoAdjust="0"/>
  </p:normalViewPr>
  <p:slideViewPr>
    <p:cSldViewPr>
      <p:cViewPr varScale="1">
        <p:scale>
          <a:sx n="119" d="100"/>
          <a:sy n="119" d="100"/>
        </p:scale>
        <p:origin x="1140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tags" Target="tags/tag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0D6DFB-7A91-EB42-8AC1-17309E6B4EE3}" type="datetimeFigureOut">
              <a:rPr lang="en-US" smtClean="0"/>
              <a:t>10/28/2018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FE985-65DD-FD4F-8B53-C268E1CFA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322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042E97-6315-47FA-9B79-DC516C7CD6C6}" type="slidenum">
              <a:rPr lang="ko-KR" altLang="en-US" smtClean="0"/>
              <a:pPr/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076165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A: 2^15</a:t>
            </a:r>
          </a:p>
          <a:p>
            <a:r>
              <a:rPr lang="en-US" dirty="0"/>
              <a:t>A: since both chips are in use to make a 16 bit bus, still 2^15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042E97-6315-47FA-9B79-DC516C7CD6C6}" type="slidenum">
              <a:rPr lang="ko-KR" altLang="en-US" smtClean="0"/>
              <a:pPr/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66685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EFE985-65DD-FD4F-8B53-C268E1CFA33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937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Wikipedia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058F51-B8D6-8C4C-83F1-EF97658D658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522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EFE985-65DD-FD4F-8B53-C268E1CFA33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0808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FPM is also just called Page Mode RAM, avoids</a:t>
            </a:r>
            <a:r>
              <a:rPr lang="en-US" baseline="0" dirty="0"/>
              <a:t> an inefficiency in </a:t>
            </a:r>
            <a:r>
              <a:rPr lang="en-US" baseline="0" dirty="0" err="1"/>
              <a:t>precharging</a:t>
            </a:r>
            <a:r>
              <a:rPr lang="en-US" baseline="0" dirty="0"/>
              <a:t> a row with successive column accesses.</a:t>
            </a:r>
            <a:endParaRPr lang="en-US" dirty="0"/>
          </a:p>
          <a:p>
            <a:r>
              <a:rPr lang="en-US" dirty="0"/>
              <a:t>EDO is similar</a:t>
            </a:r>
            <a:r>
              <a:rPr lang="en-US" baseline="0" dirty="0"/>
              <a:t> to FPM, but with an overlap (pipelining) in part of the accesses</a:t>
            </a:r>
          </a:p>
          <a:p>
            <a:r>
              <a:rPr lang="en-US" baseline="0" dirty="0" err="1"/>
              <a:t>MDRam</a:t>
            </a:r>
            <a:r>
              <a:rPr lang="en-US" baseline="0" dirty="0"/>
              <a:t> is suitable for low end graphics cards, costs less than SRAM</a:t>
            </a:r>
          </a:p>
          <a:p>
            <a:r>
              <a:rPr lang="en-US" baseline="0" dirty="0" err="1"/>
              <a:t>RDRam</a:t>
            </a:r>
            <a:r>
              <a:rPr lang="en-US" baseline="0" dirty="0"/>
              <a:t> lost to DDR in a standards war, even after Intel acquired Rambus (think: Beta </a:t>
            </a:r>
            <a:r>
              <a:rPr lang="en-US" baseline="0" dirty="0" err="1"/>
              <a:t>vs</a:t>
            </a:r>
            <a:r>
              <a:rPr lang="en-US" baseline="0" dirty="0"/>
              <a:t> VHS)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EFE985-65DD-FD4F-8B53-C268E1CFA33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0808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EFE985-65DD-FD4F-8B53-C268E1CFA33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0808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Hyphens.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EFE985-65DD-FD4F-8B53-C268E1CFA33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0808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EFE985-65DD-FD4F-8B53-C268E1CFA33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0808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characteristics to a real memory array</a:t>
            </a:r>
          </a:p>
          <a:p>
            <a:r>
              <a:rPr lang="en-US" dirty="0"/>
              <a:t>Guest chip! An Embedded SRAM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EFE985-65DD-FD4F-8B53-C268E1CFA33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0491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EFE985-65DD-FD4F-8B53-C268E1CFA33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9136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Q: Or, how many address in lines does the smaller chips have?  </a:t>
            </a:r>
          </a:p>
          <a:p>
            <a:r>
              <a:rPr lang="en-US" dirty="0"/>
              <a:t>Q: The</a:t>
            </a:r>
            <a:r>
              <a:rPr lang="en-US" baseline="0" dirty="0"/>
              <a:t> larger chip?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042E97-6315-47FA-9B79-DC516C7CD6C6}" type="slidenum">
              <a:rPr lang="ko-KR" altLang="en-US" smtClean="0"/>
              <a:pPr/>
              <a:t>18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070443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Byte</a:t>
            </a:r>
            <a:r>
              <a:rPr lang="en-US" baseline="0" dirty="0"/>
              <a:t> Selection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EFE985-65DD-FD4F-8B53-C268E1CFA33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3890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just one of the 32x8 Black</a:t>
            </a:r>
            <a:r>
              <a:rPr lang="en-US" baseline="0" dirty="0"/>
              <a:t> boxes to dive into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EFE985-65DD-FD4F-8B53-C268E1CFA33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4884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\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042E97-6315-47FA-9B79-DC516C7CD6C6}" type="slidenum">
              <a:rPr lang="ko-KR" altLang="en-US" smtClean="0"/>
              <a:pPr/>
              <a:t>27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197456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N==128, since 32*128 == 4K</a:t>
            </a:r>
          </a:p>
          <a:p>
            <a:r>
              <a:rPr lang="en-US" baseline="0" dirty="0"/>
              <a:t>Page: 5, Offset:7 BS: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EFE985-65DD-FD4F-8B53-C268E1CFA33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8455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4 chips per page and 8 pages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EFE985-65DD-FD4F-8B53-C268E1CFA33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4553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A:</a:t>
            </a:r>
            <a:r>
              <a:rPr lang="en-US" baseline="0" dirty="0"/>
              <a:t> </a:t>
            </a:r>
            <a:r>
              <a:rPr lang="en-US" dirty="0"/>
              <a:t>CE( chip enable) OE (output enable, read</a:t>
            </a:r>
            <a:r>
              <a:rPr lang="en-US" baseline="0" dirty="0"/>
              <a:t> </a:t>
            </a:r>
            <a:r>
              <a:rPr lang="en-US" baseline="0" dirty="0" err="1"/>
              <a:t>vs</a:t>
            </a:r>
            <a:r>
              <a:rPr lang="en-US" baseline="0" dirty="0"/>
              <a:t> write</a:t>
            </a:r>
            <a:r>
              <a:rPr lang="en-US" dirty="0"/>
              <a:t>)</a:t>
            </a:r>
          </a:p>
          <a:p>
            <a:r>
              <a:rPr lang="en-US" dirty="0"/>
              <a:t>A: cut-and-paste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EFE985-65DD-FD4F-8B53-C268E1CFA33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2353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EFE985-65DD-FD4F-8B53-C268E1CFA33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89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we looked inside</a:t>
            </a:r>
            <a:r>
              <a:rPr lang="en-US" baseline="0" dirty="0"/>
              <a:t> the address decode logic, we would see A15 controls CE0, CE1 and RD,WR controls W,OE</a:t>
            </a:r>
            <a:endParaRPr lang="en-US" dirty="0"/>
          </a:p>
          <a:p>
            <a:r>
              <a:rPr lang="en-US" dirty="0"/>
              <a:t>BUT!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042E97-6315-47FA-9B79-DC516C7CD6C6}" type="slidenum">
              <a:rPr lang="ko-KR" altLang="en-US" smtClean="0"/>
              <a:pPr/>
              <a:t>38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49123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042E97-6315-47FA-9B79-DC516C7CD6C6}" type="slidenum">
              <a:rPr lang="ko-KR" altLang="en-US" smtClean="0"/>
              <a:pPr/>
              <a:t>39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529017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042E97-6315-47FA-9B79-DC516C7CD6C6}" type="slidenum">
              <a:rPr lang="ko-KR" altLang="en-US" smtClean="0"/>
              <a:pPr/>
              <a:t>49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60102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10/28/2018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E3BF1FE-70ED-435F-B57B-3C384343D565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08278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7696200" y="6310313"/>
            <a:ext cx="914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fld id="{0D00EACA-1E9A-4D1F-97F6-AEDAD376DFEF}" type="slidenum">
              <a:rPr lang="en-US">
                <a:solidFill>
                  <a:srgbClr val="000000"/>
                </a:solidFill>
              </a:rPr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399"/>
            <a:ext cx="8077200" cy="52911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231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6267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39126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01733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>
            <a:spLocks noChangeArrowheads="1"/>
          </p:cNvSpPr>
          <p:nvPr userDrawn="1"/>
        </p:nvSpPr>
        <p:spPr bwMode="auto">
          <a:xfrm>
            <a:off x="8001000" y="6372225"/>
            <a:ext cx="9906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fld id="{351F87A0-C66C-4870-8D9A-13075D5A14D0}" type="slidenum">
              <a:rPr lang="en-US">
                <a:solidFill>
                  <a:srgbClr val="000000"/>
                </a:solidFill>
              </a:rPr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29687988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45845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5248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75972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6D1D076-CA67-48F8-A97A-67FE69DFAFC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8933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228600"/>
            <a:ext cx="2095500" cy="6324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228600"/>
            <a:ext cx="6134100" cy="6324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E16F282-E52C-4943-A788-76FAF2FD74F1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757560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E3BF1FE-70ED-435F-B57B-3C384343D565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302326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7696200" y="6310313"/>
            <a:ext cx="914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fld id="{0D00EACA-1E9A-4D1F-97F6-AEDAD376DFEF}" type="slidenum">
              <a:rPr lang="en-US">
                <a:solidFill>
                  <a:srgbClr val="000000"/>
                </a:solidFill>
              </a:rPr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399"/>
            <a:ext cx="8077200" cy="52911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1244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765215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33496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916889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>
            <a:spLocks noChangeArrowheads="1"/>
          </p:cNvSpPr>
          <p:nvPr userDrawn="1"/>
        </p:nvSpPr>
        <p:spPr bwMode="auto">
          <a:xfrm>
            <a:off x="8001000" y="6372225"/>
            <a:ext cx="9906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fld id="{351F87A0-C66C-4870-8D9A-13075D5A14D0}" type="slidenum">
              <a:rPr lang="en-US">
                <a:solidFill>
                  <a:srgbClr val="000000"/>
                </a:solidFill>
              </a:rPr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53978982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50959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46676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21109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6D1D076-CA67-48F8-A97A-67FE69DFAFC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4076641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228600"/>
            <a:ext cx="2095500" cy="6324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228600"/>
            <a:ext cx="6134100" cy="6324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E16F282-E52C-4943-A788-76FAF2FD74F1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31631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39275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</a:pPr>
            <a:endParaRPr lang="ko-KR" altLang="en-US">
              <a:solidFill>
                <a:srgbClr val="FFFFFF"/>
              </a:solidFill>
              <a:latin typeface="Calibri" pitchFamily="34" charset="0"/>
              <a:ea typeface="ＭＳ Ｐゴシック"/>
            </a:endParaRPr>
          </a:p>
        </p:txBody>
      </p: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180975"/>
            <a:ext cx="576263" cy="457200"/>
          </a:xfrm>
          <a:prstGeom prst="rect">
            <a:avLst/>
          </a:prstGeom>
          <a:solidFill>
            <a:srgbClr val="39275B"/>
          </a:solidFill>
          <a:ln>
            <a:noFill/>
          </a:ln>
          <a:effectLst>
            <a:outerShdw dist="38100" dir="3600019" algn="br" rotWithShape="0">
              <a:srgbClr val="808080">
                <a:alpha val="14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</a:pPr>
            <a:endParaRPr lang="ko-KR" altLang="en-US">
              <a:solidFill>
                <a:srgbClr val="FFFFFF"/>
              </a:solidFill>
              <a:latin typeface="Calibri" pitchFamily="34" charset="0"/>
              <a:ea typeface="ＭＳ Ｐゴシック" pitchFamily="34" charset="-128"/>
            </a:endParaRPr>
          </a:p>
        </p:txBody>
      </p:sp>
      <p:pic>
        <p:nvPicPr>
          <p:cNvPr id="3076" name="Picture 8" descr="UW_W-Logo_RGB.pn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3" y="295275"/>
            <a:ext cx="33813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itle Placeholder 1"/>
          <p:cNvSpPr>
            <a:spLocks noGrp="1"/>
          </p:cNvSpPr>
          <p:nvPr>
            <p:ph type="title"/>
          </p:nvPr>
        </p:nvSpPr>
        <p:spPr bwMode="auto">
          <a:xfrm>
            <a:off x="304800" y="228600"/>
            <a:ext cx="8229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30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95400"/>
            <a:ext cx="82296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01000" y="6553200"/>
            <a:ext cx="692150" cy="1682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F7C075F-7474-4008-A026-08ECC3BEF552}" type="slidenum">
              <a:rPr lang="ko-KR" altLang="en-US" sz="1200">
                <a:latin typeface="Frutiger 55 Roman" charset="0"/>
                <a:ea typeface="ＭＳ Ｐゴシック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ko-KR" sz="1200">
              <a:latin typeface="Frutiger 55 Roman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81624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5pPr>
      <a:lvl6pPr marL="4572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6pPr>
      <a:lvl7pPr marL="9144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7pPr>
      <a:lvl8pPr marL="13716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8pPr>
      <a:lvl9pPr marL="18288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39275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</a:pPr>
            <a:endParaRPr lang="ko-KR" altLang="en-US">
              <a:solidFill>
                <a:srgbClr val="FFFFFF"/>
              </a:solidFill>
              <a:latin typeface="Calibri" pitchFamily="34" charset="0"/>
              <a:ea typeface="ＭＳ Ｐゴシック"/>
            </a:endParaRPr>
          </a:p>
        </p:txBody>
      </p: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180975"/>
            <a:ext cx="576263" cy="457200"/>
          </a:xfrm>
          <a:prstGeom prst="rect">
            <a:avLst/>
          </a:prstGeom>
          <a:solidFill>
            <a:srgbClr val="39275B"/>
          </a:solidFill>
          <a:ln>
            <a:noFill/>
          </a:ln>
          <a:effectLst>
            <a:outerShdw dist="38100" dir="3600019" algn="br" rotWithShape="0">
              <a:srgbClr val="808080">
                <a:alpha val="14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</a:pPr>
            <a:endParaRPr lang="ko-KR" altLang="en-US">
              <a:solidFill>
                <a:srgbClr val="FFFFFF"/>
              </a:solidFill>
              <a:latin typeface="Calibri" pitchFamily="34" charset="0"/>
              <a:ea typeface="ＭＳ Ｐゴシック" pitchFamily="34" charset="-128"/>
            </a:endParaRPr>
          </a:p>
        </p:txBody>
      </p:sp>
      <p:pic>
        <p:nvPicPr>
          <p:cNvPr id="3076" name="Picture 8" descr="UW_W-Logo_RGB.pn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3" y="295275"/>
            <a:ext cx="33813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itle Placeholder 1"/>
          <p:cNvSpPr>
            <a:spLocks noGrp="1"/>
          </p:cNvSpPr>
          <p:nvPr>
            <p:ph type="title"/>
          </p:nvPr>
        </p:nvSpPr>
        <p:spPr bwMode="auto">
          <a:xfrm>
            <a:off x="304800" y="228600"/>
            <a:ext cx="8229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30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95400"/>
            <a:ext cx="82296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01000" y="6553200"/>
            <a:ext cx="692150" cy="1682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F7C075F-7474-4008-A026-08ECC3BEF552}" type="slidenum">
              <a:rPr lang="ko-KR" altLang="en-US" sz="1200">
                <a:latin typeface="Frutiger 55 Roman" charset="0"/>
                <a:ea typeface="ＭＳ Ｐゴシック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ko-KR" sz="1200">
              <a:latin typeface="Frutiger 55 Roman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16959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5pPr>
      <a:lvl6pPr marL="4572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6pPr>
      <a:lvl7pPr marL="9144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7pPr>
      <a:lvl8pPr marL="13716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8pPr>
      <a:lvl9pPr marL="18288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Memory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873752"/>
          </a:xfrm>
        </p:spPr>
        <p:txBody>
          <a:bodyPr/>
          <a:lstStyle/>
          <a:p>
            <a:r>
              <a:rPr lang="en-US" dirty="0"/>
              <a:t>Instructor: Rob Nash</a:t>
            </a:r>
          </a:p>
          <a:p>
            <a:r>
              <a:rPr lang="en-US" dirty="0"/>
              <a:t>Readings: See schedule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“Quote”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304800"/>
            <a:ext cx="6477000" cy="64620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6800" y="6553200"/>
            <a:ext cx="7086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Image source: http://</a:t>
            </a:r>
            <a:r>
              <a:rPr lang="en-US" sz="800" dirty="0" err="1"/>
              <a:t>courses.cs.vt.edu</a:t>
            </a:r>
            <a:r>
              <a:rPr lang="en-US" sz="800" dirty="0"/>
              <a:t>/</a:t>
            </a:r>
            <a:r>
              <a:rPr lang="en-US" sz="800" dirty="0" err="1"/>
              <a:t>csonline</a:t>
            </a:r>
            <a:r>
              <a:rPr lang="en-US" sz="800" dirty="0"/>
              <a:t>/</a:t>
            </a:r>
            <a:r>
              <a:rPr lang="en-US" sz="800" dirty="0" err="1"/>
              <a:t>MachineArchitecture</a:t>
            </a:r>
            <a:r>
              <a:rPr lang="en-US" sz="800" dirty="0"/>
              <a:t>/Lessons/CPU/</a:t>
            </a:r>
            <a:r>
              <a:rPr lang="en-US" sz="800" dirty="0" err="1"/>
              <a:t>cpu_circuit.gif</a:t>
            </a:r>
            <a:endParaRPr lang="en-US" sz="800" dirty="0"/>
          </a:p>
        </p:txBody>
      </p:sp>
      <p:sp>
        <p:nvSpPr>
          <p:cNvPr id="3" name="TextBox 2"/>
          <p:cNvSpPr txBox="1"/>
          <p:nvPr/>
        </p:nvSpPr>
        <p:spPr>
          <a:xfrm>
            <a:off x="228600" y="30202"/>
            <a:ext cx="8839199" cy="5539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000" dirty="0"/>
              <a:t>Lets Focus on </a:t>
            </a:r>
            <a:r>
              <a:rPr lang="en-US" sz="1200" b="1" dirty="0">
                <a:solidFill>
                  <a:srgbClr val="FF6600"/>
                </a:solidFill>
              </a:rPr>
              <a:t>smaller</a:t>
            </a:r>
            <a:r>
              <a:rPr lang="en-US" sz="3000" dirty="0"/>
              <a:t> </a:t>
            </a:r>
            <a:r>
              <a:rPr lang="en-US" sz="3000" b="1" dirty="0">
                <a:solidFill>
                  <a:srgbClr val="FF6600"/>
                </a:solidFill>
              </a:rPr>
              <a:t>RAMs</a:t>
            </a:r>
            <a:r>
              <a:rPr lang="en-US" sz="3000" dirty="0">
                <a:solidFill>
                  <a:srgbClr val="FF6600"/>
                </a:solidFill>
              </a:rPr>
              <a:t> </a:t>
            </a:r>
            <a:r>
              <a:rPr lang="en-US" sz="3000" dirty="0"/>
              <a:t>and How to </a:t>
            </a:r>
            <a:r>
              <a:rPr lang="en-US" sz="3000" b="1" dirty="0">
                <a:solidFill>
                  <a:srgbClr val="0000FF"/>
                </a:solidFill>
              </a:rPr>
              <a:t>Scale 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46802"/>
            <a:ext cx="8305800" cy="5539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000" dirty="0"/>
              <a:t>A Simple RISC-Style Machine for Computation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3947" y="3733800"/>
            <a:ext cx="2823347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A</a:t>
            </a:r>
            <a:r>
              <a:rPr lang="en-US" b="1" dirty="0"/>
              <a:t> </a:t>
            </a:r>
            <a:r>
              <a:rPr lang="en-US" b="1" dirty="0">
                <a:solidFill>
                  <a:srgbClr val="FF6600"/>
                </a:solidFill>
              </a:rPr>
              <a:t>Smaller</a:t>
            </a:r>
            <a:r>
              <a:rPr lang="en-US" dirty="0">
                <a:solidFill>
                  <a:srgbClr val="FF6600"/>
                </a:solidFill>
              </a:rPr>
              <a:t> </a:t>
            </a:r>
            <a:r>
              <a:rPr lang="en-US" b="1" dirty="0">
                <a:solidFill>
                  <a:srgbClr val="FF6600"/>
                </a:solidFill>
              </a:rPr>
              <a:t>RAM</a:t>
            </a:r>
            <a:r>
              <a:rPr lang="en-US" dirty="0"/>
              <a:t> Chip</a:t>
            </a:r>
          </a:p>
          <a:p>
            <a:r>
              <a:rPr lang="en-US" dirty="0"/>
              <a:t>(one package of 16 D-FFs)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1371600" y="4419600"/>
            <a:ext cx="1828800" cy="609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334000" y="4648200"/>
            <a:ext cx="3657601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0000FF"/>
                </a:solidFill>
              </a:rPr>
              <a:t>Larger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b="1" dirty="0">
                <a:solidFill>
                  <a:srgbClr val="0000FF"/>
                </a:solidFill>
              </a:rPr>
              <a:t>RAM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(Set of Chips)</a:t>
            </a:r>
          </a:p>
          <a:p>
            <a:r>
              <a:rPr lang="en-US" dirty="0"/>
              <a:t>(16 packages of the </a:t>
            </a:r>
            <a:r>
              <a:rPr lang="en-US" b="1" dirty="0">
                <a:solidFill>
                  <a:srgbClr val="FF6600"/>
                </a:solidFill>
              </a:rPr>
              <a:t>smaller RAM</a:t>
            </a:r>
            <a:r>
              <a:rPr lang="en-US" dirty="0"/>
              <a:t>)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flipH="1" flipV="1">
            <a:off x="6705601" y="3505200"/>
            <a:ext cx="609599" cy="1066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1411674" y="1981200"/>
            <a:ext cx="1255326" cy="1752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7" idx="0"/>
          </p:cNvCxnSpPr>
          <p:nvPr/>
        </p:nvCxnSpPr>
        <p:spPr>
          <a:xfrm flipV="1">
            <a:off x="1407727" y="1981200"/>
            <a:ext cx="3088073" cy="1752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5888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-406908" y="0"/>
            <a:ext cx="9957816" cy="821155"/>
          </a:xfrm>
        </p:spPr>
        <p:txBody>
          <a:bodyPr/>
          <a:lstStyle/>
          <a:p>
            <a:r>
              <a:rPr lang="en-US" dirty="0"/>
              <a:t>From </a:t>
            </a:r>
            <a:r>
              <a:rPr lang="en-US" dirty="0">
                <a:solidFill>
                  <a:srgbClr val="FF6600"/>
                </a:solidFill>
              </a:rPr>
              <a:t>Smaller</a:t>
            </a:r>
            <a:r>
              <a:rPr lang="en-US" dirty="0"/>
              <a:t> to </a:t>
            </a:r>
            <a:r>
              <a:rPr lang="en-US" dirty="0">
                <a:solidFill>
                  <a:srgbClr val="0000FF"/>
                </a:solidFill>
              </a:rPr>
              <a:t>Larger</a:t>
            </a:r>
            <a:r>
              <a:rPr lang="en-US" dirty="0"/>
              <a:t> Chips</a:t>
            </a:r>
          </a:p>
        </p:txBody>
      </p:sp>
      <p:grpSp>
        <p:nvGrpSpPr>
          <p:cNvPr id="67587" name="Group 4"/>
          <p:cNvGrpSpPr>
            <a:grpSpLocks/>
          </p:cNvGrpSpPr>
          <p:nvPr/>
        </p:nvGrpSpPr>
        <p:grpSpPr bwMode="auto">
          <a:xfrm>
            <a:off x="1106488" y="1374775"/>
            <a:ext cx="1601787" cy="1938338"/>
            <a:chOff x="1052" y="1581"/>
            <a:chExt cx="1009" cy="1221"/>
          </a:xfrm>
        </p:grpSpPr>
        <p:sp>
          <p:nvSpPr>
            <p:cNvPr id="67697" name="Rectangle 5"/>
            <p:cNvSpPr>
              <a:spLocks noChangeArrowheads="1"/>
            </p:cNvSpPr>
            <p:nvPr/>
          </p:nvSpPr>
          <p:spPr bwMode="auto">
            <a:xfrm>
              <a:off x="1359" y="1632"/>
              <a:ext cx="397" cy="112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7698" name="Line 6"/>
            <p:cNvSpPr>
              <a:spLocks noChangeShapeType="1"/>
            </p:cNvSpPr>
            <p:nvPr/>
          </p:nvSpPr>
          <p:spPr bwMode="auto">
            <a:xfrm flipH="1">
              <a:off x="1056" y="172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99" name="Line 7"/>
            <p:cNvSpPr>
              <a:spLocks noChangeShapeType="1"/>
            </p:cNvSpPr>
            <p:nvPr/>
          </p:nvSpPr>
          <p:spPr bwMode="auto">
            <a:xfrm flipH="1">
              <a:off x="1055" y="179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00" name="Line 8"/>
            <p:cNvSpPr>
              <a:spLocks noChangeShapeType="1"/>
            </p:cNvSpPr>
            <p:nvPr/>
          </p:nvSpPr>
          <p:spPr bwMode="auto">
            <a:xfrm flipH="1">
              <a:off x="1056" y="1849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01" name="Line 9"/>
            <p:cNvSpPr>
              <a:spLocks noChangeShapeType="1"/>
            </p:cNvSpPr>
            <p:nvPr/>
          </p:nvSpPr>
          <p:spPr bwMode="auto">
            <a:xfrm flipH="1">
              <a:off x="1055" y="191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02" name="Line 10"/>
            <p:cNvSpPr>
              <a:spLocks noChangeShapeType="1"/>
            </p:cNvSpPr>
            <p:nvPr/>
          </p:nvSpPr>
          <p:spPr bwMode="auto">
            <a:xfrm flipH="1">
              <a:off x="1053" y="197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03" name="Line 11"/>
            <p:cNvSpPr>
              <a:spLocks noChangeShapeType="1"/>
            </p:cNvSpPr>
            <p:nvPr/>
          </p:nvSpPr>
          <p:spPr bwMode="auto">
            <a:xfrm flipH="1">
              <a:off x="1052" y="203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04" name="Line 12"/>
            <p:cNvSpPr>
              <a:spLocks noChangeShapeType="1"/>
            </p:cNvSpPr>
            <p:nvPr/>
          </p:nvSpPr>
          <p:spPr bwMode="auto">
            <a:xfrm flipH="1">
              <a:off x="1053" y="209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05" name="Line 13"/>
            <p:cNvSpPr>
              <a:spLocks noChangeShapeType="1"/>
            </p:cNvSpPr>
            <p:nvPr/>
          </p:nvSpPr>
          <p:spPr bwMode="auto">
            <a:xfrm flipH="1">
              <a:off x="1052" y="215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06" name="Line 14"/>
            <p:cNvSpPr>
              <a:spLocks noChangeShapeType="1"/>
            </p:cNvSpPr>
            <p:nvPr/>
          </p:nvSpPr>
          <p:spPr bwMode="auto">
            <a:xfrm flipH="1">
              <a:off x="1056" y="221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07" name="Line 15"/>
            <p:cNvSpPr>
              <a:spLocks noChangeShapeType="1"/>
            </p:cNvSpPr>
            <p:nvPr/>
          </p:nvSpPr>
          <p:spPr bwMode="auto">
            <a:xfrm flipH="1">
              <a:off x="1055" y="228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08" name="Line 16"/>
            <p:cNvSpPr>
              <a:spLocks noChangeShapeType="1"/>
            </p:cNvSpPr>
            <p:nvPr/>
          </p:nvSpPr>
          <p:spPr bwMode="auto">
            <a:xfrm flipH="1">
              <a:off x="1056" y="2339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09" name="Line 17"/>
            <p:cNvSpPr>
              <a:spLocks noChangeShapeType="1"/>
            </p:cNvSpPr>
            <p:nvPr/>
          </p:nvSpPr>
          <p:spPr bwMode="auto">
            <a:xfrm flipH="1">
              <a:off x="1055" y="240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10" name="Line 18"/>
            <p:cNvSpPr>
              <a:spLocks noChangeShapeType="1"/>
            </p:cNvSpPr>
            <p:nvPr/>
          </p:nvSpPr>
          <p:spPr bwMode="auto">
            <a:xfrm flipH="1">
              <a:off x="1053" y="247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11" name="Line 19"/>
            <p:cNvSpPr>
              <a:spLocks noChangeShapeType="1"/>
            </p:cNvSpPr>
            <p:nvPr/>
          </p:nvSpPr>
          <p:spPr bwMode="auto">
            <a:xfrm flipH="1">
              <a:off x="1052" y="253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12" name="Line 20"/>
            <p:cNvSpPr>
              <a:spLocks noChangeShapeType="1"/>
            </p:cNvSpPr>
            <p:nvPr/>
          </p:nvSpPr>
          <p:spPr bwMode="auto">
            <a:xfrm flipH="1">
              <a:off x="1057" y="259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13" name="Text Box 21"/>
            <p:cNvSpPr txBox="1">
              <a:spLocks noChangeArrowheads="1"/>
            </p:cNvSpPr>
            <p:nvPr/>
          </p:nvSpPr>
          <p:spPr bwMode="auto">
            <a:xfrm>
              <a:off x="1335" y="165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A0</a:t>
              </a:r>
            </a:p>
          </p:txBody>
        </p:sp>
        <p:sp>
          <p:nvSpPr>
            <p:cNvPr id="67714" name="Text Box 22"/>
            <p:cNvSpPr txBox="1">
              <a:spLocks noChangeArrowheads="1"/>
            </p:cNvSpPr>
            <p:nvPr/>
          </p:nvSpPr>
          <p:spPr bwMode="auto">
            <a:xfrm>
              <a:off x="1339" y="1716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</a:t>
              </a:r>
            </a:p>
          </p:txBody>
        </p:sp>
        <p:sp>
          <p:nvSpPr>
            <p:cNvPr id="67715" name="Text Box 23"/>
            <p:cNvSpPr txBox="1">
              <a:spLocks noChangeArrowheads="1"/>
            </p:cNvSpPr>
            <p:nvPr/>
          </p:nvSpPr>
          <p:spPr bwMode="auto">
            <a:xfrm>
              <a:off x="1338" y="1782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A2</a:t>
              </a:r>
            </a:p>
          </p:txBody>
        </p:sp>
        <p:sp>
          <p:nvSpPr>
            <p:cNvPr id="67716" name="Text Box 24"/>
            <p:cNvSpPr txBox="1">
              <a:spLocks noChangeArrowheads="1"/>
            </p:cNvSpPr>
            <p:nvPr/>
          </p:nvSpPr>
          <p:spPr bwMode="auto">
            <a:xfrm>
              <a:off x="1339" y="184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A3</a:t>
              </a:r>
            </a:p>
          </p:txBody>
        </p:sp>
        <p:sp>
          <p:nvSpPr>
            <p:cNvPr id="67717" name="Text Box 25"/>
            <p:cNvSpPr txBox="1">
              <a:spLocks noChangeArrowheads="1"/>
            </p:cNvSpPr>
            <p:nvPr/>
          </p:nvSpPr>
          <p:spPr bwMode="auto">
            <a:xfrm>
              <a:off x="1335" y="190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A4</a:t>
              </a:r>
            </a:p>
          </p:txBody>
        </p:sp>
        <p:sp>
          <p:nvSpPr>
            <p:cNvPr id="67718" name="Text Box 26"/>
            <p:cNvSpPr txBox="1">
              <a:spLocks noChangeArrowheads="1"/>
            </p:cNvSpPr>
            <p:nvPr/>
          </p:nvSpPr>
          <p:spPr bwMode="auto">
            <a:xfrm>
              <a:off x="1339" y="1966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A5</a:t>
              </a:r>
            </a:p>
          </p:txBody>
        </p:sp>
        <p:sp>
          <p:nvSpPr>
            <p:cNvPr id="67719" name="Text Box 27"/>
            <p:cNvSpPr txBox="1">
              <a:spLocks noChangeArrowheads="1"/>
            </p:cNvSpPr>
            <p:nvPr/>
          </p:nvSpPr>
          <p:spPr bwMode="auto">
            <a:xfrm>
              <a:off x="1338" y="2032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A6</a:t>
              </a:r>
            </a:p>
          </p:txBody>
        </p:sp>
        <p:sp>
          <p:nvSpPr>
            <p:cNvPr id="67720" name="Text Box 28"/>
            <p:cNvSpPr txBox="1">
              <a:spLocks noChangeArrowheads="1"/>
            </p:cNvSpPr>
            <p:nvPr/>
          </p:nvSpPr>
          <p:spPr bwMode="auto">
            <a:xfrm>
              <a:off x="1339" y="209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A7</a:t>
              </a:r>
            </a:p>
          </p:txBody>
        </p:sp>
        <p:sp>
          <p:nvSpPr>
            <p:cNvPr id="67721" name="Text Box 29"/>
            <p:cNvSpPr txBox="1">
              <a:spLocks noChangeArrowheads="1"/>
            </p:cNvSpPr>
            <p:nvPr/>
          </p:nvSpPr>
          <p:spPr bwMode="auto">
            <a:xfrm>
              <a:off x="1332" y="215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A8</a:t>
              </a:r>
            </a:p>
          </p:txBody>
        </p:sp>
        <p:sp>
          <p:nvSpPr>
            <p:cNvPr id="67722" name="Text Box 30"/>
            <p:cNvSpPr txBox="1">
              <a:spLocks noChangeArrowheads="1"/>
            </p:cNvSpPr>
            <p:nvPr/>
          </p:nvSpPr>
          <p:spPr bwMode="auto">
            <a:xfrm>
              <a:off x="1336" y="221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A9</a:t>
              </a:r>
            </a:p>
          </p:txBody>
        </p:sp>
        <p:sp>
          <p:nvSpPr>
            <p:cNvPr id="67723" name="Text Box 31"/>
            <p:cNvSpPr txBox="1">
              <a:spLocks noChangeArrowheads="1"/>
            </p:cNvSpPr>
            <p:nvPr/>
          </p:nvSpPr>
          <p:spPr bwMode="auto">
            <a:xfrm>
              <a:off x="1317" y="2281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A10</a:t>
              </a:r>
            </a:p>
          </p:txBody>
        </p:sp>
        <p:sp>
          <p:nvSpPr>
            <p:cNvPr id="67724" name="Text Box 32"/>
            <p:cNvSpPr txBox="1">
              <a:spLocks noChangeArrowheads="1"/>
            </p:cNvSpPr>
            <p:nvPr/>
          </p:nvSpPr>
          <p:spPr bwMode="auto">
            <a:xfrm>
              <a:off x="1318" y="2346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A11</a:t>
              </a:r>
            </a:p>
          </p:txBody>
        </p:sp>
        <p:sp>
          <p:nvSpPr>
            <p:cNvPr id="67725" name="Text Box 33"/>
            <p:cNvSpPr txBox="1">
              <a:spLocks noChangeArrowheads="1"/>
            </p:cNvSpPr>
            <p:nvPr/>
          </p:nvSpPr>
          <p:spPr bwMode="auto">
            <a:xfrm>
              <a:off x="1314" y="2404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A12</a:t>
              </a:r>
            </a:p>
          </p:txBody>
        </p:sp>
        <p:sp>
          <p:nvSpPr>
            <p:cNvPr id="67726" name="Text Box 34"/>
            <p:cNvSpPr txBox="1">
              <a:spLocks noChangeArrowheads="1"/>
            </p:cNvSpPr>
            <p:nvPr/>
          </p:nvSpPr>
          <p:spPr bwMode="auto">
            <a:xfrm>
              <a:off x="1318" y="2465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A13</a:t>
              </a:r>
            </a:p>
          </p:txBody>
        </p:sp>
        <p:sp>
          <p:nvSpPr>
            <p:cNvPr id="67727" name="Text Box 35"/>
            <p:cNvSpPr txBox="1">
              <a:spLocks noChangeArrowheads="1"/>
            </p:cNvSpPr>
            <p:nvPr/>
          </p:nvSpPr>
          <p:spPr bwMode="auto">
            <a:xfrm>
              <a:off x="1317" y="2531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A14</a:t>
              </a:r>
            </a:p>
          </p:txBody>
        </p:sp>
        <p:sp>
          <p:nvSpPr>
            <p:cNvPr id="67728" name="Line 36"/>
            <p:cNvSpPr>
              <a:spLocks noChangeShapeType="1"/>
            </p:cNvSpPr>
            <p:nvPr/>
          </p:nvSpPr>
          <p:spPr bwMode="auto">
            <a:xfrm flipH="1">
              <a:off x="1756" y="174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29" name="Line 37"/>
            <p:cNvSpPr>
              <a:spLocks noChangeShapeType="1"/>
            </p:cNvSpPr>
            <p:nvPr/>
          </p:nvSpPr>
          <p:spPr bwMode="auto">
            <a:xfrm flipH="1">
              <a:off x="1759" y="1844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30" name="Line 38"/>
            <p:cNvSpPr>
              <a:spLocks noChangeShapeType="1"/>
            </p:cNvSpPr>
            <p:nvPr/>
          </p:nvSpPr>
          <p:spPr bwMode="auto">
            <a:xfrm flipH="1">
              <a:off x="1757" y="198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31" name="Line 39"/>
            <p:cNvSpPr>
              <a:spLocks noChangeShapeType="1"/>
            </p:cNvSpPr>
            <p:nvPr/>
          </p:nvSpPr>
          <p:spPr bwMode="auto">
            <a:xfrm flipH="1">
              <a:off x="1756" y="2135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32" name="Line 40"/>
            <p:cNvSpPr>
              <a:spLocks noChangeShapeType="1"/>
            </p:cNvSpPr>
            <p:nvPr/>
          </p:nvSpPr>
          <p:spPr bwMode="auto">
            <a:xfrm flipH="1">
              <a:off x="1754" y="227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33" name="Line 41"/>
            <p:cNvSpPr>
              <a:spLocks noChangeShapeType="1"/>
            </p:cNvSpPr>
            <p:nvPr/>
          </p:nvSpPr>
          <p:spPr bwMode="auto">
            <a:xfrm flipH="1">
              <a:off x="1756" y="238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34" name="Line 42"/>
            <p:cNvSpPr>
              <a:spLocks noChangeShapeType="1"/>
            </p:cNvSpPr>
            <p:nvPr/>
          </p:nvSpPr>
          <p:spPr bwMode="auto">
            <a:xfrm flipH="1">
              <a:off x="1761" y="250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35" name="Line 43"/>
            <p:cNvSpPr>
              <a:spLocks noChangeShapeType="1"/>
            </p:cNvSpPr>
            <p:nvPr/>
          </p:nvSpPr>
          <p:spPr bwMode="auto">
            <a:xfrm flipH="1">
              <a:off x="1752" y="259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36" name="Text Box 44"/>
            <p:cNvSpPr txBox="1">
              <a:spLocks noChangeArrowheads="1"/>
            </p:cNvSpPr>
            <p:nvPr/>
          </p:nvSpPr>
          <p:spPr bwMode="auto">
            <a:xfrm>
              <a:off x="1599" y="166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D0</a:t>
              </a:r>
            </a:p>
          </p:txBody>
        </p:sp>
        <p:sp>
          <p:nvSpPr>
            <p:cNvPr id="67737" name="Text Box 45"/>
            <p:cNvSpPr txBox="1">
              <a:spLocks noChangeArrowheads="1"/>
            </p:cNvSpPr>
            <p:nvPr/>
          </p:nvSpPr>
          <p:spPr bwMode="auto">
            <a:xfrm>
              <a:off x="1604" y="1780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D1</a:t>
              </a:r>
            </a:p>
          </p:txBody>
        </p:sp>
        <p:sp>
          <p:nvSpPr>
            <p:cNvPr id="67738" name="Text Box 46"/>
            <p:cNvSpPr txBox="1">
              <a:spLocks noChangeArrowheads="1"/>
            </p:cNvSpPr>
            <p:nvPr/>
          </p:nvSpPr>
          <p:spPr bwMode="auto">
            <a:xfrm>
              <a:off x="1603" y="1919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D2</a:t>
              </a:r>
            </a:p>
          </p:txBody>
        </p:sp>
        <p:sp>
          <p:nvSpPr>
            <p:cNvPr id="67739" name="Text Box 47"/>
            <p:cNvSpPr txBox="1">
              <a:spLocks noChangeArrowheads="1"/>
            </p:cNvSpPr>
            <p:nvPr/>
          </p:nvSpPr>
          <p:spPr bwMode="auto">
            <a:xfrm>
              <a:off x="1600" y="206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D3</a:t>
              </a:r>
            </a:p>
          </p:txBody>
        </p:sp>
        <p:sp>
          <p:nvSpPr>
            <p:cNvPr id="67740" name="Text Box 48"/>
            <p:cNvSpPr txBox="1">
              <a:spLocks noChangeArrowheads="1"/>
            </p:cNvSpPr>
            <p:nvPr/>
          </p:nvSpPr>
          <p:spPr bwMode="auto">
            <a:xfrm>
              <a:off x="1602" y="2190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D4</a:t>
              </a:r>
            </a:p>
          </p:txBody>
        </p:sp>
        <p:sp>
          <p:nvSpPr>
            <p:cNvPr id="67741" name="Text Box 49"/>
            <p:cNvSpPr txBox="1">
              <a:spLocks noChangeArrowheads="1"/>
            </p:cNvSpPr>
            <p:nvPr/>
          </p:nvSpPr>
          <p:spPr bwMode="auto">
            <a:xfrm>
              <a:off x="1604" y="2321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D5</a:t>
              </a:r>
            </a:p>
          </p:txBody>
        </p:sp>
        <p:sp>
          <p:nvSpPr>
            <p:cNvPr id="67742" name="Text Box 50"/>
            <p:cNvSpPr txBox="1">
              <a:spLocks noChangeArrowheads="1"/>
            </p:cNvSpPr>
            <p:nvPr/>
          </p:nvSpPr>
          <p:spPr bwMode="auto">
            <a:xfrm>
              <a:off x="1602" y="2431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D6</a:t>
              </a:r>
            </a:p>
          </p:txBody>
        </p:sp>
        <p:sp>
          <p:nvSpPr>
            <p:cNvPr id="67743" name="Text Box 51"/>
            <p:cNvSpPr txBox="1">
              <a:spLocks noChangeArrowheads="1"/>
            </p:cNvSpPr>
            <p:nvPr/>
          </p:nvSpPr>
          <p:spPr bwMode="auto">
            <a:xfrm>
              <a:off x="1602" y="253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D7</a:t>
              </a:r>
            </a:p>
          </p:txBody>
        </p:sp>
        <p:sp>
          <p:nvSpPr>
            <p:cNvPr id="67744" name="Oval 52"/>
            <p:cNvSpPr>
              <a:spLocks noChangeArrowheads="1"/>
            </p:cNvSpPr>
            <p:nvPr/>
          </p:nvSpPr>
          <p:spPr bwMode="auto">
            <a:xfrm>
              <a:off x="1463" y="2755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7745" name="Oval 53"/>
            <p:cNvSpPr>
              <a:spLocks noChangeArrowheads="1"/>
            </p:cNvSpPr>
            <p:nvPr/>
          </p:nvSpPr>
          <p:spPr bwMode="auto">
            <a:xfrm>
              <a:off x="1613" y="2752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7746" name="Oval 54"/>
            <p:cNvSpPr>
              <a:spLocks noChangeArrowheads="1"/>
            </p:cNvSpPr>
            <p:nvPr/>
          </p:nvSpPr>
          <p:spPr bwMode="auto">
            <a:xfrm>
              <a:off x="1534" y="1581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7747" name="Text Box 55"/>
            <p:cNvSpPr txBox="1">
              <a:spLocks noChangeArrowheads="1"/>
            </p:cNvSpPr>
            <p:nvPr/>
          </p:nvSpPr>
          <p:spPr bwMode="auto">
            <a:xfrm>
              <a:off x="1383" y="2643"/>
              <a:ext cx="209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OE</a:t>
              </a:r>
            </a:p>
          </p:txBody>
        </p:sp>
        <p:sp>
          <p:nvSpPr>
            <p:cNvPr id="67748" name="Line 56"/>
            <p:cNvSpPr>
              <a:spLocks noChangeShapeType="1"/>
            </p:cNvSpPr>
            <p:nvPr/>
          </p:nvSpPr>
          <p:spPr bwMode="auto">
            <a:xfrm>
              <a:off x="1450" y="2669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49" name="Text Box 57"/>
            <p:cNvSpPr txBox="1">
              <a:spLocks noChangeArrowheads="1"/>
            </p:cNvSpPr>
            <p:nvPr/>
          </p:nvSpPr>
          <p:spPr bwMode="auto">
            <a:xfrm>
              <a:off x="1529" y="2642"/>
              <a:ext cx="205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CE</a:t>
              </a:r>
            </a:p>
          </p:txBody>
        </p:sp>
        <p:sp>
          <p:nvSpPr>
            <p:cNvPr id="67750" name="Line 58"/>
            <p:cNvSpPr>
              <a:spLocks noChangeShapeType="1"/>
            </p:cNvSpPr>
            <p:nvPr/>
          </p:nvSpPr>
          <p:spPr bwMode="auto">
            <a:xfrm>
              <a:off x="1594" y="2668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51" name="Text Box 59"/>
            <p:cNvSpPr txBox="1">
              <a:spLocks noChangeArrowheads="1"/>
            </p:cNvSpPr>
            <p:nvPr/>
          </p:nvSpPr>
          <p:spPr bwMode="auto">
            <a:xfrm>
              <a:off x="1475" y="1625"/>
              <a:ext cx="17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W</a:t>
              </a:r>
            </a:p>
          </p:txBody>
        </p:sp>
        <p:sp>
          <p:nvSpPr>
            <p:cNvPr id="67752" name="Line 60"/>
            <p:cNvSpPr>
              <a:spLocks noChangeShapeType="1"/>
            </p:cNvSpPr>
            <p:nvPr/>
          </p:nvSpPr>
          <p:spPr bwMode="auto">
            <a:xfrm>
              <a:off x="1527" y="1655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7588" name="Group 61"/>
          <p:cNvGrpSpPr>
            <a:grpSpLocks/>
          </p:cNvGrpSpPr>
          <p:nvPr/>
        </p:nvGrpSpPr>
        <p:grpSpPr bwMode="auto">
          <a:xfrm>
            <a:off x="1116013" y="3559175"/>
            <a:ext cx="1601787" cy="1938338"/>
            <a:chOff x="1052" y="1581"/>
            <a:chExt cx="1009" cy="1221"/>
          </a:xfrm>
        </p:grpSpPr>
        <p:sp>
          <p:nvSpPr>
            <p:cNvPr id="67641" name="Rectangle 62"/>
            <p:cNvSpPr>
              <a:spLocks noChangeArrowheads="1"/>
            </p:cNvSpPr>
            <p:nvPr/>
          </p:nvSpPr>
          <p:spPr bwMode="auto">
            <a:xfrm>
              <a:off x="1359" y="1632"/>
              <a:ext cx="397" cy="112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7642" name="Line 63"/>
            <p:cNvSpPr>
              <a:spLocks noChangeShapeType="1"/>
            </p:cNvSpPr>
            <p:nvPr/>
          </p:nvSpPr>
          <p:spPr bwMode="auto">
            <a:xfrm flipH="1">
              <a:off x="1056" y="172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43" name="Line 64"/>
            <p:cNvSpPr>
              <a:spLocks noChangeShapeType="1"/>
            </p:cNvSpPr>
            <p:nvPr/>
          </p:nvSpPr>
          <p:spPr bwMode="auto">
            <a:xfrm flipH="1">
              <a:off x="1055" y="179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44" name="Line 65"/>
            <p:cNvSpPr>
              <a:spLocks noChangeShapeType="1"/>
            </p:cNvSpPr>
            <p:nvPr/>
          </p:nvSpPr>
          <p:spPr bwMode="auto">
            <a:xfrm flipH="1">
              <a:off x="1056" y="1849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45" name="Line 66"/>
            <p:cNvSpPr>
              <a:spLocks noChangeShapeType="1"/>
            </p:cNvSpPr>
            <p:nvPr/>
          </p:nvSpPr>
          <p:spPr bwMode="auto">
            <a:xfrm flipH="1">
              <a:off x="1055" y="191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46" name="Line 67"/>
            <p:cNvSpPr>
              <a:spLocks noChangeShapeType="1"/>
            </p:cNvSpPr>
            <p:nvPr/>
          </p:nvSpPr>
          <p:spPr bwMode="auto">
            <a:xfrm flipH="1">
              <a:off x="1053" y="197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47" name="Line 68"/>
            <p:cNvSpPr>
              <a:spLocks noChangeShapeType="1"/>
            </p:cNvSpPr>
            <p:nvPr/>
          </p:nvSpPr>
          <p:spPr bwMode="auto">
            <a:xfrm flipH="1">
              <a:off x="1052" y="203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48" name="Line 69"/>
            <p:cNvSpPr>
              <a:spLocks noChangeShapeType="1"/>
            </p:cNvSpPr>
            <p:nvPr/>
          </p:nvSpPr>
          <p:spPr bwMode="auto">
            <a:xfrm flipH="1">
              <a:off x="1053" y="209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49" name="Line 70"/>
            <p:cNvSpPr>
              <a:spLocks noChangeShapeType="1"/>
            </p:cNvSpPr>
            <p:nvPr/>
          </p:nvSpPr>
          <p:spPr bwMode="auto">
            <a:xfrm flipH="1">
              <a:off x="1052" y="215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50" name="Line 71"/>
            <p:cNvSpPr>
              <a:spLocks noChangeShapeType="1"/>
            </p:cNvSpPr>
            <p:nvPr/>
          </p:nvSpPr>
          <p:spPr bwMode="auto">
            <a:xfrm flipH="1">
              <a:off x="1056" y="221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51" name="Line 72"/>
            <p:cNvSpPr>
              <a:spLocks noChangeShapeType="1"/>
            </p:cNvSpPr>
            <p:nvPr/>
          </p:nvSpPr>
          <p:spPr bwMode="auto">
            <a:xfrm flipH="1">
              <a:off x="1055" y="228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52" name="Line 73"/>
            <p:cNvSpPr>
              <a:spLocks noChangeShapeType="1"/>
            </p:cNvSpPr>
            <p:nvPr/>
          </p:nvSpPr>
          <p:spPr bwMode="auto">
            <a:xfrm flipH="1">
              <a:off x="1056" y="2339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53" name="Line 74"/>
            <p:cNvSpPr>
              <a:spLocks noChangeShapeType="1"/>
            </p:cNvSpPr>
            <p:nvPr/>
          </p:nvSpPr>
          <p:spPr bwMode="auto">
            <a:xfrm flipH="1">
              <a:off x="1055" y="240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54" name="Line 75"/>
            <p:cNvSpPr>
              <a:spLocks noChangeShapeType="1"/>
            </p:cNvSpPr>
            <p:nvPr/>
          </p:nvSpPr>
          <p:spPr bwMode="auto">
            <a:xfrm flipH="1">
              <a:off x="1053" y="247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55" name="Line 76"/>
            <p:cNvSpPr>
              <a:spLocks noChangeShapeType="1"/>
            </p:cNvSpPr>
            <p:nvPr/>
          </p:nvSpPr>
          <p:spPr bwMode="auto">
            <a:xfrm flipH="1">
              <a:off x="1052" y="253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56" name="Line 77"/>
            <p:cNvSpPr>
              <a:spLocks noChangeShapeType="1"/>
            </p:cNvSpPr>
            <p:nvPr/>
          </p:nvSpPr>
          <p:spPr bwMode="auto">
            <a:xfrm flipH="1">
              <a:off x="1057" y="259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57" name="Text Box 78"/>
            <p:cNvSpPr txBox="1">
              <a:spLocks noChangeArrowheads="1"/>
            </p:cNvSpPr>
            <p:nvPr/>
          </p:nvSpPr>
          <p:spPr bwMode="auto">
            <a:xfrm>
              <a:off x="1335" y="165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A0</a:t>
              </a:r>
            </a:p>
          </p:txBody>
        </p:sp>
        <p:sp>
          <p:nvSpPr>
            <p:cNvPr id="67658" name="Text Box 79"/>
            <p:cNvSpPr txBox="1">
              <a:spLocks noChangeArrowheads="1"/>
            </p:cNvSpPr>
            <p:nvPr/>
          </p:nvSpPr>
          <p:spPr bwMode="auto">
            <a:xfrm>
              <a:off x="1339" y="1716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</a:t>
              </a:r>
            </a:p>
          </p:txBody>
        </p:sp>
        <p:sp>
          <p:nvSpPr>
            <p:cNvPr id="67659" name="Text Box 80"/>
            <p:cNvSpPr txBox="1">
              <a:spLocks noChangeArrowheads="1"/>
            </p:cNvSpPr>
            <p:nvPr/>
          </p:nvSpPr>
          <p:spPr bwMode="auto">
            <a:xfrm>
              <a:off x="1338" y="1782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A2</a:t>
              </a:r>
            </a:p>
          </p:txBody>
        </p:sp>
        <p:sp>
          <p:nvSpPr>
            <p:cNvPr id="67660" name="Text Box 81"/>
            <p:cNvSpPr txBox="1">
              <a:spLocks noChangeArrowheads="1"/>
            </p:cNvSpPr>
            <p:nvPr/>
          </p:nvSpPr>
          <p:spPr bwMode="auto">
            <a:xfrm>
              <a:off x="1339" y="184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A3</a:t>
              </a:r>
            </a:p>
          </p:txBody>
        </p:sp>
        <p:sp>
          <p:nvSpPr>
            <p:cNvPr id="67661" name="Text Box 82"/>
            <p:cNvSpPr txBox="1">
              <a:spLocks noChangeArrowheads="1"/>
            </p:cNvSpPr>
            <p:nvPr/>
          </p:nvSpPr>
          <p:spPr bwMode="auto">
            <a:xfrm>
              <a:off x="1335" y="190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A4</a:t>
              </a:r>
            </a:p>
          </p:txBody>
        </p:sp>
        <p:sp>
          <p:nvSpPr>
            <p:cNvPr id="67662" name="Text Box 83"/>
            <p:cNvSpPr txBox="1">
              <a:spLocks noChangeArrowheads="1"/>
            </p:cNvSpPr>
            <p:nvPr/>
          </p:nvSpPr>
          <p:spPr bwMode="auto">
            <a:xfrm>
              <a:off x="1339" y="1966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A5</a:t>
              </a:r>
            </a:p>
          </p:txBody>
        </p:sp>
        <p:sp>
          <p:nvSpPr>
            <p:cNvPr id="67663" name="Text Box 84"/>
            <p:cNvSpPr txBox="1">
              <a:spLocks noChangeArrowheads="1"/>
            </p:cNvSpPr>
            <p:nvPr/>
          </p:nvSpPr>
          <p:spPr bwMode="auto">
            <a:xfrm>
              <a:off x="1338" y="2032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A6</a:t>
              </a:r>
            </a:p>
          </p:txBody>
        </p:sp>
        <p:sp>
          <p:nvSpPr>
            <p:cNvPr id="67664" name="Text Box 85"/>
            <p:cNvSpPr txBox="1">
              <a:spLocks noChangeArrowheads="1"/>
            </p:cNvSpPr>
            <p:nvPr/>
          </p:nvSpPr>
          <p:spPr bwMode="auto">
            <a:xfrm>
              <a:off x="1339" y="209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A7</a:t>
              </a:r>
            </a:p>
          </p:txBody>
        </p:sp>
        <p:sp>
          <p:nvSpPr>
            <p:cNvPr id="67665" name="Text Box 86"/>
            <p:cNvSpPr txBox="1">
              <a:spLocks noChangeArrowheads="1"/>
            </p:cNvSpPr>
            <p:nvPr/>
          </p:nvSpPr>
          <p:spPr bwMode="auto">
            <a:xfrm>
              <a:off x="1332" y="215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A8</a:t>
              </a:r>
            </a:p>
          </p:txBody>
        </p:sp>
        <p:sp>
          <p:nvSpPr>
            <p:cNvPr id="67666" name="Text Box 87"/>
            <p:cNvSpPr txBox="1">
              <a:spLocks noChangeArrowheads="1"/>
            </p:cNvSpPr>
            <p:nvPr/>
          </p:nvSpPr>
          <p:spPr bwMode="auto">
            <a:xfrm>
              <a:off x="1336" y="221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A9</a:t>
              </a:r>
            </a:p>
          </p:txBody>
        </p:sp>
        <p:sp>
          <p:nvSpPr>
            <p:cNvPr id="67667" name="Text Box 88"/>
            <p:cNvSpPr txBox="1">
              <a:spLocks noChangeArrowheads="1"/>
            </p:cNvSpPr>
            <p:nvPr/>
          </p:nvSpPr>
          <p:spPr bwMode="auto">
            <a:xfrm>
              <a:off x="1317" y="2281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A10</a:t>
              </a:r>
            </a:p>
          </p:txBody>
        </p:sp>
        <p:sp>
          <p:nvSpPr>
            <p:cNvPr id="67668" name="Text Box 89"/>
            <p:cNvSpPr txBox="1">
              <a:spLocks noChangeArrowheads="1"/>
            </p:cNvSpPr>
            <p:nvPr/>
          </p:nvSpPr>
          <p:spPr bwMode="auto">
            <a:xfrm>
              <a:off x="1318" y="2346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A11</a:t>
              </a:r>
            </a:p>
          </p:txBody>
        </p:sp>
        <p:sp>
          <p:nvSpPr>
            <p:cNvPr id="67669" name="Text Box 90"/>
            <p:cNvSpPr txBox="1">
              <a:spLocks noChangeArrowheads="1"/>
            </p:cNvSpPr>
            <p:nvPr/>
          </p:nvSpPr>
          <p:spPr bwMode="auto">
            <a:xfrm>
              <a:off x="1314" y="2404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A12</a:t>
              </a:r>
            </a:p>
          </p:txBody>
        </p:sp>
        <p:sp>
          <p:nvSpPr>
            <p:cNvPr id="67670" name="Text Box 91"/>
            <p:cNvSpPr txBox="1">
              <a:spLocks noChangeArrowheads="1"/>
            </p:cNvSpPr>
            <p:nvPr/>
          </p:nvSpPr>
          <p:spPr bwMode="auto">
            <a:xfrm>
              <a:off x="1318" y="2465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A13</a:t>
              </a:r>
            </a:p>
          </p:txBody>
        </p:sp>
        <p:sp>
          <p:nvSpPr>
            <p:cNvPr id="67671" name="Text Box 92"/>
            <p:cNvSpPr txBox="1">
              <a:spLocks noChangeArrowheads="1"/>
            </p:cNvSpPr>
            <p:nvPr/>
          </p:nvSpPr>
          <p:spPr bwMode="auto">
            <a:xfrm>
              <a:off x="1317" y="2531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A14</a:t>
              </a:r>
            </a:p>
          </p:txBody>
        </p:sp>
        <p:sp>
          <p:nvSpPr>
            <p:cNvPr id="67672" name="Line 93"/>
            <p:cNvSpPr>
              <a:spLocks noChangeShapeType="1"/>
            </p:cNvSpPr>
            <p:nvPr/>
          </p:nvSpPr>
          <p:spPr bwMode="auto">
            <a:xfrm flipH="1">
              <a:off x="1756" y="174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73" name="Line 94"/>
            <p:cNvSpPr>
              <a:spLocks noChangeShapeType="1"/>
            </p:cNvSpPr>
            <p:nvPr/>
          </p:nvSpPr>
          <p:spPr bwMode="auto">
            <a:xfrm flipH="1">
              <a:off x="1759" y="1844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74" name="Line 95"/>
            <p:cNvSpPr>
              <a:spLocks noChangeShapeType="1"/>
            </p:cNvSpPr>
            <p:nvPr/>
          </p:nvSpPr>
          <p:spPr bwMode="auto">
            <a:xfrm flipH="1">
              <a:off x="1757" y="198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75" name="Line 96"/>
            <p:cNvSpPr>
              <a:spLocks noChangeShapeType="1"/>
            </p:cNvSpPr>
            <p:nvPr/>
          </p:nvSpPr>
          <p:spPr bwMode="auto">
            <a:xfrm flipH="1">
              <a:off x="1756" y="2135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76" name="Line 97"/>
            <p:cNvSpPr>
              <a:spLocks noChangeShapeType="1"/>
            </p:cNvSpPr>
            <p:nvPr/>
          </p:nvSpPr>
          <p:spPr bwMode="auto">
            <a:xfrm flipH="1">
              <a:off x="1754" y="227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77" name="Line 98"/>
            <p:cNvSpPr>
              <a:spLocks noChangeShapeType="1"/>
            </p:cNvSpPr>
            <p:nvPr/>
          </p:nvSpPr>
          <p:spPr bwMode="auto">
            <a:xfrm flipH="1">
              <a:off x="1756" y="238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78" name="Line 99"/>
            <p:cNvSpPr>
              <a:spLocks noChangeShapeType="1"/>
            </p:cNvSpPr>
            <p:nvPr/>
          </p:nvSpPr>
          <p:spPr bwMode="auto">
            <a:xfrm flipH="1">
              <a:off x="1761" y="250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79" name="Line 100"/>
            <p:cNvSpPr>
              <a:spLocks noChangeShapeType="1"/>
            </p:cNvSpPr>
            <p:nvPr/>
          </p:nvSpPr>
          <p:spPr bwMode="auto">
            <a:xfrm flipH="1">
              <a:off x="1752" y="259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80" name="Text Box 101"/>
            <p:cNvSpPr txBox="1">
              <a:spLocks noChangeArrowheads="1"/>
            </p:cNvSpPr>
            <p:nvPr/>
          </p:nvSpPr>
          <p:spPr bwMode="auto">
            <a:xfrm>
              <a:off x="1599" y="166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D0</a:t>
              </a:r>
            </a:p>
          </p:txBody>
        </p:sp>
        <p:sp>
          <p:nvSpPr>
            <p:cNvPr id="67681" name="Text Box 102"/>
            <p:cNvSpPr txBox="1">
              <a:spLocks noChangeArrowheads="1"/>
            </p:cNvSpPr>
            <p:nvPr/>
          </p:nvSpPr>
          <p:spPr bwMode="auto">
            <a:xfrm>
              <a:off x="1604" y="1780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D1</a:t>
              </a:r>
            </a:p>
          </p:txBody>
        </p:sp>
        <p:sp>
          <p:nvSpPr>
            <p:cNvPr id="67682" name="Text Box 103"/>
            <p:cNvSpPr txBox="1">
              <a:spLocks noChangeArrowheads="1"/>
            </p:cNvSpPr>
            <p:nvPr/>
          </p:nvSpPr>
          <p:spPr bwMode="auto">
            <a:xfrm>
              <a:off x="1603" y="1919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D2</a:t>
              </a:r>
            </a:p>
          </p:txBody>
        </p:sp>
        <p:sp>
          <p:nvSpPr>
            <p:cNvPr id="67683" name="Text Box 104"/>
            <p:cNvSpPr txBox="1">
              <a:spLocks noChangeArrowheads="1"/>
            </p:cNvSpPr>
            <p:nvPr/>
          </p:nvSpPr>
          <p:spPr bwMode="auto">
            <a:xfrm>
              <a:off x="1600" y="206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D3</a:t>
              </a:r>
            </a:p>
          </p:txBody>
        </p:sp>
        <p:sp>
          <p:nvSpPr>
            <p:cNvPr id="67684" name="Text Box 105"/>
            <p:cNvSpPr txBox="1">
              <a:spLocks noChangeArrowheads="1"/>
            </p:cNvSpPr>
            <p:nvPr/>
          </p:nvSpPr>
          <p:spPr bwMode="auto">
            <a:xfrm>
              <a:off x="1602" y="2190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D4</a:t>
              </a:r>
            </a:p>
          </p:txBody>
        </p:sp>
        <p:sp>
          <p:nvSpPr>
            <p:cNvPr id="67685" name="Text Box 106"/>
            <p:cNvSpPr txBox="1">
              <a:spLocks noChangeArrowheads="1"/>
            </p:cNvSpPr>
            <p:nvPr/>
          </p:nvSpPr>
          <p:spPr bwMode="auto">
            <a:xfrm>
              <a:off x="1604" y="2321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D5</a:t>
              </a:r>
            </a:p>
          </p:txBody>
        </p:sp>
        <p:sp>
          <p:nvSpPr>
            <p:cNvPr id="67686" name="Text Box 107"/>
            <p:cNvSpPr txBox="1">
              <a:spLocks noChangeArrowheads="1"/>
            </p:cNvSpPr>
            <p:nvPr/>
          </p:nvSpPr>
          <p:spPr bwMode="auto">
            <a:xfrm>
              <a:off x="1602" y="2431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D6</a:t>
              </a:r>
            </a:p>
          </p:txBody>
        </p:sp>
        <p:sp>
          <p:nvSpPr>
            <p:cNvPr id="67687" name="Text Box 108"/>
            <p:cNvSpPr txBox="1">
              <a:spLocks noChangeArrowheads="1"/>
            </p:cNvSpPr>
            <p:nvPr/>
          </p:nvSpPr>
          <p:spPr bwMode="auto">
            <a:xfrm>
              <a:off x="1602" y="253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D7</a:t>
              </a:r>
            </a:p>
          </p:txBody>
        </p:sp>
        <p:sp>
          <p:nvSpPr>
            <p:cNvPr id="67688" name="Oval 109"/>
            <p:cNvSpPr>
              <a:spLocks noChangeArrowheads="1"/>
            </p:cNvSpPr>
            <p:nvPr/>
          </p:nvSpPr>
          <p:spPr bwMode="auto">
            <a:xfrm>
              <a:off x="1463" y="2755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7689" name="Oval 110"/>
            <p:cNvSpPr>
              <a:spLocks noChangeArrowheads="1"/>
            </p:cNvSpPr>
            <p:nvPr/>
          </p:nvSpPr>
          <p:spPr bwMode="auto">
            <a:xfrm>
              <a:off x="1613" y="2752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7690" name="Oval 111"/>
            <p:cNvSpPr>
              <a:spLocks noChangeArrowheads="1"/>
            </p:cNvSpPr>
            <p:nvPr/>
          </p:nvSpPr>
          <p:spPr bwMode="auto">
            <a:xfrm>
              <a:off x="1534" y="1581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7691" name="Text Box 112"/>
            <p:cNvSpPr txBox="1">
              <a:spLocks noChangeArrowheads="1"/>
            </p:cNvSpPr>
            <p:nvPr/>
          </p:nvSpPr>
          <p:spPr bwMode="auto">
            <a:xfrm>
              <a:off x="1383" y="2643"/>
              <a:ext cx="209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OE</a:t>
              </a:r>
            </a:p>
          </p:txBody>
        </p:sp>
        <p:sp>
          <p:nvSpPr>
            <p:cNvPr id="67692" name="Line 113"/>
            <p:cNvSpPr>
              <a:spLocks noChangeShapeType="1"/>
            </p:cNvSpPr>
            <p:nvPr/>
          </p:nvSpPr>
          <p:spPr bwMode="auto">
            <a:xfrm>
              <a:off x="1450" y="2669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93" name="Text Box 114"/>
            <p:cNvSpPr txBox="1">
              <a:spLocks noChangeArrowheads="1"/>
            </p:cNvSpPr>
            <p:nvPr/>
          </p:nvSpPr>
          <p:spPr bwMode="auto">
            <a:xfrm>
              <a:off x="1529" y="2642"/>
              <a:ext cx="205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CE</a:t>
              </a:r>
            </a:p>
          </p:txBody>
        </p:sp>
        <p:sp>
          <p:nvSpPr>
            <p:cNvPr id="67694" name="Line 115"/>
            <p:cNvSpPr>
              <a:spLocks noChangeShapeType="1"/>
            </p:cNvSpPr>
            <p:nvPr/>
          </p:nvSpPr>
          <p:spPr bwMode="auto">
            <a:xfrm>
              <a:off x="1594" y="2668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95" name="Text Box 116"/>
            <p:cNvSpPr txBox="1">
              <a:spLocks noChangeArrowheads="1"/>
            </p:cNvSpPr>
            <p:nvPr/>
          </p:nvSpPr>
          <p:spPr bwMode="auto">
            <a:xfrm>
              <a:off x="1475" y="1625"/>
              <a:ext cx="17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W</a:t>
              </a:r>
            </a:p>
          </p:txBody>
        </p:sp>
        <p:sp>
          <p:nvSpPr>
            <p:cNvPr id="67696" name="Line 117"/>
            <p:cNvSpPr>
              <a:spLocks noChangeShapeType="1"/>
            </p:cNvSpPr>
            <p:nvPr/>
          </p:nvSpPr>
          <p:spPr bwMode="auto">
            <a:xfrm>
              <a:off x="1527" y="1655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67589" name="Line 118"/>
          <p:cNvSpPr>
            <a:spLocks noChangeShapeType="1"/>
          </p:cNvSpPr>
          <p:nvPr/>
        </p:nvSpPr>
        <p:spPr bwMode="auto">
          <a:xfrm>
            <a:off x="1123950" y="1222375"/>
            <a:ext cx="0" cy="39528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590" name="Line 119"/>
          <p:cNvSpPr>
            <a:spLocks noChangeShapeType="1"/>
          </p:cNvSpPr>
          <p:nvPr/>
        </p:nvSpPr>
        <p:spPr bwMode="auto">
          <a:xfrm>
            <a:off x="3200400" y="1517650"/>
            <a:ext cx="0" cy="395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591" name="Line 134"/>
          <p:cNvSpPr>
            <a:spLocks noChangeShapeType="1"/>
          </p:cNvSpPr>
          <p:nvPr/>
        </p:nvSpPr>
        <p:spPr bwMode="auto">
          <a:xfrm>
            <a:off x="3505200" y="1524000"/>
            <a:ext cx="0" cy="395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592" name="Line 135"/>
          <p:cNvSpPr>
            <a:spLocks noChangeShapeType="1"/>
          </p:cNvSpPr>
          <p:nvPr/>
        </p:nvSpPr>
        <p:spPr bwMode="auto">
          <a:xfrm>
            <a:off x="3810000" y="1524000"/>
            <a:ext cx="0" cy="395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593" name="Line 136"/>
          <p:cNvSpPr>
            <a:spLocks noChangeShapeType="1"/>
          </p:cNvSpPr>
          <p:nvPr/>
        </p:nvSpPr>
        <p:spPr bwMode="auto">
          <a:xfrm>
            <a:off x="4114800" y="1524000"/>
            <a:ext cx="0" cy="395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594" name="Line 137"/>
          <p:cNvSpPr>
            <a:spLocks noChangeShapeType="1"/>
          </p:cNvSpPr>
          <p:nvPr/>
        </p:nvSpPr>
        <p:spPr bwMode="auto">
          <a:xfrm>
            <a:off x="4419600" y="1524000"/>
            <a:ext cx="0" cy="395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595" name="Line 138"/>
          <p:cNvSpPr>
            <a:spLocks noChangeShapeType="1"/>
          </p:cNvSpPr>
          <p:nvPr/>
        </p:nvSpPr>
        <p:spPr bwMode="auto">
          <a:xfrm>
            <a:off x="4724400" y="1530350"/>
            <a:ext cx="0" cy="395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596" name="Line 139"/>
          <p:cNvSpPr>
            <a:spLocks noChangeShapeType="1"/>
          </p:cNvSpPr>
          <p:nvPr/>
        </p:nvSpPr>
        <p:spPr bwMode="auto">
          <a:xfrm>
            <a:off x="5029200" y="1530350"/>
            <a:ext cx="0" cy="395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597" name="Line 140"/>
          <p:cNvSpPr>
            <a:spLocks noChangeShapeType="1"/>
          </p:cNvSpPr>
          <p:nvPr/>
        </p:nvSpPr>
        <p:spPr bwMode="auto">
          <a:xfrm>
            <a:off x="5334000" y="1530350"/>
            <a:ext cx="0" cy="395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598" name="Line 141"/>
          <p:cNvSpPr>
            <a:spLocks noChangeShapeType="1"/>
          </p:cNvSpPr>
          <p:nvPr/>
        </p:nvSpPr>
        <p:spPr bwMode="auto">
          <a:xfrm>
            <a:off x="5638800" y="1524000"/>
            <a:ext cx="0" cy="395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599" name="Line 142"/>
          <p:cNvSpPr>
            <a:spLocks noChangeShapeType="1"/>
          </p:cNvSpPr>
          <p:nvPr/>
        </p:nvSpPr>
        <p:spPr bwMode="auto">
          <a:xfrm>
            <a:off x="5943600" y="1530350"/>
            <a:ext cx="0" cy="395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600" name="Line 143"/>
          <p:cNvSpPr>
            <a:spLocks noChangeShapeType="1"/>
          </p:cNvSpPr>
          <p:nvPr/>
        </p:nvSpPr>
        <p:spPr bwMode="auto">
          <a:xfrm>
            <a:off x="6248400" y="1530350"/>
            <a:ext cx="0" cy="395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601" name="Line 144"/>
          <p:cNvSpPr>
            <a:spLocks noChangeShapeType="1"/>
          </p:cNvSpPr>
          <p:nvPr/>
        </p:nvSpPr>
        <p:spPr bwMode="auto">
          <a:xfrm>
            <a:off x="6553200" y="1530350"/>
            <a:ext cx="0" cy="395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602" name="Line 145"/>
          <p:cNvSpPr>
            <a:spLocks noChangeShapeType="1"/>
          </p:cNvSpPr>
          <p:nvPr/>
        </p:nvSpPr>
        <p:spPr bwMode="auto">
          <a:xfrm>
            <a:off x="6858000" y="1530350"/>
            <a:ext cx="0" cy="395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603" name="Line 146"/>
          <p:cNvSpPr>
            <a:spLocks noChangeShapeType="1"/>
          </p:cNvSpPr>
          <p:nvPr/>
        </p:nvSpPr>
        <p:spPr bwMode="auto">
          <a:xfrm>
            <a:off x="7162800" y="1536700"/>
            <a:ext cx="0" cy="395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604" name="Line 147"/>
          <p:cNvSpPr>
            <a:spLocks noChangeShapeType="1"/>
          </p:cNvSpPr>
          <p:nvPr/>
        </p:nvSpPr>
        <p:spPr bwMode="auto">
          <a:xfrm>
            <a:off x="7467600" y="1536700"/>
            <a:ext cx="0" cy="395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605" name="Line 148"/>
          <p:cNvSpPr>
            <a:spLocks noChangeShapeType="1"/>
          </p:cNvSpPr>
          <p:nvPr/>
        </p:nvSpPr>
        <p:spPr bwMode="auto">
          <a:xfrm>
            <a:off x="7772400" y="1536700"/>
            <a:ext cx="0" cy="395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606" name="AutoShape 149"/>
          <p:cNvSpPr>
            <a:spLocks/>
          </p:cNvSpPr>
          <p:nvPr/>
        </p:nvSpPr>
        <p:spPr bwMode="auto">
          <a:xfrm rot="5400000">
            <a:off x="5410200" y="3352800"/>
            <a:ext cx="228600" cy="4800600"/>
          </a:xfrm>
          <a:prstGeom prst="rightBrace">
            <a:avLst>
              <a:gd name="adj1" fmla="val 17500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7607" name="Text Box 150"/>
          <p:cNvSpPr txBox="1">
            <a:spLocks noChangeArrowheads="1"/>
          </p:cNvSpPr>
          <p:nvPr/>
        </p:nvSpPr>
        <p:spPr bwMode="auto">
          <a:xfrm>
            <a:off x="4495800" y="5821362"/>
            <a:ext cx="19462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 dirty="0"/>
              <a:t>16-bit data bus, D0..D15 </a:t>
            </a:r>
          </a:p>
        </p:txBody>
      </p:sp>
      <p:sp>
        <p:nvSpPr>
          <p:cNvPr id="67608" name="Text Box 151"/>
          <p:cNvSpPr txBox="1">
            <a:spLocks noChangeArrowheads="1"/>
          </p:cNvSpPr>
          <p:nvPr/>
        </p:nvSpPr>
        <p:spPr bwMode="auto">
          <a:xfrm>
            <a:off x="3032125" y="1201738"/>
            <a:ext cx="4940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000" b="1"/>
              <a:t>D0   D1    D2    D3    D4     D5    D6    D7    D8     D9  D10  D11 D12   D13   D14 D15 </a:t>
            </a:r>
          </a:p>
        </p:txBody>
      </p:sp>
      <p:sp>
        <p:nvSpPr>
          <p:cNvPr id="67609" name="Line 152"/>
          <p:cNvSpPr>
            <a:spLocks noChangeShapeType="1"/>
          </p:cNvSpPr>
          <p:nvPr/>
        </p:nvSpPr>
        <p:spPr bwMode="auto">
          <a:xfrm>
            <a:off x="2590800" y="1625600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7610" name="Oval 153"/>
          <p:cNvSpPr>
            <a:spLocks noChangeArrowheads="1"/>
          </p:cNvSpPr>
          <p:nvPr/>
        </p:nvSpPr>
        <p:spPr bwMode="auto">
          <a:xfrm>
            <a:off x="3163888" y="1589088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7611" name="Oval 154"/>
          <p:cNvSpPr>
            <a:spLocks noChangeArrowheads="1"/>
          </p:cNvSpPr>
          <p:nvPr/>
        </p:nvSpPr>
        <p:spPr bwMode="auto">
          <a:xfrm>
            <a:off x="3455988" y="1741488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7612" name="Oval 155"/>
          <p:cNvSpPr>
            <a:spLocks noChangeArrowheads="1"/>
          </p:cNvSpPr>
          <p:nvPr/>
        </p:nvSpPr>
        <p:spPr bwMode="auto">
          <a:xfrm>
            <a:off x="3773488" y="1982788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7613" name="Oval 156"/>
          <p:cNvSpPr>
            <a:spLocks noChangeArrowheads="1"/>
          </p:cNvSpPr>
          <p:nvPr/>
        </p:nvSpPr>
        <p:spPr bwMode="auto">
          <a:xfrm>
            <a:off x="4065588" y="2211388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7614" name="Oval 157"/>
          <p:cNvSpPr>
            <a:spLocks noChangeArrowheads="1"/>
          </p:cNvSpPr>
          <p:nvPr/>
        </p:nvSpPr>
        <p:spPr bwMode="auto">
          <a:xfrm>
            <a:off x="4383088" y="2414588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7615" name="Oval 158"/>
          <p:cNvSpPr>
            <a:spLocks noChangeArrowheads="1"/>
          </p:cNvSpPr>
          <p:nvPr/>
        </p:nvSpPr>
        <p:spPr bwMode="auto">
          <a:xfrm>
            <a:off x="4675188" y="2617788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7616" name="Oval 159"/>
          <p:cNvSpPr>
            <a:spLocks noChangeArrowheads="1"/>
          </p:cNvSpPr>
          <p:nvPr/>
        </p:nvSpPr>
        <p:spPr bwMode="auto">
          <a:xfrm>
            <a:off x="4979988" y="2795588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7617" name="Line 160"/>
          <p:cNvSpPr>
            <a:spLocks noChangeShapeType="1"/>
          </p:cNvSpPr>
          <p:nvPr/>
        </p:nvSpPr>
        <p:spPr bwMode="auto">
          <a:xfrm>
            <a:off x="2717800" y="1790700"/>
            <a:ext cx="7747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7618" name="Line 162"/>
          <p:cNvSpPr>
            <a:spLocks noChangeShapeType="1"/>
          </p:cNvSpPr>
          <p:nvPr/>
        </p:nvSpPr>
        <p:spPr bwMode="auto">
          <a:xfrm>
            <a:off x="2565400" y="2019300"/>
            <a:ext cx="1219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7619" name="Line 163"/>
          <p:cNvSpPr>
            <a:spLocks noChangeShapeType="1"/>
          </p:cNvSpPr>
          <p:nvPr/>
        </p:nvSpPr>
        <p:spPr bwMode="auto">
          <a:xfrm>
            <a:off x="2552700" y="2246313"/>
            <a:ext cx="15367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7620" name="Line 164"/>
          <p:cNvSpPr>
            <a:spLocks noChangeShapeType="1"/>
          </p:cNvSpPr>
          <p:nvPr/>
        </p:nvSpPr>
        <p:spPr bwMode="auto">
          <a:xfrm>
            <a:off x="2603500" y="2463800"/>
            <a:ext cx="1828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7621" name="Line 165"/>
          <p:cNvSpPr>
            <a:spLocks noChangeShapeType="1"/>
          </p:cNvSpPr>
          <p:nvPr/>
        </p:nvSpPr>
        <p:spPr bwMode="auto">
          <a:xfrm flipV="1">
            <a:off x="2717800" y="2654300"/>
            <a:ext cx="1981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7622" name="Line 166"/>
          <p:cNvSpPr>
            <a:spLocks noChangeShapeType="1"/>
          </p:cNvSpPr>
          <p:nvPr/>
        </p:nvSpPr>
        <p:spPr bwMode="auto">
          <a:xfrm flipV="1">
            <a:off x="2679700" y="2832100"/>
            <a:ext cx="2349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7623" name="Oval 167"/>
          <p:cNvSpPr>
            <a:spLocks noChangeArrowheads="1"/>
          </p:cNvSpPr>
          <p:nvPr/>
        </p:nvSpPr>
        <p:spPr bwMode="auto">
          <a:xfrm>
            <a:off x="5284788" y="2935288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7624" name="Oval 168"/>
          <p:cNvSpPr>
            <a:spLocks noChangeArrowheads="1"/>
          </p:cNvSpPr>
          <p:nvPr/>
        </p:nvSpPr>
        <p:spPr bwMode="auto">
          <a:xfrm>
            <a:off x="5614988" y="3760788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7625" name="Oval 169"/>
          <p:cNvSpPr>
            <a:spLocks noChangeArrowheads="1"/>
          </p:cNvSpPr>
          <p:nvPr/>
        </p:nvSpPr>
        <p:spPr bwMode="auto">
          <a:xfrm>
            <a:off x="5894388" y="3925888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7626" name="Oval 170"/>
          <p:cNvSpPr>
            <a:spLocks noChangeArrowheads="1"/>
          </p:cNvSpPr>
          <p:nvPr/>
        </p:nvSpPr>
        <p:spPr bwMode="auto">
          <a:xfrm>
            <a:off x="6211888" y="4154488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7627" name="Line 172"/>
          <p:cNvSpPr>
            <a:spLocks noChangeShapeType="1"/>
          </p:cNvSpPr>
          <p:nvPr/>
        </p:nvSpPr>
        <p:spPr bwMode="auto">
          <a:xfrm flipV="1">
            <a:off x="2603500" y="2984500"/>
            <a:ext cx="2717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7628" name="Line 173"/>
          <p:cNvSpPr>
            <a:spLocks noChangeShapeType="1"/>
          </p:cNvSpPr>
          <p:nvPr/>
        </p:nvSpPr>
        <p:spPr bwMode="auto">
          <a:xfrm flipV="1">
            <a:off x="2565400" y="3810000"/>
            <a:ext cx="3048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7629" name="Line 174"/>
          <p:cNvSpPr>
            <a:spLocks noChangeShapeType="1"/>
          </p:cNvSpPr>
          <p:nvPr/>
        </p:nvSpPr>
        <p:spPr bwMode="auto">
          <a:xfrm flipV="1">
            <a:off x="2679700" y="3975100"/>
            <a:ext cx="3251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7630" name="Line 175"/>
          <p:cNvSpPr>
            <a:spLocks noChangeShapeType="1"/>
          </p:cNvSpPr>
          <p:nvPr/>
        </p:nvSpPr>
        <p:spPr bwMode="auto">
          <a:xfrm flipV="1">
            <a:off x="2654300" y="4203700"/>
            <a:ext cx="3594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7631" name="Oval 178"/>
          <p:cNvSpPr>
            <a:spLocks noChangeArrowheads="1"/>
          </p:cNvSpPr>
          <p:nvPr/>
        </p:nvSpPr>
        <p:spPr bwMode="auto">
          <a:xfrm>
            <a:off x="7735888" y="5119688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7632" name="Oval 179"/>
          <p:cNvSpPr>
            <a:spLocks noChangeArrowheads="1"/>
          </p:cNvSpPr>
          <p:nvPr/>
        </p:nvSpPr>
        <p:spPr bwMode="auto">
          <a:xfrm>
            <a:off x="7431088" y="4979988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7633" name="Oval 180"/>
          <p:cNvSpPr>
            <a:spLocks noChangeArrowheads="1"/>
          </p:cNvSpPr>
          <p:nvPr/>
        </p:nvSpPr>
        <p:spPr bwMode="auto">
          <a:xfrm>
            <a:off x="7113588" y="4789488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7634" name="Oval 181"/>
          <p:cNvSpPr>
            <a:spLocks noChangeArrowheads="1"/>
          </p:cNvSpPr>
          <p:nvPr/>
        </p:nvSpPr>
        <p:spPr bwMode="auto">
          <a:xfrm>
            <a:off x="6821488" y="4598988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7635" name="Oval 182"/>
          <p:cNvSpPr>
            <a:spLocks noChangeArrowheads="1"/>
          </p:cNvSpPr>
          <p:nvPr/>
        </p:nvSpPr>
        <p:spPr bwMode="auto">
          <a:xfrm>
            <a:off x="6516688" y="4395788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7636" name="Line 183"/>
          <p:cNvSpPr>
            <a:spLocks noChangeShapeType="1"/>
          </p:cNvSpPr>
          <p:nvPr/>
        </p:nvSpPr>
        <p:spPr bwMode="auto">
          <a:xfrm flipV="1">
            <a:off x="2717800" y="4430713"/>
            <a:ext cx="3810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7637" name="Line 184"/>
          <p:cNvSpPr>
            <a:spLocks noChangeShapeType="1"/>
          </p:cNvSpPr>
          <p:nvPr/>
        </p:nvSpPr>
        <p:spPr bwMode="auto">
          <a:xfrm flipV="1">
            <a:off x="2654300" y="4648200"/>
            <a:ext cx="4216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7638" name="Line 185"/>
          <p:cNvSpPr>
            <a:spLocks noChangeShapeType="1"/>
          </p:cNvSpPr>
          <p:nvPr/>
        </p:nvSpPr>
        <p:spPr bwMode="auto">
          <a:xfrm flipV="1">
            <a:off x="2679700" y="4824413"/>
            <a:ext cx="4470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7639" name="Line 186"/>
          <p:cNvSpPr>
            <a:spLocks noChangeShapeType="1"/>
          </p:cNvSpPr>
          <p:nvPr/>
        </p:nvSpPr>
        <p:spPr bwMode="auto">
          <a:xfrm flipV="1">
            <a:off x="2565400" y="5016500"/>
            <a:ext cx="4876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7640" name="Line 187"/>
          <p:cNvSpPr>
            <a:spLocks noChangeShapeType="1"/>
          </p:cNvSpPr>
          <p:nvPr/>
        </p:nvSpPr>
        <p:spPr bwMode="auto">
          <a:xfrm flipV="1">
            <a:off x="2616200" y="5168900"/>
            <a:ext cx="5143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04800" y="6172200"/>
            <a:ext cx="70866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Q:</a:t>
            </a:r>
            <a:r>
              <a:rPr lang="en-US" dirty="0"/>
              <a:t> How many bins (mappable locations) per chip? (word=16b)</a:t>
            </a:r>
          </a:p>
          <a:p>
            <a:r>
              <a:rPr lang="en-US" dirty="0">
                <a:solidFill>
                  <a:srgbClr val="FF0000"/>
                </a:solidFill>
              </a:rPr>
              <a:t>Q:</a:t>
            </a:r>
            <a:r>
              <a:rPr lang="en-US" dirty="0"/>
              <a:t> How many bytes total?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19400" y="762000"/>
            <a:ext cx="2940147" cy="3915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Expanding Memory Stride</a:t>
            </a:r>
          </a:p>
        </p:txBody>
      </p:sp>
    </p:spTree>
    <p:extLst>
      <p:ext uri="{BB962C8B-B14F-4D97-AF65-F5344CB8AC3E}">
        <p14:creationId xmlns:p14="http://schemas.microsoft.com/office/powerpoint/2010/main" val="3538121601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" y="1524000"/>
            <a:ext cx="9890760" cy="5389562"/>
          </a:xfrm>
        </p:spPr>
        <p:txBody>
          <a:bodyPr/>
          <a:lstStyle/>
          <a:p>
            <a:r>
              <a:rPr lang="en-US" sz="2000" b="1" i="1" dirty="0">
                <a:solidFill>
                  <a:srgbClr val="FF6600"/>
                </a:solidFill>
              </a:rPr>
              <a:t>Address Space</a:t>
            </a:r>
            <a:r>
              <a:rPr lang="en-US" sz="2000" dirty="0">
                <a:solidFill>
                  <a:srgbClr val="FF6600"/>
                </a:solidFill>
              </a:rPr>
              <a:t>: </a:t>
            </a:r>
            <a:r>
              <a:rPr lang="en-US" sz="2000" dirty="0"/>
              <a:t>the amount of externally accessible memory for a processor</a:t>
            </a:r>
          </a:p>
          <a:p>
            <a:r>
              <a:rPr lang="en-US" sz="2000" dirty="0"/>
              <a:t>If memory is just a matrix, the size of the </a:t>
            </a:r>
            <a:r>
              <a:rPr lang="en-US" sz="2000" b="1" dirty="0">
                <a:solidFill>
                  <a:srgbClr val="FF6600"/>
                </a:solidFill>
              </a:rPr>
              <a:t>address space</a:t>
            </a:r>
            <a:r>
              <a:rPr lang="en-US" sz="2000" dirty="0">
                <a:solidFill>
                  <a:srgbClr val="FF6600"/>
                </a:solidFill>
              </a:rPr>
              <a:t> </a:t>
            </a:r>
            <a:r>
              <a:rPr lang="en-US" sz="2000" dirty="0"/>
              <a:t>is same as the number of rows in a matrix</a:t>
            </a:r>
          </a:p>
          <a:p>
            <a:pPr lvl="1"/>
            <a:r>
              <a:rPr lang="en-US" sz="1600" b="1" dirty="0">
                <a:solidFill>
                  <a:srgbClr val="FF6600"/>
                </a:solidFill>
              </a:rPr>
              <a:t>32K</a:t>
            </a:r>
            <a:r>
              <a:rPr lang="en-US" sz="1600" dirty="0"/>
              <a:t> x </a:t>
            </a:r>
            <a:r>
              <a:rPr lang="en-US" sz="1600" b="1" dirty="0">
                <a:solidFill>
                  <a:srgbClr val="0000FF"/>
                </a:solidFill>
              </a:rPr>
              <a:t>4</a:t>
            </a:r>
            <a:r>
              <a:rPr lang="en-US" sz="1600" dirty="0"/>
              <a:t>  		//</a:t>
            </a:r>
            <a:r>
              <a:rPr lang="en-US" sz="1600" b="1" dirty="0">
                <a:solidFill>
                  <a:srgbClr val="FF6600"/>
                </a:solidFill>
              </a:rPr>
              <a:t>32 x 2</a:t>
            </a:r>
            <a:r>
              <a:rPr lang="en-US" sz="1600" b="1" baseline="30000" dirty="0">
                <a:solidFill>
                  <a:srgbClr val="FF6600"/>
                </a:solidFill>
              </a:rPr>
              <a:t>10</a:t>
            </a:r>
            <a:r>
              <a:rPr lang="en-US" sz="1600" b="1" dirty="0">
                <a:solidFill>
                  <a:srgbClr val="FF6600"/>
                </a:solidFill>
              </a:rPr>
              <a:t> rows </a:t>
            </a:r>
            <a:r>
              <a:rPr lang="en-US" sz="1600" dirty="0"/>
              <a:t>where each row holds </a:t>
            </a:r>
            <a:r>
              <a:rPr lang="en-US" sz="1600" b="1" dirty="0">
                <a:solidFill>
                  <a:srgbClr val="0000FF"/>
                </a:solidFill>
              </a:rPr>
              <a:t>4 bits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2000" b="1" dirty="0">
                <a:solidFill>
                  <a:srgbClr val="FF6600"/>
                </a:solidFill>
              </a:rPr>
              <a:t>Address space </a:t>
            </a:r>
            <a:r>
              <a:rPr lang="en-US" sz="2000" dirty="0"/>
              <a:t>describes the number of “</a:t>
            </a:r>
            <a:r>
              <a:rPr lang="en-US" sz="2000" b="1" dirty="0">
                <a:solidFill>
                  <a:srgbClr val="FF6600"/>
                </a:solidFill>
              </a:rPr>
              <a:t>bins</a:t>
            </a:r>
            <a:r>
              <a:rPr lang="en-US" sz="2000" dirty="0"/>
              <a:t>”</a:t>
            </a:r>
          </a:p>
          <a:p>
            <a:pPr marL="742950" lvl="2" indent="-342900"/>
            <a:r>
              <a:rPr lang="en-US" sz="2000" dirty="0"/>
              <a:t>The number of </a:t>
            </a:r>
            <a:r>
              <a:rPr lang="en-US" sz="2000" dirty="0">
                <a:solidFill>
                  <a:srgbClr val="FF6600"/>
                </a:solidFill>
              </a:rPr>
              <a:t>slots</a:t>
            </a:r>
            <a:r>
              <a:rPr lang="en-US" sz="2000" dirty="0"/>
              <a:t>, or number of </a:t>
            </a:r>
            <a:r>
              <a:rPr lang="en-US" sz="2000" dirty="0">
                <a:solidFill>
                  <a:srgbClr val="FF6600"/>
                </a:solidFill>
              </a:rPr>
              <a:t>things</a:t>
            </a:r>
            <a:r>
              <a:rPr lang="en-US" sz="2000" dirty="0"/>
              <a:t> with mappable addresses 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Total Memory Capacity</a:t>
            </a:r>
            <a:r>
              <a:rPr lang="en-US" sz="2000" dirty="0"/>
              <a:t> is determined by the </a:t>
            </a:r>
            <a:r>
              <a:rPr lang="en-US" sz="2000" b="1" dirty="0">
                <a:solidFill>
                  <a:srgbClr val="0000FF"/>
                </a:solidFill>
              </a:rPr>
              <a:t>data width </a:t>
            </a:r>
            <a:r>
              <a:rPr lang="en-US" sz="2000" dirty="0"/>
              <a:t>as well as the </a:t>
            </a:r>
            <a:r>
              <a:rPr lang="en-US" sz="2000" b="1" dirty="0">
                <a:solidFill>
                  <a:srgbClr val="FF6600"/>
                </a:solidFill>
              </a:rPr>
              <a:t>addressable memory space</a:t>
            </a:r>
          </a:p>
          <a:p>
            <a:pPr lvl="1"/>
            <a:r>
              <a:rPr lang="en-US" sz="2000" b="1" dirty="0">
                <a:solidFill>
                  <a:srgbClr val="FF6600"/>
                </a:solidFill>
              </a:rPr>
              <a:t>32K</a:t>
            </a:r>
            <a:r>
              <a:rPr lang="en-US" sz="2000" dirty="0"/>
              <a:t> x </a:t>
            </a:r>
            <a:r>
              <a:rPr lang="en-US" sz="2000" b="1" dirty="0">
                <a:solidFill>
                  <a:srgbClr val="0000FF"/>
                </a:solidFill>
              </a:rPr>
              <a:t>4</a:t>
            </a:r>
            <a:r>
              <a:rPr lang="en-US" sz="2000" dirty="0"/>
              <a:t>  ==128K bits</a:t>
            </a:r>
            <a:r>
              <a:rPr lang="en-US" sz="2000" dirty="0">
                <a:solidFill>
                  <a:srgbClr val="FF6600"/>
                </a:solidFill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or 16KBytes in total</a:t>
            </a:r>
          </a:p>
          <a:p>
            <a:pPr lvl="1"/>
            <a:r>
              <a:rPr lang="en-US" sz="2000" b="1" dirty="0">
                <a:solidFill>
                  <a:srgbClr val="FF6600"/>
                </a:solidFill>
              </a:rPr>
              <a:t>16K</a:t>
            </a:r>
            <a:r>
              <a:rPr lang="en-US" sz="2000" dirty="0">
                <a:solidFill>
                  <a:srgbClr val="FF6600"/>
                </a:solidFill>
              </a:rPr>
              <a:t> x </a:t>
            </a:r>
            <a:r>
              <a:rPr lang="en-US" sz="2000" b="1" dirty="0">
                <a:solidFill>
                  <a:srgbClr val="0000FF"/>
                </a:solidFill>
              </a:rPr>
              <a:t>8</a:t>
            </a:r>
            <a:r>
              <a:rPr lang="en-US" sz="2000" dirty="0">
                <a:solidFill>
                  <a:srgbClr val="FF6600"/>
                </a:solidFill>
              </a:rPr>
              <a:t> 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==</a:t>
            </a:r>
            <a:r>
              <a:rPr lang="en-US" sz="2000" dirty="0">
                <a:solidFill>
                  <a:srgbClr val="FF6600"/>
                </a:solidFill>
              </a:rPr>
              <a:t>  </a:t>
            </a:r>
            <a:r>
              <a:rPr lang="en-US" sz="2000" b="1" dirty="0">
                <a:solidFill>
                  <a:srgbClr val="FF6600"/>
                </a:solidFill>
              </a:rPr>
              <a:t>8K</a:t>
            </a:r>
            <a:r>
              <a:rPr lang="en-US" sz="2000" dirty="0">
                <a:solidFill>
                  <a:srgbClr val="FF6600"/>
                </a:solidFill>
              </a:rPr>
              <a:t> x </a:t>
            </a:r>
            <a:r>
              <a:rPr lang="en-US" sz="2000" b="1" dirty="0">
                <a:solidFill>
                  <a:srgbClr val="0000FF"/>
                </a:solidFill>
              </a:rPr>
              <a:t>16</a:t>
            </a:r>
            <a:r>
              <a:rPr lang="en-US" sz="2000" dirty="0">
                <a:solidFill>
                  <a:srgbClr val="FF6600"/>
                </a:solidFill>
              </a:rPr>
              <a:t>  </a:t>
            </a:r>
            <a:r>
              <a:rPr lang="en-US" sz="2000" dirty="0">
                <a:solidFill>
                  <a:srgbClr val="7F7F7F"/>
                </a:solidFill>
              </a:rPr>
              <a:t>==</a:t>
            </a:r>
            <a:r>
              <a:rPr lang="en-US" sz="2000" dirty="0">
                <a:solidFill>
                  <a:srgbClr val="FF6600"/>
                </a:solidFill>
              </a:rPr>
              <a:t> </a:t>
            </a:r>
            <a:r>
              <a:rPr lang="en-US" sz="2000" b="1" dirty="0">
                <a:solidFill>
                  <a:srgbClr val="FF6600"/>
                </a:solidFill>
              </a:rPr>
              <a:t>4K</a:t>
            </a:r>
            <a:r>
              <a:rPr lang="en-US" sz="2000" dirty="0">
                <a:solidFill>
                  <a:srgbClr val="FF6600"/>
                </a:solidFill>
              </a:rPr>
              <a:t> x </a:t>
            </a:r>
            <a:r>
              <a:rPr lang="en-US" sz="2000" b="1" dirty="0">
                <a:solidFill>
                  <a:srgbClr val="0000FF"/>
                </a:solidFill>
              </a:rPr>
              <a:t>32</a:t>
            </a:r>
            <a:r>
              <a:rPr lang="en-US" sz="2000" dirty="0">
                <a:solidFill>
                  <a:srgbClr val="FF6600"/>
                </a:solidFill>
              </a:rPr>
              <a:t> </a:t>
            </a:r>
            <a:r>
              <a:rPr lang="en-US" sz="2000" dirty="0">
                <a:solidFill>
                  <a:srgbClr val="7F7F7F"/>
                </a:solidFill>
              </a:rPr>
              <a:t>== same</a:t>
            </a:r>
            <a:r>
              <a:rPr lang="en-US" sz="2000" dirty="0">
                <a:solidFill>
                  <a:srgbClr val="FF6600"/>
                </a:solidFill>
              </a:rPr>
              <a:t> </a:t>
            </a:r>
            <a:r>
              <a:rPr lang="en-US" sz="2000" b="1" dirty="0">
                <a:solidFill>
                  <a:srgbClr val="FF0000"/>
                </a:solidFill>
              </a:rPr>
              <a:t>Total Memory Capacity</a:t>
            </a:r>
          </a:p>
          <a:p>
            <a:r>
              <a:rPr lang="en-US" sz="2000" b="1" i="1" dirty="0">
                <a:solidFill>
                  <a:srgbClr val="FF6600"/>
                </a:solidFill>
              </a:rPr>
              <a:t>Address bits </a:t>
            </a:r>
            <a:r>
              <a:rPr lang="en-US" sz="2000" dirty="0"/>
              <a:t>are connected to </a:t>
            </a:r>
            <a:r>
              <a:rPr lang="en-US" sz="2000" b="1" i="1" dirty="0">
                <a:solidFill>
                  <a:schemeClr val="accent5">
                    <a:lumMod val="75000"/>
                  </a:schemeClr>
                </a:solidFill>
              </a:rPr>
              <a:t>decoder</a:t>
            </a:r>
            <a:r>
              <a:rPr lang="en-US" sz="2000" b="1" i="1" dirty="0"/>
              <a:t> </a:t>
            </a:r>
            <a:r>
              <a:rPr lang="en-US" sz="2000" dirty="0"/>
              <a:t>to turn on one of many things </a:t>
            </a:r>
          </a:p>
          <a:p>
            <a:pPr lvl="1"/>
            <a:r>
              <a:rPr lang="en-US" sz="2000" dirty="0"/>
              <a:t>So </a:t>
            </a:r>
            <a:r>
              <a:rPr lang="en-US" sz="2000" b="1" dirty="0">
                <a:solidFill>
                  <a:srgbClr val="FF6600"/>
                </a:solidFill>
              </a:rPr>
              <a:t>k address bits </a:t>
            </a:r>
            <a:r>
              <a:rPr lang="en-US" sz="2000" dirty="0"/>
              <a:t>can have </a:t>
            </a:r>
            <a:r>
              <a:rPr lang="en-US" sz="2000" b="1" dirty="0">
                <a:solidFill>
                  <a:srgbClr val="FF6600"/>
                </a:solidFill>
              </a:rPr>
              <a:t>2</a:t>
            </a:r>
            <a:r>
              <a:rPr lang="en-US" sz="2000" b="1" baseline="30000" dirty="0">
                <a:solidFill>
                  <a:srgbClr val="FF6600"/>
                </a:solidFill>
              </a:rPr>
              <a:t>k</a:t>
            </a:r>
            <a:r>
              <a:rPr lang="en-US" sz="2000" b="1" dirty="0">
                <a:solidFill>
                  <a:srgbClr val="FF6600"/>
                </a:solidFill>
              </a:rPr>
              <a:t> addressable bins</a:t>
            </a:r>
          </a:p>
          <a:p>
            <a:pPr lvl="1"/>
            <a:endParaRPr lang="en-US" sz="2000" dirty="0"/>
          </a:p>
          <a:p>
            <a:endParaRPr lang="en-US" sz="2000" dirty="0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762000"/>
            <a:ext cx="8305800" cy="762000"/>
          </a:xfrm>
        </p:spPr>
        <p:txBody>
          <a:bodyPr/>
          <a:lstStyle/>
          <a:p>
            <a:r>
              <a:rPr lang="en-US" dirty="0"/>
              <a:t>Addressable Memory </a:t>
            </a:r>
            <a:br>
              <a:rPr lang="en-US" dirty="0"/>
            </a:br>
            <a:r>
              <a:rPr lang="en-US" dirty="0"/>
              <a:t>Defined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0436561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686800" cy="1600200"/>
          </a:xfrm>
        </p:spPr>
        <p:txBody>
          <a:bodyPr/>
          <a:lstStyle/>
          <a:p>
            <a:r>
              <a:rPr lang="en-US" dirty="0"/>
              <a:t>Transistor Density Increase</a:t>
            </a:r>
            <a:br>
              <a:rPr lang="en-US" dirty="0"/>
            </a:br>
            <a:endParaRPr lang="en-US" dirty="0"/>
          </a:p>
        </p:txBody>
      </p:sp>
      <p:pic>
        <p:nvPicPr>
          <p:cNvPr id="3" name="Picture 2" descr="Screen Shot 2015-04-19 at 5.11.08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42" y="819423"/>
            <a:ext cx="7354158" cy="58861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600200"/>
            <a:ext cx="5689785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Q:</a:t>
            </a:r>
            <a:r>
              <a:rPr lang="en-US" dirty="0"/>
              <a:t> Can anyone guess the transistor count of the 68K?</a:t>
            </a:r>
          </a:p>
        </p:txBody>
      </p:sp>
    </p:spTree>
    <p:extLst>
      <p:ext uri="{BB962C8B-B14F-4D97-AF65-F5344CB8AC3E}">
        <p14:creationId xmlns:p14="http://schemas.microsoft.com/office/powerpoint/2010/main" val="2026806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0"/>
            <a:ext cx="7818567" cy="6858000"/>
          </a:xfrm>
          <a:prstGeom prst="rect">
            <a:avLst/>
          </a:prstGeom>
        </p:spPr>
      </p:pic>
      <p:sp>
        <p:nvSpPr>
          <p:cNvPr id="2" name="Oval 1"/>
          <p:cNvSpPr/>
          <p:nvPr/>
        </p:nvSpPr>
        <p:spPr>
          <a:xfrm>
            <a:off x="3888980" y="4342463"/>
            <a:ext cx="197641" cy="17967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089400" y="4222234"/>
            <a:ext cx="10922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68,000</a:t>
            </a:r>
          </a:p>
        </p:txBody>
      </p:sp>
    </p:spTree>
    <p:extLst>
      <p:ext uri="{BB962C8B-B14F-4D97-AF65-F5344CB8AC3E}">
        <p14:creationId xmlns:p14="http://schemas.microsoft.com/office/powerpoint/2010/main" val="982503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43000" y="914400"/>
            <a:ext cx="2362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</a:p>
          <a:p>
            <a:pPr algn="ctr"/>
            <a:r>
              <a:rPr lang="en-US" dirty="0"/>
              <a:t>(Volatile)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67400" y="914400"/>
            <a:ext cx="2362200" cy="91440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ROM</a:t>
            </a:r>
          </a:p>
          <a:p>
            <a:pPr algn="ctr"/>
            <a:r>
              <a:rPr lang="en-US" dirty="0"/>
              <a:t>(Non-Volatile)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590800"/>
            <a:ext cx="1905000" cy="533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SRAM</a:t>
            </a:r>
          </a:p>
          <a:p>
            <a:pPr algn="ctr"/>
            <a:r>
              <a:rPr lang="en-US" sz="1000" dirty="0"/>
              <a:t>(fast &amp; large &amp; expensive)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8200" y="2590800"/>
            <a:ext cx="2057400" cy="533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DRAM</a:t>
            </a:r>
          </a:p>
          <a:p>
            <a:pPr algn="ctr"/>
            <a:r>
              <a:rPr lang="en-US" sz="900" dirty="0"/>
              <a:t>(slow &amp; small &amp; cheap &amp; refresh)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05200" y="228600"/>
            <a:ext cx="2362200" cy="685800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1447800"/>
            <a:ext cx="381000" cy="3810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24200" y="1447800"/>
            <a:ext cx="381000" cy="3810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cxnSp>
        <p:nvCxnSpPr>
          <p:cNvPr id="27" name="Straight Arrow Connector 26"/>
          <p:cNvCxnSpPr>
            <a:stCxn id="9" idx="0"/>
            <a:endCxn id="5" idx="2"/>
          </p:cNvCxnSpPr>
          <p:nvPr/>
        </p:nvCxnSpPr>
        <p:spPr>
          <a:xfrm flipV="1">
            <a:off x="1866900" y="1828800"/>
            <a:ext cx="457200" cy="762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endCxn id="5" idx="2"/>
          </p:cNvCxnSpPr>
          <p:nvPr/>
        </p:nvCxnSpPr>
        <p:spPr>
          <a:xfrm flipH="1" flipV="1">
            <a:off x="2324100" y="1828800"/>
            <a:ext cx="2171700" cy="762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flipH="1" flipV="1">
            <a:off x="4686300" y="914400"/>
            <a:ext cx="1181100" cy="4572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V="1">
            <a:off x="3505200" y="914400"/>
            <a:ext cx="1181100" cy="4572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0908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Straight Arrow Connector 49"/>
          <p:cNvCxnSpPr>
            <a:stCxn id="20" idx="0"/>
            <a:endCxn id="9" idx="2"/>
          </p:cNvCxnSpPr>
          <p:nvPr/>
        </p:nvCxnSpPr>
        <p:spPr>
          <a:xfrm flipH="1" flipV="1">
            <a:off x="1866900" y="3124200"/>
            <a:ext cx="5143500" cy="1447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14" idx="0"/>
            <a:endCxn id="9" idx="2"/>
          </p:cNvCxnSpPr>
          <p:nvPr/>
        </p:nvCxnSpPr>
        <p:spPr>
          <a:xfrm flipH="1" flipV="1">
            <a:off x="1866900" y="3124200"/>
            <a:ext cx="3505200" cy="1447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11" idx="0"/>
            <a:endCxn id="9" idx="2"/>
          </p:cNvCxnSpPr>
          <p:nvPr/>
        </p:nvCxnSpPr>
        <p:spPr>
          <a:xfrm flipH="1" flipV="1">
            <a:off x="1866900" y="3124200"/>
            <a:ext cx="1752600" cy="1447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143000" y="914400"/>
            <a:ext cx="2362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</a:p>
          <a:p>
            <a:pPr algn="ctr"/>
            <a:r>
              <a:rPr lang="en-US" dirty="0"/>
              <a:t>(Volatile)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67400" y="914400"/>
            <a:ext cx="2362200" cy="91440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ROM</a:t>
            </a:r>
          </a:p>
          <a:p>
            <a:pPr algn="ctr"/>
            <a:r>
              <a:rPr lang="en-US" dirty="0"/>
              <a:t>(Non-Volatile)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4572000"/>
            <a:ext cx="1143000" cy="533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590800"/>
            <a:ext cx="1905000" cy="533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SRAM</a:t>
            </a:r>
          </a:p>
          <a:p>
            <a:pPr algn="ctr"/>
            <a:r>
              <a:rPr lang="en-US" sz="1000" dirty="0"/>
              <a:t>(fast &amp; large &amp; expensive)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8200" y="2590800"/>
            <a:ext cx="2057400" cy="533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DRAM</a:t>
            </a:r>
          </a:p>
          <a:p>
            <a:pPr algn="ctr"/>
            <a:r>
              <a:rPr lang="en-US" sz="900" dirty="0"/>
              <a:t>(slow &amp; small &amp; cheap &amp; refresh)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24000" y="4572000"/>
            <a:ext cx="1219200" cy="533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MDRAM</a:t>
            </a:r>
          </a:p>
          <a:p>
            <a:pPr algn="ctr"/>
            <a:r>
              <a:rPr lang="en-US" sz="1000" dirty="0"/>
              <a:t>(multi-bank)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2895600" y="4572000"/>
            <a:ext cx="1447800" cy="533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FPM</a:t>
            </a:r>
          </a:p>
          <a:p>
            <a:pPr algn="ctr"/>
            <a:r>
              <a:rPr lang="en-US" sz="1000" dirty="0"/>
              <a:t>(Fast-Page Mode)</a:t>
            </a:r>
            <a:endParaRPr lang="en-US" dirty="0"/>
          </a:p>
        </p:txBody>
      </p:sp>
      <p:sp>
        <p:nvSpPr>
          <p:cNvPr id="14" name="Rounded Rectangle 13"/>
          <p:cNvSpPr/>
          <p:nvPr/>
        </p:nvSpPr>
        <p:spPr>
          <a:xfrm>
            <a:off x="4495800" y="4572000"/>
            <a:ext cx="1752600" cy="533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Synchronized</a:t>
            </a:r>
            <a:endParaRPr lang="en-US" sz="1000" dirty="0"/>
          </a:p>
        </p:txBody>
      </p:sp>
      <p:sp>
        <p:nvSpPr>
          <p:cNvPr id="18" name="Rounded Rectangle 17"/>
          <p:cNvSpPr/>
          <p:nvPr/>
        </p:nvSpPr>
        <p:spPr>
          <a:xfrm>
            <a:off x="3505200" y="228600"/>
            <a:ext cx="2362200" cy="685800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572000"/>
            <a:ext cx="1219200" cy="533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RDRAM</a:t>
            </a:r>
          </a:p>
          <a:p>
            <a:pPr algn="ctr"/>
            <a:r>
              <a:rPr lang="en-US" sz="1000" dirty="0"/>
              <a:t>(</a:t>
            </a:r>
            <a:r>
              <a:rPr lang="en-US" sz="1000" dirty="0" err="1"/>
              <a:t>rambus</a:t>
            </a:r>
            <a:r>
              <a:rPr lang="en-US" sz="1000" dirty="0"/>
              <a:t>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1447800"/>
            <a:ext cx="381000" cy="3810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24200" y="1447800"/>
            <a:ext cx="381000" cy="3810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cxnSp>
        <p:nvCxnSpPr>
          <p:cNvPr id="27" name="Straight Arrow Connector 26"/>
          <p:cNvCxnSpPr>
            <a:stCxn id="9" idx="0"/>
            <a:endCxn id="5" idx="2"/>
          </p:cNvCxnSpPr>
          <p:nvPr/>
        </p:nvCxnSpPr>
        <p:spPr>
          <a:xfrm flipV="1">
            <a:off x="1866900" y="1828800"/>
            <a:ext cx="457200" cy="762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endCxn id="5" idx="2"/>
          </p:cNvCxnSpPr>
          <p:nvPr/>
        </p:nvCxnSpPr>
        <p:spPr>
          <a:xfrm flipH="1" flipV="1">
            <a:off x="2324100" y="1828800"/>
            <a:ext cx="2171700" cy="762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7" idx="0"/>
            <a:endCxn id="9" idx="2"/>
          </p:cNvCxnSpPr>
          <p:nvPr/>
        </p:nvCxnSpPr>
        <p:spPr>
          <a:xfrm flipV="1">
            <a:off x="800100" y="3124200"/>
            <a:ext cx="1066800" cy="1447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10" idx="0"/>
            <a:endCxn id="9" idx="2"/>
          </p:cNvCxnSpPr>
          <p:nvPr/>
        </p:nvCxnSpPr>
        <p:spPr>
          <a:xfrm flipH="1" flipV="1">
            <a:off x="1866900" y="3124200"/>
            <a:ext cx="266700" cy="1447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flipH="1" flipV="1">
            <a:off x="4686300" y="914400"/>
            <a:ext cx="1181100" cy="4572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V="1">
            <a:off x="3505200" y="914400"/>
            <a:ext cx="1181100" cy="4572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271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Straight Arrow Connector 51"/>
          <p:cNvCxnSpPr>
            <a:stCxn id="19" idx="0"/>
          </p:cNvCxnSpPr>
          <p:nvPr/>
        </p:nvCxnSpPr>
        <p:spPr>
          <a:xfrm flipV="1">
            <a:off x="7315200" y="5105400"/>
            <a:ext cx="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20" idx="0"/>
            <a:endCxn id="9" idx="2"/>
          </p:cNvCxnSpPr>
          <p:nvPr/>
        </p:nvCxnSpPr>
        <p:spPr>
          <a:xfrm flipH="1" flipV="1">
            <a:off x="1866900" y="3124200"/>
            <a:ext cx="5143500" cy="1447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14" idx="0"/>
            <a:endCxn id="9" idx="2"/>
          </p:cNvCxnSpPr>
          <p:nvPr/>
        </p:nvCxnSpPr>
        <p:spPr>
          <a:xfrm flipH="1" flipV="1">
            <a:off x="1866900" y="3124200"/>
            <a:ext cx="3505200" cy="1447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11" idx="0"/>
            <a:endCxn id="9" idx="2"/>
          </p:cNvCxnSpPr>
          <p:nvPr/>
        </p:nvCxnSpPr>
        <p:spPr>
          <a:xfrm flipH="1" flipV="1">
            <a:off x="1866900" y="3124200"/>
            <a:ext cx="1752600" cy="1447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143000" y="914400"/>
            <a:ext cx="2362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</a:p>
          <a:p>
            <a:pPr algn="ctr"/>
            <a:r>
              <a:rPr lang="en-US" dirty="0"/>
              <a:t>(Volatile)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67400" y="914400"/>
            <a:ext cx="2362200" cy="91440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ROM</a:t>
            </a:r>
          </a:p>
          <a:p>
            <a:pPr algn="ctr"/>
            <a:r>
              <a:rPr lang="en-US" dirty="0"/>
              <a:t>(Non-Volatile)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4572000"/>
            <a:ext cx="1143000" cy="533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590800"/>
            <a:ext cx="1905000" cy="533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SRAM</a:t>
            </a:r>
          </a:p>
          <a:p>
            <a:pPr algn="ctr"/>
            <a:r>
              <a:rPr lang="en-US" sz="1000" dirty="0"/>
              <a:t>(fast &amp; large &amp; expensive)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8200" y="2590800"/>
            <a:ext cx="2057400" cy="533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DRAM</a:t>
            </a:r>
          </a:p>
          <a:p>
            <a:pPr algn="ctr"/>
            <a:r>
              <a:rPr lang="en-US" sz="900" dirty="0"/>
              <a:t>(slow &amp; small &amp; cheap &amp; refresh)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24000" y="4572000"/>
            <a:ext cx="1219200" cy="533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MDRAM</a:t>
            </a:r>
          </a:p>
          <a:p>
            <a:pPr algn="ctr"/>
            <a:r>
              <a:rPr lang="en-US" sz="1000" dirty="0"/>
              <a:t>(multi-bank)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2895600" y="4572000"/>
            <a:ext cx="1447800" cy="533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FPM</a:t>
            </a:r>
          </a:p>
          <a:p>
            <a:pPr algn="ctr"/>
            <a:r>
              <a:rPr lang="en-US" sz="1000" dirty="0"/>
              <a:t>(Fast-Page Mode)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228600" y="5410200"/>
            <a:ext cx="1143000" cy="533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Burst EDO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91000" y="5410200"/>
            <a:ext cx="1143000" cy="533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SDRAM</a:t>
            </a:r>
          </a:p>
          <a:p>
            <a:pPr algn="ctr"/>
            <a:r>
              <a:rPr lang="en-US" sz="1000" dirty="0"/>
              <a:t>(synchronous)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5800" y="4572000"/>
            <a:ext cx="1752600" cy="533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Synchronized</a:t>
            </a:r>
            <a:endParaRPr lang="en-US" sz="1000" dirty="0"/>
          </a:p>
        </p:txBody>
      </p:sp>
      <p:sp>
        <p:nvSpPr>
          <p:cNvPr id="15" name="Rounded Rectangle 14"/>
          <p:cNvSpPr/>
          <p:nvPr/>
        </p:nvSpPr>
        <p:spPr>
          <a:xfrm>
            <a:off x="5486400" y="5410200"/>
            <a:ext cx="1143000" cy="533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SL</a:t>
            </a:r>
          </a:p>
          <a:p>
            <a:pPr algn="ctr"/>
            <a:r>
              <a:rPr lang="en-US" dirty="0"/>
              <a:t> </a:t>
            </a:r>
            <a:r>
              <a:rPr lang="en-US" sz="1000" dirty="0"/>
              <a:t>(Synch-Link)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05200" y="228600"/>
            <a:ext cx="2362200" cy="685800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05600" y="5410200"/>
            <a:ext cx="1219200" cy="533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DR</a:t>
            </a:r>
          </a:p>
          <a:p>
            <a:pPr algn="ctr"/>
            <a:r>
              <a:rPr lang="en-US" sz="1000" dirty="0"/>
              <a:t>(direct </a:t>
            </a:r>
            <a:r>
              <a:rPr lang="en-US" sz="1000" dirty="0" err="1"/>
              <a:t>rambus</a:t>
            </a:r>
            <a:r>
              <a:rPr lang="en-US" sz="1000" dirty="0"/>
              <a:t>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572000"/>
            <a:ext cx="1219200" cy="533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RDRAM</a:t>
            </a:r>
          </a:p>
          <a:p>
            <a:pPr algn="ctr"/>
            <a:r>
              <a:rPr lang="en-US" sz="1000" dirty="0"/>
              <a:t>(</a:t>
            </a:r>
            <a:r>
              <a:rPr lang="en-US" sz="1000" dirty="0" err="1"/>
              <a:t>rambus</a:t>
            </a:r>
            <a:r>
              <a:rPr lang="en-US" sz="1000" dirty="0"/>
              <a:t>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1447800"/>
            <a:ext cx="381000" cy="3810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24200" y="1447800"/>
            <a:ext cx="381000" cy="3810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cxnSp>
        <p:nvCxnSpPr>
          <p:cNvPr id="27" name="Straight Arrow Connector 26"/>
          <p:cNvCxnSpPr>
            <a:stCxn id="9" idx="0"/>
            <a:endCxn id="5" idx="2"/>
          </p:cNvCxnSpPr>
          <p:nvPr/>
        </p:nvCxnSpPr>
        <p:spPr>
          <a:xfrm flipV="1">
            <a:off x="1866900" y="1828800"/>
            <a:ext cx="457200" cy="762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endCxn id="5" idx="2"/>
          </p:cNvCxnSpPr>
          <p:nvPr/>
        </p:nvCxnSpPr>
        <p:spPr>
          <a:xfrm flipH="1" flipV="1">
            <a:off x="2324100" y="1828800"/>
            <a:ext cx="2171700" cy="762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7" idx="0"/>
            <a:endCxn id="9" idx="2"/>
          </p:cNvCxnSpPr>
          <p:nvPr/>
        </p:nvCxnSpPr>
        <p:spPr>
          <a:xfrm flipV="1">
            <a:off x="800100" y="3124200"/>
            <a:ext cx="1066800" cy="1447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10" idx="0"/>
            <a:endCxn id="9" idx="2"/>
          </p:cNvCxnSpPr>
          <p:nvPr/>
        </p:nvCxnSpPr>
        <p:spPr>
          <a:xfrm flipH="1" flipV="1">
            <a:off x="1866900" y="3124200"/>
            <a:ext cx="266700" cy="1447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12" idx="0"/>
            <a:endCxn id="7" idx="2"/>
          </p:cNvCxnSpPr>
          <p:nvPr/>
        </p:nvCxnSpPr>
        <p:spPr>
          <a:xfrm flipV="1">
            <a:off x="800100" y="5105400"/>
            <a:ext cx="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endCxn id="14" idx="2"/>
          </p:cNvCxnSpPr>
          <p:nvPr/>
        </p:nvCxnSpPr>
        <p:spPr>
          <a:xfrm flipV="1">
            <a:off x="4800600" y="5105400"/>
            <a:ext cx="5715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endCxn id="14" idx="2"/>
          </p:cNvCxnSpPr>
          <p:nvPr/>
        </p:nvCxnSpPr>
        <p:spPr>
          <a:xfrm flipH="1" flipV="1">
            <a:off x="5372100" y="5105400"/>
            <a:ext cx="6477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V="1">
            <a:off x="4800600" y="5943600"/>
            <a:ext cx="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114800" y="6172200"/>
            <a:ext cx="1295400" cy="533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DDR</a:t>
            </a:r>
          </a:p>
          <a:p>
            <a:pPr algn="ctr"/>
            <a:r>
              <a:rPr lang="en-US" sz="1000" dirty="0"/>
              <a:t>(double data rate)</a:t>
            </a:r>
          </a:p>
        </p:txBody>
      </p:sp>
      <p:cxnSp>
        <p:nvCxnSpPr>
          <p:cNvPr id="65" name="Straight Arrow Connector 64"/>
          <p:cNvCxnSpPr/>
          <p:nvPr/>
        </p:nvCxnSpPr>
        <p:spPr>
          <a:xfrm flipH="1" flipV="1">
            <a:off x="4686300" y="914400"/>
            <a:ext cx="1181100" cy="4572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V="1">
            <a:off x="3505200" y="914400"/>
            <a:ext cx="1181100" cy="4572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8717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Straight Arrow Connector 49"/>
          <p:cNvCxnSpPr>
            <a:stCxn id="20" idx="0"/>
            <a:endCxn id="9" idx="2"/>
          </p:cNvCxnSpPr>
          <p:nvPr/>
        </p:nvCxnSpPr>
        <p:spPr>
          <a:xfrm flipH="1" flipV="1">
            <a:off x="1866900" y="3124200"/>
            <a:ext cx="5143500" cy="1447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14" idx="0"/>
            <a:endCxn id="9" idx="2"/>
          </p:cNvCxnSpPr>
          <p:nvPr/>
        </p:nvCxnSpPr>
        <p:spPr>
          <a:xfrm flipH="1" flipV="1">
            <a:off x="1866900" y="3124200"/>
            <a:ext cx="3505200" cy="1447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11" idx="0"/>
            <a:endCxn id="9" idx="2"/>
          </p:cNvCxnSpPr>
          <p:nvPr/>
        </p:nvCxnSpPr>
        <p:spPr>
          <a:xfrm flipH="1" flipV="1">
            <a:off x="1866900" y="3124200"/>
            <a:ext cx="1752600" cy="1447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143000" y="914400"/>
            <a:ext cx="2362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</a:p>
          <a:p>
            <a:pPr algn="ctr"/>
            <a:r>
              <a:rPr lang="en-US" dirty="0"/>
              <a:t>(Volatile)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67400" y="914400"/>
            <a:ext cx="2362200" cy="91440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ROM</a:t>
            </a:r>
          </a:p>
          <a:p>
            <a:pPr algn="ctr"/>
            <a:r>
              <a:rPr lang="en-US" dirty="0"/>
              <a:t>(Non-Volatile)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4572000"/>
            <a:ext cx="1143000" cy="533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590800"/>
            <a:ext cx="1905000" cy="533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SRAM</a:t>
            </a:r>
          </a:p>
          <a:p>
            <a:pPr algn="ctr"/>
            <a:r>
              <a:rPr lang="en-US" sz="1000" dirty="0"/>
              <a:t>(fast &amp; large &amp; expensive)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8200" y="2590800"/>
            <a:ext cx="2057400" cy="533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DRAM</a:t>
            </a:r>
          </a:p>
          <a:p>
            <a:pPr algn="ctr"/>
            <a:r>
              <a:rPr lang="en-US" sz="900" dirty="0"/>
              <a:t>(slow &amp; small &amp; cheap &amp; refresh)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24000" y="4572000"/>
            <a:ext cx="1219200" cy="533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MDRAM</a:t>
            </a:r>
          </a:p>
          <a:p>
            <a:pPr algn="ctr"/>
            <a:r>
              <a:rPr lang="en-US" sz="1000" dirty="0"/>
              <a:t>(multi-bank)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2895600" y="4572000"/>
            <a:ext cx="1447800" cy="533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FPM</a:t>
            </a:r>
          </a:p>
          <a:p>
            <a:pPr algn="ctr"/>
            <a:r>
              <a:rPr lang="en-US" sz="1000" dirty="0"/>
              <a:t>(Fast-Page Mode)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228600" y="5410200"/>
            <a:ext cx="1143000" cy="533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Burst EDO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91000" y="5410200"/>
            <a:ext cx="1143000" cy="533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SDRAM</a:t>
            </a:r>
          </a:p>
          <a:p>
            <a:pPr algn="ctr"/>
            <a:r>
              <a:rPr lang="en-US" sz="1000" dirty="0"/>
              <a:t>(synchronous)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5800" y="4572000"/>
            <a:ext cx="1752600" cy="533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Synchronized</a:t>
            </a:r>
            <a:endParaRPr lang="en-US" sz="1000" dirty="0"/>
          </a:p>
        </p:txBody>
      </p:sp>
      <p:sp>
        <p:nvSpPr>
          <p:cNvPr id="15" name="Rounded Rectangle 14"/>
          <p:cNvSpPr/>
          <p:nvPr/>
        </p:nvSpPr>
        <p:spPr>
          <a:xfrm>
            <a:off x="5486400" y="5410200"/>
            <a:ext cx="1143000" cy="533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SL</a:t>
            </a:r>
          </a:p>
          <a:p>
            <a:pPr algn="ctr"/>
            <a:r>
              <a:rPr lang="en-US" dirty="0"/>
              <a:t> </a:t>
            </a:r>
            <a:r>
              <a:rPr lang="en-US" sz="1000" dirty="0"/>
              <a:t>(Synch Link)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05200" y="228600"/>
            <a:ext cx="2362200" cy="685800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572000"/>
            <a:ext cx="1219200" cy="533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RDRAM</a:t>
            </a:r>
          </a:p>
          <a:p>
            <a:pPr algn="ctr"/>
            <a:r>
              <a:rPr lang="en-US" sz="1000" dirty="0"/>
              <a:t>(</a:t>
            </a:r>
            <a:r>
              <a:rPr lang="en-US" sz="1000" dirty="0" err="1"/>
              <a:t>rambus</a:t>
            </a:r>
            <a:r>
              <a:rPr lang="en-US" sz="1000" dirty="0"/>
              <a:t>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48000" y="3581400"/>
            <a:ext cx="1143000" cy="533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SSRAM</a:t>
            </a:r>
          </a:p>
          <a:p>
            <a:pPr algn="ctr"/>
            <a:r>
              <a:rPr lang="en-US" sz="1000" dirty="0"/>
              <a:t>(synch)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581400"/>
            <a:ext cx="1524000" cy="533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AS-SRAM</a:t>
            </a:r>
          </a:p>
          <a:p>
            <a:pPr algn="ctr"/>
            <a:r>
              <a:rPr lang="en-US" sz="1000" dirty="0"/>
              <a:t>(</a:t>
            </a:r>
            <a:r>
              <a:rPr lang="en-US" sz="1000" dirty="0" err="1"/>
              <a:t>asynch</a:t>
            </a:r>
            <a:r>
              <a:rPr lang="en-US" sz="1000" dirty="0"/>
              <a:t>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581400"/>
            <a:ext cx="1828800" cy="533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PB</a:t>
            </a:r>
          </a:p>
          <a:p>
            <a:pPr algn="ctr"/>
            <a:r>
              <a:rPr lang="en-US" sz="1000" dirty="0"/>
              <a:t>(pipeline burst)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1447800"/>
            <a:ext cx="381000" cy="3810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24200" y="1447800"/>
            <a:ext cx="381000" cy="3810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cxnSp>
        <p:nvCxnSpPr>
          <p:cNvPr id="27" name="Straight Arrow Connector 26"/>
          <p:cNvCxnSpPr>
            <a:stCxn id="9" idx="0"/>
            <a:endCxn id="5" idx="2"/>
          </p:cNvCxnSpPr>
          <p:nvPr/>
        </p:nvCxnSpPr>
        <p:spPr>
          <a:xfrm flipV="1">
            <a:off x="1866900" y="1828800"/>
            <a:ext cx="457200" cy="762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endCxn id="5" idx="2"/>
          </p:cNvCxnSpPr>
          <p:nvPr/>
        </p:nvCxnSpPr>
        <p:spPr>
          <a:xfrm flipH="1" flipV="1">
            <a:off x="2324100" y="1828800"/>
            <a:ext cx="2171700" cy="762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1" idx="0"/>
            <a:endCxn id="8" idx="2"/>
          </p:cNvCxnSpPr>
          <p:nvPr/>
        </p:nvCxnSpPr>
        <p:spPr>
          <a:xfrm flipV="1">
            <a:off x="3619500" y="3124200"/>
            <a:ext cx="762000" cy="457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2" idx="0"/>
            <a:endCxn id="8" idx="2"/>
          </p:cNvCxnSpPr>
          <p:nvPr/>
        </p:nvCxnSpPr>
        <p:spPr>
          <a:xfrm flipH="1" flipV="1">
            <a:off x="4381500" y="3124200"/>
            <a:ext cx="723900" cy="457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3" idx="0"/>
            <a:endCxn id="8" idx="2"/>
          </p:cNvCxnSpPr>
          <p:nvPr/>
        </p:nvCxnSpPr>
        <p:spPr>
          <a:xfrm flipH="1" flipV="1">
            <a:off x="4381500" y="3124200"/>
            <a:ext cx="2705100" cy="457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7" idx="0"/>
            <a:endCxn id="9" idx="2"/>
          </p:cNvCxnSpPr>
          <p:nvPr/>
        </p:nvCxnSpPr>
        <p:spPr>
          <a:xfrm flipV="1">
            <a:off x="800100" y="3124200"/>
            <a:ext cx="1066800" cy="1447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10" idx="0"/>
            <a:endCxn id="9" idx="2"/>
          </p:cNvCxnSpPr>
          <p:nvPr/>
        </p:nvCxnSpPr>
        <p:spPr>
          <a:xfrm flipH="1" flipV="1">
            <a:off x="1866900" y="3124200"/>
            <a:ext cx="266700" cy="1447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12" idx="0"/>
            <a:endCxn id="7" idx="2"/>
          </p:cNvCxnSpPr>
          <p:nvPr/>
        </p:nvCxnSpPr>
        <p:spPr>
          <a:xfrm flipV="1">
            <a:off x="800100" y="5105400"/>
            <a:ext cx="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endCxn id="14" idx="2"/>
          </p:cNvCxnSpPr>
          <p:nvPr/>
        </p:nvCxnSpPr>
        <p:spPr>
          <a:xfrm flipV="1">
            <a:off x="4800600" y="5105400"/>
            <a:ext cx="5715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endCxn id="14" idx="2"/>
          </p:cNvCxnSpPr>
          <p:nvPr/>
        </p:nvCxnSpPr>
        <p:spPr>
          <a:xfrm flipH="1" flipV="1">
            <a:off x="5372100" y="5105400"/>
            <a:ext cx="6477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V="1">
            <a:off x="4800600" y="5943600"/>
            <a:ext cx="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114800" y="6172200"/>
            <a:ext cx="1295400" cy="533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DDR</a:t>
            </a:r>
          </a:p>
          <a:p>
            <a:pPr algn="ctr"/>
            <a:r>
              <a:rPr lang="en-US" sz="1000" dirty="0"/>
              <a:t>(double data rate)</a:t>
            </a:r>
          </a:p>
        </p:txBody>
      </p:sp>
      <p:cxnSp>
        <p:nvCxnSpPr>
          <p:cNvPr id="65" name="Straight Arrow Connector 64"/>
          <p:cNvCxnSpPr/>
          <p:nvPr/>
        </p:nvCxnSpPr>
        <p:spPr>
          <a:xfrm flipH="1" flipV="1">
            <a:off x="4686300" y="914400"/>
            <a:ext cx="1181100" cy="4572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V="1">
            <a:off x="3505200" y="914400"/>
            <a:ext cx="1181100" cy="4572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40" idx="0"/>
          </p:cNvCxnSpPr>
          <p:nvPr/>
        </p:nvCxnSpPr>
        <p:spPr>
          <a:xfrm flipV="1">
            <a:off x="7315200" y="5105400"/>
            <a:ext cx="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705600" y="5410200"/>
            <a:ext cx="1219200" cy="533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DR</a:t>
            </a:r>
          </a:p>
          <a:p>
            <a:pPr algn="ctr"/>
            <a:r>
              <a:rPr lang="en-US" sz="1000" dirty="0"/>
              <a:t>(direct </a:t>
            </a:r>
            <a:r>
              <a:rPr lang="en-US" sz="1000" dirty="0" err="1"/>
              <a:t>rambus</a:t>
            </a:r>
            <a:r>
              <a:rPr lang="en-US" sz="1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70908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43000" y="914400"/>
            <a:ext cx="2362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</a:p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5867400" y="914400"/>
            <a:ext cx="2362200" cy="91440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ROM</a:t>
            </a:r>
          </a:p>
          <a:p>
            <a:pPr algn="ctr"/>
            <a:r>
              <a:rPr lang="en-US" dirty="0"/>
              <a:t>(Non-Volatile)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05200" y="228600"/>
            <a:ext cx="2362200" cy="685800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1447800"/>
            <a:ext cx="990600" cy="3810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DRAM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14600" y="1447800"/>
            <a:ext cx="990600" cy="3810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SRAM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43000" y="3364468"/>
            <a:ext cx="2362200" cy="91440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</a:t>
            </a:r>
          </a:p>
          <a:p>
            <a:pPr algn="ctr"/>
            <a:r>
              <a:rPr lang="en-US" sz="1000" dirty="0"/>
              <a:t>(programmable via blown fuses, one time)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733800" y="3364468"/>
            <a:ext cx="2362200" cy="9144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EPROM</a:t>
            </a:r>
          </a:p>
          <a:p>
            <a:pPr algn="ctr"/>
            <a:r>
              <a:rPr lang="en-US" sz="1000" dirty="0"/>
              <a:t>(Erasable Programmable, specialized tools, erase entire chip)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24600" y="3364468"/>
            <a:ext cx="2362200" cy="9144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EEPROM</a:t>
            </a:r>
          </a:p>
          <a:p>
            <a:pPr algn="ctr"/>
            <a:r>
              <a:rPr lang="en-US" sz="1000" dirty="0"/>
              <a:t>(Electrically Erasable Programmable, no specialized tools, erase 1b at a time)</a:t>
            </a:r>
          </a:p>
        </p:txBody>
      </p:sp>
      <p:cxnSp>
        <p:nvCxnSpPr>
          <p:cNvPr id="3" name="Straight Arrow Connector 2"/>
          <p:cNvCxnSpPr>
            <a:stCxn id="37" idx="0"/>
            <a:endCxn id="6" idx="2"/>
          </p:cNvCxnSpPr>
          <p:nvPr/>
        </p:nvCxnSpPr>
        <p:spPr>
          <a:xfrm flipV="1">
            <a:off x="2324100" y="1828800"/>
            <a:ext cx="4724400" cy="153566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9" idx="0"/>
            <a:endCxn id="6" idx="2"/>
          </p:cNvCxnSpPr>
          <p:nvPr/>
        </p:nvCxnSpPr>
        <p:spPr>
          <a:xfrm flipV="1">
            <a:off x="4914900" y="1828800"/>
            <a:ext cx="2133600" cy="153566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40" idx="0"/>
            <a:endCxn id="6" idx="2"/>
          </p:cNvCxnSpPr>
          <p:nvPr/>
        </p:nvCxnSpPr>
        <p:spPr>
          <a:xfrm flipH="1" flipV="1">
            <a:off x="7048500" y="1828800"/>
            <a:ext cx="457200" cy="153566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6324600" y="5040868"/>
            <a:ext cx="23622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Flash Memory</a:t>
            </a:r>
          </a:p>
          <a:p>
            <a:pPr algn="ctr"/>
            <a:r>
              <a:rPr lang="en-US" sz="1000" dirty="0"/>
              <a:t>(Electrically Erasable Programmable, no specialized tools, block at a time, NAND and NOR)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6031468"/>
            <a:ext cx="2743200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Q: </a:t>
            </a:r>
            <a:r>
              <a:rPr lang="en-US" dirty="0"/>
              <a:t>OK, Flash is a ROM?</a:t>
            </a:r>
          </a:p>
        </p:txBody>
      </p:sp>
      <p:cxnSp>
        <p:nvCxnSpPr>
          <p:cNvPr id="43" name="Straight Arrow Connector 42"/>
          <p:cNvCxnSpPr>
            <a:stCxn id="6" idx="1"/>
            <a:endCxn id="18" idx="2"/>
          </p:cNvCxnSpPr>
          <p:nvPr/>
        </p:nvCxnSpPr>
        <p:spPr>
          <a:xfrm flipH="1" flipV="1">
            <a:off x="4686300" y="914400"/>
            <a:ext cx="1181100" cy="4572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5" idx="3"/>
            <a:endCxn id="18" idx="2"/>
          </p:cNvCxnSpPr>
          <p:nvPr/>
        </p:nvCxnSpPr>
        <p:spPr>
          <a:xfrm flipV="1">
            <a:off x="3505200" y="914400"/>
            <a:ext cx="1181100" cy="4572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endCxn id="5" idx="2"/>
          </p:cNvCxnSpPr>
          <p:nvPr/>
        </p:nvCxnSpPr>
        <p:spPr>
          <a:xfrm flipV="1">
            <a:off x="1143000" y="1828800"/>
            <a:ext cx="1181100" cy="685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endCxn id="5" idx="2"/>
          </p:cNvCxnSpPr>
          <p:nvPr/>
        </p:nvCxnSpPr>
        <p:spPr>
          <a:xfrm flipV="1">
            <a:off x="1295400" y="1828800"/>
            <a:ext cx="1028700" cy="838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endCxn id="5" idx="2"/>
          </p:cNvCxnSpPr>
          <p:nvPr/>
        </p:nvCxnSpPr>
        <p:spPr>
          <a:xfrm flipV="1">
            <a:off x="1828800" y="1828800"/>
            <a:ext cx="495300" cy="838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endCxn id="5" idx="2"/>
          </p:cNvCxnSpPr>
          <p:nvPr/>
        </p:nvCxnSpPr>
        <p:spPr>
          <a:xfrm flipH="1" flipV="1">
            <a:off x="2324100" y="1828800"/>
            <a:ext cx="800100" cy="457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endCxn id="5" idx="2"/>
          </p:cNvCxnSpPr>
          <p:nvPr/>
        </p:nvCxnSpPr>
        <p:spPr>
          <a:xfrm flipH="1" flipV="1">
            <a:off x="2324100" y="1828800"/>
            <a:ext cx="266700" cy="685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Cloud Callout 83"/>
          <p:cNvSpPr/>
          <p:nvPr/>
        </p:nvSpPr>
        <p:spPr>
          <a:xfrm>
            <a:off x="1066800" y="2209800"/>
            <a:ext cx="2362200" cy="533400"/>
          </a:xfrm>
          <a:prstGeom prst="cloudCallou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435436" y="88775"/>
            <a:ext cx="2632364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</a:rPr>
              <a:t>A:</a:t>
            </a:r>
            <a:r>
              <a:rPr lang="en-US" dirty="0"/>
              <a:t> ROM used to mean READ ONLY, but now means Non-Volatile</a:t>
            </a:r>
          </a:p>
        </p:txBody>
      </p:sp>
      <p:sp>
        <p:nvSpPr>
          <p:cNvPr id="8" name="Bent Arrow 7"/>
          <p:cNvSpPr/>
          <p:nvPr/>
        </p:nvSpPr>
        <p:spPr>
          <a:xfrm rot="5400000">
            <a:off x="4286846" y="1277708"/>
            <a:ext cx="1750646" cy="8038338"/>
          </a:xfrm>
          <a:prstGeom prst="ben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41127" y="4495800"/>
            <a:ext cx="3031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PROM Evolution over Time</a:t>
            </a:r>
          </a:p>
        </p:txBody>
      </p:sp>
      <p:cxnSp>
        <p:nvCxnSpPr>
          <p:cNvPr id="33" name="Straight Arrow Connector 32"/>
          <p:cNvCxnSpPr>
            <a:stCxn id="48" idx="0"/>
            <a:endCxn id="40" idx="2"/>
          </p:cNvCxnSpPr>
          <p:nvPr/>
        </p:nvCxnSpPr>
        <p:spPr>
          <a:xfrm flipV="1">
            <a:off x="7505700" y="4278868"/>
            <a:ext cx="0" cy="762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946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4" name="Rectangle 5"/>
          <p:cNvSpPr>
            <a:spLocks noChangeArrowheads="1"/>
          </p:cNvSpPr>
          <p:nvPr/>
        </p:nvSpPr>
        <p:spPr bwMode="auto">
          <a:xfrm>
            <a:off x="1943100" y="2667000"/>
            <a:ext cx="4629150" cy="3581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6573" name="Text Box 14"/>
          <p:cNvSpPr txBox="1">
            <a:spLocks noChangeArrowheads="1"/>
          </p:cNvSpPr>
          <p:nvPr/>
        </p:nvSpPr>
        <p:spPr bwMode="auto">
          <a:xfrm>
            <a:off x="4559300" y="2697163"/>
            <a:ext cx="18986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000" b="1"/>
              <a:t>D0  D1  D2  D3 D4  D5  D6 D7</a:t>
            </a:r>
          </a:p>
        </p:txBody>
      </p:sp>
      <p:sp>
        <p:nvSpPr>
          <p:cNvPr id="66574" name="Line 15"/>
          <p:cNvSpPr>
            <a:spLocks noChangeShapeType="1"/>
          </p:cNvSpPr>
          <p:nvPr/>
        </p:nvSpPr>
        <p:spPr bwMode="auto">
          <a:xfrm flipV="1">
            <a:off x="4714875" y="2028825"/>
            <a:ext cx="0" cy="628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575" name="Line 16"/>
          <p:cNvSpPr>
            <a:spLocks noChangeShapeType="1"/>
          </p:cNvSpPr>
          <p:nvPr/>
        </p:nvSpPr>
        <p:spPr bwMode="auto">
          <a:xfrm flipV="1">
            <a:off x="4953000" y="2028825"/>
            <a:ext cx="0" cy="628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576" name="Line 17"/>
          <p:cNvSpPr>
            <a:spLocks noChangeShapeType="1"/>
          </p:cNvSpPr>
          <p:nvPr/>
        </p:nvSpPr>
        <p:spPr bwMode="auto">
          <a:xfrm flipV="1">
            <a:off x="5172075" y="2038350"/>
            <a:ext cx="0" cy="628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577" name="Line 18"/>
          <p:cNvSpPr>
            <a:spLocks noChangeShapeType="1"/>
          </p:cNvSpPr>
          <p:nvPr/>
        </p:nvSpPr>
        <p:spPr bwMode="auto">
          <a:xfrm flipV="1">
            <a:off x="5410200" y="2038350"/>
            <a:ext cx="0" cy="628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578" name="Line 19"/>
          <p:cNvSpPr>
            <a:spLocks noChangeShapeType="1"/>
          </p:cNvSpPr>
          <p:nvPr/>
        </p:nvSpPr>
        <p:spPr bwMode="auto">
          <a:xfrm flipV="1">
            <a:off x="5619750" y="2038350"/>
            <a:ext cx="0" cy="628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579" name="Line 20"/>
          <p:cNvSpPr>
            <a:spLocks noChangeShapeType="1"/>
          </p:cNvSpPr>
          <p:nvPr/>
        </p:nvSpPr>
        <p:spPr bwMode="auto">
          <a:xfrm flipV="1">
            <a:off x="5857875" y="2038350"/>
            <a:ext cx="0" cy="628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580" name="Line 21"/>
          <p:cNvSpPr>
            <a:spLocks noChangeShapeType="1"/>
          </p:cNvSpPr>
          <p:nvPr/>
        </p:nvSpPr>
        <p:spPr bwMode="auto">
          <a:xfrm flipV="1">
            <a:off x="6076950" y="2047875"/>
            <a:ext cx="0" cy="628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581" name="Line 22"/>
          <p:cNvSpPr>
            <a:spLocks noChangeShapeType="1"/>
          </p:cNvSpPr>
          <p:nvPr/>
        </p:nvSpPr>
        <p:spPr bwMode="auto">
          <a:xfrm flipV="1">
            <a:off x="6315075" y="2047875"/>
            <a:ext cx="0" cy="628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582" name="AutoShape 23"/>
          <p:cNvSpPr>
            <a:spLocks/>
          </p:cNvSpPr>
          <p:nvPr/>
        </p:nvSpPr>
        <p:spPr bwMode="auto">
          <a:xfrm rot="5400000">
            <a:off x="5419725" y="1000125"/>
            <a:ext cx="219075" cy="1762125"/>
          </a:xfrm>
          <a:prstGeom prst="leftBrace">
            <a:avLst>
              <a:gd name="adj1" fmla="val 67029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6583" name="Text Box 24"/>
          <p:cNvSpPr txBox="1">
            <a:spLocks noChangeArrowheads="1"/>
          </p:cNvSpPr>
          <p:nvPr/>
        </p:nvSpPr>
        <p:spPr bwMode="auto">
          <a:xfrm>
            <a:off x="4628198" y="1505290"/>
            <a:ext cx="3024505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b="1" dirty="0">
                <a:solidFill>
                  <a:srgbClr val="0000FF"/>
                </a:solidFill>
              </a:rPr>
              <a:t>Data in/out</a:t>
            </a:r>
            <a:r>
              <a:rPr lang="en-US" sz="1400" dirty="0"/>
              <a:t> (bidirectional) to Bus</a:t>
            </a:r>
          </a:p>
          <a:p>
            <a:pPr eaLnBrk="1" hangingPunct="1">
              <a:buFontTx/>
              <a:buChar char="•"/>
            </a:pPr>
            <a:endParaRPr lang="en-US" sz="1400" dirty="0"/>
          </a:p>
        </p:txBody>
      </p:sp>
      <p:sp>
        <p:nvSpPr>
          <p:cNvPr id="66593" name="Text Box 34"/>
          <p:cNvSpPr txBox="1">
            <a:spLocks noChangeArrowheads="1"/>
          </p:cNvSpPr>
          <p:nvPr/>
        </p:nvSpPr>
        <p:spPr bwMode="auto">
          <a:xfrm>
            <a:off x="2955925" y="2687638"/>
            <a:ext cx="15843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000" b="1"/>
              <a:t>A0 A1 A2 A3……….A15</a:t>
            </a:r>
          </a:p>
        </p:txBody>
      </p:sp>
      <p:sp>
        <p:nvSpPr>
          <p:cNvPr id="66594" name="Line 35"/>
          <p:cNvSpPr>
            <a:spLocks noChangeShapeType="1"/>
          </p:cNvSpPr>
          <p:nvPr/>
        </p:nvSpPr>
        <p:spPr bwMode="auto">
          <a:xfrm>
            <a:off x="3190875" y="1819275"/>
            <a:ext cx="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595" name="Line 36"/>
          <p:cNvSpPr>
            <a:spLocks noChangeShapeType="1"/>
          </p:cNvSpPr>
          <p:nvPr/>
        </p:nvSpPr>
        <p:spPr bwMode="auto">
          <a:xfrm>
            <a:off x="3390900" y="1819275"/>
            <a:ext cx="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596" name="Line 37"/>
          <p:cNvSpPr>
            <a:spLocks noChangeShapeType="1"/>
          </p:cNvSpPr>
          <p:nvPr/>
        </p:nvSpPr>
        <p:spPr bwMode="auto">
          <a:xfrm>
            <a:off x="3581400" y="1828800"/>
            <a:ext cx="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597" name="Line 38"/>
          <p:cNvSpPr>
            <a:spLocks noChangeShapeType="1"/>
          </p:cNvSpPr>
          <p:nvPr/>
        </p:nvSpPr>
        <p:spPr bwMode="auto">
          <a:xfrm>
            <a:off x="3781425" y="1828800"/>
            <a:ext cx="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598" name="Line 39"/>
          <p:cNvSpPr>
            <a:spLocks noChangeShapeType="1"/>
          </p:cNvSpPr>
          <p:nvPr/>
        </p:nvSpPr>
        <p:spPr bwMode="auto">
          <a:xfrm>
            <a:off x="4371975" y="1828800"/>
            <a:ext cx="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599" name="AutoShape 40"/>
          <p:cNvSpPr>
            <a:spLocks/>
          </p:cNvSpPr>
          <p:nvPr/>
        </p:nvSpPr>
        <p:spPr bwMode="auto">
          <a:xfrm rot="5400000">
            <a:off x="3686175" y="1009650"/>
            <a:ext cx="219075" cy="1343025"/>
          </a:xfrm>
          <a:prstGeom prst="leftBrace">
            <a:avLst>
              <a:gd name="adj1" fmla="val 51087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6600" name="Text Box 41"/>
          <p:cNvSpPr txBox="1">
            <a:spLocks noChangeArrowheads="1"/>
          </p:cNvSpPr>
          <p:nvPr/>
        </p:nvSpPr>
        <p:spPr bwMode="auto">
          <a:xfrm>
            <a:off x="2720728" y="1320800"/>
            <a:ext cx="2128694" cy="52322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b="1" dirty="0">
                <a:solidFill>
                  <a:srgbClr val="FF6600"/>
                </a:solidFill>
              </a:rPr>
              <a:t>Address Lines</a:t>
            </a:r>
            <a:r>
              <a:rPr lang="en-US" sz="1400" dirty="0"/>
              <a:t> to Bus</a:t>
            </a:r>
          </a:p>
        </p:txBody>
      </p:sp>
      <p:sp>
        <p:nvSpPr>
          <p:cNvPr id="66601" name="Text Box 42"/>
          <p:cNvSpPr txBox="1">
            <a:spLocks noChangeArrowheads="1"/>
          </p:cNvSpPr>
          <p:nvPr/>
        </p:nvSpPr>
        <p:spPr bwMode="auto">
          <a:xfrm>
            <a:off x="1524000" y="6397823"/>
            <a:ext cx="5559272" cy="307777"/>
          </a:xfrm>
          <a:prstGeom prst="rect">
            <a:avLst/>
          </a:prstGeom>
          <a:ln/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b="1" dirty="0"/>
              <a:t>Example: 512 Kbit Total Memory Capacity organized as </a:t>
            </a:r>
            <a:r>
              <a:rPr lang="en-US" sz="1400" b="1" dirty="0">
                <a:solidFill>
                  <a:srgbClr val="FF6600"/>
                </a:solidFill>
              </a:rPr>
              <a:t>64K</a:t>
            </a:r>
            <a:r>
              <a:rPr lang="en-US" sz="1400" b="1" dirty="0"/>
              <a:t> x </a:t>
            </a:r>
            <a:r>
              <a:rPr lang="en-US" sz="1400" b="1" dirty="0">
                <a:solidFill>
                  <a:srgbClr val="0000FF"/>
                </a:solidFill>
              </a:rPr>
              <a:t>8</a:t>
            </a:r>
          </a:p>
        </p:txBody>
      </p:sp>
      <p:sp>
        <p:nvSpPr>
          <p:cNvPr id="66644" name="Line 86"/>
          <p:cNvSpPr>
            <a:spLocks noChangeShapeType="1"/>
          </p:cNvSpPr>
          <p:nvPr/>
        </p:nvSpPr>
        <p:spPr bwMode="auto">
          <a:xfrm flipH="1">
            <a:off x="6753225" y="3895725"/>
            <a:ext cx="9334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645" name="Text Box 87"/>
          <p:cNvSpPr txBox="1">
            <a:spLocks noChangeArrowheads="1"/>
          </p:cNvSpPr>
          <p:nvPr/>
        </p:nvSpPr>
        <p:spPr bwMode="auto">
          <a:xfrm>
            <a:off x="7651750" y="3735388"/>
            <a:ext cx="431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/>
              <a:t>CS</a:t>
            </a:r>
          </a:p>
        </p:txBody>
      </p:sp>
      <p:sp>
        <p:nvSpPr>
          <p:cNvPr id="66646" name="Line 88"/>
          <p:cNvSpPr>
            <a:spLocks noChangeShapeType="1"/>
          </p:cNvSpPr>
          <p:nvPr/>
        </p:nvSpPr>
        <p:spPr bwMode="auto">
          <a:xfrm>
            <a:off x="7734300" y="3762375"/>
            <a:ext cx="2476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649" name="Line 91"/>
          <p:cNvSpPr>
            <a:spLocks noChangeShapeType="1"/>
          </p:cNvSpPr>
          <p:nvPr/>
        </p:nvSpPr>
        <p:spPr bwMode="auto">
          <a:xfrm flipH="1">
            <a:off x="6743700" y="5324475"/>
            <a:ext cx="9334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650" name="Text Box 92"/>
          <p:cNvSpPr txBox="1">
            <a:spLocks noChangeArrowheads="1"/>
          </p:cNvSpPr>
          <p:nvPr/>
        </p:nvSpPr>
        <p:spPr bwMode="auto">
          <a:xfrm>
            <a:off x="7642225" y="5164138"/>
            <a:ext cx="4413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/>
              <a:t>OE</a:t>
            </a:r>
          </a:p>
        </p:txBody>
      </p:sp>
      <p:sp>
        <p:nvSpPr>
          <p:cNvPr id="66651" name="Line 93"/>
          <p:cNvSpPr>
            <a:spLocks noChangeShapeType="1"/>
          </p:cNvSpPr>
          <p:nvPr/>
        </p:nvSpPr>
        <p:spPr bwMode="auto">
          <a:xfrm>
            <a:off x="7740650" y="5191125"/>
            <a:ext cx="2476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654" name="Line 97"/>
          <p:cNvSpPr>
            <a:spLocks noChangeShapeType="1"/>
          </p:cNvSpPr>
          <p:nvPr/>
        </p:nvSpPr>
        <p:spPr bwMode="auto">
          <a:xfrm>
            <a:off x="800100" y="4362450"/>
            <a:ext cx="9334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655" name="Text Box 98"/>
          <p:cNvSpPr txBox="1">
            <a:spLocks noChangeArrowheads="1"/>
          </p:cNvSpPr>
          <p:nvPr/>
        </p:nvSpPr>
        <p:spPr bwMode="auto">
          <a:xfrm flipH="1">
            <a:off x="431800" y="4173538"/>
            <a:ext cx="35458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dirty="0"/>
              <a:t>W</a:t>
            </a:r>
          </a:p>
        </p:txBody>
      </p:sp>
      <p:sp>
        <p:nvSpPr>
          <p:cNvPr id="66656" name="Line 99"/>
          <p:cNvSpPr>
            <a:spLocks noChangeShapeType="1"/>
          </p:cNvSpPr>
          <p:nvPr/>
        </p:nvSpPr>
        <p:spPr bwMode="auto">
          <a:xfrm flipH="1">
            <a:off x="492347" y="4225925"/>
            <a:ext cx="24402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35" name="Rectangle 2"/>
          <p:cNvSpPr txBox="1">
            <a:spLocks noChangeArrowheads="1"/>
          </p:cNvSpPr>
          <p:nvPr/>
        </p:nvSpPr>
        <p:spPr>
          <a:xfrm>
            <a:off x="385763" y="685800"/>
            <a:ext cx="77470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Memory Device Characteristics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6200" y="2914471"/>
            <a:ext cx="4246879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0 == Writing to memory chip (storing)</a:t>
            </a:r>
          </a:p>
          <a:p>
            <a:r>
              <a:rPr lang="en-US" dirty="0" err="1"/>
              <a:t>A.k.a</a:t>
            </a:r>
            <a:r>
              <a:rPr lang="en-US" dirty="0"/>
              <a:t> Inputting from the data bus</a:t>
            </a:r>
          </a:p>
          <a:p>
            <a:r>
              <a:rPr lang="en-US" dirty="0"/>
              <a:t>(Requires that the chip be on/selected)</a:t>
            </a:r>
          </a:p>
          <a:p>
            <a:r>
              <a:rPr lang="en-US" dirty="0"/>
              <a:t>(Requires data and address)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93144" y="4191000"/>
            <a:ext cx="4798456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0 == </a:t>
            </a:r>
            <a:r>
              <a:rPr lang="en-US" i="1" dirty="0"/>
              <a:t>Outputting</a:t>
            </a:r>
            <a:r>
              <a:rPr lang="en-US" dirty="0"/>
              <a:t> our memory to the Data Bus</a:t>
            </a:r>
          </a:p>
          <a:p>
            <a:r>
              <a:rPr lang="en-US" dirty="0" err="1"/>
              <a:t>A.k.a</a:t>
            </a:r>
            <a:r>
              <a:rPr lang="en-US" dirty="0"/>
              <a:t> Recalling the value from our memory</a:t>
            </a:r>
          </a:p>
          <a:p>
            <a:r>
              <a:rPr lang="en-US" dirty="0"/>
              <a:t>(Requires that the chip be on/selected)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2734270"/>
            <a:ext cx="2514600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0 == Turn chip on </a:t>
            </a:r>
          </a:p>
          <a:p>
            <a:r>
              <a:rPr lang="en-US" dirty="0"/>
              <a:t>A.k.a. </a:t>
            </a:r>
            <a:r>
              <a:rPr lang="en-US" i="1" dirty="0"/>
              <a:t>Select </a:t>
            </a:r>
            <a:r>
              <a:rPr lang="en-US" dirty="0"/>
              <a:t>this </a:t>
            </a:r>
            <a:r>
              <a:rPr lang="en-US" i="1" dirty="0"/>
              <a:t>Chip</a:t>
            </a:r>
          </a:p>
          <a:p>
            <a:r>
              <a:rPr lang="en-US" dirty="0" err="1"/>
              <a:t>Prereq</a:t>
            </a:r>
            <a:r>
              <a:rPr lang="en-US" dirty="0"/>
              <a:t> for any 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5638800"/>
            <a:ext cx="1508760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!W, !CS, !OE live in the </a:t>
            </a:r>
            <a:r>
              <a:rPr lang="en-US" b="1" dirty="0">
                <a:solidFill>
                  <a:srgbClr val="008000"/>
                </a:solidFill>
              </a:rPr>
              <a:t>Control</a:t>
            </a:r>
            <a:r>
              <a:rPr lang="en-US" dirty="0"/>
              <a:t> Bus</a:t>
            </a:r>
          </a:p>
        </p:txBody>
      </p:sp>
    </p:spTree>
    <p:extLst>
      <p:ext uri="{BB962C8B-B14F-4D97-AF65-F5344CB8AC3E}">
        <p14:creationId xmlns:p14="http://schemas.microsoft.com/office/powerpoint/2010/main" val="238148894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6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66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66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66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66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66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66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66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66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66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66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66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66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66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66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66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66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66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66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2000"/>
                                        <p:tgtEl>
                                          <p:spTgt spid="66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9" dur="2000"/>
                                        <p:tgtEl>
                                          <p:spTgt spid="66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66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2000"/>
                                        <p:tgtEl>
                                          <p:spTgt spid="66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8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3" dur="2000"/>
                                        <p:tgtEl>
                                          <p:spTgt spid="66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6" dur="2000"/>
                                        <p:tgtEl>
                                          <p:spTgt spid="66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9" dur="2000"/>
                                        <p:tgtEl>
                                          <p:spTgt spid="66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7" dur="2000"/>
                                        <p:tgtEl>
                                          <p:spTgt spid="66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0" dur="2000"/>
                                        <p:tgtEl>
                                          <p:spTgt spid="66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3" dur="2000"/>
                                        <p:tgtEl>
                                          <p:spTgt spid="66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6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73" grpId="0"/>
      <p:bldP spid="66574" grpId="0" animBg="1"/>
      <p:bldP spid="66575" grpId="0" animBg="1"/>
      <p:bldP spid="66576" grpId="0" animBg="1"/>
      <p:bldP spid="66577" grpId="0" animBg="1"/>
      <p:bldP spid="66578" grpId="0" animBg="1"/>
      <p:bldP spid="66579" grpId="0" animBg="1"/>
      <p:bldP spid="66580" grpId="0" animBg="1"/>
      <p:bldP spid="66581" grpId="0" animBg="1"/>
      <p:bldP spid="66582" grpId="0" animBg="1"/>
      <p:bldP spid="66583" grpId="0"/>
      <p:bldP spid="66593" grpId="0"/>
      <p:bldP spid="66594" grpId="0" animBg="1"/>
      <p:bldP spid="66595" grpId="0" animBg="1"/>
      <p:bldP spid="66596" grpId="0" animBg="1"/>
      <p:bldP spid="66597" grpId="0" animBg="1"/>
      <p:bldP spid="66598" grpId="0" animBg="1"/>
      <p:bldP spid="66599" grpId="0" animBg="1"/>
      <p:bldP spid="66600" grpId="0"/>
      <p:bldP spid="66601" grpId="0" animBg="1"/>
      <p:bldP spid="66644" grpId="0" animBg="1"/>
      <p:bldP spid="66645" grpId="0"/>
      <p:bldP spid="66646" grpId="0" animBg="1"/>
      <p:bldP spid="66649" grpId="0" animBg="1"/>
      <p:bldP spid="66650" grpId="0"/>
      <p:bldP spid="66651" grpId="0" animBg="1"/>
      <p:bldP spid="66654" grpId="0" animBg="1"/>
      <p:bldP spid="66655" grpId="0"/>
      <p:bldP spid="66656" grpId="0" animBg="1"/>
      <p:bldP spid="2" grpId="0" animBg="1"/>
      <p:bldP spid="34" grpId="0" animBg="1"/>
      <p:bldP spid="36" grpId="0" animBg="1"/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57" name="Text Box 100"/>
          <p:cNvSpPr txBox="1">
            <a:spLocks noChangeArrowheads="1"/>
          </p:cNvSpPr>
          <p:nvPr/>
        </p:nvSpPr>
        <p:spPr bwMode="auto">
          <a:xfrm>
            <a:off x="152400" y="4354513"/>
            <a:ext cx="1762021" cy="738664"/>
          </a:xfrm>
          <a:prstGeom prst="rect">
            <a:avLst/>
          </a:prstGeom>
          <a:ln/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b="1" dirty="0"/>
              <a:t>Write Enable</a:t>
            </a:r>
          </a:p>
          <a:p>
            <a:pPr eaLnBrk="1" hangingPunct="1">
              <a:buFontTx/>
              <a:buChar char="•"/>
            </a:pPr>
            <a:r>
              <a:rPr lang="en-US" sz="1400" dirty="0"/>
              <a:t> Active low</a:t>
            </a:r>
          </a:p>
          <a:p>
            <a:pPr eaLnBrk="1" hangingPunct="1">
              <a:buFontTx/>
              <a:buChar char="•"/>
            </a:pPr>
            <a:r>
              <a:rPr lang="en-US" sz="1400" dirty="0"/>
              <a:t> Active on WRITES</a:t>
            </a:r>
          </a:p>
        </p:txBody>
      </p:sp>
      <p:sp>
        <p:nvSpPr>
          <p:cNvPr id="66564" name="Rectangle 5"/>
          <p:cNvSpPr>
            <a:spLocks noChangeArrowheads="1"/>
          </p:cNvSpPr>
          <p:nvPr/>
        </p:nvSpPr>
        <p:spPr bwMode="auto">
          <a:xfrm>
            <a:off x="1943100" y="2495550"/>
            <a:ext cx="4629150" cy="3581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6565" name="Rectangle 6"/>
          <p:cNvSpPr>
            <a:spLocks noChangeArrowheads="1"/>
          </p:cNvSpPr>
          <p:nvPr/>
        </p:nvSpPr>
        <p:spPr bwMode="auto">
          <a:xfrm>
            <a:off x="4638675" y="2867025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566" name="Rectangle 7"/>
          <p:cNvSpPr>
            <a:spLocks noChangeArrowheads="1"/>
          </p:cNvSpPr>
          <p:nvPr/>
        </p:nvSpPr>
        <p:spPr bwMode="auto">
          <a:xfrm>
            <a:off x="4857750" y="2867025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567" name="Rectangle 8"/>
          <p:cNvSpPr>
            <a:spLocks noChangeArrowheads="1"/>
          </p:cNvSpPr>
          <p:nvPr/>
        </p:nvSpPr>
        <p:spPr bwMode="auto">
          <a:xfrm>
            <a:off x="5076825" y="2867025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568" name="Rectangle 9"/>
          <p:cNvSpPr>
            <a:spLocks noChangeArrowheads="1"/>
          </p:cNvSpPr>
          <p:nvPr/>
        </p:nvSpPr>
        <p:spPr bwMode="auto">
          <a:xfrm>
            <a:off x="5295900" y="2867025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569" name="Rectangle 10"/>
          <p:cNvSpPr>
            <a:spLocks noChangeArrowheads="1"/>
          </p:cNvSpPr>
          <p:nvPr/>
        </p:nvSpPr>
        <p:spPr bwMode="auto">
          <a:xfrm>
            <a:off x="5514975" y="2867025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570" name="Rectangle 11"/>
          <p:cNvSpPr>
            <a:spLocks noChangeArrowheads="1"/>
          </p:cNvSpPr>
          <p:nvPr/>
        </p:nvSpPr>
        <p:spPr bwMode="auto">
          <a:xfrm>
            <a:off x="5734050" y="2867025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571" name="Rectangle 12"/>
          <p:cNvSpPr>
            <a:spLocks noChangeArrowheads="1"/>
          </p:cNvSpPr>
          <p:nvPr/>
        </p:nvSpPr>
        <p:spPr bwMode="auto">
          <a:xfrm>
            <a:off x="5953125" y="2867025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572" name="Rectangle 13"/>
          <p:cNvSpPr>
            <a:spLocks noChangeArrowheads="1"/>
          </p:cNvSpPr>
          <p:nvPr/>
        </p:nvSpPr>
        <p:spPr bwMode="auto">
          <a:xfrm>
            <a:off x="6172200" y="2867025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573" name="Text Box 14"/>
          <p:cNvSpPr txBox="1">
            <a:spLocks noChangeArrowheads="1"/>
          </p:cNvSpPr>
          <p:nvPr/>
        </p:nvSpPr>
        <p:spPr bwMode="auto">
          <a:xfrm>
            <a:off x="4559300" y="2525713"/>
            <a:ext cx="18986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000" b="1"/>
              <a:t>D0  D1  D2  D3 D4  D5  D6 D7</a:t>
            </a:r>
          </a:p>
        </p:txBody>
      </p:sp>
      <p:sp>
        <p:nvSpPr>
          <p:cNvPr id="66574" name="Line 15"/>
          <p:cNvSpPr>
            <a:spLocks noChangeShapeType="1"/>
          </p:cNvSpPr>
          <p:nvPr/>
        </p:nvSpPr>
        <p:spPr bwMode="auto">
          <a:xfrm flipV="1">
            <a:off x="4714875" y="1857375"/>
            <a:ext cx="0" cy="628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575" name="Line 16"/>
          <p:cNvSpPr>
            <a:spLocks noChangeShapeType="1"/>
          </p:cNvSpPr>
          <p:nvPr/>
        </p:nvSpPr>
        <p:spPr bwMode="auto">
          <a:xfrm flipV="1">
            <a:off x="4953000" y="1857375"/>
            <a:ext cx="0" cy="628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576" name="Line 17"/>
          <p:cNvSpPr>
            <a:spLocks noChangeShapeType="1"/>
          </p:cNvSpPr>
          <p:nvPr/>
        </p:nvSpPr>
        <p:spPr bwMode="auto">
          <a:xfrm flipV="1">
            <a:off x="5172075" y="1866900"/>
            <a:ext cx="0" cy="628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577" name="Line 18"/>
          <p:cNvSpPr>
            <a:spLocks noChangeShapeType="1"/>
          </p:cNvSpPr>
          <p:nvPr/>
        </p:nvSpPr>
        <p:spPr bwMode="auto">
          <a:xfrm flipV="1">
            <a:off x="5410200" y="1866900"/>
            <a:ext cx="0" cy="628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578" name="Line 19"/>
          <p:cNvSpPr>
            <a:spLocks noChangeShapeType="1"/>
          </p:cNvSpPr>
          <p:nvPr/>
        </p:nvSpPr>
        <p:spPr bwMode="auto">
          <a:xfrm flipV="1">
            <a:off x="5619750" y="1866900"/>
            <a:ext cx="0" cy="628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579" name="Line 20"/>
          <p:cNvSpPr>
            <a:spLocks noChangeShapeType="1"/>
          </p:cNvSpPr>
          <p:nvPr/>
        </p:nvSpPr>
        <p:spPr bwMode="auto">
          <a:xfrm flipV="1">
            <a:off x="5857875" y="1866900"/>
            <a:ext cx="0" cy="628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580" name="Line 21"/>
          <p:cNvSpPr>
            <a:spLocks noChangeShapeType="1"/>
          </p:cNvSpPr>
          <p:nvPr/>
        </p:nvSpPr>
        <p:spPr bwMode="auto">
          <a:xfrm flipV="1">
            <a:off x="6076950" y="1876425"/>
            <a:ext cx="0" cy="628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581" name="Line 22"/>
          <p:cNvSpPr>
            <a:spLocks noChangeShapeType="1"/>
          </p:cNvSpPr>
          <p:nvPr/>
        </p:nvSpPr>
        <p:spPr bwMode="auto">
          <a:xfrm flipV="1">
            <a:off x="6315075" y="1876425"/>
            <a:ext cx="0" cy="628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582" name="AutoShape 23"/>
          <p:cNvSpPr>
            <a:spLocks/>
          </p:cNvSpPr>
          <p:nvPr/>
        </p:nvSpPr>
        <p:spPr bwMode="auto">
          <a:xfrm rot="5400000">
            <a:off x="5368888" y="914400"/>
            <a:ext cx="320748" cy="1762125"/>
          </a:xfrm>
          <a:prstGeom prst="leftBrace">
            <a:avLst>
              <a:gd name="adj1" fmla="val 67029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6583" name="Text Box 24"/>
          <p:cNvSpPr txBox="1">
            <a:spLocks noChangeArrowheads="1"/>
          </p:cNvSpPr>
          <p:nvPr/>
        </p:nvSpPr>
        <p:spPr bwMode="auto">
          <a:xfrm>
            <a:off x="5181600" y="1066800"/>
            <a:ext cx="2749550" cy="523875"/>
          </a:xfrm>
          <a:prstGeom prst="rect">
            <a:avLst/>
          </a:prstGeom>
          <a:ln/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dirty="0"/>
              <a:t>Data in/out (</a:t>
            </a:r>
            <a:r>
              <a:rPr lang="en-US" sz="1400" b="1" dirty="0"/>
              <a:t>bidirectional</a:t>
            </a:r>
            <a:r>
              <a:rPr lang="en-US" sz="1400" dirty="0"/>
              <a:t>)</a:t>
            </a:r>
          </a:p>
          <a:p>
            <a:pPr eaLnBrk="1" hangingPunct="1">
              <a:buFontTx/>
              <a:buChar char="•"/>
            </a:pPr>
            <a:r>
              <a:rPr lang="en-US" sz="1400" dirty="0"/>
              <a:t> Typically 4, </a:t>
            </a:r>
            <a:r>
              <a:rPr lang="en-US" sz="1400" dirty="0">
                <a:solidFill>
                  <a:srgbClr val="0000FF"/>
                </a:solidFill>
              </a:rPr>
              <a:t>8</a:t>
            </a:r>
            <a:r>
              <a:rPr lang="en-US" sz="1400" dirty="0"/>
              <a:t>, 16, 32 bits wide</a:t>
            </a:r>
          </a:p>
        </p:txBody>
      </p:sp>
      <p:sp>
        <p:nvSpPr>
          <p:cNvPr id="66584" name="Line 25"/>
          <p:cNvSpPr>
            <a:spLocks noChangeShapeType="1"/>
          </p:cNvSpPr>
          <p:nvPr/>
        </p:nvSpPr>
        <p:spPr bwMode="auto">
          <a:xfrm flipH="1">
            <a:off x="5505450" y="3638550"/>
            <a:ext cx="9525" cy="150495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6585" name="Rectangle 26"/>
          <p:cNvSpPr>
            <a:spLocks noChangeArrowheads="1"/>
          </p:cNvSpPr>
          <p:nvPr/>
        </p:nvSpPr>
        <p:spPr bwMode="auto">
          <a:xfrm>
            <a:off x="4610100" y="5695950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586" name="Rectangle 27"/>
          <p:cNvSpPr>
            <a:spLocks noChangeArrowheads="1"/>
          </p:cNvSpPr>
          <p:nvPr/>
        </p:nvSpPr>
        <p:spPr bwMode="auto">
          <a:xfrm>
            <a:off x="4829175" y="5695950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587" name="Rectangle 28"/>
          <p:cNvSpPr>
            <a:spLocks noChangeArrowheads="1"/>
          </p:cNvSpPr>
          <p:nvPr/>
        </p:nvSpPr>
        <p:spPr bwMode="auto">
          <a:xfrm>
            <a:off x="5048250" y="5695950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588" name="Rectangle 29"/>
          <p:cNvSpPr>
            <a:spLocks noChangeArrowheads="1"/>
          </p:cNvSpPr>
          <p:nvPr/>
        </p:nvSpPr>
        <p:spPr bwMode="auto">
          <a:xfrm>
            <a:off x="5267325" y="5695950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589" name="Rectangle 30"/>
          <p:cNvSpPr>
            <a:spLocks noChangeArrowheads="1"/>
          </p:cNvSpPr>
          <p:nvPr/>
        </p:nvSpPr>
        <p:spPr bwMode="auto">
          <a:xfrm>
            <a:off x="5486400" y="5695950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590" name="Rectangle 31"/>
          <p:cNvSpPr>
            <a:spLocks noChangeArrowheads="1"/>
          </p:cNvSpPr>
          <p:nvPr/>
        </p:nvSpPr>
        <p:spPr bwMode="auto">
          <a:xfrm>
            <a:off x="5705475" y="5695950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591" name="Rectangle 32"/>
          <p:cNvSpPr>
            <a:spLocks noChangeArrowheads="1"/>
          </p:cNvSpPr>
          <p:nvPr/>
        </p:nvSpPr>
        <p:spPr bwMode="auto">
          <a:xfrm>
            <a:off x="5924550" y="5695950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592" name="Rectangle 33"/>
          <p:cNvSpPr>
            <a:spLocks noChangeArrowheads="1"/>
          </p:cNvSpPr>
          <p:nvPr/>
        </p:nvSpPr>
        <p:spPr bwMode="auto">
          <a:xfrm>
            <a:off x="6143625" y="5695950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593" name="Text Box 34"/>
          <p:cNvSpPr txBox="1">
            <a:spLocks noChangeArrowheads="1"/>
          </p:cNvSpPr>
          <p:nvPr/>
        </p:nvSpPr>
        <p:spPr bwMode="auto">
          <a:xfrm>
            <a:off x="2955925" y="2516188"/>
            <a:ext cx="15843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000" b="1" dirty="0"/>
              <a:t>A0 A1 A2 A3……….A15</a:t>
            </a:r>
          </a:p>
        </p:txBody>
      </p:sp>
      <p:sp>
        <p:nvSpPr>
          <p:cNvPr id="66594" name="Line 35"/>
          <p:cNvSpPr>
            <a:spLocks noChangeShapeType="1"/>
          </p:cNvSpPr>
          <p:nvPr/>
        </p:nvSpPr>
        <p:spPr bwMode="auto">
          <a:xfrm>
            <a:off x="3190875" y="1647825"/>
            <a:ext cx="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595" name="Line 36"/>
          <p:cNvSpPr>
            <a:spLocks noChangeShapeType="1"/>
          </p:cNvSpPr>
          <p:nvPr/>
        </p:nvSpPr>
        <p:spPr bwMode="auto">
          <a:xfrm>
            <a:off x="3390900" y="1647825"/>
            <a:ext cx="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596" name="Line 37"/>
          <p:cNvSpPr>
            <a:spLocks noChangeShapeType="1"/>
          </p:cNvSpPr>
          <p:nvPr/>
        </p:nvSpPr>
        <p:spPr bwMode="auto">
          <a:xfrm>
            <a:off x="3581400" y="1657350"/>
            <a:ext cx="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597" name="Line 38"/>
          <p:cNvSpPr>
            <a:spLocks noChangeShapeType="1"/>
          </p:cNvSpPr>
          <p:nvPr/>
        </p:nvSpPr>
        <p:spPr bwMode="auto">
          <a:xfrm>
            <a:off x="3781425" y="1657350"/>
            <a:ext cx="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598" name="Line 39"/>
          <p:cNvSpPr>
            <a:spLocks noChangeShapeType="1"/>
          </p:cNvSpPr>
          <p:nvPr/>
        </p:nvSpPr>
        <p:spPr bwMode="auto">
          <a:xfrm>
            <a:off x="4371975" y="1657350"/>
            <a:ext cx="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599" name="AutoShape 40"/>
          <p:cNvSpPr>
            <a:spLocks/>
          </p:cNvSpPr>
          <p:nvPr/>
        </p:nvSpPr>
        <p:spPr bwMode="auto">
          <a:xfrm rot="5400000">
            <a:off x="3635338" y="920713"/>
            <a:ext cx="320748" cy="1343025"/>
          </a:xfrm>
          <a:prstGeom prst="leftBrace">
            <a:avLst>
              <a:gd name="adj1" fmla="val 51087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6600" name="Text Box 41"/>
          <p:cNvSpPr txBox="1">
            <a:spLocks noChangeArrowheads="1"/>
          </p:cNvSpPr>
          <p:nvPr/>
        </p:nvSpPr>
        <p:spPr bwMode="auto">
          <a:xfrm>
            <a:off x="1149934" y="685800"/>
            <a:ext cx="3955466" cy="738664"/>
          </a:xfrm>
          <a:prstGeom prst="rect">
            <a:avLst/>
          </a:prstGeom>
          <a:ln/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>
              <a:buFont typeface="Arial" charset="0"/>
              <a:buChar char="•"/>
            </a:pPr>
            <a:r>
              <a:rPr lang="en-US" sz="1400" dirty="0"/>
              <a:t> Address is </a:t>
            </a:r>
            <a:r>
              <a:rPr lang="en-US" sz="1400" b="1" dirty="0"/>
              <a:t>unidirectional</a:t>
            </a:r>
          </a:p>
          <a:p>
            <a:pPr eaLnBrk="1" hangingPunct="1">
              <a:buFontTx/>
              <a:buChar char="•"/>
            </a:pPr>
            <a:r>
              <a:rPr lang="en-US" sz="1400" dirty="0"/>
              <a:t> Used for READS or for WRITES to memory</a:t>
            </a:r>
          </a:p>
          <a:p>
            <a:pPr eaLnBrk="1" hangingPunct="1">
              <a:buFontTx/>
              <a:buChar char="•"/>
            </a:pPr>
            <a:r>
              <a:rPr lang="en-US" sz="1400" dirty="0"/>
              <a:t> </a:t>
            </a:r>
            <a:r>
              <a:rPr lang="en-US" sz="1400" dirty="0">
                <a:solidFill>
                  <a:srgbClr val="FF0000"/>
                </a:solidFill>
              </a:rPr>
              <a:t>Q:</a:t>
            </a:r>
            <a:r>
              <a:rPr lang="en-US" sz="1400" dirty="0"/>
              <a:t> Why </a:t>
            </a:r>
            <a:r>
              <a:rPr lang="en-US" sz="1400" b="1" dirty="0">
                <a:solidFill>
                  <a:srgbClr val="FF6600"/>
                </a:solidFill>
              </a:rPr>
              <a:t>16</a:t>
            </a:r>
            <a:r>
              <a:rPr lang="en-US" sz="1400" dirty="0"/>
              <a:t> lines?</a:t>
            </a:r>
          </a:p>
        </p:txBody>
      </p:sp>
      <p:sp>
        <p:nvSpPr>
          <p:cNvPr id="66602" name="Text Box 43"/>
          <p:cNvSpPr txBox="1">
            <a:spLocks noChangeArrowheads="1"/>
          </p:cNvSpPr>
          <p:nvPr/>
        </p:nvSpPr>
        <p:spPr bwMode="auto">
          <a:xfrm>
            <a:off x="3003550" y="2849563"/>
            <a:ext cx="14414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000" b="1"/>
              <a:t> 0000 0000 0000 0000</a:t>
            </a:r>
          </a:p>
        </p:txBody>
      </p:sp>
      <p:sp>
        <p:nvSpPr>
          <p:cNvPr id="66603" name="Text Box 44"/>
          <p:cNvSpPr txBox="1">
            <a:spLocks noChangeArrowheads="1"/>
          </p:cNvSpPr>
          <p:nvPr/>
        </p:nvSpPr>
        <p:spPr bwMode="auto">
          <a:xfrm>
            <a:off x="3051175" y="5668963"/>
            <a:ext cx="14065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000" b="1"/>
              <a:t>1111 1111 1111 1111</a:t>
            </a:r>
          </a:p>
        </p:txBody>
      </p:sp>
      <p:sp>
        <p:nvSpPr>
          <p:cNvPr id="66604" name="Rectangle 45"/>
          <p:cNvSpPr>
            <a:spLocks noChangeArrowheads="1"/>
          </p:cNvSpPr>
          <p:nvPr/>
        </p:nvSpPr>
        <p:spPr bwMode="auto">
          <a:xfrm>
            <a:off x="4638675" y="3124200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605" name="Rectangle 46"/>
          <p:cNvSpPr>
            <a:spLocks noChangeArrowheads="1"/>
          </p:cNvSpPr>
          <p:nvPr/>
        </p:nvSpPr>
        <p:spPr bwMode="auto">
          <a:xfrm>
            <a:off x="4857750" y="3124200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606" name="Rectangle 47"/>
          <p:cNvSpPr>
            <a:spLocks noChangeArrowheads="1"/>
          </p:cNvSpPr>
          <p:nvPr/>
        </p:nvSpPr>
        <p:spPr bwMode="auto">
          <a:xfrm>
            <a:off x="5076825" y="3124200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607" name="Rectangle 48"/>
          <p:cNvSpPr>
            <a:spLocks noChangeArrowheads="1"/>
          </p:cNvSpPr>
          <p:nvPr/>
        </p:nvSpPr>
        <p:spPr bwMode="auto">
          <a:xfrm>
            <a:off x="5295900" y="3124200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608" name="Rectangle 49"/>
          <p:cNvSpPr>
            <a:spLocks noChangeArrowheads="1"/>
          </p:cNvSpPr>
          <p:nvPr/>
        </p:nvSpPr>
        <p:spPr bwMode="auto">
          <a:xfrm>
            <a:off x="5514975" y="3124200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609" name="Rectangle 50"/>
          <p:cNvSpPr>
            <a:spLocks noChangeArrowheads="1"/>
          </p:cNvSpPr>
          <p:nvPr/>
        </p:nvSpPr>
        <p:spPr bwMode="auto">
          <a:xfrm>
            <a:off x="5734050" y="3124200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610" name="Rectangle 51"/>
          <p:cNvSpPr>
            <a:spLocks noChangeArrowheads="1"/>
          </p:cNvSpPr>
          <p:nvPr/>
        </p:nvSpPr>
        <p:spPr bwMode="auto">
          <a:xfrm>
            <a:off x="5953125" y="3124200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611" name="Rectangle 52"/>
          <p:cNvSpPr>
            <a:spLocks noChangeArrowheads="1"/>
          </p:cNvSpPr>
          <p:nvPr/>
        </p:nvSpPr>
        <p:spPr bwMode="auto">
          <a:xfrm>
            <a:off x="6172200" y="3124200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612" name="Text Box 53"/>
          <p:cNvSpPr txBox="1">
            <a:spLocks noChangeArrowheads="1"/>
          </p:cNvSpPr>
          <p:nvPr/>
        </p:nvSpPr>
        <p:spPr bwMode="auto">
          <a:xfrm>
            <a:off x="3060700" y="3087688"/>
            <a:ext cx="14065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000" b="1"/>
              <a:t>0000 0000 0000 0001</a:t>
            </a:r>
          </a:p>
        </p:txBody>
      </p:sp>
      <p:sp>
        <p:nvSpPr>
          <p:cNvPr id="66613" name="Rectangle 55"/>
          <p:cNvSpPr>
            <a:spLocks noChangeArrowheads="1"/>
          </p:cNvSpPr>
          <p:nvPr/>
        </p:nvSpPr>
        <p:spPr bwMode="auto">
          <a:xfrm>
            <a:off x="4610100" y="5438775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614" name="Rectangle 56"/>
          <p:cNvSpPr>
            <a:spLocks noChangeArrowheads="1"/>
          </p:cNvSpPr>
          <p:nvPr/>
        </p:nvSpPr>
        <p:spPr bwMode="auto">
          <a:xfrm>
            <a:off x="4829175" y="5438775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615" name="Rectangle 57"/>
          <p:cNvSpPr>
            <a:spLocks noChangeArrowheads="1"/>
          </p:cNvSpPr>
          <p:nvPr/>
        </p:nvSpPr>
        <p:spPr bwMode="auto">
          <a:xfrm>
            <a:off x="5048250" y="5438775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616" name="Rectangle 58"/>
          <p:cNvSpPr>
            <a:spLocks noChangeArrowheads="1"/>
          </p:cNvSpPr>
          <p:nvPr/>
        </p:nvSpPr>
        <p:spPr bwMode="auto">
          <a:xfrm>
            <a:off x="5267325" y="5438775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617" name="Rectangle 59"/>
          <p:cNvSpPr>
            <a:spLocks noChangeArrowheads="1"/>
          </p:cNvSpPr>
          <p:nvPr/>
        </p:nvSpPr>
        <p:spPr bwMode="auto">
          <a:xfrm>
            <a:off x="5486400" y="5438775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618" name="Rectangle 60"/>
          <p:cNvSpPr>
            <a:spLocks noChangeArrowheads="1"/>
          </p:cNvSpPr>
          <p:nvPr/>
        </p:nvSpPr>
        <p:spPr bwMode="auto">
          <a:xfrm>
            <a:off x="5705475" y="5438775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619" name="Rectangle 61"/>
          <p:cNvSpPr>
            <a:spLocks noChangeArrowheads="1"/>
          </p:cNvSpPr>
          <p:nvPr/>
        </p:nvSpPr>
        <p:spPr bwMode="auto">
          <a:xfrm>
            <a:off x="5924550" y="5438775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620" name="Rectangle 62"/>
          <p:cNvSpPr>
            <a:spLocks noChangeArrowheads="1"/>
          </p:cNvSpPr>
          <p:nvPr/>
        </p:nvSpPr>
        <p:spPr bwMode="auto">
          <a:xfrm>
            <a:off x="6143625" y="5438775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621" name="Text Box 63"/>
          <p:cNvSpPr txBox="1">
            <a:spLocks noChangeArrowheads="1"/>
          </p:cNvSpPr>
          <p:nvPr/>
        </p:nvSpPr>
        <p:spPr bwMode="auto">
          <a:xfrm>
            <a:off x="3051175" y="5411788"/>
            <a:ext cx="14065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000" b="1"/>
              <a:t>1111 1111 1111 1110</a:t>
            </a:r>
          </a:p>
        </p:txBody>
      </p:sp>
      <p:sp>
        <p:nvSpPr>
          <p:cNvPr id="66622" name="Rectangle 64"/>
          <p:cNvSpPr>
            <a:spLocks noChangeArrowheads="1"/>
          </p:cNvSpPr>
          <p:nvPr/>
        </p:nvSpPr>
        <p:spPr bwMode="auto">
          <a:xfrm>
            <a:off x="4638675" y="3371850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623" name="Rectangle 65"/>
          <p:cNvSpPr>
            <a:spLocks noChangeArrowheads="1"/>
          </p:cNvSpPr>
          <p:nvPr/>
        </p:nvSpPr>
        <p:spPr bwMode="auto">
          <a:xfrm>
            <a:off x="4857750" y="3371850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624" name="Rectangle 66"/>
          <p:cNvSpPr>
            <a:spLocks noChangeArrowheads="1"/>
          </p:cNvSpPr>
          <p:nvPr/>
        </p:nvSpPr>
        <p:spPr bwMode="auto">
          <a:xfrm>
            <a:off x="5076825" y="3371850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625" name="Rectangle 67"/>
          <p:cNvSpPr>
            <a:spLocks noChangeArrowheads="1"/>
          </p:cNvSpPr>
          <p:nvPr/>
        </p:nvSpPr>
        <p:spPr bwMode="auto">
          <a:xfrm>
            <a:off x="5295900" y="3371850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626" name="Rectangle 68"/>
          <p:cNvSpPr>
            <a:spLocks noChangeArrowheads="1"/>
          </p:cNvSpPr>
          <p:nvPr/>
        </p:nvSpPr>
        <p:spPr bwMode="auto">
          <a:xfrm>
            <a:off x="5514975" y="3371850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627" name="Rectangle 69"/>
          <p:cNvSpPr>
            <a:spLocks noChangeArrowheads="1"/>
          </p:cNvSpPr>
          <p:nvPr/>
        </p:nvSpPr>
        <p:spPr bwMode="auto">
          <a:xfrm>
            <a:off x="5734050" y="3371850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628" name="Rectangle 70"/>
          <p:cNvSpPr>
            <a:spLocks noChangeArrowheads="1"/>
          </p:cNvSpPr>
          <p:nvPr/>
        </p:nvSpPr>
        <p:spPr bwMode="auto">
          <a:xfrm>
            <a:off x="5953125" y="3371850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629" name="Rectangle 71"/>
          <p:cNvSpPr>
            <a:spLocks noChangeArrowheads="1"/>
          </p:cNvSpPr>
          <p:nvPr/>
        </p:nvSpPr>
        <p:spPr bwMode="auto">
          <a:xfrm>
            <a:off x="6172200" y="3371850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630" name="Text Box 72"/>
          <p:cNvSpPr txBox="1">
            <a:spLocks noChangeArrowheads="1"/>
          </p:cNvSpPr>
          <p:nvPr/>
        </p:nvSpPr>
        <p:spPr bwMode="auto">
          <a:xfrm>
            <a:off x="3041650" y="3297238"/>
            <a:ext cx="14065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000" b="1"/>
              <a:t>0000 0000 0000 0010</a:t>
            </a:r>
          </a:p>
        </p:txBody>
      </p:sp>
      <p:sp>
        <p:nvSpPr>
          <p:cNvPr id="66631" name="Rectangle 73"/>
          <p:cNvSpPr>
            <a:spLocks noChangeArrowheads="1"/>
          </p:cNvSpPr>
          <p:nvPr/>
        </p:nvSpPr>
        <p:spPr bwMode="auto">
          <a:xfrm>
            <a:off x="4610100" y="5181600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632" name="Rectangle 74"/>
          <p:cNvSpPr>
            <a:spLocks noChangeArrowheads="1"/>
          </p:cNvSpPr>
          <p:nvPr/>
        </p:nvSpPr>
        <p:spPr bwMode="auto">
          <a:xfrm>
            <a:off x="4829175" y="5181600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633" name="Rectangle 75"/>
          <p:cNvSpPr>
            <a:spLocks noChangeArrowheads="1"/>
          </p:cNvSpPr>
          <p:nvPr/>
        </p:nvSpPr>
        <p:spPr bwMode="auto">
          <a:xfrm>
            <a:off x="5048250" y="5181600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634" name="Rectangle 76"/>
          <p:cNvSpPr>
            <a:spLocks noChangeArrowheads="1"/>
          </p:cNvSpPr>
          <p:nvPr/>
        </p:nvSpPr>
        <p:spPr bwMode="auto">
          <a:xfrm>
            <a:off x="5267325" y="5181600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635" name="Rectangle 77"/>
          <p:cNvSpPr>
            <a:spLocks noChangeArrowheads="1"/>
          </p:cNvSpPr>
          <p:nvPr/>
        </p:nvSpPr>
        <p:spPr bwMode="auto">
          <a:xfrm>
            <a:off x="5486400" y="5181600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636" name="Rectangle 78"/>
          <p:cNvSpPr>
            <a:spLocks noChangeArrowheads="1"/>
          </p:cNvSpPr>
          <p:nvPr/>
        </p:nvSpPr>
        <p:spPr bwMode="auto">
          <a:xfrm>
            <a:off x="5705475" y="5181600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637" name="Rectangle 79"/>
          <p:cNvSpPr>
            <a:spLocks noChangeArrowheads="1"/>
          </p:cNvSpPr>
          <p:nvPr/>
        </p:nvSpPr>
        <p:spPr bwMode="auto">
          <a:xfrm>
            <a:off x="5924550" y="5181600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638" name="Rectangle 80"/>
          <p:cNvSpPr>
            <a:spLocks noChangeArrowheads="1"/>
          </p:cNvSpPr>
          <p:nvPr/>
        </p:nvSpPr>
        <p:spPr bwMode="auto">
          <a:xfrm>
            <a:off x="6143625" y="5181600"/>
            <a:ext cx="219075" cy="1905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6639" name="Text Box 81"/>
          <p:cNvSpPr txBox="1">
            <a:spLocks noChangeArrowheads="1"/>
          </p:cNvSpPr>
          <p:nvPr/>
        </p:nvSpPr>
        <p:spPr bwMode="auto">
          <a:xfrm>
            <a:off x="3051175" y="5183188"/>
            <a:ext cx="14065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000" b="1"/>
              <a:t>1111 1111 1111 1101</a:t>
            </a:r>
          </a:p>
        </p:txBody>
      </p:sp>
      <p:sp>
        <p:nvSpPr>
          <p:cNvPr id="66640" name="Text Box 82"/>
          <p:cNvSpPr txBox="1">
            <a:spLocks noChangeArrowheads="1"/>
          </p:cNvSpPr>
          <p:nvPr/>
        </p:nvSpPr>
        <p:spPr bwMode="auto">
          <a:xfrm>
            <a:off x="2070100" y="2828925"/>
            <a:ext cx="46355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en-US" sz="1000" b="1"/>
              <a:t>0000</a:t>
            </a:r>
          </a:p>
          <a:p>
            <a:pPr eaLnBrk="1" hangingPunct="1">
              <a:lnSpc>
                <a:spcPct val="140000"/>
              </a:lnSpc>
            </a:pPr>
            <a:r>
              <a:rPr lang="en-US" sz="1000" b="1"/>
              <a:t>0001</a:t>
            </a:r>
          </a:p>
          <a:p>
            <a:pPr eaLnBrk="1" hangingPunct="1">
              <a:lnSpc>
                <a:spcPct val="140000"/>
              </a:lnSpc>
            </a:pPr>
            <a:r>
              <a:rPr lang="en-US" sz="1000" b="1"/>
              <a:t>0002</a:t>
            </a:r>
          </a:p>
        </p:txBody>
      </p:sp>
      <p:sp>
        <p:nvSpPr>
          <p:cNvPr id="66641" name="Text Box 83"/>
          <p:cNvSpPr txBox="1">
            <a:spLocks noChangeArrowheads="1"/>
          </p:cNvSpPr>
          <p:nvPr/>
        </p:nvSpPr>
        <p:spPr bwMode="auto">
          <a:xfrm>
            <a:off x="2022475" y="2659063"/>
            <a:ext cx="5302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000" b="1"/>
              <a:t>(HEX)</a:t>
            </a:r>
          </a:p>
        </p:txBody>
      </p:sp>
      <p:sp>
        <p:nvSpPr>
          <p:cNvPr id="66642" name="Text Box 84"/>
          <p:cNvSpPr txBox="1">
            <a:spLocks noChangeArrowheads="1"/>
          </p:cNvSpPr>
          <p:nvPr/>
        </p:nvSpPr>
        <p:spPr bwMode="auto">
          <a:xfrm>
            <a:off x="2108200" y="5153025"/>
            <a:ext cx="509588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en-US" sz="1000" b="1"/>
              <a:t>FFFD</a:t>
            </a:r>
          </a:p>
          <a:p>
            <a:pPr eaLnBrk="1" hangingPunct="1">
              <a:lnSpc>
                <a:spcPct val="140000"/>
              </a:lnSpc>
            </a:pPr>
            <a:r>
              <a:rPr lang="en-US" sz="1000" b="1"/>
              <a:t>FFFE</a:t>
            </a:r>
          </a:p>
          <a:p>
            <a:pPr eaLnBrk="1" hangingPunct="1">
              <a:lnSpc>
                <a:spcPct val="140000"/>
              </a:lnSpc>
            </a:pPr>
            <a:r>
              <a:rPr lang="en-US" sz="1000" b="1"/>
              <a:t>FFFF</a:t>
            </a:r>
          </a:p>
        </p:txBody>
      </p:sp>
      <p:sp>
        <p:nvSpPr>
          <p:cNvPr id="66644" name="Line 86"/>
          <p:cNvSpPr>
            <a:spLocks noChangeShapeType="1"/>
          </p:cNvSpPr>
          <p:nvPr/>
        </p:nvSpPr>
        <p:spPr bwMode="auto">
          <a:xfrm flipH="1">
            <a:off x="6753225" y="3724275"/>
            <a:ext cx="9334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645" name="Text Box 87"/>
          <p:cNvSpPr txBox="1">
            <a:spLocks noChangeArrowheads="1"/>
          </p:cNvSpPr>
          <p:nvPr/>
        </p:nvSpPr>
        <p:spPr bwMode="auto">
          <a:xfrm>
            <a:off x="7651750" y="3563938"/>
            <a:ext cx="431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/>
              <a:t>CS</a:t>
            </a:r>
          </a:p>
        </p:txBody>
      </p:sp>
      <p:sp>
        <p:nvSpPr>
          <p:cNvPr id="66646" name="Line 88"/>
          <p:cNvSpPr>
            <a:spLocks noChangeShapeType="1"/>
          </p:cNvSpPr>
          <p:nvPr/>
        </p:nvSpPr>
        <p:spPr bwMode="auto">
          <a:xfrm>
            <a:off x="7734300" y="3590925"/>
            <a:ext cx="2476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647" name="Text Box 89"/>
          <p:cNvSpPr txBox="1">
            <a:spLocks noChangeArrowheads="1"/>
          </p:cNvSpPr>
          <p:nvPr/>
        </p:nvSpPr>
        <p:spPr bwMode="auto">
          <a:xfrm>
            <a:off x="6718300" y="3887788"/>
            <a:ext cx="2210862" cy="738664"/>
          </a:xfrm>
          <a:prstGeom prst="rect">
            <a:avLst/>
          </a:prstGeom>
          <a:ln/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b="1" dirty="0"/>
              <a:t>Chip Select</a:t>
            </a:r>
          </a:p>
          <a:p>
            <a:pPr eaLnBrk="1" hangingPunct="1">
              <a:buFontTx/>
              <a:buChar char="•"/>
            </a:pPr>
            <a:r>
              <a:rPr lang="en-US" sz="1400" dirty="0"/>
              <a:t> Active low</a:t>
            </a:r>
          </a:p>
          <a:p>
            <a:pPr eaLnBrk="1" hangingPunct="1">
              <a:buFontTx/>
              <a:buChar char="•"/>
            </a:pPr>
            <a:r>
              <a:rPr lang="en-US" sz="1400" dirty="0"/>
              <a:t> Master switch for device</a:t>
            </a:r>
          </a:p>
        </p:txBody>
      </p:sp>
      <p:sp>
        <p:nvSpPr>
          <p:cNvPr id="66649" name="Line 91"/>
          <p:cNvSpPr>
            <a:spLocks noChangeShapeType="1"/>
          </p:cNvSpPr>
          <p:nvPr/>
        </p:nvSpPr>
        <p:spPr bwMode="auto">
          <a:xfrm flipH="1">
            <a:off x="6743700" y="5153025"/>
            <a:ext cx="9334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650" name="Text Box 92"/>
          <p:cNvSpPr txBox="1">
            <a:spLocks noChangeArrowheads="1"/>
          </p:cNvSpPr>
          <p:nvPr/>
        </p:nvSpPr>
        <p:spPr bwMode="auto">
          <a:xfrm>
            <a:off x="7642225" y="4992688"/>
            <a:ext cx="4413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/>
              <a:t>OE</a:t>
            </a:r>
          </a:p>
        </p:txBody>
      </p:sp>
      <p:sp>
        <p:nvSpPr>
          <p:cNvPr id="66651" name="Line 93"/>
          <p:cNvSpPr>
            <a:spLocks noChangeShapeType="1"/>
          </p:cNvSpPr>
          <p:nvPr/>
        </p:nvSpPr>
        <p:spPr bwMode="auto">
          <a:xfrm>
            <a:off x="7753350" y="5019675"/>
            <a:ext cx="2476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652" name="Text Box 94"/>
          <p:cNvSpPr txBox="1">
            <a:spLocks noChangeArrowheads="1"/>
          </p:cNvSpPr>
          <p:nvPr/>
        </p:nvSpPr>
        <p:spPr bwMode="auto">
          <a:xfrm>
            <a:off x="6670675" y="5278438"/>
            <a:ext cx="1672253" cy="738664"/>
          </a:xfrm>
          <a:prstGeom prst="rect">
            <a:avLst/>
          </a:prstGeom>
          <a:ln/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b="1" dirty="0"/>
              <a:t>Output Enable</a:t>
            </a:r>
          </a:p>
          <a:p>
            <a:pPr eaLnBrk="1" hangingPunct="1">
              <a:buFontTx/>
              <a:buChar char="•"/>
            </a:pPr>
            <a:r>
              <a:rPr lang="en-US" sz="1400" dirty="0"/>
              <a:t> Active low</a:t>
            </a:r>
          </a:p>
          <a:p>
            <a:pPr eaLnBrk="1" hangingPunct="1">
              <a:buFontTx/>
              <a:buChar char="•"/>
            </a:pPr>
            <a:r>
              <a:rPr lang="en-US" sz="1400" dirty="0"/>
              <a:t> Active on READS</a:t>
            </a:r>
          </a:p>
        </p:txBody>
      </p:sp>
      <p:sp>
        <p:nvSpPr>
          <p:cNvPr id="66654" name="Line 97"/>
          <p:cNvSpPr>
            <a:spLocks noChangeShapeType="1"/>
          </p:cNvSpPr>
          <p:nvPr/>
        </p:nvSpPr>
        <p:spPr bwMode="auto">
          <a:xfrm>
            <a:off x="800100" y="4191000"/>
            <a:ext cx="9334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6655" name="Text Box 98"/>
          <p:cNvSpPr txBox="1">
            <a:spLocks noChangeArrowheads="1"/>
          </p:cNvSpPr>
          <p:nvPr/>
        </p:nvSpPr>
        <p:spPr bwMode="auto">
          <a:xfrm flipH="1">
            <a:off x="431800" y="4002088"/>
            <a:ext cx="35458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dirty="0"/>
              <a:t>W</a:t>
            </a:r>
          </a:p>
        </p:txBody>
      </p:sp>
      <p:sp>
        <p:nvSpPr>
          <p:cNvPr id="66656" name="Line 99"/>
          <p:cNvSpPr>
            <a:spLocks noChangeShapeType="1"/>
          </p:cNvSpPr>
          <p:nvPr/>
        </p:nvSpPr>
        <p:spPr bwMode="auto">
          <a:xfrm flipH="1">
            <a:off x="504824" y="4029075"/>
            <a:ext cx="2952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97" name="Text Box 42"/>
          <p:cNvSpPr txBox="1">
            <a:spLocks noChangeArrowheads="1"/>
          </p:cNvSpPr>
          <p:nvPr/>
        </p:nvSpPr>
        <p:spPr bwMode="auto">
          <a:xfrm>
            <a:off x="2195512" y="6159500"/>
            <a:ext cx="4281488" cy="307975"/>
          </a:xfrm>
          <a:prstGeom prst="rect">
            <a:avLst/>
          </a:prstGeom>
          <a:ln/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b="1" dirty="0"/>
              <a:t>Example: 512 Kbit device organized as </a:t>
            </a:r>
            <a:r>
              <a:rPr lang="en-US" sz="1400" b="1" dirty="0">
                <a:solidFill>
                  <a:srgbClr val="FF6600"/>
                </a:solidFill>
              </a:rPr>
              <a:t>64K</a:t>
            </a:r>
            <a:r>
              <a:rPr lang="en-US" sz="1400" b="1" dirty="0"/>
              <a:t> x </a:t>
            </a:r>
            <a:r>
              <a:rPr lang="en-US" sz="1400" b="1" dirty="0">
                <a:solidFill>
                  <a:srgbClr val="0000FF"/>
                </a:solidFill>
              </a:rPr>
              <a:t>8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200400" y="6629400"/>
            <a:ext cx="5562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(Original Source: Arnie Berger)</a:t>
            </a:r>
          </a:p>
        </p:txBody>
      </p:sp>
      <p:sp>
        <p:nvSpPr>
          <p:cNvPr id="96" name="Rectangle 2"/>
          <p:cNvSpPr txBox="1">
            <a:spLocks noChangeArrowheads="1"/>
          </p:cNvSpPr>
          <p:nvPr/>
        </p:nvSpPr>
        <p:spPr>
          <a:xfrm>
            <a:off x="-457200" y="-76200"/>
            <a:ext cx="9634061" cy="762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sz="4800" dirty="0"/>
              <a:t>Memory Device Characteristics </a:t>
            </a:r>
            <a:r>
              <a:rPr lang="en-US" sz="400" dirty="0"/>
              <a:t>(old)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86200" y="18288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968344554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533400"/>
            <a:ext cx="2286000" cy="1143000"/>
          </a:xfrm>
        </p:spPr>
        <p:txBody>
          <a:bodyPr/>
          <a:lstStyle/>
          <a:p>
            <a:r>
              <a:rPr lang="en-US" dirty="0"/>
              <a:t>NEC SRAM</a:t>
            </a:r>
          </a:p>
        </p:txBody>
      </p:sp>
      <p:pic>
        <p:nvPicPr>
          <p:cNvPr id="4" name="Picture 3" descr="Screen Shot 2015-04-19 at 7.52.59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7249" y="0"/>
            <a:ext cx="6066751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1676400"/>
            <a:ext cx="16002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μPD444008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2388275"/>
            <a:ext cx="31242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4Mb CMOS Static RAM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Exposed as 512Kx8 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Inside, a huge XY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Has a global !CS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Commercially available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μPD444008-8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μPD444008-10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μPD444008-12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>
                <a:solidFill>
                  <a:srgbClr val="FF0000"/>
                </a:solidFill>
              </a:rPr>
              <a:t>Q: </a:t>
            </a:r>
            <a:r>
              <a:rPr lang="en-US" dirty="0"/>
              <a:t>What are these?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All of this is invisible to programmers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4917524"/>
            <a:ext cx="2590800" cy="62975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22000"/>
                </a:schemeClr>
              </a:gs>
              <a:gs pos="80000">
                <a:schemeClr val="accent1">
                  <a:shade val="93000"/>
                  <a:satMod val="130000"/>
                  <a:alpha val="22000"/>
                </a:schemeClr>
              </a:gs>
              <a:gs pos="100000">
                <a:schemeClr val="accent1">
                  <a:shade val="94000"/>
                  <a:satMod val="135000"/>
                  <a:alpha val="22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5791200"/>
            <a:ext cx="2133600" cy="6306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</a:rPr>
              <a:t>A:</a:t>
            </a:r>
            <a:r>
              <a:rPr lang="en-US" dirty="0"/>
              <a:t> Access times in nanoseconds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560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" y="0"/>
            <a:ext cx="9052560" cy="1600200"/>
          </a:xfrm>
        </p:spPr>
        <p:txBody>
          <a:bodyPr/>
          <a:lstStyle/>
          <a:p>
            <a:r>
              <a:rPr lang="en-US" dirty="0"/>
              <a:t>From SRAM (Embedded) to Extendable DRAM (PC)</a:t>
            </a:r>
          </a:p>
        </p:txBody>
      </p:sp>
      <p:pic>
        <p:nvPicPr>
          <p:cNvPr id="7" name="Picture 6" descr="Screen Shot 2016-04-17 at 5.38.25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828800"/>
            <a:ext cx="9004300" cy="241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800" y="4337253"/>
            <a:ext cx="3632200" cy="252074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4221582"/>
            <a:ext cx="4279900" cy="26364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" y="3962400"/>
            <a:ext cx="6705600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Architecture “hopping” here to showcase RAM similarities.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FF0000"/>
                </a:solidFill>
              </a:rPr>
              <a:t>total size </a:t>
            </a:r>
            <a:r>
              <a:rPr lang="en-US" dirty="0"/>
              <a:t>above is 64MB (64M x 8b) for the master chip</a:t>
            </a:r>
          </a:p>
          <a:p>
            <a:r>
              <a:rPr lang="en-US" dirty="0">
                <a:solidFill>
                  <a:srgbClr val="FF0000"/>
                </a:solidFill>
              </a:rPr>
              <a:t>Q:</a:t>
            </a:r>
            <a:r>
              <a:rPr lang="en-US" dirty="0"/>
              <a:t>  Notice anything below? Why the RAM “covers”?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5934670"/>
            <a:ext cx="7315200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</a:rPr>
              <a:t>A:</a:t>
            </a:r>
            <a:r>
              <a:rPr lang="en-US" dirty="0"/>
              <a:t> heat sinks, and the master chip is composed of multiple </a:t>
            </a:r>
            <a:r>
              <a:rPr lang="en-US" dirty="0" err="1"/>
              <a:t>subchips</a:t>
            </a:r>
            <a:r>
              <a:rPr lang="en-US" dirty="0"/>
              <a:t>, and they may differ in stride and capacity!</a:t>
            </a:r>
          </a:p>
          <a:p>
            <a:r>
              <a:rPr lang="en-US" b="1" dirty="0">
                <a:solidFill>
                  <a:srgbClr val="3366FF"/>
                </a:solidFill>
              </a:rPr>
              <a:t>A:</a:t>
            </a:r>
            <a:r>
              <a:rPr lang="en-US" dirty="0"/>
              <a:t> 16 </a:t>
            </a:r>
            <a:r>
              <a:rPr lang="en-US" dirty="0" err="1"/>
              <a:t>subchips</a:t>
            </a:r>
            <a:r>
              <a:rPr lang="en-US" dirty="0"/>
              <a:t> that are each 1M x 32b (==2</a:t>
            </a:r>
            <a:r>
              <a:rPr lang="en-US" baseline="30000" dirty="0"/>
              <a:t>4</a:t>
            </a:r>
            <a:r>
              <a:rPr lang="en-US" dirty="0"/>
              <a:t> * 2</a:t>
            </a:r>
            <a:r>
              <a:rPr lang="en-US" baseline="30000" dirty="0"/>
              <a:t>20</a:t>
            </a:r>
            <a:r>
              <a:rPr lang="en-US" dirty="0"/>
              <a:t> * 2</a:t>
            </a:r>
            <a:r>
              <a:rPr lang="en-US" baseline="30000" dirty="0"/>
              <a:t>2</a:t>
            </a:r>
            <a:r>
              <a:rPr lang="en-US" dirty="0"/>
              <a:t> Bytes)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35089" y="1524000"/>
            <a:ext cx="2332711" cy="36483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Static over Dynamic</a:t>
            </a:r>
          </a:p>
        </p:txBody>
      </p:sp>
    </p:spTree>
    <p:extLst>
      <p:ext uri="{BB962C8B-B14F-4D97-AF65-F5344CB8AC3E}">
        <p14:creationId xmlns:p14="http://schemas.microsoft.com/office/powerpoint/2010/main" val="1924422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371599"/>
            <a:ext cx="8839200" cy="4987925"/>
          </a:xfrm>
        </p:spPr>
        <p:txBody>
          <a:bodyPr/>
          <a:lstStyle/>
          <a:p>
            <a:r>
              <a:rPr lang="en-US" sz="1800" dirty="0"/>
              <a:t>Now, suppose you want to build a memory with the capacity of </a:t>
            </a:r>
            <a:r>
              <a:rPr lang="en-US" sz="1800" b="1" dirty="0">
                <a:solidFill>
                  <a:srgbClr val="FF6600"/>
                </a:solidFill>
              </a:rPr>
              <a:t>32</a:t>
            </a:r>
            <a:r>
              <a:rPr lang="en-US" sz="1800" dirty="0"/>
              <a:t> X </a:t>
            </a:r>
            <a:r>
              <a:rPr lang="en-US" sz="1800" b="1" dirty="0">
                <a:solidFill>
                  <a:srgbClr val="0000FF"/>
                </a:solidFill>
              </a:rPr>
              <a:t>8</a:t>
            </a:r>
            <a:r>
              <a:rPr lang="en-US" sz="1800" dirty="0"/>
              <a:t> bits</a:t>
            </a:r>
          </a:p>
          <a:p>
            <a:r>
              <a:rPr lang="en-US" sz="1800" dirty="0"/>
              <a:t>But, you have a number of </a:t>
            </a:r>
            <a:r>
              <a:rPr lang="en-US" sz="1800" b="1" dirty="0">
                <a:solidFill>
                  <a:srgbClr val="FF6600"/>
                </a:solidFill>
              </a:rPr>
              <a:t>16 </a:t>
            </a:r>
            <a:r>
              <a:rPr lang="en-US" sz="1800" dirty="0"/>
              <a:t>X </a:t>
            </a:r>
            <a:r>
              <a:rPr lang="en-US" sz="1800" b="1" dirty="0">
                <a:solidFill>
                  <a:srgbClr val="0000FF"/>
                </a:solidFill>
              </a:rPr>
              <a:t>4</a:t>
            </a:r>
            <a:r>
              <a:rPr lang="en-US" sz="1800" dirty="0"/>
              <a:t> (nibble) memory chips</a:t>
            </a:r>
          </a:p>
          <a:p>
            <a:r>
              <a:rPr lang="en-US" sz="1800" dirty="0"/>
              <a:t>How to arrange the small chips to have a </a:t>
            </a:r>
            <a:r>
              <a:rPr lang="en-US" sz="1800" b="1" dirty="0">
                <a:solidFill>
                  <a:srgbClr val="FF6600"/>
                </a:solidFill>
              </a:rPr>
              <a:t>32</a:t>
            </a:r>
            <a:r>
              <a:rPr lang="en-US" sz="1800" dirty="0"/>
              <a:t> X </a:t>
            </a:r>
            <a:r>
              <a:rPr lang="en-US" sz="1800" b="1" dirty="0">
                <a:solidFill>
                  <a:srgbClr val="0000FF"/>
                </a:solidFill>
              </a:rPr>
              <a:t>8</a:t>
            </a:r>
            <a:r>
              <a:rPr lang="en-US" sz="1800" dirty="0"/>
              <a:t> memory?</a:t>
            </a:r>
          </a:p>
          <a:p>
            <a:endParaRPr lang="en-US" sz="1800" dirty="0"/>
          </a:p>
          <a:p>
            <a:pPr lvl="1"/>
            <a:endParaRPr lang="en-US" sz="1800" dirty="0"/>
          </a:p>
          <a:p>
            <a:endParaRPr lang="en-US" sz="1800" dirty="0"/>
          </a:p>
        </p:txBody>
      </p:sp>
      <p:sp>
        <p:nvSpPr>
          <p:cNvPr id="2" name="Rectangle 1"/>
          <p:cNvSpPr/>
          <p:nvPr/>
        </p:nvSpPr>
        <p:spPr>
          <a:xfrm>
            <a:off x="1371600" y="3581400"/>
            <a:ext cx="3048000" cy="2209800"/>
          </a:xfrm>
          <a:prstGeom prst="rect">
            <a:avLst/>
          </a:prstGeom>
          <a:solidFill>
            <a:schemeClr val="accent2">
              <a:alpha val="8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32 X 8</a:t>
            </a:r>
          </a:p>
        </p:txBody>
      </p:sp>
      <p:sp>
        <p:nvSpPr>
          <p:cNvPr id="3" name="Rectangle 2"/>
          <p:cNvSpPr/>
          <p:nvPr/>
        </p:nvSpPr>
        <p:spPr>
          <a:xfrm>
            <a:off x="7010400" y="5029200"/>
            <a:ext cx="1524000" cy="1104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703979" y="4668466"/>
            <a:ext cx="1524000" cy="1104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400800" y="4140335"/>
            <a:ext cx="1524000" cy="1104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019800" y="3657600"/>
            <a:ext cx="1524000" cy="1104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491264" y="3352800"/>
            <a:ext cx="1524000" cy="1104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16 X 4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2998"/>
            <a:ext cx="8229600" cy="993598"/>
          </a:xfrm>
        </p:spPr>
        <p:txBody>
          <a:bodyPr/>
          <a:lstStyle/>
          <a:p>
            <a:r>
              <a:rPr lang="en-US" dirty="0"/>
              <a:t>Memory Extension (XY) </a:t>
            </a:r>
          </a:p>
        </p:txBody>
      </p:sp>
      <p:pic>
        <p:nvPicPr>
          <p:cNvPr id="10" name="Picture 9" descr="Screen Shot 2016-04-17 at 5.38.25 P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1371600" y="2459787"/>
            <a:ext cx="3048000" cy="816812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 flipV="1">
            <a:off x="4191000" y="3385295"/>
            <a:ext cx="0" cy="46841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4038600" y="3385295"/>
            <a:ext cx="0" cy="46841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3886200" y="3385295"/>
            <a:ext cx="0" cy="46841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3733800" y="3385295"/>
            <a:ext cx="0" cy="46841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3581400" y="3385295"/>
            <a:ext cx="0" cy="46841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3429000" y="3385295"/>
            <a:ext cx="0" cy="46841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3276600" y="3385295"/>
            <a:ext cx="0" cy="46841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3124200" y="3385295"/>
            <a:ext cx="0" cy="46841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6553200" y="3112989"/>
            <a:ext cx="0" cy="46841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6400800" y="3112989"/>
            <a:ext cx="0" cy="46841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6248400" y="3112989"/>
            <a:ext cx="0" cy="46841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6096000" y="3112989"/>
            <a:ext cx="0" cy="46841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333935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ounded Rectangle 85"/>
          <p:cNvSpPr/>
          <p:nvPr/>
        </p:nvSpPr>
        <p:spPr>
          <a:xfrm>
            <a:off x="736600" y="1257300"/>
            <a:ext cx="6389599" cy="27660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Y-Axis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5101" y="1577594"/>
            <a:ext cx="6389599" cy="27660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000090"/>
                </a:solidFill>
              </a:rPr>
              <a:t>X-Axis</a:t>
            </a:r>
          </a:p>
        </p:txBody>
      </p:sp>
      <p:sp>
        <p:nvSpPr>
          <p:cNvPr id="501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5600" y="1274763"/>
            <a:ext cx="8351838" cy="630237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/>
              <a:t>Increase the </a:t>
            </a:r>
            <a:r>
              <a:rPr lang="en-US" sz="2000" b="1" dirty="0">
                <a:solidFill>
                  <a:schemeClr val="tx1"/>
                </a:solidFill>
              </a:rPr>
              <a:t>Address Space</a:t>
            </a:r>
            <a:r>
              <a:rPr lang="en-US" sz="2000" dirty="0"/>
              <a:t> vertically </a:t>
            </a:r>
          </a:p>
          <a:p>
            <a:r>
              <a:rPr lang="en-US" sz="2000" dirty="0"/>
              <a:t>Increase the </a:t>
            </a:r>
            <a:r>
              <a:rPr lang="en-US" sz="2000" b="1" dirty="0">
                <a:solidFill>
                  <a:srgbClr val="000000"/>
                </a:solidFill>
              </a:rPr>
              <a:t>Data Stride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/>
              <a:t>horizontally 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879475" y="3048000"/>
            <a:ext cx="3235325" cy="2438400"/>
            <a:chOff x="879475" y="3878263"/>
            <a:chExt cx="3235325" cy="2438400"/>
          </a:xfrm>
        </p:grpSpPr>
        <p:grpSp>
          <p:nvGrpSpPr>
            <p:cNvPr id="22" name="Group 21"/>
            <p:cNvGrpSpPr/>
            <p:nvPr/>
          </p:nvGrpSpPr>
          <p:grpSpPr bwMode="auto">
            <a:xfrm>
              <a:off x="879475" y="4183063"/>
              <a:ext cx="533278" cy="1905000"/>
              <a:chOff x="1183532" y="2743200"/>
              <a:chExt cx="533400" cy="1905000"/>
            </a:xfrm>
            <a:scene3d>
              <a:camera prst="orthographicFront"/>
              <a:lightRig rig="threePt" dir="t"/>
            </a:scene3d>
          </p:grpSpPr>
          <p:cxnSp>
            <p:nvCxnSpPr>
              <p:cNvPr id="4" name="Straight Connector 3"/>
              <p:cNvCxnSpPr/>
              <p:nvPr/>
            </p:nvCxnSpPr>
            <p:spPr>
              <a:xfrm>
                <a:off x="1183532" y="2743200"/>
                <a:ext cx="533400" cy="0"/>
              </a:xfrm>
              <a:prstGeom prst="line">
                <a:avLst/>
              </a:prstGeom>
              <a:ln w="0" cap="rnd">
                <a:solidFill>
                  <a:srgbClr val="7030A0"/>
                </a:solidFill>
              </a:ln>
              <a:sp3d extrusionH="31750" contourW="44450">
                <a:bevelT prst="relaxedInset"/>
                <a:bevelB prst="slope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1183532" y="3219450"/>
                <a:ext cx="533400" cy="0"/>
              </a:xfrm>
              <a:prstGeom prst="line">
                <a:avLst/>
              </a:prstGeom>
              <a:ln w="0" cap="rnd">
                <a:solidFill>
                  <a:srgbClr val="7030A0"/>
                </a:solidFill>
              </a:ln>
              <a:sp3d extrusionH="31750" contourW="44450">
                <a:bevelT prst="relaxedInset"/>
                <a:bevelB prst="slope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1183532" y="3695700"/>
                <a:ext cx="533400" cy="0"/>
              </a:xfrm>
              <a:prstGeom prst="line">
                <a:avLst/>
              </a:prstGeom>
              <a:ln w="0" cap="rnd">
                <a:solidFill>
                  <a:srgbClr val="7030A0"/>
                </a:solidFill>
              </a:ln>
              <a:sp3d extrusionH="31750" contourW="44450">
                <a:bevelT prst="relaxedInset"/>
                <a:bevelB prst="slope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1183532" y="4171950"/>
                <a:ext cx="533400" cy="0"/>
              </a:xfrm>
              <a:prstGeom prst="line">
                <a:avLst/>
              </a:prstGeom>
              <a:ln w="0" cap="rnd">
                <a:solidFill>
                  <a:srgbClr val="7030A0"/>
                </a:solidFill>
              </a:ln>
              <a:sp3d extrusionH="31750" contourW="44450">
                <a:bevelT prst="relaxedInset"/>
                <a:bevelB prst="slope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1183532" y="4648200"/>
                <a:ext cx="533400" cy="0"/>
              </a:xfrm>
              <a:prstGeom prst="line">
                <a:avLst/>
              </a:prstGeom>
              <a:ln w="0" cap="rnd">
                <a:solidFill>
                  <a:srgbClr val="7030A0"/>
                </a:solidFill>
              </a:ln>
              <a:sp3d extrusionH="31750" contourW="44450">
                <a:bevelT prst="relaxedInset"/>
                <a:bevelB prst="slope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251" name="Group 43011"/>
            <p:cNvGrpSpPr>
              <a:grpSpLocks/>
            </p:cNvGrpSpPr>
            <p:nvPr/>
          </p:nvGrpSpPr>
          <p:grpSpPr bwMode="auto">
            <a:xfrm>
              <a:off x="1506765" y="4288310"/>
              <a:ext cx="2437839" cy="533400"/>
              <a:chOff x="1676400" y="2895600"/>
              <a:chExt cx="2438399" cy="533400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 rot="5400000">
                <a:off x="3499758" y="2231127"/>
                <a:ext cx="533400" cy="0"/>
              </a:xfrm>
              <a:prstGeom prst="line">
                <a:avLst/>
              </a:prstGeom>
              <a:ln w="0" cap="rnd">
                <a:solidFill>
                  <a:srgbClr val="FF0000"/>
                </a:solidFill>
              </a:ln>
              <a:scene3d>
                <a:camera prst="orthographicFront"/>
                <a:lightRig rig="threePt" dir="t"/>
              </a:scene3d>
              <a:sp3d extrusionH="31750" contourW="44450">
                <a:bevelT prst="relaxedInset"/>
                <a:bevelB prst="slope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 rot="5400000">
                <a:off x="3151415" y="2231127"/>
                <a:ext cx="533400" cy="0"/>
              </a:xfrm>
              <a:prstGeom prst="line">
                <a:avLst/>
              </a:prstGeom>
              <a:ln w="0" cap="rnd">
                <a:solidFill>
                  <a:srgbClr val="FF0000"/>
                </a:solidFill>
              </a:ln>
              <a:scene3d>
                <a:camera prst="orthographicFront"/>
                <a:lightRig rig="threePt" dir="t"/>
              </a:scene3d>
              <a:sp3d extrusionH="31750" contourW="44450">
                <a:bevelT prst="relaxedInset"/>
                <a:bevelB prst="slope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 rot="5400000">
                <a:off x="2803072" y="2231127"/>
                <a:ext cx="533400" cy="0"/>
              </a:xfrm>
              <a:prstGeom prst="line">
                <a:avLst/>
              </a:prstGeom>
              <a:ln w="0" cap="rnd">
                <a:solidFill>
                  <a:srgbClr val="FF0000"/>
                </a:solidFill>
              </a:ln>
              <a:scene3d>
                <a:camera prst="orthographicFront"/>
                <a:lightRig rig="threePt" dir="t"/>
              </a:scene3d>
              <a:sp3d extrusionH="31750" contourW="44450">
                <a:bevelT prst="relaxedInset"/>
                <a:bevelB prst="slope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 rot="5400000">
                <a:off x="2106386" y="2231127"/>
                <a:ext cx="533400" cy="0"/>
              </a:xfrm>
              <a:prstGeom prst="line">
                <a:avLst/>
              </a:prstGeom>
              <a:ln w="0" cap="rnd">
                <a:solidFill>
                  <a:srgbClr val="FF0000"/>
                </a:solidFill>
              </a:ln>
              <a:scene3d>
                <a:camera prst="orthographicFront"/>
                <a:lightRig rig="threePt" dir="t"/>
              </a:scene3d>
              <a:sp3d extrusionH="31750" contourW="44450">
                <a:bevelT prst="relaxedInset"/>
                <a:bevelB prst="slope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rot="5400000">
                <a:off x="1409700" y="2231127"/>
                <a:ext cx="533400" cy="0"/>
              </a:xfrm>
              <a:prstGeom prst="line">
                <a:avLst/>
              </a:prstGeom>
              <a:ln w="0" cap="rnd">
                <a:solidFill>
                  <a:srgbClr val="FF0000"/>
                </a:solidFill>
              </a:ln>
              <a:scene3d>
                <a:camera prst="orthographicFront"/>
                <a:lightRig rig="threePt" dir="t"/>
              </a:scene3d>
              <a:sp3d extrusionH="31750" contourW="44450">
                <a:bevelT prst="relaxedInset"/>
                <a:bevelB prst="slope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 rot="5400000">
                <a:off x="1758043" y="2231127"/>
                <a:ext cx="533400" cy="0"/>
              </a:xfrm>
              <a:prstGeom prst="line">
                <a:avLst/>
              </a:prstGeom>
              <a:ln w="0" cap="rnd">
                <a:solidFill>
                  <a:srgbClr val="FF0000"/>
                </a:solidFill>
              </a:ln>
              <a:scene3d>
                <a:camera prst="orthographicFront"/>
                <a:lightRig rig="threePt" dir="t"/>
              </a:scene3d>
              <a:sp3d extrusionH="31750" contourW="44450">
                <a:bevelT prst="relaxedInset"/>
                <a:bevelB prst="slope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 rot="5400000">
                <a:off x="2454729" y="2231127"/>
                <a:ext cx="533400" cy="0"/>
              </a:xfrm>
              <a:prstGeom prst="line">
                <a:avLst/>
              </a:prstGeom>
              <a:ln w="0" cap="rnd">
                <a:solidFill>
                  <a:srgbClr val="FF0000"/>
                </a:solidFill>
              </a:ln>
              <a:scene3d>
                <a:camera prst="orthographicFront"/>
                <a:lightRig rig="threePt" dir="t"/>
              </a:scene3d>
              <a:sp3d extrusionH="31750" contourW="44450">
                <a:bevelT prst="relaxedInset"/>
                <a:bevelB prst="slope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rot="5400000">
                <a:off x="3848099" y="2231127"/>
                <a:ext cx="533400" cy="0"/>
              </a:xfrm>
              <a:prstGeom prst="line">
                <a:avLst/>
              </a:prstGeom>
              <a:ln w="0" cap="rnd">
                <a:solidFill>
                  <a:srgbClr val="FF0000"/>
                </a:solidFill>
              </a:ln>
              <a:scene3d>
                <a:camera prst="orthographicFront"/>
                <a:lightRig rig="threePt" dir="t"/>
              </a:scene3d>
              <a:sp3d extrusionH="31750" contourW="44450">
                <a:bevelT prst="relaxedInset"/>
                <a:bevelB prst="slope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Rectangle 1"/>
            <p:cNvSpPr/>
            <p:nvPr/>
          </p:nvSpPr>
          <p:spPr bwMode="auto">
            <a:xfrm>
              <a:off x="1296047" y="3878263"/>
              <a:ext cx="2818753" cy="2438400"/>
            </a:xfrm>
            <a:prstGeom prst="rect">
              <a:avLst/>
            </a:prstGeom>
            <a:solidFill>
              <a:schemeClr val="accent1"/>
            </a:solidFill>
            <a:ln w="0" cap="rnd">
              <a:gradFill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35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4000" dirty="0"/>
                <a:t>32 X 8 </a:t>
              </a:r>
            </a:p>
          </p:txBody>
        </p:sp>
      </p:grpSp>
      <p:cxnSp>
        <p:nvCxnSpPr>
          <p:cNvPr id="80" name="Straight Connector 79"/>
          <p:cNvCxnSpPr/>
          <p:nvPr/>
        </p:nvCxnSpPr>
        <p:spPr bwMode="auto">
          <a:xfrm>
            <a:off x="4724400" y="3284202"/>
            <a:ext cx="533278" cy="0"/>
          </a:xfrm>
          <a:prstGeom prst="line">
            <a:avLst/>
          </a:prstGeom>
          <a:ln w="0" cap="rnd">
            <a:solidFill>
              <a:srgbClr val="7030A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 bwMode="auto">
          <a:xfrm>
            <a:off x="4724400" y="3759763"/>
            <a:ext cx="533278" cy="0"/>
          </a:xfrm>
          <a:prstGeom prst="line">
            <a:avLst/>
          </a:prstGeom>
          <a:ln w="0" cap="rnd">
            <a:solidFill>
              <a:srgbClr val="7030A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 bwMode="auto">
          <a:xfrm>
            <a:off x="4724400" y="4235324"/>
            <a:ext cx="533278" cy="0"/>
          </a:xfrm>
          <a:prstGeom prst="line">
            <a:avLst/>
          </a:prstGeom>
          <a:ln w="0" cap="rnd">
            <a:solidFill>
              <a:srgbClr val="7030A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 bwMode="auto">
          <a:xfrm>
            <a:off x="4724400" y="4710886"/>
            <a:ext cx="533278" cy="0"/>
          </a:xfrm>
          <a:prstGeom prst="line">
            <a:avLst/>
          </a:prstGeom>
          <a:ln w="0" cap="rnd">
            <a:solidFill>
              <a:srgbClr val="7030A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 bwMode="auto">
          <a:xfrm>
            <a:off x="4724400" y="5186447"/>
            <a:ext cx="533278" cy="0"/>
          </a:xfrm>
          <a:prstGeom prst="line">
            <a:avLst/>
          </a:prstGeom>
          <a:ln w="0" cap="rnd">
            <a:solidFill>
              <a:srgbClr val="7030A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 bwMode="auto">
          <a:xfrm rot="5400000">
            <a:off x="7174505" y="2789300"/>
            <a:ext cx="533526" cy="0"/>
          </a:xfrm>
          <a:prstGeom prst="line">
            <a:avLst/>
          </a:prstGeom>
          <a:ln w="0" cap="rnd">
            <a:solidFill>
              <a:srgbClr val="FF000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 bwMode="auto">
          <a:xfrm rot="5400000">
            <a:off x="6826242" y="2789300"/>
            <a:ext cx="533526" cy="0"/>
          </a:xfrm>
          <a:prstGeom prst="line">
            <a:avLst/>
          </a:prstGeom>
          <a:ln w="0" cap="rnd">
            <a:solidFill>
              <a:srgbClr val="FF000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 bwMode="auto">
          <a:xfrm rot="5400000">
            <a:off x="6477979" y="2789300"/>
            <a:ext cx="533526" cy="0"/>
          </a:xfrm>
          <a:prstGeom prst="line">
            <a:avLst/>
          </a:prstGeom>
          <a:ln w="0" cap="rnd">
            <a:solidFill>
              <a:srgbClr val="FF000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 bwMode="auto">
          <a:xfrm rot="5400000">
            <a:off x="5781453" y="2789300"/>
            <a:ext cx="533526" cy="0"/>
          </a:xfrm>
          <a:prstGeom prst="line">
            <a:avLst/>
          </a:prstGeom>
          <a:ln w="0" cap="rnd">
            <a:solidFill>
              <a:srgbClr val="FF000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 bwMode="auto">
          <a:xfrm rot="5400000">
            <a:off x="5084927" y="2789300"/>
            <a:ext cx="533526" cy="0"/>
          </a:xfrm>
          <a:prstGeom prst="line">
            <a:avLst/>
          </a:prstGeom>
          <a:ln w="0" cap="rnd">
            <a:solidFill>
              <a:srgbClr val="FF000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 bwMode="auto">
          <a:xfrm rot="5400000">
            <a:off x="5433190" y="2789300"/>
            <a:ext cx="533526" cy="0"/>
          </a:xfrm>
          <a:prstGeom prst="line">
            <a:avLst/>
          </a:prstGeom>
          <a:ln w="0" cap="rnd">
            <a:solidFill>
              <a:srgbClr val="FF000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 bwMode="auto">
          <a:xfrm rot="5400000">
            <a:off x="6129716" y="2789300"/>
            <a:ext cx="533526" cy="0"/>
          </a:xfrm>
          <a:prstGeom prst="line">
            <a:avLst/>
          </a:prstGeom>
          <a:ln w="0" cap="rnd">
            <a:solidFill>
              <a:srgbClr val="FF000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 bwMode="auto">
          <a:xfrm rot="5400000">
            <a:off x="7522766" y="2789300"/>
            <a:ext cx="533526" cy="0"/>
          </a:xfrm>
          <a:prstGeom prst="line">
            <a:avLst/>
          </a:prstGeom>
          <a:ln w="0" cap="rnd">
            <a:solidFill>
              <a:srgbClr val="FF000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 bwMode="auto">
          <a:xfrm>
            <a:off x="5140972" y="3022021"/>
            <a:ext cx="2818753" cy="2438979"/>
          </a:xfrm>
          <a:prstGeom prst="rect">
            <a:avLst/>
          </a:prstGeom>
          <a:solidFill>
            <a:schemeClr val="accent1"/>
          </a:solidFill>
          <a:ln w="0" cap="rnd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35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endParaRPr lang="en-US" sz="4000">
              <a:solidFill>
                <a:srgbClr val="FFFFFF"/>
              </a:solidFill>
            </a:endParaRPr>
          </a:p>
        </p:txBody>
      </p:sp>
      <p:grpSp>
        <p:nvGrpSpPr>
          <p:cNvPr id="50198" name="Group 43008"/>
          <p:cNvGrpSpPr>
            <a:grpSpLocks/>
          </p:cNvGrpSpPr>
          <p:nvPr/>
        </p:nvGrpSpPr>
        <p:grpSpPr bwMode="auto">
          <a:xfrm>
            <a:off x="5508625" y="3569840"/>
            <a:ext cx="177934" cy="651175"/>
            <a:chOff x="4157384" y="2091898"/>
            <a:chExt cx="178041" cy="651302"/>
          </a:xfrm>
        </p:grpSpPr>
        <p:cxnSp>
          <p:nvCxnSpPr>
            <p:cNvPr id="57" name="Straight Connector 56"/>
            <p:cNvCxnSpPr/>
            <p:nvPr/>
          </p:nvCxnSpPr>
          <p:spPr>
            <a:xfrm>
              <a:off x="4157384" y="1959859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4157384" y="2179391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4157384" y="2398924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4157384" y="2612358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199" name="Group 43007"/>
          <p:cNvGrpSpPr>
            <a:grpSpLocks/>
          </p:cNvGrpSpPr>
          <p:nvPr/>
        </p:nvGrpSpPr>
        <p:grpSpPr bwMode="auto">
          <a:xfrm>
            <a:off x="5774716" y="3589337"/>
            <a:ext cx="686315" cy="192638"/>
            <a:chOff x="4423635" y="1828800"/>
            <a:chExt cx="686728" cy="192675"/>
          </a:xfrm>
        </p:grpSpPr>
        <p:cxnSp>
          <p:nvCxnSpPr>
            <p:cNvPr id="50" name="Straight Connector 49"/>
            <p:cNvCxnSpPr/>
            <p:nvPr/>
          </p:nvCxnSpPr>
          <p:spPr>
            <a:xfrm rot="5400000">
              <a:off x="5014025" y="1500086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4785115" y="1500086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4556206" y="1500086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rot="5400000">
              <a:off x="4327297" y="1500086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Rectangle 48"/>
          <p:cNvSpPr/>
          <p:nvPr/>
        </p:nvSpPr>
        <p:spPr bwMode="auto">
          <a:xfrm>
            <a:off x="5647619" y="3361010"/>
            <a:ext cx="940506" cy="880629"/>
          </a:xfrm>
          <a:prstGeom prst="rect">
            <a:avLst/>
          </a:prstGeom>
          <a:solidFill>
            <a:schemeClr val="accent6"/>
          </a:solidFill>
          <a:ln w="0" cap="rnd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35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/>
              <a:t>16 X 4</a:t>
            </a:r>
          </a:p>
        </p:txBody>
      </p:sp>
      <p:grpSp>
        <p:nvGrpSpPr>
          <p:cNvPr id="50203" name="Group 85"/>
          <p:cNvGrpSpPr>
            <a:grpSpLocks/>
          </p:cNvGrpSpPr>
          <p:nvPr/>
        </p:nvGrpSpPr>
        <p:grpSpPr bwMode="auto">
          <a:xfrm>
            <a:off x="6705600" y="3615023"/>
            <a:ext cx="177934" cy="651175"/>
            <a:chOff x="4157384" y="2091898"/>
            <a:chExt cx="178041" cy="651302"/>
          </a:xfrm>
        </p:grpSpPr>
        <p:cxnSp>
          <p:nvCxnSpPr>
            <p:cNvPr id="93" name="Straight Connector 92"/>
            <p:cNvCxnSpPr/>
            <p:nvPr/>
          </p:nvCxnSpPr>
          <p:spPr>
            <a:xfrm>
              <a:off x="4157384" y="1959859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4157384" y="2179391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>
              <a:off x="4157384" y="2398924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>
              <a:off x="4157384" y="2612358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204" name="Group 86"/>
          <p:cNvGrpSpPr>
            <a:grpSpLocks/>
          </p:cNvGrpSpPr>
          <p:nvPr/>
        </p:nvGrpSpPr>
        <p:grpSpPr bwMode="auto">
          <a:xfrm>
            <a:off x="6971691" y="3589337"/>
            <a:ext cx="686315" cy="192638"/>
            <a:chOff x="4423635" y="1828800"/>
            <a:chExt cx="686728" cy="192675"/>
          </a:xfrm>
        </p:grpSpPr>
        <p:cxnSp>
          <p:nvCxnSpPr>
            <p:cNvPr id="89" name="Straight Connector 88"/>
            <p:cNvCxnSpPr/>
            <p:nvPr/>
          </p:nvCxnSpPr>
          <p:spPr>
            <a:xfrm rot="5400000">
              <a:off x="5014025" y="1500086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 rot="5400000">
              <a:off x="4785115" y="1500086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/>
            <p:nvPr/>
          </p:nvCxnSpPr>
          <p:spPr>
            <a:xfrm rot="5400000">
              <a:off x="4556206" y="1500086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 rot="5400000">
              <a:off x="4327297" y="1500086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Rectangle 87"/>
          <p:cNvSpPr/>
          <p:nvPr/>
        </p:nvSpPr>
        <p:spPr bwMode="auto">
          <a:xfrm>
            <a:off x="6844594" y="3361010"/>
            <a:ext cx="940506" cy="880629"/>
          </a:xfrm>
          <a:prstGeom prst="rect">
            <a:avLst/>
          </a:prstGeom>
          <a:solidFill>
            <a:schemeClr val="accent6"/>
          </a:solidFill>
          <a:ln w="0" cap="rnd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35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/>
              <a:t>16 X 4</a:t>
            </a:r>
          </a:p>
        </p:txBody>
      </p:sp>
      <p:grpSp>
        <p:nvGrpSpPr>
          <p:cNvPr id="50208" name="Group 97"/>
          <p:cNvGrpSpPr>
            <a:grpSpLocks/>
          </p:cNvGrpSpPr>
          <p:nvPr/>
        </p:nvGrpSpPr>
        <p:grpSpPr bwMode="auto">
          <a:xfrm>
            <a:off x="5505450" y="4682824"/>
            <a:ext cx="177934" cy="651176"/>
            <a:chOff x="4157384" y="2091898"/>
            <a:chExt cx="178041" cy="651302"/>
          </a:xfrm>
        </p:grpSpPr>
        <p:cxnSp>
          <p:nvCxnSpPr>
            <p:cNvPr id="105" name="Straight Connector 104"/>
            <p:cNvCxnSpPr/>
            <p:nvPr/>
          </p:nvCxnSpPr>
          <p:spPr>
            <a:xfrm>
              <a:off x="4157384" y="1962615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>
              <a:off x="4157384" y="2182147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>
            <a:xfrm>
              <a:off x="4157384" y="2395581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>
              <a:off x="4157384" y="2615114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209" name="Group 98"/>
          <p:cNvGrpSpPr>
            <a:grpSpLocks/>
          </p:cNvGrpSpPr>
          <p:nvPr/>
        </p:nvGrpSpPr>
        <p:grpSpPr bwMode="auto">
          <a:xfrm>
            <a:off x="5771541" y="4732516"/>
            <a:ext cx="686315" cy="192638"/>
            <a:chOff x="4423635" y="1828800"/>
            <a:chExt cx="686728" cy="192675"/>
          </a:xfrm>
        </p:grpSpPr>
        <p:cxnSp>
          <p:nvCxnSpPr>
            <p:cNvPr id="101" name="Straight Connector 100"/>
            <p:cNvCxnSpPr/>
            <p:nvPr/>
          </p:nvCxnSpPr>
          <p:spPr>
            <a:xfrm rot="5400000">
              <a:off x="5014025" y="1503135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rot="5400000">
              <a:off x="4785115" y="1503135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rot="5400000">
              <a:off x="4556206" y="1503135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rot="5400000">
              <a:off x="4327297" y="1503135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Rectangle 99"/>
          <p:cNvSpPr/>
          <p:nvPr/>
        </p:nvSpPr>
        <p:spPr bwMode="auto">
          <a:xfrm>
            <a:off x="5644444" y="4473993"/>
            <a:ext cx="940506" cy="880630"/>
          </a:xfrm>
          <a:prstGeom prst="rect">
            <a:avLst/>
          </a:prstGeom>
          <a:solidFill>
            <a:schemeClr val="accent6"/>
          </a:solidFill>
          <a:ln w="0" cap="rnd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35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/>
              <a:t>16 X 4</a:t>
            </a:r>
          </a:p>
        </p:txBody>
      </p:sp>
      <p:grpSp>
        <p:nvGrpSpPr>
          <p:cNvPr id="50213" name="Group 109"/>
          <p:cNvGrpSpPr>
            <a:grpSpLocks/>
          </p:cNvGrpSpPr>
          <p:nvPr/>
        </p:nvGrpSpPr>
        <p:grpSpPr bwMode="auto">
          <a:xfrm>
            <a:off x="6705600" y="4758419"/>
            <a:ext cx="177934" cy="651781"/>
            <a:chOff x="4157384" y="2091898"/>
            <a:chExt cx="178041" cy="651302"/>
          </a:xfrm>
        </p:grpSpPr>
        <p:cxnSp>
          <p:nvCxnSpPr>
            <p:cNvPr id="117" name="Straight Connector 116"/>
            <p:cNvCxnSpPr/>
            <p:nvPr/>
          </p:nvCxnSpPr>
          <p:spPr>
            <a:xfrm>
              <a:off x="4157384" y="1962808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/>
          </p:nvCxnSpPr>
          <p:spPr>
            <a:xfrm>
              <a:off x="4157384" y="2182136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>
              <a:off x="4157384" y="2395372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4157384" y="2614701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214" name="Group 110"/>
          <p:cNvGrpSpPr>
            <a:grpSpLocks/>
          </p:cNvGrpSpPr>
          <p:nvPr/>
        </p:nvGrpSpPr>
        <p:grpSpPr bwMode="auto">
          <a:xfrm>
            <a:off x="6971691" y="4732337"/>
            <a:ext cx="686315" cy="192817"/>
            <a:chOff x="4423635" y="1828800"/>
            <a:chExt cx="686728" cy="192675"/>
          </a:xfrm>
        </p:grpSpPr>
        <p:cxnSp>
          <p:nvCxnSpPr>
            <p:cNvPr id="113" name="Straight Connector 112"/>
            <p:cNvCxnSpPr/>
            <p:nvPr/>
          </p:nvCxnSpPr>
          <p:spPr>
            <a:xfrm rot="5400000">
              <a:off x="5014025" y="1503616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rot="5400000">
              <a:off x="4785115" y="1503616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rot="5400000">
              <a:off x="4556206" y="1503616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/>
          </p:nvCxnSpPr>
          <p:spPr>
            <a:xfrm rot="5400000">
              <a:off x="4327297" y="1503616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" name="Rectangle 111"/>
          <p:cNvSpPr/>
          <p:nvPr/>
        </p:nvSpPr>
        <p:spPr bwMode="auto">
          <a:xfrm>
            <a:off x="6844594" y="4460474"/>
            <a:ext cx="940506" cy="881449"/>
          </a:xfrm>
          <a:prstGeom prst="rect">
            <a:avLst/>
          </a:prstGeom>
          <a:solidFill>
            <a:schemeClr val="accent6"/>
          </a:solidFill>
          <a:ln w="0" cap="rnd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35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/>
              <a:t>16 X 4</a:t>
            </a:r>
          </a:p>
        </p:txBody>
      </p:sp>
      <p:sp>
        <p:nvSpPr>
          <p:cNvPr id="85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76200"/>
            <a:ext cx="8229600" cy="838200"/>
          </a:xfrm>
        </p:spPr>
        <p:txBody>
          <a:bodyPr/>
          <a:lstStyle/>
          <a:p>
            <a:r>
              <a:rPr lang="en-US" dirty="0"/>
              <a:t>Memory Extension (</a:t>
            </a:r>
            <a:r>
              <a:rPr lang="en-US" dirty="0">
                <a:solidFill>
                  <a:srgbClr val="FF6600"/>
                </a:solidFill>
              </a:rPr>
              <a:t>Y</a:t>
            </a:r>
            <a:r>
              <a:rPr lang="en-US" dirty="0"/>
              <a:t> x </a:t>
            </a:r>
            <a:r>
              <a:rPr lang="en-US" dirty="0">
                <a:solidFill>
                  <a:srgbClr val="0000FF"/>
                </a:solidFill>
              </a:rPr>
              <a:t>X</a:t>
            </a:r>
            <a:r>
              <a:rPr lang="en-US" dirty="0"/>
              <a:t>) </a:t>
            </a:r>
          </a:p>
        </p:txBody>
      </p:sp>
      <p:sp>
        <p:nvSpPr>
          <p:cNvPr id="87" name="Rectangle 3"/>
          <p:cNvSpPr txBox="1">
            <a:spLocks noChangeArrowheads="1"/>
          </p:cNvSpPr>
          <p:nvPr/>
        </p:nvSpPr>
        <p:spPr>
          <a:xfrm>
            <a:off x="304800" y="5909541"/>
            <a:ext cx="8763000" cy="87225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FF0000"/>
                </a:solidFill>
              </a:rPr>
              <a:t>Q:</a:t>
            </a:r>
            <a:r>
              <a:rPr lang="en-US" sz="2000" dirty="0"/>
              <a:t> How can the two of the 4-bit RAMs connect to form 8 bits?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>
                <a:solidFill>
                  <a:srgbClr val="FF0000"/>
                </a:solidFill>
              </a:rPr>
              <a:t>Alt-Q: </a:t>
            </a:r>
            <a:r>
              <a:rPr lang="en-US" sz="2000" dirty="0"/>
              <a:t>How can two pairs of 4 address lines map to 5 address lines?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334000" y="3200400"/>
            <a:ext cx="3505200" cy="1066800"/>
          </a:xfrm>
          <a:prstGeom prst="roundRect">
            <a:avLst/>
          </a:prstGeom>
          <a:gradFill flip="none" rotWithShape="1">
            <a:gsLst>
              <a:gs pos="0">
                <a:schemeClr val="accent3">
                  <a:tint val="50000"/>
                  <a:satMod val="300000"/>
                  <a:alpha val="30000"/>
                </a:schemeClr>
              </a:gs>
              <a:gs pos="35000">
                <a:schemeClr val="accent3">
                  <a:tint val="37000"/>
                  <a:satMod val="300000"/>
                  <a:alpha val="30000"/>
                </a:schemeClr>
              </a:gs>
              <a:gs pos="100000">
                <a:schemeClr val="accent3">
                  <a:tint val="15000"/>
                  <a:satMod val="350000"/>
                  <a:alpha val="30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/>
              <a:t>				</a:t>
            </a:r>
            <a:r>
              <a:rPr lang="en-US" b="1" dirty="0">
                <a:solidFill>
                  <a:srgbClr val="008000"/>
                </a:solidFill>
              </a:rPr>
              <a:t>Page 0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334000" y="4343400"/>
            <a:ext cx="3505200" cy="1066800"/>
          </a:xfrm>
          <a:prstGeom prst="roundRect">
            <a:avLst/>
          </a:prstGeom>
          <a:gradFill flip="none" rotWithShape="1">
            <a:gsLst>
              <a:gs pos="0">
                <a:schemeClr val="accent3">
                  <a:tint val="50000"/>
                  <a:satMod val="300000"/>
                  <a:alpha val="34000"/>
                </a:schemeClr>
              </a:gs>
              <a:gs pos="35000">
                <a:schemeClr val="accent3">
                  <a:tint val="37000"/>
                  <a:satMod val="300000"/>
                  <a:alpha val="34000"/>
                </a:schemeClr>
              </a:gs>
              <a:gs pos="100000">
                <a:schemeClr val="accent3">
                  <a:tint val="15000"/>
                  <a:satMod val="350000"/>
                  <a:alpha val="34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/>
              <a:t>				</a:t>
            </a:r>
            <a:r>
              <a:rPr lang="en-US" b="1" dirty="0">
                <a:solidFill>
                  <a:srgbClr val="008000"/>
                </a:solidFill>
              </a:rPr>
              <a:t>Page 1</a:t>
            </a:r>
          </a:p>
        </p:txBody>
      </p:sp>
      <p:sp>
        <p:nvSpPr>
          <p:cNvPr id="99" name="Rectangle 3"/>
          <p:cNvSpPr txBox="1">
            <a:spLocks noChangeArrowheads="1"/>
          </p:cNvSpPr>
          <p:nvPr/>
        </p:nvSpPr>
        <p:spPr>
          <a:xfrm>
            <a:off x="3352800" y="5870933"/>
            <a:ext cx="5718149" cy="91086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itchFamily="34" charset="0"/>
              <a:buChar char="•"/>
            </a:pPr>
            <a:r>
              <a:rPr lang="en-US" sz="2000" dirty="0">
                <a:solidFill>
                  <a:srgbClr val="0000FF"/>
                </a:solidFill>
              </a:rPr>
              <a:t>A: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Split the chips up into </a:t>
            </a:r>
            <a:r>
              <a:rPr lang="en-US" sz="2000" i="1" dirty="0">
                <a:solidFill>
                  <a:schemeClr val="accent5">
                    <a:lumMod val="75000"/>
                  </a:schemeClr>
                </a:solidFill>
              </a:rPr>
              <a:t>pages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 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2000" dirty="0">
                <a:solidFill>
                  <a:srgbClr val="0000FF"/>
                </a:solidFill>
              </a:rPr>
              <a:t>A</a:t>
            </a:r>
            <a:r>
              <a:rPr lang="en-US" sz="2000">
                <a:solidFill>
                  <a:srgbClr val="0000FF"/>
                </a:solidFill>
              </a:rPr>
              <a:t>: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U</a:t>
            </a:r>
            <a:r>
              <a:rPr lang="en-US" sz="2000">
                <a:solidFill>
                  <a:schemeClr val="accent5">
                    <a:lumMod val="75000"/>
                  </a:schemeClr>
                </a:solidFill>
              </a:rPr>
              <a:t>se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the first (or last) line to select the page </a:t>
            </a:r>
          </a:p>
          <a:p>
            <a:pPr marL="742950" lvl="2" indent="-342900"/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(low versus high order interleaving in Null)</a:t>
            </a:r>
          </a:p>
          <a:p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6" name="Curved Right Arrow 5"/>
          <p:cNvSpPr/>
          <p:nvPr/>
        </p:nvSpPr>
        <p:spPr>
          <a:xfrm rot="19977969">
            <a:off x="301660" y="2789933"/>
            <a:ext cx="507111" cy="1521333"/>
          </a:xfrm>
          <a:prstGeom prst="curv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9" name="Rectangle 108"/>
          <p:cNvSpPr/>
          <p:nvPr/>
        </p:nvSpPr>
        <p:spPr bwMode="auto">
          <a:xfrm>
            <a:off x="126294" y="2090351"/>
            <a:ext cx="940506" cy="881449"/>
          </a:xfrm>
          <a:prstGeom prst="rect">
            <a:avLst/>
          </a:prstGeom>
          <a:solidFill>
            <a:schemeClr val="accent6"/>
          </a:solidFill>
          <a:ln w="0" cap="rnd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35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/>
              <a:t>16 X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800" y="3048000"/>
            <a:ext cx="685800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48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5041909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4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7" dur="2000"/>
                                        <p:tgtEl>
                                          <p:spTgt spid="50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0" dur="2000"/>
                                        <p:tgtEl>
                                          <p:spTgt spid="50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3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6" dur="2000"/>
                                        <p:tgtEl>
                                          <p:spTgt spid="50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9" dur="2000"/>
                                        <p:tgtEl>
                                          <p:spTgt spid="50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2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5" dur="2000"/>
                                        <p:tgtEl>
                                          <p:spTgt spid="50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8" dur="2000"/>
                                        <p:tgtEl>
                                          <p:spTgt spid="50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1" dur="2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4" dur="2000"/>
                                        <p:tgtEl>
                                          <p:spTgt spid="50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7" dur="2000"/>
                                        <p:tgtEl>
                                          <p:spTgt spid="50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0" dur="2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5" dur="2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8" dur="2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1" dur="2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5" grpId="0" animBg="1"/>
      <p:bldP spid="71" grpId="0" animBg="1"/>
      <p:bldP spid="49" grpId="0" animBg="1"/>
      <p:bldP spid="88" grpId="0" animBg="1"/>
      <p:bldP spid="100" grpId="0" animBg="1"/>
      <p:bldP spid="112" grpId="0" animBg="1"/>
      <p:bldP spid="87" grpId="0" animBg="1"/>
      <p:bldP spid="97" grpId="0" animBg="1"/>
      <p:bldP spid="98" grpId="0" animBg="1"/>
      <p:bldP spid="99" grpId="0" animBg="1"/>
      <p:bldP spid="6" grpId="0" animBg="1"/>
      <p:bldP spid="109" grpId="0" animBg="1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5600" y="838200"/>
            <a:ext cx="8788400" cy="5389562"/>
          </a:xfrm>
        </p:spPr>
        <p:txBody>
          <a:bodyPr/>
          <a:lstStyle/>
          <a:p>
            <a:r>
              <a:rPr lang="en-US" sz="1800" dirty="0"/>
              <a:t>Large memories can be constructed by combining smaller memory chips</a:t>
            </a:r>
          </a:p>
          <a:p>
            <a:r>
              <a:rPr lang="en-US" sz="1800" dirty="0"/>
              <a:t>Suppose you want to have a memory with the capacity of 32 X 8</a:t>
            </a:r>
          </a:p>
          <a:p>
            <a:pPr lvl="1"/>
            <a:r>
              <a:rPr lang="en-US" sz="1400" dirty="0"/>
              <a:t>But, you have a number of 16 X 8 memory chips</a:t>
            </a:r>
          </a:p>
          <a:p>
            <a:pPr lvl="1"/>
            <a:r>
              <a:rPr lang="en-US" sz="1400" dirty="0"/>
              <a:t>How to arrange the small chips to have a 32 X 8 memory?</a:t>
            </a:r>
          </a:p>
          <a:p>
            <a:r>
              <a:rPr lang="en-US" sz="1800" dirty="0">
                <a:solidFill>
                  <a:schemeClr val="tx1"/>
                </a:solidFill>
              </a:rPr>
              <a:t>You extend your systems RAM by adding more DIMMs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	Q: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How might a DIMM extend itself? </a:t>
            </a:r>
            <a:r>
              <a:rPr lang="en-US" sz="1800" dirty="0">
                <a:solidFill>
                  <a:srgbClr val="3366FF"/>
                </a:solidFill>
              </a:rPr>
              <a:t>A: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The same method.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Q1: </a:t>
            </a:r>
            <a:r>
              <a:rPr lang="en-US" sz="1800" dirty="0">
                <a:solidFill>
                  <a:srgbClr val="7F7F7F"/>
                </a:solidFill>
              </a:rPr>
              <a:t>How many pins (address lines) does the smaller chip have?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Q2:</a:t>
            </a:r>
            <a:r>
              <a:rPr lang="en-US" sz="1800" dirty="0">
                <a:solidFill>
                  <a:srgbClr val="7F7F7F"/>
                </a:solidFill>
              </a:rPr>
              <a:t> The larger?</a:t>
            </a:r>
          </a:p>
          <a:p>
            <a:endParaRPr lang="en-US" sz="1800" dirty="0"/>
          </a:p>
          <a:p>
            <a:pPr lvl="1"/>
            <a:endParaRPr lang="en-US" sz="1800" dirty="0"/>
          </a:p>
          <a:p>
            <a:endParaRPr lang="en-US" sz="1800" dirty="0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>
          <a:xfrm>
            <a:off x="-557657" y="76200"/>
            <a:ext cx="10311257" cy="762000"/>
          </a:xfrm>
        </p:spPr>
        <p:txBody>
          <a:bodyPr/>
          <a:lstStyle/>
          <a:p>
            <a:r>
              <a:rPr lang="en-US" dirty="0"/>
              <a:t>Extending Memory </a:t>
            </a:r>
            <a:r>
              <a:rPr lang="en-US" i="1" dirty="0"/>
              <a:t>Addresses</a:t>
            </a:r>
          </a:p>
        </p:txBody>
      </p:sp>
      <p:sp>
        <p:nvSpPr>
          <p:cNvPr id="2" name="Rectangle 1"/>
          <p:cNvSpPr/>
          <p:nvPr/>
        </p:nvSpPr>
        <p:spPr>
          <a:xfrm>
            <a:off x="1371600" y="3581400"/>
            <a:ext cx="3048000" cy="2209800"/>
          </a:xfrm>
          <a:prstGeom prst="rect">
            <a:avLst/>
          </a:prstGeom>
          <a:solidFill>
            <a:schemeClr val="accent2">
              <a:alpha val="8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32 X 8</a:t>
            </a:r>
          </a:p>
        </p:txBody>
      </p:sp>
      <p:sp>
        <p:nvSpPr>
          <p:cNvPr id="3" name="Rectangle 2"/>
          <p:cNvSpPr/>
          <p:nvPr/>
        </p:nvSpPr>
        <p:spPr>
          <a:xfrm>
            <a:off x="6395936" y="5524500"/>
            <a:ext cx="2671864" cy="1104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89515" y="5163766"/>
            <a:ext cx="2671864" cy="1104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786336" y="4635635"/>
            <a:ext cx="2671864" cy="1104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405336" y="4152900"/>
            <a:ext cx="2671864" cy="1104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876800" y="3848100"/>
            <a:ext cx="2671864" cy="1104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16 X 8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7010400" y="3390900"/>
            <a:ext cx="0" cy="685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6858000" y="3390900"/>
            <a:ext cx="0" cy="685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6705600" y="3390900"/>
            <a:ext cx="0" cy="685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6553200" y="3390900"/>
            <a:ext cx="0" cy="685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6400800" y="3390900"/>
            <a:ext cx="0" cy="685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6248400" y="3390900"/>
            <a:ext cx="0" cy="685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6096000" y="3390900"/>
            <a:ext cx="0" cy="685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5943600" y="3390900"/>
            <a:ext cx="0" cy="685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572000" y="4229100"/>
            <a:ext cx="62975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4572000" y="4381500"/>
            <a:ext cx="62975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572000" y="4533900"/>
            <a:ext cx="62975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4572000" y="4686300"/>
            <a:ext cx="62975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4191000" y="3276600"/>
            <a:ext cx="0" cy="685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4038600" y="3276600"/>
            <a:ext cx="0" cy="685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3886200" y="3276600"/>
            <a:ext cx="0" cy="685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V="1">
            <a:off x="3733800" y="3276600"/>
            <a:ext cx="0" cy="685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3581400" y="3276600"/>
            <a:ext cx="0" cy="685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3429000" y="3276600"/>
            <a:ext cx="0" cy="685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3276600" y="3276600"/>
            <a:ext cx="0" cy="685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3124200" y="3276600"/>
            <a:ext cx="0" cy="685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990600" y="3962400"/>
            <a:ext cx="62975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990600" y="4114800"/>
            <a:ext cx="62975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990600" y="4267200"/>
            <a:ext cx="62975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990600" y="4419600"/>
            <a:ext cx="62975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990600" y="4572000"/>
            <a:ext cx="62975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09600" y="3749963"/>
            <a:ext cx="539028" cy="364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972" y="4359563"/>
            <a:ext cx="539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89972" y="3897868"/>
            <a:ext cx="539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56772" y="3911600"/>
            <a:ext cx="539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90172" y="3924300"/>
            <a:ext cx="539028" cy="364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90172" y="4610100"/>
            <a:ext cx="539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02300" y="3962400"/>
            <a:ext cx="539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76172" y="3974068"/>
            <a:ext cx="539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D7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7789718" y="3581400"/>
            <a:ext cx="0" cy="7620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7696200" y="3838425"/>
            <a:ext cx="207818" cy="1717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89718" y="3657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8246918" y="4038600"/>
            <a:ext cx="0" cy="7620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8153400" y="4295625"/>
            <a:ext cx="207818" cy="1717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246918" y="4114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cxnSp>
        <p:nvCxnSpPr>
          <p:cNvPr id="58" name="Straight Arrow Connector 57"/>
          <p:cNvCxnSpPr/>
          <p:nvPr/>
        </p:nvCxnSpPr>
        <p:spPr>
          <a:xfrm>
            <a:off x="8615318" y="4572000"/>
            <a:ext cx="0" cy="7620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8521800" y="4829025"/>
            <a:ext cx="207818" cy="1717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615318" y="46482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cxnSp>
        <p:nvCxnSpPr>
          <p:cNvPr id="61" name="Straight Arrow Connector 60"/>
          <p:cNvCxnSpPr/>
          <p:nvPr/>
        </p:nvCxnSpPr>
        <p:spPr>
          <a:xfrm>
            <a:off x="8856518" y="5029200"/>
            <a:ext cx="0" cy="7620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8763000" y="5286225"/>
            <a:ext cx="207818" cy="1717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8856518" y="51054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8706" y="7429500"/>
            <a:ext cx="4861560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366FF"/>
                </a:solidFill>
              </a:rPr>
              <a:t>A:</a:t>
            </a:r>
            <a:r>
              <a:rPr lang="en-US" dirty="0"/>
              <a:t> Fit the smaller memory into the larger.</a:t>
            </a:r>
          </a:p>
          <a:p>
            <a:r>
              <a:rPr lang="en-US" dirty="0">
                <a:solidFill>
                  <a:srgbClr val="FF0000"/>
                </a:solidFill>
              </a:rPr>
              <a:t>Q3:</a:t>
            </a:r>
            <a:r>
              <a:rPr lang="en-US" dirty="0"/>
              <a:t> But how would you arrange this?</a:t>
            </a:r>
          </a:p>
          <a:p>
            <a:r>
              <a:rPr lang="en-US" dirty="0">
                <a:solidFill>
                  <a:srgbClr val="3366FF"/>
                </a:solidFill>
              </a:rPr>
              <a:t>A1</a:t>
            </a:r>
            <a:r>
              <a:rPr lang="en-US" dirty="0"/>
              <a:t>: 4 for 16 bins</a:t>
            </a:r>
          </a:p>
          <a:p>
            <a:r>
              <a:rPr lang="en-US" dirty="0">
                <a:solidFill>
                  <a:srgbClr val="3366FF"/>
                </a:solidFill>
              </a:rPr>
              <a:t>A2:</a:t>
            </a:r>
            <a:r>
              <a:rPr lang="en-US" dirty="0"/>
              <a:t> 5 for 32 bins.</a:t>
            </a:r>
          </a:p>
        </p:txBody>
      </p:sp>
    </p:spTree>
    <p:extLst>
      <p:ext uri="{BB962C8B-B14F-4D97-AF65-F5344CB8AC3E}">
        <p14:creationId xmlns:p14="http://schemas.microsoft.com/office/powerpoint/2010/main" val="54744187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Straight Connector 54"/>
          <p:cNvCxnSpPr/>
          <p:nvPr/>
        </p:nvCxnSpPr>
        <p:spPr bwMode="auto">
          <a:xfrm>
            <a:off x="457199" y="2168631"/>
            <a:ext cx="1236639" cy="0"/>
          </a:xfrm>
          <a:prstGeom prst="line">
            <a:avLst/>
          </a:prstGeom>
          <a:ln w="0" cap="rnd">
            <a:solidFill>
              <a:srgbClr val="7030A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5611473" cy="762000"/>
          </a:xfrm>
        </p:spPr>
        <p:txBody>
          <a:bodyPr/>
          <a:lstStyle/>
          <a:p>
            <a:r>
              <a:rPr lang="en-US" dirty="0"/>
              <a:t>Paging Example</a:t>
            </a:r>
          </a:p>
        </p:txBody>
      </p:sp>
      <p:cxnSp>
        <p:nvCxnSpPr>
          <p:cNvPr id="81" name="Straight Connector 80"/>
          <p:cNvCxnSpPr/>
          <p:nvPr/>
        </p:nvCxnSpPr>
        <p:spPr bwMode="auto">
          <a:xfrm>
            <a:off x="457200" y="3017838"/>
            <a:ext cx="1236639" cy="0"/>
          </a:xfrm>
          <a:prstGeom prst="line">
            <a:avLst/>
          </a:prstGeom>
          <a:ln w="0" cap="rnd">
            <a:solidFill>
              <a:srgbClr val="7030A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 bwMode="auto">
          <a:xfrm>
            <a:off x="457200" y="3833813"/>
            <a:ext cx="1236639" cy="0"/>
          </a:xfrm>
          <a:prstGeom prst="line">
            <a:avLst/>
          </a:prstGeom>
          <a:ln w="0" cap="rnd">
            <a:solidFill>
              <a:srgbClr val="7030A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 bwMode="auto">
          <a:xfrm>
            <a:off x="457200" y="4651375"/>
            <a:ext cx="1236639" cy="0"/>
          </a:xfrm>
          <a:prstGeom prst="line">
            <a:avLst/>
          </a:prstGeom>
          <a:ln w="0" cap="rnd">
            <a:solidFill>
              <a:srgbClr val="7030A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 bwMode="auto">
          <a:xfrm>
            <a:off x="457200" y="5473700"/>
            <a:ext cx="1236639" cy="0"/>
          </a:xfrm>
          <a:prstGeom prst="line">
            <a:avLst/>
          </a:prstGeom>
          <a:ln w="0" cap="rnd">
            <a:solidFill>
              <a:srgbClr val="7030A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210" name="Group 69"/>
          <p:cNvGrpSpPr>
            <a:grpSpLocks/>
          </p:cNvGrpSpPr>
          <p:nvPr/>
        </p:nvGrpSpPr>
        <p:grpSpPr bwMode="auto">
          <a:xfrm>
            <a:off x="1911930" y="2588935"/>
            <a:ext cx="5653439" cy="916265"/>
            <a:chOff x="1676400" y="2895600"/>
            <a:chExt cx="2438399" cy="533400"/>
          </a:xfrm>
        </p:grpSpPr>
        <p:cxnSp>
          <p:nvCxnSpPr>
            <p:cNvPr id="72" name="Straight Connector 71"/>
            <p:cNvCxnSpPr/>
            <p:nvPr/>
          </p:nvCxnSpPr>
          <p:spPr>
            <a:xfrm rot="5400000">
              <a:off x="3499758" y="2287905"/>
              <a:ext cx="533400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 rot="5400000">
              <a:off x="3151415" y="2287905"/>
              <a:ext cx="533400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 rot="5400000">
              <a:off x="2803072" y="2287905"/>
              <a:ext cx="533400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rot="5400000">
              <a:off x="2106386" y="2287905"/>
              <a:ext cx="533400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rot="5400000">
              <a:off x="1409700" y="2287905"/>
              <a:ext cx="533400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 rot="5400000">
              <a:off x="1758043" y="2287905"/>
              <a:ext cx="533400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 rot="5400000">
              <a:off x="2454729" y="2287905"/>
              <a:ext cx="533400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 rot="5400000">
              <a:off x="3848099" y="2287905"/>
              <a:ext cx="533400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Rectangle 70"/>
          <p:cNvSpPr/>
          <p:nvPr/>
        </p:nvSpPr>
        <p:spPr bwMode="auto">
          <a:xfrm>
            <a:off x="1423988" y="1801813"/>
            <a:ext cx="6535737" cy="4192587"/>
          </a:xfrm>
          <a:prstGeom prst="rect">
            <a:avLst/>
          </a:prstGeom>
          <a:solidFill>
            <a:schemeClr val="accent1"/>
          </a:solidFill>
          <a:ln w="0" cap="rnd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35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endParaRPr lang="en-US" sz="4000">
              <a:solidFill>
                <a:srgbClr val="FFFFFF"/>
              </a:solidFill>
            </a:endParaRPr>
          </a:p>
        </p:txBody>
      </p:sp>
      <p:grpSp>
        <p:nvGrpSpPr>
          <p:cNvPr id="51214" name="Group 43008"/>
          <p:cNvGrpSpPr>
            <a:grpSpLocks/>
          </p:cNvGrpSpPr>
          <p:nvPr/>
        </p:nvGrpSpPr>
        <p:grpSpPr bwMode="auto">
          <a:xfrm>
            <a:off x="2275388" y="2574289"/>
            <a:ext cx="412739" cy="1119495"/>
            <a:chOff x="4157384" y="2091898"/>
            <a:chExt cx="178041" cy="651302"/>
          </a:xfrm>
        </p:grpSpPr>
        <p:cxnSp>
          <p:nvCxnSpPr>
            <p:cNvPr id="57" name="Straight Connector 56"/>
            <p:cNvCxnSpPr/>
            <p:nvPr/>
          </p:nvCxnSpPr>
          <p:spPr>
            <a:xfrm>
              <a:off x="4157384" y="2016081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4157384" y="2232452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4157384" y="2452371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4157384" y="2668742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215" name="Group 43007"/>
          <p:cNvGrpSpPr>
            <a:grpSpLocks/>
          </p:cNvGrpSpPr>
          <p:nvPr/>
        </p:nvGrpSpPr>
        <p:grpSpPr bwMode="auto">
          <a:xfrm>
            <a:off x="3208434" y="2628691"/>
            <a:ext cx="1591991" cy="331181"/>
            <a:chOff x="4423635" y="1828800"/>
            <a:chExt cx="686728" cy="192675"/>
          </a:xfrm>
        </p:grpSpPr>
        <p:cxnSp>
          <p:nvCxnSpPr>
            <p:cNvPr id="50" name="Straight Connector 49"/>
            <p:cNvCxnSpPr/>
            <p:nvPr/>
          </p:nvCxnSpPr>
          <p:spPr>
            <a:xfrm rot="5400000">
              <a:off x="5014025" y="1561715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4785115" y="1561715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4556206" y="1561715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rot="5400000">
              <a:off x="4327297" y="1561715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216" name="Group 122"/>
          <p:cNvGrpSpPr>
            <a:grpSpLocks/>
          </p:cNvGrpSpPr>
          <p:nvPr/>
        </p:nvGrpSpPr>
        <p:grpSpPr bwMode="auto">
          <a:xfrm>
            <a:off x="5798775" y="2640172"/>
            <a:ext cx="1591991" cy="331181"/>
            <a:chOff x="4423635" y="1828800"/>
            <a:chExt cx="686728" cy="192675"/>
          </a:xfrm>
        </p:grpSpPr>
        <p:cxnSp>
          <p:nvCxnSpPr>
            <p:cNvPr id="124" name="Straight Connector 123"/>
            <p:cNvCxnSpPr/>
            <p:nvPr/>
          </p:nvCxnSpPr>
          <p:spPr>
            <a:xfrm rot="5400000">
              <a:off x="5014025" y="1562130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/>
          </p:nvCxnSpPr>
          <p:spPr>
            <a:xfrm rot="5400000">
              <a:off x="4785115" y="1562130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/>
          </p:nvCxnSpPr>
          <p:spPr>
            <a:xfrm rot="5400000">
              <a:off x="4556206" y="1562130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 rot="5400000">
              <a:off x="4327297" y="1562130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Rectangle 48"/>
          <p:cNvSpPr/>
          <p:nvPr/>
        </p:nvSpPr>
        <p:spPr bwMode="auto">
          <a:xfrm>
            <a:off x="2597802" y="2385043"/>
            <a:ext cx="5173897" cy="1513970"/>
          </a:xfrm>
          <a:prstGeom prst="rect">
            <a:avLst/>
          </a:prstGeom>
          <a:solidFill>
            <a:schemeClr val="accent6"/>
          </a:solidFill>
          <a:ln w="0" cap="rnd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35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 dirty="0"/>
              <a:t>Page 0 (16x8)</a:t>
            </a:r>
          </a:p>
        </p:txBody>
      </p:sp>
      <p:grpSp>
        <p:nvGrpSpPr>
          <p:cNvPr id="51220" name="Group 129"/>
          <p:cNvGrpSpPr>
            <a:grpSpLocks/>
          </p:cNvGrpSpPr>
          <p:nvPr/>
        </p:nvGrpSpPr>
        <p:grpSpPr bwMode="auto">
          <a:xfrm>
            <a:off x="2205553" y="4503688"/>
            <a:ext cx="412620" cy="1119496"/>
            <a:chOff x="4157384" y="2091898"/>
            <a:chExt cx="178041" cy="651302"/>
          </a:xfrm>
        </p:grpSpPr>
        <p:cxnSp>
          <p:nvCxnSpPr>
            <p:cNvPr id="142" name="Straight Connector 141"/>
            <p:cNvCxnSpPr/>
            <p:nvPr/>
          </p:nvCxnSpPr>
          <p:spPr>
            <a:xfrm>
              <a:off x="4157384" y="2018012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/>
          </p:nvCxnSpPr>
          <p:spPr>
            <a:xfrm>
              <a:off x="4157384" y="2234383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/>
          </p:nvCxnSpPr>
          <p:spPr>
            <a:xfrm>
              <a:off x="4157384" y="2450754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/>
          </p:nvCxnSpPr>
          <p:spPr>
            <a:xfrm>
              <a:off x="4157384" y="2667125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221" name="Group 130"/>
          <p:cNvGrpSpPr>
            <a:grpSpLocks/>
          </p:cNvGrpSpPr>
          <p:nvPr/>
        </p:nvGrpSpPr>
        <p:grpSpPr bwMode="auto">
          <a:xfrm>
            <a:off x="3138330" y="4686540"/>
            <a:ext cx="1591531" cy="331181"/>
            <a:chOff x="4423635" y="1828800"/>
            <a:chExt cx="686728" cy="192675"/>
          </a:xfrm>
        </p:grpSpPr>
        <p:cxnSp>
          <p:nvCxnSpPr>
            <p:cNvPr id="138" name="Straight Connector 137"/>
            <p:cNvCxnSpPr/>
            <p:nvPr/>
          </p:nvCxnSpPr>
          <p:spPr>
            <a:xfrm rot="5400000">
              <a:off x="5014025" y="1558168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rot="5400000">
              <a:off x="4785115" y="1558168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rot="5400000">
              <a:off x="4556206" y="1558168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rot="5400000">
              <a:off x="4327297" y="1558168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222" name="Group 131"/>
          <p:cNvGrpSpPr>
            <a:grpSpLocks/>
          </p:cNvGrpSpPr>
          <p:nvPr/>
        </p:nvGrpSpPr>
        <p:grpSpPr bwMode="auto">
          <a:xfrm>
            <a:off x="5727923" y="4698019"/>
            <a:ext cx="1591531" cy="331181"/>
            <a:chOff x="4423635" y="1828800"/>
            <a:chExt cx="686728" cy="192675"/>
          </a:xfrm>
        </p:grpSpPr>
        <p:cxnSp>
          <p:nvCxnSpPr>
            <p:cNvPr id="134" name="Straight Connector 133"/>
            <p:cNvCxnSpPr/>
            <p:nvPr/>
          </p:nvCxnSpPr>
          <p:spPr>
            <a:xfrm rot="5400000">
              <a:off x="5014025" y="1558583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/>
            <p:nvPr/>
          </p:nvCxnSpPr>
          <p:spPr>
            <a:xfrm rot="5400000">
              <a:off x="4785115" y="1558583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/>
          </p:nvCxnSpPr>
          <p:spPr>
            <a:xfrm rot="5400000">
              <a:off x="4556206" y="1558583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rot="5400000">
              <a:off x="4327297" y="1558583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" name="Rectangle 132"/>
          <p:cNvSpPr/>
          <p:nvPr/>
        </p:nvSpPr>
        <p:spPr bwMode="auto">
          <a:xfrm>
            <a:off x="2527874" y="4314442"/>
            <a:ext cx="5172403" cy="1513971"/>
          </a:xfrm>
          <a:prstGeom prst="rect">
            <a:avLst/>
          </a:prstGeom>
          <a:solidFill>
            <a:schemeClr val="accent6"/>
          </a:solidFill>
          <a:ln w="0" cap="rnd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35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 dirty="0"/>
              <a:t>Page 1 (16x8)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9502" y="853947"/>
            <a:ext cx="8239102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Q: </a:t>
            </a:r>
            <a:r>
              <a:rPr lang="en-US" dirty="0">
                <a:solidFill>
                  <a:schemeClr val="tx1"/>
                </a:solidFill>
              </a:rPr>
              <a:t>How can we map the outer 5 address lines (A0-A4) to the two smaller chips?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8689" y="1828800"/>
            <a:ext cx="507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8689" y="2678668"/>
            <a:ext cx="507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2400" y="3429000"/>
            <a:ext cx="507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2400" y="4267200"/>
            <a:ext cx="507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78689" y="5040868"/>
            <a:ext cx="507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28800" y="2313801"/>
            <a:ext cx="507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28800" y="2667000"/>
            <a:ext cx="507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828800" y="3048000"/>
            <a:ext cx="507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28800" y="3429000"/>
            <a:ext cx="507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16100" y="4246602"/>
            <a:ext cx="507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16100" y="4599801"/>
            <a:ext cx="507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816100" y="4980801"/>
            <a:ext cx="507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16100" y="5361801"/>
            <a:ext cx="507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667000" y="3581400"/>
            <a:ext cx="60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</a:t>
            </a:r>
          </a:p>
        </p:txBody>
      </p:sp>
      <p:cxnSp>
        <p:nvCxnSpPr>
          <p:cNvPr id="87" name="Straight Connector 86"/>
          <p:cNvCxnSpPr/>
          <p:nvPr/>
        </p:nvCxnSpPr>
        <p:spPr>
          <a:xfrm>
            <a:off x="2819400" y="3623734"/>
            <a:ext cx="228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2565400" y="5526901"/>
            <a:ext cx="60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</a:t>
            </a:r>
          </a:p>
        </p:txBody>
      </p:sp>
      <p:cxnSp>
        <p:nvCxnSpPr>
          <p:cNvPr id="89" name="Straight Connector 88"/>
          <p:cNvCxnSpPr/>
          <p:nvPr/>
        </p:nvCxnSpPr>
        <p:spPr>
          <a:xfrm>
            <a:off x="2667000" y="5569235"/>
            <a:ext cx="228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914400" y="1981200"/>
            <a:ext cx="1752600" cy="4114800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" name="Rectangular Callout 102"/>
          <p:cNvSpPr/>
          <p:nvPr/>
        </p:nvSpPr>
        <p:spPr bwMode="auto">
          <a:xfrm>
            <a:off x="-291884" y="1295400"/>
            <a:ext cx="1217066" cy="612775"/>
          </a:xfrm>
          <a:prstGeom prst="wedgeRectCallout">
            <a:avLst>
              <a:gd name="adj1" fmla="val -8067"/>
              <a:gd name="adj2" fmla="val 124424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>
                <a:solidFill>
                  <a:srgbClr val="FF0000"/>
                </a:solidFill>
              </a:rPr>
              <a:t>A4  is Page/Chip  Select</a:t>
            </a:r>
          </a:p>
        </p:txBody>
      </p:sp>
      <p:cxnSp>
        <p:nvCxnSpPr>
          <p:cNvPr id="104" name="Straight Connector 103"/>
          <p:cNvCxnSpPr/>
          <p:nvPr/>
        </p:nvCxnSpPr>
        <p:spPr>
          <a:xfrm flipH="1">
            <a:off x="1733744" y="2362200"/>
            <a:ext cx="18856" cy="336577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 flipH="1">
            <a:off x="1905000" y="3801387"/>
            <a:ext cx="692804" cy="8613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 flipH="1">
            <a:off x="1720519" y="5715000"/>
            <a:ext cx="834035" cy="1297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 bwMode="auto">
          <a:xfrm>
            <a:off x="457200" y="2171700"/>
            <a:ext cx="1236639" cy="0"/>
          </a:xfrm>
          <a:prstGeom prst="line">
            <a:avLst/>
          </a:prstGeom>
          <a:ln w="76200" cap="rnd">
            <a:solidFill>
              <a:srgbClr val="FF000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>
            <a:off x="1905000" y="2362200"/>
            <a:ext cx="0" cy="14478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 108"/>
          <p:cNvSpPr/>
          <p:nvPr/>
        </p:nvSpPr>
        <p:spPr>
          <a:xfrm>
            <a:off x="1511780" y="1821268"/>
            <a:ext cx="774220" cy="563775"/>
          </a:xfrm>
          <a:prstGeom prst="rect">
            <a:avLst/>
          </a:prstGeom>
          <a:solidFill>
            <a:schemeClr val="dk1">
              <a:alpha val="75000"/>
            </a:schemeClr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10" name="Rectangular Callout 109"/>
          <p:cNvSpPr/>
          <p:nvPr/>
        </p:nvSpPr>
        <p:spPr bwMode="auto">
          <a:xfrm>
            <a:off x="1739701" y="1145096"/>
            <a:ext cx="1217066" cy="506425"/>
          </a:xfrm>
          <a:prstGeom prst="wedgeRectCallout">
            <a:avLst>
              <a:gd name="adj1" fmla="val -8067"/>
              <a:gd name="adj2" fmla="val 124424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>
                <a:solidFill>
                  <a:srgbClr val="FF0000"/>
                </a:solidFill>
              </a:rPr>
              <a:t>What's inside this?</a:t>
            </a:r>
          </a:p>
        </p:txBody>
      </p:sp>
      <p:sp>
        <p:nvSpPr>
          <p:cNvPr id="90" name="Oval 89"/>
          <p:cNvSpPr/>
          <p:nvPr/>
        </p:nvSpPr>
        <p:spPr>
          <a:xfrm>
            <a:off x="2438400" y="3733800"/>
            <a:ext cx="152400" cy="1524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/>
          <p:cNvSpPr/>
          <p:nvPr/>
        </p:nvSpPr>
        <p:spPr>
          <a:xfrm>
            <a:off x="2404534" y="5638800"/>
            <a:ext cx="152400" cy="1524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1511780" y="1803400"/>
            <a:ext cx="774220" cy="563775"/>
          </a:xfrm>
          <a:prstGeom prst="rect">
            <a:avLst/>
          </a:prstGeom>
          <a:solidFill>
            <a:schemeClr val="dk1">
              <a:alpha val="75000"/>
            </a:schemeClr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1x2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Decoder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033680" y="56048"/>
            <a:ext cx="1034120" cy="76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3" name="Straight Connector 112"/>
          <p:cNvCxnSpPr/>
          <p:nvPr/>
        </p:nvCxnSpPr>
        <p:spPr>
          <a:xfrm>
            <a:off x="7271680" y="208448"/>
            <a:ext cx="1676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/>
          <p:nvPr/>
        </p:nvCxnSpPr>
        <p:spPr>
          <a:xfrm flipV="1">
            <a:off x="8948080" y="208448"/>
            <a:ext cx="0" cy="10668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 flipV="1">
            <a:off x="8414680" y="665648"/>
            <a:ext cx="0" cy="62975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8338480" y="589448"/>
            <a:ext cx="152400" cy="152400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7" name="Straight Connector 116"/>
          <p:cNvCxnSpPr/>
          <p:nvPr/>
        </p:nvCxnSpPr>
        <p:spPr>
          <a:xfrm flipV="1">
            <a:off x="8414680" y="208448"/>
            <a:ext cx="0" cy="26707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Isosceles Triangle 117"/>
          <p:cNvSpPr/>
          <p:nvPr/>
        </p:nvSpPr>
        <p:spPr>
          <a:xfrm rot="10800000">
            <a:off x="8224180" y="310048"/>
            <a:ext cx="381000" cy="304800"/>
          </a:xfrm>
          <a:prstGeom prst="triangl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/>
          <p:cNvSpPr/>
          <p:nvPr/>
        </p:nvSpPr>
        <p:spPr>
          <a:xfrm>
            <a:off x="5715000" y="284648"/>
            <a:ext cx="2290007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/>
              <a:t>Rule: if you can make it, you can black box it 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759327" y="6081236"/>
            <a:ext cx="5308473" cy="7386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/>
              <a:t>Adding Pages of chips in the </a:t>
            </a:r>
            <a:r>
              <a:rPr lang="en-US" sz="1400" b="1" dirty="0">
                <a:solidFill>
                  <a:srgbClr val="FF6600"/>
                </a:solidFill>
              </a:rPr>
              <a:t>Y-Axis</a:t>
            </a:r>
            <a:r>
              <a:rPr lang="en-US" sz="1400" dirty="0"/>
              <a:t> Increases</a:t>
            </a:r>
            <a:r>
              <a:rPr lang="mr-IN" sz="1400" dirty="0"/>
              <a:t>…</a:t>
            </a:r>
            <a:endParaRPr lang="en-US" sz="1400" dirty="0"/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 the # of </a:t>
            </a:r>
            <a:r>
              <a:rPr lang="en-US" sz="1400" b="1" dirty="0">
                <a:solidFill>
                  <a:srgbClr val="FF6600"/>
                </a:solidFill>
              </a:rPr>
              <a:t>Mappable Locations</a:t>
            </a:r>
            <a:r>
              <a:rPr lang="en-US" sz="1400" dirty="0"/>
              <a:t>, thus </a:t>
            </a:r>
            <a:r>
              <a:rPr lang="en-US" sz="1400" b="1" dirty="0">
                <a:solidFill>
                  <a:srgbClr val="FF0000"/>
                </a:solidFill>
              </a:rPr>
              <a:t>Total Memory Capacity</a:t>
            </a:r>
            <a:r>
              <a:rPr lang="en-US" sz="1400" dirty="0"/>
              <a:t> 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the number of </a:t>
            </a:r>
            <a:r>
              <a:rPr lang="en-US" sz="1400" b="1" dirty="0">
                <a:solidFill>
                  <a:srgbClr val="FF6600"/>
                </a:solidFill>
              </a:rPr>
              <a:t>address wires </a:t>
            </a:r>
            <a:r>
              <a:rPr lang="en-US" sz="1400" dirty="0"/>
              <a:t>to pick a page</a:t>
            </a:r>
          </a:p>
        </p:txBody>
      </p:sp>
      <p:sp>
        <p:nvSpPr>
          <p:cNvPr id="56" name="Down Arrow 55"/>
          <p:cNvSpPr/>
          <p:nvPr/>
        </p:nvSpPr>
        <p:spPr>
          <a:xfrm>
            <a:off x="8300897" y="1840230"/>
            <a:ext cx="679018" cy="4343400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Address  </a:t>
            </a:r>
          </a:p>
          <a:p>
            <a:pPr algn="ctr"/>
            <a:r>
              <a:rPr lang="en-US" b="1" dirty="0">
                <a:solidFill>
                  <a:srgbClr val="FF6600"/>
                </a:solidFill>
              </a:rPr>
              <a:t> Space</a:t>
            </a:r>
          </a:p>
        </p:txBody>
      </p:sp>
    </p:spTree>
    <p:extLst>
      <p:ext uri="{BB962C8B-B14F-4D97-AF65-F5344CB8AC3E}">
        <p14:creationId xmlns:p14="http://schemas.microsoft.com/office/powerpoint/2010/main" val="130147573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5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2" grpId="0" animBg="1"/>
      <p:bldP spid="2" grpId="1" animBg="1"/>
      <p:bldP spid="103" grpId="0" animBg="1"/>
      <p:bldP spid="109" grpId="0" animBg="1"/>
      <p:bldP spid="110" grpId="0" animBg="1"/>
      <p:bldP spid="111" grpId="0" animBg="1"/>
      <p:bldP spid="112" grpId="0" animBg="1"/>
      <p:bldP spid="116" grpId="0" animBg="1"/>
      <p:bldP spid="118" grpId="0" animBg="1"/>
      <p:bldP spid="119" grpId="0" animBg="1"/>
      <p:bldP spid="121" grpId="0" animBg="1"/>
      <p:bldP spid="5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wn Arrow 4"/>
          <p:cNvSpPr/>
          <p:nvPr/>
        </p:nvSpPr>
        <p:spPr>
          <a:xfrm>
            <a:off x="702388" y="1219200"/>
            <a:ext cx="745412" cy="4777740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Y </a:t>
            </a:r>
          </a:p>
          <a:p>
            <a:pPr algn="ctr"/>
            <a:endParaRPr lang="en-US" b="1" dirty="0">
              <a:solidFill>
                <a:srgbClr val="FF6600"/>
              </a:solidFill>
            </a:endParaRPr>
          </a:p>
          <a:p>
            <a:pPr algn="ctr"/>
            <a:r>
              <a:rPr lang="en-US" b="1" dirty="0">
                <a:solidFill>
                  <a:srgbClr val="FF6600"/>
                </a:solidFill>
              </a:rPr>
              <a:t>Ax</a:t>
            </a:r>
          </a:p>
          <a:p>
            <a:pPr algn="ctr"/>
            <a:r>
              <a:rPr lang="en-US" b="1" dirty="0" err="1">
                <a:solidFill>
                  <a:srgbClr val="FF6600"/>
                </a:solidFill>
              </a:rPr>
              <a:t>i</a:t>
            </a:r>
            <a:endParaRPr lang="en-US" b="1" dirty="0">
              <a:solidFill>
                <a:srgbClr val="FF6600"/>
              </a:solidFill>
            </a:endParaRPr>
          </a:p>
          <a:p>
            <a:pPr algn="ctr"/>
            <a:r>
              <a:rPr lang="en-US" b="1" dirty="0">
                <a:solidFill>
                  <a:srgbClr val="FF6600"/>
                </a:solidFill>
              </a:rPr>
              <a:t>s</a:t>
            </a:r>
          </a:p>
          <a:p>
            <a:pPr algn="ctr"/>
            <a:r>
              <a:rPr lang="en-US" dirty="0"/>
              <a:t>-</a:t>
            </a:r>
            <a:r>
              <a:rPr lang="en-US" b="1" dirty="0" err="1">
                <a:solidFill>
                  <a:srgbClr val="FF6600"/>
                </a:solidFill>
              </a:rPr>
              <a:t>Addr</a:t>
            </a:r>
            <a:r>
              <a:rPr lang="en-US" b="1" dirty="0">
                <a:solidFill>
                  <a:srgbClr val="FF6600"/>
                </a:solidFill>
              </a:rPr>
              <a:t> Bus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371600" y="990600"/>
            <a:ext cx="6553200" cy="838200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FF"/>
                </a:solidFill>
              </a:rPr>
              <a:t>X Axis</a:t>
            </a:r>
            <a:r>
              <a:rPr lang="en-US" dirty="0"/>
              <a:t> Determines </a:t>
            </a:r>
            <a:r>
              <a:rPr lang="en-US" b="1" dirty="0">
                <a:solidFill>
                  <a:srgbClr val="0000FF"/>
                </a:solidFill>
              </a:rPr>
              <a:t>Data Stride</a:t>
            </a:r>
            <a:r>
              <a:rPr lang="en-US" dirty="0"/>
              <a:t> or Word Length (Data Bus)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6049479"/>
            <a:ext cx="41148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Determines the </a:t>
            </a:r>
            <a:r>
              <a:rPr lang="en-US" b="1" dirty="0">
                <a:solidFill>
                  <a:srgbClr val="FF6600"/>
                </a:solidFill>
              </a:rPr>
              <a:t>depth</a:t>
            </a:r>
            <a:r>
              <a:rPr lang="en-US" dirty="0"/>
              <a:t> of the  Address Space thus size of the Address Bus</a:t>
            </a:r>
          </a:p>
        </p:txBody>
      </p:sp>
      <p:cxnSp>
        <p:nvCxnSpPr>
          <p:cNvPr id="7" name="Straight Connector 6"/>
          <p:cNvCxnSpPr/>
          <p:nvPr/>
        </p:nvCxnSpPr>
        <p:spPr bwMode="auto">
          <a:xfrm>
            <a:off x="1295400" y="2361865"/>
            <a:ext cx="533278" cy="0"/>
          </a:xfrm>
          <a:prstGeom prst="line">
            <a:avLst/>
          </a:prstGeom>
          <a:ln w="0" cap="rnd">
            <a:solidFill>
              <a:srgbClr val="7030A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 bwMode="auto">
          <a:xfrm>
            <a:off x="1295400" y="2837426"/>
            <a:ext cx="533278" cy="0"/>
          </a:xfrm>
          <a:prstGeom prst="line">
            <a:avLst/>
          </a:prstGeom>
          <a:ln w="0" cap="rnd">
            <a:solidFill>
              <a:srgbClr val="7030A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 bwMode="auto">
          <a:xfrm>
            <a:off x="1295400" y="3312987"/>
            <a:ext cx="533278" cy="0"/>
          </a:xfrm>
          <a:prstGeom prst="line">
            <a:avLst/>
          </a:prstGeom>
          <a:ln w="0" cap="rnd">
            <a:solidFill>
              <a:srgbClr val="7030A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 bwMode="auto">
          <a:xfrm>
            <a:off x="1295400" y="3788549"/>
            <a:ext cx="533278" cy="0"/>
          </a:xfrm>
          <a:prstGeom prst="line">
            <a:avLst/>
          </a:prstGeom>
          <a:ln w="0" cap="rnd">
            <a:solidFill>
              <a:srgbClr val="7030A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 bwMode="auto">
          <a:xfrm>
            <a:off x="1295400" y="4264110"/>
            <a:ext cx="533278" cy="0"/>
          </a:xfrm>
          <a:prstGeom prst="line">
            <a:avLst/>
          </a:prstGeom>
          <a:ln w="0" cap="rnd">
            <a:solidFill>
              <a:srgbClr val="7030A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auto">
          <a:xfrm rot="5400000">
            <a:off x="3745505" y="1866963"/>
            <a:ext cx="533526" cy="0"/>
          </a:xfrm>
          <a:prstGeom prst="line">
            <a:avLst/>
          </a:prstGeom>
          <a:ln w="0" cap="rnd">
            <a:solidFill>
              <a:srgbClr val="FF000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auto">
          <a:xfrm rot="5400000">
            <a:off x="3397242" y="1866963"/>
            <a:ext cx="533526" cy="0"/>
          </a:xfrm>
          <a:prstGeom prst="line">
            <a:avLst/>
          </a:prstGeom>
          <a:ln w="0" cap="rnd">
            <a:solidFill>
              <a:srgbClr val="FF000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auto">
          <a:xfrm rot="5400000">
            <a:off x="3048979" y="1866963"/>
            <a:ext cx="533526" cy="0"/>
          </a:xfrm>
          <a:prstGeom prst="line">
            <a:avLst/>
          </a:prstGeom>
          <a:ln w="0" cap="rnd">
            <a:solidFill>
              <a:srgbClr val="FF000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auto">
          <a:xfrm rot="5400000">
            <a:off x="2352453" y="1866963"/>
            <a:ext cx="533526" cy="0"/>
          </a:xfrm>
          <a:prstGeom prst="line">
            <a:avLst/>
          </a:prstGeom>
          <a:ln w="0" cap="rnd">
            <a:solidFill>
              <a:srgbClr val="FF000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auto">
          <a:xfrm rot="5400000">
            <a:off x="1655927" y="1866963"/>
            <a:ext cx="533526" cy="0"/>
          </a:xfrm>
          <a:prstGeom prst="line">
            <a:avLst/>
          </a:prstGeom>
          <a:ln w="0" cap="rnd">
            <a:solidFill>
              <a:srgbClr val="FF000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auto">
          <a:xfrm rot="5400000">
            <a:off x="2004190" y="1866963"/>
            <a:ext cx="533526" cy="0"/>
          </a:xfrm>
          <a:prstGeom prst="line">
            <a:avLst/>
          </a:prstGeom>
          <a:ln w="0" cap="rnd">
            <a:solidFill>
              <a:srgbClr val="FF000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 bwMode="auto">
          <a:xfrm rot="5400000">
            <a:off x="2700716" y="1866963"/>
            <a:ext cx="533526" cy="0"/>
          </a:xfrm>
          <a:prstGeom prst="line">
            <a:avLst/>
          </a:prstGeom>
          <a:ln w="0" cap="rnd">
            <a:solidFill>
              <a:srgbClr val="FF000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auto">
          <a:xfrm rot="5400000">
            <a:off x="4093766" y="1866963"/>
            <a:ext cx="533526" cy="0"/>
          </a:xfrm>
          <a:prstGeom prst="line">
            <a:avLst/>
          </a:prstGeom>
          <a:ln w="0" cap="rnd">
            <a:solidFill>
              <a:srgbClr val="FF000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 bwMode="auto">
          <a:xfrm>
            <a:off x="1711972" y="2099684"/>
            <a:ext cx="2818753" cy="2438979"/>
          </a:xfrm>
          <a:prstGeom prst="rect">
            <a:avLst/>
          </a:prstGeom>
          <a:solidFill>
            <a:schemeClr val="accent1"/>
          </a:solidFill>
          <a:ln w="0" cap="rnd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35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endParaRPr lang="en-US" sz="4000">
              <a:solidFill>
                <a:srgbClr val="FFFFFF"/>
              </a:solidFill>
            </a:endParaRPr>
          </a:p>
        </p:txBody>
      </p:sp>
      <p:grpSp>
        <p:nvGrpSpPr>
          <p:cNvPr id="21" name="Group 43008"/>
          <p:cNvGrpSpPr>
            <a:grpSpLocks/>
          </p:cNvGrpSpPr>
          <p:nvPr/>
        </p:nvGrpSpPr>
        <p:grpSpPr bwMode="auto">
          <a:xfrm>
            <a:off x="2079625" y="2731640"/>
            <a:ext cx="177934" cy="651175"/>
            <a:chOff x="4157384" y="2091898"/>
            <a:chExt cx="178041" cy="651302"/>
          </a:xfrm>
        </p:grpSpPr>
        <p:cxnSp>
          <p:nvCxnSpPr>
            <p:cNvPr id="22" name="Straight Connector 21"/>
            <p:cNvCxnSpPr/>
            <p:nvPr/>
          </p:nvCxnSpPr>
          <p:spPr>
            <a:xfrm>
              <a:off x="4157384" y="1959859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4157384" y="2179391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4157384" y="2398924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4157384" y="2612358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43007"/>
          <p:cNvGrpSpPr>
            <a:grpSpLocks/>
          </p:cNvGrpSpPr>
          <p:nvPr/>
        </p:nvGrpSpPr>
        <p:grpSpPr bwMode="auto">
          <a:xfrm>
            <a:off x="2345716" y="2667000"/>
            <a:ext cx="686315" cy="192638"/>
            <a:chOff x="4423635" y="1828800"/>
            <a:chExt cx="686728" cy="192675"/>
          </a:xfrm>
        </p:grpSpPr>
        <p:cxnSp>
          <p:nvCxnSpPr>
            <p:cNvPr id="27" name="Straight Connector 26"/>
            <p:cNvCxnSpPr/>
            <p:nvPr/>
          </p:nvCxnSpPr>
          <p:spPr>
            <a:xfrm rot="5400000">
              <a:off x="5014025" y="1500086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>
              <a:off x="4785115" y="1500086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5400000">
              <a:off x="4556206" y="1500086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5400000">
              <a:off x="4327297" y="1500086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Rectangle 30"/>
          <p:cNvSpPr/>
          <p:nvPr/>
        </p:nvSpPr>
        <p:spPr bwMode="auto">
          <a:xfrm>
            <a:off x="2218619" y="2438673"/>
            <a:ext cx="940506" cy="880629"/>
          </a:xfrm>
          <a:prstGeom prst="rect">
            <a:avLst/>
          </a:prstGeom>
          <a:solidFill>
            <a:schemeClr val="accent6"/>
          </a:solidFill>
          <a:ln w="0" cap="rnd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35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/>
              <a:t>16 X 4</a:t>
            </a:r>
          </a:p>
        </p:txBody>
      </p:sp>
      <p:grpSp>
        <p:nvGrpSpPr>
          <p:cNvPr id="32" name="Group 85"/>
          <p:cNvGrpSpPr>
            <a:grpSpLocks/>
          </p:cNvGrpSpPr>
          <p:nvPr/>
        </p:nvGrpSpPr>
        <p:grpSpPr bwMode="auto">
          <a:xfrm>
            <a:off x="3276600" y="2743200"/>
            <a:ext cx="177934" cy="651175"/>
            <a:chOff x="4157384" y="2091898"/>
            <a:chExt cx="178041" cy="651302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4157384" y="1959859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4157384" y="2179391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4157384" y="2398924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4157384" y="2612358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86"/>
          <p:cNvGrpSpPr>
            <a:grpSpLocks/>
          </p:cNvGrpSpPr>
          <p:nvPr/>
        </p:nvGrpSpPr>
        <p:grpSpPr bwMode="auto">
          <a:xfrm>
            <a:off x="3542691" y="2667000"/>
            <a:ext cx="686315" cy="192638"/>
            <a:chOff x="4423635" y="1828800"/>
            <a:chExt cx="686728" cy="192675"/>
          </a:xfrm>
        </p:grpSpPr>
        <p:cxnSp>
          <p:nvCxnSpPr>
            <p:cNvPr id="38" name="Straight Connector 37"/>
            <p:cNvCxnSpPr/>
            <p:nvPr/>
          </p:nvCxnSpPr>
          <p:spPr>
            <a:xfrm rot="5400000">
              <a:off x="5014025" y="1500086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4785115" y="1500086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4556206" y="1500086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4327297" y="1500086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 41"/>
          <p:cNvSpPr/>
          <p:nvPr/>
        </p:nvSpPr>
        <p:spPr bwMode="auto">
          <a:xfrm>
            <a:off x="3415594" y="2438673"/>
            <a:ext cx="940506" cy="880629"/>
          </a:xfrm>
          <a:prstGeom prst="rect">
            <a:avLst/>
          </a:prstGeom>
          <a:solidFill>
            <a:schemeClr val="accent6"/>
          </a:solidFill>
          <a:ln w="0" cap="rnd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35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/>
              <a:t>16 X 4</a:t>
            </a:r>
          </a:p>
        </p:txBody>
      </p:sp>
      <p:grpSp>
        <p:nvGrpSpPr>
          <p:cNvPr id="43" name="Group 97"/>
          <p:cNvGrpSpPr>
            <a:grpSpLocks/>
          </p:cNvGrpSpPr>
          <p:nvPr/>
        </p:nvGrpSpPr>
        <p:grpSpPr bwMode="auto">
          <a:xfrm>
            <a:off x="2076450" y="3844624"/>
            <a:ext cx="177934" cy="651176"/>
            <a:chOff x="4157384" y="2091898"/>
            <a:chExt cx="178041" cy="651302"/>
          </a:xfrm>
        </p:grpSpPr>
        <p:cxnSp>
          <p:nvCxnSpPr>
            <p:cNvPr id="44" name="Straight Connector 43"/>
            <p:cNvCxnSpPr/>
            <p:nvPr/>
          </p:nvCxnSpPr>
          <p:spPr>
            <a:xfrm>
              <a:off x="4157384" y="1962615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4157384" y="2182147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4157384" y="2395581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4157384" y="2615114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98"/>
          <p:cNvGrpSpPr>
            <a:grpSpLocks/>
          </p:cNvGrpSpPr>
          <p:nvPr/>
        </p:nvGrpSpPr>
        <p:grpSpPr bwMode="auto">
          <a:xfrm>
            <a:off x="2342541" y="3810179"/>
            <a:ext cx="686315" cy="192638"/>
            <a:chOff x="4423635" y="1828800"/>
            <a:chExt cx="686728" cy="192675"/>
          </a:xfrm>
        </p:grpSpPr>
        <p:cxnSp>
          <p:nvCxnSpPr>
            <p:cNvPr id="49" name="Straight Connector 48"/>
            <p:cNvCxnSpPr/>
            <p:nvPr/>
          </p:nvCxnSpPr>
          <p:spPr>
            <a:xfrm rot="5400000">
              <a:off x="5014025" y="1503135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5400000">
              <a:off x="4785115" y="1503135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5400000">
              <a:off x="4556206" y="1503135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4327297" y="1503135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Rectangle 52"/>
          <p:cNvSpPr/>
          <p:nvPr/>
        </p:nvSpPr>
        <p:spPr bwMode="auto">
          <a:xfrm>
            <a:off x="2215444" y="3551656"/>
            <a:ext cx="940506" cy="880630"/>
          </a:xfrm>
          <a:prstGeom prst="rect">
            <a:avLst/>
          </a:prstGeom>
          <a:solidFill>
            <a:schemeClr val="accent6"/>
          </a:solidFill>
          <a:ln w="0" cap="rnd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35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/>
              <a:t>16 X 4</a:t>
            </a:r>
          </a:p>
        </p:txBody>
      </p:sp>
      <p:grpSp>
        <p:nvGrpSpPr>
          <p:cNvPr id="54" name="Group 109"/>
          <p:cNvGrpSpPr>
            <a:grpSpLocks/>
          </p:cNvGrpSpPr>
          <p:nvPr/>
        </p:nvGrpSpPr>
        <p:grpSpPr bwMode="auto">
          <a:xfrm>
            <a:off x="3276600" y="3886596"/>
            <a:ext cx="177934" cy="651781"/>
            <a:chOff x="4157384" y="2091898"/>
            <a:chExt cx="178041" cy="651302"/>
          </a:xfrm>
        </p:grpSpPr>
        <p:cxnSp>
          <p:nvCxnSpPr>
            <p:cNvPr id="55" name="Straight Connector 54"/>
            <p:cNvCxnSpPr/>
            <p:nvPr/>
          </p:nvCxnSpPr>
          <p:spPr>
            <a:xfrm>
              <a:off x="4157384" y="1962808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4157384" y="2182136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4157384" y="2395372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4157384" y="2614701"/>
              <a:ext cx="178041" cy="0"/>
            </a:xfrm>
            <a:prstGeom prst="line">
              <a:avLst/>
            </a:prstGeom>
            <a:ln w="0" cap="rnd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110"/>
          <p:cNvGrpSpPr>
            <a:grpSpLocks/>
          </p:cNvGrpSpPr>
          <p:nvPr/>
        </p:nvGrpSpPr>
        <p:grpSpPr bwMode="auto">
          <a:xfrm>
            <a:off x="3542691" y="3810000"/>
            <a:ext cx="686315" cy="192817"/>
            <a:chOff x="4423635" y="1828800"/>
            <a:chExt cx="686728" cy="192675"/>
          </a:xfrm>
        </p:grpSpPr>
        <p:cxnSp>
          <p:nvCxnSpPr>
            <p:cNvPr id="60" name="Straight Connector 59"/>
            <p:cNvCxnSpPr/>
            <p:nvPr/>
          </p:nvCxnSpPr>
          <p:spPr>
            <a:xfrm rot="5400000">
              <a:off x="5014025" y="1503616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rot="5400000">
              <a:off x="4785115" y="1503616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rot="5400000">
              <a:off x="4556206" y="1503616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4327297" y="1503616"/>
              <a:ext cx="192675" cy="0"/>
            </a:xfrm>
            <a:prstGeom prst="line">
              <a:avLst/>
            </a:prstGeom>
            <a:ln w="0" cap="rnd">
              <a:solidFill>
                <a:srgbClr val="FF0000"/>
              </a:solidFill>
            </a:ln>
            <a:scene3d>
              <a:camera prst="orthographicFront"/>
              <a:lightRig rig="threePt" dir="t"/>
            </a:scene3d>
            <a:sp3d extrusionH="31750" contourW="44450">
              <a:bevelT prst="relaxedInset"/>
              <a:bevelB prst="slope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Rectangle 63"/>
          <p:cNvSpPr/>
          <p:nvPr/>
        </p:nvSpPr>
        <p:spPr bwMode="auto">
          <a:xfrm>
            <a:off x="3415594" y="3538137"/>
            <a:ext cx="940506" cy="881449"/>
          </a:xfrm>
          <a:prstGeom prst="rect">
            <a:avLst/>
          </a:prstGeom>
          <a:solidFill>
            <a:schemeClr val="accent6"/>
          </a:solidFill>
          <a:ln w="0" cap="rnd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35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/>
              <a:t>16 X 4</a:t>
            </a:r>
          </a:p>
        </p:txBody>
      </p:sp>
      <p:sp>
        <p:nvSpPr>
          <p:cNvPr id="68" name="Rectangle 2"/>
          <p:cNvSpPr>
            <a:spLocks noGrp="1" noChangeArrowheads="1"/>
          </p:cNvSpPr>
          <p:nvPr>
            <p:ph type="title"/>
          </p:nvPr>
        </p:nvSpPr>
        <p:spPr>
          <a:xfrm>
            <a:off x="-76200" y="152400"/>
            <a:ext cx="9373870" cy="762000"/>
          </a:xfrm>
        </p:spPr>
        <p:txBody>
          <a:bodyPr/>
          <a:lstStyle/>
          <a:p>
            <a:r>
              <a:rPr lang="en-US" dirty="0"/>
              <a:t>Y by X Memory Dimensions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19650" y="2301310"/>
            <a:ext cx="4348150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6600"/>
                </a:solidFill>
              </a:rPr>
              <a:t>Y locations </a:t>
            </a:r>
            <a:r>
              <a:rPr lang="en-US" dirty="0"/>
              <a:t>&amp; </a:t>
            </a:r>
            <a:r>
              <a:rPr lang="en-US" b="1" dirty="0">
                <a:solidFill>
                  <a:srgbClr val="0000FF"/>
                </a:solidFill>
              </a:rPr>
              <a:t>X bits</a:t>
            </a:r>
            <a:r>
              <a:rPr lang="en-US" dirty="0"/>
              <a:t> per location</a:t>
            </a:r>
          </a:p>
          <a:p>
            <a:r>
              <a:rPr lang="en-US" dirty="0">
                <a:solidFill>
                  <a:srgbClr val="FF0000"/>
                </a:solidFill>
              </a:rPr>
              <a:t>Q:</a:t>
            </a:r>
            <a:r>
              <a:rPr lang="en-US" dirty="0"/>
              <a:t> What is the </a:t>
            </a:r>
            <a:r>
              <a:rPr lang="en-US" b="1" dirty="0">
                <a:solidFill>
                  <a:srgbClr val="FF6600"/>
                </a:solidFill>
              </a:rPr>
              <a:t>depth</a:t>
            </a:r>
            <a:r>
              <a:rPr lang="en-US" dirty="0"/>
              <a:t> &amp; </a:t>
            </a:r>
            <a:r>
              <a:rPr lang="en-US" b="1" dirty="0">
                <a:solidFill>
                  <a:srgbClr val="0000FF"/>
                </a:solidFill>
              </a:rPr>
              <a:t>width</a:t>
            </a:r>
            <a:r>
              <a:rPr lang="en-US" dirty="0"/>
              <a:t> here?</a:t>
            </a:r>
          </a:p>
          <a:p>
            <a:endParaRPr lang="en-US" dirty="0"/>
          </a:p>
          <a:p>
            <a:r>
              <a:rPr lang="en-US" dirty="0"/>
              <a:t>Consider various </a:t>
            </a:r>
            <a:r>
              <a:rPr lang="en-US" b="1" dirty="0">
                <a:solidFill>
                  <a:srgbClr val="FF6600"/>
                </a:solidFill>
              </a:rPr>
              <a:t>Y</a:t>
            </a:r>
            <a:r>
              <a:rPr lang="en-US" dirty="0"/>
              <a:t> x X configurations: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FF6600"/>
                </a:solidFill>
              </a:rPr>
              <a:t>64M</a:t>
            </a:r>
            <a:r>
              <a:rPr lang="en-US" dirty="0"/>
              <a:t> x </a:t>
            </a:r>
            <a:r>
              <a:rPr lang="en-US" b="1" dirty="0">
                <a:solidFill>
                  <a:srgbClr val="0000FF"/>
                </a:solidFill>
              </a:rPr>
              <a:t>8</a:t>
            </a:r>
            <a:r>
              <a:rPr lang="en-US" dirty="0"/>
              <a:t>  //64MB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FF6600"/>
                </a:solidFill>
              </a:rPr>
              <a:t>4G</a:t>
            </a:r>
            <a:r>
              <a:rPr lang="en-US" dirty="0"/>
              <a:t> x </a:t>
            </a:r>
            <a:r>
              <a:rPr lang="en-US" b="1" dirty="0">
                <a:solidFill>
                  <a:srgbClr val="0000FF"/>
                </a:solidFill>
              </a:rPr>
              <a:t>32</a:t>
            </a:r>
            <a:r>
              <a:rPr lang="en-US" dirty="0"/>
              <a:t>  //16GB as 4Gx4B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FF6600"/>
                </a:solidFill>
              </a:rPr>
              <a:t>16M</a:t>
            </a:r>
            <a:r>
              <a:rPr lang="en-US" dirty="0"/>
              <a:t> x </a:t>
            </a:r>
            <a:r>
              <a:rPr lang="en-US" b="1" dirty="0">
                <a:solidFill>
                  <a:srgbClr val="0000FF"/>
                </a:solidFill>
              </a:rPr>
              <a:t>16</a:t>
            </a:r>
            <a:r>
              <a:rPr lang="en-US" dirty="0"/>
              <a:t> //32MB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FF6600"/>
                </a:solidFill>
              </a:rPr>
              <a:t>128K</a:t>
            </a:r>
            <a:r>
              <a:rPr lang="en-US" dirty="0"/>
              <a:t> x </a:t>
            </a:r>
            <a:r>
              <a:rPr lang="en-US" b="1" dirty="0">
                <a:solidFill>
                  <a:srgbClr val="0000FF"/>
                </a:solidFill>
              </a:rPr>
              <a:t>128</a:t>
            </a:r>
            <a:r>
              <a:rPr lang="en-US" dirty="0"/>
              <a:t>  //Vector </a:t>
            </a:r>
            <a:r>
              <a:rPr lang="en-US" dirty="0" err="1"/>
              <a:t>proc</a:t>
            </a:r>
            <a:r>
              <a:rPr lang="en-US" dirty="0"/>
              <a:t>, VMEM</a:t>
            </a:r>
          </a:p>
          <a:p>
            <a:endParaRPr lang="en-US" dirty="0"/>
          </a:p>
        </p:txBody>
      </p:sp>
      <p:sp>
        <p:nvSpPr>
          <p:cNvPr id="65" name="TextBox 64"/>
          <p:cNvSpPr txBox="1"/>
          <p:nvPr/>
        </p:nvSpPr>
        <p:spPr>
          <a:xfrm>
            <a:off x="4724400" y="5486400"/>
            <a:ext cx="2446145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6600"/>
                </a:solidFill>
              </a:rPr>
              <a:t>Depth(Y)</a:t>
            </a:r>
            <a:r>
              <a:rPr lang="en-US" dirty="0"/>
              <a:t> x </a:t>
            </a:r>
            <a:r>
              <a:rPr lang="en-US" b="1" dirty="0">
                <a:solidFill>
                  <a:srgbClr val="0000FF"/>
                </a:solidFill>
              </a:rPr>
              <a:t>Stride(X)</a:t>
            </a:r>
          </a:p>
        </p:txBody>
      </p:sp>
    </p:spTree>
    <p:extLst>
      <p:ext uri="{BB962C8B-B14F-4D97-AF65-F5344CB8AC3E}">
        <p14:creationId xmlns:p14="http://schemas.microsoft.com/office/powerpoint/2010/main" val="3674137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69963"/>
            <a:ext cx="9220200" cy="5389562"/>
          </a:xfrm>
        </p:spPr>
        <p:txBody>
          <a:bodyPr/>
          <a:lstStyle/>
          <a:p>
            <a:r>
              <a:rPr lang="en-US" sz="2000" dirty="0"/>
              <a:t>Each memory chip can be expressed with its capacity (addressable spaces x data bits) in bits</a:t>
            </a:r>
          </a:p>
          <a:p>
            <a:r>
              <a:rPr lang="en-US" sz="2000" b="1" i="1" dirty="0">
                <a:solidFill>
                  <a:srgbClr val="FF6600"/>
                </a:solidFill>
              </a:rPr>
              <a:t>Y</a:t>
            </a:r>
            <a:r>
              <a:rPr lang="en-US" sz="2000" b="1" i="1" dirty="0">
                <a:solidFill>
                  <a:srgbClr val="0000FF"/>
                </a:solidFill>
              </a:rPr>
              <a:t> </a:t>
            </a:r>
            <a:r>
              <a:rPr lang="en-US" sz="2000" b="1" i="1" dirty="0">
                <a:solidFill>
                  <a:schemeClr val="tx1"/>
                </a:solidFill>
              </a:rPr>
              <a:t>x</a:t>
            </a:r>
            <a:r>
              <a:rPr lang="en-US" sz="2000" b="1" i="1" dirty="0">
                <a:solidFill>
                  <a:srgbClr val="0000FF"/>
                </a:solidFill>
              </a:rPr>
              <a:t> X</a:t>
            </a:r>
            <a:r>
              <a:rPr lang="en-US" sz="2000" i="1" dirty="0"/>
              <a:t> </a:t>
            </a:r>
            <a:r>
              <a:rPr lang="en-US" sz="2000" dirty="0"/>
              <a:t>capacity indicates </a:t>
            </a:r>
            <a:r>
              <a:rPr lang="en-US" sz="2000" b="1" i="1" dirty="0">
                <a:solidFill>
                  <a:srgbClr val="FF6600"/>
                </a:solidFill>
              </a:rPr>
              <a:t>Y</a:t>
            </a:r>
            <a:r>
              <a:rPr lang="en-US" sz="2000" b="1" dirty="0">
                <a:solidFill>
                  <a:srgbClr val="FF6600"/>
                </a:solidFill>
              </a:rPr>
              <a:t> addressable spaces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r>
              <a:rPr lang="en-US" sz="2000" dirty="0"/>
              <a:t>each with </a:t>
            </a:r>
            <a:r>
              <a:rPr lang="en-US" sz="2000" b="1" i="1" dirty="0">
                <a:solidFill>
                  <a:srgbClr val="0000FF"/>
                </a:solidFill>
              </a:rPr>
              <a:t>X </a:t>
            </a:r>
            <a:r>
              <a:rPr lang="en-US" sz="2000" b="1" dirty="0">
                <a:solidFill>
                  <a:srgbClr val="0000FF"/>
                </a:solidFill>
              </a:rPr>
              <a:t>data bits</a:t>
            </a:r>
          </a:p>
          <a:p>
            <a:endParaRPr lang="en-US" sz="2000" dirty="0"/>
          </a:p>
          <a:p>
            <a:r>
              <a:rPr lang="en-US" sz="2000" b="1" dirty="0">
                <a:solidFill>
                  <a:srgbClr val="FF0000"/>
                </a:solidFill>
              </a:rPr>
              <a:t>Q:</a:t>
            </a:r>
            <a:r>
              <a:rPr lang="en-US" sz="2000" dirty="0"/>
              <a:t> How many </a:t>
            </a:r>
            <a:r>
              <a:rPr lang="en-US" sz="2000" b="1" dirty="0">
                <a:solidFill>
                  <a:srgbClr val="FF6600"/>
                </a:solidFill>
              </a:rPr>
              <a:t>address lines </a:t>
            </a:r>
            <a:r>
              <a:rPr lang="en-US" sz="2000" dirty="0"/>
              <a:t>and </a:t>
            </a:r>
            <a:r>
              <a:rPr lang="en-US" sz="2000" b="1" dirty="0">
                <a:solidFill>
                  <a:srgbClr val="0000FF"/>
                </a:solidFill>
              </a:rPr>
              <a:t>input-output data lines </a:t>
            </a:r>
            <a:r>
              <a:rPr lang="en-US" sz="2000" dirty="0"/>
              <a:t>are needed for each of the followings capacity of memories?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Arial" charset="0"/>
              <a:buAutoNum type="arabicParenR"/>
            </a:pPr>
            <a:r>
              <a:rPr lang="en-US" sz="2000" dirty="0"/>
              <a:t>64 addressable spaces at 32 bits wide (no </a:t>
            </a:r>
            <a:r>
              <a:rPr lang="en-US" sz="2000" b="1" dirty="0"/>
              <a:t>byte-selection</a:t>
            </a:r>
            <a:r>
              <a:rPr lang="en-US" sz="2000" dirty="0"/>
              <a:t> here)</a:t>
            </a:r>
          </a:p>
          <a:p>
            <a:pPr lvl="1">
              <a:buFont typeface="Arial" charset="0"/>
              <a:buAutoNum type="arabicParenR"/>
            </a:pPr>
            <a:r>
              <a:rPr lang="en-US" sz="1600" dirty="0">
                <a:solidFill>
                  <a:srgbClr val="FF0000"/>
                </a:solidFill>
              </a:rPr>
              <a:t>Q:</a:t>
            </a:r>
            <a:r>
              <a:rPr lang="en-US" sz="1600" dirty="0"/>
              <a:t> How many address lines? </a:t>
            </a:r>
          </a:p>
          <a:p>
            <a:pPr lvl="1">
              <a:buFont typeface="Arial" charset="0"/>
              <a:buAutoNum type="arabicParenR"/>
            </a:pPr>
            <a:r>
              <a:rPr lang="en-US" sz="1600" dirty="0">
                <a:solidFill>
                  <a:srgbClr val="FF0000"/>
                </a:solidFill>
              </a:rPr>
              <a:t>Q:</a:t>
            </a:r>
            <a:r>
              <a:rPr lang="en-US" sz="1600" dirty="0"/>
              <a:t> How many IO data path lines?</a:t>
            </a:r>
          </a:p>
          <a:p>
            <a:pPr>
              <a:buFont typeface="Arial" charset="0"/>
              <a:buAutoNum type="arabicParenR"/>
            </a:pPr>
            <a:r>
              <a:rPr lang="en-US" sz="2000" dirty="0"/>
              <a:t>A 2K X 16b chip, without </a:t>
            </a:r>
            <a:r>
              <a:rPr lang="en-US" sz="2000" b="1" dirty="0"/>
              <a:t>byte-selection</a:t>
            </a:r>
          </a:p>
          <a:p>
            <a:pPr lvl="1">
              <a:buFont typeface="Arial" charset="0"/>
              <a:buAutoNum type="arabicParenR"/>
            </a:pPr>
            <a:r>
              <a:rPr lang="en-US" dirty="0">
                <a:solidFill>
                  <a:srgbClr val="FF0000"/>
                </a:solidFill>
              </a:rPr>
              <a:t>Q:</a:t>
            </a:r>
            <a:r>
              <a:rPr lang="en-US" dirty="0"/>
              <a:t> How many address lines? </a:t>
            </a:r>
          </a:p>
          <a:p>
            <a:pPr lvl="1">
              <a:buFont typeface="Arial" charset="0"/>
              <a:buAutoNum type="arabicParenR"/>
            </a:pPr>
            <a:r>
              <a:rPr lang="en-US" dirty="0">
                <a:solidFill>
                  <a:srgbClr val="FF0000"/>
                </a:solidFill>
              </a:rPr>
              <a:t>Q:</a:t>
            </a:r>
            <a:r>
              <a:rPr lang="en-US" dirty="0"/>
              <a:t> How many IO data path lines?</a:t>
            </a:r>
          </a:p>
          <a:p>
            <a:pPr lvl="1">
              <a:buFont typeface="Arial" charset="0"/>
              <a:buAutoNum type="arabicParenR"/>
            </a:pPr>
            <a:r>
              <a:rPr lang="en-US" dirty="0">
                <a:solidFill>
                  <a:srgbClr val="FF0000"/>
                </a:solidFill>
              </a:rPr>
              <a:t>Q:</a:t>
            </a:r>
            <a:r>
              <a:rPr lang="en-US" dirty="0"/>
              <a:t> What if we desired byte-selection?  How would that affect our busses?</a:t>
            </a:r>
          </a:p>
          <a:p>
            <a:pPr>
              <a:buFont typeface="Arial" charset="0"/>
              <a:buAutoNum type="arabicParenR"/>
            </a:pPr>
            <a:endParaRPr lang="en-US" sz="2000" dirty="0">
              <a:sym typeface="Wingdings" pitchFamily="2" charset="2"/>
            </a:endParaRPr>
          </a:p>
          <a:p>
            <a:pPr>
              <a:buFont typeface="Arial" charset="0"/>
              <a:buAutoNum type="arabicParenR"/>
            </a:pPr>
            <a:endParaRPr lang="en-US" sz="2000" dirty="0"/>
          </a:p>
          <a:p>
            <a:pPr lvl="1"/>
            <a:endParaRPr lang="en-US" sz="2000" dirty="0"/>
          </a:p>
          <a:p>
            <a:endParaRPr lang="en-US" sz="2000" dirty="0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>
          <a:xfrm>
            <a:off x="385763" y="152400"/>
            <a:ext cx="7747000" cy="762000"/>
          </a:xfrm>
        </p:spPr>
        <p:txBody>
          <a:bodyPr/>
          <a:lstStyle/>
          <a:p>
            <a:r>
              <a:rPr lang="en-US" dirty="0"/>
              <a:t>Exercise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0" y="3810000"/>
            <a:ext cx="3303270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366FF"/>
                </a:solidFill>
              </a:rPr>
              <a:t>11A:</a:t>
            </a:r>
            <a:r>
              <a:rPr lang="en-US" dirty="0"/>
              <a:t>  2</a:t>
            </a:r>
            <a:r>
              <a:rPr lang="en-US" baseline="30000" dirty="0"/>
              <a:t>6</a:t>
            </a:r>
            <a:r>
              <a:rPr lang="en-US" dirty="0"/>
              <a:t> == 64, so 6 </a:t>
            </a:r>
            <a:r>
              <a:rPr lang="en-US" dirty="0" err="1"/>
              <a:t>addr</a:t>
            </a:r>
            <a:r>
              <a:rPr lang="en-US" dirty="0"/>
              <a:t> lines</a:t>
            </a:r>
          </a:p>
          <a:p>
            <a:r>
              <a:rPr lang="en-US" dirty="0">
                <a:solidFill>
                  <a:srgbClr val="3366FF"/>
                </a:solidFill>
              </a:rPr>
              <a:t>12A:</a:t>
            </a:r>
            <a:r>
              <a:rPr lang="en-US" dirty="0"/>
              <a:t> 32 bits == 32 data lines</a:t>
            </a:r>
          </a:p>
          <a:p>
            <a:r>
              <a:rPr lang="en-US" dirty="0">
                <a:solidFill>
                  <a:srgbClr val="3366FF"/>
                </a:solidFill>
              </a:rPr>
              <a:t>21A:</a:t>
            </a:r>
            <a:r>
              <a:rPr lang="en-US" dirty="0"/>
              <a:t> 2</a:t>
            </a:r>
            <a:r>
              <a:rPr lang="en-US" baseline="30000" dirty="0"/>
              <a:t>10</a:t>
            </a:r>
            <a:r>
              <a:rPr lang="en-US" dirty="0"/>
              <a:t> * 2</a:t>
            </a:r>
            <a:r>
              <a:rPr lang="en-US" baseline="30000" dirty="0"/>
              <a:t>1</a:t>
            </a:r>
            <a:r>
              <a:rPr lang="en-US" dirty="0"/>
              <a:t> == 11 </a:t>
            </a:r>
            <a:r>
              <a:rPr lang="en-US" dirty="0" err="1"/>
              <a:t>addr</a:t>
            </a:r>
            <a:r>
              <a:rPr lang="en-US" dirty="0"/>
              <a:t> lines</a:t>
            </a:r>
          </a:p>
          <a:p>
            <a:r>
              <a:rPr lang="en-US" dirty="0">
                <a:solidFill>
                  <a:srgbClr val="3366FF"/>
                </a:solidFill>
              </a:rPr>
              <a:t>22A:</a:t>
            </a:r>
            <a:r>
              <a:rPr lang="en-US" dirty="0"/>
              <a:t> 16 bits == 16 data lines</a:t>
            </a:r>
          </a:p>
          <a:p>
            <a:r>
              <a:rPr lang="en-US" dirty="0">
                <a:solidFill>
                  <a:srgbClr val="3366FF"/>
                </a:solidFill>
              </a:rPr>
              <a:t>23A:</a:t>
            </a:r>
            <a:r>
              <a:rPr lang="en-US" dirty="0"/>
              <a:t> 2 Bytes == +1 </a:t>
            </a:r>
            <a:r>
              <a:rPr lang="en-US" dirty="0" err="1"/>
              <a:t>addr</a:t>
            </a:r>
            <a:r>
              <a:rPr lang="en-US" dirty="0"/>
              <a:t> line</a:t>
            </a:r>
          </a:p>
        </p:txBody>
      </p:sp>
    </p:spTree>
    <p:extLst>
      <p:ext uri="{BB962C8B-B14F-4D97-AF65-F5344CB8AC3E}">
        <p14:creationId xmlns:p14="http://schemas.microsoft.com/office/powerpoint/2010/main" val="260116993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969963"/>
            <a:ext cx="8839200" cy="5389562"/>
          </a:xfrm>
        </p:spPr>
        <p:txBody>
          <a:bodyPr/>
          <a:lstStyle/>
          <a:p>
            <a:r>
              <a:rPr lang="en-US" sz="2000" dirty="0"/>
              <a:t>Each memory chip can be expressed with its capacity (</a:t>
            </a:r>
            <a:r>
              <a:rPr lang="en-US" sz="2000" b="1" dirty="0">
                <a:solidFill>
                  <a:srgbClr val="FF6600"/>
                </a:solidFill>
              </a:rPr>
              <a:t>addressable spaces </a:t>
            </a:r>
            <a:r>
              <a:rPr lang="en-US" sz="2000" dirty="0"/>
              <a:t>x </a:t>
            </a:r>
            <a:r>
              <a:rPr lang="en-US" sz="2000" b="1" dirty="0">
                <a:solidFill>
                  <a:srgbClr val="0000FF"/>
                </a:solidFill>
              </a:rPr>
              <a:t>data bits</a:t>
            </a:r>
            <a:r>
              <a:rPr lang="en-US" sz="2000" dirty="0"/>
              <a:t>) in bits</a:t>
            </a:r>
          </a:p>
          <a:p>
            <a:r>
              <a:rPr lang="en-US" sz="2000" b="1" i="1" dirty="0">
                <a:solidFill>
                  <a:srgbClr val="FF6600"/>
                </a:solidFill>
              </a:rPr>
              <a:t>Y</a:t>
            </a:r>
            <a:r>
              <a:rPr lang="en-US" sz="2000" i="1" dirty="0"/>
              <a:t> x </a:t>
            </a:r>
            <a:r>
              <a:rPr lang="en-US" sz="2000" b="1" i="1" dirty="0">
                <a:solidFill>
                  <a:srgbClr val="0000FF"/>
                </a:solidFill>
              </a:rPr>
              <a:t>X</a:t>
            </a:r>
            <a:r>
              <a:rPr lang="en-US" sz="2000" i="1" dirty="0"/>
              <a:t> </a:t>
            </a:r>
            <a:r>
              <a:rPr lang="en-US" sz="2000" dirty="0"/>
              <a:t>capacity of memory indicates </a:t>
            </a:r>
            <a:r>
              <a:rPr lang="en-US" sz="2000" b="1" i="1" dirty="0">
                <a:solidFill>
                  <a:srgbClr val="FF6600"/>
                </a:solidFill>
              </a:rPr>
              <a:t>Y</a:t>
            </a:r>
            <a:r>
              <a:rPr lang="en-US" sz="2000" b="1" dirty="0">
                <a:solidFill>
                  <a:srgbClr val="FF6600"/>
                </a:solidFill>
              </a:rPr>
              <a:t> addressable spaces </a:t>
            </a:r>
            <a:r>
              <a:rPr lang="en-US" sz="2000" dirty="0"/>
              <a:t>each holding </a:t>
            </a:r>
            <a:r>
              <a:rPr lang="en-US" sz="2000" b="1" i="1" dirty="0">
                <a:solidFill>
                  <a:srgbClr val="0000FF"/>
                </a:solidFill>
              </a:rPr>
              <a:t>X-bits</a:t>
            </a:r>
            <a:r>
              <a:rPr lang="en-US" sz="2000" dirty="0"/>
              <a:t> of data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Q:</a:t>
            </a:r>
            <a:r>
              <a:rPr lang="en-US" sz="2000" dirty="0"/>
              <a:t> How many data IO lines are needed for each chip below?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Q:</a:t>
            </a:r>
            <a:r>
              <a:rPr lang="en-US" sz="2000" dirty="0"/>
              <a:t> How many address lines are needed for each chip below?</a:t>
            </a:r>
          </a:p>
          <a:p>
            <a:pPr marL="0" indent="0">
              <a:buNone/>
            </a:pPr>
            <a:r>
              <a:rPr lang="en-US" sz="2000" dirty="0"/>
              <a:t>(Express answers in </a:t>
            </a:r>
            <a:r>
              <a:rPr lang="en-US" sz="2000" b="1" i="1" dirty="0">
                <a:solidFill>
                  <a:srgbClr val="FF6600"/>
                </a:solidFill>
              </a:rPr>
              <a:t>Y</a:t>
            </a:r>
            <a:r>
              <a:rPr lang="en-US" sz="2000" i="1" dirty="0"/>
              <a:t> x </a:t>
            </a:r>
            <a:r>
              <a:rPr lang="en-US" sz="2000" b="1" i="1" dirty="0">
                <a:solidFill>
                  <a:srgbClr val="0000FF"/>
                </a:solidFill>
              </a:rPr>
              <a:t>X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Arial" charset="0"/>
              <a:buAutoNum type="arabicParenR"/>
            </a:pPr>
            <a:r>
              <a:rPr lang="en-US" sz="2000" dirty="0"/>
              <a:t>512K X 16     //no </a:t>
            </a:r>
            <a:r>
              <a:rPr lang="en-US" sz="2000" b="1" dirty="0"/>
              <a:t>byte selection </a:t>
            </a:r>
            <a:r>
              <a:rPr lang="en-US" sz="2000" dirty="0"/>
              <a:t>for any of these</a:t>
            </a:r>
            <a:endParaRPr lang="en-US" sz="2000" dirty="0">
              <a:sym typeface="Wingdings" pitchFamily="2" charset="2"/>
            </a:endParaRPr>
          </a:p>
          <a:p>
            <a:pPr>
              <a:buFont typeface="Arial" charset="0"/>
              <a:buAutoNum type="arabicParenR"/>
            </a:pPr>
            <a:r>
              <a:rPr lang="en-US" sz="2000" dirty="0"/>
              <a:t>16G X 8</a:t>
            </a:r>
          </a:p>
          <a:p>
            <a:pPr>
              <a:buFont typeface="Arial" charset="0"/>
              <a:buAutoNum type="arabicParenR"/>
            </a:pPr>
            <a:r>
              <a:rPr lang="en-US" sz="2000" dirty="0"/>
              <a:t>32M X 32</a:t>
            </a:r>
          </a:p>
          <a:p>
            <a:pPr>
              <a:buFont typeface="Arial" charset="0"/>
              <a:buAutoNum type="arabicParenR"/>
            </a:pPr>
            <a:r>
              <a:rPr lang="en-US" sz="2000" dirty="0"/>
              <a:t>128M X 64</a:t>
            </a:r>
          </a:p>
          <a:p>
            <a:pPr>
              <a:buFont typeface="Arial" charset="0"/>
              <a:buAutoNum type="arabicParenR"/>
            </a:pPr>
            <a:endParaRPr lang="en-US" sz="2000" dirty="0"/>
          </a:p>
          <a:p>
            <a:pPr lvl="1"/>
            <a:endParaRPr lang="en-US" sz="2000" dirty="0"/>
          </a:p>
          <a:p>
            <a:endParaRPr lang="en-US" sz="2000" dirty="0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>
          <a:xfrm>
            <a:off x="385763" y="152400"/>
            <a:ext cx="7747000" cy="762000"/>
          </a:xfrm>
        </p:spPr>
        <p:txBody>
          <a:bodyPr/>
          <a:lstStyle/>
          <a:p>
            <a:r>
              <a:rPr lang="en-US" dirty="0"/>
              <a:t>Exercise #2 (is 2-Person)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114800" y="4819471"/>
            <a:ext cx="381000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366FF"/>
                </a:solidFill>
              </a:rPr>
              <a:t>A1: </a:t>
            </a:r>
            <a:r>
              <a:rPr lang="en-US" dirty="0"/>
              <a:t>2</a:t>
            </a:r>
            <a:r>
              <a:rPr lang="en-US" baseline="30000" dirty="0"/>
              <a:t>19</a:t>
            </a:r>
            <a:r>
              <a:rPr lang="en-US" dirty="0"/>
              <a:t>, so </a:t>
            </a:r>
            <a:r>
              <a:rPr lang="en-US" b="1" dirty="0">
                <a:solidFill>
                  <a:srgbClr val="FF6600"/>
                </a:solidFill>
              </a:rPr>
              <a:t>19</a:t>
            </a:r>
            <a:r>
              <a:rPr lang="en-US" b="1" baseline="30000" dirty="0">
                <a:solidFill>
                  <a:srgbClr val="FF6600"/>
                </a:solidFill>
              </a:rPr>
              <a:t> </a:t>
            </a:r>
            <a:r>
              <a:rPr lang="en-US" b="1" dirty="0" err="1">
                <a:solidFill>
                  <a:srgbClr val="FF6600"/>
                </a:solidFill>
              </a:rPr>
              <a:t>addr</a:t>
            </a:r>
            <a:r>
              <a:rPr lang="en-US" dirty="0"/>
              <a:t> x </a:t>
            </a:r>
            <a:r>
              <a:rPr lang="en-US" b="1" dirty="0">
                <a:solidFill>
                  <a:srgbClr val="0000FF"/>
                </a:solidFill>
              </a:rPr>
              <a:t>16 data</a:t>
            </a:r>
          </a:p>
          <a:p>
            <a:r>
              <a:rPr lang="en-US" dirty="0">
                <a:solidFill>
                  <a:srgbClr val="3366FF"/>
                </a:solidFill>
              </a:rPr>
              <a:t>A2:</a:t>
            </a:r>
            <a:r>
              <a:rPr lang="en-US" dirty="0"/>
              <a:t> 2</a:t>
            </a:r>
            <a:r>
              <a:rPr lang="en-US" baseline="30000" dirty="0"/>
              <a:t>34</a:t>
            </a:r>
            <a:r>
              <a:rPr lang="en-US" dirty="0"/>
              <a:t>, so </a:t>
            </a:r>
            <a:r>
              <a:rPr lang="en-US" b="1" dirty="0">
                <a:solidFill>
                  <a:srgbClr val="FF6600"/>
                </a:solidFill>
              </a:rPr>
              <a:t>34</a:t>
            </a:r>
            <a:r>
              <a:rPr lang="en-US" b="1" baseline="30000" dirty="0">
                <a:solidFill>
                  <a:srgbClr val="FF6600"/>
                </a:solidFill>
              </a:rPr>
              <a:t> </a:t>
            </a:r>
            <a:r>
              <a:rPr lang="en-US" b="1" dirty="0" err="1">
                <a:solidFill>
                  <a:srgbClr val="FF6600"/>
                </a:solidFill>
              </a:rPr>
              <a:t>addr</a:t>
            </a:r>
            <a:r>
              <a:rPr lang="en-US" dirty="0"/>
              <a:t> x </a:t>
            </a:r>
            <a:r>
              <a:rPr lang="en-US" b="1" dirty="0">
                <a:solidFill>
                  <a:srgbClr val="0000FF"/>
                </a:solidFill>
              </a:rPr>
              <a:t>8 data</a:t>
            </a:r>
          </a:p>
          <a:p>
            <a:r>
              <a:rPr lang="en-US" dirty="0">
                <a:solidFill>
                  <a:srgbClr val="3366FF"/>
                </a:solidFill>
              </a:rPr>
              <a:t>A3:</a:t>
            </a:r>
            <a:r>
              <a:rPr lang="en-US" dirty="0"/>
              <a:t> 2</a:t>
            </a:r>
            <a:r>
              <a:rPr lang="en-US" baseline="30000" dirty="0"/>
              <a:t>25</a:t>
            </a:r>
            <a:r>
              <a:rPr lang="en-US" dirty="0"/>
              <a:t>, so </a:t>
            </a:r>
            <a:r>
              <a:rPr lang="en-US" b="1" dirty="0">
                <a:solidFill>
                  <a:srgbClr val="FF6600"/>
                </a:solidFill>
              </a:rPr>
              <a:t>25</a:t>
            </a:r>
            <a:r>
              <a:rPr lang="en-US" b="1" baseline="30000" dirty="0">
                <a:solidFill>
                  <a:srgbClr val="FF6600"/>
                </a:solidFill>
              </a:rPr>
              <a:t> </a:t>
            </a:r>
            <a:r>
              <a:rPr lang="en-US" b="1" dirty="0" err="1">
                <a:solidFill>
                  <a:srgbClr val="FF6600"/>
                </a:solidFill>
              </a:rPr>
              <a:t>addr</a:t>
            </a:r>
            <a:r>
              <a:rPr lang="en-US" dirty="0"/>
              <a:t> x </a:t>
            </a:r>
            <a:r>
              <a:rPr lang="en-US" b="1" dirty="0">
                <a:solidFill>
                  <a:srgbClr val="0000FF"/>
                </a:solidFill>
              </a:rPr>
              <a:t>32 data</a:t>
            </a:r>
          </a:p>
          <a:p>
            <a:r>
              <a:rPr lang="en-US" dirty="0">
                <a:solidFill>
                  <a:srgbClr val="3366FF"/>
                </a:solidFill>
              </a:rPr>
              <a:t>A4:</a:t>
            </a:r>
            <a:r>
              <a:rPr lang="en-US" dirty="0"/>
              <a:t> 2</a:t>
            </a:r>
            <a:r>
              <a:rPr lang="en-US" baseline="30000" dirty="0"/>
              <a:t>27</a:t>
            </a:r>
            <a:r>
              <a:rPr lang="en-US" dirty="0"/>
              <a:t>, so </a:t>
            </a:r>
            <a:r>
              <a:rPr lang="en-US" b="1" dirty="0">
                <a:solidFill>
                  <a:srgbClr val="FF6600"/>
                </a:solidFill>
              </a:rPr>
              <a:t>27</a:t>
            </a:r>
            <a:r>
              <a:rPr lang="en-US" b="1" baseline="30000" dirty="0">
                <a:solidFill>
                  <a:srgbClr val="FF6600"/>
                </a:solidFill>
              </a:rPr>
              <a:t> </a:t>
            </a:r>
            <a:r>
              <a:rPr lang="en-US" b="1" dirty="0" err="1">
                <a:solidFill>
                  <a:srgbClr val="FF6600"/>
                </a:solidFill>
              </a:rPr>
              <a:t>addr</a:t>
            </a:r>
            <a:r>
              <a:rPr lang="en-US" dirty="0"/>
              <a:t> x </a:t>
            </a:r>
            <a:r>
              <a:rPr lang="en-US" b="1" dirty="0">
                <a:solidFill>
                  <a:srgbClr val="0000FF"/>
                </a:solidFill>
              </a:rPr>
              <a:t>64 data</a:t>
            </a:r>
          </a:p>
        </p:txBody>
      </p:sp>
    </p:spTree>
    <p:extLst>
      <p:ext uri="{BB962C8B-B14F-4D97-AF65-F5344CB8AC3E}">
        <p14:creationId xmlns:p14="http://schemas.microsoft.com/office/powerpoint/2010/main" val="63772911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" y="-76200"/>
            <a:ext cx="9052560" cy="903271"/>
          </a:xfrm>
        </p:spPr>
        <p:txBody>
          <a:bodyPr/>
          <a:lstStyle/>
          <a:p>
            <a:r>
              <a:rPr lang="en-US" dirty="0"/>
              <a:t>Null Interleaving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" y="1417637"/>
            <a:ext cx="94107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Assume a </a:t>
            </a:r>
            <a:r>
              <a:rPr lang="en-US" b="1" dirty="0">
                <a:solidFill>
                  <a:srgbClr val="FF6600"/>
                </a:solidFill>
              </a:rPr>
              <a:t>128</a:t>
            </a:r>
            <a:r>
              <a:rPr lang="en-US" dirty="0"/>
              <a:t> x </a:t>
            </a:r>
            <a:r>
              <a:rPr lang="en-US" b="1" dirty="0">
                <a:solidFill>
                  <a:srgbClr val="0000FF"/>
                </a:solidFill>
              </a:rPr>
              <a:t>32</a:t>
            </a:r>
            <a:r>
              <a:rPr lang="en-US" dirty="0"/>
              <a:t> bit memory (no </a:t>
            </a:r>
            <a:r>
              <a:rPr lang="en-US" b="1" dirty="0"/>
              <a:t>Byte Select</a:t>
            </a:r>
            <a:r>
              <a:rPr lang="en-US" dirty="0"/>
              <a:t>)</a:t>
            </a:r>
          </a:p>
          <a:p>
            <a:pPr lvl="1"/>
            <a:r>
              <a:rPr lang="en-US" sz="2000" dirty="0"/>
              <a:t>Built using smaller </a:t>
            </a:r>
            <a:r>
              <a:rPr lang="en-US" sz="2000" b="1" dirty="0">
                <a:solidFill>
                  <a:srgbClr val="FF6600"/>
                </a:solidFill>
              </a:rPr>
              <a:t>N</a:t>
            </a:r>
            <a:r>
              <a:rPr lang="en-US" sz="2000" dirty="0"/>
              <a:t> x </a:t>
            </a:r>
            <a:r>
              <a:rPr lang="en-US" sz="2000" b="1" dirty="0">
                <a:solidFill>
                  <a:srgbClr val="0000FF"/>
                </a:solidFill>
              </a:rPr>
              <a:t>32</a:t>
            </a:r>
            <a:r>
              <a:rPr lang="en-US" sz="2000" dirty="0"/>
              <a:t> memory chips</a:t>
            </a:r>
          </a:p>
          <a:p>
            <a:pPr lvl="2"/>
            <a:r>
              <a:rPr lang="en-US" dirty="0"/>
              <a:t>This is called “</a:t>
            </a:r>
            <a:r>
              <a:rPr lang="en-US" b="1" dirty="0">
                <a:solidFill>
                  <a:srgbClr val="008000"/>
                </a:solidFill>
              </a:rPr>
              <a:t>interleaving</a:t>
            </a:r>
            <a:r>
              <a:rPr lang="en-US" dirty="0"/>
              <a:t>” memory chips in Null’s text</a:t>
            </a:r>
          </a:p>
          <a:p>
            <a:r>
              <a:rPr lang="en-US" dirty="0"/>
              <a:t>If we want an “</a:t>
            </a:r>
            <a:r>
              <a:rPr lang="en-US" b="1" dirty="0">
                <a:solidFill>
                  <a:srgbClr val="008000"/>
                </a:solidFill>
              </a:rPr>
              <a:t>8-way interleaved</a:t>
            </a:r>
            <a:r>
              <a:rPr lang="en-US" dirty="0"/>
              <a:t> memory”</a:t>
            </a:r>
          </a:p>
          <a:p>
            <a:pPr lvl="1"/>
            <a:r>
              <a:rPr lang="en-US" dirty="0"/>
              <a:t>Just a memory built with </a:t>
            </a:r>
            <a:r>
              <a:rPr lang="en-US" b="1" dirty="0">
                <a:solidFill>
                  <a:srgbClr val="008000"/>
                </a:solidFill>
              </a:rPr>
              <a:t>8 pages </a:t>
            </a:r>
            <a:r>
              <a:rPr lang="en-US" dirty="0"/>
              <a:t>in other terminologies</a:t>
            </a:r>
          </a:p>
          <a:p>
            <a:endParaRPr lang="en-US" dirty="0"/>
          </a:p>
          <a:p>
            <a:r>
              <a:rPr lang="en-US" dirty="0"/>
              <a:t>Assuming </a:t>
            </a:r>
            <a:r>
              <a:rPr lang="en-US" b="1" dirty="0">
                <a:solidFill>
                  <a:srgbClr val="008000"/>
                </a:solidFill>
              </a:rPr>
              <a:t>8 smaller chips </a:t>
            </a:r>
            <a:r>
              <a:rPr lang="en-US" dirty="0"/>
              <a:t>(one per </a:t>
            </a:r>
            <a:r>
              <a:rPr lang="en-US" b="1" dirty="0">
                <a:solidFill>
                  <a:srgbClr val="008000"/>
                </a:solidFill>
              </a:rPr>
              <a:t>page</a:t>
            </a:r>
            <a:r>
              <a:rPr lang="en-US" dirty="0"/>
              <a:t>)</a:t>
            </a:r>
            <a:r>
              <a:rPr lang="mr-IN" dirty="0"/>
              <a:t>…</a:t>
            </a: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Q1:</a:t>
            </a:r>
            <a:r>
              <a:rPr lang="en-US" dirty="0"/>
              <a:t> What should their size </a:t>
            </a:r>
            <a:r>
              <a:rPr lang="en-US" b="1" dirty="0">
                <a:solidFill>
                  <a:srgbClr val="FF6600"/>
                </a:solidFill>
              </a:rPr>
              <a:t>N</a:t>
            </a:r>
            <a:r>
              <a:rPr lang="en-US" dirty="0"/>
              <a:t> be to fill the larger memory?</a:t>
            </a:r>
          </a:p>
          <a:p>
            <a:r>
              <a:rPr lang="en-US" dirty="0">
                <a:solidFill>
                  <a:srgbClr val="FF0000"/>
                </a:solidFill>
              </a:rPr>
              <a:t>Q2:</a:t>
            </a:r>
            <a:r>
              <a:rPr lang="en-US" dirty="0"/>
              <a:t> How many address bits to you need to pick from </a:t>
            </a:r>
            <a:r>
              <a:rPr lang="en-US" b="1" dirty="0">
                <a:solidFill>
                  <a:srgbClr val="FF6600"/>
                </a:solidFill>
              </a:rPr>
              <a:t>N</a:t>
            </a:r>
            <a:r>
              <a:rPr lang="en-US" dirty="0"/>
              <a:t> things?</a:t>
            </a:r>
          </a:p>
          <a:p>
            <a:r>
              <a:rPr lang="en-US" dirty="0">
                <a:solidFill>
                  <a:srgbClr val="FF0000"/>
                </a:solidFill>
              </a:rPr>
              <a:t>Q3:</a:t>
            </a:r>
            <a:r>
              <a:rPr lang="en-US" dirty="0"/>
              <a:t> How many </a:t>
            </a:r>
            <a:r>
              <a:rPr lang="en-US" b="1" dirty="0">
                <a:solidFill>
                  <a:srgbClr val="008000"/>
                </a:solidFill>
              </a:rPr>
              <a:t>page bits</a:t>
            </a:r>
            <a:r>
              <a:rPr lang="en-US" dirty="0"/>
              <a:t> to pick from amongst </a:t>
            </a:r>
            <a:r>
              <a:rPr lang="en-US" b="1" dirty="0">
                <a:solidFill>
                  <a:srgbClr val="008000"/>
                </a:solidFill>
              </a:rPr>
              <a:t>8 chips</a:t>
            </a:r>
            <a:r>
              <a:rPr lang="en-US" dirty="0"/>
              <a:t>/pages? </a:t>
            </a:r>
          </a:p>
          <a:p>
            <a:r>
              <a:rPr lang="en-US" dirty="0">
                <a:solidFill>
                  <a:srgbClr val="FF0000"/>
                </a:solidFill>
              </a:rPr>
              <a:t>Q4:</a:t>
            </a:r>
            <a:r>
              <a:rPr lang="en-US" dirty="0"/>
              <a:t> What is the size of the </a:t>
            </a:r>
            <a:r>
              <a:rPr lang="en-US" b="1" dirty="0">
                <a:solidFill>
                  <a:srgbClr val="FF0000"/>
                </a:solidFill>
              </a:rPr>
              <a:t>total address space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of the small chip</a:t>
            </a:r>
            <a:r>
              <a:rPr lang="en-US" dirty="0"/>
              <a:t>?</a:t>
            </a:r>
          </a:p>
          <a:p>
            <a:r>
              <a:rPr lang="en-US" dirty="0">
                <a:solidFill>
                  <a:srgbClr val="FF0000"/>
                </a:solidFill>
              </a:rPr>
              <a:t>Q5:</a:t>
            </a:r>
            <a:r>
              <a:rPr lang="en-US" dirty="0"/>
              <a:t> What is the size of the </a:t>
            </a:r>
            <a:r>
              <a:rPr lang="en-US" b="1" dirty="0">
                <a:solidFill>
                  <a:srgbClr val="FF0000"/>
                </a:solidFill>
              </a:rPr>
              <a:t>total address space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of the large chip</a:t>
            </a:r>
            <a:r>
              <a:rPr lang="en-US" dirty="0"/>
              <a:t>?</a:t>
            </a:r>
          </a:p>
          <a:p>
            <a:r>
              <a:rPr lang="en-US" dirty="0">
                <a:solidFill>
                  <a:srgbClr val="FF0000"/>
                </a:solidFill>
              </a:rPr>
              <a:t>Q6:</a:t>
            </a:r>
            <a:r>
              <a:rPr lang="en-US" dirty="0"/>
              <a:t> How many address bits are needed for the large chip?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71826" y="6488668"/>
            <a:ext cx="3672174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“Right into your memory banks”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7747000" y="952500"/>
            <a:ext cx="1219200" cy="2438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128 x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27899" y="1028700"/>
            <a:ext cx="1014222" cy="228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N</a:t>
            </a:r>
            <a:r>
              <a:rPr lang="en-US" dirty="0"/>
              <a:t>x</a:t>
            </a:r>
            <a:r>
              <a:rPr lang="en-US" b="1" dirty="0">
                <a:solidFill>
                  <a:srgbClr val="0000FF"/>
                </a:solidFill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35900" y="1270000"/>
            <a:ext cx="1014222" cy="228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N</a:t>
            </a:r>
            <a:r>
              <a:rPr lang="en-US" dirty="0"/>
              <a:t>x</a:t>
            </a:r>
            <a:r>
              <a:rPr lang="en-US" b="1" dirty="0">
                <a:solidFill>
                  <a:srgbClr val="0000FF"/>
                </a:solidFill>
              </a:rPr>
              <a:t>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35900" y="1511300"/>
            <a:ext cx="1014222" cy="228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N</a:t>
            </a:r>
            <a:r>
              <a:rPr lang="en-US" dirty="0"/>
              <a:t>x</a:t>
            </a:r>
            <a:r>
              <a:rPr lang="en-US" b="1" dirty="0">
                <a:solidFill>
                  <a:srgbClr val="0000FF"/>
                </a:solidFill>
              </a:rPr>
              <a:t>32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48600" y="1765300"/>
            <a:ext cx="1014222" cy="228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N</a:t>
            </a:r>
            <a:r>
              <a:rPr lang="en-US" dirty="0"/>
              <a:t>x</a:t>
            </a:r>
            <a:r>
              <a:rPr lang="en-US" b="1" dirty="0">
                <a:solidFill>
                  <a:srgbClr val="0000FF"/>
                </a:solidFill>
              </a:rPr>
              <a:t>32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48600" y="2006600"/>
            <a:ext cx="1014222" cy="228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N</a:t>
            </a:r>
            <a:r>
              <a:rPr lang="en-US" dirty="0"/>
              <a:t>x</a:t>
            </a:r>
            <a:r>
              <a:rPr lang="en-US" b="1" dirty="0">
                <a:solidFill>
                  <a:srgbClr val="0000FF"/>
                </a:solidFill>
              </a:rPr>
              <a:t>32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56601" y="2247900"/>
            <a:ext cx="1014222" cy="228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N</a:t>
            </a:r>
            <a:r>
              <a:rPr lang="en-US" dirty="0"/>
              <a:t>x</a:t>
            </a:r>
            <a:r>
              <a:rPr lang="en-US" b="1" dirty="0">
                <a:solidFill>
                  <a:srgbClr val="0000FF"/>
                </a:solidFill>
              </a:rPr>
              <a:t>32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56601" y="2489200"/>
            <a:ext cx="1014222" cy="228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N</a:t>
            </a:r>
            <a:r>
              <a:rPr lang="en-US" dirty="0"/>
              <a:t>x</a:t>
            </a:r>
            <a:r>
              <a:rPr lang="en-US" b="1" dirty="0">
                <a:solidFill>
                  <a:srgbClr val="0000FF"/>
                </a:solidFill>
              </a:rPr>
              <a:t>32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9301" y="2743200"/>
            <a:ext cx="1014222" cy="228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N</a:t>
            </a:r>
            <a:r>
              <a:rPr lang="en-US" dirty="0"/>
              <a:t>x</a:t>
            </a:r>
            <a:r>
              <a:rPr lang="en-US" b="1" dirty="0">
                <a:solidFill>
                  <a:srgbClr val="0000FF"/>
                </a:solidFill>
              </a:rPr>
              <a:t>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869" y="6899831"/>
            <a:ext cx="811225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</a:rPr>
              <a:t>A1:</a:t>
            </a:r>
            <a:r>
              <a:rPr lang="en-US" dirty="0"/>
              <a:t> 128 slots/</a:t>
            </a:r>
            <a:r>
              <a:rPr lang="en-US" b="1" dirty="0">
                <a:solidFill>
                  <a:srgbClr val="008000"/>
                </a:solidFill>
              </a:rPr>
              <a:t>8 chips </a:t>
            </a:r>
            <a:r>
              <a:rPr lang="en-US" dirty="0"/>
              <a:t>= </a:t>
            </a:r>
            <a:r>
              <a:rPr lang="en-US" b="1" dirty="0">
                <a:solidFill>
                  <a:srgbClr val="FF6600"/>
                </a:solidFill>
              </a:rPr>
              <a:t>16</a:t>
            </a:r>
            <a:r>
              <a:rPr lang="en-US" dirty="0"/>
              <a:t> addressable slots per smaller chip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-4191000" y="5496820"/>
            <a:ext cx="3581400" cy="99059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Outer Address (</a:t>
            </a:r>
            <a:r>
              <a:rPr lang="en-US" b="1" dirty="0">
                <a:solidFill>
                  <a:schemeClr val="bg1"/>
                </a:solidFill>
              </a:rPr>
              <a:t>7</a:t>
            </a:r>
            <a:r>
              <a:rPr lang="en-US" dirty="0"/>
              <a:t>)</a:t>
            </a:r>
          </a:p>
          <a:p>
            <a:pPr algn="ctr"/>
            <a:r>
              <a:rPr lang="en-US" dirty="0"/>
              <a:t>(Low Order Interleaving)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-2311400" y="5496819"/>
            <a:ext cx="1676400" cy="36267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Page(</a:t>
            </a:r>
            <a:r>
              <a:rPr lang="en-US" b="1" dirty="0">
                <a:solidFill>
                  <a:srgbClr val="008000"/>
                </a:solidFill>
              </a:rPr>
              <a:t>3</a:t>
            </a:r>
            <a:r>
              <a:rPr lang="en-US" dirty="0"/>
              <a:t>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-4147820" y="5478494"/>
            <a:ext cx="1836420" cy="35544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Offset(</a:t>
            </a:r>
            <a:r>
              <a:rPr lang="en-US" b="1" dirty="0">
                <a:solidFill>
                  <a:srgbClr val="FF6600"/>
                </a:solidFill>
              </a:rPr>
              <a:t>4</a:t>
            </a:r>
            <a:r>
              <a:rPr lang="en-US" dirty="0"/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-4216400" y="5867302"/>
            <a:ext cx="520456" cy="2518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MSB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-1110247" y="5877819"/>
            <a:ext cx="473142" cy="2289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LSB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869" y="7269598"/>
            <a:ext cx="8115299" cy="3357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</a:rPr>
              <a:t>A2:</a:t>
            </a:r>
            <a:r>
              <a:rPr lang="en-US" dirty="0"/>
              <a:t> Log</a:t>
            </a:r>
            <a:r>
              <a:rPr lang="en-US" baseline="-25000" dirty="0"/>
              <a:t>2</a:t>
            </a:r>
            <a:r>
              <a:rPr lang="en-US" b="1" dirty="0">
                <a:solidFill>
                  <a:srgbClr val="FF6600"/>
                </a:solidFill>
              </a:rPr>
              <a:t>16</a:t>
            </a:r>
            <a:r>
              <a:rPr lang="en-US" dirty="0"/>
              <a:t> = </a:t>
            </a:r>
            <a:r>
              <a:rPr lang="en-US" b="1" dirty="0">
                <a:solidFill>
                  <a:srgbClr val="FF6600"/>
                </a:solidFill>
              </a:rPr>
              <a:t>4</a:t>
            </a:r>
            <a:r>
              <a:rPr lang="en-US" dirty="0"/>
              <a:t> address lines per smaller chip (a.k.a. offset bits)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983" y="7629565"/>
            <a:ext cx="811225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</a:rPr>
              <a:t>A3:</a:t>
            </a:r>
            <a:r>
              <a:rPr lang="en-US" dirty="0"/>
              <a:t> Log</a:t>
            </a:r>
            <a:r>
              <a:rPr lang="en-US" baseline="-25000" dirty="0"/>
              <a:t>2</a:t>
            </a:r>
            <a:r>
              <a:rPr lang="en-US" b="1" dirty="0">
                <a:solidFill>
                  <a:srgbClr val="008000"/>
                </a:solidFill>
              </a:rPr>
              <a:t>8</a:t>
            </a:r>
            <a:r>
              <a:rPr lang="en-US" dirty="0"/>
              <a:t> = </a:t>
            </a:r>
            <a:r>
              <a:rPr lang="en-US" b="1" dirty="0">
                <a:solidFill>
                  <a:srgbClr val="008000"/>
                </a:solidFill>
              </a:rPr>
              <a:t>3 page bits </a:t>
            </a:r>
            <a:r>
              <a:rPr lang="en-US" dirty="0">
                <a:solidFill>
                  <a:schemeClr val="tx1"/>
                </a:solidFill>
              </a:rPr>
              <a:t>to select one of 8 </a:t>
            </a:r>
            <a:r>
              <a:rPr lang="en-US" b="1" dirty="0">
                <a:solidFill>
                  <a:srgbClr val="008000"/>
                </a:solidFill>
              </a:rPr>
              <a:t>pages/chips</a:t>
            </a:r>
            <a:r>
              <a:rPr lang="en-US" dirty="0">
                <a:solidFill>
                  <a:schemeClr val="tx1"/>
                </a:solidFill>
              </a:rPr>
              <a:t> (using a </a:t>
            </a:r>
            <a:r>
              <a:rPr lang="en-US" b="1" dirty="0">
                <a:solidFill>
                  <a:srgbClr val="008000"/>
                </a:solidFill>
              </a:rPr>
              <a:t>decoder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en-US" b="1" dirty="0">
              <a:solidFill>
                <a:srgbClr val="008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18983" y="7989967"/>
            <a:ext cx="8128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</a:rPr>
              <a:t>A4:</a:t>
            </a:r>
            <a:r>
              <a:rPr lang="en-US" dirty="0"/>
              <a:t> (</a:t>
            </a:r>
            <a:r>
              <a:rPr lang="en-US" b="1" dirty="0">
                <a:solidFill>
                  <a:schemeClr val="tx1"/>
                </a:solidFill>
              </a:rPr>
              <a:t>smaller</a:t>
            </a:r>
            <a:r>
              <a:rPr lang="en-US" dirty="0"/>
              <a:t>) </a:t>
            </a:r>
            <a:r>
              <a:rPr lang="en-US" b="1" dirty="0">
                <a:solidFill>
                  <a:srgbClr val="FF6600"/>
                </a:solidFill>
              </a:rPr>
              <a:t>16</a:t>
            </a:r>
            <a:r>
              <a:rPr lang="en-US" dirty="0"/>
              <a:t> x </a:t>
            </a:r>
            <a:r>
              <a:rPr lang="en-US" b="1" dirty="0">
                <a:solidFill>
                  <a:srgbClr val="0000FF"/>
                </a:solidFill>
              </a:rPr>
              <a:t>32b</a:t>
            </a:r>
            <a:r>
              <a:rPr lang="en-US" dirty="0"/>
              <a:t> = 2</a:t>
            </a:r>
            <a:r>
              <a:rPr lang="en-US" baseline="30000" dirty="0"/>
              <a:t>4</a:t>
            </a:r>
            <a:r>
              <a:rPr lang="en-US" dirty="0"/>
              <a:t> slots * 2</a:t>
            </a:r>
            <a:r>
              <a:rPr lang="en-US" baseline="30000" dirty="0"/>
              <a:t>5</a:t>
            </a:r>
            <a:r>
              <a:rPr lang="en-US" dirty="0"/>
              <a:t> bits = 512 bits = (/8=</a:t>
            </a:r>
            <a:r>
              <a:rPr lang="en-US" b="1" dirty="0">
                <a:solidFill>
                  <a:srgbClr val="FF0000"/>
                </a:solidFill>
              </a:rPr>
              <a:t>64 Bytes</a:t>
            </a:r>
            <a:r>
              <a:rPr lang="en-US" dirty="0"/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4800" y="762000"/>
            <a:ext cx="7007352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</a:rPr>
              <a:t>A5i: </a:t>
            </a:r>
            <a:r>
              <a:rPr lang="en-US" dirty="0"/>
              <a:t>(larger) 2</a:t>
            </a:r>
            <a:r>
              <a:rPr lang="en-US" baseline="30000" dirty="0"/>
              <a:t>7</a:t>
            </a:r>
            <a:r>
              <a:rPr lang="en-US" dirty="0"/>
              <a:t> slots * 2</a:t>
            </a:r>
            <a:r>
              <a:rPr lang="en-US" baseline="30000" dirty="0"/>
              <a:t>2</a:t>
            </a:r>
            <a:r>
              <a:rPr lang="en-US" dirty="0"/>
              <a:t> Bytes = </a:t>
            </a:r>
            <a:r>
              <a:rPr lang="en-US" b="1" dirty="0">
                <a:solidFill>
                  <a:srgbClr val="FF0000"/>
                </a:solidFill>
              </a:rPr>
              <a:t>512 Bytes </a:t>
            </a:r>
            <a:r>
              <a:rPr lang="en-US" dirty="0"/>
              <a:t>= 4Kbits</a:t>
            </a:r>
          </a:p>
          <a:p>
            <a:r>
              <a:rPr lang="en-US" dirty="0"/>
              <a:t>  </a:t>
            </a:r>
            <a:r>
              <a:rPr lang="en-US" b="1" dirty="0">
                <a:solidFill>
                  <a:srgbClr val="3366FF"/>
                </a:solidFill>
              </a:rPr>
              <a:t>A5ii: </a:t>
            </a:r>
            <a:r>
              <a:rPr lang="en-US" dirty="0"/>
              <a:t>(larger)  8 chips * </a:t>
            </a:r>
            <a:r>
              <a:rPr lang="en-US" b="1" dirty="0">
                <a:solidFill>
                  <a:srgbClr val="FF0000"/>
                </a:solidFill>
              </a:rPr>
              <a:t>64 Bytes </a:t>
            </a:r>
            <a:r>
              <a:rPr lang="en-US" dirty="0"/>
              <a:t>each = </a:t>
            </a:r>
            <a:r>
              <a:rPr lang="en-US" b="1" dirty="0">
                <a:solidFill>
                  <a:srgbClr val="FF0000"/>
                </a:solidFill>
              </a:rPr>
              <a:t>512 Bytes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459" y="8744609"/>
            <a:ext cx="8115300" cy="3357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</a:rPr>
              <a:t>A6:</a:t>
            </a:r>
            <a:r>
              <a:rPr lang="en-US" dirty="0"/>
              <a:t> Log</a:t>
            </a:r>
            <a:r>
              <a:rPr lang="en-US" baseline="-25000" dirty="0"/>
              <a:t>2</a:t>
            </a:r>
            <a:r>
              <a:rPr lang="en-US" dirty="0"/>
              <a:t>128 = </a:t>
            </a:r>
            <a:r>
              <a:rPr lang="en-US" b="1" dirty="0">
                <a:solidFill>
                  <a:schemeClr val="tx1"/>
                </a:solidFill>
              </a:rPr>
              <a:t>7</a:t>
            </a:r>
            <a:r>
              <a:rPr lang="en-US" dirty="0"/>
              <a:t> address lines (</a:t>
            </a:r>
            <a:r>
              <a:rPr lang="en-US" b="1" dirty="0">
                <a:solidFill>
                  <a:srgbClr val="008000"/>
                </a:solidFill>
              </a:rPr>
              <a:t>page</a:t>
            </a:r>
            <a:r>
              <a:rPr lang="en-US" dirty="0"/>
              <a:t>(</a:t>
            </a:r>
            <a:r>
              <a:rPr lang="en-US" b="1" dirty="0">
                <a:solidFill>
                  <a:srgbClr val="008000"/>
                </a:solidFill>
              </a:rPr>
              <a:t>3</a:t>
            </a:r>
            <a:r>
              <a:rPr lang="en-US" dirty="0"/>
              <a:t>) + </a:t>
            </a:r>
            <a:r>
              <a:rPr lang="en-US" b="1" dirty="0">
                <a:solidFill>
                  <a:srgbClr val="FF6600"/>
                </a:solidFill>
              </a:rPr>
              <a:t>offset</a:t>
            </a:r>
            <a:r>
              <a:rPr lang="en-US" dirty="0"/>
              <a:t>(</a:t>
            </a:r>
            <a:r>
              <a:rPr lang="en-US" b="1" dirty="0">
                <a:solidFill>
                  <a:srgbClr val="FF6600"/>
                </a:solidFill>
              </a:rPr>
              <a:t>4</a:t>
            </a:r>
            <a:r>
              <a:rPr lang="en-US" dirty="0"/>
              <a:t>))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8983" y="8378599"/>
            <a:ext cx="8128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</a:rPr>
              <a:t>A5:</a:t>
            </a:r>
            <a:r>
              <a:rPr lang="en-US" dirty="0"/>
              <a:t> (</a:t>
            </a:r>
            <a:r>
              <a:rPr lang="en-US" b="1" dirty="0"/>
              <a:t>larger</a:t>
            </a:r>
            <a:r>
              <a:rPr lang="en-US" dirty="0"/>
              <a:t>) </a:t>
            </a:r>
            <a:r>
              <a:rPr lang="en-US" b="1" dirty="0">
                <a:solidFill>
                  <a:srgbClr val="FF6600"/>
                </a:solidFill>
              </a:rPr>
              <a:t>128</a:t>
            </a:r>
            <a:r>
              <a:rPr lang="en-US" dirty="0"/>
              <a:t> x </a:t>
            </a:r>
            <a:r>
              <a:rPr lang="en-US" b="1" dirty="0">
                <a:solidFill>
                  <a:srgbClr val="0000FF"/>
                </a:solidFill>
              </a:rPr>
              <a:t>32b</a:t>
            </a:r>
            <a:r>
              <a:rPr lang="en-US" dirty="0"/>
              <a:t> = 2</a:t>
            </a:r>
            <a:r>
              <a:rPr lang="en-US" baseline="30000" dirty="0"/>
              <a:t>7 </a:t>
            </a:r>
            <a:r>
              <a:rPr lang="en-US" dirty="0"/>
              <a:t>slots * 2</a:t>
            </a:r>
            <a:r>
              <a:rPr lang="en-US" baseline="30000" dirty="0"/>
              <a:t>5</a:t>
            </a:r>
            <a:r>
              <a:rPr lang="en-US" dirty="0"/>
              <a:t> bits = 4Kbits (/8=</a:t>
            </a:r>
            <a:r>
              <a:rPr lang="en-US" b="1" dirty="0">
                <a:solidFill>
                  <a:srgbClr val="FF0000"/>
                </a:solidFill>
              </a:rPr>
              <a:t>512Bytes</a:t>
            </a:r>
            <a:r>
              <a:rPr lang="en-US" dirty="0"/>
              <a:t>)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48600" y="1028700"/>
            <a:ext cx="1014222" cy="228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16</a:t>
            </a:r>
            <a:r>
              <a:rPr lang="en-US" dirty="0"/>
              <a:t>x</a:t>
            </a:r>
            <a:r>
              <a:rPr lang="en-US" b="1" dirty="0">
                <a:solidFill>
                  <a:srgbClr val="0000FF"/>
                </a:solidFill>
              </a:rPr>
              <a:t>32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56601" y="1270000"/>
            <a:ext cx="1014222" cy="228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16</a:t>
            </a:r>
            <a:r>
              <a:rPr lang="en-US" dirty="0"/>
              <a:t>x</a:t>
            </a:r>
            <a:r>
              <a:rPr lang="en-US" b="1" dirty="0">
                <a:solidFill>
                  <a:srgbClr val="0000FF"/>
                </a:solidFill>
              </a:rPr>
              <a:t>32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56601" y="1511300"/>
            <a:ext cx="1014222" cy="228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16</a:t>
            </a:r>
            <a:r>
              <a:rPr lang="en-US" dirty="0"/>
              <a:t>x</a:t>
            </a:r>
            <a:r>
              <a:rPr lang="en-US" b="1" dirty="0">
                <a:solidFill>
                  <a:srgbClr val="0000FF"/>
                </a:solidFill>
              </a:rPr>
              <a:t>32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69301" y="1765300"/>
            <a:ext cx="1014222" cy="228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16</a:t>
            </a:r>
            <a:r>
              <a:rPr lang="en-US" dirty="0"/>
              <a:t>x</a:t>
            </a:r>
            <a:r>
              <a:rPr lang="en-US" b="1" dirty="0">
                <a:solidFill>
                  <a:srgbClr val="0000FF"/>
                </a:solidFill>
              </a:rPr>
              <a:t>32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9301" y="2006600"/>
            <a:ext cx="1014222" cy="228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16</a:t>
            </a:r>
            <a:r>
              <a:rPr lang="en-US" dirty="0"/>
              <a:t>x</a:t>
            </a:r>
            <a:r>
              <a:rPr lang="en-US" b="1" dirty="0">
                <a:solidFill>
                  <a:srgbClr val="0000FF"/>
                </a:solidFill>
              </a:rPr>
              <a:t>32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77302" y="2247900"/>
            <a:ext cx="1014222" cy="228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16</a:t>
            </a:r>
            <a:r>
              <a:rPr lang="en-US" dirty="0"/>
              <a:t>x</a:t>
            </a:r>
            <a:r>
              <a:rPr lang="en-US" b="1" dirty="0">
                <a:solidFill>
                  <a:srgbClr val="0000FF"/>
                </a:solidFill>
              </a:rPr>
              <a:t>32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302" y="2489200"/>
            <a:ext cx="1014222" cy="228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16</a:t>
            </a:r>
            <a:r>
              <a:rPr lang="en-US" dirty="0"/>
              <a:t>x</a:t>
            </a:r>
            <a:r>
              <a:rPr lang="en-US" b="1" dirty="0">
                <a:solidFill>
                  <a:srgbClr val="0000FF"/>
                </a:solidFill>
              </a:rPr>
              <a:t>32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90002" y="2743200"/>
            <a:ext cx="1014222" cy="228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16</a:t>
            </a:r>
            <a:r>
              <a:rPr lang="en-US" dirty="0"/>
              <a:t>x</a:t>
            </a:r>
            <a:r>
              <a:rPr lang="en-US" b="1" dirty="0">
                <a:solidFill>
                  <a:srgbClr val="0000FF"/>
                </a:solidFill>
              </a:rPr>
              <a:t>32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34199" y="8081294"/>
            <a:ext cx="1014222" cy="228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64 Byte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70607" y="8411131"/>
            <a:ext cx="1633414" cy="30426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512 Byte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096000" y="2133600"/>
            <a:ext cx="1524000" cy="1143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642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4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dirty="0"/>
              <a:t>Low V.S. High Order</a:t>
            </a:r>
            <a:br>
              <a:rPr lang="en-US" dirty="0"/>
            </a:br>
            <a:r>
              <a:rPr lang="en-US" dirty="0"/>
              <a:t>Dictates Access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5400" y="2667000"/>
            <a:ext cx="1219200" cy="2895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br>
              <a:rPr lang="en-US" dirty="0"/>
            </a:b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Low</a:t>
            </a:r>
          </a:p>
          <a:p>
            <a:pPr algn="ctr"/>
            <a:r>
              <a:rPr lang="en-US" dirty="0"/>
              <a:t>Order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1699" y="2768600"/>
            <a:ext cx="1014222" cy="228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0</a:t>
            </a:r>
            <a:r>
              <a:rPr lang="en-US" b="1" dirty="0">
                <a:solidFill>
                  <a:schemeClr val="tx1"/>
                </a:solidFill>
              </a:rPr>
              <a:t>,</a:t>
            </a:r>
            <a:r>
              <a:rPr lang="en-US" b="1" dirty="0">
                <a:solidFill>
                  <a:srgbClr val="008000"/>
                </a:solidFill>
              </a:rPr>
              <a:t>0</a:t>
            </a:r>
            <a:r>
              <a:rPr lang="en-US" b="1" dirty="0">
                <a:solidFill>
                  <a:schemeClr val="tx1"/>
                </a:solidFill>
              </a:rPr>
              <a:t>,</a:t>
            </a:r>
            <a:r>
              <a:rPr lang="en-US" b="1" dirty="0">
                <a:solidFill>
                  <a:srgbClr val="0000FF"/>
                </a:solidFill>
              </a:rPr>
              <a:t>0</a:t>
            </a:r>
            <a:r>
              <a:rPr lang="en-US" b="1" dirty="0">
                <a:solidFill>
                  <a:schemeClr val="tx1"/>
                </a:solidFill>
              </a:rPr>
              <a:t>,</a:t>
            </a:r>
            <a:r>
              <a:rPr lang="en-US" b="1" dirty="0">
                <a:solidFill>
                  <a:srgbClr val="660066"/>
                </a:solidFill>
              </a:rPr>
              <a:t>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9700" y="3009900"/>
            <a:ext cx="1014222" cy="228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1</a:t>
            </a:r>
            <a:r>
              <a:rPr lang="en-US" b="1" dirty="0">
                <a:solidFill>
                  <a:srgbClr val="000000"/>
                </a:solidFill>
              </a:rPr>
              <a:t>,</a:t>
            </a:r>
            <a:r>
              <a:rPr lang="en-US" b="1" dirty="0">
                <a:solidFill>
                  <a:srgbClr val="008000"/>
                </a:solidFill>
              </a:rPr>
              <a:t>1</a:t>
            </a:r>
            <a:r>
              <a:rPr lang="en-US" b="1" dirty="0">
                <a:solidFill>
                  <a:srgbClr val="000000"/>
                </a:solidFill>
              </a:rPr>
              <a:t>,</a:t>
            </a:r>
            <a:r>
              <a:rPr lang="en-US" b="1" dirty="0">
                <a:solidFill>
                  <a:srgbClr val="0000FF"/>
                </a:solidFill>
              </a:rPr>
              <a:t>1</a:t>
            </a:r>
            <a:r>
              <a:rPr lang="en-US" b="1" dirty="0">
                <a:solidFill>
                  <a:srgbClr val="000000"/>
                </a:solidFill>
              </a:rPr>
              <a:t>,</a:t>
            </a:r>
            <a:r>
              <a:rPr lang="en-US" b="1" dirty="0">
                <a:solidFill>
                  <a:srgbClr val="660066"/>
                </a:solidFill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2400" y="4457700"/>
            <a:ext cx="1014222" cy="228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7</a:t>
            </a:r>
            <a:r>
              <a:rPr lang="en-US" b="1" dirty="0">
                <a:solidFill>
                  <a:srgbClr val="000000"/>
                </a:solidFill>
              </a:rPr>
              <a:t>,</a:t>
            </a:r>
            <a:r>
              <a:rPr lang="en-US" b="1" dirty="0">
                <a:solidFill>
                  <a:srgbClr val="008000"/>
                </a:solidFill>
              </a:rPr>
              <a:t>7</a:t>
            </a:r>
            <a:r>
              <a:rPr lang="en-US" b="1" dirty="0">
                <a:solidFill>
                  <a:srgbClr val="000000"/>
                </a:solidFill>
              </a:rPr>
              <a:t>,</a:t>
            </a:r>
            <a:r>
              <a:rPr lang="en-US" b="1" dirty="0">
                <a:solidFill>
                  <a:srgbClr val="0000FF"/>
                </a:solidFill>
              </a:rPr>
              <a:t>7</a:t>
            </a:r>
            <a:r>
              <a:rPr lang="en-US" b="1" dirty="0">
                <a:solidFill>
                  <a:srgbClr val="000000"/>
                </a:solidFill>
              </a:rPr>
              <a:t>,</a:t>
            </a:r>
            <a:r>
              <a:rPr lang="en-US" b="1" dirty="0">
                <a:solidFill>
                  <a:srgbClr val="660066"/>
                </a:solidFill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9700" y="3238500"/>
            <a:ext cx="1014222" cy="228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2</a:t>
            </a:r>
            <a:r>
              <a:rPr lang="en-US" b="1" dirty="0"/>
              <a:t>,</a:t>
            </a:r>
            <a:r>
              <a:rPr lang="en-US" b="1" dirty="0">
                <a:solidFill>
                  <a:srgbClr val="008000"/>
                </a:solidFill>
              </a:rPr>
              <a:t>2</a:t>
            </a:r>
            <a:r>
              <a:rPr lang="en-US" b="1" dirty="0"/>
              <a:t>,</a:t>
            </a:r>
            <a:r>
              <a:rPr lang="en-US" b="1" dirty="0">
                <a:solidFill>
                  <a:srgbClr val="0000FF"/>
                </a:solidFill>
              </a:rPr>
              <a:t>2</a:t>
            </a:r>
            <a:r>
              <a:rPr lang="en-US" b="1" dirty="0"/>
              <a:t>,2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478" y="3479800"/>
            <a:ext cx="1014222" cy="228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3</a:t>
            </a:r>
            <a:r>
              <a:rPr lang="en-US" b="1" dirty="0"/>
              <a:t>,</a:t>
            </a:r>
            <a:r>
              <a:rPr lang="en-US" b="1" dirty="0">
                <a:solidFill>
                  <a:srgbClr val="008000"/>
                </a:solidFill>
              </a:rPr>
              <a:t>3</a:t>
            </a:r>
            <a:r>
              <a:rPr lang="en-US" b="1" dirty="0"/>
              <a:t>,</a:t>
            </a:r>
            <a:r>
              <a:rPr lang="en-US" b="1" dirty="0">
                <a:solidFill>
                  <a:srgbClr val="0000FF"/>
                </a:solidFill>
              </a:rPr>
              <a:t>3</a:t>
            </a:r>
            <a:r>
              <a:rPr lang="en-US" b="1" dirty="0"/>
              <a:t>,3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74000" y="2667000"/>
            <a:ext cx="1219200" cy="28956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High</a:t>
            </a:r>
          </a:p>
          <a:p>
            <a:pPr algn="ctr"/>
            <a:r>
              <a:rPr lang="en-US" dirty="0"/>
              <a:t>Order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80299" y="2768600"/>
            <a:ext cx="1014222" cy="228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0,1,2,3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8300" y="3009900"/>
            <a:ext cx="1014222" cy="228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4,5,6,7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4445000"/>
            <a:ext cx="1014222" cy="228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660066"/>
                </a:solidFill>
              </a:rPr>
              <a:t>4,5,6,7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2400" y="3721100"/>
            <a:ext cx="1014222" cy="228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4</a:t>
            </a:r>
            <a:r>
              <a:rPr lang="en-US" b="1" dirty="0"/>
              <a:t>,</a:t>
            </a:r>
            <a:r>
              <a:rPr lang="en-US" b="1" dirty="0">
                <a:solidFill>
                  <a:srgbClr val="008000"/>
                </a:solidFill>
              </a:rPr>
              <a:t>4</a:t>
            </a:r>
            <a:r>
              <a:rPr lang="en-US" b="1" dirty="0"/>
              <a:t>,</a:t>
            </a:r>
            <a:r>
              <a:rPr lang="en-US" b="1" dirty="0">
                <a:solidFill>
                  <a:srgbClr val="0000FF"/>
                </a:solidFill>
              </a:rPr>
              <a:t>4</a:t>
            </a:r>
            <a:r>
              <a:rPr lang="en-US" b="1" dirty="0"/>
              <a:t>,4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4178" y="3962400"/>
            <a:ext cx="1014222" cy="228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5</a:t>
            </a:r>
            <a:r>
              <a:rPr lang="en-US" b="1" dirty="0"/>
              <a:t>,</a:t>
            </a:r>
            <a:r>
              <a:rPr lang="en-US" b="1" dirty="0">
                <a:solidFill>
                  <a:srgbClr val="008000"/>
                </a:solidFill>
              </a:rPr>
              <a:t>5</a:t>
            </a:r>
            <a:r>
              <a:rPr lang="en-US" b="1" dirty="0"/>
              <a:t>,</a:t>
            </a:r>
            <a:r>
              <a:rPr lang="en-US" b="1" dirty="0">
                <a:solidFill>
                  <a:srgbClr val="0000FF"/>
                </a:solidFill>
              </a:rPr>
              <a:t>5</a:t>
            </a:r>
            <a:r>
              <a:rPr lang="en-US" b="1" dirty="0"/>
              <a:t>,5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2400" y="4203700"/>
            <a:ext cx="1014222" cy="228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6</a:t>
            </a:r>
            <a:r>
              <a:rPr lang="en-US" b="1" dirty="0">
                <a:solidFill>
                  <a:srgbClr val="000000"/>
                </a:solidFill>
              </a:rPr>
              <a:t>,</a:t>
            </a:r>
            <a:r>
              <a:rPr lang="en-US" b="1" dirty="0">
                <a:solidFill>
                  <a:srgbClr val="008000"/>
                </a:solidFill>
              </a:rPr>
              <a:t>7</a:t>
            </a:r>
            <a:r>
              <a:rPr lang="en-US" b="1" dirty="0">
                <a:solidFill>
                  <a:srgbClr val="000000"/>
                </a:solidFill>
              </a:rPr>
              <a:t>,</a:t>
            </a:r>
            <a:r>
              <a:rPr lang="en-US" b="1" dirty="0">
                <a:solidFill>
                  <a:srgbClr val="0000FF"/>
                </a:solidFill>
              </a:rPr>
              <a:t>7</a:t>
            </a:r>
            <a:r>
              <a:rPr lang="en-US" b="1" dirty="0">
                <a:solidFill>
                  <a:srgbClr val="000000"/>
                </a:solidFill>
              </a:rPr>
              <a:t>,</a:t>
            </a:r>
            <a:r>
              <a:rPr lang="en-US" b="1" dirty="0">
                <a:solidFill>
                  <a:srgbClr val="660066"/>
                </a:solidFill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7579" y="2438400"/>
            <a:ext cx="649102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</a:t>
            </a:r>
            <a:r>
              <a:rPr lang="en-US" b="1" dirty="0">
                <a:solidFill>
                  <a:srgbClr val="FF6600"/>
                </a:solidFill>
              </a:rPr>
              <a:t>performance</a:t>
            </a:r>
            <a:r>
              <a:rPr lang="en-US" dirty="0">
                <a:solidFill>
                  <a:srgbClr val="FF6600"/>
                </a:solidFill>
              </a:rPr>
              <a:t> </a:t>
            </a:r>
            <a:r>
              <a:rPr lang="en-US" dirty="0"/>
              <a:t>considerations for both configurations</a:t>
            </a:r>
          </a:p>
          <a:p>
            <a:r>
              <a:rPr lang="en-US" dirty="0"/>
              <a:t>Consider multiple 8 element arrays (colored indices here)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chemeClr val="tx2"/>
                </a:solidFill>
              </a:rPr>
              <a:t>Low-order interleaving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Consecutive addresses in memory will be stored in different memory chips/banks/pages </a:t>
            </a:r>
          </a:p>
          <a:p>
            <a:pPr marL="1200150" lvl="2" indent="-285750">
              <a:buFont typeface="Arial"/>
              <a:buChar char="•"/>
            </a:pPr>
            <a:r>
              <a:rPr lang="en-US" b="1" dirty="0" err="1">
                <a:solidFill>
                  <a:srgbClr val="FF6600"/>
                </a:solidFill>
              </a:rPr>
              <a:t>Perf</a:t>
            </a:r>
            <a:r>
              <a:rPr lang="en-US" b="1" dirty="0">
                <a:solidFill>
                  <a:srgbClr val="3366FF"/>
                </a:solidFill>
              </a:rPr>
              <a:t>:</a:t>
            </a:r>
            <a:r>
              <a:rPr lang="en-US" dirty="0"/>
              <a:t> we can access neighboring elements in parallel (all  8 here)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chemeClr val="accent2"/>
                </a:solidFill>
              </a:rPr>
              <a:t>High-order interleaving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Consecutive addresses in memory will be stored consecutively in a chip (overflow goes to the next chip) </a:t>
            </a:r>
          </a:p>
          <a:p>
            <a:pPr marL="1200150" lvl="2" indent="-285750">
              <a:buFont typeface="Arial"/>
              <a:buChar char="•"/>
            </a:pPr>
            <a:r>
              <a:rPr lang="en-US" b="1" dirty="0" err="1">
                <a:solidFill>
                  <a:srgbClr val="FF6600"/>
                </a:solidFill>
              </a:rPr>
              <a:t>Perf</a:t>
            </a:r>
            <a:r>
              <a:rPr lang="en-US" b="1" dirty="0">
                <a:solidFill>
                  <a:srgbClr val="3366FF"/>
                </a:solidFill>
              </a:rPr>
              <a:t>:</a:t>
            </a:r>
            <a:r>
              <a:rPr lang="en-US" dirty="0"/>
              <a:t> caches can prefetch sequentially neighboring elements.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2000" y="1525067"/>
            <a:ext cx="8001000" cy="608533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RAM Address using </a:t>
            </a:r>
            <a:r>
              <a:rPr lang="en-US" b="1" dirty="0"/>
              <a:t>High-Order </a:t>
            </a:r>
            <a:r>
              <a:rPr lang="en-US" dirty="0"/>
              <a:t>Interleaving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556" y="1569016"/>
            <a:ext cx="2411044" cy="28625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Byte Selector bits(1)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8200" y="1563167"/>
            <a:ext cx="1801444" cy="28625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Page bits (5)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67000" y="1563167"/>
            <a:ext cx="3501367" cy="28625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Offset bits(7)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2000" y="6084367"/>
            <a:ext cx="8001000" cy="60853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RAM Address using </a:t>
            </a:r>
            <a:r>
              <a:rPr lang="en-US" b="1" dirty="0"/>
              <a:t>Low-Order </a:t>
            </a:r>
            <a:r>
              <a:rPr lang="en-US" dirty="0"/>
              <a:t>Interleaving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556" y="6128316"/>
            <a:ext cx="2411044" cy="28625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Byte Selector bits(1)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0756" y="6122467"/>
            <a:ext cx="1801444" cy="28625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Page bits (5)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2033" y="6122467"/>
            <a:ext cx="3501367" cy="28625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Offset bits(7)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4203700"/>
            <a:ext cx="1014222" cy="228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660066"/>
                </a:solidFill>
              </a:rPr>
              <a:t>0,1,2,3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88300" y="3251200"/>
            <a:ext cx="1014222" cy="228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8000"/>
                </a:solidFill>
              </a:rPr>
              <a:t>0,1,2,3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96301" y="3492500"/>
            <a:ext cx="1014222" cy="228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8000"/>
                </a:solidFill>
              </a:rPr>
              <a:t>4,5,6,7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3721100"/>
            <a:ext cx="1014222" cy="228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FF"/>
                </a:solidFill>
              </a:rPr>
              <a:t>0,1,2,3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09001" y="3962400"/>
            <a:ext cx="1014222" cy="228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FF"/>
                </a:solidFill>
              </a:rPr>
              <a:t>4,5,6,7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8229600" y="2209800"/>
            <a:ext cx="609600" cy="457200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Down Arrow 33"/>
          <p:cNvSpPr/>
          <p:nvPr/>
        </p:nvSpPr>
        <p:spPr>
          <a:xfrm rot="10800000">
            <a:off x="685800" y="5575300"/>
            <a:ext cx="609600" cy="45720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Bent Arrow 34"/>
          <p:cNvSpPr/>
          <p:nvPr/>
        </p:nvSpPr>
        <p:spPr>
          <a:xfrm rot="5400000">
            <a:off x="2906160" y="4366462"/>
            <a:ext cx="3123804" cy="614276"/>
          </a:xfrm>
          <a:prstGeom prst="ben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Bent Arrow 35"/>
          <p:cNvSpPr/>
          <p:nvPr/>
        </p:nvSpPr>
        <p:spPr>
          <a:xfrm rot="16200000">
            <a:off x="78872" y="2959431"/>
            <a:ext cx="2839822" cy="461515"/>
          </a:xfrm>
          <a:prstGeom prst="ben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Up-Down Arrow 37"/>
          <p:cNvSpPr/>
          <p:nvPr/>
        </p:nvSpPr>
        <p:spPr>
          <a:xfrm>
            <a:off x="9105900" y="1944370"/>
            <a:ext cx="1561902" cy="4493260"/>
          </a:xfrm>
          <a:prstGeom prst="upDown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BS?</a:t>
            </a:r>
          </a:p>
        </p:txBody>
      </p:sp>
    </p:spTree>
    <p:extLst>
      <p:ext uri="{BB962C8B-B14F-4D97-AF65-F5344CB8AC3E}">
        <p14:creationId xmlns:p14="http://schemas.microsoft.com/office/powerpoint/2010/main" val="3159661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3" grpId="0" animBg="1"/>
      <p:bldP spid="34" grpId="0" animBg="1"/>
      <p:bldP spid="35" grpId="1" animBg="1"/>
      <p:bldP spid="36" grpId="0" animBg="1"/>
      <p:bldP spid="3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dirty="0"/>
              <a:t>Byte Addressable V.S. Word Addressable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721176"/>
              </p:ext>
            </p:extLst>
          </p:nvPr>
        </p:nvGraphicFramePr>
        <p:xfrm>
          <a:off x="609600" y="2895600"/>
          <a:ext cx="3429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Contents (0x)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0x0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0x3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2450068"/>
            <a:ext cx="3505200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Byte</a:t>
            </a:r>
            <a:r>
              <a:rPr lang="en-US" dirty="0"/>
              <a:t>-Addressable Memory (x1)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409701" y="5837872"/>
            <a:ext cx="4038601" cy="147732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Addresses move in multiples of </a:t>
            </a:r>
            <a:r>
              <a:rPr lang="en-US" b="1" dirty="0">
                <a:solidFill>
                  <a:srgbClr val="FF6600"/>
                </a:solidFill>
              </a:rPr>
              <a:t>1</a:t>
            </a:r>
            <a:r>
              <a:rPr lang="en-US" dirty="0"/>
              <a:t>, with every </a:t>
            </a:r>
            <a:r>
              <a:rPr lang="en-US" b="1" dirty="0"/>
              <a:t>byte</a:t>
            </a:r>
            <a:r>
              <a:rPr lang="en-US" dirty="0"/>
              <a:t> being targetable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Fetching the contents at </a:t>
            </a:r>
            <a:r>
              <a:rPr lang="en-US" b="1" dirty="0"/>
              <a:t>0x2</a:t>
            </a:r>
            <a:r>
              <a:rPr lang="en-US" dirty="0"/>
              <a:t> delivers the </a:t>
            </a:r>
            <a:r>
              <a:rPr lang="en-US" b="1" dirty="0"/>
              <a:t>byte</a:t>
            </a:r>
            <a:r>
              <a:rPr lang="en-US" dirty="0"/>
              <a:t> holding value 0x10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572040"/>
              </p:ext>
            </p:extLst>
          </p:nvPr>
        </p:nvGraphicFramePr>
        <p:xfrm>
          <a:off x="5029200" y="2895600"/>
          <a:ext cx="3429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Contents (0x)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0x0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0x3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81000" y="4013200"/>
            <a:ext cx="3886200" cy="3810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22000"/>
                </a:schemeClr>
              </a:gs>
              <a:gs pos="80000">
                <a:schemeClr val="accent1">
                  <a:shade val="93000"/>
                  <a:satMod val="130000"/>
                  <a:alpha val="22000"/>
                </a:schemeClr>
              </a:gs>
              <a:gs pos="100000">
                <a:schemeClr val="accent1">
                  <a:shade val="94000"/>
                  <a:satMod val="135000"/>
                  <a:alpha val="22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4876800" y="3975100"/>
            <a:ext cx="3886200" cy="381000"/>
          </a:xfrm>
          <a:prstGeom prst="roundRect">
            <a:avLst/>
          </a:prstGeom>
          <a:gradFill flip="none" rotWithShape="1">
            <a:gsLst>
              <a:gs pos="0">
                <a:schemeClr val="accent2">
                  <a:shade val="51000"/>
                  <a:satMod val="130000"/>
                  <a:alpha val="25000"/>
                </a:schemeClr>
              </a:gs>
              <a:gs pos="80000">
                <a:schemeClr val="accent2">
                  <a:shade val="93000"/>
                  <a:satMod val="130000"/>
                  <a:alpha val="25000"/>
                </a:schemeClr>
              </a:gs>
              <a:gs pos="100000">
                <a:schemeClr val="accent2">
                  <a:shade val="94000"/>
                  <a:satMod val="135000"/>
                  <a:alpha val="25000"/>
                </a:schemeClr>
              </a:gs>
            </a:gsLst>
            <a:lin ang="16200000" scaled="0"/>
            <a:tileRect/>
          </a:gra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749290" y="5638800"/>
            <a:ext cx="5113020" cy="203132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Addresses are issued in multiples of </a:t>
            </a:r>
            <a:r>
              <a:rPr lang="en-US" b="1" dirty="0">
                <a:solidFill>
                  <a:srgbClr val="FF6600"/>
                </a:solidFill>
              </a:rPr>
              <a:t>2</a:t>
            </a:r>
            <a:r>
              <a:rPr lang="en-US" dirty="0"/>
              <a:t>, with each </a:t>
            </a:r>
            <a:r>
              <a:rPr lang="en-US" b="1" dirty="0"/>
              <a:t>word</a:t>
            </a:r>
            <a:r>
              <a:rPr lang="en-US" dirty="0"/>
              <a:t> being targetable (aligned access)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Fetching the contents at </a:t>
            </a:r>
            <a:r>
              <a:rPr lang="en-US" b="1" dirty="0"/>
              <a:t>0x2</a:t>
            </a:r>
            <a:r>
              <a:rPr lang="en-US" dirty="0"/>
              <a:t> delivers the </a:t>
            </a:r>
            <a:r>
              <a:rPr lang="en-US" b="1" dirty="0"/>
              <a:t>word</a:t>
            </a:r>
            <a:r>
              <a:rPr lang="en-US" dirty="0"/>
              <a:t> 0x101F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Use masks/shifting to isolate </a:t>
            </a:r>
            <a:r>
              <a:rPr lang="en-US" b="1" dirty="0"/>
              <a:t>bytes</a:t>
            </a:r>
          </a:p>
          <a:p>
            <a:pPr marL="285750" indent="-285750">
              <a:buFont typeface="Arial"/>
              <a:buChar char="•"/>
            </a:pPr>
            <a:r>
              <a:rPr lang="en-US" b="1" dirty="0"/>
              <a:t>Writing </a:t>
            </a:r>
            <a:r>
              <a:rPr lang="en-US" dirty="0"/>
              <a:t>to address </a:t>
            </a:r>
            <a:r>
              <a:rPr lang="en-US" b="1" dirty="0"/>
              <a:t>0x2 </a:t>
            </a:r>
            <a:r>
              <a:rPr lang="en-US" dirty="0"/>
              <a:t>writes to </a:t>
            </a:r>
            <a:r>
              <a:rPr lang="en-US" b="1" dirty="0"/>
              <a:t>0x3 </a:t>
            </a:r>
            <a:r>
              <a:rPr lang="en-US" dirty="0"/>
              <a:t>as well!</a:t>
            </a:r>
            <a:endParaRPr lang="en-US" b="1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Fetching address 0x1 or 0x3 is </a:t>
            </a:r>
            <a:r>
              <a:rPr lang="en-US" b="1" dirty="0">
                <a:solidFill>
                  <a:srgbClr val="FF0000"/>
                </a:solidFill>
              </a:rPr>
              <a:t>nonaligned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1447800"/>
            <a:ext cx="6934200" cy="9018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Bytes are the smallest addressable collection today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Words are the “default” size of your machine’s operations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Composed one or more bytes (2 here), machine specific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438400"/>
            <a:ext cx="3505200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Word</a:t>
            </a:r>
            <a:r>
              <a:rPr lang="en-US" dirty="0"/>
              <a:t>-Addressable Memory (x2)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1000" y="1981200"/>
            <a:ext cx="60960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/>
              <a:t>More than words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97659" y="4356100"/>
            <a:ext cx="1965341" cy="381000"/>
          </a:xfrm>
          <a:prstGeom prst="roundRect">
            <a:avLst/>
          </a:prstGeom>
          <a:gradFill flip="none" rotWithShape="1">
            <a:gsLst>
              <a:gs pos="0">
                <a:schemeClr val="accent2">
                  <a:shade val="51000"/>
                  <a:satMod val="130000"/>
                  <a:alpha val="25000"/>
                </a:schemeClr>
              </a:gs>
              <a:gs pos="80000">
                <a:schemeClr val="accent2">
                  <a:shade val="93000"/>
                  <a:satMod val="130000"/>
                  <a:alpha val="25000"/>
                </a:schemeClr>
              </a:gs>
              <a:gs pos="100000">
                <a:schemeClr val="accent2">
                  <a:shade val="94000"/>
                  <a:satMod val="135000"/>
                  <a:alpha val="25000"/>
                </a:schemeClr>
              </a:gs>
            </a:gsLst>
            <a:lin ang="16200000" scaled="0"/>
            <a:tileRect/>
          </a:gra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4090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06908" y="76200"/>
            <a:ext cx="9957816" cy="821155"/>
          </a:xfrm>
        </p:spPr>
        <p:txBody>
          <a:bodyPr/>
          <a:lstStyle/>
          <a:p>
            <a:r>
              <a:rPr lang="en-US" dirty="0"/>
              <a:t>Consider 3 Lines </a:t>
            </a:r>
            <a:r>
              <a:rPr lang="en-US" sz="2600" dirty="0"/>
              <a:t>(Address or Byte Select)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0" name="Rounded Rectangle 79"/>
          <p:cNvSpPr/>
          <p:nvPr/>
        </p:nvSpPr>
        <p:spPr>
          <a:xfrm>
            <a:off x="381000" y="1524000"/>
            <a:ext cx="1014222" cy="4107180"/>
          </a:xfrm>
          <a:prstGeom prst="round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1676400" y="3352800"/>
            <a:ext cx="1752600" cy="2209800"/>
          </a:xfrm>
          <a:prstGeom prst="round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3581400" y="4876800"/>
            <a:ext cx="5532120" cy="685800"/>
          </a:xfrm>
          <a:prstGeom prst="round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33222" y="1828800"/>
            <a:ext cx="567771" cy="273718"/>
          </a:xfrm>
          <a:prstGeom prst="rect">
            <a:avLst/>
          </a:prstGeom>
          <a:gradFill rotWithShape="1">
            <a:gsLst>
              <a:gs pos="0">
                <a:srgbClr val="FFFFFF">
                  <a:shade val="51000"/>
                  <a:satMod val="130000"/>
                </a:srgbClr>
              </a:gs>
              <a:gs pos="80000">
                <a:srgbClr val="FFFFFF">
                  <a:shade val="93000"/>
                  <a:satMod val="130000"/>
                </a:srgbClr>
              </a:gs>
              <a:gs pos="100000">
                <a:srgbClr val="FFFFFF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FFFF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32x8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33222" y="2286000"/>
            <a:ext cx="567771" cy="273718"/>
          </a:xfrm>
          <a:prstGeom prst="rect">
            <a:avLst/>
          </a:prstGeom>
          <a:gradFill rotWithShape="1">
            <a:gsLst>
              <a:gs pos="0">
                <a:srgbClr val="FFFFFF">
                  <a:shade val="51000"/>
                  <a:satMod val="130000"/>
                </a:srgbClr>
              </a:gs>
              <a:gs pos="80000">
                <a:srgbClr val="FFFFFF">
                  <a:shade val="93000"/>
                  <a:satMod val="130000"/>
                </a:srgbClr>
              </a:gs>
              <a:gs pos="100000">
                <a:srgbClr val="FFFFFF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FFFF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32x8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33222" y="2743200"/>
            <a:ext cx="567771" cy="273718"/>
          </a:xfrm>
          <a:prstGeom prst="rect">
            <a:avLst/>
          </a:prstGeom>
          <a:gradFill rotWithShape="1">
            <a:gsLst>
              <a:gs pos="0">
                <a:srgbClr val="FFFFFF">
                  <a:shade val="51000"/>
                  <a:satMod val="130000"/>
                </a:srgbClr>
              </a:gs>
              <a:gs pos="80000">
                <a:srgbClr val="FFFFFF">
                  <a:shade val="93000"/>
                  <a:satMod val="130000"/>
                </a:srgbClr>
              </a:gs>
              <a:gs pos="100000">
                <a:srgbClr val="FFFFFF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FFFF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32x8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33222" y="3200400"/>
            <a:ext cx="567771" cy="273718"/>
          </a:xfrm>
          <a:prstGeom prst="rect">
            <a:avLst/>
          </a:prstGeom>
          <a:gradFill rotWithShape="1">
            <a:gsLst>
              <a:gs pos="0">
                <a:srgbClr val="FFFFFF">
                  <a:shade val="51000"/>
                  <a:satMod val="130000"/>
                </a:srgbClr>
              </a:gs>
              <a:gs pos="80000">
                <a:srgbClr val="FFFFFF">
                  <a:shade val="93000"/>
                  <a:satMod val="130000"/>
                </a:srgbClr>
              </a:gs>
              <a:gs pos="100000">
                <a:srgbClr val="FFFFFF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FFFF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32x8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33222" y="3657600"/>
            <a:ext cx="567771" cy="273718"/>
          </a:xfrm>
          <a:prstGeom prst="rect">
            <a:avLst/>
          </a:prstGeom>
          <a:gradFill rotWithShape="1">
            <a:gsLst>
              <a:gs pos="0">
                <a:srgbClr val="FFFFFF">
                  <a:shade val="51000"/>
                  <a:satMod val="130000"/>
                </a:srgbClr>
              </a:gs>
              <a:gs pos="80000">
                <a:srgbClr val="FFFFFF">
                  <a:shade val="93000"/>
                  <a:satMod val="130000"/>
                </a:srgbClr>
              </a:gs>
              <a:gs pos="100000">
                <a:srgbClr val="FFFFFF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FFFF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32x8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33222" y="4114800"/>
            <a:ext cx="567771" cy="273718"/>
          </a:xfrm>
          <a:prstGeom prst="rect">
            <a:avLst/>
          </a:prstGeom>
          <a:gradFill rotWithShape="1">
            <a:gsLst>
              <a:gs pos="0">
                <a:srgbClr val="FFFFFF">
                  <a:shade val="51000"/>
                  <a:satMod val="130000"/>
                </a:srgbClr>
              </a:gs>
              <a:gs pos="80000">
                <a:srgbClr val="FFFFFF">
                  <a:shade val="93000"/>
                  <a:satMod val="130000"/>
                </a:srgbClr>
              </a:gs>
              <a:gs pos="100000">
                <a:srgbClr val="FFFFFF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FFFF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32x8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33222" y="4572000"/>
            <a:ext cx="567771" cy="273718"/>
          </a:xfrm>
          <a:prstGeom prst="rect">
            <a:avLst/>
          </a:prstGeom>
          <a:gradFill rotWithShape="1">
            <a:gsLst>
              <a:gs pos="0">
                <a:srgbClr val="FFFFFF">
                  <a:shade val="51000"/>
                  <a:satMod val="130000"/>
                </a:srgbClr>
              </a:gs>
              <a:gs pos="80000">
                <a:srgbClr val="FFFFFF">
                  <a:shade val="93000"/>
                  <a:satMod val="130000"/>
                </a:srgbClr>
              </a:gs>
              <a:gs pos="100000">
                <a:srgbClr val="FFFFFF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FFFF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32x8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09600" y="5029200"/>
            <a:ext cx="567771" cy="273718"/>
          </a:xfrm>
          <a:prstGeom prst="rect">
            <a:avLst/>
          </a:prstGeom>
          <a:gradFill rotWithShape="1">
            <a:gsLst>
              <a:gs pos="0">
                <a:srgbClr val="FFFFFF">
                  <a:shade val="51000"/>
                  <a:satMod val="130000"/>
                </a:srgbClr>
              </a:gs>
              <a:gs pos="80000">
                <a:srgbClr val="FFFFFF">
                  <a:shade val="93000"/>
                  <a:satMod val="130000"/>
                </a:srgbClr>
              </a:gs>
              <a:gs pos="100000">
                <a:srgbClr val="FFFFFF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FFFF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32x8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905000" y="3657600"/>
            <a:ext cx="567771" cy="273718"/>
          </a:xfrm>
          <a:prstGeom prst="rect">
            <a:avLst/>
          </a:prstGeom>
          <a:gradFill rotWithShape="1">
            <a:gsLst>
              <a:gs pos="0">
                <a:srgbClr val="FFFFFF">
                  <a:shade val="51000"/>
                  <a:satMod val="130000"/>
                </a:srgbClr>
              </a:gs>
              <a:gs pos="80000">
                <a:srgbClr val="FFFFFF">
                  <a:shade val="93000"/>
                  <a:satMod val="130000"/>
                </a:srgbClr>
              </a:gs>
              <a:gs pos="100000">
                <a:srgbClr val="FFFFFF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FFFF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32x8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905000" y="4114800"/>
            <a:ext cx="567771" cy="273718"/>
          </a:xfrm>
          <a:prstGeom prst="rect">
            <a:avLst/>
          </a:prstGeom>
          <a:gradFill rotWithShape="1">
            <a:gsLst>
              <a:gs pos="0">
                <a:srgbClr val="FFFFFF">
                  <a:shade val="51000"/>
                  <a:satMod val="130000"/>
                </a:srgbClr>
              </a:gs>
              <a:gs pos="80000">
                <a:srgbClr val="FFFFFF">
                  <a:shade val="93000"/>
                  <a:satMod val="130000"/>
                </a:srgbClr>
              </a:gs>
              <a:gs pos="100000">
                <a:srgbClr val="FFFFFF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FFFF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32x8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905000" y="4572000"/>
            <a:ext cx="567771" cy="273718"/>
          </a:xfrm>
          <a:prstGeom prst="rect">
            <a:avLst/>
          </a:prstGeom>
          <a:gradFill rotWithShape="1">
            <a:gsLst>
              <a:gs pos="0">
                <a:srgbClr val="FFFFFF">
                  <a:shade val="51000"/>
                  <a:satMod val="130000"/>
                </a:srgbClr>
              </a:gs>
              <a:gs pos="80000">
                <a:srgbClr val="FFFFFF">
                  <a:shade val="93000"/>
                  <a:satMod val="130000"/>
                </a:srgbClr>
              </a:gs>
              <a:gs pos="100000">
                <a:srgbClr val="FFFFFF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FFFF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32x8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905000" y="5029200"/>
            <a:ext cx="567771" cy="273718"/>
          </a:xfrm>
          <a:prstGeom prst="rect">
            <a:avLst/>
          </a:prstGeom>
          <a:gradFill rotWithShape="1">
            <a:gsLst>
              <a:gs pos="0">
                <a:srgbClr val="FFFFFF">
                  <a:shade val="51000"/>
                  <a:satMod val="130000"/>
                </a:srgbClr>
              </a:gs>
              <a:gs pos="80000">
                <a:srgbClr val="FFFFFF">
                  <a:shade val="93000"/>
                  <a:satMod val="130000"/>
                </a:srgbClr>
              </a:gs>
              <a:gs pos="100000">
                <a:srgbClr val="FFFFFF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FFFF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32x8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667000" y="3657600"/>
            <a:ext cx="567771" cy="273718"/>
          </a:xfrm>
          <a:prstGeom prst="rect">
            <a:avLst/>
          </a:prstGeom>
          <a:gradFill rotWithShape="1">
            <a:gsLst>
              <a:gs pos="0">
                <a:srgbClr val="FFFFFF">
                  <a:shade val="51000"/>
                  <a:satMod val="130000"/>
                </a:srgbClr>
              </a:gs>
              <a:gs pos="80000">
                <a:srgbClr val="FFFFFF">
                  <a:shade val="93000"/>
                  <a:satMod val="130000"/>
                </a:srgbClr>
              </a:gs>
              <a:gs pos="100000">
                <a:srgbClr val="FFFFFF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FFFF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32x8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667000" y="4114800"/>
            <a:ext cx="567771" cy="273718"/>
          </a:xfrm>
          <a:prstGeom prst="rect">
            <a:avLst/>
          </a:prstGeom>
          <a:gradFill rotWithShape="1">
            <a:gsLst>
              <a:gs pos="0">
                <a:srgbClr val="FFFFFF">
                  <a:shade val="51000"/>
                  <a:satMod val="130000"/>
                </a:srgbClr>
              </a:gs>
              <a:gs pos="80000">
                <a:srgbClr val="FFFFFF">
                  <a:shade val="93000"/>
                  <a:satMod val="130000"/>
                </a:srgbClr>
              </a:gs>
              <a:gs pos="100000">
                <a:srgbClr val="FFFFFF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FFFF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32x8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667000" y="4572000"/>
            <a:ext cx="567771" cy="273718"/>
          </a:xfrm>
          <a:prstGeom prst="rect">
            <a:avLst/>
          </a:prstGeom>
          <a:gradFill rotWithShape="1">
            <a:gsLst>
              <a:gs pos="0">
                <a:srgbClr val="FFFFFF">
                  <a:shade val="51000"/>
                  <a:satMod val="130000"/>
                </a:srgbClr>
              </a:gs>
              <a:gs pos="80000">
                <a:srgbClr val="FFFFFF">
                  <a:shade val="93000"/>
                  <a:satMod val="130000"/>
                </a:srgbClr>
              </a:gs>
              <a:gs pos="100000">
                <a:srgbClr val="FFFFFF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FFFF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32x8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667000" y="5029200"/>
            <a:ext cx="567771" cy="273718"/>
          </a:xfrm>
          <a:prstGeom prst="rect">
            <a:avLst/>
          </a:prstGeom>
          <a:gradFill rotWithShape="1">
            <a:gsLst>
              <a:gs pos="0">
                <a:srgbClr val="FFFFFF">
                  <a:shade val="51000"/>
                  <a:satMod val="130000"/>
                </a:srgbClr>
              </a:gs>
              <a:gs pos="80000">
                <a:srgbClr val="FFFFFF">
                  <a:shade val="93000"/>
                  <a:satMod val="130000"/>
                </a:srgbClr>
              </a:gs>
              <a:gs pos="100000">
                <a:srgbClr val="FFFFFF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FFFF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32x8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675126" y="5105400"/>
            <a:ext cx="567771" cy="273718"/>
          </a:xfrm>
          <a:prstGeom prst="rect">
            <a:avLst/>
          </a:prstGeom>
          <a:gradFill rotWithShape="1">
            <a:gsLst>
              <a:gs pos="0">
                <a:srgbClr val="FFFFFF">
                  <a:shade val="51000"/>
                  <a:satMod val="130000"/>
                </a:srgbClr>
              </a:gs>
              <a:gs pos="80000">
                <a:srgbClr val="FFFFFF">
                  <a:shade val="93000"/>
                  <a:satMod val="130000"/>
                </a:srgbClr>
              </a:gs>
              <a:gs pos="100000">
                <a:srgbClr val="FFFFFF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FFFF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32x8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319097" y="5105400"/>
            <a:ext cx="567771" cy="273718"/>
          </a:xfrm>
          <a:prstGeom prst="rect">
            <a:avLst/>
          </a:prstGeom>
          <a:gradFill rotWithShape="1">
            <a:gsLst>
              <a:gs pos="0">
                <a:srgbClr val="FFFFFF">
                  <a:shade val="51000"/>
                  <a:satMod val="130000"/>
                </a:srgbClr>
              </a:gs>
              <a:gs pos="80000">
                <a:srgbClr val="FFFFFF">
                  <a:shade val="93000"/>
                  <a:satMod val="130000"/>
                </a:srgbClr>
              </a:gs>
              <a:gs pos="100000">
                <a:srgbClr val="FFFFFF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FFFF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32x8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004897" y="5105400"/>
            <a:ext cx="567771" cy="273718"/>
          </a:xfrm>
          <a:prstGeom prst="rect">
            <a:avLst/>
          </a:prstGeom>
          <a:gradFill rotWithShape="1">
            <a:gsLst>
              <a:gs pos="0">
                <a:srgbClr val="FFFFFF">
                  <a:shade val="51000"/>
                  <a:satMod val="130000"/>
                </a:srgbClr>
              </a:gs>
              <a:gs pos="80000">
                <a:srgbClr val="FFFFFF">
                  <a:shade val="93000"/>
                  <a:satMod val="130000"/>
                </a:srgbClr>
              </a:gs>
              <a:gs pos="100000">
                <a:srgbClr val="FFFFFF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FFFF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32x8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690697" y="5105400"/>
            <a:ext cx="567771" cy="273718"/>
          </a:xfrm>
          <a:prstGeom prst="rect">
            <a:avLst/>
          </a:prstGeom>
          <a:gradFill rotWithShape="1">
            <a:gsLst>
              <a:gs pos="0">
                <a:srgbClr val="FFFFFF">
                  <a:shade val="51000"/>
                  <a:satMod val="130000"/>
                </a:srgbClr>
              </a:gs>
              <a:gs pos="80000">
                <a:srgbClr val="FFFFFF">
                  <a:shade val="93000"/>
                  <a:satMod val="130000"/>
                </a:srgbClr>
              </a:gs>
              <a:gs pos="100000">
                <a:srgbClr val="FFFFFF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FFFF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32x8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425784" y="5105400"/>
            <a:ext cx="567771" cy="273718"/>
          </a:xfrm>
          <a:prstGeom prst="rect">
            <a:avLst/>
          </a:prstGeom>
          <a:gradFill rotWithShape="1">
            <a:gsLst>
              <a:gs pos="0">
                <a:srgbClr val="FFFFFF">
                  <a:shade val="51000"/>
                  <a:satMod val="130000"/>
                </a:srgbClr>
              </a:gs>
              <a:gs pos="80000">
                <a:srgbClr val="FFFFFF">
                  <a:shade val="93000"/>
                  <a:satMod val="130000"/>
                </a:srgbClr>
              </a:gs>
              <a:gs pos="100000">
                <a:srgbClr val="FFFFFF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FFFF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32x8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069755" y="5105400"/>
            <a:ext cx="567771" cy="273718"/>
          </a:xfrm>
          <a:prstGeom prst="rect">
            <a:avLst/>
          </a:prstGeom>
          <a:gradFill rotWithShape="1">
            <a:gsLst>
              <a:gs pos="0">
                <a:srgbClr val="FFFFFF">
                  <a:shade val="51000"/>
                  <a:satMod val="130000"/>
                </a:srgbClr>
              </a:gs>
              <a:gs pos="80000">
                <a:srgbClr val="FFFFFF">
                  <a:shade val="93000"/>
                  <a:satMod val="130000"/>
                </a:srgbClr>
              </a:gs>
              <a:gs pos="100000">
                <a:srgbClr val="FFFFFF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FFFF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32x8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755555" y="5105400"/>
            <a:ext cx="567771" cy="273718"/>
          </a:xfrm>
          <a:prstGeom prst="rect">
            <a:avLst/>
          </a:prstGeom>
          <a:gradFill rotWithShape="1">
            <a:gsLst>
              <a:gs pos="0">
                <a:srgbClr val="FFFFFF">
                  <a:shade val="51000"/>
                  <a:satMod val="130000"/>
                </a:srgbClr>
              </a:gs>
              <a:gs pos="80000">
                <a:srgbClr val="FFFFFF">
                  <a:shade val="93000"/>
                  <a:satMod val="130000"/>
                </a:srgbClr>
              </a:gs>
              <a:gs pos="100000">
                <a:srgbClr val="FFFFFF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FFFF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32x8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441355" y="5105400"/>
            <a:ext cx="567771" cy="273718"/>
          </a:xfrm>
          <a:prstGeom prst="rect">
            <a:avLst/>
          </a:prstGeom>
          <a:gradFill rotWithShape="1">
            <a:gsLst>
              <a:gs pos="0">
                <a:srgbClr val="FFFFFF">
                  <a:shade val="51000"/>
                  <a:satMod val="130000"/>
                </a:srgbClr>
              </a:gs>
              <a:gs pos="80000">
                <a:srgbClr val="FFFFFF">
                  <a:shade val="93000"/>
                  <a:satMod val="130000"/>
                </a:srgbClr>
              </a:gs>
              <a:gs pos="100000">
                <a:srgbClr val="FFFFFF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FFFF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32x8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267200" y="4724400"/>
            <a:ext cx="4419600" cy="276999"/>
          </a:xfrm>
          <a:prstGeom prst="rect">
            <a:avLst/>
          </a:prstGeom>
          <a:gradFill rotWithShape="1">
            <a:gsLst>
              <a:gs pos="0">
                <a:srgbClr val="000000">
                  <a:shade val="51000"/>
                  <a:satMod val="130000"/>
                </a:srgbClr>
              </a:gs>
              <a:gs pos="80000">
                <a:srgbClr val="000000">
                  <a:shade val="93000"/>
                  <a:satMod val="130000"/>
                </a:srgbClr>
              </a:gs>
              <a:gs pos="100000">
                <a:srgbClr val="000000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No address lines here, all 3 lines select one byte from 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676400" y="2895600"/>
            <a:ext cx="1828800" cy="646331"/>
          </a:xfrm>
          <a:prstGeom prst="rect">
            <a:avLst/>
          </a:prstGeom>
          <a:gradFill rotWithShape="1">
            <a:gsLst>
              <a:gs pos="0">
                <a:srgbClr val="000000">
                  <a:shade val="51000"/>
                  <a:satMod val="130000"/>
                </a:srgbClr>
              </a:gs>
              <a:gs pos="80000">
                <a:srgbClr val="000000">
                  <a:shade val="93000"/>
                  <a:satMod val="130000"/>
                </a:srgbClr>
              </a:gs>
              <a:gs pos="100000">
                <a:srgbClr val="000000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A mix of address/page selection bits and byte selector bits (2,1)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81000" y="1066800"/>
            <a:ext cx="3352800" cy="646331"/>
          </a:xfrm>
          <a:prstGeom prst="rect">
            <a:avLst/>
          </a:prstGeom>
          <a:gradFill rotWithShape="1">
            <a:gsLst>
              <a:gs pos="0">
                <a:srgbClr val="000000">
                  <a:shade val="51000"/>
                  <a:satMod val="130000"/>
                </a:srgbClr>
              </a:gs>
              <a:gs pos="80000">
                <a:srgbClr val="000000">
                  <a:shade val="93000"/>
                  <a:satMod val="130000"/>
                </a:srgbClr>
              </a:gs>
              <a:gs pos="100000">
                <a:srgbClr val="000000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All address bits are used to define the max number of mappable bins, where each bin holds one byte (3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addr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 bits, no BS bits)</a:t>
            </a:r>
          </a:p>
        </p:txBody>
      </p:sp>
      <p:sp>
        <p:nvSpPr>
          <p:cNvPr id="110" name="Left Brace 109"/>
          <p:cNvSpPr/>
          <p:nvPr/>
        </p:nvSpPr>
        <p:spPr>
          <a:xfrm>
            <a:off x="76200" y="1752600"/>
            <a:ext cx="762000" cy="3657600"/>
          </a:xfrm>
          <a:prstGeom prst="leftBrace">
            <a:avLst/>
          </a:prstGeom>
          <a:noFill/>
          <a:ln w="38100" cap="flat" cmpd="sng" algn="ctr">
            <a:solidFill>
              <a:srgbClr val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111" name="Left Brace 110"/>
          <p:cNvSpPr/>
          <p:nvPr/>
        </p:nvSpPr>
        <p:spPr>
          <a:xfrm>
            <a:off x="1536700" y="3581400"/>
            <a:ext cx="520700" cy="1828800"/>
          </a:xfrm>
          <a:prstGeom prst="leftBrace">
            <a:avLst/>
          </a:prstGeom>
          <a:noFill/>
          <a:ln w="38100" cap="flat" cmpd="sng" algn="ctr">
            <a:solidFill>
              <a:srgbClr val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112" name="Left Brace 111"/>
          <p:cNvSpPr/>
          <p:nvPr/>
        </p:nvSpPr>
        <p:spPr>
          <a:xfrm rot="16200000">
            <a:off x="2308224" y="4549775"/>
            <a:ext cx="565150" cy="1676401"/>
          </a:xfrm>
          <a:prstGeom prst="leftBrace">
            <a:avLst/>
          </a:prstGeom>
          <a:noFill/>
          <a:ln w="38100" cap="flat" cmpd="sng" algn="ctr">
            <a:solidFill>
              <a:srgbClr val="AE4845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113" name="Left Brace 112"/>
          <p:cNvSpPr/>
          <p:nvPr/>
        </p:nvSpPr>
        <p:spPr>
          <a:xfrm rot="16200000">
            <a:off x="6064251" y="2787650"/>
            <a:ext cx="520700" cy="5486400"/>
          </a:xfrm>
          <a:prstGeom prst="leftBrace">
            <a:avLst/>
          </a:prstGeom>
          <a:noFill/>
          <a:ln w="38100" cap="flat" cmpd="sng" algn="ctr">
            <a:solidFill>
              <a:srgbClr val="AE4845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114" name="Rounded Rectangle 113"/>
          <p:cNvSpPr/>
          <p:nvPr/>
        </p:nvSpPr>
        <p:spPr>
          <a:xfrm>
            <a:off x="6172200" y="5715000"/>
            <a:ext cx="304800" cy="304800"/>
          </a:xfrm>
          <a:prstGeom prst="round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2438400" y="5715000"/>
            <a:ext cx="304800" cy="304800"/>
          </a:xfrm>
          <a:prstGeom prst="round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1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23900" y="5867400"/>
            <a:ext cx="304800" cy="304800"/>
          </a:xfrm>
          <a:prstGeom prst="roundRect">
            <a:avLst/>
          </a:prstGeom>
          <a:gradFill flip="none" rotWithShape="1">
            <a:gsLst>
              <a:gs pos="0">
                <a:srgbClr val="C0504D">
                  <a:shade val="51000"/>
                  <a:satMod val="130000"/>
                  <a:alpha val="15000"/>
                </a:srgbClr>
              </a:gs>
              <a:gs pos="80000">
                <a:srgbClr val="C0504D">
                  <a:shade val="93000"/>
                  <a:satMod val="130000"/>
                  <a:alpha val="15000"/>
                </a:srgbClr>
              </a:gs>
              <a:gs pos="100000">
                <a:srgbClr val="C0504D">
                  <a:shade val="94000"/>
                  <a:satMod val="135000"/>
                  <a:alpha val="15000"/>
                </a:srgbClr>
              </a:gs>
            </a:gsLst>
            <a:lin ang="16200000" scaled="0"/>
            <a:tileRect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0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0" y="3429000"/>
            <a:ext cx="304800" cy="304800"/>
          </a:xfrm>
          <a:prstGeom prst="roundRect">
            <a:avLst/>
          </a:prstGeom>
          <a:gradFill rotWithShape="1">
            <a:gsLst>
              <a:gs pos="0">
                <a:srgbClr val="000000">
                  <a:shade val="51000"/>
                  <a:satMod val="130000"/>
                </a:srgbClr>
              </a:gs>
              <a:gs pos="80000">
                <a:srgbClr val="000000">
                  <a:shade val="93000"/>
                  <a:satMod val="130000"/>
                </a:srgbClr>
              </a:gs>
              <a:gs pos="100000">
                <a:srgbClr val="000000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447800" y="4343400"/>
            <a:ext cx="304800" cy="304800"/>
          </a:xfrm>
          <a:prstGeom prst="roundRect">
            <a:avLst/>
          </a:prstGeom>
          <a:gradFill rotWithShape="1">
            <a:gsLst>
              <a:gs pos="0">
                <a:srgbClr val="000000">
                  <a:shade val="51000"/>
                  <a:satMod val="130000"/>
                </a:srgbClr>
              </a:gs>
              <a:gs pos="80000">
                <a:srgbClr val="000000">
                  <a:shade val="93000"/>
                  <a:satMod val="130000"/>
                </a:srgbClr>
              </a:gs>
              <a:gs pos="100000">
                <a:srgbClr val="000000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2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3505200" y="4724400"/>
            <a:ext cx="304800" cy="304800"/>
          </a:xfrm>
          <a:prstGeom prst="roundRect">
            <a:avLst/>
          </a:prstGeom>
          <a:gradFill flip="none" rotWithShape="1">
            <a:gsLst>
              <a:gs pos="0">
                <a:srgbClr val="000000">
                  <a:shade val="51000"/>
                  <a:satMod val="130000"/>
                  <a:alpha val="29000"/>
                </a:srgbClr>
              </a:gs>
              <a:gs pos="80000">
                <a:srgbClr val="000000">
                  <a:shade val="93000"/>
                  <a:satMod val="130000"/>
                  <a:alpha val="29000"/>
                </a:srgbClr>
              </a:gs>
              <a:gs pos="100000">
                <a:srgbClr val="000000">
                  <a:shade val="94000"/>
                  <a:satMod val="135000"/>
                  <a:alpha val="29000"/>
                </a:srgbClr>
              </a:gs>
            </a:gsLst>
            <a:lin ang="16200000" scaled="0"/>
            <a:tileRect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038600" y="838200"/>
            <a:ext cx="4994738" cy="1323439"/>
          </a:xfrm>
          <a:prstGeom prst="rect">
            <a:avLst/>
          </a:prstGeom>
          <a:gradFill rotWithShape="1">
            <a:gsLst>
              <a:gs pos="0">
                <a:srgbClr val="FFFFFF">
                  <a:shade val="51000"/>
                  <a:satMod val="130000"/>
                </a:srgbClr>
              </a:gs>
              <a:gs pos="80000">
                <a:srgbClr val="FFFFFF">
                  <a:shade val="93000"/>
                  <a:satMod val="130000"/>
                </a:srgbClr>
              </a:gs>
              <a:gs pos="100000">
                <a:srgbClr val="FFFFFF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FFFF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Just 3 address lines means</a:t>
            </a:r>
            <a:r>
              <a:rPr kumimoji="0" lang="mr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…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000" kern="0" dirty="0">
                <a:solidFill>
                  <a:srgbClr val="000000"/>
                </a:solidFill>
                <a:latin typeface="Frutiger 55 Roman"/>
                <a:ea typeface="ＭＳ Ｐゴシック"/>
              </a:rPr>
              <a:t>A limited amount of mappable memory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000" kern="0" dirty="0">
                <a:solidFill>
                  <a:srgbClr val="000000"/>
                </a:solidFill>
                <a:latin typeface="Frutiger 55 Roman"/>
                <a:ea typeface="ＭＳ Ｐゴシック"/>
              </a:rPr>
              <a:t>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 limited number of ways to subdivide this memory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 &amp; it’s control logic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124" name="Rounded Rectangle 123"/>
          <p:cNvSpPr/>
          <p:nvPr/>
        </p:nvSpPr>
        <p:spPr>
          <a:xfrm>
            <a:off x="3988607" y="2949029"/>
            <a:ext cx="3326593" cy="937171"/>
          </a:xfrm>
          <a:prstGeom prst="round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5756829" y="3505200"/>
            <a:ext cx="567771" cy="273718"/>
          </a:xfrm>
          <a:prstGeom prst="rect">
            <a:avLst/>
          </a:prstGeom>
          <a:gradFill rotWithShape="1">
            <a:gsLst>
              <a:gs pos="0">
                <a:srgbClr val="FFFFFF">
                  <a:shade val="51000"/>
                  <a:satMod val="130000"/>
                </a:srgbClr>
              </a:gs>
              <a:gs pos="80000">
                <a:srgbClr val="FFFFFF">
                  <a:shade val="93000"/>
                  <a:satMod val="130000"/>
                </a:srgbClr>
              </a:gs>
              <a:gs pos="100000">
                <a:srgbClr val="FFFFFF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FFFF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32x8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232829" y="3048000"/>
            <a:ext cx="567771" cy="273718"/>
          </a:xfrm>
          <a:prstGeom prst="rect">
            <a:avLst/>
          </a:prstGeom>
          <a:gradFill rotWithShape="1">
            <a:gsLst>
              <a:gs pos="0">
                <a:srgbClr val="FFFFFF">
                  <a:shade val="51000"/>
                  <a:satMod val="130000"/>
                </a:srgbClr>
              </a:gs>
              <a:gs pos="80000">
                <a:srgbClr val="FFFFFF">
                  <a:shade val="93000"/>
                  <a:satMod val="130000"/>
                </a:srgbClr>
              </a:gs>
              <a:gs pos="100000">
                <a:srgbClr val="FFFFFF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FFFF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32x8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232829" y="3505200"/>
            <a:ext cx="567771" cy="273718"/>
          </a:xfrm>
          <a:prstGeom prst="rect">
            <a:avLst/>
          </a:prstGeom>
          <a:gradFill rotWithShape="1">
            <a:gsLst>
              <a:gs pos="0">
                <a:srgbClr val="FFFFFF">
                  <a:shade val="51000"/>
                  <a:satMod val="130000"/>
                </a:srgbClr>
              </a:gs>
              <a:gs pos="80000">
                <a:srgbClr val="FFFFFF">
                  <a:shade val="93000"/>
                  <a:satMod val="130000"/>
                </a:srgbClr>
              </a:gs>
              <a:gs pos="100000">
                <a:srgbClr val="FFFFFF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FFFF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32x8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518829" y="3048000"/>
            <a:ext cx="567771" cy="273718"/>
          </a:xfrm>
          <a:prstGeom prst="rect">
            <a:avLst/>
          </a:prstGeom>
          <a:gradFill rotWithShape="1">
            <a:gsLst>
              <a:gs pos="0">
                <a:srgbClr val="FFFFFF">
                  <a:shade val="51000"/>
                  <a:satMod val="130000"/>
                </a:srgbClr>
              </a:gs>
              <a:gs pos="80000">
                <a:srgbClr val="FFFFFF">
                  <a:shade val="93000"/>
                  <a:satMod val="130000"/>
                </a:srgbClr>
              </a:gs>
              <a:gs pos="100000">
                <a:srgbClr val="FFFFFF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FFFF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32x8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756829" y="3048000"/>
            <a:ext cx="567771" cy="273718"/>
          </a:xfrm>
          <a:prstGeom prst="rect">
            <a:avLst/>
          </a:prstGeom>
          <a:gradFill rotWithShape="1">
            <a:gsLst>
              <a:gs pos="0">
                <a:srgbClr val="FFFFFF">
                  <a:shade val="51000"/>
                  <a:satMod val="130000"/>
                </a:srgbClr>
              </a:gs>
              <a:gs pos="80000">
                <a:srgbClr val="FFFFFF">
                  <a:shade val="93000"/>
                  <a:satMod val="130000"/>
                </a:srgbClr>
              </a:gs>
              <a:gs pos="100000">
                <a:srgbClr val="FFFFFF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FFFF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32x8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994829" y="3048000"/>
            <a:ext cx="567771" cy="273718"/>
          </a:xfrm>
          <a:prstGeom prst="rect">
            <a:avLst/>
          </a:prstGeom>
          <a:gradFill rotWithShape="1">
            <a:gsLst>
              <a:gs pos="0">
                <a:srgbClr val="FFFFFF">
                  <a:shade val="51000"/>
                  <a:satMod val="130000"/>
                </a:srgbClr>
              </a:gs>
              <a:gs pos="80000">
                <a:srgbClr val="FFFFFF">
                  <a:shade val="93000"/>
                  <a:satMod val="130000"/>
                </a:srgbClr>
              </a:gs>
              <a:gs pos="100000">
                <a:srgbClr val="FFFFFF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FFFF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32x8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994829" y="3505200"/>
            <a:ext cx="567771" cy="273718"/>
          </a:xfrm>
          <a:prstGeom prst="rect">
            <a:avLst/>
          </a:prstGeom>
          <a:gradFill rotWithShape="1">
            <a:gsLst>
              <a:gs pos="0">
                <a:srgbClr val="FFFFFF">
                  <a:shade val="51000"/>
                  <a:satMod val="130000"/>
                </a:srgbClr>
              </a:gs>
              <a:gs pos="80000">
                <a:srgbClr val="FFFFFF">
                  <a:shade val="93000"/>
                  <a:satMod val="130000"/>
                </a:srgbClr>
              </a:gs>
              <a:gs pos="100000">
                <a:srgbClr val="FFFFFF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FFFF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32x8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518829" y="3505200"/>
            <a:ext cx="567771" cy="273718"/>
          </a:xfrm>
          <a:prstGeom prst="rect">
            <a:avLst/>
          </a:prstGeom>
          <a:gradFill rotWithShape="1">
            <a:gsLst>
              <a:gs pos="0">
                <a:srgbClr val="FFFFFF">
                  <a:shade val="51000"/>
                  <a:satMod val="130000"/>
                </a:srgbClr>
              </a:gs>
              <a:gs pos="80000">
                <a:srgbClr val="FFFFFF">
                  <a:shade val="93000"/>
                  <a:satMod val="130000"/>
                </a:srgbClr>
              </a:gs>
              <a:gs pos="100000">
                <a:srgbClr val="FFFFFF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FFFF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32x8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038600" y="2286000"/>
            <a:ext cx="1828800" cy="646331"/>
          </a:xfrm>
          <a:prstGeom prst="rect">
            <a:avLst/>
          </a:prstGeom>
          <a:gradFill rotWithShape="1">
            <a:gsLst>
              <a:gs pos="0">
                <a:srgbClr val="000000">
                  <a:shade val="51000"/>
                  <a:satMod val="130000"/>
                </a:srgbClr>
              </a:gs>
              <a:gs pos="80000">
                <a:srgbClr val="000000">
                  <a:shade val="93000"/>
                  <a:satMod val="130000"/>
                </a:srgbClr>
              </a:gs>
              <a:gs pos="100000">
                <a:srgbClr val="000000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solidFill>
                  <a:srgbClr val="FFFFFF"/>
                </a:solidFill>
                <a:latin typeface="Frutiger 55 Roman"/>
                <a:ea typeface="ＭＳ Ｐゴシック"/>
              </a:rPr>
              <a:t>One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 address/page selection bit and two byte selector bits (1,2)</a:t>
            </a:r>
          </a:p>
        </p:txBody>
      </p:sp>
      <p:sp>
        <p:nvSpPr>
          <p:cNvPr id="134" name="Left Brace 133"/>
          <p:cNvSpPr/>
          <p:nvPr/>
        </p:nvSpPr>
        <p:spPr>
          <a:xfrm>
            <a:off x="3822700" y="3002426"/>
            <a:ext cx="520700" cy="853149"/>
          </a:xfrm>
          <a:prstGeom prst="leftBrace">
            <a:avLst/>
          </a:prstGeom>
          <a:noFill/>
          <a:ln w="38100" cap="flat" cmpd="sng" algn="ctr">
            <a:solidFill>
              <a:srgbClr val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135" name="Left Brace 134"/>
          <p:cNvSpPr/>
          <p:nvPr/>
        </p:nvSpPr>
        <p:spPr>
          <a:xfrm rot="16200000">
            <a:off x="5439551" y="2448125"/>
            <a:ext cx="513773" cy="3085124"/>
          </a:xfrm>
          <a:prstGeom prst="leftBrace">
            <a:avLst/>
          </a:prstGeom>
          <a:noFill/>
          <a:ln w="38100" cap="flat" cmpd="sng" algn="ctr">
            <a:solidFill>
              <a:srgbClr val="AE4845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136" name="Rounded Rectangle 135"/>
          <p:cNvSpPr/>
          <p:nvPr/>
        </p:nvSpPr>
        <p:spPr>
          <a:xfrm>
            <a:off x="5550769" y="4267200"/>
            <a:ext cx="316631" cy="304800"/>
          </a:xfrm>
          <a:prstGeom prst="round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solidFill>
                  <a:srgbClr val="FFFFFF"/>
                </a:solidFill>
                <a:latin typeface="Frutiger 55 Roman"/>
                <a:ea typeface="ＭＳ Ｐゴシック"/>
              </a:rPr>
              <a:t>2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137" name="Rounded Rectangle 136"/>
          <p:cNvSpPr/>
          <p:nvPr/>
        </p:nvSpPr>
        <p:spPr>
          <a:xfrm>
            <a:off x="3733800" y="3276600"/>
            <a:ext cx="304800" cy="304800"/>
          </a:xfrm>
          <a:prstGeom prst="roundRect">
            <a:avLst/>
          </a:prstGeom>
          <a:gradFill rotWithShape="1">
            <a:gsLst>
              <a:gs pos="0">
                <a:srgbClr val="000000">
                  <a:shade val="51000"/>
                  <a:satMod val="130000"/>
                </a:srgbClr>
              </a:gs>
              <a:gs pos="80000">
                <a:srgbClr val="000000">
                  <a:shade val="93000"/>
                  <a:satMod val="130000"/>
                </a:srgbClr>
              </a:gs>
              <a:gs pos="100000">
                <a:srgbClr val="000000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solidFill>
                  <a:srgbClr val="FFFFFF"/>
                </a:solidFill>
                <a:latin typeface="Frutiger 55 Roman"/>
                <a:ea typeface="ＭＳ Ｐゴシック"/>
              </a:rPr>
              <a:t>1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59" name="Left Brace 58"/>
          <p:cNvSpPr/>
          <p:nvPr/>
        </p:nvSpPr>
        <p:spPr>
          <a:xfrm rot="16200000">
            <a:off x="583830" y="5217213"/>
            <a:ext cx="621665" cy="646325"/>
          </a:xfrm>
          <a:prstGeom prst="leftBrace">
            <a:avLst/>
          </a:prstGeom>
          <a:noFill/>
          <a:ln w="38100" cap="flat" cmpd="sng" algn="ctr">
            <a:solidFill>
              <a:srgbClr val="AE4845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24200" y="6324600"/>
            <a:ext cx="4038600" cy="381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Same Area == Same amount of RAM</a:t>
            </a:r>
          </a:p>
        </p:txBody>
      </p:sp>
      <p:sp>
        <p:nvSpPr>
          <p:cNvPr id="61" name="Left Brace 60"/>
          <p:cNvSpPr/>
          <p:nvPr/>
        </p:nvSpPr>
        <p:spPr>
          <a:xfrm>
            <a:off x="3810000" y="4673600"/>
            <a:ext cx="520700" cy="361819"/>
          </a:xfrm>
          <a:prstGeom prst="leftBrace">
            <a:avLst/>
          </a:prstGeom>
          <a:noFill/>
          <a:ln w="38100" cap="flat" cmpd="sng" algn="ctr">
            <a:solidFill>
              <a:srgbClr val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2715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1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4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82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59" grpId="0" animBg="1"/>
      <p:bldP spid="4" grpId="0" animBg="1"/>
      <p:bldP spid="6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63" y="838200"/>
            <a:ext cx="4743450" cy="3436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66523" y="-63500"/>
            <a:ext cx="4810277" cy="762000"/>
          </a:xfrm>
        </p:spPr>
        <p:txBody>
          <a:bodyPr/>
          <a:lstStyle/>
          <a:p>
            <a:r>
              <a:rPr lang="en-US" dirty="0"/>
              <a:t>Selecting Bytes</a:t>
            </a:r>
          </a:p>
        </p:txBody>
      </p:sp>
      <p:pic>
        <p:nvPicPr>
          <p:cNvPr id="12800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762000"/>
            <a:ext cx="3630038" cy="3672052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180000"/>
            </a:camera>
            <a:lightRig rig="threePt" dir="t"/>
          </a:scene3d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8133" name="TextBox 2"/>
          <p:cNvSpPr txBox="1">
            <a:spLocks noChangeArrowheads="1"/>
          </p:cNvSpPr>
          <p:nvPr/>
        </p:nvSpPr>
        <p:spPr bwMode="auto">
          <a:xfrm>
            <a:off x="1295400" y="4572000"/>
            <a:ext cx="19812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600" b="1"/>
              <a:t>RAM</a:t>
            </a:r>
          </a:p>
        </p:txBody>
      </p:sp>
      <p:sp>
        <p:nvSpPr>
          <p:cNvPr id="48134" name="TextBox 7"/>
          <p:cNvSpPr txBox="1">
            <a:spLocks noChangeArrowheads="1"/>
          </p:cNvSpPr>
          <p:nvPr/>
        </p:nvSpPr>
        <p:spPr bwMode="auto">
          <a:xfrm>
            <a:off x="6248400" y="4648200"/>
            <a:ext cx="19812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600" b="1" dirty="0"/>
              <a:t>ROM</a:t>
            </a:r>
          </a:p>
        </p:txBody>
      </p:sp>
      <p:sp>
        <p:nvSpPr>
          <p:cNvPr id="2" name="Rectangle 1"/>
          <p:cNvSpPr/>
          <p:nvPr/>
        </p:nvSpPr>
        <p:spPr>
          <a:xfrm>
            <a:off x="2362200" y="762000"/>
            <a:ext cx="21336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(Stride)</a:t>
            </a:r>
          </a:p>
          <a:p>
            <a:pPr algn="ctr"/>
            <a:endParaRPr lang="en-US" dirty="0">
              <a:solidFill>
                <a:srgbClr val="000000"/>
              </a:solidFill>
            </a:endParaRPr>
          </a:p>
          <a:p>
            <a:pPr algn="ctr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9599" y="1752600"/>
            <a:ext cx="1902601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(Depth)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5120" y="4986338"/>
            <a:ext cx="8831580" cy="258532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dirty="0"/>
              <a:t>Example: Given a </a:t>
            </a:r>
            <a:r>
              <a:rPr lang="en-US" b="1" dirty="0"/>
              <a:t>128 x 4 bit </a:t>
            </a:r>
            <a:r>
              <a:rPr lang="en-US" dirty="0"/>
              <a:t>chip</a:t>
            </a:r>
            <a:r>
              <a:rPr lang="mr-IN" dirty="0"/>
              <a:t>…</a:t>
            </a:r>
            <a:r>
              <a:rPr lang="en-US" dirty="0"/>
              <a:t>.</a:t>
            </a:r>
          </a:p>
          <a:p>
            <a:pPr marL="628650" lvl="1" indent="-171450">
              <a:buFont typeface="Arial"/>
              <a:buChar char="•"/>
            </a:pPr>
            <a:r>
              <a:rPr lang="en-US" dirty="0">
                <a:solidFill>
                  <a:srgbClr val="FF0000"/>
                </a:solidFill>
              </a:rPr>
              <a:t>Q1:</a:t>
            </a:r>
            <a:r>
              <a:rPr lang="en-US" dirty="0"/>
              <a:t> What’s the total storage capacity, in bits?</a:t>
            </a:r>
          </a:p>
          <a:p>
            <a:pPr marL="628650" lvl="1" indent="-171450">
              <a:buFont typeface="Arial"/>
              <a:buChar char="•"/>
            </a:pPr>
            <a:r>
              <a:rPr lang="en-US" dirty="0">
                <a:solidFill>
                  <a:srgbClr val="FF0000"/>
                </a:solidFill>
              </a:rPr>
              <a:t>Q2:</a:t>
            </a:r>
            <a:r>
              <a:rPr lang="en-US" dirty="0"/>
              <a:t> What is </a:t>
            </a:r>
            <a:r>
              <a:rPr lang="en-US" i="1" dirty="0"/>
              <a:t>k</a:t>
            </a:r>
            <a:r>
              <a:rPr lang="en-US" dirty="0"/>
              <a:t> (# of </a:t>
            </a:r>
            <a:r>
              <a:rPr lang="en-US" dirty="0" err="1"/>
              <a:t>addr</a:t>
            </a:r>
            <a:r>
              <a:rPr lang="en-US" dirty="0"/>
              <a:t> lines) assuming we can nibble select? </a:t>
            </a:r>
          </a:p>
          <a:p>
            <a:pPr marL="171450" indent="-171450">
              <a:buFont typeface="Arial"/>
              <a:buChar char="•"/>
            </a:pPr>
            <a:r>
              <a:rPr lang="en-US" dirty="0"/>
              <a:t>Next, consider a chip that is </a:t>
            </a:r>
            <a:r>
              <a:rPr lang="en-US" b="1" dirty="0"/>
              <a:t>512 total bits </a:t>
            </a:r>
            <a:r>
              <a:rPr lang="en-US" dirty="0"/>
              <a:t>divided into </a:t>
            </a:r>
            <a:r>
              <a:rPr lang="en-US" b="1" dirty="0"/>
              <a:t>8 data lines</a:t>
            </a:r>
          </a:p>
          <a:p>
            <a:pPr marL="628650" lvl="1" indent="-171450">
              <a:buFont typeface="Arial"/>
              <a:buChar char="•"/>
            </a:pPr>
            <a:r>
              <a:rPr lang="en-US" dirty="0">
                <a:solidFill>
                  <a:srgbClr val="FF0000"/>
                </a:solidFill>
              </a:rPr>
              <a:t>Q3:</a:t>
            </a:r>
            <a:r>
              <a:rPr lang="en-US" dirty="0"/>
              <a:t> How many addressable slots for 512b total and byte-sized words?</a:t>
            </a:r>
          </a:p>
          <a:p>
            <a:pPr marL="628650" lvl="1" indent="-171450">
              <a:buFont typeface="Arial"/>
              <a:buChar char="•"/>
            </a:pPr>
            <a:r>
              <a:rPr lang="en-US" dirty="0">
                <a:solidFill>
                  <a:srgbClr val="FF0000"/>
                </a:solidFill>
              </a:rPr>
              <a:t>Q4:</a:t>
            </a:r>
            <a:r>
              <a:rPr lang="en-US" dirty="0"/>
              <a:t> What is </a:t>
            </a:r>
            <a:r>
              <a:rPr lang="en-US" i="1" dirty="0"/>
              <a:t>k</a:t>
            </a:r>
            <a:r>
              <a:rPr lang="en-US" dirty="0"/>
              <a:t>, the number of </a:t>
            </a:r>
            <a:r>
              <a:rPr lang="en-US" dirty="0" err="1"/>
              <a:t>addr</a:t>
            </a:r>
            <a:r>
              <a:rPr lang="en-US" dirty="0"/>
              <a:t> lines?</a:t>
            </a:r>
          </a:p>
          <a:p>
            <a:pPr marL="171450" indent="-171450">
              <a:buFont typeface="Arial"/>
              <a:buChar char="•"/>
            </a:pPr>
            <a:r>
              <a:rPr lang="en-US" dirty="0"/>
              <a:t>Next, assume a </a:t>
            </a:r>
            <a:r>
              <a:rPr lang="en-US" b="1" dirty="0"/>
              <a:t>512K x 16b</a:t>
            </a:r>
            <a:r>
              <a:rPr lang="en-US" dirty="0"/>
              <a:t> chip, and </a:t>
            </a:r>
            <a:r>
              <a:rPr lang="en-US" b="1" dirty="0"/>
              <a:t>word-selection</a:t>
            </a:r>
            <a:r>
              <a:rPr lang="en-US" dirty="0"/>
              <a:t> (not </a:t>
            </a:r>
            <a:r>
              <a:rPr lang="en-US" b="1" i="1" dirty="0"/>
              <a:t>byte-selection</a:t>
            </a:r>
            <a:r>
              <a:rPr lang="en-US" dirty="0"/>
              <a:t>).</a:t>
            </a:r>
          </a:p>
          <a:p>
            <a:pPr marL="628650" lvl="1" indent="-171450">
              <a:buFont typeface="Arial"/>
              <a:buChar char="•"/>
            </a:pP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Q5:</a:t>
            </a:r>
            <a:r>
              <a:rPr lang="en-US" dirty="0"/>
              <a:t> What's the size of the address bus? How many data bus?</a:t>
            </a:r>
          </a:p>
          <a:p>
            <a:pPr marL="628650" lvl="1" indent="-171450">
              <a:buFont typeface="Arial"/>
              <a:buChar char="•"/>
            </a:pP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Q6:</a:t>
            </a:r>
            <a:r>
              <a:rPr lang="en-US" dirty="0"/>
              <a:t> Now, same chip but with the ability to </a:t>
            </a:r>
            <a:r>
              <a:rPr lang="en-US" b="1" i="1" dirty="0"/>
              <a:t>byte-select</a:t>
            </a:r>
            <a:r>
              <a:rPr lang="en-US" dirty="0"/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10200" y="-629677"/>
            <a:ext cx="4191000" cy="167878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A1</a:t>
            </a:r>
            <a:r>
              <a:rPr lang="en-US" dirty="0"/>
              <a:t>: 128 slots * 4 bits == 512b total</a:t>
            </a:r>
          </a:p>
          <a:p>
            <a:r>
              <a:rPr lang="en-US" dirty="0">
                <a:solidFill>
                  <a:srgbClr val="0000FF"/>
                </a:solidFill>
              </a:rPr>
              <a:t>A2</a:t>
            </a:r>
            <a:r>
              <a:rPr lang="en-US" dirty="0"/>
              <a:t>: 2^7 == 128, so 7 </a:t>
            </a:r>
            <a:r>
              <a:rPr lang="en-US" dirty="0" err="1"/>
              <a:t>addr</a:t>
            </a:r>
            <a:r>
              <a:rPr lang="en-US" dirty="0"/>
              <a:t> lines to pick</a:t>
            </a:r>
          </a:p>
          <a:p>
            <a:r>
              <a:rPr lang="en-US" dirty="0">
                <a:solidFill>
                  <a:srgbClr val="0000FF"/>
                </a:solidFill>
              </a:rPr>
              <a:t>A3</a:t>
            </a:r>
            <a:r>
              <a:rPr lang="en-US" dirty="0"/>
              <a:t>: 512/8 == 2^9/2^3 == 2^6 bins/slots</a:t>
            </a:r>
          </a:p>
          <a:p>
            <a:r>
              <a:rPr lang="en-US" dirty="0">
                <a:solidFill>
                  <a:srgbClr val="0000FF"/>
                </a:solidFill>
              </a:rPr>
              <a:t>A4</a:t>
            </a:r>
            <a:r>
              <a:rPr lang="en-US" dirty="0"/>
              <a:t>: 6 address lines to pick from 2^6</a:t>
            </a:r>
          </a:p>
          <a:p>
            <a:r>
              <a:rPr lang="en-US" dirty="0">
                <a:solidFill>
                  <a:srgbClr val="0000FF"/>
                </a:solidFill>
              </a:rPr>
              <a:t>A5</a:t>
            </a:r>
            <a:r>
              <a:rPr lang="en-US" dirty="0"/>
              <a:t>: 19 </a:t>
            </a:r>
            <a:r>
              <a:rPr lang="en-US" dirty="0" err="1"/>
              <a:t>addr</a:t>
            </a:r>
            <a:r>
              <a:rPr lang="en-US" dirty="0"/>
              <a:t> lines,  16 data lines</a:t>
            </a:r>
          </a:p>
          <a:p>
            <a:r>
              <a:rPr lang="en-US" dirty="0">
                <a:solidFill>
                  <a:srgbClr val="0000FF"/>
                </a:solidFill>
              </a:rPr>
              <a:t>A6</a:t>
            </a:r>
            <a:r>
              <a:rPr lang="en-US" dirty="0"/>
              <a:t>: 19 </a:t>
            </a:r>
            <a:r>
              <a:rPr lang="en-US" dirty="0" err="1"/>
              <a:t>addr</a:t>
            </a:r>
            <a:r>
              <a:rPr lang="en-US" dirty="0"/>
              <a:t> lines + 1 byte select line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68181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1066800" y="4978094"/>
            <a:ext cx="4330700" cy="24140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/>
              <a:t>Byte Select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9500" y="4736847"/>
            <a:ext cx="4330700" cy="24140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/>
              <a:t>Chip/Page Select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19570" y="69273"/>
            <a:ext cx="5109935" cy="1454727"/>
          </a:xfrm>
        </p:spPr>
        <p:txBody>
          <a:bodyPr/>
          <a:lstStyle/>
          <a:p>
            <a:r>
              <a:rPr lang="en-US" dirty="0"/>
              <a:t>High &amp; Low Order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876800"/>
          </a:xfrm>
        </p:spPr>
        <p:txBody>
          <a:bodyPr>
            <a:normAutofit fontScale="92500"/>
          </a:bodyPr>
          <a:lstStyle/>
          <a:p>
            <a:r>
              <a:rPr lang="en-US" dirty="0"/>
              <a:t>Assume a </a:t>
            </a:r>
            <a:r>
              <a:rPr lang="en-US" b="1" dirty="0">
                <a:solidFill>
                  <a:srgbClr val="FF6600"/>
                </a:solidFill>
              </a:rPr>
              <a:t>4K</a:t>
            </a:r>
            <a:r>
              <a:rPr lang="en-US" dirty="0"/>
              <a:t> x </a:t>
            </a:r>
            <a:r>
              <a:rPr lang="en-US" b="1" dirty="0">
                <a:solidFill>
                  <a:srgbClr val="0000FF"/>
                </a:solidFill>
              </a:rPr>
              <a:t>16</a:t>
            </a:r>
            <a:r>
              <a:rPr lang="en-US" dirty="0"/>
              <a:t> word memory</a:t>
            </a:r>
          </a:p>
          <a:p>
            <a:r>
              <a:rPr lang="en-US" dirty="0"/>
              <a:t>Build a </a:t>
            </a:r>
            <a:r>
              <a:rPr lang="en-US" b="1" dirty="0">
                <a:solidFill>
                  <a:srgbClr val="008000"/>
                </a:solidFill>
              </a:rPr>
              <a:t>32-way interleaved </a:t>
            </a:r>
            <a:r>
              <a:rPr lang="en-US" dirty="0"/>
              <a:t>memory</a:t>
            </a:r>
          </a:p>
          <a:p>
            <a:pPr lvl="1"/>
            <a:r>
              <a:rPr lang="en-US" dirty="0"/>
              <a:t>Just a memory built with </a:t>
            </a:r>
            <a:r>
              <a:rPr lang="en-US" b="1" dirty="0">
                <a:solidFill>
                  <a:srgbClr val="008000"/>
                </a:solidFill>
              </a:rPr>
              <a:t>32 pages </a:t>
            </a:r>
            <a:r>
              <a:rPr lang="en-US" dirty="0"/>
              <a:t>in other terminologies</a:t>
            </a:r>
          </a:p>
          <a:p>
            <a:r>
              <a:rPr lang="en-US" dirty="0"/>
              <a:t>Assume we have only </a:t>
            </a:r>
            <a:r>
              <a:rPr lang="en-US" b="1" dirty="0">
                <a:solidFill>
                  <a:srgbClr val="FF6600"/>
                </a:solidFill>
              </a:rPr>
              <a:t>N</a:t>
            </a:r>
            <a:r>
              <a:rPr lang="en-US" dirty="0"/>
              <a:t> x </a:t>
            </a:r>
            <a:r>
              <a:rPr lang="en-US" b="1" dirty="0">
                <a:solidFill>
                  <a:srgbClr val="0000FF"/>
                </a:solidFill>
              </a:rPr>
              <a:t>8</a:t>
            </a:r>
            <a:r>
              <a:rPr lang="en-US" dirty="0"/>
              <a:t> chips, where you can pick </a:t>
            </a:r>
            <a:r>
              <a:rPr lang="en-US" b="1" dirty="0">
                <a:solidFill>
                  <a:srgbClr val="FF6600"/>
                </a:solidFill>
              </a:rPr>
              <a:t>N	</a:t>
            </a:r>
          </a:p>
          <a:p>
            <a:r>
              <a:rPr lang="en-US" dirty="0">
                <a:solidFill>
                  <a:srgbClr val="FF0000"/>
                </a:solidFill>
              </a:rPr>
              <a:t>Q: </a:t>
            </a:r>
            <a:r>
              <a:rPr lang="en-US" dirty="0"/>
              <a:t>What should </a:t>
            </a:r>
            <a:r>
              <a:rPr lang="en-US" b="1" dirty="0">
                <a:solidFill>
                  <a:srgbClr val="FF6600"/>
                </a:solidFill>
              </a:rPr>
              <a:t>N</a:t>
            </a:r>
            <a:r>
              <a:rPr lang="en-US" dirty="0"/>
              <a:t> be to support </a:t>
            </a:r>
            <a:r>
              <a:rPr lang="en-US" b="1" dirty="0">
                <a:solidFill>
                  <a:srgbClr val="008000"/>
                </a:solidFill>
              </a:rPr>
              <a:t>32 pages </a:t>
            </a:r>
            <a:r>
              <a:rPr lang="en-US" dirty="0"/>
              <a:t>of chips?</a:t>
            </a:r>
          </a:p>
          <a:p>
            <a:r>
              <a:rPr lang="en-US" dirty="0">
                <a:solidFill>
                  <a:srgbClr val="FF0000"/>
                </a:solidFill>
              </a:rPr>
              <a:t>Q2: </a:t>
            </a:r>
            <a:r>
              <a:rPr lang="en-US" dirty="0"/>
              <a:t>How many bits needed to pick from amongst </a:t>
            </a:r>
            <a:r>
              <a:rPr lang="en-US" b="1" dirty="0">
                <a:solidFill>
                  <a:srgbClr val="008000"/>
                </a:solidFill>
              </a:rPr>
              <a:t>32 pages</a:t>
            </a:r>
            <a:r>
              <a:rPr lang="en-US" dirty="0"/>
              <a:t>?</a:t>
            </a:r>
          </a:p>
          <a:p>
            <a:r>
              <a:rPr lang="en-US" dirty="0">
                <a:solidFill>
                  <a:srgbClr val="FF0000"/>
                </a:solidFill>
              </a:rPr>
              <a:t>Q3: </a:t>
            </a:r>
            <a:r>
              <a:rPr lang="en-US" dirty="0"/>
              <a:t>How many bits do we need if we want </a:t>
            </a:r>
            <a:r>
              <a:rPr lang="en-US" b="1" dirty="0"/>
              <a:t>byte</a:t>
            </a:r>
            <a:r>
              <a:rPr lang="en-US" dirty="0"/>
              <a:t> </a:t>
            </a:r>
            <a:r>
              <a:rPr lang="en-US" b="1" dirty="0"/>
              <a:t>addressing</a:t>
            </a:r>
            <a:r>
              <a:rPr lang="en-US" dirty="0"/>
              <a:t>?</a:t>
            </a:r>
          </a:p>
          <a:p>
            <a:r>
              <a:rPr lang="en-US" dirty="0">
                <a:solidFill>
                  <a:srgbClr val="FF0000"/>
                </a:solidFill>
              </a:rPr>
              <a:t>Q4: </a:t>
            </a:r>
            <a:r>
              <a:rPr lang="en-US" dirty="0"/>
              <a:t>Show the address assuming </a:t>
            </a:r>
            <a:r>
              <a:rPr lang="en-US" b="1" dirty="0">
                <a:solidFill>
                  <a:schemeClr val="tx1"/>
                </a:solidFill>
              </a:rPr>
              <a:t>high-order interleaving</a:t>
            </a:r>
            <a:endParaRPr lang="en-US" dirty="0">
              <a:solidFill>
                <a:srgbClr val="0000FF"/>
              </a:solidFill>
            </a:endParaRPr>
          </a:p>
          <a:p>
            <a:pPr lvl="1"/>
            <a:r>
              <a:rPr lang="en-US" dirty="0">
                <a:solidFill>
                  <a:srgbClr val="FF0000"/>
                </a:solidFill>
              </a:rPr>
              <a:t>Q:</a:t>
            </a:r>
            <a:r>
              <a:rPr lang="en-US" dirty="0"/>
              <a:t> </a:t>
            </a:r>
            <a:r>
              <a:rPr lang="en-US" b="1" dirty="0" err="1">
                <a:solidFill>
                  <a:schemeClr val="tx1"/>
                </a:solidFill>
              </a:rPr>
              <a:t>Msbs</a:t>
            </a:r>
            <a:r>
              <a:rPr lang="en-US" dirty="0"/>
              <a:t> do what?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Q:</a:t>
            </a:r>
            <a:r>
              <a:rPr lang="en-US" dirty="0"/>
              <a:t> </a:t>
            </a:r>
            <a:r>
              <a:rPr lang="en-US" b="1" dirty="0" err="1">
                <a:solidFill>
                  <a:srgbClr val="000000"/>
                </a:solidFill>
              </a:rPr>
              <a:t>Lsb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r>
              <a:rPr lang="en-US" dirty="0"/>
              <a:t>does what?</a:t>
            </a:r>
          </a:p>
          <a:p>
            <a:r>
              <a:rPr lang="en-US" dirty="0">
                <a:solidFill>
                  <a:srgbClr val="FF0000"/>
                </a:solidFill>
              </a:rPr>
              <a:t>Q5:</a:t>
            </a:r>
            <a:r>
              <a:rPr lang="en-US" dirty="0"/>
              <a:t> Now show the address using </a:t>
            </a:r>
            <a:r>
              <a:rPr lang="en-US" b="1" dirty="0">
                <a:solidFill>
                  <a:srgbClr val="000000"/>
                </a:solidFill>
              </a:rPr>
              <a:t>low-order interleaving </a:t>
            </a:r>
            <a:r>
              <a:rPr lang="en-US" dirty="0"/>
              <a:t>  </a:t>
            </a:r>
          </a:p>
          <a:p>
            <a:pPr marL="742950" lvl="2" indent="-342900"/>
            <a:r>
              <a:rPr lang="en-US" dirty="0"/>
              <a:t>Locality: consider an array: if the low-order bits specify the page, then successive elements are stored across multiple memory banks and may be accessed in parallel.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40661" y="228600"/>
            <a:ext cx="3033327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Non-matching </a:t>
            </a:r>
            <a:r>
              <a:rPr lang="en-US" b="1" dirty="0">
                <a:solidFill>
                  <a:srgbClr val="0000FF"/>
                </a:solidFill>
              </a:rPr>
              <a:t>Data Strides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62600" y="926068"/>
            <a:ext cx="205740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Byte Addressable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060" y="5664200"/>
            <a:ext cx="2677546" cy="22900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50000"/>
                  <a:satMod val="300000"/>
                  <a:alpha val="18000"/>
                </a:schemeClr>
              </a:gs>
              <a:gs pos="35000">
                <a:schemeClr val="accent1">
                  <a:tint val="37000"/>
                  <a:satMod val="300000"/>
                  <a:alpha val="18000"/>
                </a:schemeClr>
              </a:gs>
              <a:gs pos="100000">
                <a:schemeClr val="accent1">
                  <a:tint val="15000"/>
                  <a:satMod val="350000"/>
                  <a:alpha val="18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848600" y="80185"/>
            <a:ext cx="1219200" cy="162275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4Kx16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48600" y="76200"/>
            <a:ext cx="629752" cy="23657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6600"/>
                </a:solidFill>
              </a:rPr>
              <a:t>N</a:t>
            </a:r>
            <a:r>
              <a:rPr lang="en-US" sz="1600" dirty="0"/>
              <a:t>x</a:t>
            </a:r>
            <a:r>
              <a:rPr lang="en-US" sz="1600" b="1" dirty="0">
                <a:solidFill>
                  <a:srgbClr val="0000FF"/>
                </a:solidFill>
              </a:rPr>
              <a:t>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38048" y="80185"/>
            <a:ext cx="629752" cy="23657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6600"/>
                </a:solidFill>
              </a:rPr>
              <a:t>N</a:t>
            </a:r>
            <a:r>
              <a:rPr lang="en-US" sz="1600" dirty="0"/>
              <a:t>x</a:t>
            </a:r>
            <a:r>
              <a:rPr lang="en-US" sz="1600" b="1" dirty="0">
                <a:solidFill>
                  <a:srgbClr val="0000FF"/>
                </a:solidFill>
              </a:rPr>
              <a:t>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48600" y="296829"/>
            <a:ext cx="629752" cy="23657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6600"/>
                </a:solidFill>
              </a:rPr>
              <a:t>N</a:t>
            </a:r>
            <a:r>
              <a:rPr lang="en-US" sz="1600" dirty="0"/>
              <a:t>x</a:t>
            </a:r>
            <a:r>
              <a:rPr lang="en-US" sz="1600" b="1" dirty="0">
                <a:solidFill>
                  <a:srgbClr val="0000FF"/>
                </a:solidFill>
              </a:rPr>
              <a:t>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38048" y="300814"/>
            <a:ext cx="629752" cy="23657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6600"/>
                </a:solidFill>
              </a:rPr>
              <a:t>N</a:t>
            </a:r>
            <a:r>
              <a:rPr lang="en-US" sz="1600" dirty="0"/>
              <a:t>x</a:t>
            </a:r>
            <a:r>
              <a:rPr lang="en-US" sz="1600" b="1" dirty="0">
                <a:solidFill>
                  <a:srgbClr val="0000FF"/>
                </a:solidFill>
              </a:rPr>
              <a:t>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48600" y="1033429"/>
            <a:ext cx="629752" cy="23657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6600"/>
                </a:solidFill>
              </a:rPr>
              <a:t>N</a:t>
            </a:r>
            <a:r>
              <a:rPr lang="en-US" sz="1600" dirty="0"/>
              <a:t>x</a:t>
            </a:r>
            <a:r>
              <a:rPr lang="en-US" sz="1600" b="1" dirty="0">
                <a:solidFill>
                  <a:srgbClr val="0000FF"/>
                </a:solidFill>
              </a:rPr>
              <a:t>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38048" y="1037414"/>
            <a:ext cx="629752" cy="23657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6600"/>
                </a:solidFill>
              </a:rPr>
              <a:t>N</a:t>
            </a:r>
            <a:r>
              <a:rPr lang="en-US" sz="1600" dirty="0"/>
              <a:t>x</a:t>
            </a:r>
            <a:r>
              <a:rPr lang="en-US" sz="1600" b="1" dirty="0">
                <a:solidFill>
                  <a:srgbClr val="0000FF"/>
                </a:solidFill>
              </a:rPr>
              <a:t>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48600" y="537385"/>
            <a:ext cx="629752" cy="23657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mr-IN" sz="1600" dirty="0"/>
              <a:t>…</a:t>
            </a:r>
            <a:endParaRPr lang="en-US" sz="1600" dirty="0"/>
          </a:p>
        </p:txBody>
      </p:sp>
      <p:sp>
        <p:nvSpPr>
          <p:cNvPr id="18" name="Rounded Rectangle 17"/>
          <p:cNvSpPr/>
          <p:nvPr/>
        </p:nvSpPr>
        <p:spPr>
          <a:xfrm>
            <a:off x="8438048" y="541370"/>
            <a:ext cx="629752" cy="23657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mr-IN" sz="1600" dirty="0"/>
              <a:t>…</a:t>
            </a:r>
            <a:endParaRPr lang="en-US" sz="1600" dirty="0"/>
          </a:p>
        </p:txBody>
      </p:sp>
      <p:sp>
        <p:nvSpPr>
          <p:cNvPr id="19" name="Rounded Rectangle 18"/>
          <p:cNvSpPr/>
          <p:nvPr/>
        </p:nvSpPr>
        <p:spPr>
          <a:xfrm>
            <a:off x="7848600" y="792129"/>
            <a:ext cx="629752" cy="23657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mr-IN" sz="1600" dirty="0"/>
              <a:t>…</a:t>
            </a:r>
            <a:endParaRPr lang="en-US" sz="1600" dirty="0"/>
          </a:p>
        </p:txBody>
      </p:sp>
      <p:sp>
        <p:nvSpPr>
          <p:cNvPr id="20" name="Rounded Rectangle 19"/>
          <p:cNvSpPr/>
          <p:nvPr/>
        </p:nvSpPr>
        <p:spPr>
          <a:xfrm>
            <a:off x="8438048" y="796114"/>
            <a:ext cx="629752" cy="23657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mr-IN" sz="1600" dirty="0"/>
              <a:t>…</a:t>
            </a:r>
            <a:endParaRPr lang="en-US" sz="1600" dirty="0"/>
          </a:p>
        </p:txBody>
      </p:sp>
      <p:sp>
        <p:nvSpPr>
          <p:cNvPr id="21" name="Rectangle 20"/>
          <p:cNvSpPr/>
          <p:nvPr/>
        </p:nvSpPr>
        <p:spPr>
          <a:xfrm>
            <a:off x="8824457" y="4558836"/>
            <a:ext cx="8001000" cy="608533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RAM Address using High-Order Interleaving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262013" y="4601718"/>
            <a:ext cx="2411044" cy="28625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Byte selector bits(1)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0657" y="4595869"/>
            <a:ext cx="1801444" cy="28625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Page bits (5)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29457" y="4595869"/>
            <a:ext cx="3501367" cy="28625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Offset bits(7)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74000" y="3038289"/>
            <a:ext cx="748597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</a:rPr>
              <a:t>A1:</a:t>
            </a:r>
            <a:r>
              <a:rPr lang="en-US" dirty="0"/>
              <a:t> </a:t>
            </a:r>
            <a:r>
              <a:rPr lang="en-US" b="1" dirty="0">
                <a:solidFill>
                  <a:srgbClr val="FF6600"/>
                </a:solidFill>
              </a:rPr>
              <a:t>N</a:t>
            </a:r>
            <a:r>
              <a:rPr lang="en-US" dirty="0"/>
              <a:t> should be </a:t>
            </a:r>
            <a:r>
              <a:rPr lang="en-US" b="1" dirty="0">
                <a:solidFill>
                  <a:srgbClr val="FF6600"/>
                </a:solidFill>
              </a:rPr>
              <a:t>4K</a:t>
            </a:r>
            <a:r>
              <a:rPr lang="en-US" dirty="0"/>
              <a:t>/</a:t>
            </a:r>
            <a:r>
              <a:rPr lang="en-US" b="1" dirty="0">
                <a:solidFill>
                  <a:srgbClr val="008000"/>
                </a:solidFill>
              </a:rPr>
              <a:t>32</a:t>
            </a:r>
            <a:r>
              <a:rPr lang="en-US" dirty="0"/>
              <a:t> = </a:t>
            </a:r>
            <a:r>
              <a:rPr lang="en-US" dirty="0">
                <a:latin typeface="Calibri" charset="0"/>
                <a:ea typeface="MS PGothic" charset="0"/>
              </a:rPr>
              <a:t>2</a:t>
            </a:r>
            <a:r>
              <a:rPr lang="en-US" baseline="30000" dirty="0">
                <a:latin typeface="Calibri" charset="0"/>
                <a:ea typeface="MS PGothic" charset="0"/>
              </a:rPr>
              <a:t>7</a:t>
            </a:r>
            <a:r>
              <a:rPr lang="en-US" dirty="0">
                <a:latin typeface="Calibri" charset="0"/>
                <a:ea typeface="MS PGothic" charset="0"/>
              </a:rPr>
              <a:t> or 128 </a:t>
            </a:r>
            <a:r>
              <a:rPr lang="en-US" b="1" dirty="0">
                <a:solidFill>
                  <a:srgbClr val="FF6600"/>
                </a:solidFill>
                <a:latin typeface="Calibri" charset="0"/>
                <a:ea typeface="MS PGothic" charset="0"/>
              </a:rPr>
              <a:t>addressable locations </a:t>
            </a:r>
            <a:r>
              <a:rPr lang="en-US" dirty="0">
                <a:latin typeface="Calibri" charset="0"/>
                <a:ea typeface="MS PGothic" charset="0"/>
              </a:rPr>
              <a:t>per smaller chip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8679428" y="3483821"/>
            <a:ext cx="852462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</a:rPr>
              <a:t>A2:</a:t>
            </a:r>
            <a:r>
              <a:rPr lang="en-US" dirty="0"/>
              <a:t> for </a:t>
            </a:r>
            <a:r>
              <a:rPr lang="en-US" b="1" dirty="0">
                <a:solidFill>
                  <a:srgbClr val="008000"/>
                </a:solidFill>
              </a:rPr>
              <a:t>32-way interleaved</a:t>
            </a:r>
            <a:r>
              <a:rPr lang="en-US" dirty="0"/>
              <a:t> memory, we need 5 </a:t>
            </a:r>
            <a:r>
              <a:rPr lang="en-US" b="1" dirty="0">
                <a:solidFill>
                  <a:srgbClr val="008000"/>
                </a:solidFill>
              </a:rPr>
              <a:t>page bits </a:t>
            </a:r>
            <a:r>
              <a:rPr lang="en-US" dirty="0"/>
              <a:t>to select from 32 </a:t>
            </a:r>
            <a:r>
              <a:rPr lang="en-US" b="1" dirty="0">
                <a:solidFill>
                  <a:srgbClr val="008000"/>
                </a:solidFill>
              </a:rPr>
              <a:t>pages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4457" y="3959303"/>
            <a:ext cx="8234569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</a:rPr>
              <a:t>A3:</a:t>
            </a:r>
            <a:r>
              <a:rPr lang="en-US" dirty="0"/>
              <a:t> Each location stores 2 Bytes, so we need 1 extra address wire to control BS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55628" y="5488855"/>
            <a:ext cx="8001000" cy="60853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RAM Address using Low-Order Interleaving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116984" y="5531151"/>
            <a:ext cx="2411044" cy="28625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Byte selector bits(1)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288184" y="5525302"/>
            <a:ext cx="1801444" cy="28625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Page bits (5)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55628" y="5525302"/>
            <a:ext cx="3501367" cy="28625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Offset bits(7)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1300" y="76200"/>
            <a:ext cx="629752" cy="23657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6600"/>
                </a:solidFill>
              </a:rPr>
              <a:t>128</a:t>
            </a:r>
            <a:r>
              <a:rPr lang="en-US" sz="1200" dirty="0"/>
              <a:t>x</a:t>
            </a:r>
            <a:r>
              <a:rPr lang="en-US" sz="1200" b="1" dirty="0">
                <a:solidFill>
                  <a:srgbClr val="0000FF"/>
                </a:solidFill>
              </a:rPr>
              <a:t>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38048" y="76200"/>
            <a:ext cx="629752" cy="23657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6600"/>
                </a:solidFill>
              </a:rPr>
              <a:t>128</a:t>
            </a:r>
            <a:r>
              <a:rPr lang="en-US" sz="1200" dirty="0"/>
              <a:t>x</a:t>
            </a:r>
            <a:r>
              <a:rPr lang="en-US" sz="1200" b="1" dirty="0">
                <a:solidFill>
                  <a:srgbClr val="0000FF"/>
                </a:solidFill>
              </a:rPr>
              <a:t>8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1300" y="304800"/>
            <a:ext cx="629752" cy="23657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6600"/>
                </a:solidFill>
              </a:rPr>
              <a:t>128</a:t>
            </a:r>
            <a:r>
              <a:rPr lang="en-US" sz="1200" dirty="0"/>
              <a:t>x</a:t>
            </a:r>
            <a:r>
              <a:rPr lang="en-US" sz="1200" b="1" dirty="0">
                <a:solidFill>
                  <a:srgbClr val="0000FF"/>
                </a:solidFill>
              </a:rPr>
              <a:t>8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38048" y="304800"/>
            <a:ext cx="629752" cy="23657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6600"/>
                </a:solidFill>
              </a:rPr>
              <a:t>128</a:t>
            </a:r>
            <a:r>
              <a:rPr lang="en-US" sz="1200" dirty="0"/>
              <a:t>x</a:t>
            </a:r>
            <a:r>
              <a:rPr lang="en-US" sz="1200" b="1" dirty="0">
                <a:solidFill>
                  <a:srgbClr val="0000FF"/>
                </a:solidFill>
              </a:rPr>
              <a:t>8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61300" y="525429"/>
            <a:ext cx="629752" cy="23657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6600"/>
                </a:solidFill>
              </a:rPr>
              <a:t>128</a:t>
            </a:r>
            <a:r>
              <a:rPr lang="en-US" sz="1200" dirty="0"/>
              <a:t>x</a:t>
            </a:r>
            <a:r>
              <a:rPr lang="en-US" sz="1200" b="1" dirty="0">
                <a:solidFill>
                  <a:srgbClr val="0000FF"/>
                </a:solidFill>
              </a:rPr>
              <a:t>8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38048" y="525429"/>
            <a:ext cx="629752" cy="23657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6600"/>
                </a:solidFill>
              </a:rPr>
              <a:t>128</a:t>
            </a:r>
            <a:r>
              <a:rPr lang="en-US" sz="1200" dirty="0"/>
              <a:t>x</a:t>
            </a:r>
            <a:r>
              <a:rPr lang="en-US" sz="1200" b="1" dirty="0">
                <a:solidFill>
                  <a:srgbClr val="0000FF"/>
                </a:solidFill>
              </a:rPr>
              <a:t>8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61300" y="1041400"/>
            <a:ext cx="629752" cy="23657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6600"/>
                </a:solidFill>
              </a:rPr>
              <a:t>128</a:t>
            </a:r>
            <a:r>
              <a:rPr lang="en-US" sz="1200" dirty="0"/>
              <a:t>x</a:t>
            </a:r>
            <a:r>
              <a:rPr lang="en-US" sz="1200" b="1" dirty="0">
                <a:solidFill>
                  <a:srgbClr val="0000FF"/>
                </a:solidFill>
              </a:rPr>
              <a:t>8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438048" y="1041400"/>
            <a:ext cx="629752" cy="23657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6600"/>
                </a:solidFill>
              </a:rPr>
              <a:t>128</a:t>
            </a:r>
            <a:r>
              <a:rPr lang="en-US" sz="1200" dirty="0"/>
              <a:t>x</a:t>
            </a:r>
            <a:r>
              <a:rPr lang="en-US" sz="1200" b="1" dirty="0">
                <a:solidFill>
                  <a:srgbClr val="0000FF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23764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1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4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0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  <p:bldP spid="6" grpId="0" animBg="1"/>
      <p:bldP spid="11" grpId="0" animBg="1"/>
      <p:bldP spid="12" grpId="0" animBg="1"/>
      <p:bldP spid="13" grpId="0" animBg="1"/>
      <p:bldP spid="14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104894" y="883123"/>
            <a:ext cx="4658106" cy="81867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19000"/>
                </a:schemeClr>
              </a:gs>
              <a:gs pos="80000">
                <a:schemeClr val="accent1">
                  <a:shade val="93000"/>
                  <a:satMod val="130000"/>
                  <a:alpha val="19000"/>
                </a:schemeClr>
              </a:gs>
              <a:gs pos="100000">
                <a:schemeClr val="accent1">
                  <a:shade val="94000"/>
                  <a:satMod val="135000"/>
                  <a:alpha val="19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dirty="0"/>
              <a:t>Meta-Address Bits w Byte Selection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44923"/>
            <a:ext cx="4038600" cy="81867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19000"/>
                </a:schemeClr>
              </a:gs>
              <a:gs pos="80000">
                <a:schemeClr val="accent1">
                  <a:shade val="93000"/>
                  <a:satMod val="130000"/>
                  <a:alpha val="19000"/>
                </a:schemeClr>
              </a:gs>
              <a:gs pos="100000">
                <a:schemeClr val="accent1">
                  <a:shade val="94000"/>
                  <a:satMod val="135000"/>
                  <a:alpha val="19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dirty="0"/>
              <a:t>Meta-Address Bits (no BS)</a:t>
            </a:r>
          </a:p>
        </p:txBody>
      </p:sp>
      <p:sp>
        <p:nvSpPr>
          <p:cNvPr id="56322" name="Title 1"/>
          <p:cNvSpPr>
            <a:spLocks noGrp="1"/>
          </p:cNvSpPr>
          <p:nvPr>
            <p:ph type="title"/>
          </p:nvPr>
        </p:nvSpPr>
        <p:spPr>
          <a:xfrm>
            <a:off x="-225795" y="838200"/>
            <a:ext cx="4645395" cy="838200"/>
          </a:xfrm>
        </p:spPr>
        <p:txBody>
          <a:bodyPr/>
          <a:lstStyle/>
          <a:p>
            <a:r>
              <a:rPr lang="en-US" dirty="0"/>
              <a:t>Lower Order Exercise</a:t>
            </a:r>
          </a:p>
        </p:txBody>
      </p:sp>
      <p:sp>
        <p:nvSpPr>
          <p:cNvPr id="56323" name="Content Placeholder 2"/>
          <p:cNvSpPr>
            <a:spLocks noGrp="1"/>
          </p:cNvSpPr>
          <p:nvPr>
            <p:ph idx="1"/>
          </p:nvPr>
        </p:nvSpPr>
        <p:spPr>
          <a:xfrm>
            <a:off x="76200" y="1752600"/>
            <a:ext cx="8991600" cy="5029200"/>
          </a:xfrm>
        </p:spPr>
        <p:txBody>
          <a:bodyPr>
            <a:normAutofit/>
          </a:bodyPr>
          <a:lstStyle/>
          <a:p>
            <a:r>
              <a:rPr lang="en-US" sz="2000" dirty="0"/>
              <a:t>Build a </a:t>
            </a:r>
            <a:r>
              <a:rPr lang="en-US" sz="2000" b="1" dirty="0">
                <a:solidFill>
                  <a:srgbClr val="FF6600"/>
                </a:solidFill>
              </a:rPr>
              <a:t>2048</a:t>
            </a:r>
            <a:r>
              <a:rPr lang="en-US" sz="2000" dirty="0"/>
              <a:t> X </a:t>
            </a:r>
            <a:r>
              <a:rPr lang="en-US" sz="2000" b="1" dirty="0">
                <a:solidFill>
                  <a:srgbClr val="0000FF"/>
                </a:solidFill>
              </a:rPr>
              <a:t>32</a:t>
            </a:r>
            <a:r>
              <a:rPr lang="en-US" sz="2000" dirty="0"/>
              <a:t> memory using </a:t>
            </a:r>
            <a:r>
              <a:rPr lang="en-US" sz="2000" b="1" dirty="0">
                <a:solidFill>
                  <a:srgbClr val="FF6600"/>
                </a:solidFill>
              </a:rPr>
              <a:t>256</a:t>
            </a:r>
            <a:r>
              <a:rPr lang="en-US" sz="2000" dirty="0">
                <a:solidFill>
                  <a:srgbClr val="FF6600"/>
                </a:solidFill>
              </a:rPr>
              <a:t> </a:t>
            </a:r>
            <a:r>
              <a:rPr lang="en-US" sz="2000" dirty="0"/>
              <a:t>X </a:t>
            </a:r>
            <a:r>
              <a:rPr lang="en-US" sz="2000" b="1" dirty="0">
                <a:solidFill>
                  <a:srgbClr val="0000FF"/>
                </a:solidFill>
              </a:rPr>
              <a:t>8</a:t>
            </a:r>
            <a:r>
              <a:rPr lang="en-US" sz="2000" dirty="0"/>
              <a:t> memory chips </a:t>
            </a:r>
            <a:r>
              <a:rPr lang="en-US" sz="2000" b="1" dirty="0">
                <a:solidFill>
                  <a:srgbClr val="000000"/>
                </a:solidFill>
              </a:rPr>
              <a:t>with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/>
              <a:t>and </a:t>
            </a:r>
            <a:r>
              <a:rPr lang="en-US" sz="2000" b="1" dirty="0">
                <a:solidFill>
                  <a:srgbClr val="000000"/>
                </a:solidFill>
              </a:rPr>
              <a:t>without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/>
              <a:t>byte-selection.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Q1:</a:t>
            </a:r>
            <a:r>
              <a:rPr lang="en-US" sz="2000" dirty="0"/>
              <a:t> How many address lines and data lines in the 256 X 8 chips?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Q2:</a:t>
            </a:r>
            <a:r>
              <a:rPr lang="en-US" sz="2000" dirty="0"/>
              <a:t> How many address lines and data lines in the 2048 X 32 memory?</a:t>
            </a:r>
            <a:endParaRPr lang="en-US" sz="2000" dirty="0">
              <a:solidFill>
                <a:srgbClr val="FF0000"/>
              </a:solidFill>
            </a:endParaRP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Q3: </a:t>
            </a:r>
            <a:r>
              <a:rPr lang="en-US" sz="2000" dirty="0">
                <a:solidFill>
                  <a:srgbClr val="7F7F7F"/>
                </a:solidFill>
              </a:rPr>
              <a:t>What n-way interleaving is this? (i.e. How many pages?)</a:t>
            </a:r>
            <a:endParaRPr lang="en-US" sz="2000" dirty="0">
              <a:solidFill>
                <a:srgbClr val="FF0000"/>
              </a:solidFill>
            </a:endParaRP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Q4: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How many chips per page?</a:t>
            </a:r>
            <a:endParaRPr lang="en-US" sz="2000" dirty="0">
              <a:solidFill>
                <a:srgbClr val="FF0000"/>
              </a:solidFill>
            </a:endParaRP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Q5:</a:t>
            </a:r>
            <a:r>
              <a:rPr lang="en-US" sz="2000" dirty="0"/>
              <a:t> How many 256 X 8 memory chips you should have total?</a:t>
            </a:r>
          </a:p>
          <a:p>
            <a:pPr lvl="2"/>
            <a:r>
              <a:rPr lang="en-US" sz="2000" dirty="0"/>
              <a:t>Divide larger memory bits by smaller memory bits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Q6:</a:t>
            </a:r>
            <a:r>
              <a:rPr lang="en-US" sz="2000" dirty="0"/>
              <a:t> Draw the smaller chips in rows inside the larger chip; how many per “row” or page?</a:t>
            </a:r>
          </a:p>
          <a:p>
            <a:pPr lvl="1"/>
            <a:endParaRPr lang="en-US" sz="2000" dirty="0"/>
          </a:p>
        </p:txBody>
      </p:sp>
      <p:sp>
        <p:nvSpPr>
          <p:cNvPr id="2" name="Rectangle 1"/>
          <p:cNvSpPr/>
          <p:nvPr/>
        </p:nvSpPr>
        <p:spPr>
          <a:xfrm>
            <a:off x="4191000" y="152400"/>
            <a:ext cx="2590800" cy="381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Smaller </a:t>
            </a:r>
            <a:r>
              <a:rPr lang="en-US" dirty="0" err="1"/>
              <a:t>Addr</a:t>
            </a:r>
            <a:r>
              <a:rPr lang="en-US" dirty="0"/>
              <a:t> Lines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0" y="939800"/>
            <a:ext cx="2590800" cy="381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Smaller </a:t>
            </a:r>
            <a:r>
              <a:rPr lang="en-US" dirty="0" err="1"/>
              <a:t>Addr</a:t>
            </a:r>
            <a:r>
              <a:rPr lang="en-US" dirty="0"/>
              <a:t> Lines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1800" y="939800"/>
            <a:ext cx="1208627" cy="381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 bits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939800"/>
            <a:ext cx="620216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1800" y="152400"/>
            <a:ext cx="1208627" cy="381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 bits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431" y="2451100"/>
            <a:ext cx="8234569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</a:rPr>
              <a:t>A1:</a:t>
            </a:r>
            <a:r>
              <a:rPr lang="en-US" dirty="0"/>
              <a:t> </a:t>
            </a:r>
            <a:r>
              <a:rPr lang="en-US" b="1" dirty="0">
                <a:solidFill>
                  <a:srgbClr val="FF6600"/>
                </a:solidFill>
              </a:rPr>
              <a:t>256</a:t>
            </a:r>
            <a:r>
              <a:rPr lang="en-US" dirty="0">
                <a:solidFill>
                  <a:srgbClr val="000000"/>
                </a:solidFill>
              </a:rPr>
              <a:t> = 2</a:t>
            </a:r>
            <a:r>
              <a:rPr lang="en-US" baseline="30000" dirty="0">
                <a:solidFill>
                  <a:srgbClr val="000000"/>
                </a:solidFill>
              </a:rPr>
              <a:t>8</a:t>
            </a:r>
            <a:r>
              <a:rPr lang="en-US" dirty="0">
                <a:solidFill>
                  <a:srgbClr val="000000"/>
                </a:solidFill>
              </a:rPr>
              <a:t> so 8 address lines and </a:t>
            </a:r>
            <a:r>
              <a:rPr lang="en-US" b="1" dirty="0">
                <a:solidFill>
                  <a:srgbClr val="0000FF"/>
                </a:solidFill>
              </a:rPr>
              <a:t>8 data 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431" y="2832100"/>
            <a:ext cx="8234569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</a:rPr>
              <a:t>A2:</a:t>
            </a:r>
            <a:r>
              <a:rPr lang="en-US" dirty="0"/>
              <a:t> </a:t>
            </a:r>
            <a:r>
              <a:rPr lang="en-US" b="1" dirty="0">
                <a:solidFill>
                  <a:srgbClr val="FF6600"/>
                </a:solidFill>
              </a:rPr>
              <a:t>2048</a:t>
            </a:r>
            <a:r>
              <a:rPr lang="en-US" dirty="0">
                <a:solidFill>
                  <a:srgbClr val="000000"/>
                </a:solidFill>
              </a:rPr>
              <a:t>= 2K = 2*2</a:t>
            </a:r>
            <a:r>
              <a:rPr lang="en-US" baseline="30000" dirty="0">
                <a:solidFill>
                  <a:srgbClr val="000000"/>
                </a:solidFill>
              </a:rPr>
              <a:t>10</a:t>
            </a:r>
            <a:r>
              <a:rPr lang="en-US" dirty="0">
                <a:solidFill>
                  <a:srgbClr val="000000"/>
                </a:solidFill>
              </a:rPr>
              <a:t>=2</a:t>
            </a:r>
            <a:r>
              <a:rPr lang="en-US" baseline="30000" dirty="0">
                <a:solidFill>
                  <a:srgbClr val="000000"/>
                </a:solidFill>
              </a:rPr>
              <a:t>11</a:t>
            </a:r>
            <a:r>
              <a:rPr lang="en-US" dirty="0">
                <a:solidFill>
                  <a:srgbClr val="000000"/>
                </a:solidFill>
              </a:rPr>
              <a:t> so </a:t>
            </a:r>
            <a:r>
              <a:rPr lang="en-US" b="1" dirty="0">
                <a:solidFill>
                  <a:srgbClr val="FF6600"/>
                </a:solidFill>
              </a:rPr>
              <a:t>11 address lines</a:t>
            </a:r>
            <a:r>
              <a:rPr lang="en-US" dirty="0">
                <a:solidFill>
                  <a:srgbClr val="000000"/>
                </a:solidFill>
              </a:rPr>
              <a:t> and </a:t>
            </a:r>
            <a:r>
              <a:rPr lang="en-US" b="1" dirty="0">
                <a:solidFill>
                  <a:srgbClr val="0000FF"/>
                </a:solidFill>
              </a:rPr>
              <a:t>32 data lines</a:t>
            </a:r>
          </a:p>
          <a:p>
            <a:r>
              <a:rPr lang="mr-IN" dirty="0">
                <a:solidFill>
                  <a:srgbClr val="000000"/>
                </a:solidFill>
              </a:rPr>
              <a:t>…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909431" y="3505200"/>
            <a:ext cx="8234569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</a:rPr>
              <a:t>A3:</a:t>
            </a:r>
            <a:r>
              <a:rPr lang="en-US" dirty="0"/>
              <a:t> </a:t>
            </a:r>
            <a:r>
              <a:rPr lang="en-US" b="1" dirty="0">
                <a:solidFill>
                  <a:srgbClr val="FF6600"/>
                </a:solidFill>
              </a:rPr>
              <a:t>2K</a:t>
            </a:r>
            <a:r>
              <a:rPr lang="en-US" dirty="0">
                <a:solidFill>
                  <a:srgbClr val="000000"/>
                </a:solidFill>
              </a:rPr>
              <a:t>/</a:t>
            </a:r>
            <a:r>
              <a:rPr lang="en-US" b="1" dirty="0">
                <a:solidFill>
                  <a:srgbClr val="FF6600"/>
                </a:solidFill>
              </a:rPr>
              <a:t>256</a:t>
            </a:r>
            <a:r>
              <a:rPr lang="en-US" dirty="0">
                <a:solidFill>
                  <a:srgbClr val="FF66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= 2</a:t>
            </a:r>
            <a:r>
              <a:rPr lang="en-US" baseline="30000" dirty="0">
                <a:solidFill>
                  <a:srgbClr val="000000"/>
                </a:solidFill>
              </a:rPr>
              <a:t>11</a:t>
            </a:r>
            <a:r>
              <a:rPr lang="en-US" dirty="0">
                <a:solidFill>
                  <a:srgbClr val="000000"/>
                </a:solidFill>
              </a:rPr>
              <a:t> / 2</a:t>
            </a:r>
            <a:r>
              <a:rPr lang="en-US" baseline="30000" dirty="0">
                <a:solidFill>
                  <a:srgbClr val="000000"/>
                </a:solidFill>
              </a:rPr>
              <a:t>8</a:t>
            </a:r>
            <a:r>
              <a:rPr lang="en-US" dirty="0">
                <a:solidFill>
                  <a:srgbClr val="000000"/>
                </a:solidFill>
              </a:rPr>
              <a:t> = 2</a:t>
            </a:r>
            <a:r>
              <a:rPr lang="en-US" baseline="30000" dirty="0">
                <a:solidFill>
                  <a:srgbClr val="000000"/>
                </a:solidFill>
              </a:rPr>
              <a:t>3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b="1" dirty="0">
                <a:solidFill>
                  <a:srgbClr val="008000"/>
                </a:solidFill>
              </a:rPr>
              <a:t>pages</a:t>
            </a:r>
            <a:r>
              <a:rPr lang="en-US" dirty="0">
                <a:solidFill>
                  <a:srgbClr val="008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of chips, so </a:t>
            </a:r>
            <a:r>
              <a:rPr lang="en-US" b="1" dirty="0">
                <a:solidFill>
                  <a:srgbClr val="008000"/>
                </a:solidFill>
              </a:rPr>
              <a:t>8 way interleaving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72468"/>
            <a:ext cx="8234569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</a:rPr>
              <a:t>A4:</a:t>
            </a:r>
            <a:r>
              <a:rPr lang="en-US" dirty="0"/>
              <a:t> </a:t>
            </a:r>
            <a:r>
              <a:rPr lang="en-US" dirty="0">
                <a:solidFill>
                  <a:srgbClr val="000000"/>
                </a:solidFill>
              </a:rPr>
              <a:t>Smaller data stride is </a:t>
            </a:r>
            <a:r>
              <a:rPr lang="en-US" b="1" dirty="0">
                <a:solidFill>
                  <a:srgbClr val="0000FF"/>
                </a:solidFill>
              </a:rPr>
              <a:t>x8</a:t>
            </a:r>
            <a:r>
              <a:rPr lang="en-US" dirty="0">
                <a:solidFill>
                  <a:srgbClr val="000000"/>
                </a:solidFill>
              </a:rPr>
              <a:t> and the larger is </a:t>
            </a:r>
            <a:r>
              <a:rPr lang="en-US" b="1" dirty="0">
                <a:solidFill>
                  <a:srgbClr val="0000FF"/>
                </a:solidFill>
              </a:rPr>
              <a:t>x32</a:t>
            </a:r>
            <a:r>
              <a:rPr lang="en-US" dirty="0">
                <a:solidFill>
                  <a:srgbClr val="000000"/>
                </a:solidFill>
              </a:rPr>
              <a:t>, so 4 chips per page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909431" y="4254500"/>
            <a:ext cx="8234569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</a:rPr>
              <a:t>A5:</a:t>
            </a:r>
            <a:r>
              <a:rPr lang="en-US" dirty="0"/>
              <a:t> </a:t>
            </a:r>
            <a:r>
              <a:rPr lang="en-US" dirty="0">
                <a:solidFill>
                  <a:srgbClr val="000000"/>
                </a:solidFill>
              </a:rPr>
              <a:t>8 pages of chips where 4 chips per page, so 32 chips total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048428" y="4622800"/>
            <a:ext cx="748597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</a:rPr>
              <a:t>Alt:</a:t>
            </a:r>
            <a:r>
              <a:rPr lang="en-US" dirty="0"/>
              <a:t> </a:t>
            </a:r>
            <a:r>
              <a:rPr lang="en-US" dirty="0">
                <a:solidFill>
                  <a:srgbClr val="000000"/>
                </a:solidFill>
              </a:rPr>
              <a:t>2</a:t>
            </a:r>
            <a:r>
              <a:rPr lang="en-US" baseline="30000" dirty="0">
                <a:solidFill>
                  <a:srgbClr val="000000"/>
                </a:solidFill>
              </a:rPr>
              <a:t>11</a:t>
            </a:r>
            <a:r>
              <a:rPr lang="en-US" dirty="0">
                <a:solidFill>
                  <a:srgbClr val="000000"/>
                </a:solidFill>
              </a:rPr>
              <a:t>*2</a:t>
            </a:r>
            <a:r>
              <a:rPr lang="en-US" baseline="30000" dirty="0">
                <a:solidFill>
                  <a:srgbClr val="000000"/>
                </a:solidFill>
              </a:rPr>
              <a:t>2</a:t>
            </a:r>
            <a:r>
              <a:rPr lang="en-US" dirty="0">
                <a:solidFill>
                  <a:srgbClr val="000000"/>
                </a:solidFill>
              </a:rPr>
              <a:t> Bytes / 2</a:t>
            </a:r>
            <a:r>
              <a:rPr lang="en-US" baseline="30000" dirty="0">
                <a:solidFill>
                  <a:srgbClr val="000000"/>
                </a:solidFill>
              </a:rPr>
              <a:t>8</a:t>
            </a:r>
            <a:r>
              <a:rPr lang="en-US" dirty="0">
                <a:solidFill>
                  <a:srgbClr val="000000"/>
                </a:solidFill>
              </a:rPr>
              <a:t>*1Byte =2</a:t>
            </a:r>
            <a:r>
              <a:rPr lang="en-US" baseline="30000" dirty="0">
                <a:solidFill>
                  <a:srgbClr val="000000"/>
                </a:solidFill>
              </a:rPr>
              <a:t>13</a:t>
            </a:r>
            <a:r>
              <a:rPr lang="en-US" dirty="0">
                <a:solidFill>
                  <a:srgbClr val="000000"/>
                </a:solidFill>
              </a:rPr>
              <a:t>/2</a:t>
            </a:r>
            <a:r>
              <a:rPr lang="en-US" baseline="30000" dirty="0">
                <a:solidFill>
                  <a:srgbClr val="000000"/>
                </a:solidFill>
              </a:rPr>
              <a:t>8</a:t>
            </a:r>
            <a:r>
              <a:rPr lang="en-US" dirty="0">
                <a:solidFill>
                  <a:srgbClr val="000000"/>
                </a:solidFill>
              </a:rPr>
              <a:t>=2</a:t>
            </a:r>
            <a:r>
              <a:rPr lang="en-US" baseline="30000" dirty="0">
                <a:solidFill>
                  <a:srgbClr val="000000"/>
                </a:solidFill>
              </a:rPr>
              <a:t>5</a:t>
            </a:r>
            <a:r>
              <a:rPr lang="en-US" dirty="0">
                <a:solidFill>
                  <a:srgbClr val="000000"/>
                </a:solidFill>
              </a:rPr>
              <a:t> = 32 chips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14400" y="5029200"/>
            <a:ext cx="7772400" cy="8382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/>
              <a:t>Page 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20645" y="5181600"/>
            <a:ext cx="1622755" cy="533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256</a:t>
            </a:r>
            <a:r>
              <a:rPr lang="en-US" b="1" dirty="0"/>
              <a:t>x</a:t>
            </a:r>
            <a:r>
              <a:rPr lang="en-US" b="1" dirty="0">
                <a:solidFill>
                  <a:srgbClr val="0000FF"/>
                </a:solidFill>
              </a:rPr>
              <a:t>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97045" y="5181600"/>
            <a:ext cx="1622755" cy="533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256</a:t>
            </a:r>
            <a:r>
              <a:rPr lang="en-US" b="1" dirty="0"/>
              <a:t>x</a:t>
            </a:r>
            <a:r>
              <a:rPr lang="en-US" b="1" dirty="0">
                <a:solidFill>
                  <a:srgbClr val="0000FF"/>
                </a:solidFill>
              </a:rPr>
              <a:t>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73445" y="5181600"/>
            <a:ext cx="1622755" cy="533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256</a:t>
            </a:r>
            <a:r>
              <a:rPr lang="en-US" b="1" dirty="0"/>
              <a:t>x</a:t>
            </a:r>
            <a:r>
              <a:rPr lang="en-US" b="1" dirty="0">
                <a:solidFill>
                  <a:srgbClr val="0000FF"/>
                </a:solidFill>
              </a:rPr>
              <a:t>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4245" y="5181600"/>
            <a:ext cx="1622755" cy="533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256</a:t>
            </a:r>
            <a:r>
              <a:rPr lang="en-US" b="1" dirty="0"/>
              <a:t>x</a:t>
            </a:r>
            <a:r>
              <a:rPr lang="en-US" b="1" dirty="0">
                <a:solidFill>
                  <a:srgbClr val="0000FF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56557315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4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7086600" y="3562449"/>
            <a:ext cx="2057400" cy="156190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(Add this later, redundant)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06908" y="544529"/>
            <a:ext cx="9957816" cy="903271"/>
          </a:xfrm>
        </p:spPr>
        <p:txBody>
          <a:bodyPr/>
          <a:lstStyle/>
          <a:p>
            <a:r>
              <a:rPr lang="en-US" dirty="0"/>
              <a:t>Guest Memory Chip Characteristics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86200" y="2144854"/>
            <a:ext cx="1143000" cy="1066800"/>
          </a:xfrm>
          <a:prstGeom prst="rect">
            <a:avLst/>
          </a:prstGeom>
          <a:gradFill rotWithShape="1">
            <a:gsLst>
              <a:gs pos="0">
                <a:srgbClr val="AE4845">
                  <a:tint val="50000"/>
                  <a:satMod val="300000"/>
                </a:srgbClr>
              </a:gs>
              <a:gs pos="35000">
                <a:srgbClr val="AE4845">
                  <a:tint val="37000"/>
                  <a:satMod val="300000"/>
                </a:srgbClr>
              </a:gs>
              <a:gs pos="100000">
                <a:srgbClr val="AE4845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AE4845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32K x 8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3276600" y="2373454"/>
            <a:ext cx="685800" cy="0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44" name="Straight Arrow Connector 43"/>
          <p:cNvCxnSpPr/>
          <p:nvPr/>
        </p:nvCxnSpPr>
        <p:spPr>
          <a:xfrm>
            <a:off x="3276600" y="2830654"/>
            <a:ext cx="685800" cy="0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45" name="TextBox 44"/>
          <p:cNvSpPr txBox="1"/>
          <p:nvPr/>
        </p:nvSpPr>
        <p:spPr>
          <a:xfrm>
            <a:off x="2971800" y="2221054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95600" y="2678254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2373454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33800" y="3468055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24400" y="3440254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D0</a:t>
            </a:r>
          </a:p>
        </p:txBody>
      </p:sp>
      <p:sp>
        <p:nvSpPr>
          <p:cNvPr id="50" name="Oval 49"/>
          <p:cNvSpPr/>
          <p:nvPr/>
        </p:nvSpPr>
        <p:spPr>
          <a:xfrm>
            <a:off x="4114800" y="1916254"/>
            <a:ext cx="228600" cy="228600"/>
          </a:xfrm>
          <a:prstGeom prst="ellipse">
            <a:avLst/>
          </a:prstGeom>
          <a:gradFill rotWithShape="1">
            <a:gsLst>
              <a:gs pos="0">
                <a:srgbClr val="B2C1DB">
                  <a:tint val="50000"/>
                  <a:satMod val="300000"/>
                </a:srgbClr>
              </a:gs>
              <a:gs pos="35000">
                <a:srgbClr val="B2C1DB">
                  <a:tint val="37000"/>
                  <a:satMod val="300000"/>
                </a:srgbClr>
              </a:gs>
              <a:gs pos="100000">
                <a:srgbClr val="B2C1DB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B2C1DB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3962400" y="3135454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2" name="Straight Arrow Connector 51"/>
          <p:cNvCxnSpPr/>
          <p:nvPr/>
        </p:nvCxnSpPr>
        <p:spPr>
          <a:xfrm>
            <a:off x="4114800" y="3135454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3" name="Straight Arrow Connector 52"/>
          <p:cNvCxnSpPr/>
          <p:nvPr/>
        </p:nvCxnSpPr>
        <p:spPr>
          <a:xfrm>
            <a:off x="4267200" y="3135454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4" name="Straight Arrow Connector 53"/>
          <p:cNvCxnSpPr/>
          <p:nvPr/>
        </p:nvCxnSpPr>
        <p:spPr>
          <a:xfrm>
            <a:off x="4419600" y="3135454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5" name="Straight Arrow Connector 54"/>
          <p:cNvCxnSpPr/>
          <p:nvPr/>
        </p:nvCxnSpPr>
        <p:spPr>
          <a:xfrm>
            <a:off x="4572000" y="3135454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6" name="Straight Arrow Connector 55"/>
          <p:cNvCxnSpPr/>
          <p:nvPr/>
        </p:nvCxnSpPr>
        <p:spPr>
          <a:xfrm>
            <a:off x="4724400" y="3135454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7" name="Straight Arrow Connector 56"/>
          <p:cNvCxnSpPr/>
          <p:nvPr/>
        </p:nvCxnSpPr>
        <p:spPr>
          <a:xfrm>
            <a:off x="4876800" y="3135454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8" name="Oval 57"/>
          <p:cNvSpPr/>
          <p:nvPr/>
        </p:nvSpPr>
        <p:spPr>
          <a:xfrm>
            <a:off x="4572000" y="1916254"/>
            <a:ext cx="228600" cy="228600"/>
          </a:xfrm>
          <a:prstGeom prst="ellipse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04800" y="2068654"/>
            <a:ext cx="2514600" cy="101566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0" dirty="0">
                <a:solidFill>
                  <a:srgbClr val="FFFFFF"/>
                </a:solidFill>
              </a:rPr>
              <a:t>A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ddress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 interface is 15 lines for 32K bins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(one-</a:t>
            </a:r>
            <a:r>
              <a:rPr lang="en-US" sz="2000" kern="0" dirty="0">
                <a:solidFill>
                  <a:srgbClr val="FFFFFF"/>
                </a:solidFill>
              </a:rPr>
              <a:t>way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Addr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 Bus)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733800" y="2144854"/>
            <a:ext cx="304800" cy="838200"/>
          </a:xfrm>
          <a:prstGeom prst="roundRect">
            <a:avLst/>
          </a:prstGeom>
          <a:gradFill flip="none" rotWithShape="1">
            <a:gsLst>
              <a:gs pos="0">
                <a:srgbClr val="C0504D">
                  <a:tint val="50000"/>
                  <a:satMod val="300000"/>
                  <a:alpha val="10000"/>
                </a:srgbClr>
              </a:gs>
              <a:gs pos="35000">
                <a:srgbClr val="C0504D">
                  <a:tint val="37000"/>
                  <a:satMod val="300000"/>
                  <a:alpha val="10000"/>
                </a:srgbClr>
              </a:gs>
              <a:gs pos="100000">
                <a:srgbClr val="C0504D">
                  <a:tint val="15000"/>
                  <a:satMod val="350000"/>
                  <a:alpha val="10000"/>
                </a:srgbClr>
              </a:gs>
            </a:gsLst>
            <a:lin ang="16200000" scaled="1"/>
            <a:tileRect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82600" y="6688319"/>
            <a:ext cx="9038662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kern="0" dirty="0">
                <a:solidFill>
                  <a:srgbClr val="3366FF"/>
                </a:solidFill>
              </a:rPr>
              <a:t>Idea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</a:rPr>
              <a:t>: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</a:rPr>
              <a:t> 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Build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a larger memory chip in terms of </a:t>
            </a:r>
            <a:r>
              <a:rPr kumimoji="0" lang="en-US" sz="2000" b="1" i="0" u="none" strike="noStrike" kern="0" cap="none" spc="0" normalizeH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data stride</a:t>
            </a:r>
            <a:r>
              <a:rPr lang="en-US" sz="2000" b="1" kern="0" dirty="0">
                <a:solidFill>
                  <a:srgbClr val="0000FF"/>
                </a:solidFill>
              </a:rPr>
              <a:t>.  8b-&gt;16b? </a:t>
            </a:r>
            <a:endParaRPr kumimoji="0" lang="en-US" sz="2000" b="1" i="0" u="none" strike="noStrike" kern="0" cap="none" spc="0" normalizeH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kern="0" dirty="0">
                <a:solidFill>
                  <a:srgbClr val="3366FF"/>
                </a:solidFill>
              </a:rPr>
              <a:t>Idea:</a:t>
            </a:r>
            <a:r>
              <a:rPr lang="en-US" sz="2000" kern="0" dirty="0">
                <a:solidFill>
                  <a:srgbClr val="3366FF"/>
                </a:solidFill>
              </a:rPr>
              <a:t>  </a:t>
            </a:r>
            <a:r>
              <a:rPr lang="en-US" sz="2000" kern="0" dirty="0">
                <a:solidFill>
                  <a:sysClr val="windowText" lastClr="000000"/>
                </a:solidFill>
              </a:rPr>
              <a:t>Build a larger memory with </a:t>
            </a:r>
            <a:r>
              <a:rPr lang="en-US" sz="2000" kern="0" dirty="0">
                <a:solidFill>
                  <a:schemeClr val="tx1"/>
                </a:solidFill>
              </a:rPr>
              <a:t>in terms of </a:t>
            </a:r>
            <a:r>
              <a:rPr lang="en-US" sz="2000" b="1" kern="0" dirty="0">
                <a:solidFill>
                  <a:srgbClr val="FF6600"/>
                </a:solidFill>
              </a:rPr>
              <a:t>addressable bins</a:t>
            </a:r>
            <a:r>
              <a:rPr lang="en-US" sz="2000" kern="0" dirty="0">
                <a:solidFill>
                  <a:sysClr val="windowText" lastClr="000000"/>
                </a:solidFill>
              </a:rPr>
              <a:t>? </a:t>
            </a:r>
            <a:r>
              <a:rPr lang="en-US" sz="2000" b="1" kern="0" dirty="0">
                <a:solidFill>
                  <a:srgbClr val="FF6600"/>
                </a:solidFill>
              </a:rPr>
              <a:t>32K-&gt;</a:t>
            </a:r>
            <a:r>
              <a:rPr lang="en-US" sz="2000" kern="0" dirty="0">
                <a:solidFill>
                  <a:sysClr val="windowText" lastClr="000000"/>
                </a:solidFill>
              </a:rPr>
              <a:t> </a:t>
            </a:r>
            <a:r>
              <a:rPr lang="en-US" sz="2000" b="1" kern="0" dirty="0">
                <a:solidFill>
                  <a:srgbClr val="FF6600"/>
                </a:solidFill>
              </a:rPr>
              <a:t>64K? </a:t>
            </a:r>
            <a:endParaRPr kumimoji="0" lang="en-US" sz="2000" b="1" i="0" u="none" strike="noStrike" kern="0" cap="none" spc="0" normalizeH="0" noProof="0" dirty="0">
              <a:ln>
                <a:noFill/>
              </a:ln>
              <a:solidFill>
                <a:srgbClr val="FF6600"/>
              </a:solidFill>
              <a:effectLst/>
              <a:uLnTx/>
              <a:uFillTx/>
            </a:endParaRPr>
          </a:p>
        </p:txBody>
      </p:sp>
      <p:sp>
        <p:nvSpPr>
          <p:cNvPr id="23" name="Oval 22"/>
          <p:cNvSpPr/>
          <p:nvPr/>
        </p:nvSpPr>
        <p:spPr>
          <a:xfrm>
            <a:off x="7007714" y="1687654"/>
            <a:ext cx="789191" cy="717446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~CS</a:t>
            </a:r>
          </a:p>
        </p:txBody>
      </p:sp>
      <p:sp>
        <p:nvSpPr>
          <p:cNvPr id="24" name="Oval 23"/>
          <p:cNvSpPr/>
          <p:nvPr/>
        </p:nvSpPr>
        <p:spPr>
          <a:xfrm>
            <a:off x="8050009" y="1703477"/>
            <a:ext cx="789191" cy="717446"/>
          </a:xfrm>
          <a:prstGeom prst="ellipse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~OE</a:t>
            </a:r>
          </a:p>
        </p:txBody>
      </p:sp>
      <p:sp>
        <p:nvSpPr>
          <p:cNvPr id="3" name="Left Brace 2"/>
          <p:cNvSpPr/>
          <p:nvPr/>
        </p:nvSpPr>
        <p:spPr>
          <a:xfrm>
            <a:off x="4953000" y="1524000"/>
            <a:ext cx="3695930" cy="1078054"/>
          </a:xfrm>
          <a:prstGeom prst="lef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2286289" y="3745054"/>
            <a:ext cx="4565558" cy="6771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Smaller memory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data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interface is </a:t>
            </a:r>
            <a:r>
              <a:rPr lang="en-US" kern="0" dirty="0">
                <a:solidFill>
                  <a:schemeClr val="bg1"/>
                </a:solidFill>
              </a:rPr>
              <a:t>8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lines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0" dirty="0">
                <a:solidFill>
                  <a:schemeClr val="bg1"/>
                </a:solidFill>
              </a:rPr>
              <a:t>(attaches to the Bi-Directional Data Bus)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58878" y="2746542"/>
            <a:ext cx="2969845" cy="69371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Control logic is 2 lines (Active low; Control Bus)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3897" y="5536373"/>
            <a:ext cx="8265033" cy="50382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600" dirty="0"/>
              <a:t>Interfacing Smaller Memory to Larger Chips </a:t>
            </a:r>
            <a:r>
              <a:rPr lang="en-US" sz="2600" b="1" i="1" dirty="0">
                <a:solidFill>
                  <a:srgbClr val="3366FF"/>
                </a:solidFill>
              </a:rPr>
              <a:t>Big Ideas</a:t>
            </a:r>
          </a:p>
        </p:txBody>
      </p:sp>
      <p:sp>
        <p:nvSpPr>
          <p:cNvPr id="29" name="Oval 28"/>
          <p:cNvSpPr/>
          <p:nvPr/>
        </p:nvSpPr>
        <p:spPr>
          <a:xfrm>
            <a:off x="7745209" y="3657600"/>
            <a:ext cx="789191" cy="71744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~</a:t>
            </a:r>
            <a:r>
              <a:rPr lang="en-US" sz="1200" kern="0" dirty="0">
                <a:solidFill>
                  <a:srgbClr val="000000"/>
                </a:solidFill>
                <a:latin typeface="Frutiger 55 Roman"/>
                <a:ea typeface="ＭＳ Ｐゴシック"/>
              </a:rPr>
              <a:t>W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3730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2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3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5" grpId="0"/>
      <p:bldP spid="46" grpId="0"/>
      <p:bldP spid="47" grpId="0"/>
      <p:bldP spid="48" grpId="0"/>
      <p:bldP spid="49" grpId="0"/>
      <p:bldP spid="50" grpId="0" animBg="1"/>
      <p:bldP spid="58" grpId="0" animBg="1"/>
      <p:bldP spid="59" grpId="0" animBg="1"/>
      <p:bldP spid="60" grpId="0" animBg="1"/>
      <p:bldP spid="61" grpId="0" animBg="1"/>
      <p:bldP spid="23" grpId="0" animBg="1"/>
      <p:bldP spid="24" grpId="0" animBg="1"/>
      <p:bldP spid="3" grpId="0" animBg="1"/>
      <p:bldP spid="26" grpId="0" animBg="1"/>
      <p:bldP spid="4" grpId="0" animBg="1"/>
      <p:bldP spid="5" grpId="0" animBg="1"/>
      <p:bldP spid="2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wn Arrow 4"/>
          <p:cNvSpPr/>
          <p:nvPr/>
        </p:nvSpPr>
        <p:spPr>
          <a:xfrm>
            <a:off x="702388" y="1219200"/>
            <a:ext cx="821612" cy="4777740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6600"/>
                </a:solidFill>
              </a:rPr>
              <a:t>Y </a:t>
            </a:r>
          </a:p>
          <a:p>
            <a:pPr algn="ctr"/>
            <a:endParaRPr lang="en-US" b="1" dirty="0">
              <a:solidFill>
                <a:srgbClr val="FF6600"/>
              </a:solidFill>
            </a:endParaRPr>
          </a:p>
          <a:p>
            <a:pPr algn="ctr"/>
            <a:r>
              <a:rPr lang="en-US" b="1" dirty="0">
                <a:solidFill>
                  <a:srgbClr val="FF6600"/>
                </a:solidFill>
              </a:rPr>
              <a:t>Ax</a:t>
            </a:r>
          </a:p>
          <a:p>
            <a:pPr algn="ctr"/>
            <a:r>
              <a:rPr lang="en-US" b="1" dirty="0" err="1">
                <a:solidFill>
                  <a:srgbClr val="FF6600"/>
                </a:solidFill>
              </a:rPr>
              <a:t>i</a:t>
            </a:r>
            <a:endParaRPr lang="en-US" b="1" dirty="0">
              <a:solidFill>
                <a:srgbClr val="FF6600"/>
              </a:solidFill>
            </a:endParaRPr>
          </a:p>
          <a:p>
            <a:pPr algn="ctr"/>
            <a:r>
              <a:rPr lang="en-US" b="1" dirty="0">
                <a:solidFill>
                  <a:srgbClr val="FF6600"/>
                </a:solidFill>
              </a:rPr>
              <a:t>s</a:t>
            </a:r>
          </a:p>
          <a:p>
            <a:pPr algn="ctr"/>
            <a:endParaRPr lang="en-US" b="1" dirty="0">
              <a:solidFill>
                <a:srgbClr val="FF6600"/>
              </a:solidFill>
            </a:endParaRPr>
          </a:p>
          <a:p>
            <a:pPr algn="ctr"/>
            <a:r>
              <a:rPr lang="en-US" b="1" dirty="0">
                <a:solidFill>
                  <a:srgbClr val="FF6600"/>
                </a:solidFill>
              </a:rPr>
              <a:t>Add</a:t>
            </a:r>
          </a:p>
          <a:p>
            <a:pPr algn="ctr"/>
            <a:r>
              <a:rPr lang="en-US" b="1" dirty="0">
                <a:solidFill>
                  <a:srgbClr val="FF6600"/>
                </a:solidFill>
              </a:rPr>
              <a:t>r</a:t>
            </a:r>
          </a:p>
          <a:p>
            <a:pPr algn="ctr"/>
            <a:endParaRPr lang="en-US" b="1" dirty="0">
              <a:solidFill>
                <a:srgbClr val="FF6600"/>
              </a:solidFill>
            </a:endParaRPr>
          </a:p>
          <a:p>
            <a:pPr algn="ctr"/>
            <a:endParaRPr lang="en-US" b="1" dirty="0">
              <a:solidFill>
                <a:srgbClr val="FF6600"/>
              </a:solidFill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1371600" y="990600"/>
            <a:ext cx="5867400" cy="838200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FF"/>
                </a:solidFill>
              </a:rPr>
              <a:t>X Axis </a:t>
            </a:r>
            <a:r>
              <a:rPr lang="en-US" dirty="0"/>
              <a:t>Determines </a:t>
            </a:r>
            <a:r>
              <a:rPr lang="en-US" b="1" dirty="0">
                <a:solidFill>
                  <a:srgbClr val="0000FF"/>
                </a:solidFill>
              </a:rPr>
              <a:t>Data Stride </a:t>
            </a:r>
            <a:r>
              <a:rPr lang="en-US" dirty="0"/>
              <a:t>or Word Length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854" y="6011888"/>
            <a:ext cx="2677546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Determines the </a:t>
            </a:r>
            <a:r>
              <a:rPr lang="en-US" b="1" dirty="0">
                <a:solidFill>
                  <a:srgbClr val="FF6600"/>
                </a:solidFill>
              </a:rPr>
              <a:t>depth</a:t>
            </a:r>
            <a:r>
              <a:rPr lang="en-US" dirty="0">
                <a:solidFill>
                  <a:srgbClr val="FF6600"/>
                </a:solidFill>
              </a:rPr>
              <a:t> </a:t>
            </a:r>
            <a:r>
              <a:rPr lang="en-US" dirty="0"/>
              <a:t>of the </a:t>
            </a:r>
            <a:r>
              <a:rPr lang="en-US" b="1" dirty="0">
                <a:solidFill>
                  <a:srgbClr val="FF6600"/>
                </a:solidFill>
              </a:rPr>
              <a:t>Address Space  </a:t>
            </a:r>
          </a:p>
        </p:txBody>
      </p:sp>
      <p:cxnSp>
        <p:nvCxnSpPr>
          <p:cNvPr id="7" name="Straight Connector 6"/>
          <p:cNvCxnSpPr/>
          <p:nvPr/>
        </p:nvCxnSpPr>
        <p:spPr bwMode="auto">
          <a:xfrm>
            <a:off x="1295400" y="2361865"/>
            <a:ext cx="533278" cy="0"/>
          </a:xfrm>
          <a:prstGeom prst="line">
            <a:avLst/>
          </a:prstGeom>
          <a:ln w="0" cap="rnd">
            <a:solidFill>
              <a:srgbClr val="7030A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 bwMode="auto">
          <a:xfrm>
            <a:off x="1295400" y="2837426"/>
            <a:ext cx="533278" cy="0"/>
          </a:xfrm>
          <a:prstGeom prst="line">
            <a:avLst/>
          </a:prstGeom>
          <a:ln w="0" cap="rnd">
            <a:solidFill>
              <a:srgbClr val="7030A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 bwMode="auto">
          <a:xfrm>
            <a:off x="1295400" y="3312987"/>
            <a:ext cx="533278" cy="0"/>
          </a:xfrm>
          <a:prstGeom prst="line">
            <a:avLst/>
          </a:prstGeom>
          <a:ln w="0" cap="rnd">
            <a:solidFill>
              <a:srgbClr val="7030A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 bwMode="auto">
          <a:xfrm>
            <a:off x="1295400" y="3788549"/>
            <a:ext cx="533278" cy="0"/>
          </a:xfrm>
          <a:prstGeom prst="line">
            <a:avLst/>
          </a:prstGeom>
          <a:ln w="0" cap="rnd">
            <a:solidFill>
              <a:srgbClr val="7030A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 bwMode="auto">
          <a:xfrm>
            <a:off x="1295400" y="4264110"/>
            <a:ext cx="533278" cy="0"/>
          </a:xfrm>
          <a:prstGeom prst="line">
            <a:avLst/>
          </a:prstGeom>
          <a:ln w="0" cap="rnd">
            <a:solidFill>
              <a:srgbClr val="7030A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auto">
          <a:xfrm rot="5400000">
            <a:off x="3745505" y="1866963"/>
            <a:ext cx="533526" cy="0"/>
          </a:xfrm>
          <a:prstGeom prst="line">
            <a:avLst/>
          </a:prstGeom>
          <a:ln w="0" cap="rnd">
            <a:solidFill>
              <a:srgbClr val="FF000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auto">
          <a:xfrm rot="5400000">
            <a:off x="3397242" y="1866963"/>
            <a:ext cx="533526" cy="0"/>
          </a:xfrm>
          <a:prstGeom prst="line">
            <a:avLst/>
          </a:prstGeom>
          <a:ln w="0" cap="rnd">
            <a:solidFill>
              <a:srgbClr val="FF000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auto">
          <a:xfrm rot="5400000">
            <a:off x="3048979" y="1866963"/>
            <a:ext cx="533526" cy="0"/>
          </a:xfrm>
          <a:prstGeom prst="line">
            <a:avLst/>
          </a:prstGeom>
          <a:ln w="0" cap="rnd">
            <a:solidFill>
              <a:srgbClr val="FF000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auto">
          <a:xfrm rot="5400000">
            <a:off x="2352453" y="1866963"/>
            <a:ext cx="533526" cy="0"/>
          </a:xfrm>
          <a:prstGeom prst="line">
            <a:avLst/>
          </a:prstGeom>
          <a:ln w="0" cap="rnd">
            <a:solidFill>
              <a:srgbClr val="FF000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auto">
          <a:xfrm rot="5400000">
            <a:off x="1655927" y="1866963"/>
            <a:ext cx="533526" cy="0"/>
          </a:xfrm>
          <a:prstGeom prst="line">
            <a:avLst/>
          </a:prstGeom>
          <a:ln w="0" cap="rnd">
            <a:solidFill>
              <a:srgbClr val="FF000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auto">
          <a:xfrm rot="5400000">
            <a:off x="2004190" y="1866963"/>
            <a:ext cx="533526" cy="0"/>
          </a:xfrm>
          <a:prstGeom prst="line">
            <a:avLst/>
          </a:prstGeom>
          <a:ln w="0" cap="rnd">
            <a:solidFill>
              <a:srgbClr val="FF000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 bwMode="auto">
          <a:xfrm rot="5400000">
            <a:off x="2700716" y="1866963"/>
            <a:ext cx="533526" cy="0"/>
          </a:xfrm>
          <a:prstGeom prst="line">
            <a:avLst/>
          </a:prstGeom>
          <a:ln w="0" cap="rnd">
            <a:solidFill>
              <a:srgbClr val="FF000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auto">
          <a:xfrm rot="5400000">
            <a:off x="4093766" y="1866963"/>
            <a:ext cx="533526" cy="0"/>
          </a:xfrm>
          <a:prstGeom prst="line">
            <a:avLst/>
          </a:prstGeom>
          <a:ln w="0" cap="rnd">
            <a:solidFill>
              <a:srgbClr val="FF0000"/>
            </a:soli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 bwMode="auto">
          <a:xfrm>
            <a:off x="1711972" y="2099684"/>
            <a:ext cx="2818753" cy="2438979"/>
          </a:xfrm>
          <a:prstGeom prst="rect">
            <a:avLst/>
          </a:prstGeom>
          <a:solidFill>
            <a:schemeClr val="accent1"/>
          </a:solidFill>
          <a:ln w="0" cap="rnd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35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68" name="Rectangle 2"/>
          <p:cNvSpPr>
            <a:spLocks noGrp="1" noChangeArrowheads="1"/>
          </p:cNvSpPr>
          <p:nvPr>
            <p:ph type="title"/>
          </p:nvPr>
        </p:nvSpPr>
        <p:spPr>
          <a:xfrm>
            <a:off x="-544893" y="152400"/>
            <a:ext cx="10311257" cy="762000"/>
          </a:xfrm>
        </p:spPr>
        <p:txBody>
          <a:bodyPr/>
          <a:lstStyle/>
          <a:p>
            <a:r>
              <a:rPr lang="en-US" sz="4800" b="1" dirty="0">
                <a:solidFill>
                  <a:srgbClr val="FF6600"/>
                </a:solidFill>
              </a:rPr>
              <a:t>Y</a:t>
            </a:r>
            <a:r>
              <a:rPr lang="en-US" sz="4800" dirty="0"/>
              <a:t> &amp; </a:t>
            </a:r>
            <a:r>
              <a:rPr lang="en-US" sz="4800" b="1" dirty="0">
                <a:solidFill>
                  <a:srgbClr val="0000FF"/>
                </a:solidFill>
              </a:rPr>
              <a:t>X</a:t>
            </a:r>
            <a:r>
              <a:rPr lang="en-US" sz="4800" dirty="0"/>
              <a:t> Dimensions Scale Memory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95850" y="2301310"/>
            <a:ext cx="4195750" cy="175432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Consider various </a:t>
            </a:r>
            <a:r>
              <a:rPr lang="en-US" b="1" dirty="0">
                <a:solidFill>
                  <a:srgbClr val="FF6600"/>
                </a:solidFill>
              </a:rPr>
              <a:t>Y</a:t>
            </a:r>
            <a:r>
              <a:rPr lang="en-US" dirty="0"/>
              <a:t> x </a:t>
            </a:r>
            <a:r>
              <a:rPr lang="en-US" b="1" dirty="0">
                <a:solidFill>
                  <a:srgbClr val="0000FF"/>
                </a:solidFill>
              </a:rPr>
              <a:t>X </a:t>
            </a:r>
            <a:r>
              <a:rPr lang="en-US" dirty="0"/>
              <a:t>configurations:</a:t>
            </a:r>
          </a:p>
          <a:p>
            <a:r>
              <a:rPr lang="en-US" b="1" dirty="0">
                <a:solidFill>
                  <a:srgbClr val="FF6600"/>
                </a:solidFill>
              </a:rPr>
              <a:t>64M</a:t>
            </a:r>
            <a:r>
              <a:rPr lang="en-US" dirty="0"/>
              <a:t> x </a:t>
            </a:r>
            <a:r>
              <a:rPr lang="en-US" b="1" dirty="0">
                <a:solidFill>
                  <a:srgbClr val="0000FF"/>
                </a:solidFill>
              </a:rPr>
              <a:t>8</a:t>
            </a:r>
            <a:r>
              <a:rPr lang="en-US" dirty="0"/>
              <a:t>  //64MB</a:t>
            </a:r>
          </a:p>
          <a:p>
            <a:r>
              <a:rPr lang="en-US" b="1" dirty="0">
                <a:solidFill>
                  <a:srgbClr val="FF6600"/>
                </a:solidFill>
              </a:rPr>
              <a:t>4G</a:t>
            </a:r>
            <a:r>
              <a:rPr lang="en-US" dirty="0"/>
              <a:t> x </a:t>
            </a:r>
            <a:r>
              <a:rPr lang="en-US" b="1" dirty="0">
                <a:solidFill>
                  <a:srgbClr val="0000FF"/>
                </a:solidFill>
              </a:rPr>
              <a:t>32</a:t>
            </a:r>
            <a:r>
              <a:rPr lang="en-US" dirty="0"/>
              <a:t>  //16GB as 4Gx4B</a:t>
            </a:r>
          </a:p>
          <a:p>
            <a:r>
              <a:rPr lang="en-US" b="1" dirty="0">
                <a:solidFill>
                  <a:srgbClr val="FF6600"/>
                </a:solidFill>
              </a:rPr>
              <a:t>16M</a:t>
            </a:r>
            <a:r>
              <a:rPr lang="en-US" dirty="0"/>
              <a:t> x </a:t>
            </a:r>
            <a:r>
              <a:rPr lang="en-US" b="1" dirty="0">
                <a:solidFill>
                  <a:srgbClr val="0000FF"/>
                </a:solidFill>
              </a:rPr>
              <a:t>16</a:t>
            </a:r>
            <a:r>
              <a:rPr lang="en-US" dirty="0"/>
              <a:t> //32MB</a:t>
            </a:r>
          </a:p>
          <a:p>
            <a:r>
              <a:rPr lang="en-US" b="1" dirty="0">
                <a:solidFill>
                  <a:srgbClr val="FF6600"/>
                </a:solidFill>
              </a:rPr>
              <a:t>128K</a:t>
            </a:r>
            <a:r>
              <a:rPr lang="en-US" dirty="0"/>
              <a:t> x </a:t>
            </a:r>
            <a:r>
              <a:rPr lang="en-US" b="1" dirty="0">
                <a:solidFill>
                  <a:srgbClr val="0000FF"/>
                </a:solidFill>
              </a:rPr>
              <a:t>128</a:t>
            </a:r>
            <a:r>
              <a:rPr lang="en-US" dirty="0"/>
              <a:t>  //Vector </a:t>
            </a:r>
            <a:r>
              <a:rPr lang="en-US" dirty="0" err="1"/>
              <a:t>proc</a:t>
            </a:r>
            <a:r>
              <a:rPr lang="en-US" dirty="0"/>
              <a:t>, VMEM</a:t>
            </a:r>
          </a:p>
          <a:p>
            <a:endParaRPr lang="en-US" dirty="0"/>
          </a:p>
        </p:txBody>
      </p:sp>
      <p:sp>
        <p:nvSpPr>
          <p:cNvPr id="65" name="Rectangle 64"/>
          <p:cNvSpPr/>
          <p:nvPr/>
        </p:nvSpPr>
        <p:spPr>
          <a:xfrm>
            <a:off x="2895600" y="2590800"/>
            <a:ext cx="1143000" cy="1066800"/>
          </a:xfrm>
          <a:prstGeom prst="rect">
            <a:avLst/>
          </a:prstGeom>
          <a:gradFill rotWithShape="1">
            <a:gsLst>
              <a:gs pos="0">
                <a:srgbClr val="AE4845">
                  <a:tint val="50000"/>
                  <a:satMod val="300000"/>
                </a:srgbClr>
              </a:gs>
              <a:gs pos="35000">
                <a:srgbClr val="AE4845">
                  <a:tint val="37000"/>
                  <a:satMod val="300000"/>
                </a:srgbClr>
              </a:gs>
              <a:gs pos="100000">
                <a:srgbClr val="AE4845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AE4845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32K x 8</a:t>
            </a:r>
          </a:p>
        </p:txBody>
      </p:sp>
      <p:cxnSp>
        <p:nvCxnSpPr>
          <p:cNvPr id="66" name="Straight Arrow Connector 65"/>
          <p:cNvCxnSpPr/>
          <p:nvPr/>
        </p:nvCxnSpPr>
        <p:spPr>
          <a:xfrm>
            <a:off x="2286000" y="2819400"/>
            <a:ext cx="6858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>
            <a:off x="2286000" y="3276600"/>
            <a:ext cx="6858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1981200" y="2667000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05000" y="312420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A14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09800" y="281940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…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0" y="3914001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733800" y="388620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D0</a:t>
            </a:r>
          </a:p>
        </p:txBody>
      </p:sp>
      <p:sp>
        <p:nvSpPr>
          <p:cNvPr id="75" name="Oval 74"/>
          <p:cNvSpPr/>
          <p:nvPr/>
        </p:nvSpPr>
        <p:spPr>
          <a:xfrm>
            <a:off x="3124200" y="2362200"/>
            <a:ext cx="228600" cy="228600"/>
          </a:xfrm>
          <a:prstGeom prst="ellipse">
            <a:avLst/>
          </a:prstGeom>
          <a:gradFill rotWithShape="1">
            <a:gsLst>
              <a:gs pos="0">
                <a:srgbClr val="B2C1DB">
                  <a:tint val="50000"/>
                  <a:satMod val="300000"/>
                </a:srgbClr>
              </a:gs>
              <a:gs pos="35000">
                <a:srgbClr val="B2C1DB">
                  <a:tint val="37000"/>
                  <a:satMod val="300000"/>
                </a:srgbClr>
              </a:gs>
              <a:gs pos="100000">
                <a:srgbClr val="B2C1DB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B2C1DB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cxnSp>
        <p:nvCxnSpPr>
          <p:cNvPr id="76" name="Straight Arrow Connector 75"/>
          <p:cNvCxnSpPr/>
          <p:nvPr/>
        </p:nvCxnSpPr>
        <p:spPr>
          <a:xfrm>
            <a:off x="2971800" y="35814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77" name="Straight Arrow Connector 76"/>
          <p:cNvCxnSpPr/>
          <p:nvPr/>
        </p:nvCxnSpPr>
        <p:spPr>
          <a:xfrm>
            <a:off x="3124200" y="35814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78" name="Straight Arrow Connector 77"/>
          <p:cNvCxnSpPr/>
          <p:nvPr/>
        </p:nvCxnSpPr>
        <p:spPr>
          <a:xfrm>
            <a:off x="3276600" y="35814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79" name="Straight Arrow Connector 78"/>
          <p:cNvCxnSpPr/>
          <p:nvPr/>
        </p:nvCxnSpPr>
        <p:spPr>
          <a:xfrm>
            <a:off x="3429000" y="35814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80" name="Straight Arrow Connector 79"/>
          <p:cNvCxnSpPr/>
          <p:nvPr/>
        </p:nvCxnSpPr>
        <p:spPr>
          <a:xfrm>
            <a:off x="3581400" y="35814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81" name="Straight Arrow Connector 80"/>
          <p:cNvCxnSpPr/>
          <p:nvPr/>
        </p:nvCxnSpPr>
        <p:spPr>
          <a:xfrm>
            <a:off x="3733800" y="35814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82" name="Straight Arrow Connector 81"/>
          <p:cNvCxnSpPr/>
          <p:nvPr/>
        </p:nvCxnSpPr>
        <p:spPr>
          <a:xfrm>
            <a:off x="3886200" y="35814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83" name="Oval 82"/>
          <p:cNvSpPr/>
          <p:nvPr/>
        </p:nvSpPr>
        <p:spPr>
          <a:xfrm>
            <a:off x="3581400" y="2362200"/>
            <a:ext cx="228600" cy="228600"/>
          </a:xfrm>
          <a:prstGeom prst="ellipse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2743200" y="2590800"/>
            <a:ext cx="304800" cy="838200"/>
          </a:xfrm>
          <a:prstGeom prst="roundRect">
            <a:avLst/>
          </a:prstGeom>
          <a:gradFill flip="none" rotWithShape="1">
            <a:gsLst>
              <a:gs pos="0">
                <a:srgbClr val="C0504D">
                  <a:tint val="50000"/>
                  <a:satMod val="300000"/>
                  <a:alpha val="10000"/>
                </a:srgbClr>
              </a:gs>
              <a:gs pos="35000">
                <a:srgbClr val="C0504D">
                  <a:tint val="37000"/>
                  <a:satMod val="300000"/>
                  <a:alpha val="10000"/>
                </a:srgbClr>
              </a:gs>
              <a:gs pos="100000">
                <a:srgbClr val="C0504D">
                  <a:tint val="15000"/>
                  <a:satMod val="350000"/>
                  <a:alpha val="10000"/>
                </a:srgbClr>
              </a:gs>
            </a:gsLst>
            <a:lin ang="16200000" scaled="1"/>
            <a:tileRect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267200" y="4724400"/>
            <a:ext cx="2446145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6600"/>
                </a:solidFill>
              </a:rPr>
              <a:t>Depth(Y) </a:t>
            </a:r>
            <a:r>
              <a:rPr lang="en-US" dirty="0"/>
              <a:t>x </a:t>
            </a:r>
            <a:r>
              <a:rPr lang="en-US" b="1" dirty="0">
                <a:solidFill>
                  <a:srgbClr val="0000FF"/>
                </a:solidFill>
              </a:rPr>
              <a:t>Stride(X)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82468" y="5312953"/>
            <a:ext cx="6085332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Q1:</a:t>
            </a:r>
            <a:r>
              <a:rPr lang="en-US" dirty="0"/>
              <a:t> What if we wanted our chip to have a larger </a:t>
            </a:r>
            <a:r>
              <a:rPr lang="en-US" b="1" dirty="0">
                <a:solidFill>
                  <a:srgbClr val="0000FF"/>
                </a:solidFill>
              </a:rPr>
              <a:t>data stride</a:t>
            </a:r>
            <a:r>
              <a:rPr lang="en-US" dirty="0"/>
              <a:t>, such as the </a:t>
            </a:r>
            <a:r>
              <a:rPr lang="en-US" b="1" dirty="0">
                <a:solidFill>
                  <a:srgbClr val="0000FF"/>
                </a:solidFill>
              </a:rPr>
              <a:t>16b word </a:t>
            </a:r>
            <a:r>
              <a:rPr lang="en-US" dirty="0"/>
              <a:t>on the M68K (external bus)?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71800" y="6019800"/>
            <a:ext cx="6172200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Q2:</a:t>
            </a:r>
            <a:r>
              <a:rPr lang="en-US" dirty="0"/>
              <a:t> What if we wanted our chip to have more </a:t>
            </a:r>
            <a:r>
              <a:rPr lang="en-US" b="1" dirty="0">
                <a:solidFill>
                  <a:srgbClr val="FF6600"/>
                </a:solidFill>
              </a:rPr>
              <a:t>addressable bins</a:t>
            </a:r>
            <a:r>
              <a:rPr lang="en-US" dirty="0"/>
              <a:t>, such as the </a:t>
            </a:r>
            <a:r>
              <a:rPr lang="en-US" b="1" dirty="0">
                <a:solidFill>
                  <a:srgbClr val="FF6600"/>
                </a:solidFill>
              </a:rPr>
              <a:t>16M locations </a:t>
            </a:r>
            <a:r>
              <a:rPr lang="en-US" dirty="0"/>
              <a:t>found on the 68K?</a:t>
            </a:r>
          </a:p>
        </p:txBody>
      </p:sp>
    </p:spTree>
    <p:extLst>
      <p:ext uri="{BB962C8B-B14F-4D97-AF65-F5344CB8AC3E}">
        <p14:creationId xmlns:p14="http://schemas.microsoft.com/office/powerpoint/2010/main" val="917692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3" grpId="0" animBg="1"/>
      <p:bldP spid="4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534400" cy="1600200"/>
          </a:xfrm>
        </p:spPr>
        <p:txBody>
          <a:bodyPr/>
          <a:lstStyle/>
          <a:p>
            <a:r>
              <a:rPr lang="en-US" dirty="0"/>
              <a:t>Cut-and-Paste </a:t>
            </a:r>
            <a:r>
              <a:rPr lang="en-US" sz="2400" dirty="0"/>
              <a:t>(in </a:t>
            </a:r>
            <a:r>
              <a:rPr lang="en-US" sz="2400" dirty="0">
                <a:solidFill>
                  <a:srgbClr val="0000FF"/>
                </a:solidFill>
              </a:rPr>
              <a:t>X</a:t>
            </a:r>
            <a:r>
              <a:rPr lang="en-US" sz="2400" dirty="0"/>
              <a:t>)</a:t>
            </a:r>
            <a:br>
              <a:rPr lang="en-US" dirty="0"/>
            </a:br>
            <a:r>
              <a:rPr lang="en-US" dirty="0"/>
              <a:t>To Expand IO </a:t>
            </a:r>
            <a:r>
              <a:rPr lang="en-US" dirty="0">
                <a:solidFill>
                  <a:srgbClr val="0000FF"/>
                </a:solidFill>
              </a:rPr>
              <a:t>Width/Stride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76600" y="2747089"/>
            <a:ext cx="1143000" cy="1066800"/>
          </a:xfrm>
          <a:prstGeom prst="rect">
            <a:avLst/>
          </a:prstGeom>
          <a:gradFill rotWithShape="1">
            <a:gsLst>
              <a:gs pos="0">
                <a:srgbClr val="AE4845">
                  <a:tint val="50000"/>
                  <a:satMod val="300000"/>
                </a:srgbClr>
              </a:gs>
              <a:gs pos="35000">
                <a:srgbClr val="AE4845">
                  <a:tint val="37000"/>
                  <a:satMod val="300000"/>
                </a:srgbClr>
              </a:gs>
              <a:gs pos="100000">
                <a:srgbClr val="AE4845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AE4845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32K x 8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2667000" y="2975689"/>
            <a:ext cx="685800" cy="0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81" name="Straight Arrow Connector 80"/>
          <p:cNvCxnSpPr/>
          <p:nvPr/>
        </p:nvCxnSpPr>
        <p:spPr>
          <a:xfrm>
            <a:off x="2667000" y="3432889"/>
            <a:ext cx="685800" cy="0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82" name="TextBox 81"/>
          <p:cNvSpPr txBox="1"/>
          <p:nvPr/>
        </p:nvSpPr>
        <p:spPr>
          <a:xfrm>
            <a:off x="2971800" y="2747089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895600" y="3204289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A14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971800" y="2975689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124200" y="407029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D15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14800" y="4042489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D8</a:t>
            </a:r>
          </a:p>
        </p:txBody>
      </p:sp>
      <p:sp>
        <p:nvSpPr>
          <p:cNvPr id="87" name="Oval 86"/>
          <p:cNvSpPr/>
          <p:nvPr/>
        </p:nvSpPr>
        <p:spPr>
          <a:xfrm>
            <a:off x="3505200" y="2518489"/>
            <a:ext cx="228600" cy="228600"/>
          </a:xfrm>
          <a:prstGeom prst="ellipse">
            <a:avLst/>
          </a:prstGeom>
          <a:gradFill rotWithShape="1">
            <a:gsLst>
              <a:gs pos="0">
                <a:srgbClr val="B2C1DB">
                  <a:tint val="50000"/>
                  <a:satMod val="300000"/>
                </a:srgbClr>
              </a:gs>
              <a:gs pos="35000">
                <a:srgbClr val="B2C1DB">
                  <a:tint val="37000"/>
                  <a:satMod val="300000"/>
                </a:srgbClr>
              </a:gs>
              <a:gs pos="100000">
                <a:srgbClr val="B2C1DB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B2C1DB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cxnSp>
        <p:nvCxnSpPr>
          <p:cNvPr id="88" name="Straight Arrow Connector 87"/>
          <p:cNvCxnSpPr/>
          <p:nvPr/>
        </p:nvCxnSpPr>
        <p:spPr>
          <a:xfrm>
            <a:off x="3352800" y="3737689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89" name="Straight Arrow Connector 88"/>
          <p:cNvCxnSpPr/>
          <p:nvPr/>
        </p:nvCxnSpPr>
        <p:spPr>
          <a:xfrm>
            <a:off x="3505200" y="3737689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0" name="Straight Arrow Connector 89"/>
          <p:cNvCxnSpPr/>
          <p:nvPr/>
        </p:nvCxnSpPr>
        <p:spPr>
          <a:xfrm>
            <a:off x="3657600" y="3737689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1" name="Straight Arrow Connector 90"/>
          <p:cNvCxnSpPr/>
          <p:nvPr/>
        </p:nvCxnSpPr>
        <p:spPr>
          <a:xfrm>
            <a:off x="3810000" y="3737689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2" name="Straight Arrow Connector 91"/>
          <p:cNvCxnSpPr/>
          <p:nvPr/>
        </p:nvCxnSpPr>
        <p:spPr>
          <a:xfrm>
            <a:off x="3962400" y="3737689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3" name="Straight Arrow Connector 92"/>
          <p:cNvCxnSpPr/>
          <p:nvPr/>
        </p:nvCxnSpPr>
        <p:spPr>
          <a:xfrm>
            <a:off x="4114800" y="3737689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4" name="Straight Arrow Connector 93"/>
          <p:cNvCxnSpPr/>
          <p:nvPr/>
        </p:nvCxnSpPr>
        <p:spPr>
          <a:xfrm>
            <a:off x="4267200" y="3737689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5" name="Oval 94"/>
          <p:cNvSpPr/>
          <p:nvPr/>
        </p:nvSpPr>
        <p:spPr>
          <a:xfrm>
            <a:off x="3962400" y="2518489"/>
            <a:ext cx="228600" cy="228600"/>
          </a:xfrm>
          <a:prstGeom prst="ellipse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4614334" y="2738623"/>
            <a:ext cx="1143000" cy="1066800"/>
          </a:xfrm>
          <a:prstGeom prst="rect">
            <a:avLst/>
          </a:prstGeom>
          <a:gradFill rotWithShape="1">
            <a:gsLst>
              <a:gs pos="0">
                <a:srgbClr val="AE4845">
                  <a:tint val="50000"/>
                  <a:satMod val="300000"/>
                </a:srgbClr>
              </a:gs>
              <a:gs pos="35000">
                <a:srgbClr val="AE4845">
                  <a:tint val="37000"/>
                  <a:satMod val="300000"/>
                </a:srgbClr>
              </a:gs>
              <a:gs pos="100000">
                <a:srgbClr val="AE4845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AE4845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32K x 8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72000" y="2814823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495800" y="3272023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A14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461934" y="403860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452534" y="4034023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D0</a:t>
            </a:r>
          </a:p>
        </p:txBody>
      </p:sp>
      <p:sp>
        <p:nvSpPr>
          <p:cNvPr id="102" name="Oval 101"/>
          <p:cNvSpPr/>
          <p:nvPr/>
        </p:nvSpPr>
        <p:spPr>
          <a:xfrm>
            <a:off x="4842934" y="2510023"/>
            <a:ext cx="228600" cy="228600"/>
          </a:xfrm>
          <a:prstGeom prst="ellipse">
            <a:avLst/>
          </a:prstGeom>
          <a:gradFill rotWithShape="1">
            <a:gsLst>
              <a:gs pos="0">
                <a:srgbClr val="B2C1DB">
                  <a:tint val="50000"/>
                  <a:satMod val="300000"/>
                </a:srgbClr>
              </a:gs>
              <a:gs pos="35000">
                <a:srgbClr val="B2C1DB">
                  <a:tint val="37000"/>
                  <a:satMod val="300000"/>
                </a:srgbClr>
              </a:gs>
              <a:gs pos="100000">
                <a:srgbClr val="B2C1DB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B2C1DB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cxnSp>
        <p:nvCxnSpPr>
          <p:cNvPr id="103" name="Straight Arrow Connector 102"/>
          <p:cNvCxnSpPr/>
          <p:nvPr/>
        </p:nvCxnSpPr>
        <p:spPr>
          <a:xfrm>
            <a:off x="4690534" y="3729223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04" name="Straight Arrow Connector 103"/>
          <p:cNvCxnSpPr/>
          <p:nvPr/>
        </p:nvCxnSpPr>
        <p:spPr>
          <a:xfrm>
            <a:off x="4842934" y="3729223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05" name="Straight Arrow Connector 104"/>
          <p:cNvCxnSpPr/>
          <p:nvPr/>
        </p:nvCxnSpPr>
        <p:spPr>
          <a:xfrm>
            <a:off x="4995334" y="3729223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06" name="Straight Arrow Connector 105"/>
          <p:cNvCxnSpPr/>
          <p:nvPr/>
        </p:nvCxnSpPr>
        <p:spPr>
          <a:xfrm>
            <a:off x="5147734" y="3729223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07" name="Straight Arrow Connector 106"/>
          <p:cNvCxnSpPr/>
          <p:nvPr/>
        </p:nvCxnSpPr>
        <p:spPr>
          <a:xfrm>
            <a:off x="5300134" y="3729223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08" name="Straight Arrow Connector 107"/>
          <p:cNvCxnSpPr/>
          <p:nvPr/>
        </p:nvCxnSpPr>
        <p:spPr>
          <a:xfrm>
            <a:off x="5452534" y="3729223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09" name="Straight Arrow Connector 108"/>
          <p:cNvCxnSpPr/>
          <p:nvPr/>
        </p:nvCxnSpPr>
        <p:spPr>
          <a:xfrm>
            <a:off x="5604934" y="3729223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10" name="Oval 109"/>
          <p:cNvSpPr/>
          <p:nvPr/>
        </p:nvSpPr>
        <p:spPr>
          <a:xfrm>
            <a:off x="5300134" y="2510023"/>
            <a:ext cx="228600" cy="228600"/>
          </a:xfrm>
          <a:prstGeom prst="ellipse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cxnSp>
        <p:nvCxnSpPr>
          <p:cNvPr id="111" name="Straight Arrow Connector 110"/>
          <p:cNvCxnSpPr/>
          <p:nvPr/>
        </p:nvCxnSpPr>
        <p:spPr>
          <a:xfrm>
            <a:off x="3352800" y="2971224"/>
            <a:ext cx="1295400" cy="0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12" name="Straight Arrow Connector 111"/>
          <p:cNvCxnSpPr/>
          <p:nvPr/>
        </p:nvCxnSpPr>
        <p:spPr>
          <a:xfrm>
            <a:off x="3352800" y="3428424"/>
            <a:ext cx="1295400" cy="0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15" name="TextBox 114"/>
          <p:cNvSpPr txBox="1"/>
          <p:nvPr/>
        </p:nvSpPr>
        <p:spPr>
          <a:xfrm>
            <a:off x="1880755" y="4800024"/>
            <a:ext cx="4977245" cy="584776"/>
          </a:xfrm>
          <a:prstGeom prst="rect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Data IO </a:t>
            </a:r>
            <a:r>
              <a:rPr kumimoji="0" 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upgraded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 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to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 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16b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0" y="5486400"/>
            <a:ext cx="9144000" cy="101566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By adding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more chips in the </a:t>
            </a:r>
            <a:r>
              <a:rPr kumimoji="0" lang="en-US" sz="2000" b="1" i="0" u="none" strike="noStrike" kern="0" cap="none" spc="0" normalizeH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X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dimension, we </a:t>
            </a:r>
            <a:r>
              <a:rPr lang="en-US" sz="2000" b="1" i="1" kern="0" noProof="0" dirty="0">
                <a:solidFill>
                  <a:sysClr val="windowText" lastClr="000000"/>
                </a:solidFill>
              </a:rPr>
              <a:t>upgraded</a:t>
            </a:r>
            <a:r>
              <a:rPr lang="en-US" sz="2000" kern="0" noProof="0" dirty="0">
                <a:solidFill>
                  <a:sysClr val="windowText" lastClr="000000"/>
                </a:solidFill>
              </a:rPr>
              <a:t> </a:t>
            </a:r>
            <a:r>
              <a:rPr lang="en-US" sz="2000" kern="0" dirty="0">
                <a:solidFill>
                  <a:sysClr val="windowText" lastClr="000000"/>
                </a:solidFill>
              </a:rPr>
              <a:t>our </a:t>
            </a:r>
            <a:r>
              <a:rPr lang="en-US" sz="2000" b="1" kern="0" dirty="0">
                <a:solidFill>
                  <a:srgbClr val="0000FF"/>
                </a:solidFill>
              </a:rPr>
              <a:t>word</a:t>
            </a:r>
            <a:r>
              <a:rPr lang="en-US" sz="2000" kern="0" dirty="0">
                <a:solidFill>
                  <a:sysClr val="windowText" lastClr="000000"/>
                </a:solidFill>
              </a:rPr>
              <a:t> size to </a:t>
            </a:r>
            <a:r>
              <a:rPr lang="en-US" sz="2000" b="1" kern="0" dirty="0">
                <a:solidFill>
                  <a:srgbClr val="0000FF"/>
                </a:solidFill>
              </a:rPr>
              <a:t>16b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We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want our chip to have </a:t>
            </a:r>
            <a:r>
              <a:rPr kumimoji="0" lang="en-US" sz="2000" b="1" i="0" u="none" strike="noStrike" kern="0" cap="none" spc="0" normalizeH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</a:rPr>
              <a:t>more than one page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, so that </a:t>
            </a:r>
            <a:r>
              <a:rPr lang="en-US" sz="2000" kern="0" dirty="0">
                <a:solidFill>
                  <a:sysClr val="windowText" lastClr="000000"/>
                </a:solidFill>
              </a:rPr>
              <a:t>the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total RAM is </a:t>
            </a:r>
            <a:r>
              <a:rPr kumimoji="0" lang="en-US" sz="2000" b="1" i="0" u="none" strike="noStrike" kern="0" cap="none" spc="0" normalizeH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</a:rPr>
              <a:t>64K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x</a:t>
            </a:r>
            <a:r>
              <a:rPr kumimoji="0" lang="en-US" sz="2000" b="1" i="0" u="none" strike="noStrike" kern="0" cap="none" spc="0" normalizeH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16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 </a:t>
            </a:r>
            <a:r>
              <a:rPr kumimoji="0" lang="en-US" sz="2000" b="1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Q: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</a:t>
            </a:r>
            <a:r>
              <a:rPr lang="en-US" sz="2000" kern="0" dirty="0">
                <a:solidFill>
                  <a:sysClr val="windowText" lastClr="000000"/>
                </a:solidFill>
              </a:rPr>
              <a:t>H</a:t>
            </a:r>
            <a:r>
              <a:rPr kumimoji="0" lang="en-US" sz="2000" b="0" i="0" u="none" strike="noStrike" kern="0" cap="none" spc="0" normalizeH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ow</a:t>
            </a:r>
            <a:r>
              <a:rPr lang="en-US" sz="2000" kern="0" dirty="0">
                <a:solidFill>
                  <a:sysClr val="windowText" lastClr="000000"/>
                </a:solidFill>
              </a:rPr>
              <a:t> 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do we add a page here?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14500" y="6477000"/>
            <a:ext cx="74422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</a:rPr>
              <a:t>A:</a:t>
            </a:r>
            <a:r>
              <a:rPr lang="en-US" dirty="0"/>
              <a:t> you already cut and paste in the </a:t>
            </a:r>
            <a:r>
              <a:rPr lang="en-US" b="1" dirty="0">
                <a:solidFill>
                  <a:srgbClr val="0000FF"/>
                </a:solidFill>
              </a:rPr>
              <a:t>x</a:t>
            </a:r>
            <a:r>
              <a:rPr lang="en-US" dirty="0"/>
              <a:t> dimension, now do so for the </a:t>
            </a:r>
            <a:r>
              <a:rPr lang="en-US" b="1" dirty="0">
                <a:solidFill>
                  <a:srgbClr val="FF6600"/>
                </a:solidFill>
              </a:rPr>
              <a:t>y</a:t>
            </a:r>
          </a:p>
        </p:txBody>
      </p:sp>
      <p:sp>
        <p:nvSpPr>
          <p:cNvPr id="114" name="Left Brace 113"/>
          <p:cNvSpPr/>
          <p:nvPr/>
        </p:nvSpPr>
        <p:spPr>
          <a:xfrm rot="16200000">
            <a:off x="4011701" y="3162652"/>
            <a:ext cx="922020" cy="2636977"/>
          </a:xfrm>
          <a:prstGeom prst="leftBrac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119" name="Right Arrow 118"/>
          <p:cNvSpPr/>
          <p:nvPr/>
        </p:nvSpPr>
        <p:spPr>
          <a:xfrm>
            <a:off x="1371600" y="1447800"/>
            <a:ext cx="5867400" cy="838200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FF"/>
                </a:solidFill>
              </a:rPr>
              <a:t>X Axis </a:t>
            </a:r>
            <a:r>
              <a:rPr lang="en-US" dirty="0"/>
              <a:t>Determines </a:t>
            </a:r>
            <a:r>
              <a:rPr lang="en-US" b="1" dirty="0">
                <a:solidFill>
                  <a:srgbClr val="0000FF"/>
                </a:solidFill>
              </a:rPr>
              <a:t>Data Stride </a:t>
            </a:r>
            <a:r>
              <a:rPr lang="en-US" dirty="0"/>
              <a:t>or Word Length 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2895600" y="2468997"/>
            <a:ext cx="4191000" cy="1454727"/>
          </a:xfrm>
          <a:prstGeom prst="roundRect">
            <a:avLst/>
          </a:prstGeom>
          <a:gradFill flip="none" rotWithShape="1">
            <a:gsLst>
              <a:gs pos="0">
                <a:srgbClr val="000000">
                  <a:tint val="50000"/>
                  <a:satMod val="300000"/>
                  <a:alpha val="10000"/>
                </a:srgbClr>
              </a:gs>
              <a:gs pos="35000">
                <a:srgbClr val="000000">
                  <a:tint val="37000"/>
                  <a:satMod val="300000"/>
                  <a:alpha val="10000"/>
                </a:srgbClr>
              </a:gs>
              <a:gs pos="100000">
                <a:srgbClr val="000000">
                  <a:tint val="15000"/>
                  <a:satMod val="350000"/>
                  <a:alpha val="10000"/>
                </a:srgbClr>
              </a:gs>
            </a:gsLst>
            <a:lin ang="16200000" scaled="1"/>
            <a:tileRect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</a:rPr>
              <a:t>                                                                           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Frutiger 55 Roman"/>
                <a:ea typeface="ＭＳ Ｐゴシック"/>
              </a:rPr>
              <a:t>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Frutiger 55 Roman"/>
                <a:ea typeface="ＭＳ Ｐゴシック"/>
              </a:rPr>
              <a:t>A Page </a:t>
            </a: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rgbClr val="008000"/>
                </a:solidFill>
                <a:latin typeface="Frutiger 55 Roman"/>
                <a:ea typeface="ＭＳ Ｐゴシック"/>
              </a:rPr>
              <a:t>(a logical set </a:t>
            </a: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rgbClr val="008000"/>
                </a:solidFill>
                <a:latin typeface="Frutiger 55 Roman"/>
                <a:ea typeface="ＭＳ Ｐゴシック"/>
              </a:rPr>
              <a:t>of chips that </a:t>
            </a: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rgbClr val="008000"/>
                </a:solidFill>
                <a:latin typeface="Frutiger 55 Roman"/>
                <a:ea typeface="ＭＳ Ｐゴシック"/>
              </a:rPr>
              <a:t>increases </a:t>
            </a: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rgbClr val="008000"/>
                </a:solidFill>
                <a:latin typeface="Frutiger 55 Roman"/>
                <a:ea typeface="ＭＳ Ｐゴシック"/>
              </a:rPr>
              <a:t>data stride)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3366FF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3366FF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1073825" y="2866053"/>
            <a:ext cx="1521853" cy="73550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6600"/>
                </a:solidFill>
              </a:rPr>
              <a:t>Page Interface(15)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286000" y="2846625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222500" y="3352224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A14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324100" y="2996624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…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597400" y="2971224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34875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2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8" dur="2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97" grpId="0"/>
      <p:bldP spid="98" grpId="0"/>
      <p:bldP spid="100" grpId="0"/>
      <p:bldP spid="101" grpId="0"/>
      <p:bldP spid="102" grpId="0" animBg="1"/>
      <p:bldP spid="110" grpId="0" animBg="1"/>
      <p:bldP spid="115" grpId="0" animBg="1"/>
      <p:bldP spid="117" grpId="0" animBg="1"/>
      <p:bldP spid="3" grpId="0" animBg="1"/>
      <p:bldP spid="114" grpId="0" animBg="1"/>
      <p:bldP spid="121" grpId="0" animBg="1"/>
      <p:bldP spid="122" grpId="0" animBg="1"/>
      <p:bldP spid="1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96"/>
          <p:cNvSpPr/>
          <p:nvPr/>
        </p:nvSpPr>
        <p:spPr>
          <a:xfrm>
            <a:off x="1447800" y="1447800"/>
            <a:ext cx="3810000" cy="4343400"/>
          </a:xfrm>
          <a:prstGeom prst="rect">
            <a:avLst/>
          </a:prstGeom>
          <a:gradFill rotWithShape="1">
            <a:gsLst>
              <a:gs pos="0">
                <a:srgbClr val="B2C1DB">
                  <a:tint val="50000"/>
                  <a:satMod val="300000"/>
                </a:srgbClr>
              </a:gs>
              <a:gs pos="35000">
                <a:srgbClr val="B2C1DB">
                  <a:tint val="37000"/>
                  <a:satMod val="300000"/>
                </a:srgbClr>
              </a:gs>
              <a:gs pos="100000">
                <a:srgbClr val="B2C1DB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B2C1DB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2362200" y="1752600"/>
            <a:ext cx="1143000" cy="1066800"/>
          </a:xfrm>
          <a:prstGeom prst="rect">
            <a:avLst/>
          </a:prstGeom>
          <a:gradFill rotWithShape="1">
            <a:gsLst>
              <a:gs pos="0">
                <a:srgbClr val="AE4845">
                  <a:tint val="50000"/>
                  <a:satMod val="300000"/>
                </a:srgbClr>
              </a:gs>
              <a:gs pos="35000">
                <a:srgbClr val="AE4845">
                  <a:tint val="37000"/>
                  <a:satMod val="300000"/>
                </a:srgbClr>
              </a:gs>
              <a:gs pos="100000">
                <a:srgbClr val="AE4845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AE4845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32K x 8</a:t>
            </a:r>
          </a:p>
        </p:txBody>
      </p:sp>
      <p:cxnSp>
        <p:nvCxnSpPr>
          <p:cNvPr id="116" name="Straight Arrow Connector 115"/>
          <p:cNvCxnSpPr/>
          <p:nvPr/>
        </p:nvCxnSpPr>
        <p:spPr>
          <a:xfrm>
            <a:off x="1376760" y="1981200"/>
            <a:ext cx="1004080" cy="0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17" name="Straight Arrow Connector 116"/>
          <p:cNvCxnSpPr/>
          <p:nvPr/>
        </p:nvCxnSpPr>
        <p:spPr>
          <a:xfrm>
            <a:off x="1376760" y="2438400"/>
            <a:ext cx="1004080" cy="0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18" name="TextBox 117"/>
          <p:cNvSpPr txBox="1"/>
          <p:nvPr/>
        </p:nvSpPr>
        <p:spPr>
          <a:xfrm>
            <a:off x="2057400" y="1752600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981200" y="220980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A14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057400" y="198120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…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209800" y="3075801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D15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200400" y="304800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D8</a:t>
            </a:r>
          </a:p>
        </p:txBody>
      </p:sp>
      <p:sp>
        <p:nvSpPr>
          <p:cNvPr id="123" name="Oval 122"/>
          <p:cNvSpPr/>
          <p:nvPr/>
        </p:nvSpPr>
        <p:spPr>
          <a:xfrm>
            <a:off x="2590800" y="1524000"/>
            <a:ext cx="228600" cy="228600"/>
          </a:xfrm>
          <a:prstGeom prst="ellipse">
            <a:avLst/>
          </a:prstGeom>
          <a:gradFill rotWithShape="1">
            <a:gsLst>
              <a:gs pos="0">
                <a:srgbClr val="B2C1DB">
                  <a:tint val="50000"/>
                  <a:satMod val="300000"/>
                </a:srgbClr>
              </a:gs>
              <a:gs pos="35000">
                <a:srgbClr val="B2C1DB">
                  <a:tint val="37000"/>
                  <a:satMod val="300000"/>
                </a:srgbClr>
              </a:gs>
              <a:gs pos="100000">
                <a:srgbClr val="B2C1DB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B2C1DB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cxnSp>
        <p:nvCxnSpPr>
          <p:cNvPr id="124" name="Straight Arrow Connector 123"/>
          <p:cNvCxnSpPr/>
          <p:nvPr/>
        </p:nvCxnSpPr>
        <p:spPr>
          <a:xfrm>
            <a:off x="2438400" y="27432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5" name="Straight Arrow Connector 124"/>
          <p:cNvCxnSpPr/>
          <p:nvPr/>
        </p:nvCxnSpPr>
        <p:spPr>
          <a:xfrm>
            <a:off x="2590800" y="27432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6" name="Straight Arrow Connector 125"/>
          <p:cNvCxnSpPr/>
          <p:nvPr/>
        </p:nvCxnSpPr>
        <p:spPr>
          <a:xfrm>
            <a:off x="2743200" y="27432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7" name="Straight Arrow Connector 126"/>
          <p:cNvCxnSpPr/>
          <p:nvPr/>
        </p:nvCxnSpPr>
        <p:spPr>
          <a:xfrm>
            <a:off x="2895600" y="27432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8" name="Straight Arrow Connector 127"/>
          <p:cNvCxnSpPr/>
          <p:nvPr/>
        </p:nvCxnSpPr>
        <p:spPr>
          <a:xfrm>
            <a:off x="3048000" y="27432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9" name="Straight Arrow Connector 128"/>
          <p:cNvCxnSpPr/>
          <p:nvPr/>
        </p:nvCxnSpPr>
        <p:spPr>
          <a:xfrm>
            <a:off x="3200400" y="27432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30" name="Straight Arrow Connector 129"/>
          <p:cNvCxnSpPr/>
          <p:nvPr/>
        </p:nvCxnSpPr>
        <p:spPr>
          <a:xfrm>
            <a:off x="3352800" y="27432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31" name="Oval 130"/>
          <p:cNvSpPr/>
          <p:nvPr/>
        </p:nvSpPr>
        <p:spPr>
          <a:xfrm>
            <a:off x="3048000" y="1524000"/>
            <a:ext cx="228600" cy="228600"/>
          </a:xfrm>
          <a:prstGeom prst="ellipse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3733800" y="1752600"/>
            <a:ext cx="1143000" cy="1066800"/>
          </a:xfrm>
          <a:prstGeom prst="rect">
            <a:avLst/>
          </a:prstGeom>
          <a:gradFill rotWithShape="1">
            <a:gsLst>
              <a:gs pos="0">
                <a:srgbClr val="AE4845">
                  <a:tint val="50000"/>
                  <a:satMod val="300000"/>
                </a:srgbClr>
              </a:gs>
              <a:gs pos="35000">
                <a:srgbClr val="AE4845">
                  <a:tint val="37000"/>
                  <a:satMod val="300000"/>
                </a:srgbClr>
              </a:gs>
              <a:gs pos="100000">
                <a:srgbClr val="AE4845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AE4845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32K x 8</a:t>
            </a:r>
          </a:p>
        </p:txBody>
      </p:sp>
      <p:cxnSp>
        <p:nvCxnSpPr>
          <p:cNvPr id="133" name="Straight Arrow Connector 132"/>
          <p:cNvCxnSpPr/>
          <p:nvPr/>
        </p:nvCxnSpPr>
        <p:spPr>
          <a:xfrm>
            <a:off x="2362200" y="1981200"/>
            <a:ext cx="1447800" cy="0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34" name="Straight Arrow Connector 133"/>
          <p:cNvCxnSpPr/>
          <p:nvPr/>
        </p:nvCxnSpPr>
        <p:spPr>
          <a:xfrm>
            <a:off x="2286000" y="2438400"/>
            <a:ext cx="1524000" cy="0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35" name="TextBox 134"/>
          <p:cNvSpPr txBox="1"/>
          <p:nvPr/>
        </p:nvSpPr>
        <p:spPr>
          <a:xfrm>
            <a:off x="3691466" y="1828800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678766" y="228600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A14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695700" y="2010834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…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547534" y="3041935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572000" y="304800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D0</a:t>
            </a:r>
          </a:p>
        </p:txBody>
      </p:sp>
      <p:sp>
        <p:nvSpPr>
          <p:cNvPr id="140" name="Oval 139"/>
          <p:cNvSpPr/>
          <p:nvPr/>
        </p:nvSpPr>
        <p:spPr>
          <a:xfrm>
            <a:off x="3962400" y="1524000"/>
            <a:ext cx="228600" cy="228600"/>
          </a:xfrm>
          <a:prstGeom prst="ellipse">
            <a:avLst/>
          </a:prstGeom>
          <a:gradFill rotWithShape="1">
            <a:gsLst>
              <a:gs pos="0">
                <a:srgbClr val="B2C1DB">
                  <a:tint val="50000"/>
                  <a:satMod val="300000"/>
                </a:srgbClr>
              </a:gs>
              <a:gs pos="35000">
                <a:srgbClr val="B2C1DB">
                  <a:tint val="37000"/>
                  <a:satMod val="300000"/>
                </a:srgbClr>
              </a:gs>
              <a:gs pos="100000">
                <a:srgbClr val="B2C1DB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B2C1DB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cxnSp>
        <p:nvCxnSpPr>
          <p:cNvPr id="141" name="Straight Arrow Connector 140"/>
          <p:cNvCxnSpPr/>
          <p:nvPr/>
        </p:nvCxnSpPr>
        <p:spPr>
          <a:xfrm>
            <a:off x="3810000" y="27432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42" name="Straight Arrow Connector 141"/>
          <p:cNvCxnSpPr/>
          <p:nvPr/>
        </p:nvCxnSpPr>
        <p:spPr>
          <a:xfrm>
            <a:off x="3962400" y="27432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43" name="Straight Arrow Connector 142"/>
          <p:cNvCxnSpPr/>
          <p:nvPr/>
        </p:nvCxnSpPr>
        <p:spPr>
          <a:xfrm>
            <a:off x="4114800" y="27432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44" name="Straight Arrow Connector 143"/>
          <p:cNvCxnSpPr/>
          <p:nvPr/>
        </p:nvCxnSpPr>
        <p:spPr>
          <a:xfrm>
            <a:off x="4267200" y="27432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45" name="Straight Arrow Connector 144"/>
          <p:cNvCxnSpPr/>
          <p:nvPr/>
        </p:nvCxnSpPr>
        <p:spPr>
          <a:xfrm>
            <a:off x="4419600" y="27432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46" name="Straight Arrow Connector 145"/>
          <p:cNvCxnSpPr/>
          <p:nvPr/>
        </p:nvCxnSpPr>
        <p:spPr>
          <a:xfrm>
            <a:off x="4572000" y="27432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47" name="Straight Arrow Connector 146"/>
          <p:cNvCxnSpPr/>
          <p:nvPr/>
        </p:nvCxnSpPr>
        <p:spPr>
          <a:xfrm>
            <a:off x="4724400" y="27432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48" name="Oval 147"/>
          <p:cNvSpPr/>
          <p:nvPr/>
        </p:nvSpPr>
        <p:spPr>
          <a:xfrm>
            <a:off x="4419600" y="1524000"/>
            <a:ext cx="228600" cy="228600"/>
          </a:xfrm>
          <a:prstGeom prst="ellipse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cxnSp>
        <p:nvCxnSpPr>
          <p:cNvPr id="149" name="Straight Arrow Connector 148"/>
          <p:cNvCxnSpPr/>
          <p:nvPr/>
        </p:nvCxnSpPr>
        <p:spPr>
          <a:xfrm>
            <a:off x="609600" y="2438400"/>
            <a:ext cx="801503" cy="0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51" name="Straight Arrow Connector 150"/>
          <p:cNvCxnSpPr/>
          <p:nvPr/>
        </p:nvCxnSpPr>
        <p:spPr>
          <a:xfrm>
            <a:off x="609600" y="1981200"/>
            <a:ext cx="811866" cy="0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52" name="Rectangle 151"/>
          <p:cNvSpPr/>
          <p:nvPr/>
        </p:nvSpPr>
        <p:spPr>
          <a:xfrm>
            <a:off x="2286000" y="3886200"/>
            <a:ext cx="1143000" cy="1066800"/>
          </a:xfrm>
          <a:prstGeom prst="rect">
            <a:avLst/>
          </a:prstGeom>
          <a:gradFill rotWithShape="1">
            <a:gsLst>
              <a:gs pos="0">
                <a:srgbClr val="AE4845">
                  <a:tint val="50000"/>
                  <a:satMod val="300000"/>
                </a:srgbClr>
              </a:gs>
              <a:gs pos="35000">
                <a:srgbClr val="AE4845">
                  <a:tint val="37000"/>
                  <a:satMod val="300000"/>
                </a:srgbClr>
              </a:gs>
              <a:gs pos="100000">
                <a:srgbClr val="AE4845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AE4845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32K x 8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981200" y="3886200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905000" y="430530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A14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006600" y="414020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…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133600" y="5209401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D15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124200" y="518160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D8</a:t>
            </a:r>
          </a:p>
        </p:txBody>
      </p:sp>
      <p:sp>
        <p:nvSpPr>
          <p:cNvPr id="160" name="Oval 159"/>
          <p:cNvSpPr/>
          <p:nvPr/>
        </p:nvSpPr>
        <p:spPr>
          <a:xfrm>
            <a:off x="2514600" y="3657600"/>
            <a:ext cx="228600" cy="228600"/>
          </a:xfrm>
          <a:prstGeom prst="ellipse">
            <a:avLst/>
          </a:prstGeom>
          <a:gradFill rotWithShape="1">
            <a:gsLst>
              <a:gs pos="0">
                <a:srgbClr val="B2C1DB">
                  <a:tint val="50000"/>
                  <a:satMod val="300000"/>
                </a:srgbClr>
              </a:gs>
              <a:gs pos="35000">
                <a:srgbClr val="B2C1DB">
                  <a:tint val="37000"/>
                  <a:satMod val="300000"/>
                </a:srgbClr>
              </a:gs>
              <a:gs pos="100000">
                <a:srgbClr val="B2C1DB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B2C1DB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cxnSp>
        <p:nvCxnSpPr>
          <p:cNvPr id="161" name="Straight Arrow Connector 160"/>
          <p:cNvCxnSpPr/>
          <p:nvPr/>
        </p:nvCxnSpPr>
        <p:spPr>
          <a:xfrm>
            <a:off x="2362200" y="48768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62" name="Straight Arrow Connector 161"/>
          <p:cNvCxnSpPr/>
          <p:nvPr/>
        </p:nvCxnSpPr>
        <p:spPr>
          <a:xfrm>
            <a:off x="2514600" y="48768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63" name="Straight Arrow Connector 162"/>
          <p:cNvCxnSpPr/>
          <p:nvPr/>
        </p:nvCxnSpPr>
        <p:spPr>
          <a:xfrm>
            <a:off x="2667000" y="48768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64" name="Straight Arrow Connector 163"/>
          <p:cNvCxnSpPr/>
          <p:nvPr/>
        </p:nvCxnSpPr>
        <p:spPr>
          <a:xfrm>
            <a:off x="2819400" y="48768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65" name="Straight Arrow Connector 164"/>
          <p:cNvCxnSpPr/>
          <p:nvPr/>
        </p:nvCxnSpPr>
        <p:spPr>
          <a:xfrm>
            <a:off x="2971800" y="48768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66" name="Straight Arrow Connector 165"/>
          <p:cNvCxnSpPr/>
          <p:nvPr/>
        </p:nvCxnSpPr>
        <p:spPr>
          <a:xfrm>
            <a:off x="3124200" y="48768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67" name="Straight Arrow Connector 166"/>
          <p:cNvCxnSpPr/>
          <p:nvPr/>
        </p:nvCxnSpPr>
        <p:spPr>
          <a:xfrm>
            <a:off x="3276600" y="48768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68" name="Oval 167"/>
          <p:cNvSpPr/>
          <p:nvPr/>
        </p:nvSpPr>
        <p:spPr>
          <a:xfrm>
            <a:off x="2971800" y="3657600"/>
            <a:ext cx="228600" cy="228600"/>
          </a:xfrm>
          <a:prstGeom prst="ellipse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3657600" y="3886200"/>
            <a:ext cx="1143000" cy="1066800"/>
          </a:xfrm>
          <a:prstGeom prst="rect">
            <a:avLst/>
          </a:prstGeom>
          <a:gradFill rotWithShape="1">
            <a:gsLst>
              <a:gs pos="0">
                <a:srgbClr val="AE4845">
                  <a:tint val="50000"/>
                  <a:satMod val="300000"/>
                </a:srgbClr>
              </a:gs>
              <a:gs pos="35000">
                <a:srgbClr val="AE4845">
                  <a:tint val="37000"/>
                  <a:satMod val="300000"/>
                </a:srgbClr>
              </a:gs>
              <a:gs pos="100000">
                <a:srgbClr val="AE4845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AE4845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32K x 8</a:t>
            </a:r>
          </a:p>
        </p:txBody>
      </p:sp>
      <p:cxnSp>
        <p:nvCxnSpPr>
          <p:cNvPr id="170" name="Straight Arrow Connector 169"/>
          <p:cNvCxnSpPr/>
          <p:nvPr/>
        </p:nvCxnSpPr>
        <p:spPr>
          <a:xfrm>
            <a:off x="1676400" y="4114800"/>
            <a:ext cx="685800" cy="0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71" name="Straight Arrow Connector 170"/>
          <p:cNvCxnSpPr/>
          <p:nvPr/>
        </p:nvCxnSpPr>
        <p:spPr>
          <a:xfrm>
            <a:off x="1897124" y="4572000"/>
            <a:ext cx="425828" cy="0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72" name="TextBox 171"/>
          <p:cNvSpPr txBox="1"/>
          <p:nvPr/>
        </p:nvSpPr>
        <p:spPr>
          <a:xfrm>
            <a:off x="3657600" y="3962400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A0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632200" y="441960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A14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657600" y="411480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…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505200" y="518160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D7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495800" y="518160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D0</a:t>
            </a:r>
          </a:p>
        </p:txBody>
      </p:sp>
      <p:sp>
        <p:nvSpPr>
          <p:cNvPr id="177" name="Oval 176"/>
          <p:cNvSpPr/>
          <p:nvPr/>
        </p:nvSpPr>
        <p:spPr>
          <a:xfrm>
            <a:off x="3886200" y="3657600"/>
            <a:ext cx="228600" cy="228600"/>
          </a:xfrm>
          <a:prstGeom prst="ellipse">
            <a:avLst/>
          </a:prstGeom>
          <a:gradFill rotWithShape="1">
            <a:gsLst>
              <a:gs pos="0">
                <a:srgbClr val="B2C1DB">
                  <a:tint val="50000"/>
                  <a:satMod val="300000"/>
                </a:srgbClr>
              </a:gs>
              <a:gs pos="35000">
                <a:srgbClr val="B2C1DB">
                  <a:tint val="37000"/>
                  <a:satMod val="300000"/>
                </a:srgbClr>
              </a:gs>
              <a:gs pos="100000">
                <a:srgbClr val="B2C1DB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B2C1DB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cxnSp>
        <p:nvCxnSpPr>
          <p:cNvPr id="178" name="Straight Arrow Connector 177"/>
          <p:cNvCxnSpPr/>
          <p:nvPr/>
        </p:nvCxnSpPr>
        <p:spPr>
          <a:xfrm>
            <a:off x="3733800" y="48768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79" name="Straight Arrow Connector 178"/>
          <p:cNvCxnSpPr/>
          <p:nvPr/>
        </p:nvCxnSpPr>
        <p:spPr>
          <a:xfrm>
            <a:off x="3886200" y="48768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80" name="Straight Arrow Connector 179"/>
          <p:cNvCxnSpPr/>
          <p:nvPr/>
        </p:nvCxnSpPr>
        <p:spPr>
          <a:xfrm>
            <a:off x="4038600" y="48768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81" name="Straight Arrow Connector 180"/>
          <p:cNvCxnSpPr/>
          <p:nvPr/>
        </p:nvCxnSpPr>
        <p:spPr>
          <a:xfrm>
            <a:off x="4191000" y="48768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82" name="Straight Arrow Connector 181"/>
          <p:cNvCxnSpPr/>
          <p:nvPr/>
        </p:nvCxnSpPr>
        <p:spPr>
          <a:xfrm>
            <a:off x="4343400" y="48768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83" name="Straight Arrow Connector 182"/>
          <p:cNvCxnSpPr/>
          <p:nvPr/>
        </p:nvCxnSpPr>
        <p:spPr>
          <a:xfrm>
            <a:off x="4495800" y="48768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84" name="Straight Arrow Connector 183"/>
          <p:cNvCxnSpPr/>
          <p:nvPr/>
        </p:nvCxnSpPr>
        <p:spPr>
          <a:xfrm>
            <a:off x="4648200" y="48768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85" name="Oval 184"/>
          <p:cNvSpPr/>
          <p:nvPr/>
        </p:nvSpPr>
        <p:spPr>
          <a:xfrm>
            <a:off x="4343400" y="3657600"/>
            <a:ext cx="228600" cy="228600"/>
          </a:xfrm>
          <a:prstGeom prst="ellipse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cxnSp>
        <p:nvCxnSpPr>
          <p:cNvPr id="186" name="Straight Arrow Connector 185"/>
          <p:cNvCxnSpPr/>
          <p:nvPr/>
        </p:nvCxnSpPr>
        <p:spPr>
          <a:xfrm>
            <a:off x="1676400" y="1981200"/>
            <a:ext cx="0" cy="2133600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87" name="Straight Arrow Connector 186"/>
          <p:cNvCxnSpPr/>
          <p:nvPr/>
        </p:nvCxnSpPr>
        <p:spPr>
          <a:xfrm>
            <a:off x="1905000" y="2438400"/>
            <a:ext cx="0" cy="2133600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88" name="Rounded Rectangle 187"/>
          <p:cNvSpPr/>
          <p:nvPr/>
        </p:nvSpPr>
        <p:spPr>
          <a:xfrm>
            <a:off x="1981200" y="3605644"/>
            <a:ext cx="4114800" cy="1474356"/>
          </a:xfrm>
          <a:prstGeom prst="roundRect">
            <a:avLst/>
          </a:prstGeom>
          <a:gradFill flip="none" rotWithShape="1">
            <a:gsLst>
              <a:gs pos="0">
                <a:srgbClr val="000000">
                  <a:tint val="50000"/>
                  <a:satMod val="300000"/>
                  <a:alpha val="10000"/>
                </a:srgbClr>
              </a:gs>
              <a:gs pos="35000">
                <a:srgbClr val="000000">
                  <a:tint val="37000"/>
                  <a:satMod val="300000"/>
                  <a:alpha val="10000"/>
                </a:srgbClr>
              </a:gs>
              <a:gs pos="100000">
                <a:srgbClr val="000000">
                  <a:tint val="15000"/>
                  <a:satMod val="350000"/>
                  <a:alpha val="10000"/>
                </a:srgbClr>
              </a:gs>
            </a:gsLst>
            <a:lin ang="16200000" scaled="1"/>
            <a:tileRect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                                                                           </a:t>
            </a:r>
            <a:endParaRPr lang="en-US" sz="1200" kern="0" dirty="0">
              <a:solidFill>
                <a:srgbClr val="000000"/>
              </a:solidFill>
              <a:latin typeface="Frutiger 55 Roman"/>
              <a:ea typeface="ＭＳ Ｐゴシック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Page 1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3366FF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189" name="TextBox 188"/>
          <p:cNvSpPr txBox="1"/>
          <p:nvPr/>
        </p:nvSpPr>
        <p:spPr>
          <a:xfrm>
            <a:off x="297873" y="6412468"/>
            <a:ext cx="8312727" cy="369332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kern="0" dirty="0">
                <a:solidFill>
                  <a:srgbClr val="FF0000"/>
                </a:solidFill>
                <a:latin typeface="Frutiger 55 Roman"/>
                <a:ea typeface="ＭＳ Ｐゴシック"/>
              </a:rPr>
              <a:t>Q:</a:t>
            </a:r>
            <a:r>
              <a:rPr lang="en-US" kern="0" dirty="0">
                <a:solidFill>
                  <a:srgbClr val="000000"/>
                </a:solidFill>
                <a:latin typeface="Frutiger 55 Roman"/>
                <a:ea typeface="ＭＳ Ｐゴシック"/>
              </a:rPr>
              <a:t> How do we control </a:t>
            </a:r>
            <a:r>
              <a:rPr lang="en-US" b="1" kern="0" dirty="0">
                <a:solidFill>
                  <a:srgbClr val="FF6600"/>
                </a:solidFill>
                <a:latin typeface="Frutiger 55 Roman"/>
                <a:ea typeface="ＭＳ Ｐゴシック"/>
              </a:rPr>
              <a:t>page selection</a:t>
            </a:r>
            <a:r>
              <a:rPr lang="en-US" kern="0" dirty="0">
                <a:solidFill>
                  <a:srgbClr val="000000"/>
                </a:solidFill>
                <a:latin typeface="Frutiger 55 Roman"/>
                <a:ea typeface="ＭＳ Ｐゴシック"/>
              </a:rPr>
              <a:t> (in the </a:t>
            </a:r>
            <a:r>
              <a:rPr lang="en-US" b="1" kern="0" dirty="0">
                <a:solidFill>
                  <a:srgbClr val="FF6600"/>
                </a:solidFill>
                <a:latin typeface="Frutiger 55 Roman"/>
                <a:ea typeface="ＭＳ Ｐゴシック"/>
              </a:rPr>
              <a:t>y</a:t>
            </a:r>
            <a:r>
              <a:rPr lang="en-US" kern="0" dirty="0">
                <a:solidFill>
                  <a:srgbClr val="000000"/>
                </a:solidFill>
                <a:latin typeface="Frutiger 55 Roman"/>
                <a:ea typeface="ＭＳ Ｐゴシック"/>
              </a:rPr>
              <a:t>) or </a:t>
            </a:r>
            <a:r>
              <a:rPr lang="en-US" b="1" kern="0" dirty="0">
                <a:solidFill>
                  <a:srgbClr val="0000FF"/>
                </a:solidFill>
                <a:latin typeface="Frutiger 55 Roman"/>
                <a:ea typeface="ＭＳ Ｐゴシック"/>
              </a:rPr>
              <a:t>byte selection</a:t>
            </a:r>
            <a:r>
              <a:rPr lang="en-US" kern="0" dirty="0">
                <a:solidFill>
                  <a:srgbClr val="000000"/>
                </a:solidFill>
                <a:latin typeface="Frutiger 55 Roman"/>
                <a:ea typeface="ＭＳ Ｐゴシック"/>
              </a:rPr>
              <a:t> (in the </a:t>
            </a:r>
            <a:r>
              <a:rPr lang="en-US" b="1" kern="0" dirty="0">
                <a:solidFill>
                  <a:srgbClr val="0000FF"/>
                </a:solidFill>
                <a:latin typeface="Frutiger 55 Roman"/>
                <a:ea typeface="ＭＳ Ｐゴシック"/>
              </a:rPr>
              <a:t>x</a:t>
            </a:r>
            <a:r>
              <a:rPr lang="en-US" kern="0" dirty="0">
                <a:solidFill>
                  <a:srgbClr val="000000"/>
                </a:solidFill>
                <a:latin typeface="Frutiger 55 Roman"/>
                <a:ea typeface="ＭＳ Ｐゴシック"/>
              </a:rPr>
              <a:t>)?</a:t>
            </a:r>
            <a:endParaRPr lang="en-US" kern="0" dirty="0">
              <a:solidFill>
                <a:srgbClr val="FF0000"/>
              </a:solidFill>
              <a:latin typeface="Frutiger 55 Roman"/>
              <a:ea typeface="ＭＳ Ｐゴシック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2221468"/>
            <a:ext cx="5334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6600"/>
                </a:solidFill>
              </a:rPr>
              <a:t>15+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1981200" y="1498600"/>
            <a:ext cx="4114800" cy="1428349"/>
          </a:xfrm>
          <a:prstGeom prst="roundRect">
            <a:avLst/>
          </a:prstGeom>
          <a:gradFill flip="none" rotWithShape="1">
            <a:gsLst>
              <a:gs pos="0">
                <a:srgbClr val="000000">
                  <a:tint val="50000"/>
                  <a:satMod val="300000"/>
                  <a:alpha val="10000"/>
                </a:srgbClr>
              </a:gs>
              <a:gs pos="35000">
                <a:srgbClr val="000000">
                  <a:tint val="37000"/>
                  <a:satMod val="300000"/>
                  <a:alpha val="10000"/>
                </a:srgbClr>
              </a:gs>
              <a:gs pos="100000">
                <a:srgbClr val="000000">
                  <a:tint val="15000"/>
                  <a:satMod val="350000"/>
                  <a:alpha val="10000"/>
                </a:srgbClr>
              </a:gs>
            </a:gsLst>
            <a:lin ang="16200000" scaled="1"/>
            <a:tileRect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                                                                           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Frutiger 55 Roman"/>
                <a:ea typeface="ＭＳ Ｐゴシック"/>
              </a:rPr>
              <a:t>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Frutiger 55 Roman"/>
                <a:ea typeface="ＭＳ Ｐゴシック"/>
              </a:rPr>
              <a:t>Page </a:t>
            </a:r>
            <a:r>
              <a:rPr lang="en-US" sz="2000" b="1" kern="0" dirty="0">
                <a:solidFill>
                  <a:srgbClr val="008000"/>
                </a:solidFill>
                <a:latin typeface="Frutiger 55 Roman"/>
                <a:ea typeface="ＭＳ Ｐゴシック"/>
              </a:rPr>
              <a:t>0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Frutiger 55 Roman"/>
              <a:ea typeface="ＭＳ Ｐゴシック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kern="0" dirty="0">
              <a:solidFill>
                <a:srgbClr val="3366FF"/>
              </a:solidFill>
              <a:latin typeface="Frutiger 55 Roman"/>
              <a:ea typeface="ＭＳ Ｐゴシック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3366FF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3366FF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150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534400" cy="1600200"/>
          </a:xfrm>
        </p:spPr>
        <p:txBody>
          <a:bodyPr/>
          <a:lstStyle/>
          <a:p>
            <a:r>
              <a:rPr lang="en-US" dirty="0"/>
              <a:t>Cut-and-Paste </a:t>
            </a:r>
            <a:r>
              <a:rPr lang="en-US" sz="2400" dirty="0"/>
              <a:t>(in </a:t>
            </a:r>
            <a:r>
              <a:rPr lang="en-US" sz="2400" dirty="0">
                <a:solidFill>
                  <a:srgbClr val="FF6600"/>
                </a:solidFill>
              </a:rPr>
              <a:t>Y</a:t>
            </a:r>
            <a:r>
              <a:rPr lang="en-US" sz="2400" dirty="0"/>
              <a:t>)</a:t>
            </a:r>
            <a:br>
              <a:rPr lang="en-US" dirty="0"/>
            </a:br>
            <a:r>
              <a:rPr lang="en-US" dirty="0"/>
              <a:t>To Expand </a:t>
            </a:r>
            <a:r>
              <a:rPr lang="en-US" b="1" dirty="0">
                <a:solidFill>
                  <a:srgbClr val="FF6600"/>
                </a:solidFill>
              </a:rPr>
              <a:t>Address Space</a:t>
            </a:r>
          </a:p>
        </p:txBody>
      </p:sp>
      <p:cxnSp>
        <p:nvCxnSpPr>
          <p:cNvPr id="153" name="Straight Arrow Connector 152"/>
          <p:cNvCxnSpPr/>
          <p:nvPr/>
        </p:nvCxnSpPr>
        <p:spPr>
          <a:xfrm>
            <a:off x="2313107" y="4114800"/>
            <a:ext cx="1448431" cy="0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54" name="Straight Arrow Connector 153"/>
          <p:cNvCxnSpPr/>
          <p:nvPr/>
        </p:nvCxnSpPr>
        <p:spPr>
          <a:xfrm>
            <a:off x="2311400" y="4572000"/>
            <a:ext cx="1424940" cy="0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92" name="TextBox 191"/>
          <p:cNvSpPr txBox="1"/>
          <p:nvPr/>
        </p:nvSpPr>
        <p:spPr>
          <a:xfrm>
            <a:off x="990600" y="1752600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A0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14400" y="220980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A14</a:t>
            </a:r>
          </a:p>
        </p:txBody>
      </p:sp>
      <p:sp>
        <p:nvSpPr>
          <p:cNvPr id="7" name="Right Brace 6"/>
          <p:cNvSpPr/>
          <p:nvPr/>
        </p:nvSpPr>
        <p:spPr>
          <a:xfrm>
            <a:off x="5257800" y="1371600"/>
            <a:ext cx="1840813" cy="3810000"/>
          </a:xfrm>
          <a:prstGeom prst="righ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659904" y="2831975"/>
            <a:ext cx="2331696" cy="92333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Q:</a:t>
            </a:r>
            <a:r>
              <a:rPr lang="en-US" dirty="0"/>
              <a:t> How do we </a:t>
            </a:r>
            <a:r>
              <a:rPr lang="en-US" b="1" i="1" dirty="0">
                <a:solidFill>
                  <a:schemeClr val="tx1"/>
                </a:solidFill>
              </a:rPr>
              <a:t>pick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/>
              <a:t>a </a:t>
            </a:r>
            <a:r>
              <a:rPr lang="en-US" b="1" dirty="0">
                <a:solidFill>
                  <a:srgbClr val="008000"/>
                </a:solidFill>
              </a:rPr>
              <a:t>page</a:t>
            </a:r>
            <a:r>
              <a:rPr lang="en-US" dirty="0"/>
              <a:t>/</a:t>
            </a:r>
            <a:r>
              <a:rPr lang="en-US" b="1" dirty="0">
                <a:solidFill>
                  <a:srgbClr val="FF6600"/>
                </a:solidFill>
              </a:rPr>
              <a:t>row</a:t>
            </a:r>
            <a:r>
              <a:rPr lang="en-US" dirty="0"/>
              <a:t>?</a:t>
            </a:r>
          </a:p>
          <a:p>
            <a:r>
              <a:rPr lang="en-US" dirty="0"/>
              <a:t>(hint: </a:t>
            </a:r>
            <a:r>
              <a:rPr lang="en-US" b="1" dirty="0">
                <a:solidFill>
                  <a:srgbClr val="008000"/>
                </a:solidFill>
              </a:rPr>
              <a:t>decoder</a:t>
            </a:r>
            <a:r>
              <a:rPr lang="en-US" dirty="0"/>
              <a:t>)</a:t>
            </a:r>
          </a:p>
        </p:txBody>
      </p:sp>
      <p:cxnSp>
        <p:nvCxnSpPr>
          <p:cNvPr id="194" name="Straight Arrow Connector 193"/>
          <p:cNvCxnSpPr/>
          <p:nvPr/>
        </p:nvCxnSpPr>
        <p:spPr>
          <a:xfrm>
            <a:off x="629060" y="2819400"/>
            <a:ext cx="100408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6" name="TextBox 195"/>
          <p:cNvSpPr txBox="1"/>
          <p:nvPr/>
        </p:nvSpPr>
        <p:spPr>
          <a:xfrm>
            <a:off x="901700" y="2517001"/>
            <a:ext cx="484909" cy="27699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solidFill>
                  <a:srgbClr val="FF0000"/>
                </a:solidFill>
                <a:effectLst/>
                <a:uLnTx/>
                <a:uFillTx/>
              </a:rPr>
              <a:t>A15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0" y="2221468"/>
            <a:ext cx="5334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6600"/>
                </a:solidFill>
              </a:rPr>
              <a:t>16+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371600" y="2646402"/>
            <a:ext cx="457200" cy="55399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r>
              <a:rPr lang="en-US" sz="3000" b="1" dirty="0">
                <a:ln/>
                <a:solidFill>
                  <a:schemeClr val="accent3"/>
                </a:solidFill>
              </a:rPr>
              <a:t>?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34637" y="575270"/>
            <a:ext cx="1454727" cy="92333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</a:rPr>
              <a:t>A:</a:t>
            </a:r>
            <a:r>
              <a:rPr lang="en-US" dirty="0"/>
              <a:t> Add a 1:2 </a:t>
            </a:r>
            <a:r>
              <a:rPr lang="en-US" b="1" dirty="0">
                <a:solidFill>
                  <a:srgbClr val="008000"/>
                </a:solidFill>
              </a:rPr>
              <a:t>decoder</a:t>
            </a:r>
            <a:r>
              <a:rPr lang="en-US" dirty="0"/>
              <a:t> and wire to pick</a:t>
            </a:r>
          </a:p>
        </p:txBody>
      </p:sp>
      <p:sp>
        <p:nvSpPr>
          <p:cNvPr id="201" name="Oval 200"/>
          <p:cNvSpPr/>
          <p:nvPr/>
        </p:nvSpPr>
        <p:spPr>
          <a:xfrm>
            <a:off x="7236314" y="4981731"/>
            <a:ext cx="789191" cy="717446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~CS</a:t>
            </a:r>
          </a:p>
        </p:txBody>
      </p:sp>
      <p:sp>
        <p:nvSpPr>
          <p:cNvPr id="202" name="Oval 201"/>
          <p:cNvSpPr/>
          <p:nvPr/>
        </p:nvSpPr>
        <p:spPr>
          <a:xfrm>
            <a:off x="8278609" y="4997554"/>
            <a:ext cx="789191" cy="717446"/>
          </a:xfrm>
          <a:prstGeom prst="ellipse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~OE</a:t>
            </a:r>
          </a:p>
        </p:txBody>
      </p:sp>
      <p:sp>
        <p:nvSpPr>
          <p:cNvPr id="203" name="Oval 202"/>
          <p:cNvSpPr/>
          <p:nvPr/>
        </p:nvSpPr>
        <p:spPr>
          <a:xfrm>
            <a:off x="2590800" y="1524000"/>
            <a:ext cx="228600" cy="228600"/>
          </a:xfrm>
          <a:prstGeom prst="ellipse">
            <a:avLst/>
          </a:prstGeom>
          <a:solidFill>
            <a:srgbClr val="FF6600"/>
          </a:solidFill>
          <a:ln w="9525" cap="flat" cmpd="sng" algn="ctr">
            <a:solidFill>
              <a:srgbClr val="B2C1DB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204" name="Oval 203"/>
          <p:cNvSpPr/>
          <p:nvPr/>
        </p:nvSpPr>
        <p:spPr>
          <a:xfrm>
            <a:off x="3962400" y="1524000"/>
            <a:ext cx="228600" cy="228600"/>
          </a:xfrm>
          <a:prstGeom prst="ellipse">
            <a:avLst/>
          </a:prstGeom>
          <a:solidFill>
            <a:srgbClr val="FF6600"/>
          </a:solidFill>
          <a:ln w="9525" cap="flat" cmpd="sng" algn="ctr">
            <a:solidFill>
              <a:srgbClr val="B2C1DB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205" name="Oval 204"/>
          <p:cNvSpPr/>
          <p:nvPr/>
        </p:nvSpPr>
        <p:spPr>
          <a:xfrm>
            <a:off x="2514600" y="3657600"/>
            <a:ext cx="228600" cy="228600"/>
          </a:xfrm>
          <a:prstGeom prst="ellipse">
            <a:avLst/>
          </a:prstGeom>
          <a:solidFill>
            <a:srgbClr val="FF6600"/>
          </a:solidFill>
          <a:ln w="9525" cap="flat" cmpd="sng" algn="ctr">
            <a:solidFill>
              <a:srgbClr val="B2C1DB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206" name="Oval 205"/>
          <p:cNvSpPr/>
          <p:nvPr/>
        </p:nvSpPr>
        <p:spPr>
          <a:xfrm>
            <a:off x="3886200" y="3657600"/>
            <a:ext cx="228600" cy="228600"/>
          </a:xfrm>
          <a:prstGeom prst="ellipse">
            <a:avLst/>
          </a:prstGeom>
          <a:solidFill>
            <a:srgbClr val="FF6600"/>
          </a:solidFill>
          <a:ln w="9525" cap="flat" cmpd="sng" algn="ctr">
            <a:solidFill>
              <a:srgbClr val="B2C1DB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207" name="Oval 206"/>
          <p:cNvSpPr/>
          <p:nvPr/>
        </p:nvSpPr>
        <p:spPr>
          <a:xfrm>
            <a:off x="7236314" y="4981731"/>
            <a:ext cx="789191" cy="717446"/>
          </a:xfrm>
          <a:prstGeom prst="ellipse">
            <a:avLst/>
          </a:prstGeom>
          <a:solidFill>
            <a:srgbClr val="FF6600"/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~CS</a:t>
            </a:r>
          </a:p>
        </p:txBody>
      </p:sp>
      <p:cxnSp>
        <p:nvCxnSpPr>
          <p:cNvPr id="210" name="Straight Arrow Connector 209"/>
          <p:cNvCxnSpPr/>
          <p:nvPr/>
        </p:nvCxnSpPr>
        <p:spPr>
          <a:xfrm>
            <a:off x="1586179" y="3543300"/>
            <a:ext cx="2429102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628900" y="3543300"/>
            <a:ext cx="0" cy="258077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11" name="Straight Connector 210"/>
          <p:cNvCxnSpPr/>
          <p:nvPr/>
        </p:nvCxnSpPr>
        <p:spPr>
          <a:xfrm>
            <a:off x="4000500" y="3535826"/>
            <a:ext cx="0" cy="312274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12" name="Straight Arrow Connector 211"/>
          <p:cNvCxnSpPr/>
          <p:nvPr/>
        </p:nvCxnSpPr>
        <p:spPr>
          <a:xfrm>
            <a:off x="1587167" y="1473200"/>
            <a:ext cx="2477927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13" name="Straight Connector 212"/>
          <p:cNvCxnSpPr/>
          <p:nvPr/>
        </p:nvCxnSpPr>
        <p:spPr>
          <a:xfrm>
            <a:off x="2692400" y="1454490"/>
            <a:ext cx="0" cy="193896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14" name="Straight Connector 213"/>
          <p:cNvCxnSpPr/>
          <p:nvPr/>
        </p:nvCxnSpPr>
        <p:spPr>
          <a:xfrm>
            <a:off x="4064000" y="1453756"/>
            <a:ext cx="0" cy="234615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15" name="Straight Connector 214"/>
          <p:cNvCxnSpPr/>
          <p:nvPr/>
        </p:nvCxnSpPr>
        <p:spPr>
          <a:xfrm>
            <a:off x="1600200" y="1469816"/>
            <a:ext cx="0" cy="2100823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08" name="Isosceles Triangle 207"/>
          <p:cNvSpPr/>
          <p:nvPr/>
        </p:nvSpPr>
        <p:spPr>
          <a:xfrm rot="5400000">
            <a:off x="2133600" y="1371600"/>
            <a:ext cx="229001" cy="229001"/>
          </a:xfrm>
          <a:prstGeom prst="triangle">
            <a:avLst/>
          </a:prstGeom>
          <a:gradFill rotWithShape="1">
            <a:gsLst>
              <a:gs pos="0">
                <a:srgbClr val="000000">
                  <a:shade val="51000"/>
                  <a:satMod val="130000"/>
                </a:srgbClr>
              </a:gs>
              <a:gs pos="80000">
                <a:srgbClr val="000000">
                  <a:shade val="93000"/>
                  <a:satMod val="130000"/>
                </a:srgbClr>
              </a:gs>
              <a:gs pos="100000">
                <a:srgbClr val="000000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209" name="Oval 208"/>
          <p:cNvSpPr/>
          <p:nvPr/>
        </p:nvSpPr>
        <p:spPr>
          <a:xfrm>
            <a:off x="2324300" y="1432293"/>
            <a:ext cx="129038" cy="117307"/>
          </a:xfrm>
          <a:prstGeom prst="ellipse">
            <a:avLst/>
          </a:prstGeom>
          <a:gradFill rotWithShape="1">
            <a:gsLst>
              <a:gs pos="0">
                <a:srgbClr val="000000">
                  <a:shade val="51000"/>
                  <a:satMod val="130000"/>
                </a:srgbClr>
              </a:gs>
              <a:gs pos="80000">
                <a:srgbClr val="000000">
                  <a:shade val="93000"/>
                  <a:satMod val="130000"/>
                </a:srgbClr>
              </a:gs>
              <a:gs pos="100000">
                <a:srgbClr val="000000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2692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2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2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6" dur="2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9" dur="2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2" dur="2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5" dur="2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8" dur="2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1" dur="2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4" dur="2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7" dur="2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0" dur="2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3" dur="2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6" dur="2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1" dur="2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4" dur="2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9" dur="2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2" dur="2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7" dur="2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0" dur="2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3" dur="2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6" dur="2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9" dur="2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2" dur="2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7" dur="2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0" dur="2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3" dur="2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6" dur="2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9" dur="2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4" dur="2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7" dur="2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0" dur="2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3" dur="2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6" dur="2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2" dur="2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5" dur="2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8" dur="2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" grpId="0" animBg="1"/>
      <p:bldP spid="155" grpId="0"/>
      <p:bldP spid="156" grpId="0"/>
      <p:bldP spid="157" grpId="0"/>
      <p:bldP spid="158" grpId="0"/>
      <p:bldP spid="159" grpId="0"/>
      <p:bldP spid="160" grpId="0" animBg="1"/>
      <p:bldP spid="168" grpId="0" animBg="1"/>
      <p:bldP spid="169" grpId="0" animBg="1"/>
      <p:bldP spid="172" grpId="0"/>
      <p:bldP spid="173" grpId="0"/>
      <p:bldP spid="174" grpId="0"/>
      <p:bldP spid="175" grpId="0"/>
      <p:bldP spid="176" grpId="0"/>
      <p:bldP spid="177" grpId="0" animBg="1"/>
      <p:bldP spid="185" grpId="0" animBg="1"/>
      <p:bldP spid="188" grpId="0" animBg="1"/>
      <p:bldP spid="7" grpId="0" animBg="1"/>
      <p:bldP spid="8" grpId="0" animBg="1"/>
      <p:bldP spid="196" grpId="0" animBg="1"/>
      <p:bldP spid="197" grpId="0" animBg="1"/>
      <p:bldP spid="198" grpId="0"/>
      <p:bldP spid="198" grpId="1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  <p:bldP spid="20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Box 195"/>
          <p:cNvSpPr txBox="1"/>
          <p:nvPr/>
        </p:nvSpPr>
        <p:spPr>
          <a:xfrm>
            <a:off x="924791" y="2590800"/>
            <a:ext cx="484909" cy="27699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0" cap="none" spc="0" normalizeH="0" baseline="0" noProof="0" dirty="0">
                <a:solidFill>
                  <a:schemeClr val="tx1"/>
                </a:solidFill>
                <a:effectLst/>
                <a:uLnTx/>
                <a:uFillTx/>
              </a:rPr>
              <a:t>A15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2197100" y="3605644"/>
            <a:ext cx="4114800" cy="1474356"/>
          </a:xfrm>
          <a:prstGeom prst="roundRect">
            <a:avLst/>
          </a:prstGeom>
          <a:gradFill flip="none" rotWithShape="1">
            <a:gsLst>
              <a:gs pos="0">
                <a:srgbClr val="000000">
                  <a:tint val="50000"/>
                  <a:satMod val="300000"/>
                  <a:alpha val="10000"/>
                </a:srgbClr>
              </a:gs>
              <a:gs pos="35000">
                <a:srgbClr val="000000">
                  <a:tint val="37000"/>
                  <a:satMod val="300000"/>
                  <a:alpha val="10000"/>
                </a:srgbClr>
              </a:gs>
              <a:gs pos="100000">
                <a:srgbClr val="000000">
                  <a:tint val="15000"/>
                  <a:satMod val="350000"/>
                  <a:alpha val="10000"/>
                </a:srgbClr>
              </a:gs>
            </a:gsLst>
            <a:lin ang="16200000" scaled="1"/>
            <a:tileRect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                                                                           </a:t>
            </a:r>
            <a:endParaRPr lang="en-US" sz="1200" kern="0" dirty="0">
              <a:solidFill>
                <a:srgbClr val="000000"/>
              </a:solidFill>
              <a:latin typeface="Frutiger 55 Roman"/>
              <a:ea typeface="ＭＳ Ｐゴシック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Page 1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3366FF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191" name="Rounded Rectangle 190"/>
          <p:cNvSpPr/>
          <p:nvPr/>
        </p:nvSpPr>
        <p:spPr>
          <a:xfrm>
            <a:off x="2197100" y="1498600"/>
            <a:ext cx="4114800" cy="1428349"/>
          </a:xfrm>
          <a:prstGeom prst="roundRect">
            <a:avLst/>
          </a:prstGeom>
          <a:gradFill flip="none" rotWithShape="1">
            <a:gsLst>
              <a:gs pos="0">
                <a:srgbClr val="000000">
                  <a:tint val="50000"/>
                  <a:satMod val="300000"/>
                  <a:alpha val="10000"/>
                </a:srgbClr>
              </a:gs>
              <a:gs pos="35000">
                <a:srgbClr val="000000">
                  <a:tint val="37000"/>
                  <a:satMod val="300000"/>
                  <a:alpha val="10000"/>
                </a:srgbClr>
              </a:gs>
              <a:gs pos="100000">
                <a:srgbClr val="000000">
                  <a:tint val="15000"/>
                  <a:satMod val="350000"/>
                  <a:alpha val="10000"/>
                </a:srgbClr>
              </a:gs>
            </a:gsLst>
            <a:lin ang="16200000" scaled="1"/>
            <a:tileRect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                                                                           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Frutiger 55 Roman"/>
                <a:ea typeface="ＭＳ Ｐゴシック"/>
              </a:rPr>
              <a:t>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Frutiger 55 Roman"/>
                <a:ea typeface="ＭＳ Ｐゴシック"/>
              </a:rPr>
              <a:t>Page </a:t>
            </a:r>
            <a:r>
              <a:rPr lang="en-US" sz="2000" b="1" kern="0" dirty="0">
                <a:solidFill>
                  <a:srgbClr val="008000"/>
                </a:solidFill>
                <a:latin typeface="Frutiger 55 Roman"/>
                <a:ea typeface="ＭＳ Ｐゴシック"/>
              </a:rPr>
              <a:t>0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Frutiger 55 Roman"/>
              <a:ea typeface="ＭＳ Ｐゴシック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kern="0" dirty="0">
              <a:solidFill>
                <a:srgbClr val="3366FF"/>
              </a:solidFill>
              <a:latin typeface="Frutiger 55 Roman"/>
              <a:ea typeface="ＭＳ Ｐゴシック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3366FF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3366FF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1447800" y="1447800"/>
            <a:ext cx="3810000" cy="4343400"/>
          </a:xfrm>
          <a:prstGeom prst="rect">
            <a:avLst/>
          </a:prstGeom>
          <a:gradFill rotWithShape="1">
            <a:gsLst>
              <a:gs pos="0">
                <a:srgbClr val="B2C1DB">
                  <a:tint val="50000"/>
                  <a:satMod val="300000"/>
                </a:srgbClr>
              </a:gs>
              <a:gs pos="35000">
                <a:srgbClr val="B2C1DB">
                  <a:tint val="37000"/>
                  <a:satMod val="300000"/>
                </a:srgbClr>
              </a:gs>
              <a:gs pos="100000">
                <a:srgbClr val="B2C1DB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B2C1DB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2362200" y="1752600"/>
            <a:ext cx="1143000" cy="1066800"/>
          </a:xfrm>
          <a:prstGeom prst="rect">
            <a:avLst/>
          </a:prstGeom>
          <a:gradFill rotWithShape="1">
            <a:gsLst>
              <a:gs pos="0">
                <a:srgbClr val="AE4845">
                  <a:tint val="50000"/>
                  <a:satMod val="300000"/>
                </a:srgbClr>
              </a:gs>
              <a:gs pos="35000">
                <a:srgbClr val="AE4845">
                  <a:tint val="37000"/>
                  <a:satMod val="300000"/>
                </a:srgbClr>
              </a:gs>
              <a:gs pos="100000">
                <a:srgbClr val="AE4845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AE4845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32K x 8</a:t>
            </a:r>
          </a:p>
        </p:txBody>
      </p:sp>
      <p:cxnSp>
        <p:nvCxnSpPr>
          <p:cNvPr id="116" name="Straight Arrow Connector 115"/>
          <p:cNvCxnSpPr/>
          <p:nvPr/>
        </p:nvCxnSpPr>
        <p:spPr>
          <a:xfrm>
            <a:off x="1376760" y="1981200"/>
            <a:ext cx="1004080" cy="0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17" name="Straight Arrow Connector 116"/>
          <p:cNvCxnSpPr/>
          <p:nvPr/>
        </p:nvCxnSpPr>
        <p:spPr>
          <a:xfrm>
            <a:off x="1376760" y="2438400"/>
            <a:ext cx="1004080" cy="0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18" name="TextBox 117"/>
          <p:cNvSpPr txBox="1"/>
          <p:nvPr/>
        </p:nvSpPr>
        <p:spPr>
          <a:xfrm>
            <a:off x="2057400" y="1752600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981200" y="220980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A14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057400" y="198120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…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209800" y="3075801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D15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200400" y="304800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D8</a:t>
            </a:r>
          </a:p>
        </p:txBody>
      </p:sp>
      <p:sp>
        <p:nvSpPr>
          <p:cNvPr id="123" name="Oval 122"/>
          <p:cNvSpPr/>
          <p:nvPr/>
        </p:nvSpPr>
        <p:spPr>
          <a:xfrm>
            <a:off x="2590800" y="1524000"/>
            <a:ext cx="228600" cy="228600"/>
          </a:xfrm>
          <a:prstGeom prst="ellipse">
            <a:avLst/>
          </a:prstGeom>
          <a:gradFill rotWithShape="1">
            <a:gsLst>
              <a:gs pos="0">
                <a:srgbClr val="B2C1DB">
                  <a:tint val="50000"/>
                  <a:satMod val="300000"/>
                </a:srgbClr>
              </a:gs>
              <a:gs pos="35000">
                <a:srgbClr val="B2C1DB">
                  <a:tint val="37000"/>
                  <a:satMod val="300000"/>
                </a:srgbClr>
              </a:gs>
              <a:gs pos="100000">
                <a:srgbClr val="B2C1DB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B2C1DB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cxnSp>
        <p:nvCxnSpPr>
          <p:cNvPr id="124" name="Straight Arrow Connector 123"/>
          <p:cNvCxnSpPr/>
          <p:nvPr/>
        </p:nvCxnSpPr>
        <p:spPr>
          <a:xfrm>
            <a:off x="2438400" y="27432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5" name="Straight Arrow Connector 124"/>
          <p:cNvCxnSpPr/>
          <p:nvPr/>
        </p:nvCxnSpPr>
        <p:spPr>
          <a:xfrm>
            <a:off x="2590800" y="27432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6" name="Straight Arrow Connector 125"/>
          <p:cNvCxnSpPr/>
          <p:nvPr/>
        </p:nvCxnSpPr>
        <p:spPr>
          <a:xfrm>
            <a:off x="2743200" y="27432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7" name="Straight Arrow Connector 126"/>
          <p:cNvCxnSpPr/>
          <p:nvPr/>
        </p:nvCxnSpPr>
        <p:spPr>
          <a:xfrm>
            <a:off x="2895600" y="27432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8" name="Straight Arrow Connector 127"/>
          <p:cNvCxnSpPr/>
          <p:nvPr/>
        </p:nvCxnSpPr>
        <p:spPr>
          <a:xfrm>
            <a:off x="3048000" y="27432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9" name="Straight Arrow Connector 128"/>
          <p:cNvCxnSpPr/>
          <p:nvPr/>
        </p:nvCxnSpPr>
        <p:spPr>
          <a:xfrm>
            <a:off x="3200400" y="27432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30" name="Straight Arrow Connector 129"/>
          <p:cNvCxnSpPr/>
          <p:nvPr/>
        </p:nvCxnSpPr>
        <p:spPr>
          <a:xfrm>
            <a:off x="3352800" y="27432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31" name="Oval 130"/>
          <p:cNvSpPr/>
          <p:nvPr/>
        </p:nvSpPr>
        <p:spPr>
          <a:xfrm>
            <a:off x="3048000" y="1524000"/>
            <a:ext cx="228600" cy="228600"/>
          </a:xfrm>
          <a:prstGeom prst="ellipse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3733800" y="1752600"/>
            <a:ext cx="1143000" cy="1066800"/>
          </a:xfrm>
          <a:prstGeom prst="rect">
            <a:avLst/>
          </a:prstGeom>
          <a:gradFill rotWithShape="1">
            <a:gsLst>
              <a:gs pos="0">
                <a:srgbClr val="AE4845">
                  <a:tint val="50000"/>
                  <a:satMod val="300000"/>
                </a:srgbClr>
              </a:gs>
              <a:gs pos="35000">
                <a:srgbClr val="AE4845">
                  <a:tint val="37000"/>
                  <a:satMod val="300000"/>
                </a:srgbClr>
              </a:gs>
              <a:gs pos="100000">
                <a:srgbClr val="AE4845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AE4845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32K x 8</a:t>
            </a:r>
          </a:p>
        </p:txBody>
      </p:sp>
      <p:cxnSp>
        <p:nvCxnSpPr>
          <p:cNvPr id="133" name="Straight Arrow Connector 132"/>
          <p:cNvCxnSpPr/>
          <p:nvPr/>
        </p:nvCxnSpPr>
        <p:spPr>
          <a:xfrm>
            <a:off x="2362200" y="1981200"/>
            <a:ext cx="1447800" cy="0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34" name="Straight Arrow Connector 133"/>
          <p:cNvCxnSpPr/>
          <p:nvPr/>
        </p:nvCxnSpPr>
        <p:spPr>
          <a:xfrm>
            <a:off x="2286000" y="2438400"/>
            <a:ext cx="1524000" cy="0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35" name="TextBox 134"/>
          <p:cNvSpPr txBox="1"/>
          <p:nvPr/>
        </p:nvSpPr>
        <p:spPr>
          <a:xfrm>
            <a:off x="3691466" y="1828800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678766" y="228600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A14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695700" y="2010834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…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547534" y="3041935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572000" y="304800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D0</a:t>
            </a:r>
          </a:p>
        </p:txBody>
      </p:sp>
      <p:sp>
        <p:nvSpPr>
          <p:cNvPr id="140" name="Oval 139"/>
          <p:cNvSpPr/>
          <p:nvPr/>
        </p:nvSpPr>
        <p:spPr>
          <a:xfrm>
            <a:off x="3962400" y="1524000"/>
            <a:ext cx="228600" cy="228600"/>
          </a:xfrm>
          <a:prstGeom prst="ellipse">
            <a:avLst/>
          </a:prstGeom>
          <a:gradFill rotWithShape="1">
            <a:gsLst>
              <a:gs pos="0">
                <a:srgbClr val="B2C1DB">
                  <a:tint val="50000"/>
                  <a:satMod val="300000"/>
                </a:srgbClr>
              </a:gs>
              <a:gs pos="35000">
                <a:srgbClr val="B2C1DB">
                  <a:tint val="37000"/>
                  <a:satMod val="300000"/>
                </a:srgbClr>
              </a:gs>
              <a:gs pos="100000">
                <a:srgbClr val="B2C1DB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B2C1DB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cxnSp>
        <p:nvCxnSpPr>
          <p:cNvPr id="141" name="Straight Arrow Connector 140"/>
          <p:cNvCxnSpPr/>
          <p:nvPr/>
        </p:nvCxnSpPr>
        <p:spPr>
          <a:xfrm>
            <a:off x="3810000" y="27432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42" name="Straight Arrow Connector 141"/>
          <p:cNvCxnSpPr/>
          <p:nvPr/>
        </p:nvCxnSpPr>
        <p:spPr>
          <a:xfrm>
            <a:off x="3962400" y="27432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43" name="Straight Arrow Connector 142"/>
          <p:cNvCxnSpPr/>
          <p:nvPr/>
        </p:nvCxnSpPr>
        <p:spPr>
          <a:xfrm>
            <a:off x="4114800" y="27432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44" name="Straight Arrow Connector 143"/>
          <p:cNvCxnSpPr/>
          <p:nvPr/>
        </p:nvCxnSpPr>
        <p:spPr>
          <a:xfrm>
            <a:off x="4267200" y="27432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45" name="Straight Arrow Connector 144"/>
          <p:cNvCxnSpPr/>
          <p:nvPr/>
        </p:nvCxnSpPr>
        <p:spPr>
          <a:xfrm>
            <a:off x="4419600" y="27432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46" name="Straight Arrow Connector 145"/>
          <p:cNvCxnSpPr/>
          <p:nvPr/>
        </p:nvCxnSpPr>
        <p:spPr>
          <a:xfrm>
            <a:off x="4572000" y="27432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47" name="Straight Arrow Connector 146"/>
          <p:cNvCxnSpPr/>
          <p:nvPr/>
        </p:nvCxnSpPr>
        <p:spPr>
          <a:xfrm>
            <a:off x="4724400" y="27432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48" name="Oval 147"/>
          <p:cNvSpPr/>
          <p:nvPr/>
        </p:nvSpPr>
        <p:spPr>
          <a:xfrm>
            <a:off x="4419600" y="1524000"/>
            <a:ext cx="228600" cy="228600"/>
          </a:xfrm>
          <a:prstGeom prst="ellipse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cxnSp>
        <p:nvCxnSpPr>
          <p:cNvPr id="149" name="Straight Arrow Connector 148"/>
          <p:cNvCxnSpPr/>
          <p:nvPr/>
        </p:nvCxnSpPr>
        <p:spPr>
          <a:xfrm>
            <a:off x="609600" y="2438400"/>
            <a:ext cx="801503" cy="0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51" name="Straight Arrow Connector 150"/>
          <p:cNvCxnSpPr/>
          <p:nvPr/>
        </p:nvCxnSpPr>
        <p:spPr>
          <a:xfrm>
            <a:off x="609600" y="1981200"/>
            <a:ext cx="811866" cy="0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52" name="Rectangle 151"/>
          <p:cNvSpPr/>
          <p:nvPr/>
        </p:nvSpPr>
        <p:spPr>
          <a:xfrm>
            <a:off x="2286000" y="3886200"/>
            <a:ext cx="1143000" cy="1066800"/>
          </a:xfrm>
          <a:prstGeom prst="rect">
            <a:avLst/>
          </a:prstGeom>
          <a:gradFill rotWithShape="1">
            <a:gsLst>
              <a:gs pos="0">
                <a:srgbClr val="AE4845">
                  <a:tint val="50000"/>
                  <a:satMod val="300000"/>
                </a:srgbClr>
              </a:gs>
              <a:gs pos="35000">
                <a:srgbClr val="AE4845">
                  <a:tint val="37000"/>
                  <a:satMod val="300000"/>
                </a:srgbClr>
              </a:gs>
              <a:gs pos="100000">
                <a:srgbClr val="AE4845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AE4845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32K x 8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981200" y="3886200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905000" y="430530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A14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006600" y="414020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…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133600" y="5209401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D15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124200" y="518160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D8</a:t>
            </a:r>
          </a:p>
        </p:txBody>
      </p:sp>
      <p:sp>
        <p:nvSpPr>
          <p:cNvPr id="160" name="Oval 159"/>
          <p:cNvSpPr/>
          <p:nvPr/>
        </p:nvSpPr>
        <p:spPr>
          <a:xfrm>
            <a:off x="2514600" y="3657600"/>
            <a:ext cx="228600" cy="228600"/>
          </a:xfrm>
          <a:prstGeom prst="ellipse">
            <a:avLst/>
          </a:prstGeom>
          <a:gradFill rotWithShape="1">
            <a:gsLst>
              <a:gs pos="0">
                <a:srgbClr val="B2C1DB">
                  <a:tint val="50000"/>
                  <a:satMod val="300000"/>
                </a:srgbClr>
              </a:gs>
              <a:gs pos="35000">
                <a:srgbClr val="B2C1DB">
                  <a:tint val="37000"/>
                  <a:satMod val="300000"/>
                </a:srgbClr>
              </a:gs>
              <a:gs pos="100000">
                <a:srgbClr val="B2C1DB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B2C1DB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cxnSp>
        <p:nvCxnSpPr>
          <p:cNvPr id="161" name="Straight Arrow Connector 160"/>
          <p:cNvCxnSpPr/>
          <p:nvPr/>
        </p:nvCxnSpPr>
        <p:spPr>
          <a:xfrm>
            <a:off x="2362200" y="48768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62" name="Straight Arrow Connector 161"/>
          <p:cNvCxnSpPr/>
          <p:nvPr/>
        </p:nvCxnSpPr>
        <p:spPr>
          <a:xfrm>
            <a:off x="2514600" y="48768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63" name="Straight Arrow Connector 162"/>
          <p:cNvCxnSpPr/>
          <p:nvPr/>
        </p:nvCxnSpPr>
        <p:spPr>
          <a:xfrm>
            <a:off x="2667000" y="48768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64" name="Straight Arrow Connector 163"/>
          <p:cNvCxnSpPr/>
          <p:nvPr/>
        </p:nvCxnSpPr>
        <p:spPr>
          <a:xfrm>
            <a:off x="2819400" y="48768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65" name="Straight Arrow Connector 164"/>
          <p:cNvCxnSpPr/>
          <p:nvPr/>
        </p:nvCxnSpPr>
        <p:spPr>
          <a:xfrm>
            <a:off x="2971800" y="48768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66" name="Straight Arrow Connector 165"/>
          <p:cNvCxnSpPr/>
          <p:nvPr/>
        </p:nvCxnSpPr>
        <p:spPr>
          <a:xfrm>
            <a:off x="3124200" y="48768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67" name="Straight Arrow Connector 166"/>
          <p:cNvCxnSpPr/>
          <p:nvPr/>
        </p:nvCxnSpPr>
        <p:spPr>
          <a:xfrm>
            <a:off x="3276600" y="48768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68" name="Oval 167"/>
          <p:cNvSpPr/>
          <p:nvPr/>
        </p:nvSpPr>
        <p:spPr>
          <a:xfrm>
            <a:off x="2971800" y="3657600"/>
            <a:ext cx="228600" cy="228600"/>
          </a:xfrm>
          <a:prstGeom prst="ellipse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3657600" y="3886200"/>
            <a:ext cx="1143000" cy="1066800"/>
          </a:xfrm>
          <a:prstGeom prst="rect">
            <a:avLst/>
          </a:prstGeom>
          <a:gradFill rotWithShape="1">
            <a:gsLst>
              <a:gs pos="0">
                <a:srgbClr val="AE4845">
                  <a:tint val="50000"/>
                  <a:satMod val="300000"/>
                </a:srgbClr>
              </a:gs>
              <a:gs pos="35000">
                <a:srgbClr val="AE4845">
                  <a:tint val="37000"/>
                  <a:satMod val="300000"/>
                </a:srgbClr>
              </a:gs>
              <a:gs pos="100000">
                <a:srgbClr val="AE4845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AE4845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32K x 8</a:t>
            </a:r>
          </a:p>
        </p:txBody>
      </p:sp>
      <p:cxnSp>
        <p:nvCxnSpPr>
          <p:cNvPr id="170" name="Straight Arrow Connector 169"/>
          <p:cNvCxnSpPr/>
          <p:nvPr/>
        </p:nvCxnSpPr>
        <p:spPr>
          <a:xfrm>
            <a:off x="1676400" y="4114800"/>
            <a:ext cx="685800" cy="0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71" name="Straight Arrow Connector 170"/>
          <p:cNvCxnSpPr/>
          <p:nvPr/>
        </p:nvCxnSpPr>
        <p:spPr>
          <a:xfrm>
            <a:off x="1897124" y="4572000"/>
            <a:ext cx="425828" cy="0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72" name="TextBox 171"/>
          <p:cNvSpPr txBox="1"/>
          <p:nvPr/>
        </p:nvSpPr>
        <p:spPr>
          <a:xfrm>
            <a:off x="3657600" y="3962400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A0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632200" y="441960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A14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657600" y="411480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…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505200" y="518160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D7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495800" y="518160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D0</a:t>
            </a:r>
          </a:p>
        </p:txBody>
      </p:sp>
      <p:sp>
        <p:nvSpPr>
          <p:cNvPr id="177" name="Oval 176"/>
          <p:cNvSpPr/>
          <p:nvPr/>
        </p:nvSpPr>
        <p:spPr>
          <a:xfrm>
            <a:off x="3886200" y="3657600"/>
            <a:ext cx="228600" cy="228600"/>
          </a:xfrm>
          <a:prstGeom prst="ellipse">
            <a:avLst/>
          </a:prstGeom>
          <a:gradFill rotWithShape="1">
            <a:gsLst>
              <a:gs pos="0">
                <a:srgbClr val="B2C1DB">
                  <a:tint val="50000"/>
                  <a:satMod val="300000"/>
                </a:srgbClr>
              </a:gs>
              <a:gs pos="35000">
                <a:srgbClr val="B2C1DB">
                  <a:tint val="37000"/>
                  <a:satMod val="300000"/>
                </a:srgbClr>
              </a:gs>
              <a:gs pos="100000">
                <a:srgbClr val="B2C1DB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B2C1DB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cxnSp>
        <p:nvCxnSpPr>
          <p:cNvPr id="178" name="Straight Arrow Connector 177"/>
          <p:cNvCxnSpPr/>
          <p:nvPr/>
        </p:nvCxnSpPr>
        <p:spPr>
          <a:xfrm>
            <a:off x="3733800" y="48768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79" name="Straight Arrow Connector 178"/>
          <p:cNvCxnSpPr/>
          <p:nvPr/>
        </p:nvCxnSpPr>
        <p:spPr>
          <a:xfrm>
            <a:off x="3886200" y="48768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80" name="Straight Arrow Connector 179"/>
          <p:cNvCxnSpPr/>
          <p:nvPr/>
        </p:nvCxnSpPr>
        <p:spPr>
          <a:xfrm>
            <a:off x="4038600" y="48768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81" name="Straight Arrow Connector 180"/>
          <p:cNvCxnSpPr/>
          <p:nvPr/>
        </p:nvCxnSpPr>
        <p:spPr>
          <a:xfrm>
            <a:off x="4191000" y="48768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82" name="Straight Arrow Connector 181"/>
          <p:cNvCxnSpPr/>
          <p:nvPr/>
        </p:nvCxnSpPr>
        <p:spPr>
          <a:xfrm>
            <a:off x="4343400" y="48768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83" name="Straight Arrow Connector 182"/>
          <p:cNvCxnSpPr/>
          <p:nvPr/>
        </p:nvCxnSpPr>
        <p:spPr>
          <a:xfrm>
            <a:off x="4495800" y="48768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84" name="Straight Arrow Connector 183"/>
          <p:cNvCxnSpPr/>
          <p:nvPr/>
        </p:nvCxnSpPr>
        <p:spPr>
          <a:xfrm>
            <a:off x="4648200" y="4876800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85" name="Oval 184"/>
          <p:cNvSpPr/>
          <p:nvPr/>
        </p:nvSpPr>
        <p:spPr>
          <a:xfrm>
            <a:off x="4343400" y="3657600"/>
            <a:ext cx="228600" cy="228600"/>
          </a:xfrm>
          <a:prstGeom prst="ellipse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cxnSp>
        <p:nvCxnSpPr>
          <p:cNvPr id="186" name="Straight Arrow Connector 185"/>
          <p:cNvCxnSpPr/>
          <p:nvPr/>
        </p:nvCxnSpPr>
        <p:spPr>
          <a:xfrm>
            <a:off x="1676400" y="1981200"/>
            <a:ext cx="0" cy="2133600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87" name="Straight Arrow Connector 186"/>
          <p:cNvCxnSpPr/>
          <p:nvPr/>
        </p:nvCxnSpPr>
        <p:spPr>
          <a:xfrm>
            <a:off x="1905000" y="2438400"/>
            <a:ext cx="0" cy="2133600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89" name="TextBox 188"/>
          <p:cNvSpPr txBox="1"/>
          <p:nvPr/>
        </p:nvSpPr>
        <p:spPr>
          <a:xfrm>
            <a:off x="297873" y="6412468"/>
            <a:ext cx="8312727" cy="369332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kern="0" dirty="0">
                <a:solidFill>
                  <a:srgbClr val="FF0000"/>
                </a:solidFill>
                <a:latin typeface="Frutiger 55 Roman"/>
                <a:ea typeface="ＭＳ Ｐゴシック"/>
              </a:rPr>
              <a:t>Q:</a:t>
            </a:r>
            <a:r>
              <a:rPr lang="en-US" kern="0" dirty="0">
                <a:solidFill>
                  <a:srgbClr val="000000"/>
                </a:solidFill>
                <a:latin typeface="Frutiger 55 Roman"/>
                <a:ea typeface="ＭＳ Ｐゴシック"/>
              </a:rPr>
              <a:t> How do we control </a:t>
            </a:r>
            <a:r>
              <a:rPr lang="en-US" b="1" kern="0" dirty="0">
                <a:solidFill>
                  <a:srgbClr val="FF6600"/>
                </a:solidFill>
                <a:latin typeface="Frutiger 55 Roman"/>
                <a:ea typeface="ＭＳ Ｐゴシック"/>
              </a:rPr>
              <a:t>page selection</a:t>
            </a:r>
            <a:r>
              <a:rPr lang="en-US" kern="0" dirty="0">
                <a:solidFill>
                  <a:srgbClr val="000000"/>
                </a:solidFill>
                <a:latin typeface="Frutiger 55 Roman"/>
                <a:ea typeface="ＭＳ Ｐゴシック"/>
              </a:rPr>
              <a:t> (in the </a:t>
            </a:r>
            <a:r>
              <a:rPr lang="en-US" b="1" kern="0" dirty="0">
                <a:solidFill>
                  <a:srgbClr val="FF6600"/>
                </a:solidFill>
                <a:latin typeface="Frutiger 55 Roman"/>
                <a:ea typeface="ＭＳ Ｐゴシック"/>
              </a:rPr>
              <a:t>y</a:t>
            </a:r>
            <a:r>
              <a:rPr lang="en-US" kern="0" dirty="0">
                <a:solidFill>
                  <a:srgbClr val="000000"/>
                </a:solidFill>
                <a:latin typeface="Frutiger 55 Roman"/>
                <a:ea typeface="ＭＳ Ｐゴシック"/>
              </a:rPr>
              <a:t>) or </a:t>
            </a:r>
            <a:r>
              <a:rPr lang="en-US" b="1" kern="0" dirty="0">
                <a:solidFill>
                  <a:srgbClr val="0000FF"/>
                </a:solidFill>
                <a:latin typeface="Frutiger 55 Roman"/>
                <a:ea typeface="ＭＳ Ｐゴシック"/>
              </a:rPr>
              <a:t>byte selection</a:t>
            </a:r>
            <a:r>
              <a:rPr lang="en-US" kern="0" dirty="0">
                <a:solidFill>
                  <a:srgbClr val="000000"/>
                </a:solidFill>
                <a:latin typeface="Frutiger 55 Roman"/>
                <a:ea typeface="ＭＳ Ｐゴシック"/>
              </a:rPr>
              <a:t> (in the </a:t>
            </a:r>
            <a:r>
              <a:rPr lang="en-US" b="1" kern="0" dirty="0">
                <a:solidFill>
                  <a:srgbClr val="0000FF"/>
                </a:solidFill>
                <a:latin typeface="Frutiger 55 Roman"/>
                <a:ea typeface="ＭＳ Ｐゴシック"/>
              </a:rPr>
              <a:t>x</a:t>
            </a:r>
            <a:r>
              <a:rPr lang="en-US" kern="0" dirty="0">
                <a:solidFill>
                  <a:srgbClr val="000000"/>
                </a:solidFill>
                <a:latin typeface="Frutiger 55 Roman"/>
                <a:ea typeface="ＭＳ Ｐゴシック"/>
              </a:rPr>
              <a:t>)?</a:t>
            </a:r>
            <a:endParaRPr lang="en-US" kern="0" dirty="0">
              <a:solidFill>
                <a:srgbClr val="FF0000"/>
              </a:solidFill>
              <a:latin typeface="Frutiger 55 Roman"/>
              <a:ea typeface="ＭＳ Ｐゴシック"/>
            </a:endParaRPr>
          </a:p>
        </p:txBody>
      </p:sp>
      <p:sp>
        <p:nvSpPr>
          <p:cNvPr id="150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8534400" cy="1143000"/>
          </a:xfrm>
        </p:spPr>
        <p:txBody>
          <a:bodyPr/>
          <a:lstStyle/>
          <a:p>
            <a:pPr>
              <a:lnSpc>
                <a:spcPts val="3100"/>
              </a:lnSpc>
            </a:pPr>
            <a:r>
              <a:rPr lang="en-US" sz="5000" dirty="0"/>
              <a:t>Outer Memory Interface: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>(Inner Memory Address Wires + Control Wires)</a:t>
            </a:r>
            <a:endParaRPr lang="en-US" sz="2400" b="1" dirty="0">
              <a:solidFill>
                <a:srgbClr val="FF6600"/>
              </a:solidFill>
            </a:endParaRPr>
          </a:p>
        </p:txBody>
      </p:sp>
      <p:cxnSp>
        <p:nvCxnSpPr>
          <p:cNvPr id="153" name="Straight Arrow Connector 152"/>
          <p:cNvCxnSpPr/>
          <p:nvPr/>
        </p:nvCxnSpPr>
        <p:spPr>
          <a:xfrm>
            <a:off x="2313107" y="4114800"/>
            <a:ext cx="1448431" cy="0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54" name="Straight Arrow Connector 153"/>
          <p:cNvCxnSpPr/>
          <p:nvPr/>
        </p:nvCxnSpPr>
        <p:spPr>
          <a:xfrm>
            <a:off x="2311400" y="4572000"/>
            <a:ext cx="1424940" cy="0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92" name="TextBox 191"/>
          <p:cNvSpPr txBox="1"/>
          <p:nvPr/>
        </p:nvSpPr>
        <p:spPr>
          <a:xfrm>
            <a:off x="990600" y="1752600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A0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14400" y="220980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A14</a:t>
            </a:r>
          </a:p>
        </p:txBody>
      </p:sp>
      <p:sp>
        <p:nvSpPr>
          <p:cNvPr id="7" name="Right Brace 6"/>
          <p:cNvSpPr/>
          <p:nvPr/>
        </p:nvSpPr>
        <p:spPr>
          <a:xfrm rot="5400000">
            <a:off x="3098312" y="4122003"/>
            <a:ext cx="780685" cy="2862509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3920" y="5934972"/>
            <a:ext cx="7500632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Q:</a:t>
            </a:r>
            <a:r>
              <a:rPr lang="en-US" dirty="0"/>
              <a:t> Next, how do we </a:t>
            </a:r>
            <a:r>
              <a:rPr lang="en-US" b="1" i="1" dirty="0">
                <a:solidFill>
                  <a:schemeClr val="tx1"/>
                </a:solidFill>
              </a:rPr>
              <a:t>pick</a:t>
            </a:r>
            <a:r>
              <a:rPr lang="en-US" dirty="0">
                <a:solidFill>
                  <a:schemeClr val="tx1"/>
                </a:solidFill>
              </a:rPr>
              <a:t> or </a:t>
            </a:r>
            <a:r>
              <a:rPr lang="en-US" b="1" i="1" dirty="0">
                <a:solidFill>
                  <a:schemeClr val="tx1"/>
                </a:solidFill>
              </a:rPr>
              <a:t>select </a:t>
            </a:r>
            <a:r>
              <a:rPr lang="en-US" dirty="0"/>
              <a:t>a </a:t>
            </a:r>
            <a:r>
              <a:rPr lang="en-US" b="1" dirty="0">
                <a:solidFill>
                  <a:srgbClr val="0000FF"/>
                </a:solidFill>
              </a:rPr>
              <a:t>byte(column</a:t>
            </a:r>
            <a:r>
              <a:rPr lang="en-US" dirty="0"/>
              <a:t>)?  (hint: </a:t>
            </a:r>
            <a:r>
              <a:rPr lang="en-US" b="1" dirty="0">
                <a:solidFill>
                  <a:srgbClr val="008000"/>
                </a:solidFill>
              </a:rPr>
              <a:t>decoder</a:t>
            </a:r>
            <a:r>
              <a:rPr lang="en-US" dirty="0"/>
              <a:t>)</a:t>
            </a:r>
          </a:p>
        </p:txBody>
      </p:sp>
      <p:cxnSp>
        <p:nvCxnSpPr>
          <p:cNvPr id="194" name="Straight Arrow Connector 193"/>
          <p:cNvCxnSpPr/>
          <p:nvPr/>
        </p:nvCxnSpPr>
        <p:spPr>
          <a:xfrm>
            <a:off x="629060" y="2819400"/>
            <a:ext cx="100408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97" name="TextBox 196"/>
          <p:cNvSpPr txBox="1"/>
          <p:nvPr/>
        </p:nvSpPr>
        <p:spPr>
          <a:xfrm>
            <a:off x="0" y="2221468"/>
            <a:ext cx="5334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6600"/>
                </a:solidFill>
              </a:rPr>
              <a:t>16+</a:t>
            </a:r>
          </a:p>
        </p:txBody>
      </p:sp>
      <p:sp>
        <p:nvSpPr>
          <p:cNvPr id="201" name="Oval 200"/>
          <p:cNvSpPr/>
          <p:nvPr/>
        </p:nvSpPr>
        <p:spPr>
          <a:xfrm>
            <a:off x="7236314" y="4981731"/>
            <a:ext cx="789191" cy="717446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~CS</a:t>
            </a:r>
          </a:p>
        </p:txBody>
      </p:sp>
      <p:sp>
        <p:nvSpPr>
          <p:cNvPr id="202" name="Oval 201"/>
          <p:cNvSpPr/>
          <p:nvPr/>
        </p:nvSpPr>
        <p:spPr>
          <a:xfrm>
            <a:off x="8278609" y="4997554"/>
            <a:ext cx="789191" cy="717446"/>
          </a:xfrm>
          <a:prstGeom prst="ellipse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~OE</a:t>
            </a:r>
          </a:p>
        </p:txBody>
      </p:sp>
      <p:sp>
        <p:nvSpPr>
          <p:cNvPr id="203" name="Oval 202"/>
          <p:cNvSpPr/>
          <p:nvPr/>
        </p:nvSpPr>
        <p:spPr>
          <a:xfrm>
            <a:off x="2590800" y="1524000"/>
            <a:ext cx="228600" cy="228600"/>
          </a:xfrm>
          <a:prstGeom prst="ellipse">
            <a:avLst/>
          </a:prstGeom>
          <a:solidFill>
            <a:srgbClr val="FF6600"/>
          </a:solidFill>
          <a:ln w="9525" cap="flat" cmpd="sng" algn="ctr">
            <a:solidFill>
              <a:srgbClr val="B2C1DB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204" name="Oval 203"/>
          <p:cNvSpPr/>
          <p:nvPr/>
        </p:nvSpPr>
        <p:spPr>
          <a:xfrm>
            <a:off x="3962400" y="1524000"/>
            <a:ext cx="228600" cy="228600"/>
          </a:xfrm>
          <a:prstGeom prst="ellipse">
            <a:avLst/>
          </a:prstGeom>
          <a:solidFill>
            <a:srgbClr val="FF6600"/>
          </a:solidFill>
          <a:ln w="9525" cap="flat" cmpd="sng" algn="ctr">
            <a:solidFill>
              <a:srgbClr val="B2C1DB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205" name="Oval 204"/>
          <p:cNvSpPr/>
          <p:nvPr/>
        </p:nvSpPr>
        <p:spPr>
          <a:xfrm>
            <a:off x="2514600" y="3657600"/>
            <a:ext cx="228600" cy="228600"/>
          </a:xfrm>
          <a:prstGeom prst="ellipse">
            <a:avLst/>
          </a:prstGeom>
          <a:solidFill>
            <a:srgbClr val="FF6600"/>
          </a:solidFill>
          <a:ln w="9525" cap="flat" cmpd="sng" algn="ctr">
            <a:solidFill>
              <a:srgbClr val="B2C1DB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206" name="Oval 205"/>
          <p:cNvSpPr/>
          <p:nvPr/>
        </p:nvSpPr>
        <p:spPr>
          <a:xfrm>
            <a:off x="3886200" y="3657600"/>
            <a:ext cx="228600" cy="228600"/>
          </a:xfrm>
          <a:prstGeom prst="ellipse">
            <a:avLst/>
          </a:prstGeom>
          <a:solidFill>
            <a:srgbClr val="FF6600"/>
          </a:solidFill>
          <a:ln w="9525" cap="flat" cmpd="sng" algn="ctr">
            <a:solidFill>
              <a:srgbClr val="B2C1DB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207" name="Oval 206"/>
          <p:cNvSpPr/>
          <p:nvPr/>
        </p:nvSpPr>
        <p:spPr>
          <a:xfrm>
            <a:off x="7236314" y="4981731"/>
            <a:ext cx="789191" cy="717446"/>
          </a:xfrm>
          <a:prstGeom prst="ellipse">
            <a:avLst/>
          </a:prstGeom>
          <a:solidFill>
            <a:srgbClr val="FF6600"/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~CS</a:t>
            </a:r>
          </a:p>
        </p:txBody>
      </p:sp>
      <p:cxnSp>
        <p:nvCxnSpPr>
          <p:cNvPr id="210" name="Straight Arrow Connector 209"/>
          <p:cNvCxnSpPr/>
          <p:nvPr/>
        </p:nvCxnSpPr>
        <p:spPr>
          <a:xfrm>
            <a:off x="1586179" y="3581400"/>
            <a:ext cx="242910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628900" y="3565695"/>
            <a:ext cx="0" cy="213286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11" name="Straight Connector 210"/>
          <p:cNvCxnSpPr/>
          <p:nvPr/>
        </p:nvCxnSpPr>
        <p:spPr>
          <a:xfrm>
            <a:off x="4000500" y="3574656"/>
            <a:ext cx="0" cy="234615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12" name="Straight Arrow Connector 211"/>
          <p:cNvCxnSpPr/>
          <p:nvPr/>
        </p:nvCxnSpPr>
        <p:spPr>
          <a:xfrm>
            <a:off x="1587167" y="1473200"/>
            <a:ext cx="247792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13" name="Straight Connector 212"/>
          <p:cNvCxnSpPr/>
          <p:nvPr/>
        </p:nvCxnSpPr>
        <p:spPr>
          <a:xfrm>
            <a:off x="2692400" y="1454490"/>
            <a:ext cx="0" cy="193896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14" name="Straight Connector 213"/>
          <p:cNvCxnSpPr/>
          <p:nvPr/>
        </p:nvCxnSpPr>
        <p:spPr>
          <a:xfrm>
            <a:off x="4064000" y="1453756"/>
            <a:ext cx="0" cy="234615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15" name="Straight Connector 214"/>
          <p:cNvCxnSpPr/>
          <p:nvPr/>
        </p:nvCxnSpPr>
        <p:spPr>
          <a:xfrm>
            <a:off x="1600200" y="1469816"/>
            <a:ext cx="0" cy="2100823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899391" y="3034975"/>
            <a:ext cx="484909" cy="2289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solidFill>
                  <a:srgbClr val="FF0000"/>
                </a:solidFill>
                <a:effectLst/>
                <a:uLnTx/>
                <a:uFillTx/>
              </a:rPr>
              <a:t>A16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0" y="2209800"/>
            <a:ext cx="5334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6600"/>
                </a:solidFill>
              </a:rPr>
              <a:t>17! </a:t>
            </a:r>
          </a:p>
        </p:txBody>
      </p:sp>
      <p:sp>
        <p:nvSpPr>
          <p:cNvPr id="110" name="Oval 109"/>
          <p:cNvSpPr/>
          <p:nvPr/>
        </p:nvSpPr>
        <p:spPr>
          <a:xfrm>
            <a:off x="3048000" y="1524000"/>
            <a:ext cx="228600" cy="228600"/>
          </a:xfrm>
          <a:prstGeom prst="ellipse">
            <a:avLst/>
          </a:prstGeom>
          <a:solidFill>
            <a:srgbClr val="0000FF"/>
          </a:soli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111" name="Oval 110"/>
          <p:cNvSpPr/>
          <p:nvPr/>
        </p:nvSpPr>
        <p:spPr>
          <a:xfrm>
            <a:off x="4419600" y="1524000"/>
            <a:ext cx="228600" cy="228600"/>
          </a:xfrm>
          <a:prstGeom prst="ellipse">
            <a:avLst/>
          </a:prstGeom>
          <a:solidFill>
            <a:srgbClr val="0000FF"/>
          </a:soli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2971800" y="3657600"/>
            <a:ext cx="228600" cy="228600"/>
          </a:xfrm>
          <a:prstGeom prst="ellipse">
            <a:avLst/>
          </a:prstGeom>
          <a:solidFill>
            <a:srgbClr val="0000FF"/>
          </a:soli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113" name="Oval 112"/>
          <p:cNvSpPr/>
          <p:nvPr/>
        </p:nvSpPr>
        <p:spPr>
          <a:xfrm>
            <a:off x="4343400" y="3657600"/>
            <a:ext cx="228600" cy="228600"/>
          </a:xfrm>
          <a:prstGeom prst="ellipse">
            <a:avLst/>
          </a:prstGeom>
          <a:solidFill>
            <a:srgbClr val="0000FF"/>
          </a:soli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114" name="Oval 113"/>
          <p:cNvSpPr/>
          <p:nvPr/>
        </p:nvSpPr>
        <p:spPr>
          <a:xfrm>
            <a:off x="8278609" y="4997554"/>
            <a:ext cx="789191" cy="717446"/>
          </a:xfrm>
          <a:prstGeom prst="ellipse">
            <a:avLst/>
          </a:prstGeom>
          <a:solidFill>
            <a:srgbClr val="0000FF"/>
          </a:soli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~OE</a:t>
            </a:r>
          </a:p>
        </p:txBody>
      </p:sp>
      <p:cxnSp>
        <p:nvCxnSpPr>
          <p:cNvPr id="105" name="Straight Arrow Connector 104"/>
          <p:cNvCxnSpPr/>
          <p:nvPr/>
        </p:nvCxnSpPr>
        <p:spPr>
          <a:xfrm>
            <a:off x="685800" y="3302000"/>
            <a:ext cx="871140" cy="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8" name="Isosceles Triangle 207"/>
          <p:cNvSpPr/>
          <p:nvPr/>
        </p:nvSpPr>
        <p:spPr>
          <a:xfrm rot="5400000">
            <a:off x="2133600" y="1358900"/>
            <a:ext cx="229001" cy="229001"/>
          </a:xfrm>
          <a:prstGeom prst="triangle">
            <a:avLst/>
          </a:prstGeom>
          <a:gradFill rotWithShape="1">
            <a:gsLst>
              <a:gs pos="0">
                <a:srgbClr val="000000">
                  <a:shade val="51000"/>
                  <a:satMod val="130000"/>
                </a:srgbClr>
              </a:gs>
              <a:gs pos="80000">
                <a:srgbClr val="000000">
                  <a:shade val="93000"/>
                  <a:satMod val="130000"/>
                </a:srgbClr>
              </a:gs>
              <a:gs pos="100000">
                <a:srgbClr val="000000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209" name="Oval 208"/>
          <p:cNvSpPr/>
          <p:nvPr/>
        </p:nvSpPr>
        <p:spPr>
          <a:xfrm>
            <a:off x="2324300" y="1419593"/>
            <a:ext cx="129038" cy="117307"/>
          </a:xfrm>
          <a:prstGeom prst="ellipse">
            <a:avLst/>
          </a:prstGeom>
          <a:gradFill rotWithShape="1">
            <a:gsLst>
              <a:gs pos="0">
                <a:srgbClr val="000000">
                  <a:shade val="51000"/>
                  <a:satMod val="130000"/>
                </a:srgbClr>
              </a:gs>
              <a:gs pos="80000">
                <a:srgbClr val="000000">
                  <a:shade val="93000"/>
                  <a:satMod val="130000"/>
                </a:srgbClr>
              </a:gs>
              <a:gs pos="100000">
                <a:srgbClr val="000000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cxnSp>
        <p:nvCxnSpPr>
          <p:cNvPr id="199" name="Straight Arrow Connector 198"/>
          <p:cNvCxnSpPr/>
          <p:nvPr/>
        </p:nvCxnSpPr>
        <p:spPr>
          <a:xfrm>
            <a:off x="1536700" y="3314700"/>
            <a:ext cx="3007413" cy="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0" name="Isosceles Triangle 189"/>
          <p:cNvSpPr/>
          <p:nvPr/>
        </p:nvSpPr>
        <p:spPr>
          <a:xfrm rot="5400000">
            <a:off x="3909362" y="3199999"/>
            <a:ext cx="229001" cy="229001"/>
          </a:xfrm>
          <a:prstGeom prst="triangle">
            <a:avLst/>
          </a:prstGeom>
          <a:gradFill rotWithShape="1">
            <a:gsLst>
              <a:gs pos="0">
                <a:srgbClr val="000000">
                  <a:shade val="51000"/>
                  <a:satMod val="130000"/>
                </a:srgbClr>
              </a:gs>
              <a:gs pos="80000">
                <a:srgbClr val="000000">
                  <a:shade val="93000"/>
                  <a:satMod val="130000"/>
                </a:srgbClr>
              </a:gs>
              <a:gs pos="100000">
                <a:srgbClr val="000000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195" name="Oval 194"/>
          <p:cNvSpPr/>
          <p:nvPr/>
        </p:nvSpPr>
        <p:spPr>
          <a:xfrm>
            <a:off x="4100062" y="3260692"/>
            <a:ext cx="129038" cy="117307"/>
          </a:xfrm>
          <a:prstGeom prst="ellipse">
            <a:avLst/>
          </a:prstGeom>
          <a:gradFill rotWithShape="1">
            <a:gsLst>
              <a:gs pos="0">
                <a:srgbClr val="000000">
                  <a:shade val="51000"/>
                  <a:satMod val="130000"/>
                </a:srgbClr>
              </a:gs>
              <a:gs pos="80000">
                <a:srgbClr val="000000">
                  <a:shade val="93000"/>
                  <a:satMod val="130000"/>
                </a:srgbClr>
              </a:gs>
              <a:gs pos="100000">
                <a:srgbClr val="000000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3124200" y="1721358"/>
            <a:ext cx="0" cy="1936242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/>
          <p:cNvCxnSpPr/>
          <p:nvPr/>
        </p:nvCxnSpPr>
        <p:spPr>
          <a:xfrm>
            <a:off x="4508500" y="1752600"/>
            <a:ext cx="0" cy="1936242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Bent Arrow 9"/>
          <p:cNvSpPr/>
          <p:nvPr/>
        </p:nvSpPr>
        <p:spPr>
          <a:xfrm rot="5400000" flipV="1">
            <a:off x="307744" y="606657"/>
            <a:ext cx="1316182" cy="712470"/>
          </a:xfrm>
          <a:prstGeom prst="ben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6778004" y="1681524"/>
            <a:ext cx="1454727" cy="92333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</a:rPr>
              <a:t>A:</a:t>
            </a:r>
            <a:r>
              <a:rPr lang="en-US" dirty="0"/>
              <a:t> Add a 1:2 </a:t>
            </a:r>
            <a:r>
              <a:rPr lang="en-US" b="1" dirty="0">
                <a:solidFill>
                  <a:srgbClr val="008000"/>
                </a:solidFill>
              </a:rPr>
              <a:t>decoder</a:t>
            </a:r>
            <a:r>
              <a:rPr lang="en-US" dirty="0"/>
              <a:t> and wire to pick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812165" y="6830275"/>
            <a:ext cx="7519035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</a:rPr>
              <a:t>A: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We control the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larger chip via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17 “address” lines ( &amp; control); </a:t>
            </a:r>
            <a:endParaRPr lang="en-US" sz="2000" kern="0" dirty="0">
              <a:solidFill>
                <a:sysClr val="windowText" lastClr="000000"/>
              </a:solidFill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2000" kern="0" dirty="0">
                <a:solidFill>
                  <a:sysClr val="windowText" lastClr="000000"/>
                </a:solidFill>
              </a:rPr>
              <a:t>A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ddress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offset</a:t>
            </a:r>
            <a:r>
              <a:rPr lang="en-US" sz="2000" kern="0" dirty="0">
                <a:solidFill>
                  <a:sysClr val="windowText" lastClr="000000"/>
                </a:solidFill>
              </a:rPr>
              <a:t> bits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for the smaller memories (A0-A14)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</a:rPr>
              <a:t>Page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</a:rPr>
              <a:t>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</a:rPr>
              <a:t>Selector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(A15, turns on a whole row of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chips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)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 </a:t>
            </a:r>
            <a:r>
              <a:rPr lang="en-US" sz="2000" b="1" kern="0" dirty="0">
                <a:solidFill>
                  <a:srgbClr val="0000FF"/>
                </a:solidFill>
              </a:rPr>
              <a:t>B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yte</a:t>
            </a:r>
            <a:r>
              <a:rPr lang="en-US" sz="2000" b="1" kern="0" dirty="0">
                <a:solidFill>
                  <a:srgbClr val="0000FF"/>
                </a:solidFill>
              </a:rPr>
              <a:t>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Selector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(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A16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here, but typically </a:t>
            </a:r>
            <a:r>
              <a:rPr kumimoji="0" lang="en-US" sz="2000" b="1" i="0" u="none" strike="noStrike" kern="0" cap="none" spc="0" normalizeH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lsb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)  </a:t>
            </a:r>
          </a:p>
        </p:txBody>
      </p:sp>
    </p:spTree>
    <p:extLst>
      <p:ext uri="{BB962C8B-B14F-4D97-AF65-F5344CB8AC3E}">
        <p14:creationId xmlns:p14="http://schemas.microsoft.com/office/powerpoint/2010/main" val="2229342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6" grpId="0" animBg="1"/>
      <p:bldP spid="107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90" grpId="0" animBg="1"/>
      <p:bldP spid="195" grpId="0" animBg="1"/>
      <p:bldP spid="109" grpId="0" animBg="1"/>
      <p:bldP spid="21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5113" y="0"/>
            <a:ext cx="8659812" cy="688975"/>
          </a:xfrm>
        </p:spPr>
        <p:txBody>
          <a:bodyPr/>
          <a:lstStyle/>
          <a:p>
            <a:r>
              <a:rPr lang="en-US" sz="4000" b="1" dirty="0">
                <a:solidFill>
                  <a:srgbClr val="FF0000"/>
                </a:solidFill>
              </a:rPr>
              <a:t>Again:</a:t>
            </a:r>
            <a:r>
              <a:rPr lang="en-US" dirty="0"/>
              <a:t> Decoding the Memory Space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668423"/>
            <a:ext cx="9144000" cy="35542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1800" dirty="0"/>
              <a:t>Design the SRAM (</a:t>
            </a:r>
            <a:r>
              <a:rPr lang="en-US" sz="1800" dirty="0">
                <a:solidFill>
                  <a:srgbClr val="FF6600"/>
                </a:solidFill>
              </a:rPr>
              <a:t>64K</a:t>
            </a:r>
            <a:r>
              <a:rPr lang="en-US" sz="1800" dirty="0"/>
              <a:t> x </a:t>
            </a:r>
            <a:r>
              <a:rPr lang="en-US" sz="1800" dirty="0">
                <a:solidFill>
                  <a:srgbClr val="0000FF"/>
                </a:solidFill>
              </a:rPr>
              <a:t>16</a:t>
            </a:r>
            <a:r>
              <a:rPr lang="en-US" sz="1800" dirty="0"/>
              <a:t>) memory system using 256K bit (</a:t>
            </a:r>
            <a:r>
              <a:rPr lang="en-US" sz="1800" dirty="0">
                <a:solidFill>
                  <a:srgbClr val="FF6600"/>
                </a:solidFill>
              </a:rPr>
              <a:t>32K</a:t>
            </a:r>
            <a:r>
              <a:rPr lang="en-US" sz="1800" dirty="0"/>
              <a:t> x </a:t>
            </a:r>
            <a:r>
              <a:rPr lang="en-US" sz="1800" dirty="0">
                <a:solidFill>
                  <a:srgbClr val="0000FF"/>
                </a:solidFill>
              </a:rPr>
              <a:t>8</a:t>
            </a:r>
            <a:r>
              <a:rPr lang="en-US" sz="1800" dirty="0"/>
              <a:t>) SRAM chips</a:t>
            </a:r>
          </a:p>
          <a:p>
            <a:endParaRPr lang="en-US" sz="1800" dirty="0"/>
          </a:p>
        </p:txBody>
      </p:sp>
      <p:sp>
        <p:nvSpPr>
          <p:cNvPr id="68622" name="Text Box 242"/>
          <p:cNvSpPr txBox="1">
            <a:spLocks noChangeArrowheads="1"/>
          </p:cNvSpPr>
          <p:nvPr/>
        </p:nvSpPr>
        <p:spPr bwMode="auto">
          <a:xfrm>
            <a:off x="8246386" y="3441700"/>
            <a:ext cx="8651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0000"/>
                </a:solidFill>
              </a:rPr>
              <a:t>Data Bus: D0..D15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28600" y="1204119"/>
            <a:ext cx="8046360" cy="4609306"/>
            <a:chOff x="228600" y="1204119"/>
            <a:chExt cx="8046360" cy="4609306"/>
          </a:xfrm>
        </p:grpSpPr>
        <p:grpSp>
          <p:nvGrpSpPr>
            <p:cNvPr id="68612" name="Group 64"/>
            <p:cNvGrpSpPr>
              <a:grpSpLocks/>
            </p:cNvGrpSpPr>
            <p:nvPr/>
          </p:nvGrpSpPr>
          <p:grpSpPr bwMode="auto">
            <a:xfrm>
              <a:off x="4522788" y="1616075"/>
              <a:ext cx="1601787" cy="1938338"/>
              <a:chOff x="1052" y="1581"/>
              <a:chExt cx="1009" cy="1221"/>
            </a:xfrm>
          </p:grpSpPr>
          <p:sp>
            <p:nvSpPr>
              <p:cNvPr id="68854" name="Rectangle 4"/>
              <p:cNvSpPr>
                <a:spLocks noChangeArrowheads="1"/>
              </p:cNvSpPr>
              <p:nvPr/>
            </p:nvSpPr>
            <p:spPr bwMode="auto">
              <a:xfrm>
                <a:off x="1359" y="1632"/>
                <a:ext cx="397" cy="112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55" name="Line 5"/>
              <p:cNvSpPr>
                <a:spLocks noChangeShapeType="1"/>
              </p:cNvSpPr>
              <p:nvPr/>
            </p:nvSpPr>
            <p:spPr bwMode="auto">
              <a:xfrm flipH="1">
                <a:off x="1056" y="1728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56" name="Line 6"/>
              <p:cNvSpPr>
                <a:spLocks noChangeShapeType="1"/>
              </p:cNvSpPr>
              <p:nvPr/>
            </p:nvSpPr>
            <p:spPr bwMode="auto">
              <a:xfrm flipH="1">
                <a:off x="1055" y="1792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57" name="Line 7"/>
              <p:cNvSpPr>
                <a:spLocks noChangeShapeType="1"/>
              </p:cNvSpPr>
              <p:nvPr/>
            </p:nvSpPr>
            <p:spPr bwMode="auto">
              <a:xfrm flipH="1">
                <a:off x="1056" y="1849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58" name="Line 8"/>
              <p:cNvSpPr>
                <a:spLocks noChangeShapeType="1"/>
              </p:cNvSpPr>
              <p:nvPr/>
            </p:nvSpPr>
            <p:spPr bwMode="auto">
              <a:xfrm flipH="1">
                <a:off x="1055" y="1913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59" name="Line 9"/>
              <p:cNvSpPr>
                <a:spLocks noChangeShapeType="1"/>
              </p:cNvSpPr>
              <p:nvPr/>
            </p:nvSpPr>
            <p:spPr bwMode="auto">
              <a:xfrm flipH="1">
                <a:off x="1053" y="1972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60" name="Line 10"/>
              <p:cNvSpPr>
                <a:spLocks noChangeShapeType="1"/>
              </p:cNvSpPr>
              <p:nvPr/>
            </p:nvSpPr>
            <p:spPr bwMode="auto">
              <a:xfrm flipH="1">
                <a:off x="1052" y="2036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61" name="Line 11"/>
              <p:cNvSpPr>
                <a:spLocks noChangeShapeType="1"/>
              </p:cNvSpPr>
              <p:nvPr/>
            </p:nvSpPr>
            <p:spPr bwMode="auto">
              <a:xfrm flipH="1">
                <a:off x="1053" y="2093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62" name="Line 12"/>
              <p:cNvSpPr>
                <a:spLocks noChangeShapeType="1"/>
              </p:cNvSpPr>
              <p:nvPr/>
            </p:nvSpPr>
            <p:spPr bwMode="auto">
              <a:xfrm flipH="1">
                <a:off x="1052" y="2157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63" name="Line 13"/>
              <p:cNvSpPr>
                <a:spLocks noChangeShapeType="1"/>
              </p:cNvSpPr>
              <p:nvPr/>
            </p:nvSpPr>
            <p:spPr bwMode="auto">
              <a:xfrm flipH="1">
                <a:off x="1056" y="2218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64" name="Line 14"/>
              <p:cNvSpPr>
                <a:spLocks noChangeShapeType="1"/>
              </p:cNvSpPr>
              <p:nvPr/>
            </p:nvSpPr>
            <p:spPr bwMode="auto">
              <a:xfrm flipH="1">
                <a:off x="1055" y="2282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65" name="Line 15"/>
              <p:cNvSpPr>
                <a:spLocks noChangeShapeType="1"/>
              </p:cNvSpPr>
              <p:nvPr/>
            </p:nvSpPr>
            <p:spPr bwMode="auto">
              <a:xfrm flipH="1">
                <a:off x="1056" y="2339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66" name="Line 16"/>
              <p:cNvSpPr>
                <a:spLocks noChangeShapeType="1"/>
              </p:cNvSpPr>
              <p:nvPr/>
            </p:nvSpPr>
            <p:spPr bwMode="auto">
              <a:xfrm flipH="1">
                <a:off x="1055" y="2403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67" name="Line 17"/>
              <p:cNvSpPr>
                <a:spLocks noChangeShapeType="1"/>
              </p:cNvSpPr>
              <p:nvPr/>
            </p:nvSpPr>
            <p:spPr bwMode="auto">
              <a:xfrm flipH="1">
                <a:off x="1053" y="2478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68" name="Line 18"/>
              <p:cNvSpPr>
                <a:spLocks noChangeShapeType="1"/>
              </p:cNvSpPr>
              <p:nvPr/>
            </p:nvSpPr>
            <p:spPr bwMode="auto">
              <a:xfrm flipH="1">
                <a:off x="1052" y="2536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69" name="Line 19"/>
              <p:cNvSpPr>
                <a:spLocks noChangeShapeType="1"/>
              </p:cNvSpPr>
              <p:nvPr/>
            </p:nvSpPr>
            <p:spPr bwMode="auto">
              <a:xfrm flipH="1">
                <a:off x="1057" y="2593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70" name="Text Box 21"/>
              <p:cNvSpPr txBox="1">
                <a:spLocks noChangeArrowheads="1"/>
              </p:cNvSpPr>
              <p:nvPr/>
            </p:nvSpPr>
            <p:spPr bwMode="auto">
              <a:xfrm>
                <a:off x="1335" y="1655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A0</a:t>
                </a:r>
              </a:p>
            </p:txBody>
          </p:sp>
          <p:sp>
            <p:nvSpPr>
              <p:cNvPr id="68871" name="Text Box 22"/>
              <p:cNvSpPr txBox="1">
                <a:spLocks noChangeArrowheads="1"/>
              </p:cNvSpPr>
              <p:nvPr/>
            </p:nvSpPr>
            <p:spPr bwMode="auto">
              <a:xfrm>
                <a:off x="1339" y="1716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</a:t>
                </a:r>
              </a:p>
            </p:txBody>
          </p:sp>
          <p:sp>
            <p:nvSpPr>
              <p:cNvPr id="68872" name="Text Box 23"/>
              <p:cNvSpPr txBox="1">
                <a:spLocks noChangeArrowheads="1"/>
              </p:cNvSpPr>
              <p:nvPr/>
            </p:nvSpPr>
            <p:spPr bwMode="auto">
              <a:xfrm>
                <a:off x="1338" y="1782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A2</a:t>
                </a:r>
              </a:p>
            </p:txBody>
          </p:sp>
          <p:sp>
            <p:nvSpPr>
              <p:cNvPr id="68873" name="Text Box 24"/>
              <p:cNvSpPr txBox="1">
                <a:spLocks noChangeArrowheads="1"/>
              </p:cNvSpPr>
              <p:nvPr/>
            </p:nvSpPr>
            <p:spPr bwMode="auto">
              <a:xfrm>
                <a:off x="1339" y="1847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A3</a:t>
                </a:r>
              </a:p>
            </p:txBody>
          </p:sp>
          <p:sp>
            <p:nvSpPr>
              <p:cNvPr id="68874" name="Text Box 25"/>
              <p:cNvSpPr txBox="1">
                <a:spLocks noChangeArrowheads="1"/>
              </p:cNvSpPr>
              <p:nvPr/>
            </p:nvSpPr>
            <p:spPr bwMode="auto">
              <a:xfrm>
                <a:off x="1335" y="1905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A4</a:t>
                </a:r>
              </a:p>
            </p:txBody>
          </p:sp>
          <p:sp>
            <p:nvSpPr>
              <p:cNvPr id="68875" name="Text Box 26"/>
              <p:cNvSpPr txBox="1">
                <a:spLocks noChangeArrowheads="1"/>
              </p:cNvSpPr>
              <p:nvPr/>
            </p:nvSpPr>
            <p:spPr bwMode="auto">
              <a:xfrm>
                <a:off x="1339" y="1966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A5</a:t>
                </a:r>
              </a:p>
            </p:txBody>
          </p:sp>
          <p:sp>
            <p:nvSpPr>
              <p:cNvPr id="68876" name="Text Box 27"/>
              <p:cNvSpPr txBox="1">
                <a:spLocks noChangeArrowheads="1"/>
              </p:cNvSpPr>
              <p:nvPr/>
            </p:nvSpPr>
            <p:spPr bwMode="auto">
              <a:xfrm>
                <a:off x="1338" y="2032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A6</a:t>
                </a:r>
              </a:p>
            </p:txBody>
          </p:sp>
          <p:sp>
            <p:nvSpPr>
              <p:cNvPr id="68877" name="Text Box 28"/>
              <p:cNvSpPr txBox="1">
                <a:spLocks noChangeArrowheads="1"/>
              </p:cNvSpPr>
              <p:nvPr/>
            </p:nvSpPr>
            <p:spPr bwMode="auto">
              <a:xfrm>
                <a:off x="1339" y="2097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A7</a:t>
                </a:r>
              </a:p>
            </p:txBody>
          </p:sp>
          <p:sp>
            <p:nvSpPr>
              <p:cNvPr id="68878" name="Text Box 29"/>
              <p:cNvSpPr txBox="1">
                <a:spLocks noChangeArrowheads="1"/>
              </p:cNvSpPr>
              <p:nvPr/>
            </p:nvSpPr>
            <p:spPr bwMode="auto">
              <a:xfrm>
                <a:off x="1332" y="2154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A8</a:t>
                </a:r>
              </a:p>
            </p:txBody>
          </p:sp>
          <p:sp>
            <p:nvSpPr>
              <p:cNvPr id="68879" name="Text Box 30"/>
              <p:cNvSpPr txBox="1">
                <a:spLocks noChangeArrowheads="1"/>
              </p:cNvSpPr>
              <p:nvPr/>
            </p:nvSpPr>
            <p:spPr bwMode="auto">
              <a:xfrm>
                <a:off x="1336" y="2215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A9</a:t>
                </a:r>
              </a:p>
            </p:txBody>
          </p:sp>
          <p:sp>
            <p:nvSpPr>
              <p:cNvPr id="68880" name="Text Box 31"/>
              <p:cNvSpPr txBox="1">
                <a:spLocks noChangeArrowheads="1"/>
              </p:cNvSpPr>
              <p:nvPr/>
            </p:nvSpPr>
            <p:spPr bwMode="auto">
              <a:xfrm>
                <a:off x="1317" y="2281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A10</a:t>
                </a:r>
              </a:p>
            </p:txBody>
          </p:sp>
          <p:sp>
            <p:nvSpPr>
              <p:cNvPr id="68881" name="Text Box 32"/>
              <p:cNvSpPr txBox="1">
                <a:spLocks noChangeArrowheads="1"/>
              </p:cNvSpPr>
              <p:nvPr/>
            </p:nvSpPr>
            <p:spPr bwMode="auto">
              <a:xfrm>
                <a:off x="1318" y="2346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A11</a:t>
                </a:r>
              </a:p>
            </p:txBody>
          </p:sp>
          <p:sp>
            <p:nvSpPr>
              <p:cNvPr id="68882" name="Text Box 33"/>
              <p:cNvSpPr txBox="1">
                <a:spLocks noChangeArrowheads="1"/>
              </p:cNvSpPr>
              <p:nvPr/>
            </p:nvSpPr>
            <p:spPr bwMode="auto">
              <a:xfrm>
                <a:off x="1314" y="2404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A12</a:t>
                </a:r>
              </a:p>
            </p:txBody>
          </p:sp>
          <p:sp>
            <p:nvSpPr>
              <p:cNvPr id="68883" name="Text Box 34"/>
              <p:cNvSpPr txBox="1">
                <a:spLocks noChangeArrowheads="1"/>
              </p:cNvSpPr>
              <p:nvPr/>
            </p:nvSpPr>
            <p:spPr bwMode="auto">
              <a:xfrm>
                <a:off x="1318" y="2465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A13</a:t>
                </a:r>
              </a:p>
            </p:txBody>
          </p:sp>
          <p:sp>
            <p:nvSpPr>
              <p:cNvPr id="68884" name="Text Box 35"/>
              <p:cNvSpPr txBox="1">
                <a:spLocks noChangeArrowheads="1"/>
              </p:cNvSpPr>
              <p:nvPr/>
            </p:nvSpPr>
            <p:spPr bwMode="auto">
              <a:xfrm>
                <a:off x="1317" y="2531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A14</a:t>
                </a:r>
              </a:p>
            </p:txBody>
          </p:sp>
          <p:sp>
            <p:nvSpPr>
              <p:cNvPr id="68885" name="Line 37"/>
              <p:cNvSpPr>
                <a:spLocks noChangeShapeType="1"/>
              </p:cNvSpPr>
              <p:nvPr/>
            </p:nvSpPr>
            <p:spPr bwMode="auto">
              <a:xfrm flipH="1">
                <a:off x="1756" y="1740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86" name="Line 38"/>
              <p:cNvSpPr>
                <a:spLocks noChangeShapeType="1"/>
              </p:cNvSpPr>
              <p:nvPr/>
            </p:nvSpPr>
            <p:spPr bwMode="auto">
              <a:xfrm flipH="1">
                <a:off x="1759" y="1844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87" name="Line 39"/>
              <p:cNvSpPr>
                <a:spLocks noChangeShapeType="1"/>
              </p:cNvSpPr>
              <p:nvPr/>
            </p:nvSpPr>
            <p:spPr bwMode="auto">
              <a:xfrm flipH="1">
                <a:off x="1757" y="1987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88" name="Line 40"/>
              <p:cNvSpPr>
                <a:spLocks noChangeShapeType="1"/>
              </p:cNvSpPr>
              <p:nvPr/>
            </p:nvSpPr>
            <p:spPr bwMode="auto">
              <a:xfrm flipH="1">
                <a:off x="1756" y="2135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89" name="Line 41"/>
              <p:cNvSpPr>
                <a:spLocks noChangeShapeType="1"/>
              </p:cNvSpPr>
              <p:nvPr/>
            </p:nvSpPr>
            <p:spPr bwMode="auto">
              <a:xfrm flipH="1">
                <a:off x="1754" y="2270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90" name="Line 42"/>
              <p:cNvSpPr>
                <a:spLocks noChangeShapeType="1"/>
              </p:cNvSpPr>
              <p:nvPr/>
            </p:nvSpPr>
            <p:spPr bwMode="auto">
              <a:xfrm flipH="1">
                <a:off x="1756" y="2386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91" name="Line 43"/>
              <p:cNvSpPr>
                <a:spLocks noChangeShapeType="1"/>
              </p:cNvSpPr>
              <p:nvPr/>
            </p:nvSpPr>
            <p:spPr bwMode="auto">
              <a:xfrm flipH="1">
                <a:off x="1761" y="2500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92" name="Line 44"/>
              <p:cNvSpPr>
                <a:spLocks noChangeShapeType="1"/>
              </p:cNvSpPr>
              <p:nvPr/>
            </p:nvSpPr>
            <p:spPr bwMode="auto">
              <a:xfrm flipH="1">
                <a:off x="1752" y="2597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93" name="Text Box 45"/>
              <p:cNvSpPr txBox="1">
                <a:spLocks noChangeArrowheads="1"/>
              </p:cNvSpPr>
              <p:nvPr/>
            </p:nvSpPr>
            <p:spPr bwMode="auto">
              <a:xfrm>
                <a:off x="1599" y="1667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D0</a:t>
                </a:r>
              </a:p>
            </p:txBody>
          </p:sp>
          <p:sp>
            <p:nvSpPr>
              <p:cNvPr id="68894" name="Text Box 46"/>
              <p:cNvSpPr txBox="1">
                <a:spLocks noChangeArrowheads="1"/>
              </p:cNvSpPr>
              <p:nvPr/>
            </p:nvSpPr>
            <p:spPr bwMode="auto">
              <a:xfrm>
                <a:off x="1604" y="1780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D1</a:t>
                </a:r>
              </a:p>
            </p:txBody>
          </p:sp>
          <p:sp>
            <p:nvSpPr>
              <p:cNvPr id="68895" name="Text Box 47"/>
              <p:cNvSpPr txBox="1">
                <a:spLocks noChangeArrowheads="1"/>
              </p:cNvSpPr>
              <p:nvPr/>
            </p:nvSpPr>
            <p:spPr bwMode="auto">
              <a:xfrm>
                <a:off x="1603" y="1919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D2</a:t>
                </a:r>
              </a:p>
            </p:txBody>
          </p:sp>
          <p:sp>
            <p:nvSpPr>
              <p:cNvPr id="68896" name="Text Box 48"/>
              <p:cNvSpPr txBox="1">
                <a:spLocks noChangeArrowheads="1"/>
              </p:cNvSpPr>
              <p:nvPr/>
            </p:nvSpPr>
            <p:spPr bwMode="auto">
              <a:xfrm>
                <a:off x="1600" y="2064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D3</a:t>
                </a:r>
              </a:p>
            </p:txBody>
          </p:sp>
          <p:sp>
            <p:nvSpPr>
              <p:cNvPr id="68897" name="Text Box 49"/>
              <p:cNvSpPr txBox="1">
                <a:spLocks noChangeArrowheads="1"/>
              </p:cNvSpPr>
              <p:nvPr/>
            </p:nvSpPr>
            <p:spPr bwMode="auto">
              <a:xfrm>
                <a:off x="1602" y="2190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D4</a:t>
                </a:r>
              </a:p>
            </p:txBody>
          </p:sp>
          <p:sp>
            <p:nvSpPr>
              <p:cNvPr id="68898" name="Text Box 50"/>
              <p:cNvSpPr txBox="1">
                <a:spLocks noChangeArrowheads="1"/>
              </p:cNvSpPr>
              <p:nvPr/>
            </p:nvSpPr>
            <p:spPr bwMode="auto">
              <a:xfrm>
                <a:off x="1604" y="2321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D5</a:t>
                </a:r>
              </a:p>
            </p:txBody>
          </p:sp>
          <p:sp>
            <p:nvSpPr>
              <p:cNvPr id="68899" name="Text Box 51"/>
              <p:cNvSpPr txBox="1">
                <a:spLocks noChangeArrowheads="1"/>
              </p:cNvSpPr>
              <p:nvPr/>
            </p:nvSpPr>
            <p:spPr bwMode="auto">
              <a:xfrm>
                <a:off x="1602" y="2431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D6</a:t>
                </a:r>
              </a:p>
            </p:txBody>
          </p:sp>
          <p:sp>
            <p:nvSpPr>
              <p:cNvPr id="68900" name="Text Box 52"/>
              <p:cNvSpPr txBox="1">
                <a:spLocks noChangeArrowheads="1"/>
              </p:cNvSpPr>
              <p:nvPr/>
            </p:nvSpPr>
            <p:spPr bwMode="auto">
              <a:xfrm>
                <a:off x="1602" y="2534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D7</a:t>
                </a:r>
              </a:p>
            </p:txBody>
          </p:sp>
          <p:sp>
            <p:nvSpPr>
              <p:cNvPr id="68901" name="Oval 53"/>
              <p:cNvSpPr>
                <a:spLocks noChangeArrowheads="1"/>
              </p:cNvSpPr>
              <p:nvPr/>
            </p:nvSpPr>
            <p:spPr bwMode="auto">
              <a:xfrm>
                <a:off x="1463" y="2755"/>
                <a:ext cx="48" cy="4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902" name="Oval 54"/>
              <p:cNvSpPr>
                <a:spLocks noChangeArrowheads="1"/>
              </p:cNvSpPr>
              <p:nvPr/>
            </p:nvSpPr>
            <p:spPr bwMode="auto">
              <a:xfrm>
                <a:off x="1613" y="2752"/>
                <a:ext cx="48" cy="4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903" name="Oval 56"/>
              <p:cNvSpPr>
                <a:spLocks noChangeArrowheads="1"/>
              </p:cNvSpPr>
              <p:nvPr/>
            </p:nvSpPr>
            <p:spPr bwMode="auto">
              <a:xfrm>
                <a:off x="1534" y="1581"/>
                <a:ext cx="48" cy="4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904" name="Text Box 57"/>
              <p:cNvSpPr txBox="1">
                <a:spLocks noChangeArrowheads="1"/>
              </p:cNvSpPr>
              <p:nvPr/>
            </p:nvSpPr>
            <p:spPr bwMode="auto">
              <a:xfrm>
                <a:off x="1383" y="2643"/>
                <a:ext cx="209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OE</a:t>
                </a:r>
              </a:p>
            </p:txBody>
          </p:sp>
          <p:sp>
            <p:nvSpPr>
              <p:cNvPr id="68905" name="Line 58"/>
              <p:cNvSpPr>
                <a:spLocks noChangeShapeType="1"/>
              </p:cNvSpPr>
              <p:nvPr/>
            </p:nvSpPr>
            <p:spPr bwMode="auto">
              <a:xfrm>
                <a:off x="1450" y="2669"/>
                <a:ext cx="7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906" name="Text Box 59"/>
              <p:cNvSpPr txBox="1">
                <a:spLocks noChangeArrowheads="1"/>
              </p:cNvSpPr>
              <p:nvPr/>
            </p:nvSpPr>
            <p:spPr bwMode="auto">
              <a:xfrm>
                <a:off x="1529" y="2642"/>
                <a:ext cx="205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CE</a:t>
                </a:r>
              </a:p>
            </p:txBody>
          </p:sp>
          <p:sp>
            <p:nvSpPr>
              <p:cNvPr id="68907" name="Line 60"/>
              <p:cNvSpPr>
                <a:spLocks noChangeShapeType="1"/>
              </p:cNvSpPr>
              <p:nvPr/>
            </p:nvSpPr>
            <p:spPr bwMode="auto">
              <a:xfrm>
                <a:off x="1594" y="2668"/>
                <a:ext cx="7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908" name="Text Box 62"/>
              <p:cNvSpPr txBox="1">
                <a:spLocks noChangeArrowheads="1"/>
              </p:cNvSpPr>
              <p:nvPr/>
            </p:nvSpPr>
            <p:spPr bwMode="auto">
              <a:xfrm>
                <a:off x="1475" y="1625"/>
                <a:ext cx="176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W</a:t>
                </a:r>
              </a:p>
            </p:txBody>
          </p:sp>
          <p:sp>
            <p:nvSpPr>
              <p:cNvPr id="68909" name="Line 63"/>
              <p:cNvSpPr>
                <a:spLocks noChangeShapeType="1"/>
              </p:cNvSpPr>
              <p:nvPr/>
            </p:nvSpPr>
            <p:spPr bwMode="auto">
              <a:xfrm>
                <a:off x="1527" y="1655"/>
                <a:ext cx="7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</p:grpSp>
        <p:grpSp>
          <p:nvGrpSpPr>
            <p:cNvPr id="68613" name="Group 65"/>
            <p:cNvGrpSpPr>
              <a:grpSpLocks/>
            </p:cNvGrpSpPr>
            <p:nvPr/>
          </p:nvGrpSpPr>
          <p:grpSpPr bwMode="auto">
            <a:xfrm>
              <a:off x="6524625" y="1606550"/>
              <a:ext cx="1601788" cy="1938338"/>
              <a:chOff x="1052" y="1581"/>
              <a:chExt cx="1009" cy="1221"/>
            </a:xfrm>
          </p:grpSpPr>
          <p:sp>
            <p:nvSpPr>
              <p:cNvPr id="68798" name="Rectangle 66"/>
              <p:cNvSpPr>
                <a:spLocks noChangeArrowheads="1"/>
              </p:cNvSpPr>
              <p:nvPr/>
            </p:nvSpPr>
            <p:spPr bwMode="auto">
              <a:xfrm>
                <a:off x="1359" y="1632"/>
                <a:ext cx="397" cy="112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99" name="Line 67"/>
              <p:cNvSpPr>
                <a:spLocks noChangeShapeType="1"/>
              </p:cNvSpPr>
              <p:nvPr/>
            </p:nvSpPr>
            <p:spPr bwMode="auto">
              <a:xfrm flipH="1">
                <a:off x="1056" y="1728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00" name="Line 68"/>
              <p:cNvSpPr>
                <a:spLocks noChangeShapeType="1"/>
              </p:cNvSpPr>
              <p:nvPr/>
            </p:nvSpPr>
            <p:spPr bwMode="auto">
              <a:xfrm flipH="1">
                <a:off x="1055" y="1792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01" name="Line 69"/>
              <p:cNvSpPr>
                <a:spLocks noChangeShapeType="1"/>
              </p:cNvSpPr>
              <p:nvPr/>
            </p:nvSpPr>
            <p:spPr bwMode="auto">
              <a:xfrm flipH="1">
                <a:off x="1056" y="1849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02" name="Line 70"/>
              <p:cNvSpPr>
                <a:spLocks noChangeShapeType="1"/>
              </p:cNvSpPr>
              <p:nvPr/>
            </p:nvSpPr>
            <p:spPr bwMode="auto">
              <a:xfrm flipH="1">
                <a:off x="1055" y="1913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03" name="Line 71"/>
              <p:cNvSpPr>
                <a:spLocks noChangeShapeType="1"/>
              </p:cNvSpPr>
              <p:nvPr/>
            </p:nvSpPr>
            <p:spPr bwMode="auto">
              <a:xfrm flipH="1">
                <a:off x="1053" y="1972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04" name="Line 72"/>
              <p:cNvSpPr>
                <a:spLocks noChangeShapeType="1"/>
              </p:cNvSpPr>
              <p:nvPr/>
            </p:nvSpPr>
            <p:spPr bwMode="auto">
              <a:xfrm flipH="1">
                <a:off x="1052" y="2036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05" name="Line 73"/>
              <p:cNvSpPr>
                <a:spLocks noChangeShapeType="1"/>
              </p:cNvSpPr>
              <p:nvPr/>
            </p:nvSpPr>
            <p:spPr bwMode="auto">
              <a:xfrm flipH="1">
                <a:off x="1053" y="2093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06" name="Line 74"/>
              <p:cNvSpPr>
                <a:spLocks noChangeShapeType="1"/>
              </p:cNvSpPr>
              <p:nvPr/>
            </p:nvSpPr>
            <p:spPr bwMode="auto">
              <a:xfrm flipH="1">
                <a:off x="1052" y="2157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07" name="Line 75"/>
              <p:cNvSpPr>
                <a:spLocks noChangeShapeType="1"/>
              </p:cNvSpPr>
              <p:nvPr/>
            </p:nvSpPr>
            <p:spPr bwMode="auto">
              <a:xfrm flipH="1">
                <a:off x="1056" y="2218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08" name="Line 76"/>
              <p:cNvSpPr>
                <a:spLocks noChangeShapeType="1"/>
              </p:cNvSpPr>
              <p:nvPr/>
            </p:nvSpPr>
            <p:spPr bwMode="auto">
              <a:xfrm flipH="1">
                <a:off x="1055" y="2282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09" name="Line 77"/>
              <p:cNvSpPr>
                <a:spLocks noChangeShapeType="1"/>
              </p:cNvSpPr>
              <p:nvPr/>
            </p:nvSpPr>
            <p:spPr bwMode="auto">
              <a:xfrm flipH="1">
                <a:off x="1056" y="2339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10" name="Line 78"/>
              <p:cNvSpPr>
                <a:spLocks noChangeShapeType="1"/>
              </p:cNvSpPr>
              <p:nvPr/>
            </p:nvSpPr>
            <p:spPr bwMode="auto">
              <a:xfrm flipH="1">
                <a:off x="1055" y="2403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11" name="Line 79"/>
              <p:cNvSpPr>
                <a:spLocks noChangeShapeType="1"/>
              </p:cNvSpPr>
              <p:nvPr/>
            </p:nvSpPr>
            <p:spPr bwMode="auto">
              <a:xfrm flipH="1">
                <a:off x="1053" y="2478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12" name="Line 80"/>
              <p:cNvSpPr>
                <a:spLocks noChangeShapeType="1"/>
              </p:cNvSpPr>
              <p:nvPr/>
            </p:nvSpPr>
            <p:spPr bwMode="auto">
              <a:xfrm flipH="1">
                <a:off x="1052" y="2536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13" name="Line 81"/>
              <p:cNvSpPr>
                <a:spLocks noChangeShapeType="1"/>
              </p:cNvSpPr>
              <p:nvPr/>
            </p:nvSpPr>
            <p:spPr bwMode="auto">
              <a:xfrm flipH="1">
                <a:off x="1057" y="2593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14" name="Text Box 82"/>
              <p:cNvSpPr txBox="1">
                <a:spLocks noChangeArrowheads="1"/>
              </p:cNvSpPr>
              <p:nvPr/>
            </p:nvSpPr>
            <p:spPr bwMode="auto">
              <a:xfrm>
                <a:off x="1335" y="1655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A0</a:t>
                </a:r>
              </a:p>
            </p:txBody>
          </p:sp>
          <p:sp>
            <p:nvSpPr>
              <p:cNvPr id="68815" name="Text Box 83"/>
              <p:cNvSpPr txBox="1">
                <a:spLocks noChangeArrowheads="1"/>
              </p:cNvSpPr>
              <p:nvPr/>
            </p:nvSpPr>
            <p:spPr bwMode="auto">
              <a:xfrm>
                <a:off x="1339" y="1716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</a:t>
                </a:r>
              </a:p>
            </p:txBody>
          </p:sp>
          <p:sp>
            <p:nvSpPr>
              <p:cNvPr id="68816" name="Text Box 84"/>
              <p:cNvSpPr txBox="1">
                <a:spLocks noChangeArrowheads="1"/>
              </p:cNvSpPr>
              <p:nvPr/>
            </p:nvSpPr>
            <p:spPr bwMode="auto">
              <a:xfrm>
                <a:off x="1338" y="1782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A2</a:t>
                </a:r>
              </a:p>
            </p:txBody>
          </p:sp>
          <p:sp>
            <p:nvSpPr>
              <p:cNvPr id="68817" name="Text Box 85"/>
              <p:cNvSpPr txBox="1">
                <a:spLocks noChangeArrowheads="1"/>
              </p:cNvSpPr>
              <p:nvPr/>
            </p:nvSpPr>
            <p:spPr bwMode="auto">
              <a:xfrm>
                <a:off x="1339" y="1847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A3</a:t>
                </a:r>
              </a:p>
            </p:txBody>
          </p:sp>
          <p:sp>
            <p:nvSpPr>
              <p:cNvPr id="68818" name="Text Box 86"/>
              <p:cNvSpPr txBox="1">
                <a:spLocks noChangeArrowheads="1"/>
              </p:cNvSpPr>
              <p:nvPr/>
            </p:nvSpPr>
            <p:spPr bwMode="auto">
              <a:xfrm>
                <a:off x="1335" y="1905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A4</a:t>
                </a:r>
              </a:p>
            </p:txBody>
          </p:sp>
          <p:sp>
            <p:nvSpPr>
              <p:cNvPr id="68819" name="Text Box 87"/>
              <p:cNvSpPr txBox="1">
                <a:spLocks noChangeArrowheads="1"/>
              </p:cNvSpPr>
              <p:nvPr/>
            </p:nvSpPr>
            <p:spPr bwMode="auto">
              <a:xfrm>
                <a:off x="1339" y="1966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A5</a:t>
                </a:r>
              </a:p>
            </p:txBody>
          </p:sp>
          <p:sp>
            <p:nvSpPr>
              <p:cNvPr id="68820" name="Text Box 88"/>
              <p:cNvSpPr txBox="1">
                <a:spLocks noChangeArrowheads="1"/>
              </p:cNvSpPr>
              <p:nvPr/>
            </p:nvSpPr>
            <p:spPr bwMode="auto">
              <a:xfrm>
                <a:off x="1338" y="2032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A6</a:t>
                </a:r>
              </a:p>
            </p:txBody>
          </p:sp>
          <p:sp>
            <p:nvSpPr>
              <p:cNvPr id="68821" name="Text Box 89"/>
              <p:cNvSpPr txBox="1">
                <a:spLocks noChangeArrowheads="1"/>
              </p:cNvSpPr>
              <p:nvPr/>
            </p:nvSpPr>
            <p:spPr bwMode="auto">
              <a:xfrm>
                <a:off x="1339" y="2097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A7</a:t>
                </a:r>
              </a:p>
            </p:txBody>
          </p:sp>
          <p:sp>
            <p:nvSpPr>
              <p:cNvPr id="68822" name="Text Box 90"/>
              <p:cNvSpPr txBox="1">
                <a:spLocks noChangeArrowheads="1"/>
              </p:cNvSpPr>
              <p:nvPr/>
            </p:nvSpPr>
            <p:spPr bwMode="auto">
              <a:xfrm>
                <a:off x="1332" y="2154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A8</a:t>
                </a:r>
              </a:p>
            </p:txBody>
          </p:sp>
          <p:sp>
            <p:nvSpPr>
              <p:cNvPr id="68823" name="Text Box 91"/>
              <p:cNvSpPr txBox="1">
                <a:spLocks noChangeArrowheads="1"/>
              </p:cNvSpPr>
              <p:nvPr/>
            </p:nvSpPr>
            <p:spPr bwMode="auto">
              <a:xfrm>
                <a:off x="1336" y="2215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A9</a:t>
                </a:r>
              </a:p>
            </p:txBody>
          </p:sp>
          <p:sp>
            <p:nvSpPr>
              <p:cNvPr id="68824" name="Text Box 92"/>
              <p:cNvSpPr txBox="1">
                <a:spLocks noChangeArrowheads="1"/>
              </p:cNvSpPr>
              <p:nvPr/>
            </p:nvSpPr>
            <p:spPr bwMode="auto">
              <a:xfrm>
                <a:off x="1317" y="2281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A10</a:t>
                </a:r>
              </a:p>
            </p:txBody>
          </p:sp>
          <p:sp>
            <p:nvSpPr>
              <p:cNvPr id="68825" name="Text Box 93"/>
              <p:cNvSpPr txBox="1">
                <a:spLocks noChangeArrowheads="1"/>
              </p:cNvSpPr>
              <p:nvPr/>
            </p:nvSpPr>
            <p:spPr bwMode="auto">
              <a:xfrm>
                <a:off x="1318" y="2346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A11</a:t>
                </a:r>
              </a:p>
            </p:txBody>
          </p:sp>
          <p:sp>
            <p:nvSpPr>
              <p:cNvPr id="68826" name="Text Box 94"/>
              <p:cNvSpPr txBox="1">
                <a:spLocks noChangeArrowheads="1"/>
              </p:cNvSpPr>
              <p:nvPr/>
            </p:nvSpPr>
            <p:spPr bwMode="auto">
              <a:xfrm>
                <a:off x="1314" y="2404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A12</a:t>
                </a:r>
              </a:p>
            </p:txBody>
          </p:sp>
          <p:sp>
            <p:nvSpPr>
              <p:cNvPr id="68827" name="Text Box 95"/>
              <p:cNvSpPr txBox="1">
                <a:spLocks noChangeArrowheads="1"/>
              </p:cNvSpPr>
              <p:nvPr/>
            </p:nvSpPr>
            <p:spPr bwMode="auto">
              <a:xfrm>
                <a:off x="1318" y="2465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A13</a:t>
                </a:r>
              </a:p>
            </p:txBody>
          </p:sp>
          <p:sp>
            <p:nvSpPr>
              <p:cNvPr id="68828" name="Text Box 96"/>
              <p:cNvSpPr txBox="1">
                <a:spLocks noChangeArrowheads="1"/>
              </p:cNvSpPr>
              <p:nvPr/>
            </p:nvSpPr>
            <p:spPr bwMode="auto">
              <a:xfrm>
                <a:off x="1317" y="2531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A14</a:t>
                </a:r>
              </a:p>
            </p:txBody>
          </p:sp>
          <p:sp>
            <p:nvSpPr>
              <p:cNvPr id="68829" name="Line 97"/>
              <p:cNvSpPr>
                <a:spLocks noChangeShapeType="1"/>
              </p:cNvSpPr>
              <p:nvPr/>
            </p:nvSpPr>
            <p:spPr bwMode="auto">
              <a:xfrm flipH="1">
                <a:off x="1756" y="1740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30" name="Line 98"/>
              <p:cNvSpPr>
                <a:spLocks noChangeShapeType="1"/>
              </p:cNvSpPr>
              <p:nvPr/>
            </p:nvSpPr>
            <p:spPr bwMode="auto">
              <a:xfrm flipH="1">
                <a:off x="1759" y="1844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31" name="Line 99"/>
              <p:cNvSpPr>
                <a:spLocks noChangeShapeType="1"/>
              </p:cNvSpPr>
              <p:nvPr/>
            </p:nvSpPr>
            <p:spPr bwMode="auto">
              <a:xfrm flipH="1">
                <a:off x="1757" y="1987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32" name="Line 100"/>
              <p:cNvSpPr>
                <a:spLocks noChangeShapeType="1"/>
              </p:cNvSpPr>
              <p:nvPr/>
            </p:nvSpPr>
            <p:spPr bwMode="auto">
              <a:xfrm flipH="1">
                <a:off x="1756" y="2135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33" name="Line 101"/>
              <p:cNvSpPr>
                <a:spLocks noChangeShapeType="1"/>
              </p:cNvSpPr>
              <p:nvPr/>
            </p:nvSpPr>
            <p:spPr bwMode="auto">
              <a:xfrm flipH="1">
                <a:off x="1754" y="2270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34" name="Line 102"/>
              <p:cNvSpPr>
                <a:spLocks noChangeShapeType="1"/>
              </p:cNvSpPr>
              <p:nvPr/>
            </p:nvSpPr>
            <p:spPr bwMode="auto">
              <a:xfrm flipH="1">
                <a:off x="1756" y="2386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35" name="Line 103"/>
              <p:cNvSpPr>
                <a:spLocks noChangeShapeType="1"/>
              </p:cNvSpPr>
              <p:nvPr/>
            </p:nvSpPr>
            <p:spPr bwMode="auto">
              <a:xfrm flipH="1">
                <a:off x="1761" y="2500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36" name="Line 104"/>
              <p:cNvSpPr>
                <a:spLocks noChangeShapeType="1"/>
              </p:cNvSpPr>
              <p:nvPr/>
            </p:nvSpPr>
            <p:spPr bwMode="auto">
              <a:xfrm flipH="1">
                <a:off x="1752" y="2597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37" name="Text Box 105"/>
              <p:cNvSpPr txBox="1">
                <a:spLocks noChangeArrowheads="1"/>
              </p:cNvSpPr>
              <p:nvPr/>
            </p:nvSpPr>
            <p:spPr bwMode="auto">
              <a:xfrm>
                <a:off x="1599" y="1667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D0</a:t>
                </a:r>
              </a:p>
            </p:txBody>
          </p:sp>
          <p:sp>
            <p:nvSpPr>
              <p:cNvPr id="68838" name="Text Box 106"/>
              <p:cNvSpPr txBox="1">
                <a:spLocks noChangeArrowheads="1"/>
              </p:cNvSpPr>
              <p:nvPr/>
            </p:nvSpPr>
            <p:spPr bwMode="auto">
              <a:xfrm>
                <a:off x="1604" y="1780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D1</a:t>
                </a:r>
              </a:p>
            </p:txBody>
          </p:sp>
          <p:sp>
            <p:nvSpPr>
              <p:cNvPr id="68839" name="Text Box 107"/>
              <p:cNvSpPr txBox="1">
                <a:spLocks noChangeArrowheads="1"/>
              </p:cNvSpPr>
              <p:nvPr/>
            </p:nvSpPr>
            <p:spPr bwMode="auto">
              <a:xfrm>
                <a:off x="1603" y="1919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D2</a:t>
                </a:r>
              </a:p>
            </p:txBody>
          </p:sp>
          <p:sp>
            <p:nvSpPr>
              <p:cNvPr id="68840" name="Text Box 108"/>
              <p:cNvSpPr txBox="1">
                <a:spLocks noChangeArrowheads="1"/>
              </p:cNvSpPr>
              <p:nvPr/>
            </p:nvSpPr>
            <p:spPr bwMode="auto">
              <a:xfrm>
                <a:off x="1600" y="2064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D3</a:t>
                </a:r>
              </a:p>
            </p:txBody>
          </p:sp>
          <p:sp>
            <p:nvSpPr>
              <p:cNvPr id="68841" name="Text Box 109"/>
              <p:cNvSpPr txBox="1">
                <a:spLocks noChangeArrowheads="1"/>
              </p:cNvSpPr>
              <p:nvPr/>
            </p:nvSpPr>
            <p:spPr bwMode="auto">
              <a:xfrm>
                <a:off x="1602" y="2190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D4</a:t>
                </a:r>
              </a:p>
            </p:txBody>
          </p:sp>
          <p:sp>
            <p:nvSpPr>
              <p:cNvPr id="68842" name="Text Box 110"/>
              <p:cNvSpPr txBox="1">
                <a:spLocks noChangeArrowheads="1"/>
              </p:cNvSpPr>
              <p:nvPr/>
            </p:nvSpPr>
            <p:spPr bwMode="auto">
              <a:xfrm>
                <a:off x="1604" y="2321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D5</a:t>
                </a:r>
              </a:p>
            </p:txBody>
          </p:sp>
          <p:sp>
            <p:nvSpPr>
              <p:cNvPr id="68843" name="Text Box 111"/>
              <p:cNvSpPr txBox="1">
                <a:spLocks noChangeArrowheads="1"/>
              </p:cNvSpPr>
              <p:nvPr/>
            </p:nvSpPr>
            <p:spPr bwMode="auto">
              <a:xfrm>
                <a:off x="1602" y="2431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D6</a:t>
                </a:r>
              </a:p>
            </p:txBody>
          </p:sp>
          <p:sp>
            <p:nvSpPr>
              <p:cNvPr id="68844" name="Text Box 112"/>
              <p:cNvSpPr txBox="1">
                <a:spLocks noChangeArrowheads="1"/>
              </p:cNvSpPr>
              <p:nvPr/>
            </p:nvSpPr>
            <p:spPr bwMode="auto">
              <a:xfrm>
                <a:off x="1602" y="2534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D7</a:t>
                </a:r>
              </a:p>
            </p:txBody>
          </p:sp>
          <p:sp>
            <p:nvSpPr>
              <p:cNvPr id="68845" name="Oval 113"/>
              <p:cNvSpPr>
                <a:spLocks noChangeArrowheads="1"/>
              </p:cNvSpPr>
              <p:nvPr/>
            </p:nvSpPr>
            <p:spPr bwMode="auto">
              <a:xfrm>
                <a:off x="1463" y="2755"/>
                <a:ext cx="48" cy="4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46" name="Oval 114"/>
              <p:cNvSpPr>
                <a:spLocks noChangeArrowheads="1"/>
              </p:cNvSpPr>
              <p:nvPr/>
            </p:nvSpPr>
            <p:spPr bwMode="auto">
              <a:xfrm>
                <a:off x="1613" y="2752"/>
                <a:ext cx="48" cy="4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47" name="Oval 115"/>
              <p:cNvSpPr>
                <a:spLocks noChangeArrowheads="1"/>
              </p:cNvSpPr>
              <p:nvPr/>
            </p:nvSpPr>
            <p:spPr bwMode="auto">
              <a:xfrm>
                <a:off x="1534" y="1581"/>
                <a:ext cx="48" cy="4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48" name="Text Box 116"/>
              <p:cNvSpPr txBox="1">
                <a:spLocks noChangeArrowheads="1"/>
              </p:cNvSpPr>
              <p:nvPr/>
            </p:nvSpPr>
            <p:spPr bwMode="auto">
              <a:xfrm>
                <a:off x="1383" y="2643"/>
                <a:ext cx="209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OE</a:t>
                </a:r>
              </a:p>
            </p:txBody>
          </p:sp>
          <p:sp>
            <p:nvSpPr>
              <p:cNvPr id="68849" name="Line 117"/>
              <p:cNvSpPr>
                <a:spLocks noChangeShapeType="1"/>
              </p:cNvSpPr>
              <p:nvPr/>
            </p:nvSpPr>
            <p:spPr bwMode="auto">
              <a:xfrm>
                <a:off x="1450" y="2669"/>
                <a:ext cx="7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50" name="Text Box 118"/>
              <p:cNvSpPr txBox="1">
                <a:spLocks noChangeArrowheads="1"/>
              </p:cNvSpPr>
              <p:nvPr/>
            </p:nvSpPr>
            <p:spPr bwMode="auto">
              <a:xfrm>
                <a:off x="1529" y="2642"/>
                <a:ext cx="205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CE</a:t>
                </a:r>
              </a:p>
            </p:txBody>
          </p:sp>
          <p:sp>
            <p:nvSpPr>
              <p:cNvPr id="68851" name="Line 119"/>
              <p:cNvSpPr>
                <a:spLocks noChangeShapeType="1"/>
              </p:cNvSpPr>
              <p:nvPr/>
            </p:nvSpPr>
            <p:spPr bwMode="auto">
              <a:xfrm>
                <a:off x="1594" y="2668"/>
                <a:ext cx="7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52" name="Text Box 120"/>
              <p:cNvSpPr txBox="1">
                <a:spLocks noChangeArrowheads="1"/>
              </p:cNvSpPr>
              <p:nvPr/>
            </p:nvSpPr>
            <p:spPr bwMode="auto">
              <a:xfrm>
                <a:off x="1475" y="1625"/>
                <a:ext cx="176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W</a:t>
                </a:r>
              </a:p>
            </p:txBody>
          </p:sp>
          <p:sp>
            <p:nvSpPr>
              <p:cNvPr id="68853" name="Line 121"/>
              <p:cNvSpPr>
                <a:spLocks noChangeShapeType="1"/>
              </p:cNvSpPr>
              <p:nvPr/>
            </p:nvSpPr>
            <p:spPr bwMode="auto">
              <a:xfrm>
                <a:off x="1527" y="1655"/>
                <a:ext cx="7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</p:grpSp>
        <p:grpSp>
          <p:nvGrpSpPr>
            <p:cNvPr id="68614" name="Group 122"/>
            <p:cNvGrpSpPr>
              <a:grpSpLocks/>
            </p:cNvGrpSpPr>
            <p:nvPr/>
          </p:nvGrpSpPr>
          <p:grpSpPr bwMode="auto">
            <a:xfrm>
              <a:off x="4532313" y="3800475"/>
              <a:ext cx="1601787" cy="1938338"/>
              <a:chOff x="1052" y="1581"/>
              <a:chExt cx="1009" cy="1221"/>
            </a:xfrm>
          </p:grpSpPr>
          <p:sp>
            <p:nvSpPr>
              <p:cNvPr id="68742" name="Rectangle 123"/>
              <p:cNvSpPr>
                <a:spLocks noChangeArrowheads="1"/>
              </p:cNvSpPr>
              <p:nvPr/>
            </p:nvSpPr>
            <p:spPr bwMode="auto">
              <a:xfrm>
                <a:off x="1359" y="1632"/>
                <a:ext cx="397" cy="112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43" name="Line 124"/>
              <p:cNvSpPr>
                <a:spLocks noChangeShapeType="1"/>
              </p:cNvSpPr>
              <p:nvPr/>
            </p:nvSpPr>
            <p:spPr bwMode="auto">
              <a:xfrm flipH="1">
                <a:off x="1056" y="1728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44" name="Line 125"/>
              <p:cNvSpPr>
                <a:spLocks noChangeShapeType="1"/>
              </p:cNvSpPr>
              <p:nvPr/>
            </p:nvSpPr>
            <p:spPr bwMode="auto">
              <a:xfrm flipH="1">
                <a:off x="1055" y="1792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45" name="Line 126"/>
              <p:cNvSpPr>
                <a:spLocks noChangeShapeType="1"/>
              </p:cNvSpPr>
              <p:nvPr/>
            </p:nvSpPr>
            <p:spPr bwMode="auto">
              <a:xfrm flipH="1">
                <a:off x="1056" y="1849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46" name="Line 127"/>
              <p:cNvSpPr>
                <a:spLocks noChangeShapeType="1"/>
              </p:cNvSpPr>
              <p:nvPr/>
            </p:nvSpPr>
            <p:spPr bwMode="auto">
              <a:xfrm flipH="1">
                <a:off x="1055" y="1913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47" name="Line 128"/>
              <p:cNvSpPr>
                <a:spLocks noChangeShapeType="1"/>
              </p:cNvSpPr>
              <p:nvPr/>
            </p:nvSpPr>
            <p:spPr bwMode="auto">
              <a:xfrm flipH="1">
                <a:off x="1053" y="1972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48" name="Line 129"/>
              <p:cNvSpPr>
                <a:spLocks noChangeShapeType="1"/>
              </p:cNvSpPr>
              <p:nvPr/>
            </p:nvSpPr>
            <p:spPr bwMode="auto">
              <a:xfrm flipH="1">
                <a:off x="1052" y="2036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49" name="Line 130"/>
              <p:cNvSpPr>
                <a:spLocks noChangeShapeType="1"/>
              </p:cNvSpPr>
              <p:nvPr/>
            </p:nvSpPr>
            <p:spPr bwMode="auto">
              <a:xfrm flipH="1">
                <a:off x="1053" y="2093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50" name="Line 131"/>
              <p:cNvSpPr>
                <a:spLocks noChangeShapeType="1"/>
              </p:cNvSpPr>
              <p:nvPr/>
            </p:nvSpPr>
            <p:spPr bwMode="auto">
              <a:xfrm flipH="1">
                <a:off x="1052" y="2157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51" name="Line 132"/>
              <p:cNvSpPr>
                <a:spLocks noChangeShapeType="1"/>
              </p:cNvSpPr>
              <p:nvPr/>
            </p:nvSpPr>
            <p:spPr bwMode="auto">
              <a:xfrm flipH="1">
                <a:off x="1056" y="2218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52" name="Line 133"/>
              <p:cNvSpPr>
                <a:spLocks noChangeShapeType="1"/>
              </p:cNvSpPr>
              <p:nvPr/>
            </p:nvSpPr>
            <p:spPr bwMode="auto">
              <a:xfrm flipH="1">
                <a:off x="1055" y="2282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53" name="Line 134"/>
              <p:cNvSpPr>
                <a:spLocks noChangeShapeType="1"/>
              </p:cNvSpPr>
              <p:nvPr/>
            </p:nvSpPr>
            <p:spPr bwMode="auto">
              <a:xfrm flipH="1">
                <a:off x="1056" y="2339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54" name="Line 135"/>
              <p:cNvSpPr>
                <a:spLocks noChangeShapeType="1"/>
              </p:cNvSpPr>
              <p:nvPr/>
            </p:nvSpPr>
            <p:spPr bwMode="auto">
              <a:xfrm flipH="1">
                <a:off x="1055" y="2403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55" name="Line 136"/>
              <p:cNvSpPr>
                <a:spLocks noChangeShapeType="1"/>
              </p:cNvSpPr>
              <p:nvPr/>
            </p:nvSpPr>
            <p:spPr bwMode="auto">
              <a:xfrm flipH="1">
                <a:off x="1053" y="2478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56" name="Line 137"/>
              <p:cNvSpPr>
                <a:spLocks noChangeShapeType="1"/>
              </p:cNvSpPr>
              <p:nvPr/>
            </p:nvSpPr>
            <p:spPr bwMode="auto">
              <a:xfrm flipH="1">
                <a:off x="1052" y="2536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57" name="Line 138"/>
              <p:cNvSpPr>
                <a:spLocks noChangeShapeType="1"/>
              </p:cNvSpPr>
              <p:nvPr/>
            </p:nvSpPr>
            <p:spPr bwMode="auto">
              <a:xfrm flipH="1">
                <a:off x="1057" y="2593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58" name="Text Box 139"/>
              <p:cNvSpPr txBox="1">
                <a:spLocks noChangeArrowheads="1"/>
              </p:cNvSpPr>
              <p:nvPr/>
            </p:nvSpPr>
            <p:spPr bwMode="auto">
              <a:xfrm>
                <a:off x="1335" y="1655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A0</a:t>
                </a:r>
              </a:p>
            </p:txBody>
          </p:sp>
          <p:sp>
            <p:nvSpPr>
              <p:cNvPr id="68759" name="Text Box 140"/>
              <p:cNvSpPr txBox="1">
                <a:spLocks noChangeArrowheads="1"/>
              </p:cNvSpPr>
              <p:nvPr/>
            </p:nvSpPr>
            <p:spPr bwMode="auto">
              <a:xfrm>
                <a:off x="1339" y="1716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</a:t>
                </a:r>
              </a:p>
            </p:txBody>
          </p:sp>
          <p:sp>
            <p:nvSpPr>
              <p:cNvPr id="68760" name="Text Box 141"/>
              <p:cNvSpPr txBox="1">
                <a:spLocks noChangeArrowheads="1"/>
              </p:cNvSpPr>
              <p:nvPr/>
            </p:nvSpPr>
            <p:spPr bwMode="auto">
              <a:xfrm>
                <a:off x="1338" y="1782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A2</a:t>
                </a:r>
              </a:p>
            </p:txBody>
          </p:sp>
          <p:sp>
            <p:nvSpPr>
              <p:cNvPr id="68761" name="Text Box 142"/>
              <p:cNvSpPr txBox="1">
                <a:spLocks noChangeArrowheads="1"/>
              </p:cNvSpPr>
              <p:nvPr/>
            </p:nvSpPr>
            <p:spPr bwMode="auto">
              <a:xfrm>
                <a:off x="1339" y="1847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A3</a:t>
                </a:r>
              </a:p>
            </p:txBody>
          </p:sp>
          <p:sp>
            <p:nvSpPr>
              <p:cNvPr id="68762" name="Text Box 143"/>
              <p:cNvSpPr txBox="1">
                <a:spLocks noChangeArrowheads="1"/>
              </p:cNvSpPr>
              <p:nvPr/>
            </p:nvSpPr>
            <p:spPr bwMode="auto">
              <a:xfrm>
                <a:off x="1335" y="1905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A4</a:t>
                </a:r>
              </a:p>
            </p:txBody>
          </p:sp>
          <p:sp>
            <p:nvSpPr>
              <p:cNvPr id="68763" name="Text Box 144"/>
              <p:cNvSpPr txBox="1">
                <a:spLocks noChangeArrowheads="1"/>
              </p:cNvSpPr>
              <p:nvPr/>
            </p:nvSpPr>
            <p:spPr bwMode="auto">
              <a:xfrm>
                <a:off x="1339" y="1966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A5</a:t>
                </a:r>
              </a:p>
            </p:txBody>
          </p:sp>
          <p:sp>
            <p:nvSpPr>
              <p:cNvPr id="68764" name="Text Box 145"/>
              <p:cNvSpPr txBox="1">
                <a:spLocks noChangeArrowheads="1"/>
              </p:cNvSpPr>
              <p:nvPr/>
            </p:nvSpPr>
            <p:spPr bwMode="auto">
              <a:xfrm>
                <a:off x="1338" y="2032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A6</a:t>
                </a:r>
              </a:p>
            </p:txBody>
          </p:sp>
          <p:sp>
            <p:nvSpPr>
              <p:cNvPr id="68765" name="Text Box 146"/>
              <p:cNvSpPr txBox="1">
                <a:spLocks noChangeArrowheads="1"/>
              </p:cNvSpPr>
              <p:nvPr/>
            </p:nvSpPr>
            <p:spPr bwMode="auto">
              <a:xfrm>
                <a:off x="1339" y="2097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A7</a:t>
                </a:r>
              </a:p>
            </p:txBody>
          </p:sp>
          <p:sp>
            <p:nvSpPr>
              <p:cNvPr id="68766" name="Text Box 147"/>
              <p:cNvSpPr txBox="1">
                <a:spLocks noChangeArrowheads="1"/>
              </p:cNvSpPr>
              <p:nvPr/>
            </p:nvSpPr>
            <p:spPr bwMode="auto">
              <a:xfrm>
                <a:off x="1332" y="2154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A8</a:t>
                </a:r>
              </a:p>
            </p:txBody>
          </p:sp>
          <p:sp>
            <p:nvSpPr>
              <p:cNvPr id="68767" name="Text Box 148"/>
              <p:cNvSpPr txBox="1">
                <a:spLocks noChangeArrowheads="1"/>
              </p:cNvSpPr>
              <p:nvPr/>
            </p:nvSpPr>
            <p:spPr bwMode="auto">
              <a:xfrm>
                <a:off x="1336" y="2215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A9</a:t>
                </a:r>
              </a:p>
            </p:txBody>
          </p:sp>
          <p:sp>
            <p:nvSpPr>
              <p:cNvPr id="68768" name="Text Box 149"/>
              <p:cNvSpPr txBox="1">
                <a:spLocks noChangeArrowheads="1"/>
              </p:cNvSpPr>
              <p:nvPr/>
            </p:nvSpPr>
            <p:spPr bwMode="auto">
              <a:xfrm>
                <a:off x="1317" y="2281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A10</a:t>
                </a:r>
              </a:p>
            </p:txBody>
          </p:sp>
          <p:sp>
            <p:nvSpPr>
              <p:cNvPr id="68769" name="Text Box 150"/>
              <p:cNvSpPr txBox="1">
                <a:spLocks noChangeArrowheads="1"/>
              </p:cNvSpPr>
              <p:nvPr/>
            </p:nvSpPr>
            <p:spPr bwMode="auto">
              <a:xfrm>
                <a:off x="1318" y="2346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A11</a:t>
                </a:r>
              </a:p>
            </p:txBody>
          </p:sp>
          <p:sp>
            <p:nvSpPr>
              <p:cNvPr id="68770" name="Text Box 151"/>
              <p:cNvSpPr txBox="1">
                <a:spLocks noChangeArrowheads="1"/>
              </p:cNvSpPr>
              <p:nvPr/>
            </p:nvSpPr>
            <p:spPr bwMode="auto">
              <a:xfrm>
                <a:off x="1314" y="2404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A12</a:t>
                </a:r>
              </a:p>
            </p:txBody>
          </p:sp>
          <p:sp>
            <p:nvSpPr>
              <p:cNvPr id="68771" name="Text Box 152"/>
              <p:cNvSpPr txBox="1">
                <a:spLocks noChangeArrowheads="1"/>
              </p:cNvSpPr>
              <p:nvPr/>
            </p:nvSpPr>
            <p:spPr bwMode="auto">
              <a:xfrm>
                <a:off x="1318" y="2465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A13</a:t>
                </a:r>
              </a:p>
            </p:txBody>
          </p:sp>
          <p:sp>
            <p:nvSpPr>
              <p:cNvPr id="68772" name="Text Box 153"/>
              <p:cNvSpPr txBox="1">
                <a:spLocks noChangeArrowheads="1"/>
              </p:cNvSpPr>
              <p:nvPr/>
            </p:nvSpPr>
            <p:spPr bwMode="auto">
              <a:xfrm>
                <a:off x="1317" y="2531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A14</a:t>
                </a:r>
              </a:p>
            </p:txBody>
          </p:sp>
          <p:sp>
            <p:nvSpPr>
              <p:cNvPr id="68773" name="Line 154"/>
              <p:cNvSpPr>
                <a:spLocks noChangeShapeType="1"/>
              </p:cNvSpPr>
              <p:nvPr/>
            </p:nvSpPr>
            <p:spPr bwMode="auto">
              <a:xfrm flipH="1">
                <a:off x="1756" y="1740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74" name="Line 155"/>
              <p:cNvSpPr>
                <a:spLocks noChangeShapeType="1"/>
              </p:cNvSpPr>
              <p:nvPr/>
            </p:nvSpPr>
            <p:spPr bwMode="auto">
              <a:xfrm flipH="1">
                <a:off x="1759" y="1844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75" name="Line 156"/>
              <p:cNvSpPr>
                <a:spLocks noChangeShapeType="1"/>
              </p:cNvSpPr>
              <p:nvPr/>
            </p:nvSpPr>
            <p:spPr bwMode="auto">
              <a:xfrm flipH="1">
                <a:off x="1757" y="1987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76" name="Line 157"/>
              <p:cNvSpPr>
                <a:spLocks noChangeShapeType="1"/>
              </p:cNvSpPr>
              <p:nvPr/>
            </p:nvSpPr>
            <p:spPr bwMode="auto">
              <a:xfrm flipH="1">
                <a:off x="1756" y="2135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77" name="Line 158"/>
              <p:cNvSpPr>
                <a:spLocks noChangeShapeType="1"/>
              </p:cNvSpPr>
              <p:nvPr/>
            </p:nvSpPr>
            <p:spPr bwMode="auto">
              <a:xfrm flipH="1">
                <a:off x="1754" y="2270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78" name="Line 159"/>
              <p:cNvSpPr>
                <a:spLocks noChangeShapeType="1"/>
              </p:cNvSpPr>
              <p:nvPr/>
            </p:nvSpPr>
            <p:spPr bwMode="auto">
              <a:xfrm flipH="1">
                <a:off x="1756" y="2386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79" name="Line 160"/>
              <p:cNvSpPr>
                <a:spLocks noChangeShapeType="1"/>
              </p:cNvSpPr>
              <p:nvPr/>
            </p:nvSpPr>
            <p:spPr bwMode="auto">
              <a:xfrm flipH="1">
                <a:off x="1761" y="2500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80" name="Line 161"/>
              <p:cNvSpPr>
                <a:spLocks noChangeShapeType="1"/>
              </p:cNvSpPr>
              <p:nvPr/>
            </p:nvSpPr>
            <p:spPr bwMode="auto">
              <a:xfrm flipH="1">
                <a:off x="1752" y="2597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81" name="Text Box 162"/>
              <p:cNvSpPr txBox="1">
                <a:spLocks noChangeArrowheads="1"/>
              </p:cNvSpPr>
              <p:nvPr/>
            </p:nvSpPr>
            <p:spPr bwMode="auto">
              <a:xfrm>
                <a:off x="1599" y="1667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D0</a:t>
                </a:r>
              </a:p>
            </p:txBody>
          </p:sp>
          <p:sp>
            <p:nvSpPr>
              <p:cNvPr id="68782" name="Text Box 163"/>
              <p:cNvSpPr txBox="1">
                <a:spLocks noChangeArrowheads="1"/>
              </p:cNvSpPr>
              <p:nvPr/>
            </p:nvSpPr>
            <p:spPr bwMode="auto">
              <a:xfrm>
                <a:off x="1604" y="1780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D1</a:t>
                </a:r>
              </a:p>
            </p:txBody>
          </p:sp>
          <p:sp>
            <p:nvSpPr>
              <p:cNvPr id="68783" name="Text Box 164"/>
              <p:cNvSpPr txBox="1">
                <a:spLocks noChangeArrowheads="1"/>
              </p:cNvSpPr>
              <p:nvPr/>
            </p:nvSpPr>
            <p:spPr bwMode="auto">
              <a:xfrm>
                <a:off x="1603" y="1919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D2</a:t>
                </a:r>
              </a:p>
            </p:txBody>
          </p:sp>
          <p:sp>
            <p:nvSpPr>
              <p:cNvPr id="68784" name="Text Box 165"/>
              <p:cNvSpPr txBox="1">
                <a:spLocks noChangeArrowheads="1"/>
              </p:cNvSpPr>
              <p:nvPr/>
            </p:nvSpPr>
            <p:spPr bwMode="auto">
              <a:xfrm>
                <a:off x="1600" y="2064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D3</a:t>
                </a:r>
              </a:p>
            </p:txBody>
          </p:sp>
          <p:sp>
            <p:nvSpPr>
              <p:cNvPr id="68785" name="Text Box 166"/>
              <p:cNvSpPr txBox="1">
                <a:spLocks noChangeArrowheads="1"/>
              </p:cNvSpPr>
              <p:nvPr/>
            </p:nvSpPr>
            <p:spPr bwMode="auto">
              <a:xfrm>
                <a:off x="1602" y="2190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D4</a:t>
                </a:r>
              </a:p>
            </p:txBody>
          </p:sp>
          <p:sp>
            <p:nvSpPr>
              <p:cNvPr id="68786" name="Text Box 167"/>
              <p:cNvSpPr txBox="1">
                <a:spLocks noChangeArrowheads="1"/>
              </p:cNvSpPr>
              <p:nvPr/>
            </p:nvSpPr>
            <p:spPr bwMode="auto">
              <a:xfrm>
                <a:off x="1604" y="2321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D5</a:t>
                </a:r>
              </a:p>
            </p:txBody>
          </p:sp>
          <p:sp>
            <p:nvSpPr>
              <p:cNvPr id="68787" name="Text Box 168"/>
              <p:cNvSpPr txBox="1">
                <a:spLocks noChangeArrowheads="1"/>
              </p:cNvSpPr>
              <p:nvPr/>
            </p:nvSpPr>
            <p:spPr bwMode="auto">
              <a:xfrm>
                <a:off x="1602" y="2431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D6</a:t>
                </a:r>
              </a:p>
            </p:txBody>
          </p:sp>
          <p:sp>
            <p:nvSpPr>
              <p:cNvPr id="68788" name="Text Box 169"/>
              <p:cNvSpPr txBox="1">
                <a:spLocks noChangeArrowheads="1"/>
              </p:cNvSpPr>
              <p:nvPr/>
            </p:nvSpPr>
            <p:spPr bwMode="auto">
              <a:xfrm>
                <a:off x="1602" y="2534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D7</a:t>
                </a:r>
              </a:p>
            </p:txBody>
          </p:sp>
          <p:sp>
            <p:nvSpPr>
              <p:cNvPr id="68789" name="Oval 170"/>
              <p:cNvSpPr>
                <a:spLocks noChangeArrowheads="1"/>
              </p:cNvSpPr>
              <p:nvPr/>
            </p:nvSpPr>
            <p:spPr bwMode="auto">
              <a:xfrm>
                <a:off x="1463" y="2755"/>
                <a:ext cx="48" cy="4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90" name="Oval 171"/>
              <p:cNvSpPr>
                <a:spLocks noChangeArrowheads="1"/>
              </p:cNvSpPr>
              <p:nvPr/>
            </p:nvSpPr>
            <p:spPr bwMode="auto">
              <a:xfrm>
                <a:off x="1613" y="2752"/>
                <a:ext cx="48" cy="4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91" name="Oval 172"/>
              <p:cNvSpPr>
                <a:spLocks noChangeArrowheads="1"/>
              </p:cNvSpPr>
              <p:nvPr/>
            </p:nvSpPr>
            <p:spPr bwMode="auto">
              <a:xfrm>
                <a:off x="1534" y="1581"/>
                <a:ext cx="48" cy="4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92" name="Text Box 173"/>
              <p:cNvSpPr txBox="1">
                <a:spLocks noChangeArrowheads="1"/>
              </p:cNvSpPr>
              <p:nvPr/>
            </p:nvSpPr>
            <p:spPr bwMode="auto">
              <a:xfrm>
                <a:off x="1383" y="2643"/>
                <a:ext cx="209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OE</a:t>
                </a:r>
              </a:p>
            </p:txBody>
          </p:sp>
          <p:sp>
            <p:nvSpPr>
              <p:cNvPr id="68793" name="Line 174"/>
              <p:cNvSpPr>
                <a:spLocks noChangeShapeType="1"/>
              </p:cNvSpPr>
              <p:nvPr/>
            </p:nvSpPr>
            <p:spPr bwMode="auto">
              <a:xfrm>
                <a:off x="1450" y="2669"/>
                <a:ext cx="7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94" name="Text Box 175"/>
              <p:cNvSpPr txBox="1">
                <a:spLocks noChangeArrowheads="1"/>
              </p:cNvSpPr>
              <p:nvPr/>
            </p:nvSpPr>
            <p:spPr bwMode="auto">
              <a:xfrm>
                <a:off x="1529" y="2642"/>
                <a:ext cx="205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CE</a:t>
                </a:r>
              </a:p>
            </p:txBody>
          </p:sp>
          <p:sp>
            <p:nvSpPr>
              <p:cNvPr id="68795" name="Line 176"/>
              <p:cNvSpPr>
                <a:spLocks noChangeShapeType="1"/>
              </p:cNvSpPr>
              <p:nvPr/>
            </p:nvSpPr>
            <p:spPr bwMode="auto">
              <a:xfrm>
                <a:off x="1594" y="2668"/>
                <a:ext cx="7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96" name="Text Box 177"/>
              <p:cNvSpPr txBox="1">
                <a:spLocks noChangeArrowheads="1"/>
              </p:cNvSpPr>
              <p:nvPr/>
            </p:nvSpPr>
            <p:spPr bwMode="auto">
              <a:xfrm>
                <a:off x="1475" y="1625"/>
                <a:ext cx="176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W</a:t>
                </a:r>
              </a:p>
            </p:txBody>
          </p:sp>
          <p:sp>
            <p:nvSpPr>
              <p:cNvPr id="68797" name="Line 178"/>
              <p:cNvSpPr>
                <a:spLocks noChangeShapeType="1"/>
              </p:cNvSpPr>
              <p:nvPr/>
            </p:nvSpPr>
            <p:spPr bwMode="auto">
              <a:xfrm>
                <a:off x="1527" y="1655"/>
                <a:ext cx="7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</p:grpSp>
        <p:grpSp>
          <p:nvGrpSpPr>
            <p:cNvPr id="68615" name="Group 179"/>
            <p:cNvGrpSpPr>
              <a:grpSpLocks/>
            </p:cNvGrpSpPr>
            <p:nvPr/>
          </p:nvGrpSpPr>
          <p:grpSpPr bwMode="auto">
            <a:xfrm>
              <a:off x="6564313" y="3800475"/>
              <a:ext cx="1601787" cy="1938338"/>
              <a:chOff x="1052" y="1581"/>
              <a:chExt cx="1009" cy="1221"/>
            </a:xfrm>
          </p:grpSpPr>
          <p:sp>
            <p:nvSpPr>
              <p:cNvPr id="68686" name="Rectangle 180"/>
              <p:cNvSpPr>
                <a:spLocks noChangeArrowheads="1"/>
              </p:cNvSpPr>
              <p:nvPr/>
            </p:nvSpPr>
            <p:spPr bwMode="auto">
              <a:xfrm>
                <a:off x="1359" y="1632"/>
                <a:ext cx="397" cy="112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687" name="Line 181"/>
              <p:cNvSpPr>
                <a:spLocks noChangeShapeType="1"/>
              </p:cNvSpPr>
              <p:nvPr/>
            </p:nvSpPr>
            <p:spPr bwMode="auto">
              <a:xfrm flipH="1">
                <a:off x="1056" y="1728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688" name="Line 182"/>
              <p:cNvSpPr>
                <a:spLocks noChangeShapeType="1"/>
              </p:cNvSpPr>
              <p:nvPr/>
            </p:nvSpPr>
            <p:spPr bwMode="auto">
              <a:xfrm flipH="1">
                <a:off x="1055" y="1792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689" name="Line 183"/>
              <p:cNvSpPr>
                <a:spLocks noChangeShapeType="1"/>
              </p:cNvSpPr>
              <p:nvPr/>
            </p:nvSpPr>
            <p:spPr bwMode="auto">
              <a:xfrm flipH="1">
                <a:off x="1056" y="1849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690" name="Line 184"/>
              <p:cNvSpPr>
                <a:spLocks noChangeShapeType="1"/>
              </p:cNvSpPr>
              <p:nvPr/>
            </p:nvSpPr>
            <p:spPr bwMode="auto">
              <a:xfrm flipH="1">
                <a:off x="1055" y="1913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691" name="Line 185"/>
              <p:cNvSpPr>
                <a:spLocks noChangeShapeType="1"/>
              </p:cNvSpPr>
              <p:nvPr/>
            </p:nvSpPr>
            <p:spPr bwMode="auto">
              <a:xfrm flipH="1">
                <a:off x="1053" y="1972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692" name="Line 186"/>
              <p:cNvSpPr>
                <a:spLocks noChangeShapeType="1"/>
              </p:cNvSpPr>
              <p:nvPr/>
            </p:nvSpPr>
            <p:spPr bwMode="auto">
              <a:xfrm flipH="1">
                <a:off x="1052" y="2036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693" name="Line 187"/>
              <p:cNvSpPr>
                <a:spLocks noChangeShapeType="1"/>
              </p:cNvSpPr>
              <p:nvPr/>
            </p:nvSpPr>
            <p:spPr bwMode="auto">
              <a:xfrm flipH="1">
                <a:off x="1053" y="2093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694" name="Line 188"/>
              <p:cNvSpPr>
                <a:spLocks noChangeShapeType="1"/>
              </p:cNvSpPr>
              <p:nvPr/>
            </p:nvSpPr>
            <p:spPr bwMode="auto">
              <a:xfrm flipH="1">
                <a:off x="1052" y="2157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695" name="Line 189"/>
              <p:cNvSpPr>
                <a:spLocks noChangeShapeType="1"/>
              </p:cNvSpPr>
              <p:nvPr/>
            </p:nvSpPr>
            <p:spPr bwMode="auto">
              <a:xfrm flipH="1">
                <a:off x="1056" y="2218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696" name="Line 190"/>
              <p:cNvSpPr>
                <a:spLocks noChangeShapeType="1"/>
              </p:cNvSpPr>
              <p:nvPr/>
            </p:nvSpPr>
            <p:spPr bwMode="auto">
              <a:xfrm flipH="1">
                <a:off x="1055" y="2282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697" name="Line 191"/>
              <p:cNvSpPr>
                <a:spLocks noChangeShapeType="1"/>
              </p:cNvSpPr>
              <p:nvPr/>
            </p:nvSpPr>
            <p:spPr bwMode="auto">
              <a:xfrm flipH="1">
                <a:off x="1056" y="2339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698" name="Line 192"/>
              <p:cNvSpPr>
                <a:spLocks noChangeShapeType="1"/>
              </p:cNvSpPr>
              <p:nvPr/>
            </p:nvSpPr>
            <p:spPr bwMode="auto">
              <a:xfrm flipH="1">
                <a:off x="1055" y="2403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699" name="Line 193"/>
              <p:cNvSpPr>
                <a:spLocks noChangeShapeType="1"/>
              </p:cNvSpPr>
              <p:nvPr/>
            </p:nvSpPr>
            <p:spPr bwMode="auto">
              <a:xfrm flipH="1">
                <a:off x="1053" y="2478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00" name="Line 194"/>
              <p:cNvSpPr>
                <a:spLocks noChangeShapeType="1"/>
              </p:cNvSpPr>
              <p:nvPr/>
            </p:nvSpPr>
            <p:spPr bwMode="auto">
              <a:xfrm flipH="1">
                <a:off x="1052" y="2536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01" name="Line 195"/>
              <p:cNvSpPr>
                <a:spLocks noChangeShapeType="1"/>
              </p:cNvSpPr>
              <p:nvPr/>
            </p:nvSpPr>
            <p:spPr bwMode="auto">
              <a:xfrm flipH="1">
                <a:off x="1057" y="2593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02" name="Text Box 196"/>
              <p:cNvSpPr txBox="1">
                <a:spLocks noChangeArrowheads="1"/>
              </p:cNvSpPr>
              <p:nvPr/>
            </p:nvSpPr>
            <p:spPr bwMode="auto">
              <a:xfrm>
                <a:off x="1335" y="1655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A0</a:t>
                </a:r>
              </a:p>
            </p:txBody>
          </p:sp>
          <p:sp>
            <p:nvSpPr>
              <p:cNvPr id="68703" name="Text Box 197"/>
              <p:cNvSpPr txBox="1">
                <a:spLocks noChangeArrowheads="1"/>
              </p:cNvSpPr>
              <p:nvPr/>
            </p:nvSpPr>
            <p:spPr bwMode="auto">
              <a:xfrm>
                <a:off x="1339" y="1716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</a:t>
                </a:r>
              </a:p>
            </p:txBody>
          </p:sp>
          <p:sp>
            <p:nvSpPr>
              <p:cNvPr id="68704" name="Text Box 198"/>
              <p:cNvSpPr txBox="1">
                <a:spLocks noChangeArrowheads="1"/>
              </p:cNvSpPr>
              <p:nvPr/>
            </p:nvSpPr>
            <p:spPr bwMode="auto">
              <a:xfrm>
                <a:off x="1338" y="1782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A2</a:t>
                </a:r>
              </a:p>
            </p:txBody>
          </p:sp>
          <p:sp>
            <p:nvSpPr>
              <p:cNvPr id="68705" name="Text Box 199"/>
              <p:cNvSpPr txBox="1">
                <a:spLocks noChangeArrowheads="1"/>
              </p:cNvSpPr>
              <p:nvPr/>
            </p:nvSpPr>
            <p:spPr bwMode="auto">
              <a:xfrm>
                <a:off x="1339" y="1847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A3</a:t>
                </a:r>
              </a:p>
            </p:txBody>
          </p:sp>
          <p:sp>
            <p:nvSpPr>
              <p:cNvPr id="68706" name="Text Box 200"/>
              <p:cNvSpPr txBox="1">
                <a:spLocks noChangeArrowheads="1"/>
              </p:cNvSpPr>
              <p:nvPr/>
            </p:nvSpPr>
            <p:spPr bwMode="auto">
              <a:xfrm>
                <a:off x="1335" y="1905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A4</a:t>
                </a:r>
              </a:p>
            </p:txBody>
          </p:sp>
          <p:sp>
            <p:nvSpPr>
              <p:cNvPr id="68707" name="Text Box 201"/>
              <p:cNvSpPr txBox="1">
                <a:spLocks noChangeArrowheads="1"/>
              </p:cNvSpPr>
              <p:nvPr/>
            </p:nvSpPr>
            <p:spPr bwMode="auto">
              <a:xfrm>
                <a:off x="1339" y="1966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A5</a:t>
                </a:r>
              </a:p>
            </p:txBody>
          </p:sp>
          <p:sp>
            <p:nvSpPr>
              <p:cNvPr id="68708" name="Text Box 202"/>
              <p:cNvSpPr txBox="1">
                <a:spLocks noChangeArrowheads="1"/>
              </p:cNvSpPr>
              <p:nvPr/>
            </p:nvSpPr>
            <p:spPr bwMode="auto">
              <a:xfrm>
                <a:off x="1338" y="2032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A6</a:t>
                </a:r>
              </a:p>
            </p:txBody>
          </p:sp>
          <p:sp>
            <p:nvSpPr>
              <p:cNvPr id="68709" name="Text Box 203"/>
              <p:cNvSpPr txBox="1">
                <a:spLocks noChangeArrowheads="1"/>
              </p:cNvSpPr>
              <p:nvPr/>
            </p:nvSpPr>
            <p:spPr bwMode="auto">
              <a:xfrm>
                <a:off x="1339" y="2097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A7</a:t>
                </a:r>
              </a:p>
            </p:txBody>
          </p:sp>
          <p:sp>
            <p:nvSpPr>
              <p:cNvPr id="68710" name="Text Box 204"/>
              <p:cNvSpPr txBox="1">
                <a:spLocks noChangeArrowheads="1"/>
              </p:cNvSpPr>
              <p:nvPr/>
            </p:nvSpPr>
            <p:spPr bwMode="auto">
              <a:xfrm>
                <a:off x="1332" y="2154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A8</a:t>
                </a:r>
              </a:p>
            </p:txBody>
          </p:sp>
          <p:sp>
            <p:nvSpPr>
              <p:cNvPr id="68711" name="Text Box 205"/>
              <p:cNvSpPr txBox="1">
                <a:spLocks noChangeArrowheads="1"/>
              </p:cNvSpPr>
              <p:nvPr/>
            </p:nvSpPr>
            <p:spPr bwMode="auto">
              <a:xfrm>
                <a:off x="1336" y="2215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A9</a:t>
                </a:r>
              </a:p>
            </p:txBody>
          </p:sp>
          <p:sp>
            <p:nvSpPr>
              <p:cNvPr id="68712" name="Text Box 206"/>
              <p:cNvSpPr txBox="1">
                <a:spLocks noChangeArrowheads="1"/>
              </p:cNvSpPr>
              <p:nvPr/>
            </p:nvSpPr>
            <p:spPr bwMode="auto">
              <a:xfrm>
                <a:off x="1317" y="2281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A10</a:t>
                </a:r>
              </a:p>
            </p:txBody>
          </p:sp>
          <p:sp>
            <p:nvSpPr>
              <p:cNvPr id="68713" name="Text Box 207"/>
              <p:cNvSpPr txBox="1">
                <a:spLocks noChangeArrowheads="1"/>
              </p:cNvSpPr>
              <p:nvPr/>
            </p:nvSpPr>
            <p:spPr bwMode="auto">
              <a:xfrm>
                <a:off x="1318" y="2346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A11</a:t>
                </a:r>
              </a:p>
            </p:txBody>
          </p:sp>
          <p:sp>
            <p:nvSpPr>
              <p:cNvPr id="68714" name="Text Box 208"/>
              <p:cNvSpPr txBox="1">
                <a:spLocks noChangeArrowheads="1"/>
              </p:cNvSpPr>
              <p:nvPr/>
            </p:nvSpPr>
            <p:spPr bwMode="auto">
              <a:xfrm>
                <a:off x="1314" y="2404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A12</a:t>
                </a:r>
              </a:p>
            </p:txBody>
          </p:sp>
          <p:sp>
            <p:nvSpPr>
              <p:cNvPr id="68715" name="Text Box 209"/>
              <p:cNvSpPr txBox="1">
                <a:spLocks noChangeArrowheads="1"/>
              </p:cNvSpPr>
              <p:nvPr/>
            </p:nvSpPr>
            <p:spPr bwMode="auto">
              <a:xfrm>
                <a:off x="1318" y="2465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A13</a:t>
                </a:r>
              </a:p>
            </p:txBody>
          </p:sp>
          <p:sp>
            <p:nvSpPr>
              <p:cNvPr id="68716" name="Text Box 210"/>
              <p:cNvSpPr txBox="1">
                <a:spLocks noChangeArrowheads="1"/>
              </p:cNvSpPr>
              <p:nvPr/>
            </p:nvSpPr>
            <p:spPr bwMode="auto">
              <a:xfrm>
                <a:off x="1317" y="2531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A14</a:t>
                </a:r>
              </a:p>
            </p:txBody>
          </p:sp>
          <p:sp>
            <p:nvSpPr>
              <p:cNvPr id="68717" name="Line 211"/>
              <p:cNvSpPr>
                <a:spLocks noChangeShapeType="1"/>
              </p:cNvSpPr>
              <p:nvPr/>
            </p:nvSpPr>
            <p:spPr bwMode="auto">
              <a:xfrm flipH="1">
                <a:off x="1756" y="1740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18" name="Line 212"/>
              <p:cNvSpPr>
                <a:spLocks noChangeShapeType="1"/>
              </p:cNvSpPr>
              <p:nvPr/>
            </p:nvSpPr>
            <p:spPr bwMode="auto">
              <a:xfrm flipH="1">
                <a:off x="1759" y="1844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19" name="Line 213"/>
              <p:cNvSpPr>
                <a:spLocks noChangeShapeType="1"/>
              </p:cNvSpPr>
              <p:nvPr/>
            </p:nvSpPr>
            <p:spPr bwMode="auto">
              <a:xfrm flipH="1">
                <a:off x="1757" y="1987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20" name="Line 214"/>
              <p:cNvSpPr>
                <a:spLocks noChangeShapeType="1"/>
              </p:cNvSpPr>
              <p:nvPr/>
            </p:nvSpPr>
            <p:spPr bwMode="auto">
              <a:xfrm flipH="1">
                <a:off x="1756" y="2135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21" name="Line 215"/>
              <p:cNvSpPr>
                <a:spLocks noChangeShapeType="1"/>
              </p:cNvSpPr>
              <p:nvPr/>
            </p:nvSpPr>
            <p:spPr bwMode="auto">
              <a:xfrm flipH="1">
                <a:off x="1754" y="2270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22" name="Line 216"/>
              <p:cNvSpPr>
                <a:spLocks noChangeShapeType="1"/>
              </p:cNvSpPr>
              <p:nvPr/>
            </p:nvSpPr>
            <p:spPr bwMode="auto">
              <a:xfrm flipH="1">
                <a:off x="1756" y="2386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23" name="Line 217"/>
              <p:cNvSpPr>
                <a:spLocks noChangeShapeType="1"/>
              </p:cNvSpPr>
              <p:nvPr/>
            </p:nvSpPr>
            <p:spPr bwMode="auto">
              <a:xfrm flipH="1">
                <a:off x="1761" y="2500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24" name="Line 218"/>
              <p:cNvSpPr>
                <a:spLocks noChangeShapeType="1"/>
              </p:cNvSpPr>
              <p:nvPr/>
            </p:nvSpPr>
            <p:spPr bwMode="auto">
              <a:xfrm flipH="1">
                <a:off x="1752" y="2597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25" name="Text Box 219"/>
              <p:cNvSpPr txBox="1">
                <a:spLocks noChangeArrowheads="1"/>
              </p:cNvSpPr>
              <p:nvPr/>
            </p:nvSpPr>
            <p:spPr bwMode="auto">
              <a:xfrm>
                <a:off x="1599" y="1667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D0</a:t>
                </a:r>
              </a:p>
            </p:txBody>
          </p:sp>
          <p:sp>
            <p:nvSpPr>
              <p:cNvPr id="68726" name="Text Box 220"/>
              <p:cNvSpPr txBox="1">
                <a:spLocks noChangeArrowheads="1"/>
              </p:cNvSpPr>
              <p:nvPr/>
            </p:nvSpPr>
            <p:spPr bwMode="auto">
              <a:xfrm>
                <a:off x="1604" y="1780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D1</a:t>
                </a:r>
              </a:p>
            </p:txBody>
          </p:sp>
          <p:sp>
            <p:nvSpPr>
              <p:cNvPr id="68727" name="Text Box 221"/>
              <p:cNvSpPr txBox="1">
                <a:spLocks noChangeArrowheads="1"/>
              </p:cNvSpPr>
              <p:nvPr/>
            </p:nvSpPr>
            <p:spPr bwMode="auto">
              <a:xfrm>
                <a:off x="1603" y="1919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D2</a:t>
                </a:r>
              </a:p>
            </p:txBody>
          </p:sp>
          <p:sp>
            <p:nvSpPr>
              <p:cNvPr id="68728" name="Text Box 222"/>
              <p:cNvSpPr txBox="1">
                <a:spLocks noChangeArrowheads="1"/>
              </p:cNvSpPr>
              <p:nvPr/>
            </p:nvSpPr>
            <p:spPr bwMode="auto">
              <a:xfrm>
                <a:off x="1600" y="2064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D3</a:t>
                </a:r>
              </a:p>
            </p:txBody>
          </p:sp>
          <p:sp>
            <p:nvSpPr>
              <p:cNvPr id="68729" name="Text Box 223"/>
              <p:cNvSpPr txBox="1">
                <a:spLocks noChangeArrowheads="1"/>
              </p:cNvSpPr>
              <p:nvPr/>
            </p:nvSpPr>
            <p:spPr bwMode="auto">
              <a:xfrm>
                <a:off x="1602" y="2190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D4</a:t>
                </a:r>
              </a:p>
            </p:txBody>
          </p:sp>
          <p:sp>
            <p:nvSpPr>
              <p:cNvPr id="68730" name="Text Box 224"/>
              <p:cNvSpPr txBox="1">
                <a:spLocks noChangeArrowheads="1"/>
              </p:cNvSpPr>
              <p:nvPr/>
            </p:nvSpPr>
            <p:spPr bwMode="auto">
              <a:xfrm>
                <a:off x="1604" y="2321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D5</a:t>
                </a:r>
              </a:p>
            </p:txBody>
          </p:sp>
          <p:sp>
            <p:nvSpPr>
              <p:cNvPr id="68731" name="Text Box 225"/>
              <p:cNvSpPr txBox="1">
                <a:spLocks noChangeArrowheads="1"/>
              </p:cNvSpPr>
              <p:nvPr/>
            </p:nvSpPr>
            <p:spPr bwMode="auto">
              <a:xfrm>
                <a:off x="1602" y="2431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D6</a:t>
                </a:r>
              </a:p>
            </p:txBody>
          </p:sp>
          <p:sp>
            <p:nvSpPr>
              <p:cNvPr id="68732" name="Text Box 226"/>
              <p:cNvSpPr txBox="1">
                <a:spLocks noChangeArrowheads="1"/>
              </p:cNvSpPr>
              <p:nvPr/>
            </p:nvSpPr>
            <p:spPr bwMode="auto">
              <a:xfrm>
                <a:off x="1602" y="2534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D7</a:t>
                </a:r>
              </a:p>
            </p:txBody>
          </p:sp>
          <p:sp>
            <p:nvSpPr>
              <p:cNvPr id="68733" name="Oval 227"/>
              <p:cNvSpPr>
                <a:spLocks noChangeArrowheads="1"/>
              </p:cNvSpPr>
              <p:nvPr/>
            </p:nvSpPr>
            <p:spPr bwMode="auto">
              <a:xfrm>
                <a:off x="1463" y="2755"/>
                <a:ext cx="48" cy="4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34" name="Oval 228"/>
              <p:cNvSpPr>
                <a:spLocks noChangeArrowheads="1"/>
              </p:cNvSpPr>
              <p:nvPr/>
            </p:nvSpPr>
            <p:spPr bwMode="auto">
              <a:xfrm>
                <a:off x="1613" y="2752"/>
                <a:ext cx="48" cy="4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35" name="Oval 229"/>
              <p:cNvSpPr>
                <a:spLocks noChangeArrowheads="1"/>
              </p:cNvSpPr>
              <p:nvPr/>
            </p:nvSpPr>
            <p:spPr bwMode="auto">
              <a:xfrm>
                <a:off x="1534" y="1581"/>
                <a:ext cx="48" cy="4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36" name="Text Box 230"/>
              <p:cNvSpPr txBox="1">
                <a:spLocks noChangeArrowheads="1"/>
              </p:cNvSpPr>
              <p:nvPr/>
            </p:nvSpPr>
            <p:spPr bwMode="auto">
              <a:xfrm>
                <a:off x="1383" y="2643"/>
                <a:ext cx="209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OE</a:t>
                </a:r>
              </a:p>
            </p:txBody>
          </p:sp>
          <p:sp>
            <p:nvSpPr>
              <p:cNvPr id="68737" name="Line 231"/>
              <p:cNvSpPr>
                <a:spLocks noChangeShapeType="1"/>
              </p:cNvSpPr>
              <p:nvPr/>
            </p:nvSpPr>
            <p:spPr bwMode="auto">
              <a:xfrm>
                <a:off x="1450" y="2669"/>
                <a:ext cx="7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38" name="Text Box 232"/>
              <p:cNvSpPr txBox="1">
                <a:spLocks noChangeArrowheads="1"/>
              </p:cNvSpPr>
              <p:nvPr/>
            </p:nvSpPr>
            <p:spPr bwMode="auto">
              <a:xfrm>
                <a:off x="1529" y="2642"/>
                <a:ext cx="205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CE</a:t>
                </a:r>
              </a:p>
            </p:txBody>
          </p:sp>
          <p:sp>
            <p:nvSpPr>
              <p:cNvPr id="68739" name="Line 233"/>
              <p:cNvSpPr>
                <a:spLocks noChangeShapeType="1"/>
              </p:cNvSpPr>
              <p:nvPr/>
            </p:nvSpPr>
            <p:spPr bwMode="auto">
              <a:xfrm>
                <a:off x="1594" y="2668"/>
                <a:ext cx="7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40" name="Text Box 234"/>
              <p:cNvSpPr txBox="1">
                <a:spLocks noChangeArrowheads="1"/>
              </p:cNvSpPr>
              <p:nvPr/>
            </p:nvSpPr>
            <p:spPr bwMode="auto">
              <a:xfrm>
                <a:off x="1475" y="1625"/>
                <a:ext cx="176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W</a:t>
                </a:r>
              </a:p>
            </p:txBody>
          </p:sp>
          <p:sp>
            <p:nvSpPr>
              <p:cNvPr id="68741" name="Line 235"/>
              <p:cNvSpPr>
                <a:spLocks noChangeShapeType="1"/>
              </p:cNvSpPr>
              <p:nvPr/>
            </p:nvSpPr>
            <p:spPr bwMode="auto">
              <a:xfrm>
                <a:off x="1527" y="1655"/>
                <a:ext cx="7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68616" name="Line 236"/>
            <p:cNvSpPr>
              <a:spLocks noChangeShapeType="1"/>
            </p:cNvSpPr>
            <p:nvPr/>
          </p:nvSpPr>
          <p:spPr bwMode="auto">
            <a:xfrm>
              <a:off x="4540250" y="1463675"/>
              <a:ext cx="0" cy="395287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17" name="Line 237"/>
            <p:cNvSpPr>
              <a:spLocks noChangeShapeType="1"/>
            </p:cNvSpPr>
            <p:nvPr/>
          </p:nvSpPr>
          <p:spPr bwMode="auto">
            <a:xfrm>
              <a:off x="6562725" y="1465263"/>
              <a:ext cx="0" cy="395287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18" name="Line 238"/>
            <p:cNvSpPr>
              <a:spLocks noChangeShapeType="1"/>
            </p:cNvSpPr>
            <p:nvPr/>
          </p:nvSpPr>
          <p:spPr bwMode="auto">
            <a:xfrm rot="5400000" flipV="1">
              <a:off x="3722688" y="-1355725"/>
              <a:ext cx="9525" cy="568007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19" name="Line 239"/>
            <p:cNvSpPr>
              <a:spLocks noChangeShapeType="1"/>
            </p:cNvSpPr>
            <p:nvPr/>
          </p:nvSpPr>
          <p:spPr bwMode="auto">
            <a:xfrm>
              <a:off x="6115050" y="1860550"/>
              <a:ext cx="0" cy="395287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20" name="Line 240"/>
            <p:cNvSpPr>
              <a:spLocks noChangeShapeType="1"/>
            </p:cNvSpPr>
            <p:nvPr/>
          </p:nvSpPr>
          <p:spPr bwMode="auto">
            <a:xfrm>
              <a:off x="8137525" y="1851025"/>
              <a:ext cx="0" cy="395287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21" name="Line 241"/>
            <p:cNvSpPr>
              <a:spLocks noChangeShapeType="1"/>
            </p:cNvSpPr>
            <p:nvPr/>
          </p:nvSpPr>
          <p:spPr bwMode="auto">
            <a:xfrm rot="-5400000">
              <a:off x="4429125" y="2073275"/>
              <a:ext cx="9525" cy="745807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23" name="Freeform 243"/>
            <p:cNvSpPr>
              <a:spLocks/>
            </p:cNvSpPr>
            <p:nvPr/>
          </p:nvSpPr>
          <p:spPr bwMode="auto">
            <a:xfrm>
              <a:off x="3527425" y="3565525"/>
              <a:ext cx="1928813" cy="142875"/>
            </a:xfrm>
            <a:custGeom>
              <a:avLst/>
              <a:gdLst>
                <a:gd name="T0" fmla="*/ 2147483647 w 1056"/>
                <a:gd name="T1" fmla="*/ 0 h 90"/>
                <a:gd name="T2" fmla="*/ 2147483647 w 1056"/>
                <a:gd name="T3" fmla="*/ 2147483647 h 90"/>
                <a:gd name="T4" fmla="*/ 0 w 1056"/>
                <a:gd name="T5" fmla="*/ 2147483647 h 90"/>
                <a:gd name="T6" fmla="*/ 0 60000 65536"/>
                <a:gd name="T7" fmla="*/ 0 60000 65536"/>
                <a:gd name="T8" fmla="*/ 0 60000 65536"/>
                <a:gd name="T9" fmla="*/ 0 w 1056"/>
                <a:gd name="T10" fmla="*/ 0 h 90"/>
                <a:gd name="T11" fmla="*/ 1056 w 1056"/>
                <a:gd name="T12" fmla="*/ 90 h 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56" h="90">
                  <a:moveTo>
                    <a:pt x="1056" y="0"/>
                  </a:moveTo>
                  <a:cubicBezTo>
                    <a:pt x="1056" y="30"/>
                    <a:pt x="1056" y="60"/>
                    <a:pt x="1056" y="90"/>
                  </a:cubicBezTo>
                  <a:lnTo>
                    <a:pt x="0" y="9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25" name="Freeform 245"/>
            <p:cNvSpPr>
              <a:spLocks/>
            </p:cNvSpPr>
            <p:nvPr/>
          </p:nvSpPr>
          <p:spPr bwMode="auto">
            <a:xfrm>
              <a:off x="6350000" y="3554413"/>
              <a:ext cx="1106488" cy="131762"/>
            </a:xfrm>
            <a:custGeom>
              <a:avLst/>
              <a:gdLst>
                <a:gd name="T0" fmla="*/ 2147483647 w 1056"/>
                <a:gd name="T1" fmla="*/ 0 h 90"/>
                <a:gd name="T2" fmla="*/ 2147483647 w 1056"/>
                <a:gd name="T3" fmla="*/ 2147483647 h 90"/>
                <a:gd name="T4" fmla="*/ 0 w 1056"/>
                <a:gd name="T5" fmla="*/ 2147483647 h 90"/>
                <a:gd name="T6" fmla="*/ 0 60000 65536"/>
                <a:gd name="T7" fmla="*/ 0 60000 65536"/>
                <a:gd name="T8" fmla="*/ 0 60000 65536"/>
                <a:gd name="T9" fmla="*/ 0 w 1056"/>
                <a:gd name="T10" fmla="*/ 0 h 90"/>
                <a:gd name="T11" fmla="*/ 1056 w 1056"/>
                <a:gd name="T12" fmla="*/ 90 h 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56" h="90">
                  <a:moveTo>
                    <a:pt x="1056" y="0"/>
                  </a:moveTo>
                  <a:cubicBezTo>
                    <a:pt x="1056" y="30"/>
                    <a:pt x="1056" y="60"/>
                    <a:pt x="1056" y="90"/>
                  </a:cubicBezTo>
                  <a:lnTo>
                    <a:pt x="0" y="9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29" name="Oval 250"/>
            <p:cNvSpPr>
              <a:spLocks noChangeArrowheads="1"/>
            </p:cNvSpPr>
            <p:nvPr/>
          </p:nvSpPr>
          <p:spPr bwMode="auto">
            <a:xfrm>
              <a:off x="4333875" y="1562100"/>
              <a:ext cx="82550" cy="92075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400" b="1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35" name="Line 263"/>
            <p:cNvSpPr>
              <a:spLocks noChangeShapeType="1"/>
            </p:cNvSpPr>
            <p:nvPr/>
          </p:nvSpPr>
          <p:spPr bwMode="auto">
            <a:xfrm>
              <a:off x="2924175" y="1608138"/>
              <a:ext cx="44069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36" name="Line 264"/>
            <p:cNvSpPr>
              <a:spLocks noChangeShapeType="1"/>
            </p:cNvSpPr>
            <p:nvPr/>
          </p:nvSpPr>
          <p:spPr bwMode="auto">
            <a:xfrm>
              <a:off x="4365625" y="3787775"/>
              <a:ext cx="30035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37" name="Line 265"/>
            <p:cNvSpPr>
              <a:spLocks noChangeShapeType="1"/>
            </p:cNvSpPr>
            <p:nvPr/>
          </p:nvSpPr>
          <p:spPr bwMode="auto">
            <a:xfrm flipV="1">
              <a:off x="4365625" y="1600200"/>
              <a:ext cx="0" cy="21875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38" name="Line 266"/>
            <p:cNvSpPr>
              <a:spLocks noChangeShapeType="1"/>
            </p:cNvSpPr>
            <p:nvPr/>
          </p:nvSpPr>
          <p:spPr bwMode="auto">
            <a:xfrm>
              <a:off x="7216775" y="3543300"/>
              <a:ext cx="0" cy="603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39" name="Line 268"/>
            <p:cNvSpPr>
              <a:spLocks noChangeShapeType="1"/>
            </p:cNvSpPr>
            <p:nvPr/>
          </p:nvSpPr>
          <p:spPr bwMode="auto">
            <a:xfrm>
              <a:off x="5213350" y="3559175"/>
              <a:ext cx="0" cy="603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40" name="Line 269"/>
            <p:cNvSpPr>
              <a:spLocks noChangeShapeType="1"/>
            </p:cNvSpPr>
            <p:nvPr/>
          </p:nvSpPr>
          <p:spPr bwMode="auto">
            <a:xfrm flipH="1">
              <a:off x="6234113" y="3611563"/>
              <a:ext cx="9747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47" name="Line 277"/>
            <p:cNvSpPr>
              <a:spLocks noChangeShapeType="1"/>
            </p:cNvSpPr>
            <p:nvPr/>
          </p:nvSpPr>
          <p:spPr bwMode="auto">
            <a:xfrm flipH="1">
              <a:off x="3932238" y="3627438"/>
              <a:ext cx="12731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49" name="Oval 279"/>
            <p:cNvSpPr>
              <a:spLocks noChangeArrowheads="1"/>
            </p:cNvSpPr>
            <p:nvPr/>
          </p:nvSpPr>
          <p:spPr bwMode="auto">
            <a:xfrm>
              <a:off x="3900488" y="3570288"/>
              <a:ext cx="74612" cy="92075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400" b="1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50" name="Line 280"/>
            <p:cNvSpPr>
              <a:spLocks noChangeShapeType="1"/>
            </p:cNvSpPr>
            <p:nvPr/>
          </p:nvSpPr>
          <p:spPr bwMode="auto">
            <a:xfrm flipH="1">
              <a:off x="2130425" y="2286000"/>
              <a:ext cx="18161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51" name="Line 282"/>
            <p:cNvSpPr>
              <a:spLocks noChangeShapeType="1"/>
            </p:cNvSpPr>
            <p:nvPr/>
          </p:nvSpPr>
          <p:spPr bwMode="auto">
            <a:xfrm flipH="1">
              <a:off x="2136775" y="4206875"/>
              <a:ext cx="11318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52" name="Line 283"/>
            <p:cNvSpPr>
              <a:spLocks noChangeShapeType="1"/>
            </p:cNvSpPr>
            <p:nvPr/>
          </p:nvSpPr>
          <p:spPr bwMode="auto">
            <a:xfrm flipH="1">
              <a:off x="2135188" y="4533900"/>
              <a:ext cx="638175" cy="95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53" name="Line 284"/>
            <p:cNvSpPr>
              <a:spLocks noChangeShapeType="1"/>
            </p:cNvSpPr>
            <p:nvPr/>
          </p:nvSpPr>
          <p:spPr bwMode="auto">
            <a:xfrm>
              <a:off x="2925763" y="1604963"/>
              <a:ext cx="0" cy="3857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54" name="Line 285"/>
            <p:cNvSpPr>
              <a:spLocks noChangeShapeType="1"/>
            </p:cNvSpPr>
            <p:nvPr/>
          </p:nvSpPr>
          <p:spPr bwMode="auto">
            <a:xfrm flipH="1">
              <a:off x="2143125" y="1990725"/>
              <a:ext cx="7731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55" name="Text Box 286"/>
            <p:cNvSpPr txBox="1">
              <a:spLocks noChangeArrowheads="1"/>
            </p:cNvSpPr>
            <p:nvPr/>
          </p:nvSpPr>
          <p:spPr bwMode="auto">
            <a:xfrm>
              <a:off x="2010519" y="1204119"/>
              <a:ext cx="1773237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>
                  <a:solidFill>
                    <a:srgbClr val="000000"/>
                  </a:solidFill>
                </a:rPr>
                <a:t>Address Bus: A0..A14</a:t>
              </a:r>
            </a:p>
          </p:txBody>
        </p:sp>
        <p:sp>
          <p:nvSpPr>
            <p:cNvPr id="68656" name="Text Box 287"/>
            <p:cNvSpPr txBox="1">
              <a:spLocks noChangeArrowheads="1"/>
            </p:cNvSpPr>
            <p:nvPr/>
          </p:nvSpPr>
          <p:spPr bwMode="auto">
            <a:xfrm>
              <a:off x="304800" y="4449763"/>
              <a:ext cx="609600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b="1">
                  <a:solidFill>
                    <a:srgbClr val="000000"/>
                  </a:solidFill>
                </a:rPr>
                <a:t>To </a:t>
              </a:r>
              <a:r>
                <a:rPr lang="en-US" b="1" dirty="0" err="1">
                  <a:solidFill>
                    <a:srgbClr val="000000"/>
                  </a:solidFill>
                </a:rPr>
                <a:t>uP</a:t>
              </a:r>
              <a:endParaRPr lang="en-US" b="1" dirty="0">
                <a:solidFill>
                  <a:srgbClr val="000000"/>
                </a:solidFill>
              </a:endParaRPr>
            </a:p>
          </p:txBody>
        </p:sp>
        <p:sp>
          <p:nvSpPr>
            <p:cNvPr id="68657" name="Rectangle 288"/>
            <p:cNvSpPr>
              <a:spLocks noChangeArrowheads="1"/>
            </p:cNvSpPr>
            <p:nvPr/>
          </p:nvSpPr>
          <p:spPr bwMode="auto">
            <a:xfrm>
              <a:off x="1422400" y="1798638"/>
              <a:ext cx="701675" cy="33321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400" b="1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58" name="Text Box 289"/>
            <p:cNvSpPr txBox="1">
              <a:spLocks noChangeArrowheads="1"/>
            </p:cNvSpPr>
            <p:nvPr/>
          </p:nvSpPr>
          <p:spPr bwMode="auto">
            <a:xfrm rot="-5400000">
              <a:off x="666750" y="3357563"/>
              <a:ext cx="2147887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b="1">
                  <a:solidFill>
                    <a:srgbClr val="000000"/>
                  </a:solidFill>
                </a:rPr>
                <a:t>ADDRESS DECODE LOGIC</a:t>
              </a:r>
            </a:p>
          </p:txBody>
        </p:sp>
        <p:sp>
          <p:nvSpPr>
            <p:cNvPr id="68659" name="Text Box 290"/>
            <p:cNvSpPr txBox="1">
              <a:spLocks noChangeArrowheads="1"/>
            </p:cNvSpPr>
            <p:nvPr/>
          </p:nvSpPr>
          <p:spPr bwMode="auto">
            <a:xfrm>
              <a:off x="2397125" y="1752600"/>
              <a:ext cx="328613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b="1">
                  <a:solidFill>
                    <a:srgbClr val="000000"/>
                  </a:solidFill>
                </a:rPr>
                <a:t>W</a:t>
              </a:r>
            </a:p>
          </p:txBody>
        </p:sp>
        <p:sp>
          <p:nvSpPr>
            <p:cNvPr id="68660" name="Line 291"/>
            <p:cNvSpPr>
              <a:spLocks noChangeShapeType="1"/>
            </p:cNvSpPr>
            <p:nvPr/>
          </p:nvSpPr>
          <p:spPr bwMode="auto">
            <a:xfrm>
              <a:off x="2459038" y="1808163"/>
              <a:ext cx="1619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61" name="Text Box 292"/>
            <p:cNvSpPr txBox="1">
              <a:spLocks noChangeArrowheads="1"/>
            </p:cNvSpPr>
            <p:nvPr/>
          </p:nvSpPr>
          <p:spPr bwMode="auto">
            <a:xfrm>
              <a:off x="228600" y="1905000"/>
              <a:ext cx="6096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>
                  <a:solidFill>
                    <a:srgbClr val="000000"/>
                  </a:solidFill>
                </a:rPr>
                <a:t>To </a:t>
              </a:r>
              <a:r>
                <a:rPr lang="en-US" b="1" dirty="0" err="1">
                  <a:solidFill>
                    <a:srgbClr val="000000"/>
                  </a:solidFill>
                </a:rPr>
                <a:t>uP</a:t>
              </a:r>
              <a:endParaRPr lang="en-US" b="1" dirty="0">
                <a:solidFill>
                  <a:srgbClr val="000000"/>
                </a:solidFill>
              </a:endParaRPr>
            </a:p>
          </p:txBody>
        </p:sp>
        <p:sp>
          <p:nvSpPr>
            <p:cNvPr id="68662" name="Line 293"/>
            <p:cNvSpPr>
              <a:spLocks noChangeShapeType="1"/>
            </p:cNvSpPr>
            <p:nvPr/>
          </p:nvSpPr>
          <p:spPr bwMode="auto">
            <a:xfrm flipH="1">
              <a:off x="538163" y="2205038"/>
              <a:ext cx="893762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63" name="Line 294"/>
            <p:cNvSpPr>
              <a:spLocks noChangeShapeType="1"/>
            </p:cNvSpPr>
            <p:nvPr/>
          </p:nvSpPr>
          <p:spPr bwMode="auto">
            <a:xfrm>
              <a:off x="609600" y="5791200"/>
              <a:ext cx="690563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64" name="Line 295"/>
            <p:cNvSpPr>
              <a:spLocks noChangeShapeType="1"/>
            </p:cNvSpPr>
            <p:nvPr/>
          </p:nvSpPr>
          <p:spPr bwMode="auto">
            <a:xfrm flipV="1">
              <a:off x="598488" y="1484313"/>
              <a:ext cx="812800" cy="952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65" name="Text Box 296"/>
            <p:cNvSpPr txBox="1">
              <a:spLocks noChangeArrowheads="1"/>
            </p:cNvSpPr>
            <p:nvPr/>
          </p:nvSpPr>
          <p:spPr bwMode="auto">
            <a:xfrm>
              <a:off x="619645" y="2227412"/>
              <a:ext cx="47979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>
                  <a:solidFill>
                    <a:srgbClr val="000000"/>
                  </a:solidFill>
                </a:rPr>
                <a:t>A15</a:t>
              </a:r>
            </a:p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>
                  <a:solidFill>
                    <a:srgbClr val="000000"/>
                  </a:solidFill>
                </a:rPr>
                <a:t>?</a:t>
              </a:r>
            </a:p>
          </p:txBody>
        </p:sp>
        <p:sp>
          <p:nvSpPr>
            <p:cNvPr id="68666" name="Line 297"/>
            <p:cNvSpPr>
              <a:spLocks noChangeShapeType="1"/>
            </p:cNvSpPr>
            <p:nvPr/>
          </p:nvSpPr>
          <p:spPr bwMode="auto">
            <a:xfrm>
              <a:off x="558800" y="2216150"/>
              <a:ext cx="5080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70" name="Text Box 301"/>
            <p:cNvSpPr txBox="1">
              <a:spLocks noChangeArrowheads="1"/>
            </p:cNvSpPr>
            <p:nvPr/>
          </p:nvSpPr>
          <p:spPr bwMode="auto">
            <a:xfrm>
              <a:off x="2349500" y="2057400"/>
              <a:ext cx="404813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b="1">
                  <a:solidFill>
                    <a:srgbClr val="000000"/>
                  </a:solidFill>
                </a:rPr>
                <a:t>OE</a:t>
              </a:r>
            </a:p>
          </p:txBody>
        </p:sp>
        <p:sp>
          <p:nvSpPr>
            <p:cNvPr id="68671" name="Line 302"/>
            <p:cNvSpPr>
              <a:spLocks noChangeShapeType="1"/>
            </p:cNvSpPr>
            <p:nvPr/>
          </p:nvSpPr>
          <p:spPr bwMode="auto">
            <a:xfrm>
              <a:off x="2397125" y="2092325"/>
              <a:ext cx="2746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72" name="Text Box 305"/>
            <p:cNvSpPr txBox="1">
              <a:spLocks noChangeArrowheads="1"/>
            </p:cNvSpPr>
            <p:nvPr/>
          </p:nvSpPr>
          <p:spPr bwMode="auto">
            <a:xfrm>
              <a:off x="2252663" y="3925888"/>
              <a:ext cx="479425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b="1">
                  <a:solidFill>
                    <a:srgbClr val="000000"/>
                  </a:solidFill>
                </a:rPr>
                <a:t>CE0</a:t>
              </a:r>
            </a:p>
          </p:txBody>
        </p:sp>
        <p:sp>
          <p:nvSpPr>
            <p:cNvPr id="68673" name="Line 306"/>
            <p:cNvSpPr>
              <a:spLocks noChangeShapeType="1"/>
            </p:cNvSpPr>
            <p:nvPr/>
          </p:nvSpPr>
          <p:spPr bwMode="auto">
            <a:xfrm>
              <a:off x="2336800" y="3960813"/>
              <a:ext cx="2746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74" name="Text Box 307"/>
            <p:cNvSpPr txBox="1">
              <a:spLocks noChangeArrowheads="1"/>
            </p:cNvSpPr>
            <p:nvPr/>
          </p:nvSpPr>
          <p:spPr bwMode="auto">
            <a:xfrm>
              <a:off x="2252663" y="4283075"/>
              <a:ext cx="47942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b="1">
                  <a:solidFill>
                    <a:srgbClr val="000000"/>
                  </a:solidFill>
                </a:rPr>
                <a:t>CE1</a:t>
              </a:r>
            </a:p>
          </p:txBody>
        </p:sp>
        <p:sp>
          <p:nvSpPr>
            <p:cNvPr id="68675" name="Line 308"/>
            <p:cNvSpPr>
              <a:spLocks noChangeShapeType="1"/>
            </p:cNvSpPr>
            <p:nvPr/>
          </p:nvSpPr>
          <p:spPr bwMode="auto">
            <a:xfrm>
              <a:off x="2336800" y="4318000"/>
              <a:ext cx="2746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76" name="Line 309"/>
            <p:cNvSpPr>
              <a:spLocks noChangeShapeType="1"/>
            </p:cNvSpPr>
            <p:nvPr/>
          </p:nvSpPr>
          <p:spPr bwMode="auto">
            <a:xfrm flipH="1">
              <a:off x="538163" y="3870325"/>
              <a:ext cx="8842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77" name="Line 310"/>
            <p:cNvSpPr>
              <a:spLocks noChangeShapeType="1"/>
            </p:cNvSpPr>
            <p:nvPr/>
          </p:nvSpPr>
          <p:spPr bwMode="auto">
            <a:xfrm flipH="1">
              <a:off x="538163" y="4378325"/>
              <a:ext cx="8842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78" name="Text Box 311"/>
            <p:cNvSpPr txBox="1">
              <a:spLocks noChangeArrowheads="1"/>
            </p:cNvSpPr>
            <p:nvPr/>
          </p:nvSpPr>
          <p:spPr bwMode="auto">
            <a:xfrm>
              <a:off x="520700" y="3594100"/>
              <a:ext cx="40322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b="1">
                  <a:solidFill>
                    <a:srgbClr val="000000"/>
                  </a:solidFill>
                </a:rPr>
                <a:t>RD</a:t>
              </a:r>
            </a:p>
          </p:txBody>
        </p:sp>
        <p:sp>
          <p:nvSpPr>
            <p:cNvPr id="68679" name="Line 312"/>
            <p:cNvSpPr>
              <a:spLocks noChangeShapeType="1"/>
            </p:cNvSpPr>
            <p:nvPr/>
          </p:nvSpPr>
          <p:spPr bwMode="auto">
            <a:xfrm>
              <a:off x="600075" y="3657600"/>
              <a:ext cx="2222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80" name="Text Box 313"/>
            <p:cNvSpPr txBox="1">
              <a:spLocks noChangeArrowheads="1"/>
            </p:cNvSpPr>
            <p:nvPr/>
          </p:nvSpPr>
          <p:spPr bwMode="auto">
            <a:xfrm>
              <a:off x="512763" y="4029075"/>
              <a:ext cx="43815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b="1">
                  <a:solidFill>
                    <a:srgbClr val="000000"/>
                  </a:solidFill>
                </a:rPr>
                <a:t>WR</a:t>
              </a:r>
            </a:p>
          </p:txBody>
        </p:sp>
        <p:sp>
          <p:nvSpPr>
            <p:cNvPr id="68681" name="Line 314"/>
            <p:cNvSpPr>
              <a:spLocks noChangeShapeType="1"/>
            </p:cNvSpPr>
            <p:nvPr/>
          </p:nvSpPr>
          <p:spPr bwMode="auto">
            <a:xfrm>
              <a:off x="609600" y="4064000"/>
              <a:ext cx="2222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82" name="Line 315"/>
            <p:cNvSpPr>
              <a:spLocks noChangeShapeType="1"/>
            </p:cNvSpPr>
            <p:nvPr/>
          </p:nvSpPr>
          <p:spPr bwMode="auto">
            <a:xfrm>
              <a:off x="528638" y="3860800"/>
              <a:ext cx="254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83" name="Line 316"/>
            <p:cNvSpPr>
              <a:spLocks noChangeShapeType="1"/>
            </p:cNvSpPr>
            <p:nvPr/>
          </p:nvSpPr>
          <p:spPr bwMode="auto">
            <a:xfrm>
              <a:off x="558800" y="4378325"/>
              <a:ext cx="254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2" name="Rectangle 1"/>
            <p:cNvSpPr/>
            <p:nvPr/>
          </p:nvSpPr>
          <p:spPr>
            <a:xfrm>
              <a:off x="1411288" y="1560513"/>
              <a:ext cx="6863672" cy="417353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FFFFFF"/>
                </a:solidFill>
                <a:latin typeface="Frutiger 55 Roman"/>
                <a:ea typeface="ＭＳ Ｐゴシック"/>
              </a:endParaRPr>
            </a:p>
          </p:txBody>
        </p:sp>
      </p:grpSp>
      <p:sp>
        <p:nvSpPr>
          <p:cNvPr id="4" name="Rectangle 3"/>
          <p:cNvSpPr/>
          <p:nvPr/>
        </p:nvSpPr>
        <p:spPr>
          <a:xfrm>
            <a:off x="533400" y="1776948"/>
            <a:ext cx="8666988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8000" b="1" dirty="0">
                <a:ln w="11430"/>
                <a:gradFill>
                  <a:gsLst>
                    <a:gs pos="0">
                      <a:srgbClr val="AE4845">
                        <a:tint val="90000"/>
                        <a:satMod val="120000"/>
                      </a:srgbClr>
                    </a:gs>
                    <a:gs pos="25000">
                      <a:srgbClr val="AE4845">
                        <a:tint val="93000"/>
                        <a:satMod val="120000"/>
                      </a:srgbClr>
                    </a:gs>
                    <a:gs pos="50000">
                      <a:srgbClr val="AE4845">
                        <a:shade val="89000"/>
                        <a:satMod val="110000"/>
                      </a:srgbClr>
                    </a:gs>
                    <a:gs pos="75000">
                      <a:srgbClr val="AE4845">
                        <a:tint val="93000"/>
                        <a:satMod val="120000"/>
                      </a:srgbClr>
                    </a:gs>
                    <a:gs pos="100000">
                      <a:srgbClr val="AE4845">
                        <a:tint val="90000"/>
                        <a:satMod val="120000"/>
                      </a:srgb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Frutiger 55 Roman" charset="0"/>
                <a:ea typeface="ＭＳ Ｐゴシック" pitchFamily="34" charset="-128"/>
              </a:rPr>
              <a:t>Map Wires for Address &amp;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8000" b="1" dirty="0">
                <a:ln w="11430"/>
                <a:gradFill>
                  <a:gsLst>
                    <a:gs pos="0">
                      <a:srgbClr val="AE4845">
                        <a:tint val="90000"/>
                        <a:satMod val="120000"/>
                      </a:srgbClr>
                    </a:gs>
                    <a:gs pos="25000">
                      <a:srgbClr val="AE4845">
                        <a:tint val="93000"/>
                        <a:satMod val="120000"/>
                      </a:srgbClr>
                    </a:gs>
                    <a:gs pos="50000">
                      <a:srgbClr val="AE4845">
                        <a:shade val="89000"/>
                        <a:satMod val="110000"/>
                      </a:srgbClr>
                    </a:gs>
                    <a:gs pos="75000">
                      <a:srgbClr val="AE4845">
                        <a:tint val="93000"/>
                        <a:satMod val="120000"/>
                      </a:srgbClr>
                    </a:gs>
                    <a:gs pos="100000">
                      <a:srgbClr val="AE4845">
                        <a:tint val="90000"/>
                        <a:satMod val="120000"/>
                      </a:srgb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Frutiger 55 Roman" charset="0"/>
                <a:ea typeface="ＭＳ Ｐゴシック" pitchFamily="34" charset="-128"/>
              </a:rPr>
              <a:t>Control?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1586468"/>
            <a:ext cx="5334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6600"/>
                </a:solidFill>
              </a:rPr>
              <a:t>16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76201" y="3897868"/>
            <a:ext cx="3048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660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279" y="2819400"/>
            <a:ext cx="1217066" cy="677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Different Interface</a:t>
            </a:r>
          </a:p>
        </p:txBody>
      </p:sp>
    </p:spTree>
    <p:extLst>
      <p:ext uri="{BB962C8B-B14F-4D97-AF65-F5344CB8AC3E}">
        <p14:creationId xmlns:p14="http://schemas.microsoft.com/office/powerpoint/2010/main" val="3067798320"/>
      </p:ext>
    </p:ext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6682242" y="5715000"/>
            <a:ext cx="2461758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dirty="0"/>
              <a:t>“on”, “read”, “write”</a:t>
            </a:r>
          </a:p>
        </p:txBody>
      </p:sp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5113" y="0"/>
            <a:ext cx="8659812" cy="688975"/>
          </a:xfrm>
        </p:spPr>
        <p:txBody>
          <a:bodyPr/>
          <a:lstStyle/>
          <a:p>
            <a:r>
              <a:rPr lang="en-US" dirty="0"/>
              <a:t>Decoding the Memory Space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609600"/>
            <a:ext cx="8991600" cy="473075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Design the SRAM  (</a:t>
            </a:r>
            <a:r>
              <a:rPr lang="en-US" sz="1800" dirty="0">
                <a:solidFill>
                  <a:srgbClr val="FF6600"/>
                </a:solidFill>
              </a:rPr>
              <a:t>64K</a:t>
            </a:r>
            <a:r>
              <a:rPr lang="en-US" sz="1800" dirty="0"/>
              <a:t> x </a:t>
            </a:r>
            <a:r>
              <a:rPr lang="en-US" sz="1800" dirty="0">
                <a:solidFill>
                  <a:srgbClr val="0000FF"/>
                </a:solidFill>
              </a:rPr>
              <a:t>16</a:t>
            </a:r>
            <a:r>
              <a:rPr lang="en-US" sz="1800" dirty="0"/>
              <a:t>) memory system using 256K bit (</a:t>
            </a:r>
            <a:r>
              <a:rPr lang="en-US" sz="1800" dirty="0">
                <a:solidFill>
                  <a:srgbClr val="FF6600"/>
                </a:solidFill>
              </a:rPr>
              <a:t>32K</a:t>
            </a:r>
            <a:r>
              <a:rPr lang="en-US" sz="1800" dirty="0"/>
              <a:t> x </a:t>
            </a:r>
            <a:r>
              <a:rPr lang="en-US" sz="1800" dirty="0">
                <a:solidFill>
                  <a:srgbClr val="0000FF"/>
                </a:solidFill>
              </a:rPr>
              <a:t>8</a:t>
            </a:r>
            <a:r>
              <a:rPr lang="en-US" sz="1800" dirty="0"/>
              <a:t>) SRAM chips</a:t>
            </a:r>
          </a:p>
          <a:p>
            <a:endParaRPr lang="en-US" sz="1800" dirty="0"/>
          </a:p>
        </p:txBody>
      </p:sp>
      <p:sp>
        <p:nvSpPr>
          <p:cNvPr id="68622" name="Text Box 242"/>
          <p:cNvSpPr txBox="1">
            <a:spLocks noChangeArrowheads="1"/>
          </p:cNvSpPr>
          <p:nvPr/>
        </p:nvSpPr>
        <p:spPr bwMode="auto">
          <a:xfrm>
            <a:off x="8246386" y="3441700"/>
            <a:ext cx="8651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0000"/>
                </a:solidFill>
              </a:rPr>
              <a:t>Data Bus: D0..D15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74603" y="1204119"/>
            <a:ext cx="7726397" cy="4609306"/>
            <a:chOff x="276225" y="1204119"/>
            <a:chExt cx="7998735" cy="4609306"/>
          </a:xfrm>
        </p:grpSpPr>
        <p:grpSp>
          <p:nvGrpSpPr>
            <p:cNvPr id="68612" name="Group 64"/>
            <p:cNvGrpSpPr>
              <a:grpSpLocks/>
            </p:cNvGrpSpPr>
            <p:nvPr/>
          </p:nvGrpSpPr>
          <p:grpSpPr bwMode="auto">
            <a:xfrm>
              <a:off x="4522788" y="1616075"/>
              <a:ext cx="1601787" cy="1938338"/>
              <a:chOff x="1052" y="1581"/>
              <a:chExt cx="1009" cy="1221"/>
            </a:xfrm>
          </p:grpSpPr>
          <p:sp>
            <p:nvSpPr>
              <p:cNvPr id="68854" name="Rectangle 4"/>
              <p:cNvSpPr>
                <a:spLocks noChangeArrowheads="1"/>
              </p:cNvSpPr>
              <p:nvPr/>
            </p:nvSpPr>
            <p:spPr bwMode="auto">
              <a:xfrm>
                <a:off x="1359" y="1632"/>
                <a:ext cx="397" cy="112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55" name="Line 5"/>
              <p:cNvSpPr>
                <a:spLocks noChangeShapeType="1"/>
              </p:cNvSpPr>
              <p:nvPr/>
            </p:nvSpPr>
            <p:spPr bwMode="auto">
              <a:xfrm flipH="1">
                <a:off x="1056" y="1728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56" name="Line 6"/>
              <p:cNvSpPr>
                <a:spLocks noChangeShapeType="1"/>
              </p:cNvSpPr>
              <p:nvPr/>
            </p:nvSpPr>
            <p:spPr bwMode="auto">
              <a:xfrm flipH="1">
                <a:off x="1055" y="1792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57" name="Line 7"/>
              <p:cNvSpPr>
                <a:spLocks noChangeShapeType="1"/>
              </p:cNvSpPr>
              <p:nvPr/>
            </p:nvSpPr>
            <p:spPr bwMode="auto">
              <a:xfrm flipH="1">
                <a:off x="1056" y="1849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58" name="Line 8"/>
              <p:cNvSpPr>
                <a:spLocks noChangeShapeType="1"/>
              </p:cNvSpPr>
              <p:nvPr/>
            </p:nvSpPr>
            <p:spPr bwMode="auto">
              <a:xfrm flipH="1">
                <a:off x="1055" y="1913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59" name="Line 9"/>
              <p:cNvSpPr>
                <a:spLocks noChangeShapeType="1"/>
              </p:cNvSpPr>
              <p:nvPr/>
            </p:nvSpPr>
            <p:spPr bwMode="auto">
              <a:xfrm flipH="1">
                <a:off x="1053" y="1972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60" name="Line 10"/>
              <p:cNvSpPr>
                <a:spLocks noChangeShapeType="1"/>
              </p:cNvSpPr>
              <p:nvPr/>
            </p:nvSpPr>
            <p:spPr bwMode="auto">
              <a:xfrm flipH="1">
                <a:off x="1052" y="2036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61" name="Line 11"/>
              <p:cNvSpPr>
                <a:spLocks noChangeShapeType="1"/>
              </p:cNvSpPr>
              <p:nvPr/>
            </p:nvSpPr>
            <p:spPr bwMode="auto">
              <a:xfrm flipH="1">
                <a:off x="1053" y="2093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62" name="Line 12"/>
              <p:cNvSpPr>
                <a:spLocks noChangeShapeType="1"/>
              </p:cNvSpPr>
              <p:nvPr/>
            </p:nvSpPr>
            <p:spPr bwMode="auto">
              <a:xfrm flipH="1">
                <a:off x="1052" y="2157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63" name="Line 13"/>
              <p:cNvSpPr>
                <a:spLocks noChangeShapeType="1"/>
              </p:cNvSpPr>
              <p:nvPr/>
            </p:nvSpPr>
            <p:spPr bwMode="auto">
              <a:xfrm flipH="1">
                <a:off x="1056" y="2218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64" name="Line 14"/>
              <p:cNvSpPr>
                <a:spLocks noChangeShapeType="1"/>
              </p:cNvSpPr>
              <p:nvPr/>
            </p:nvSpPr>
            <p:spPr bwMode="auto">
              <a:xfrm flipH="1">
                <a:off x="1055" y="2282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65" name="Line 15"/>
              <p:cNvSpPr>
                <a:spLocks noChangeShapeType="1"/>
              </p:cNvSpPr>
              <p:nvPr/>
            </p:nvSpPr>
            <p:spPr bwMode="auto">
              <a:xfrm flipH="1">
                <a:off x="1056" y="2339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66" name="Line 16"/>
              <p:cNvSpPr>
                <a:spLocks noChangeShapeType="1"/>
              </p:cNvSpPr>
              <p:nvPr/>
            </p:nvSpPr>
            <p:spPr bwMode="auto">
              <a:xfrm flipH="1">
                <a:off x="1055" y="2403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67" name="Line 17"/>
              <p:cNvSpPr>
                <a:spLocks noChangeShapeType="1"/>
              </p:cNvSpPr>
              <p:nvPr/>
            </p:nvSpPr>
            <p:spPr bwMode="auto">
              <a:xfrm flipH="1">
                <a:off x="1053" y="2478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68" name="Line 18"/>
              <p:cNvSpPr>
                <a:spLocks noChangeShapeType="1"/>
              </p:cNvSpPr>
              <p:nvPr/>
            </p:nvSpPr>
            <p:spPr bwMode="auto">
              <a:xfrm flipH="1">
                <a:off x="1052" y="2536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69" name="Line 19"/>
              <p:cNvSpPr>
                <a:spLocks noChangeShapeType="1"/>
              </p:cNvSpPr>
              <p:nvPr/>
            </p:nvSpPr>
            <p:spPr bwMode="auto">
              <a:xfrm flipH="1">
                <a:off x="1057" y="2593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70" name="Text Box 21"/>
              <p:cNvSpPr txBox="1">
                <a:spLocks noChangeArrowheads="1"/>
              </p:cNvSpPr>
              <p:nvPr/>
            </p:nvSpPr>
            <p:spPr bwMode="auto">
              <a:xfrm>
                <a:off x="1335" y="1655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A0</a:t>
                </a:r>
              </a:p>
            </p:txBody>
          </p:sp>
          <p:sp>
            <p:nvSpPr>
              <p:cNvPr id="68871" name="Text Box 22"/>
              <p:cNvSpPr txBox="1">
                <a:spLocks noChangeArrowheads="1"/>
              </p:cNvSpPr>
              <p:nvPr/>
            </p:nvSpPr>
            <p:spPr bwMode="auto">
              <a:xfrm>
                <a:off x="1339" y="1716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</a:t>
                </a:r>
              </a:p>
            </p:txBody>
          </p:sp>
          <p:sp>
            <p:nvSpPr>
              <p:cNvPr id="68872" name="Text Box 23"/>
              <p:cNvSpPr txBox="1">
                <a:spLocks noChangeArrowheads="1"/>
              </p:cNvSpPr>
              <p:nvPr/>
            </p:nvSpPr>
            <p:spPr bwMode="auto">
              <a:xfrm>
                <a:off x="1338" y="1782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A2</a:t>
                </a:r>
              </a:p>
            </p:txBody>
          </p:sp>
          <p:sp>
            <p:nvSpPr>
              <p:cNvPr id="68873" name="Text Box 24"/>
              <p:cNvSpPr txBox="1">
                <a:spLocks noChangeArrowheads="1"/>
              </p:cNvSpPr>
              <p:nvPr/>
            </p:nvSpPr>
            <p:spPr bwMode="auto">
              <a:xfrm>
                <a:off x="1339" y="1847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A3</a:t>
                </a:r>
              </a:p>
            </p:txBody>
          </p:sp>
          <p:sp>
            <p:nvSpPr>
              <p:cNvPr id="68874" name="Text Box 25"/>
              <p:cNvSpPr txBox="1">
                <a:spLocks noChangeArrowheads="1"/>
              </p:cNvSpPr>
              <p:nvPr/>
            </p:nvSpPr>
            <p:spPr bwMode="auto">
              <a:xfrm>
                <a:off x="1335" y="1905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A4</a:t>
                </a:r>
              </a:p>
            </p:txBody>
          </p:sp>
          <p:sp>
            <p:nvSpPr>
              <p:cNvPr id="68875" name="Text Box 26"/>
              <p:cNvSpPr txBox="1">
                <a:spLocks noChangeArrowheads="1"/>
              </p:cNvSpPr>
              <p:nvPr/>
            </p:nvSpPr>
            <p:spPr bwMode="auto">
              <a:xfrm>
                <a:off x="1339" y="1966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A5</a:t>
                </a:r>
              </a:p>
            </p:txBody>
          </p:sp>
          <p:sp>
            <p:nvSpPr>
              <p:cNvPr id="68876" name="Text Box 27"/>
              <p:cNvSpPr txBox="1">
                <a:spLocks noChangeArrowheads="1"/>
              </p:cNvSpPr>
              <p:nvPr/>
            </p:nvSpPr>
            <p:spPr bwMode="auto">
              <a:xfrm>
                <a:off x="1338" y="2032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A6</a:t>
                </a:r>
              </a:p>
            </p:txBody>
          </p:sp>
          <p:sp>
            <p:nvSpPr>
              <p:cNvPr id="68877" name="Text Box 28"/>
              <p:cNvSpPr txBox="1">
                <a:spLocks noChangeArrowheads="1"/>
              </p:cNvSpPr>
              <p:nvPr/>
            </p:nvSpPr>
            <p:spPr bwMode="auto">
              <a:xfrm>
                <a:off x="1339" y="2097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A7</a:t>
                </a:r>
              </a:p>
            </p:txBody>
          </p:sp>
          <p:sp>
            <p:nvSpPr>
              <p:cNvPr id="68878" name="Text Box 29"/>
              <p:cNvSpPr txBox="1">
                <a:spLocks noChangeArrowheads="1"/>
              </p:cNvSpPr>
              <p:nvPr/>
            </p:nvSpPr>
            <p:spPr bwMode="auto">
              <a:xfrm>
                <a:off x="1332" y="2154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A8</a:t>
                </a:r>
              </a:p>
            </p:txBody>
          </p:sp>
          <p:sp>
            <p:nvSpPr>
              <p:cNvPr id="68879" name="Text Box 30"/>
              <p:cNvSpPr txBox="1">
                <a:spLocks noChangeArrowheads="1"/>
              </p:cNvSpPr>
              <p:nvPr/>
            </p:nvSpPr>
            <p:spPr bwMode="auto">
              <a:xfrm>
                <a:off x="1336" y="2215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A9</a:t>
                </a:r>
              </a:p>
            </p:txBody>
          </p:sp>
          <p:sp>
            <p:nvSpPr>
              <p:cNvPr id="68880" name="Text Box 31"/>
              <p:cNvSpPr txBox="1">
                <a:spLocks noChangeArrowheads="1"/>
              </p:cNvSpPr>
              <p:nvPr/>
            </p:nvSpPr>
            <p:spPr bwMode="auto">
              <a:xfrm>
                <a:off x="1317" y="2281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A10</a:t>
                </a:r>
              </a:p>
            </p:txBody>
          </p:sp>
          <p:sp>
            <p:nvSpPr>
              <p:cNvPr id="68881" name="Text Box 32"/>
              <p:cNvSpPr txBox="1">
                <a:spLocks noChangeArrowheads="1"/>
              </p:cNvSpPr>
              <p:nvPr/>
            </p:nvSpPr>
            <p:spPr bwMode="auto">
              <a:xfrm>
                <a:off x="1318" y="2346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A11</a:t>
                </a:r>
              </a:p>
            </p:txBody>
          </p:sp>
          <p:sp>
            <p:nvSpPr>
              <p:cNvPr id="68882" name="Text Box 33"/>
              <p:cNvSpPr txBox="1">
                <a:spLocks noChangeArrowheads="1"/>
              </p:cNvSpPr>
              <p:nvPr/>
            </p:nvSpPr>
            <p:spPr bwMode="auto">
              <a:xfrm>
                <a:off x="1314" y="2404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A12</a:t>
                </a:r>
              </a:p>
            </p:txBody>
          </p:sp>
          <p:sp>
            <p:nvSpPr>
              <p:cNvPr id="68883" name="Text Box 34"/>
              <p:cNvSpPr txBox="1">
                <a:spLocks noChangeArrowheads="1"/>
              </p:cNvSpPr>
              <p:nvPr/>
            </p:nvSpPr>
            <p:spPr bwMode="auto">
              <a:xfrm>
                <a:off x="1318" y="2465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A13</a:t>
                </a:r>
              </a:p>
            </p:txBody>
          </p:sp>
          <p:sp>
            <p:nvSpPr>
              <p:cNvPr id="68884" name="Text Box 35"/>
              <p:cNvSpPr txBox="1">
                <a:spLocks noChangeArrowheads="1"/>
              </p:cNvSpPr>
              <p:nvPr/>
            </p:nvSpPr>
            <p:spPr bwMode="auto">
              <a:xfrm>
                <a:off x="1317" y="2531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A14</a:t>
                </a:r>
              </a:p>
            </p:txBody>
          </p:sp>
          <p:sp>
            <p:nvSpPr>
              <p:cNvPr id="68885" name="Line 37"/>
              <p:cNvSpPr>
                <a:spLocks noChangeShapeType="1"/>
              </p:cNvSpPr>
              <p:nvPr/>
            </p:nvSpPr>
            <p:spPr bwMode="auto">
              <a:xfrm flipH="1">
                <a:off x="1756" y="1740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86" name="Line 38"/>
              <p:cNvSpPr>
                <a:spLocks noChangeShapeType="1"/>
              </p:cNvSpPr>
              <p:nvPr/>
            </p:nvSpPr>
            <p:spPr bwMode="auto">
              <a:xfrm flipH="1">
                <a:off x="1759" y="1844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87" name="Line 39"/>
              <p:cNvSpPr>
                <a:spLocks noChangeShapeType="1"/>
              </p:cNvSpPr>
              <p:nvPr/>
            </p:nvSpPr>
            <p:spPr bwMode="auto">
              <a:xfrm flipH="1">
                <a:off x="1757" y="1987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88" name="Line 40"/>
              <p:cNvSpPr>
                <a:spLocks noChangeShapeType="1"/>
              </p:cNvSpPr>
              <p:nvPr/>
            </p:nvSpPr>
            <p:spPr bwMode="auto">
              <a:xfrm flipH="1">
                <a:off x="1756" y="2135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89" name="Line 41"/>
              <p:cNvSpPr>
                <a:spLocks noChangeShapeType="1"/>
              </p:cNvSpPr>
              <p:nvPr/>
            </p:nvSpPr>
            <p:spPr bwMode="auto">
              <a:xfrm flipH="1">
                <a:off x="1754" y="2270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90" name="Line 42"/>
              <p:cNvSpPr>
                <a:spLocks noChangeShapeType="1"/>
              </p:cNvSpPr>
              <p:nvPr/>
            </p:nvSpPr>
            <p:spPr bwMode="auto">
              <a:xfrm flipH="1">
                <a:off x="1756" y="2386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91" name="Line 43"/>
              <p:cNvSpPr>
                <a:spLocks noChangeShapeType="1"/>
              </p:cNvSpPr>
              <p:nvPr/>
            </p:nvSpPr>
            <p:spPr bwMode="auto">
              <a:xfrm flipH="1">
                <a:off x="1761" y="2500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92" name="Line 44"/>
              <p:cNvSpPr>
                <a:spLocks noChangeShapeType="1"/>
              </p:cNvSpPr>
              <p:nvPr/>
            </p:nvSpPr>
            <p:spPr bwMode="auto">
              <a:xfrm flipH="1">
                <a:off x="1752" y="2597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93" name="Text Box 45"/>
              <p:cNvSpPr txBox="1">
                <a:spLocks noChangeArrowheads="1"/>
              </p:cNvSpPr>
              <p:nvPr/>
            </p:nvSpPr>
            <p:spPr bwMode="auto">
              <a:xfrm>
                <a:off x="1599" y="1667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D0</a:t>
                </a:r>
              </a:p>
            </p:txBody>
          </p:sp>
          <p:sp>
            <p:nvSpPr>
              <p:cNvPr id="68894" name="Text Box 46"/>
              <p:cNvSpPr txBox="1">
                <a:spLocks noChangeArrowheads="1"/>
              </p:cNvSpPr>
              <p:nvPr/>
            </p:nvSpPr>
            <p:spPr bwMode="auto">
              <a:xfrm>
                <a:off x="1604" y="1780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D1</a:t>
                </a:r>
              </a:p>
            </p:txBody>
          </p:sp>
          <p:sp>
            <p:nvSpPr>
              <p:cNvPr id="68895" name="Text Box 47"/>
              <p:cNvSpPr txBox="1">
                <a:spLocks noChangeArrowheads="1"/>
              </p:cNvSpPr>
              <p:nvPr/>
            </p:nvSpPr>
            <p:spPr bwMode="auto">
              <a:xfrm>
                <a:off x="1603" y="1919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D2</a:t>
                </a:r>
              </a:p>
            </p:txBody>
          </p:sp>
          <p:sp>
            <p:nvSpPr>
              <p:cNvPr id="68896" name="Text Box 48"/>
              <p:cNvSpPr txBox="1">
                <a:spLocks noChangeArrowheads="1"/>
              </p:cNvSpPr>
              <p:nvPr/>
            </p:nvSpPr>
            <p:spPr bwMode="auto">
              <a:xfrm>
                <a:off x="1600" y="2064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D3</a:t>
                </a:r>
              </a:p>
            </p:txBody>
          </p:sp>
          <p:sp>
            <p:nvSpPr>
              <p:cNvPr id="68897" name="Text Box 49"/>
              <p:cNvSpPr txBox="1">
                <a:spLocks noChangeArrowheads="1"/>
              </p:cNvSpPr>
              <p:nvPr/>
            </p:nvSpPr>
            <p:spPr bwMode="auto">
              <a:xfrm>
                <a:off x="1602" y="2190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D4</a:t>
                </a:r>
              </a:p>
            </p:txBody>
          </p:sp>
          <p:sp>
            <p:nvSpPr>
              <p:cNvPr id="68898" name="Text Box 50"/>
              <p:cNvSpPr txBox="1">
                <a:spLocks noChangeArrowheads="1"/>
              </p:cNvSpPr>
              <p:nvPr/>
            </p:nvSpPr>
            <p:spPr bwMode="auto">
              <a:xfrm>
                <a:off x="1604" y="2321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D5</a:t>
                </a:r>
              </a:p>
            </p:txBody>
          </p:sp>
          <p:sp>
            <p:nvSpPr>
              <p:cNvPr id="68899" name="Text Box 51"/>
              <p:cNvSpPr txBox="1">
                <a:spLocks noChangeArrowheads="1"/>
              </p:cNvSpPr>
              <p:nvPr/>
            </p:nvSpPr>
            <p:spPr bwMode="auto">
              <a:xfrm>
                <a:off x="1602" y="2431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D6</a:t>
                </a:r>
              </a:p>
            </p:txBody>
          </p:sp>
          <p:sp>
            <p:nvSpPr>
              <p:cNvPr id="68900" name="Text Box 52"/>
              <p:cNvSpPr txBox="1">
                <a:spLocks noChangeArrowheads="1"/>
              </p:cNvSpPr>
              <p:nvPr/>
            </p:nvSpPr>
            <p:spPr bwMode="auto">
              <a:xfrm>
                <a:off x="1602" y="2534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D7</a:t>
                </a:r>
              </a:p>
            </p:txBody>
          </p:sp>
          <p:sp>
            <p:nvSpPr>
              <p:cNvPr id="68901" name="Oval 53"/>
              <p:cNvSpPr>
                <a:spLocks noChangeArrowheads="1"/>
              </p:cNvSpPr>
              <p:nvPr/>
            </p:nvSpPr>
            <p:spPr bwMode="auto">
              <a:xfrm>
                <a:off x="1463" y="2755"/>
                <a:ext cx="48" cy="4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902" name="Oval 54"/>
              <p:cNvSpPr>
                <a:spLocks noChangeArrowheads="1"/>
              </p:cNvSpPr>
              <p:nvPr/>
            </p:nvSpPr>
            <p:spPr bwMode="auto">
              <a:xfrm>
                <a:off x="1613" y="2752"/>
                <a:ext cx="48" cy="4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903" name="Oval 56"/>
              <p:cNvSpPr>
                <a:spLocks noChangeArrowheads="1"/>
              </p:cNvSpPr>
              <p:nvPr/>
            </p:nvSpPr>
            <p:spPr bwMode="auto">
              <a:xfrm>
                <a:off x="1534" y="1581"/>
                <a:ext cx="48" cy="4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904" name="Text Box 57"/>
              <p:cNvSpPr txBox="1">
                <a:spLocks noChangeArrowheads="1"/>
              </p:cNvSpPr>
              <p:nvPr/>
            </p:nvSpPr>
            <p:spPr bwMode="auto">
              <a:xfrm>
                <a:off x="1383" y="2643"/>
                <a:ext cx="209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OE</a:t>
                </a:r>
              </a:p>
            </p:txBody>
          </p:sp>
          <p:sp>
            <p:nvSpPr>
              <p:cNvPr id="68905" name="Line 58"/>
              <p:cNvSpPr>
                <a:spLocks noChangeShapeType="1"/>
              </p:cNvSpPr>
              <p:nvPr/>
            </p:nvSpPr>
            <p:spPr bwMode="auto">
              <a:xfrm>
                <a:off x="1450" y="2669"/>
                <a:ext cx="7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906" name="Text Box 59"/>
              <p:cNvSpPr txBox="1">
                <a:spLocks noChangeArrowheads="1"/>
              </p:cNvSpPr>
              <p:nvPr/>
            </p:nvSpPr>
            <p:spPr bwMode="auto">
              <a:xfrm>
                <a:off x="1529" y="2642"/>
                <a:ext cx="205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CE</a:t>
                </a:r>
              </a:p>
            </p:txBody>
          </p:sp>
          <p:sp>
            <p:nvSpPr>
              <p:cNvPr id="68907" name="Line 60"/>
              <p:cNvSpPr>
                <a:spLocks noChangeShapeType="1"/>
              </p:cNvSpPr>
              <p:nvPr/>
            </p:nvSpPr>
            <p:spPr bwMode="auto">
              <a:xfrm>
                <a:off x="1594" y="2668"/>
                <a:ext cx="7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908" name="Text Box 62"/>
              <p:cNvSpPr txBox="1">
                <a:spLocks noChangeArrowheads="1"/>
              </p:cNvSpPr>
              <p:nvPr/>
            </p:nvSpPr>
            <p:spPr bwMode="auto">
              <a:xfrm>
                <a:off x="1475" y="1625"/>
                <a:ext cx="176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W</a:t>
                </a:r>
              </a:p>
            </p:txBody>
          </p:sp>
          <p:sp>
            <p:nvSpPr>
              <p:cNvPr id="68909" name="Line 63"/>
              <p:cNvSpPr>
                <a:spLocks noChangeShapeType="1"/>
              </p:cNvSpPr>
              <p:nvPr/>
            </p:nvSpPr>
            <p:spPr bwMode="auto">
              <a:xfrm>
                <a:off x="1527" y="1655"/>
                <a:ext cx="7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</p:grpSp>
        <p:grpSp>
          <p:nvGrpSpPr>
            <p:cNvPr id="68613" name="Group 65"/>
            <p:cNvGrpSpPr>
              <a:grpSpLocks/>
            </p:cNvGrpSpPr>
            <p:nvPr/>
          </p:nvGrpSpPr>
          <p:grpSpPr bwMode="auto">
            <a:xfrm>
              <a:off x="6524625" y="1606550"/>
              <a:ext cx="1601788" cy="1938338"/>
              <a:chOff x="1052" y="1581"/>
              <a:chExt cx="1009" cy="1221"/>
            </a:xfrm>
          </p:grpSpPr>
          <p:sp>
            <p:nvSpPr>
              <p:cNvPr id="68798" name="Rectangle 66"/>
              <p:cNvSpPr>
                <a:spLocks noChangeArrowheads="1"/>
              </p:cNvSpPr>
              <p:nvPr/>
            </p:nvSpPr>
            <p:spPr bwMode="auto">
              <a:xfrm>
                <a:off x="1359" y="1632"/>
                <a:ext cx="397" cy="112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99" name="Line 67"/>
              <p:cNvSpPr>
                <a:spLocks noChangeShapeType="1"/>
              </p:cNvSpPr>
              <p:nvPr/>
            </p:nvSpPr>
            <p:spPr bwMode="auto">
              <a:xfrm flipH="1">
                <a:off x="1056" y="1728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00" name="Line 68"/>
              <p:cNvSpPr>
                <a:spLocks noChangeShapeType="1"/>
              </p:cNvSpPr>
              <p:nvPr/>
            </p:nvSpPr>
            <p:spPr bwMode="auto">
              <a:xfrm flipH="1">
                <a:off x="1055" y="1792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01" name="Line 69"/>
              <p:cNvSpPr>
                <a:spLocks noChangeShapeType="1"/>
              </p:cNvSpPr>
              <p:nvPr/>
            </p:nvSpPr>
            <p:spPr bwMode="auto">
              <a:xfrm flipH="1">
                <a:off x="1056" y="1849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02" name="Line 70"/>
              <p:cNvSpPr>
                <a:spLocks noChangeShapeType="1"/>
              </p:cNvSpPr>
              <p:nvPr/>
            </p:nvSpPr>
            <p:spPr bwMode="auto">
              <a:xfrm flipH="1">
                <a:off x="1055" y="1913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03" name="Line 71"/>
              <p:cNvSpPr>
                <a:spLocks noChangeShapeType="1"/>
              </p:cNvSpPr>
              <p:nvPr/>
            </p:nvSpPr>
            <p:spPr bwMode="auto">
              <a:xfrm flipH="1">
                <a:off x="1053" y="1972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04" name="Line 72"/>
              <p:cNvSpPr>
                <a:spLocks noChangeShapeType="1"/>
              </p:cNvSpPr>
              <p:nvPr/>
            </p:nvSpPr>
            <p:spPr bwMode="auto">
              <a:xfrm flipH="1">
                <a:off x="1052" y="2036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05" name="Line 73"/>
              <p:cNvSpPr>
                <a:spLocks noChangeShapeType="1"/>
              </p:cNvSpPr>
              <p:nvPr/>
            </p:nvSpPr>
            <p:spPr bwMode="auto">
              <a:xfrm flipH="1">
                <a:off x="1053" y="2093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06" name="Line 74"/>
              <p:cNvSpPr>
                <a:spLocks noChangeShapeType="1"/>
              </p:cNvSpPr>
              <p:nvPr/>
            </p:nvSpPr>
            <p:spPr bwMode="auto">
              <a:xfrm flipH="1">
                <a:off x="1052" y="2157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07" name="Line 75"/>
              <p:cNvSpPr>
                <a:spLocks noChangeShapeType="1"/>
              </p:cNvSpPr>
              <p:nvPr/>
            </p:nvSpPr>
            <p:spPr bwMode="auto">
              <a:xfrm flipH="1">
                <a:off x="1056" y="2218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08" name="Line 76"/>
              <p:cNvSpPr>
                <a:spLocks noChangeShapeType="1"/>
              </p:cNvSpPr>
              <p:nvPr/>
            </p:nvSpPr>
            <p:spPr bwMode="auto">
              <a:xfrm flipH="1">
                <a:off x="1055" y="2282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09" name="Line 77"/>
              <p:cNvSpPr>
                <a:spLocks noChangeShapeType="1"/>
              </p:cNvSpPr>
              <p:nvPr/>
            </p:nvSpPr>
            <p:spPr bwMode="auto">
              <a:xfrm flipH="1">
                <a:off x="1056" y="2339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10" name="Line 78"/>
              <p:cNvSpPr>
                <a:spLocks noChangeShapeType="1"/>
              </p:cNvSpPr>
              <p:nvPr/>
            </p:nvSpPr>
            <p:spPr bwMode="auto">
              <a:xfrm flipH="1">
                <a:off x="1055" y="2403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11" name="Line 79"/>
              <p:cNvSpPr>
                <a:spLocks noChangeShapeType="1"/>
              </p:cNvSpPr>
              <p:nvPr/>
            </p:nvSpPr>
            <p:spPr bwMode="auto">
              <a:xfrm flipH="1">
                <a:off x="1053" y="2478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12" name="Line 80"/>
              <p:cNvSpPr>
                <a:spLocks noChangeShapeType="1"/>
              </p:cNvSpPr>
              <p:nvPr/>
            </p:nvSpPr>
            <p:spPr bwMode="auto">
              <a:xfrm flipH="1">
                <a:off x="1052" y="2536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13" name="Line 81"/>
              <p:cNvSpPr>
                <a:spLocks noChangeShapeType="1"/>
              </p:cNvSpPr>
              <p:nvPr/>
            </p:nvSpPr>
            <p:spPr bwMode="auto">
              <a:xfrm flipH="1">
                <a:off x="1057" y="2593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14" name="Text Box 82"/>
              <p:cNvSpPr txBox="1">
                <a:spLocks noChangeArrowheads="1"/>
              </p:cNvSpPr>
              <p:nvPr/>
            </p:nvSpPr>
            <p:spPr bwMode="auto">
              <a:xfrm>
                <a:off x="1335" y="1655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A0</a:t>
                </a:r>
              </a:p>
            </p:txBody>
          </p:sp>
          <p:sp>
            <p:nvSpPr>
              <p:cNvPr id="68815" name="Text Box 83"/>
              <p:cNvSpPr txBox="1">
                <a:spLocks noChangeArrowheads="1"/>
              </p:cNvSpPr>
              <p:nvPr/>
            </p:nvSpPr>
            <p:spPr bwMode="auto">
              <a:xfrm>
                <a:off x="1339" y="1716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</a:t>
                </a:r>
              </a:p>
            </p:txBody>
          </p:sp>
          <p:sp>
            <p:nvSpPr>
              <p:cNvPr id="68816" name="Text Box 84"/>
              <p:cNvSpPr txBox="1">
                <a:spLocks noChangeArrowheads="1"/>
              </p:cNvSpPr>
              <p:nvPr/>
            </p:nvSpPr>
            <p:spPr bwMode="auto">
              <a:xfrm>
                <a:off x="1338" y="1782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A2</a:t>
                </a:r>
              </a:p>
            </p:txBody>
          </p:sp>
          <p:sp>
            <p:nvSpPr>
              <p:cNvPr id="68817" name="Text Box 85"/>
              <p:cNvSpPr txBox="1">
                <a:spLocks noChangeArrowheads="1"/>
              </p:cNvSpPr>
              <p:nvPr/>
            </p:nvSpPr>
            <p:spPr bwMode="auto">
              <a:xfrm>
                <a:off x="1339" y="1847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A3</a:t>
                </a:r>
              </a:p>
            </p:txBody>
          </p:sp>
          <p:sp>
            <p:nvSpPr>
              <p:cNvPr id="68818" name="Text Box 86"/>
              <p:cNvSpPr txBox="1">
                <a:spLocks noChangeArrowheads="1"/>
              </p:cNvSpPr>
              <p:nvPr/>
            </p:nvSpPr>
            <p:spPr bwMode="auto">
              <a:xfrm>
                <a:off x="1335" y="1905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A4</a:t>
                </a:r>
              </a:p>
            </p:txBody>
          </p:sp>
          <p:sp>
            <p:nvSpPr>
              <p:cNvPr id="68819" name="Text Box 87"/>
              <p:cNvSpPr txBox="1">
                <a:spLocks noChangeArrowheads="1"/>
              </p:cNvSpPr>
              <p:nvPr/>
            </p:nvSpPr>
            <p:spPr bwMode="auto">
              <a:xfrm>
                <a:off x="1339" y="1966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A5</a:t>
                </a:r>
              </a:p>
            </p:txBody>
          </p:sp>
          <p:sp>
            <p:nvSpPr>
              <p:cNvPr id="68820" name="Text Box 88"/>
              <p:cNvSpPr txBox="1">
                <a:spLocks noChangeArrowheads="1"/>
              </p:cNvSpPr>
              <p:nvPr/>
            </p:nvSpPr>
            <p:spPr bwMode="auto">
              <a:xfrm>
                <a:off x="1338" y="2032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A6</a:t>
                </a:r>
              </a:p>
            </p:txBody>
          </p:sp>
          <p:sp>
            <p:nvSpPr>
              <p:cNvPr id="68821" name="Text Box 89"/>
              <p:cNvSpPr txBox="1">
                <a:spLocks noChangeArrowheads="1"/>
              </p:cNvSpPr>
              <p:nvPr/>
            </p:nvSpPr>
            <p:spPr bwMode="auto">
              <a:xfrm>
                <a:off x="1339" y="2097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A7</a:t>
                </a:r>
              </a:p>
            </p:txBody>
          </p:sp>
          <p:sp>
            <p:nvSpPr>
              <p:cNvPr id="68822" name="Text Box 90"/>
              <p:cNvSpPr txBox="1">
                <a:spLocks noChangeArrowheads="1"/>
              </p:cNvSpPr>
              <p:nvPr/>
            </p:nvSpPr>
            <p:spPr bwMode="auto">
              <a:xfrm>
                <a:off x="1332" y="2154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A8</a:t>
                </a:r>
              </a:p>
            </p:txBody>
          </p:sp>
          <p:sp>
            <p:nvSpPr>
              <p:cNvPr id="68823" name="Text Box 91"/>
              <p:cNvSpPr txBox="1">
                <a:spLocks noChangeArrowheads="1"/>
              </p:cNvSpPr>
              <p:nvPr/>
            </p:nvSpPr>
            <p:spPr bwMode="auto">
              <a:xfrm>
                <a:off x="1336" y="2215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A9</a:t>
                </a:r>
              </a:p>
            </p:txBody>
          </p:sp>
          <p:sp>
            <p:nvSpPr>
              <p:cNvPr id="68824" name="Text Box 92"/>
              <p:cNvSpPr txBox="1">
                <a:spLocks noChangeArrowheads="1"/>
              </p:cNvSpPr>
              <p:nvPr/>
            </p:nvSpPr>
            <p:spPr bwMode="auto">
              <a:xfrm>
                <a:off x="1317" y="2281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A10</a:t>
                </a:r>
              </a:p>
            </p:txBody>
          </p:sp>
          <p:sp>
            <p:nvSpPr>
              <p:cNvPr id="68825" name="Text Box 93"/>
              <p:cNvSpPr txBox="1">
                <a:spLocks noChangeArrowheads="1"/>
              </p:cNvSpPr>
              <p:nvPr/>
            </p:nvSpPr>
            <p:spPr bwMode="auto">
              <a:xfrm>
                <a:off x="1318" y="2346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A11</a:t>
                </a:r>
              </a:p>
            </p:txBody>
          </p:sp>
          <p:sp>
            <p:nvSpPr>
              <p:cNvPr id="68826" name="Text Box 94"/>
              <p:cNvSpPr txBox="1">
                <a:spLocks noChangeArrowheads="1"/>
              </p:cNvSpPr>
              <p:nvPr/>
            </p:nvSpPr>
            <p:spPr bwMode="auto">
              <a:xfrm>
                <a:off x="1314" y="2404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A12</a:t>
                </a:r>
              </a:p>
            </p:txBody>
          </p:sp>
          <p:sp>
            <p:nvSpPr>
              <p:cNvPr id="68827" name="Text Box 95"/>
              <p:cNvSpPr txBox="1">
                <a:spLocks noChangeArrowheads="1"/>
              </p:cNvSpPr>
              <p:nvPr/>
            </p:nvSpPr>
            <p:spPr bwMode="auto">
              <a:xfrm>
                <a:off x="1318" y="2465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A13</a:t>
                </a:r>
              </a:p>
            </p:txBody>
          </p:sp>
          <p:sp>
            <p:nvSpPr>
              <p:cNvPr id="68828" name="Text Box 96"/>
              <p:cNvSpPr txBox="1">
                <a:spLocks noChangeArrowheads="1"/>
              </p:cNvSpPr>
              <p:nvPr/>
            </p:nvSpPr>
            <p:spPr bwMode="auto">
              <a:xfrm>
                <a:off x="1317" y="2531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A14</a:t>
                </a:r>
              </a:p>
            </p:txBody>
          </p:sp>
          <p:sp>
            <p:nvSpPr>
              <p:cNvPr id="68829" name="Line 97"/>
              <p:cNvSpPr>
                <a:spLocks noChangeShapeType="1"/>
              </p:cNvSpPr>
              <p:nvPr/>
            </p:nvSpPr>
            <p:spPr bwMode="auto">
              <a:xfrm flipH="1">
                <a:off x="1756" y="1740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30" name="Line 98"/>
              <p:cNvSpPr>
                <a:spLocks noChangeShapeType="1"/>
              </p:cNvSpPr>
              <p:nvPr/>
            </p:nvSpPr>
            <p:spPr bwMode="auto">
              <a:xfrm flipH="1">
                <a:off x="1759" y="1844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31" name="Line 99"/>
              <p:cNvSpPr>
                <a:spLocks noChangeShapeType="1"/>
              </p:cNvSpPr>
              <p:nvPr/>
            </p:nvSpPr>
            <p:spPr bwMode="auto">
              <a:xfrm flipH="1">
                <a:off x="1757" y="1987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32" name="Line 100"/>
              <p:cNvSpPr>
                <a:spLocks noChangeShapeType="1"/>
              </p:cNvSpPr>
              <p:nvPr/>
            </p:nvSpPr>
            <p:spPr bwMode="auto">
              <a:xfrm flipH="1">
                <a:off x="1756" y="2135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33" name="Line 101"/>
              <p:cNvSpPr>
                <a:spLocks noChangeShapeType="1"/>
              </p:cNvSpPr>
              <p:nvPr/>
            </p:nvSpPr>
            <p:spPr bwMode="auto">
              <a:xfrm flipH="1">
                <a:off x="1754" y="2270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34" name="Line 102"/>
              <p:cNvSpPr>
                <a:spLocks noChangeShapeType="1"/>
              </p:cNvSpPr>
              <p:nvPr/>
            </p:nvSpPr>
            <p:spPr bwMode="auto">
              <a:xfrm flipH="1">
                <a:off x="1756" y="2386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35" name="Line 103"/>
              <p:cNvSpPr>
                <a:spLocks noChangeShapeType="1"/>
              </p:cNvSpPr>
              <p:nvPr/>
            </p:nvSpPr>
            <p:spPr bwMode="auto">
              <a:xfrm flipH="1">
                <a:off x="1761" y="2500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36" name="Line 104"/>
              <p:cNvSpPr>
                <a:spLocks noChangeShapeType="1"/>
              </p:cNvSpPr>
              <p:nvPr/>
            </p:nvSpPr>
            <p:spPr bwMode="auto">
              <a:xfrm flipH="1">
                <a:off x="1752" y="2597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37" name="Text Box 105"/>
              <p:cNvSpPr txBox="1">
                <a:spLocks noChangeArrowheads="1"/>
              </p:cNvSpPr>
              <p:nvPr/>
            </p:nvSpPr>
            <p:spPr bwMode="auto">
              <a:xfrm>
                <a:off x="1599" y="1667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D0</a:t>
                </a:r>
              </a:p>
            </p:txBody>
          </p:sp>
          <p:sp>
            <p:nvSpPr>
              <p:cNvPr id="68838" name="Text Box 106"/>
              <p:cNvSpPr txBox="1">
                <a:spLocks noChangeArrowheads="1"/>
              </p:cNvSpPr>
              <p:nvPr/>
            </p:nvSpPr>
            <p:spPr bwMode="auto">
              <a:xfrm>
                <a:off x="1604" y="1780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D1</a:t>
                </a:r>
              </a:p>
            </p:txBody>
          </p:sp>
          <p:sp>
            <p:nvSpPr>
              <p:cNvPr id="68839" name="Text Box 107"/>
              <p:cNvSpPr txBox="1">
                <a:spLocks noChangeArrowheads="1"/>
              </p:cNvSpPr>
              <p:nvPr/>
            </p:nvSpPr>
            <p:spPr bwMode="auto">
              <a:xfrm>
                <a:off x="1603" y="1919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D2</a:t>
                </a:r>
              </a:p>
            </p:txBody>
          </p:sp>
          <p:sp>
            <p:nvSpPr>
              <p:cNvPr id="68840" name="Text Box 108"/>
              <p:cNvSpPr txBox="1">
                <a:spLocks noChangeArrowheads="1"/>
              </p:cNvSpPr>
              <p:nvPr/>
            </p:nvSpPr>
            <p:spPr bwMode="auto">
              <a:xfrm>
                <a:off x="1600" y="2064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D3</a:t>
                </a:r>
              </a:p>
            </p:txBody>
          </p:sp>
          <p:sp>
            <p:nvSpPr>
              <p:cNvPr id="68841" name="Text Box 109"/>
              <p:cNvSpPr txBox="1">
                <a:spLocks noChangeArrowheads="1"/>
              </p:cNvSpPr>
              <p:nvPr/>
            </p:nvSpPr>
            <p:spPr bwMode="auto">
              <a:xfrm>
                <a:off x="1602" y="2190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D4</a:t>
                </a:r>
              </a:p>
            </p:txBody>
          </p:sp>
          <p:sp>
            <p:nvSpPr>
              <p:cNvPr id="68842" name="Text Box 110"/>
              <p:cNvSpPr txBox="1">
                <a:spLocks noChangeArrowheads="1"/>
              </p:cNvSpPr>
              <p:nvPr/>
            </p:nvSpPr>
            <p:spPr bwMode="auto">
              <a:xfrm>
                <a:off x="1604" y="2321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D5</a:t>
                </a:r>
              </a:p>
            </p:txBody>
          </p:sp>
          <p:sp>
            <p:nvSpPr>
              <p:cNvPr id="68843" name="Text Box 111"/>
              <p:cNvSpPr txBox="1">
                <a:spLocks noChangeArrowheads="1"/>
              </p:cNvSpPr>
              <p:nvPr/>
            </p:nvSpPr>
            <p:spPr bwMode="auto">
              <a:xfrm>
                <a:off x="1602" y="2431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D6</a:t>
                </a:r>
              </a:p>
            </p:txBody>
          </p:sp>
          <p:sp>
            <p:nvSpPr>
              <p:cNvPr id="68844" name="Text Box 112"/>
              <p:cNvSpPr txBox="1">
                <a:spLocks noChangeArrowheads="1"/>
              </p:cNvSpPr>
              <p:nvPr/>
            </p:nvSpPr>
            <p:spPr bwMode="auto">
              <a:xfrm>
                <a:off x="1602" y="2534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D7</a:t>
                </a:r>
              </a:p>
            </p:txBody>
          </p:sp>
          <p:sp>
            <p:nvSpPr>
              <p:cNvPr id="68845" name="Oval 113"/>
              <p:cNvSpPr>
                <a:spLocks noChangeArrowheads="1"/>
              </p:cNvSpPr>
              <p:nvPr/>
            </p:nvSpPr>
            <p:spPr bwMode="auto">
              <a:xfrm>
                <a:off x="1463" y="2755"/>
                <a:ext cx="48" cy="4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46" name="Oval 114"/>
              <p:cNvSpPr>
                <a:spLocks noChangeArrowheads="1"/>
              </p:cNvSpPr>
              <p:nvPr/>
            </p:nvSpPr>
            <p:spPr bwMode="auto">
              <a:xfrm>
                <a:off x="1613" y="2752"/>
                <a:ext cx="48" cy="4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47" name="Oval 115"/>
              <p:cNvSpPr>
                <a:spLocks noChangeArrowheads="1"/>
              </p:cNvSpPr>
              <p:nvPr/>
            </p:nvSpPr>
            <p:spPr bwMode="auto">
              <a:xfrm>
                <a:off x="1534" y="1581"/>
                <a:ext cx="48" cy="4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48" name="Text Box 116"/>
              <p:cNvSpPr txBox="1">
                <a:spLocks noChangeArrowheads="1"/>
              </p:cNvSpPr>
              <p:nvPr/>
            </p:nvSpPr>
            <p:spPr bwMode="auto">
              <a:xfrm>
                <a:off x="1383" y="2643"/>
                <a:ext cx="209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OE</a:t>
                </a:r>
              </a:p>
            </p:txBody>
          </p:sp>
          <p:sp>
            <p:nvSpPr>
              <p:cNvPr id="68849" name="Line 117"/>
              <p:cNvSpPr>
                <a:spLocks noChangeShapeType="1"/>
              </p:cNvSpPr>
              <p:nvPr/>
            </p:nvSpPr>
            <p:spPr bwMode="auto">
              <a:xfrm>
                <a:off x="1450" y="2669"/>
                <a:ext cx="7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50" name="Text Box 118"/>
              <p:cNvSpPr txBox="1">
                <a:spLocks noChangeArrowheads="1"/>
              </p:cNvSpPr>
              <p:nvPr/>
            </p:nvSpPr>
            <p:spPr bwMode="auto">
              <a:xfrm>
                <a:off x="1529" y="2642"/>
                <a:ext cx="205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CE</a:t>
                </a:r>
              </a:p>
            </p:txBody>
          </p:sp>
          <p:sp>
            <p:nvSpPr>
              <p:cNvPr id="68851" name="Line 119"/>
              <p:cNvSpPr>
                <a:spLocks noChangeShapeType="1"/>
              </p:cNvSpPr>
              <p:nvPr/>
            </p:nvSpPr>
            <p:spPr bwMode="auto">
              <a:xfrm>
                <a:off x="1594" y="2668"/>
                <a:ext cx="7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852" name="Text Box 120"/>
              <p:cNvSpPr txBox="1">
                <a:spLocks noChangeArrowheads="1"/>
              </p:cNvSpPr>
              <p:nvPr/>
            </p:nvSpPr>
            <p:spPr bwMode="auto">
              <a:xfrm>
                <a:off x="1475" y="1625"/>
                <a:ext cx="176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W</a:t>
                </a:r>
              </a:p>
            </p:txBody>
          </p:sp>
          <p:sp>
            <p:nvSpPr>
              <p:cNvPr id="68853" name="Line 121"/>
              <p:cNvSpPr>
                <a:spLocks noChangeShapeType="1"/>
              </p:cNvSpPr>
              <p:nvPr/>
            </p:nvSpPr>
            <p:spPr bwMode="auto">
              <a:xfrm>
                <a:off x="1527" y="1655"/>
                <a:ext cx="7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</p:grpSp>
        <p:grpSp>
          <p:nvGrpSpPr>
            <p:cNvPr id="68614" name="Group 122"/>
            <p:cNvGrpSpPr>
              <a:grpSpLocks/>
            </p:cNvGrpSpPr>
            <p:nvPr/>
          </p:nvGrpSpPr>
          <p:grpSpPr bwMode="auto">
            <a:xfrm>
              <a:off x="4532313" y="3800475"/>
              <a:ext cx="1601787" cy="1938338"/>
              <a:chOff x="1052" y="1581"/>
              <a:chExt cx="1009" cy="1221"/>
            </a:xfrm>
          </p:grpSpPr>
          <p:sp>
            <p:nvSpPr>
              <p:cNvPr id="68742" name="Rectangle 123"/>
              <p:cNvSpPr>
                <a:spLocks noChangeArrowheads="1"/>
              </p:cNvSpPr>
              <p:nvPr/>
            </p:nvSpPr>
            <p:spPr bwMode="auto">
              <a:xfrm>
                <a:off x="1359" y="1632"/>
                <a:ext cx="397" cy="112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43" name="Line 124"/>
              <p:cNvSpPr>
                <a:spLocks noChangeShapeType="1"/>
              </p:cNvSpPr>
              <p:nvPr/>
            </p:nvSpPr>
            <p:spPr bwMode="auto">
              <a:xfrm flipH="1">
                <a:off x="1056" y="1728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44" name="Line 125"/>
              <p:cNvSpPr>
                <a:spLocks noChangeShapeType="1"/>
              </p:cNvSpPr>
              <p:nvPr/>
            </p:nvSpPr>
            <p:spPr bwMode="auto">
              <a:xfrm flipH="1">
                <a:off x="1055" y="1792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45" name="Line 126"/>
              <p:cNvSpPr>
                <a:spLocks noChangeShapeType="1"/>
              </p:cNvSpPr>
              <p:nvPr/>
            </p:nvSpPr>
            <p:spPr bwMode="auto">
              <a:xfrm flipH="1">
                <a:off x="1056" y="1849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46" name="Line 127"/>
              <p:cNvSpPr>
                <a:spLocks noChangeShapeType="1"/>
              </p:cNvSpPr>
              <p:nvPr/>
            </p:nvSpPr>
            <p:spPr bwMode="auto">
              <a:xfrm flipH="1">
                <a:off x="1055" y="1913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47" name="Line 128"/>
              <p:cNvSpPr>
                <a:spLocks noChangeShapeType="1"/>
              </p:cNvSpPr>
              <p:nvPr/>
            </p:nvSpPr>
            <p:spPr bwMode="auto">
              <a:xfrm flipH="1">
                <a:off x="1053" y="1972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48" name="Line 129"/>
              <p:cNvSpPr>
                <a:spLocks noChangeShapeType="1"/>
              </p:cNvSpPr>
              <p:nvPr/>
            </p:nvSpPr>
            <p:spPr bwMode="auto">
              <a:xfrm flipH="1">
                <a:off x="1052" y="2036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49" name="Line 130"/>
              <p:cNvSpPr>
                <a:spLocks noChangeShapeType="1"/>
              </p:cNvSpPr>
              <p:nvPr/>
            </p:nvSpPr>
            <p:spPr bwMode="auto">
              <a:xfrm flipH="1">
                <a:off x="1053" y="2093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50" name="Line 131"/>
              <p:cNvSpPr>
                <a:spLocks noChangeShapeType="1"/>
              </p:cNvSpPr>
              <p:nvPr/>
            </p:nvSpPr>
            <p:spPr bwMode="auto">
              <a:xfrm flipH="1">
                <a:off x="1052" y="2157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51" name="Line 132"/>
              <p:cNvSpPr>
                <a:spLocks noChangeShapeType="1"/>
              </p:cNvSpPr>
              <p:nvPr/>
            </p:nvSpPr>
            <p:spPr bwMode="auto">
              <a:xfrm flipH="1">
                <a:off x="1056" y="2218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52" name="Line 133"/>
              <p:cNvSpPr>
                <a:spLocks noChangeShapeType="1"/>
              </p:cNvSpPr>
              <p:nvPr/>
            </p:nvSpPr>
            <p:spPr bwMode="auto">
              <a:xfrm flipH="1">
                <a:off x="1055" y="2282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53" name="Line 134"/>
              <p:cNvSpPr>
                <a:spLocks noChangeShapeType="1"/>
              </p:cNvSpPr>
              <p:nvPr/>
            </p:nvSpPr>
            <p:spPr bwMode="auto">
              <a:xfrm flipH="1">
                <a:off x="1056" y="2339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54" name="Line 135"/>
              <p:cNvSpPr>
                <a:spLocks noChangeShapeType="1"/>
              </p:cNvSpPr>
              <p:nvPr/>
            </p:nvSpPr>
            <p:spPr bwMode="auto">
              <a:xfrm flipH="1">
                <a:off x="1055" y="2403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55" name="Line 136"/>
              <p:cNvSpPr>
                <a:spLocks noChangeShapeType="1"/>
              </p:cNvSpPr>
              <p:nvPr/>
            </p:nvSpPr>
            <p:spPr bwMode="auto">
              <a:xfrm flipH="1">
                <a:off x="1053" y="2478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56" name="Line 137"/>
              <p:cNvSpPr>
                <a:spLocks noChangeShapeType="1"/>
              </p:cNvSpPr>
              <p:nvPr/>
            </p:nvSpPr>
            <p:spPr bwMode="auto">
              <a:xfrm flipH="1">
                <a:off x="1052" y="2536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57" name="Line 138"/>
              <p:cNvSpPr>
                <a:spLocks noChangeShapeType="1"/>
              </p:cNvSpPr>
              <p:nvPr/>
            </p:nvSpPr>
            <p:spPr bwMode="auto">
              <a:xfrm flipH="1">
                <a:off x="1057" y="2593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58" name="Text Box 139"/>
              <p:cNvSpPr txBox="1">
                <a:spLocks noChangeArrowheads="1"/>
              </p:cNvSpPr>
              <p:nvPr/>
            </p:nvSpPr>
            <p:spPr bwMode="auto">
              <a:xfrm>
                <a:off x="1335" y="1655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A0</a:t>
                </a:r>
              </a:p>
            </p:txBody>
          </p:sp>
          <p:sp>
            <p:nvSpPr>
              <p:cNvPr id="68759" name="Text Box 140"/>
              <p:cNvSpPr txBox="1">
                <a:spLocks noChangeArrowheads="1"/>
              </p:cNvSpPr>
              <p:nvPr/>
            </p:nvSpPr>
            <p:spPr bwMode="auto">
              <a:xfrm>
                <a:off x="1339" y="1716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</a:t>
                </a:r>
              </a:p>
            </p:txBody>
          </p:sp>
          <p:sp>
            <p:nvSpPr>
              <p:cNvPr id="68760" name="Text Box 141"/>
              <p:cNvSpPr txBox="1">
                <a:spLocks noChangeArrowheads="1"/>
              </p:cNvSpPr>
              <p:nvPr/>
            </p:nvSpPr>
            <p:spPr bwMode="auto">
              <a:xfrm>
                <a:off x="1338" y="1782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A2</a:t>
                </a:r>
              </a:p>
            </p:txBody>
          </p:sp>
          <p:sp>
            <p:nvSpPr>
              <p:cNvPr id="68761" name="Text Box 142"/>
              <p:cNvSpPr txBox="1">
                <a:spLocks noChangeArrowheads="1"/>
              </p:cNvSpPr>
              <p:nvPr/>
            </p:nvSpPr>
            <p:spPr bwMode="auto">
              <a:xfrm>
                <a:off x="1339" y="1847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A3</a:t>
                </a:r>
              </a:p>
            </p:txBody>
          </p:sp>
          <p:sp>
            <p:nvSpPr>
              <p:cNvPr id="68762" name="Text Box 143"/>
              <p:cNvSpPr txBox="1">
                <a:spLocks noChangeArrowheads="1"/>
              </p:cNvSpPr>
              <p:nvPr/>
            </p:nvSpPr>
            <p:spPr bwMode="auto">
              <a:xfrm>
                <a:off x="1335" y="1905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A4</a:t>
                </a:r>
              </a:p>
            </p:txBody>
          </p:sp>
          <p:sp>
            <p:nvSpPr>
              <p:cNvPr id="68763" name="Text Box 144"/>
              <p:cNvSpPr txBox="1">
                <a:spLocks noChangeArrowheads="1"/>
              </p:cNvSpPr>
              <p:nvPr/>
            </p:nvSpPr>
            <p:spPr bwMode="auto">
              <a:xfrm>
                <a:off x="1339" y="1966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A5</a:t>
                </a:r>
              </a:p>
            </p:txBody>
          </p:sp>
          <p:sp>
            <p:nvSpPr>
              <p:cNvPr id="68764" name="Text Box 145"/>
              <p:cNvSpPr txBox="1">
                <a:spLocks noChangeArrowheads="1"/>
              </p:cNvSpPr>
              <p:nvPr/>
            </p:nvSpPr>
            <p:spPr bwMode="auto">
              <a:xfrm>
                <a:off x="1338" y="2032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A6</a:t>
                </a:r>
              </a:p>
            </p:txBody>
          </p:sp>
          <p:sp>
            <p:nvSpPr>
              <p:cNvPr id="68765" name="Text Box 146"/>
              <p:cNvSpPr txBox="1">
                <a:spLocks noChangeArrowheads="1"/>
              </p:cNvSpPr>
              <p:nvPr/>
            </p:nvSpPr>
            <p:spPr bwMode="auto">
              <a:xfrm>
                <a:off x="1339" y="2097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A7</a:t>
                </a:r>
              </a:p>
            </p:txBody>
          </p:sp>
          <p:sp>
            <p:nvSpPr>
              <p:cNvPr id="68766" name="Text Box 147"/>
              <p:cNvSpPr txBox="1">
                <a:spLocks noChangeArrowheads="1"/>
              </p:cNvSpPr>
              <p:nvPr/>
            </p:nvSpPr>
            <p:spPr bwMode="auto">
              <a:xfrm>
                <a:off x="1332" y="2154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A8</a:t>
                </a:r>
              </a:p>
            </p:txBody>
          </p:sp>
          <p:sp>
            <p:nvSpPr>
              <p:cNvPr id="68767" name="Text Box 148"/>
              <p:cNvSpPr txBox="1">
                <a:spLocks noChangeArrowheads="1"/>
              </p:cNvSpPr>
              <p:nvPr/>
            </p:nvSpPr>
            <p:spPr bwMode="auto">
              <a:xfrm>
                <a:off x="1336" y="2215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A9</a:t>
                </a:r>
              </a:p>
            </p:txBody>
          </p:sp>
          <p:sp>
            <p:nvSpPr>
              <p:cNvPr id="68768" name="Text Box 149"/>
              <p:cNvSpPr txBox="1">
                <a:spLocks noChangeArrowheads="1"/>
              </p:cNvSpPr>
              <p:nvPr/>
            </p:nvSpPr>
            <p:spPr bwMode="auto">
              <a:xfrm>
                <a:off x="1317" y="2281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A10</a:t>
                </a:r>
              </a:p>
            </p:txBody>
          </p:sp>
          <p:sp>
            <p:nvSpPr>
              <p:cNvPr id="68769" name="Text Box 150"/>
              <p:cNvSpPr txBox="1">
                <a:spLocks noChangeArrowheads="1"/>
              </p:cNvSpPr>
              <p:nvPr/>
            </p:nvSpPr>
            <p:spPr bwMode="auto">
              <a:xfrm>
                <a:off x="1318" y="2346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A11</a:t>
                </a:r>
              </a:p>
            </p:txBody>
          </p:sp>
          <p:sp>
            <p:nvSpPr>
              <p:cNvPr id="68770" name="Text Box 151"/>
              <p:cNvSpPr txBox="1">
                <a:spLocks noChangeArrowheads="1"/>
              </p:cNvSpPr>
              <p:nvPr/>
            </p:nvSpPr>
            <p:spPr bwMode="auto">
              <a:xfrm>
                <a:off x="1314" y="2404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A12</a:t>
                </a:r>
              </a:p>
            </p:txBody>
          </p:sp>
          <p:sp>
            <p:nvSpPr>
              <p:cNvPr id="68771" name="Text Box 152"/>
              <p:cNvSpPr txBox="1">
                <a:spLocks noChangeArrowheads="1"/>
              </p:cNvSpPr>
              <p:nvPr/>
            </p:nvSpPr>
            <p:spPr bwMode="auto">
              <a:xfrm>
                <a:off x="1318" y="2465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A13</a:t>
                </a:r>
              </a:p>
            </p:txBody>
          </p:sp>
          <p:sp>
            <p:nvSpPr>
              <p:cNvPr id="68772" name="Text Box 153"/>
              <p:cNvSpPr txBox="1">
                <a:spLocks noChangeArrowheads="1"/>
              </p:cNvSpPr>
              <p:nvPr/>
            </p:nvSpPr>
            <p:spPr bwMode="auto">
              <a:xfrm>
                <a:off x="1317" y="2531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A14</a:t>
                </a:r>
              </a:p>
            </p:txBody>
          </p:sp>
          <p:sp>
            <p:nvSpPr>
              <p:cNvPr id="68773" name="Line 154"/>
              <p:cNvSpPr>
                <a:spLocks noChangeShapeType="1"/>
              </p:cNvSpPr>
              <p:nvPr/>
            </p:nvSpPr>
            <p:spPr bwMode="auto">
              <a:xfrm flipH="1">
                <a:off x="1756" y="1740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74" name="Line 155"/>
              <p:cNvSpPr>
                <a:spLocks noChangeShapeType="1"/>
              </p:cNvSpPr>
              <p:nvPr/>
            </p:nvSpPr>
            <p:spPr bwMode="auto">
              <a:xfrm flipH="1">
                <a:off x="1759" y="1844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75" name="Line 156"/>
              <p:cNvSpPr>
                <a:spLocks noChangeShapeType="1"/>
              </p:cNvSpPr>
              <p:nvPr/>
            </p:nvSpPr>
            <p:spPr bwMode="auto">
              <a:xfrm flipH="1">
                <a:off x="1757" y="1987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76" name="Line 157"/>
              <p:cNvSpPr>
                <a:spLocks noChangeShapeType="1"/>
              </p:cNvSpPr>
              <p:nvPr/>
            </p:nvSpPr>
            <p:spPr bwMode="auto">
              <a:xfrm flipH="1">
                <a:off x="1756" y="2135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77" name="Line 158"/>
              <p:cNvSpPr>
                <a:spLocks noChangeShapeType="1"/>
              </p:cNvSpPr>
              <p:nvPr/>
            </p:nvSpPr>
            <p:spPr bwMode="auto">
              <a:xfrm flipH="1">
                <a:off x="1754" y="2270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78" name="Line 159"/>
              <p:cNvSpPr>
                <a:spLocks noChangeShapeType="1"/>
              </p:cNvSpPr>
              <p:nvPr/>
            </p:nvSpPr>
            <p:spPr bwMode="auto">
              <a:xfrm flipH="1">
                <a:off x="1756" y="2386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79" name="Line 160"/>
              <p:cNvSpPr>
                <a:spLocks noChangeShapeType="1"/>
              </p:cNvSpPr>
              <p:nvPr/>
            </p:nvSpPr>
            <p:spPr bwMode="auto">
              <a:xfrm flipH="1">
                <a:off x="1761" y="2500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80" name="Line 161"/>
              <p:cNvSpPr>
                <a:spLocks noChangeShapeType="1"/>
              </p:cNvSpPr>
              <p:nvPr/>
            </p:nvSpPr>
            <p:spPr bwMode="auto">
              <a:xfrm flipH="1">
                <a:off x="1752" y="2597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81" name="Text Box 162"/>
              <p:cNvSpPr txBox="1">
                <a:spLocks noChangeArrowheads="1"/>
              </p:cNvSpPr>
              <p:nvPr/>
            </p:nvSpPr>
            <p:spPr bwMode="auto">
              <a:xfrm>
                <a:off x="1599" y="1667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D0</a:t>
                </a:r>
              </a:p>
            </p:txBody>
          </p:sp>
          <p:sp>
            <p:nvSpPr>
              <p:cNvPr id="68782" name="Text Box 163"/>
              <p:cNvSpPr txBox="1">
                <a:spLocks noChangeArrowheads="1"/>
              </p:cNvSpPr>
              <p:nvPr/>
            </p:nvSpPr>
            <p:spPr bwMode="auto">
              <a:xfrm>
                <a:off x="1604" y="1780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D1</a:t>
                </a:r>
              </a:p>
            </p:txBody>
          </p:sp>
          <p:sp>
            <p:nvSpPr>
              <p:cNvPr id="68783" name="Text Box 164"/>
              <p:cNvSpPr txBox="1">
                <a:spLocks noChangeArrowheads="1"/>
              </p:cNvSpPr>
              <p:nvPr/>
            </p:nvSpPr>
            <p:spPr bwMode="auto">
              <a:xfrm>
                <a:off x="1603" y="1919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D2</a:t>
                </a:r>
              </a:p>
            </p:txBody>
          </p:sp>
          <p:sp>
            <p:nvSpPr>
              <p:cNvPr id="68784" name="Text Box 165"/>
              <p:cNvSpPr txBox="1">
                <a:spLocks noChangeArrowheads="1"/>
              </p:cNvSpPr>
              <p:nvPr/>
            </p:nvSpPr>
            <p:spPr bwMode="auto">
              <a:xfrm>
                <a:off x="1600" y="2064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D3</a:t>
                </a:r>
              </a:p>
            </p:txBody>
          </p:sp>
          <p:sp>
            <p:nvSpPr>
              <p:cNvPr id="68785" name="Text Box 166"/>
              <p:cNvSpPr txBox="1">
                <a:spLocks noChangeArrowheads="1"/>
              </p:cNvSpPr>
              <p:nvPr/>
            </p:nvSpPr>
            <p:spPr bwMode="auto">
              <a:xfrm>
                <a:off x="1602" y="2190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D4</a:t>
                </a:r>
              </a:p>
            </p:txBody>
          </p:sp>
          <p:sp>
            <p:nvSpPr>
              <p:cNvPr id="68786" name="Text Box 167"/>
              <p:cNvSpPr txBox="1">
                <a:spLocks noChangeArrowheads="1"/>
              </p:cNvSpPr>
              <p:nvPr/>
            </p:nvSpPr>
            <p:spPr bwMode="auto">
              <a:xfrm>
                <a:off x="1604" y="2321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D5</a:t>
                </a:r>
              </a:p>
            </p:txBody>
          </p:sp>
          <p:sp>
            <p:nvSpPr>
              <p:cNvPr id="68787" name="Text Box 168"/>
              <p:cNvSpPr txBox="1">
                <a:spLocks noChangeArrowheads="1"/>
              </p:cNvSpPr>
              <p:nvPr/>
            </p:nvSpPr>
            <p:spPr bwMode="auto">
              <a:xfrm>
                <a:off x="1602" y="2431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D6</a:t>
                </a:r>
              </a:p>
            </p:txBody>
          </p:sp>
          <p:sp>
            <p:nvSpPr>
              <p:cNvPr id="68788" name="Text Box 169"/>
              <p:cNvSpPr txBox="1">
                <a:spLocks noChangeArrowheads="1"/>
              </p:cNvSpPr>
              <p:nvPr/>
            </p:nvSpPr>
            <p:spPr bwMode="auto">
              <a:xfrm>
                <a:off x="1602" y="2534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D7</a:t>
                </a:r>
              </a:p>
            </p:txBody>
          </p:sp>
          <p:sp>
            <p:nvSpPr>
              <p:cNvPr id="68789" name="Oval 170"/>
              <p:cNvSpPr>
                <a:spLocks noChangeArrowheads="1"/>
              </p:cNvSpPr>
              <p:nvPr/>
            </p:nvSpPr>
            <p:spPr bwMode="auto">
              <a:xfrm>
                <a:off x="1463" y="2755"/>
                <a:ext cx="48" cy="4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90" name="Oval 171"/>
              <p:cNvSpPr>
                <a:spLocks noChangeArrowheads="1"/>
              </p:cNvSpPr>
              <p:nvPr/>
            </p:nvSpPr>
            <p:spPr bwMode="auto">
              <a:xfrm>
                <a:off x="1613" y="2752"/>
                <a:ext cx="48" cy="4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91" name="Oval 172"/>
              <p:cNvSpPr>
                <a:spLocks noChangeArrowheads="1"/>
              </p:cNvSpPr>
              <p:nvPr/>
            </p:nvSpPr>
            <p:spPr bwMode="auto">
              <a:xfrm>
                <a:off x="1534" y="1581"/>
                <a:ext cx="48" cy="4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92" name="Text Box 173"/>
              <p:cNvSpPr txBox="1">
                <a:spLocks noChangeArrowheads="1"/>
              </p:cNvSpPr>
              <p:nvPr/>
            </p:nvSpPr>
            <p:spPr bwMode="auto">
              <a:xfrm>
                <a:off x="1383" y="2643"/>
                <a:ext cx="209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OE</a:t>
                </a:r>
              </a:p>
            </p:txBody>
          </p:sp>
          <p:sp>
            <p:nvSpPr>
              <p:cNvPr id="68793" name="Line 174"/>
              <p:cNvSpPr>
                <a:spLocks noChangeShapeType="1"/>
              </p:cNvSpPr>
              <p:nvPr/>
            </p:nvSpPr>
            <p:spPr bwMode="auto">
              <a:xfrm>
                <a:off x="1450" y="2669"/>
                <a:ext cx="7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94" name="Text Box 175"/>
              <p:cNvSpPr txBox="1">
                <a:spLocks noChangeArrowheads="1"/>
              </p:cNvSpPr>
              <p:nvPr/>
            </p:nvSpPr>
            <p:spPr bwMode="auto">
              <a:xfrm>
                <a:off x="1529" y="2642"/>
                <a:ext cx="205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CE</a:t>
                </a:r>
              </a:p>
            </p:txBody>
          </p:sp>
          <p:sp>
            <p:nvSpPr>
              <p:cNvPr id="68795" name="Line 176"/>
              <p:cNvSpPr>
                <a:spLocks noChangeShapeType="1"/>
              </p:cNvSpPr>
              <p:nvPr/>
            </p:nvSpPr>
            <p:spPr bwMode="auto">
              <a:xfrm>
                <a:off x="1594" y="2668"/>
                <a:ext cx="7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96" name="Text Box 177"/>
              <p:cNvSpPr txBox="1">
                <a:spLocks noChangeArrowheads="1"/>
              </p:cNvSpPr>
              <p:nvPr/>
            </p:nvSpPr>
            <p:spPr bwMode="auto">
              <a:xfrm>
                <a:off x="1475" y="1625"/>
                <a:ext cx="176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W</a:t>
                </a:r>
              </a:p>
            </p:txBody>
          </p:sp>
          <p:sp>
            <p:nvSpPr>
              <p:cNvPr id="68797" name="Line 178"/>
              <p:cNvSpPr>
                <a:spLocks noChangeShapeType="1"/>
              </p:cNvSpPr>
              <p:nvPr/>
            </p:nvSpPr>
            <p:spPr bwMode="auto">
              <a:xfrm>
                <a:off x="1527" y="1655"/>
                <a:ext cx="7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</p:grpSp>
        <p:grpSp>
          <p:nvGrpSpPr>
            <p:cNvPr id="68615" name="Group 179"/>
            <p:cNvGrpSpPr>
              <a:grpSpLocks/>
            </p:cNvGrpSpPr>
            <p:nvPr/>
          </p:nvGrpSpPr>
          <p:grpSpPr bwMode="auto">
            <a:xfrm>
              <a:off x="6564313" y="3800475"/>
              <a:ext cx="1601787" cy="1938338"/>
              <a:chOff x="1052" y="1581"/>
              <a:chExt cx="1009" cy="1221"/>
            </a:xfrm>
          </p:grpSpPr>
          <p:sp>
            <p:nvSpPr>
              <p:cNvPr id="68686" name="Rectangle 180"/>
              <p:cNvSpPr>
                <a:spLocks noChangeArrowheads="1"/>
              </p:cNvSpPr>
              <p:nvPr/>
            </p:nvSpPr>
            <p:spPr bwMode="auto">
              <a:xfrm>
                <a:off x="1359" y="1632"/>
                <a:ext cx="397" cy="112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687" name="Line 181"/>
              <p:cNvSpPr>
                <a:spLocks noChangeShapeType="1"/>
              </p:cNvSpPr>
              <p:nvPr/>
            </p:nvSpPr>
            <p:spPr bwMode="auto">
              <a:xfrm flipH="1">
                <a:off x="1056" y="1728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688" name="Line 182"/>
              <p:cNvSpPr>
                <a:spLocks noChangeShapeType="1"/>
              </p:cNvSpPr>
              <p:nvPr/>
            </p:nvSpPr>
            <p:spPr bwMode="auto">
              <a:xfrm flipH="1">
                <a:off x="1055" y="1792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689" name="Line 183"/>
              <p:cNvSpPr>
                <a:spLocks noChangeShapeType="1"/>
              </p:cNvSpPr>
              <p:nvPr/>
            </p:nvSpPr>
            <p:spPr bwMode="auto">
              <a:xfrm flipH="1">
                <a:off x="1056" y="1849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690" name="Line 184"/>
              <p:cNvSpPr>
                <a:spLocks noChangeShapeType="1"/>
              </p:cNvSpPr>
              <p:nvPr/>
            </p:nvSpPr>
            <p:spPr bwMode="auto">
              <a:xfrm flipH="1">
                <a:off x="1055" y="1913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691" name="Line 185"/>
              <p:cNvSpPr>
                <a:spLocks noChangeShapeType="1"/>
              </p:cNvSpPr>
              <p:nvPr/>
            </p:nvSpPr>
            <p:spPr bwMode="auto">
              <a:xfrm flipH="1">
                <a:off x="1053" y="1972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692" name="Line 186"/>
              <p:cNvSpPr>
                <a:spLocks noChangeShapeType="1"/>
              </p:cNvSpPr>
              <p:nvPr/>
            </p:nvSpPr>
            <p:spPr bwMode="auto">
              <a:xfrm flipH="1">
                <a:off x="1052" y="2036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693" name="Line 187"/>
              <p:cNvSpPr>
                <a:spLocks noChangeShapeType="1"/>
              </p:cNvSpPr>
              <p:nvPr/>
            </p:nvSpPr>
            <p:spPr bwMode="auto">
              <a:xfrm flipH="1">
                <a:off x="1053" y="2093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694" name="Line 188"/>
              <p:cNvSpPr>
                <a:spLocks noChangeShapeType="1"/>
              </p:cNvSpPr>
              <p:nvPr/>
            </p:nvSpPr>
            <p:spPr bwMode="auto">
              <a:xfrm flipH="1">
                <a:off x="1052" y="2157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695" name="Line 189"/>
              <p:cNvSpPr>
                <a:spLocks noChangeShapeType="1"/>
              </p:cNvSpPr>
              <p:nvPr/>
            </p:nvSpPr>
            <p:spPr bwMode="auto">
              <a:xfrm flipH="1">
                <a:off x="1056" y="2218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696" name="Line 190"/>
              <p:cNvSpPr>
                <a:spLocks noChangeShapeType="1"/>
              </p:cNvSpPr>
              <p:nvPr/>
            </p:nvSpPr>
            <p:spPr bwMode="auto">
              <a:xfrm flipH="1">
                <a:off x="1055" y="2282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697" name="Line 191"/>
              <p:cNvSpPr>
                <a:spLocks noChangeShapeType="1"/>
              </p:cNvSpPr>
              <p:nvPr/>
            </p:nvSpPr>
            <p:spPr bwMode="auto">
              <a:xfrm flipH="1">
                <a:off x="1056" y="2339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698" name="Line 192"/>
              <p:cNvSpPr>
                <a:spLocks noChangeShapeType="1"/>
              </p:cNvSpPr>
              <p:nvPr/>
            </p:nvSpPr>
            <p:spPr bwMode="auto">
              <a:xfrm flipH="1">
                <a:off x="1055" y="2403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699" name="Line 193"/>
              <p:cNvSpPr>
                <a:spLocks noChangeShapeType="1"/>
              </p:cNvSpPr>
              <p:nvPr/>
            </p:nvSpPr>
            <p:spPr bwMode="auto">
              <a:xfrm flipH="1">
                <a:off x="1053" y="2478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00" name="Line 194"/>
              <p:cNvSpPr>
                <a:spLocks noChangeShapeType="1"/>
              </p:cNvSpPr>
              <p:nvPr/>
            </p:nvSpPr>
            <p:spPr bwMode="auto">
              <a:xfrm flipH="1">
                <a:off x="1052" y="2536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01" name="Line 195"/>
              <p:cNvSpPr>
                <a:spLocks noChangeShapeType="1"/>
              </p:cNvSpPr>
              <p:nvPr/>
            </p:nvSpPr>
            <p:spPr bwMode="auto">
              <a:xfrm flipH="1">
                <a:off x="1057" y="2593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02" name="Text Box 196"/>
              <p:cNvSpPr txBox="1">
                <a:spLocks noChangeArrowheads="1"/>
              </p:cNvSpPr>
              <p:nvPr/>
            </p:nvSpPr>
            <p:spPr bwMode="auto">
              <a:xfrm>
                <a:off x="1335" y="1655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A0</a:t>
                </a:r>
              </a:p>
            </p:txBody>
          </p:sp>
          <p:sp>
            <p:nvSpPr>
              <p:cNvPr id="68703" name="Text Box 197"/>
              <p:cNvSpPr txBox="1">
                <a:spLocks noChangeArrowheads="1"/>
              </p:cNvSpPr>
              <p:nvPr/>
            </p:nvSpPr>
            <p:spPr bwMode="auto">
              <a:xfrm>
                <a:off x="1339" y="1716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</a:t>
                </a:r>
              </a:p>
            </p:txBody>
          </p:sp>
          <p:sp>
            <p:nvSpPr>
              <p:cNvPr id="68704" name="Text Box 198"/>
              <p:cNvSpPr txBox="1">
                <a:spLocks noChangeArrowheads="1"/>
              </p:cNvSpPr>
              <p:nvPr/>
            </p:nvSpPr>
            <p:spPr bwMode="auto">
              <a:xfrm>
                <a:off x="1338" y="1782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A2</a:t>
                </a:r>
              </a:p>
            </p:txBody>
          </p:sp>
          <p:sp>
            <p:nvSpPr>
              <p:cNvPr id="68705" name="Text Box 199"/>
              <p:cNvSpPr txBox="1">
                <a:spLocks noChangeArrowheads="1"/>
              </p:cNvSpPr>
              <p:nvPr/>
            </p:nvSpPr>
            <p:spPr bwMode="auto">
              <a:xfrm>
                <a:off x="1339" y="1847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A3</a:t>
                </a:r>
              </a:p>
            </p:txBody>
          </p:sp>
          <p:sp>
            <p:nvSpPr>
              <p:cNvPr id="68706" name="Text Box 200"/>
              <p:cNvSpPr txBox="1">
                <a:spLocks noChangeArrowheads="1"/>
              </p:cNvSpPr>
              <p:nvPr/>
            </p:nvSpPr>
            <p:spPr bwMode="auto">
              <a:xfrm>
                <a:off x="1335" y="1905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A4</a:t>
                </a:r>
              </a:p>
            </p:txBody>
          </p:sp>
          <p:sp>
            <p:nvSpPr>
              <p:cNvPr id="68707" name="Text Box 201"/>
              <p:cNvSpPr txBox="1">
                <a:spLocks noChangeArrowheads="1"/>
              </p:cNvSpPr>
              <p:nvPr/>
            </p:nvSpPr>
            <p:spPr bwMode="auto">
              <a:xfrm>
                <a:off x="1339" y="1966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A5</a:t>
                </a:r>
              </a:p>
            </p:txBody>
          </p:sp>
          <p:sp>
            <p:nvSpPr>
              <p:cNvPr id="68708" name="Text Box 202"/>
              <p:cNvSpPr txBox="1">
                <a:spLocks noChangeArrowheads="1"/>
              </p:cNvSpPr>
              <p:nvPr/>
            </p:nvSpPr>
            <p:spPr bwMode="auto">
              <a:xfrm>
                <a:off x="1338" y="2032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A6</a:t>
                </a:r>
              </a:p>
            </p:txBody>
          </p:sp>
          <p:sp>
            <p:nvSpPr>
              <p:cNvPr id="68709" name="Text Box 203"/>
              <p:cNvSpPr txBox="1">
                <a:spLocks noChangeArrowheads="1"/>
              </p:cNvSpPr>
              <p:nvPr/>
            </p:nvSpPr>
            <p:spPr bwMode="auto">
              <a:xfrm>
                <a:off x="1339" y="2097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A7</a:t>
                </a:r>
              </a:p>
            </p:txBody>
          </p:sp>
          <p:sp>
            <p:nvSpPr>
              <p:cNvPr id="68710" name="Text Box 204"/>
              <p:cNvSpPr txBox="1">
                <a:spLocks noChangeArrowheads="1"/>
              </p:cNvSpPr>
              <p:nvPr/>
            </p:nvSpPr>
            <p:spPr bwMode="auto">
              <a:xfrm>
                <a:off x="1332" y="2154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A8</a:t>
                </a:r>
              </a:p>
            </p:txBody>
          </p:sp>
          <p:sp>
            <p:nvSpPr>
              <p:cNvPr id="68711" name="Text Box 205"/>
              <p:cNvSpPr txBox="1">
                <a:spLocks noChangeArrowheads="1"/>
              </p:cNvSpPr>
              <p:nvPr/>
            </p:nvSpPr>
            <p:spPr bwMode="auto">
              <a:xfrm>
                <a:off x="1336" y="2215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A9</a:t>
                </a:r>
              </a:p>
            </p:txBody>
          </p:sp>
          <p:sp>
            <p:nvSpPr>
              <p:cNvPr id="68712" name="Text Box 206"/>
              <p:cNvSpPr txBox="1">
                <a:spLocks noChangeArrowheads="1"/>
              </p:cNvSpPr>
              <p:nvPr/>
            </p:nvSpPr>
            <p:spPr bwMode="auto">
              <a:xfrm>
                <a:off x="1317" y="2281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A10</a:t>
                </a:r>
              </a:p>
            </p:txBody>
          </p:sp>
          <p:sp>
            <p:nvSpPr>
              <p:cNvPr id="68713" name="Text Box 207"/>
              <p:cNvSpPr txBox="1">
                <a:spLocks noChangeArrowheads="1"/>
              </p:cNvSpPr>
              <p:nvPr/>
            </p:nvSpPr>
            <p:spPr bwMode="auto">
              <a:xfrm>
                <a:off x="1318" y="2346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A11</a:t>
                </a:r>
              </a:p>
            </p:txBody>
          </p:sp>
          <p:sp>
            <p:nvSpPr>
              <p:cNvPr id="68714" name="Text Box 208"/>
              <p:cNvSpPr txBox="1">
                <a:spLocks noChangeArrowheads="1"/>
              </p:cNvSpPr>
              <p:nvPr/>
            </p:nvSpPr>
            <p:spPr bwMode="auto">
              <a:xfrm>
                <a:off x="1314" y="2404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A12</a:t>
                </a:r>
              </a:p>
            </p:txBody>
          </p:sp>
          <p:sp>
            <p:nvSpPr>
              <p:cNvPr id="68715" name="Text Box 209"/>
              <p:cNvSpPr txBox="1">
                <a:spLocks noChangeArrowheads="1"/>
              </p:cNvSpPr>
              <p:nvPr/>
            </p:nvSpPr>
            <p:spPr bwMode="auto">
              <a:xfrm>
                <a:off x="1318" y="2465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A13</a:t>
                </a:r>
              </a:p>
            </p:txBody>
          </p:sp>
          <p:sp>
            <p:nvSpPr>
              <p:cNvPr id="68716" name="Text Box 210"/>
              <p:cNvSpPr txBox="1">
                <a:spLocks noChangeArrowheads="1"/>
              </p:cNvSpPr>
              <p:nvPr/>
            </p:nvSpPr>
            <p:spPr bwMode="auto">
              <a:xfrm>
                <a:off x="1317" y="2531"/>
                <a:ext cx="234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A14</a:t>
                </a:r>
              </a:p>
            </p:txBody>
          </p:sp>
          <p:sp>
            <p:nvSpPr>
              <p:cNvPr id="68717" name="Line 211"/>
              <p:cNvSpPr>
                <a:spLocks noChangeShapeType="1"/>
              </p:cNvSpPr>
              <p:nvPr/>
            </p:nvSpPr>
            <p:spPr bwMode="auto">
              <a:xfrm flipH="1">
                <a:off x="1756" y="1740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18" name="Line 212"/>
              <p:cNvSpPr>
                <a:spLocks noChangeShapeType="1"/>
              </p:cNvSpPr>
              <p:nvPr/>
            </p:nvSpPr>
            <p:spPr bwMode="auto">
              <a:xfrm flipH="1">
                <a:off x="1759" y="1844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19" name="Line 213"/>
              <p:cNvSpPr>
                <a:spLocks noChangeShapeType="1"/>
              </p:cNvSpPr>
              <p:nvPr/>
            </p:nvSpPr>
            <p:spPr bwMode="auto">
              <a:xfrm flipH="1">
                <a:off x="1757" y="1987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20" name="Line 214"/>
              <p:cNvSpPr>
                <a:spLocks noChangeShapeType="1"/>
              </p:cNvSpPr>
              <p:nvPr/>
            </p:nvSpPr>
            <p:spPr bwMode="auto">
              <a:xfrm flipH="1">
                <a:off x="1756" y="2135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21" name="Line 215"/>
              <p:cNvSpPr>
                <a:spLocks noChangeShapeType="1"/>
              </p:cNvSpPr>
              <p:nvPr/>
            </p:nvSpPr>
            <p:spPr bwMode="auto">
              <a:xfrm flipH="1">
                <a:off x="1754" y="2270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22" name="Line 216"/>
              <p:cNvSpPr>
                <a:spLocks noChangeShapeType="1"/>
              </p:cNvSpPr>
              <p:nvPr/>
            </p:nvSpPr>
            <p:spPr bwMode="auto">
              <a:xfrm flipH="1">
                <a:off x="1756" y="2386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23" name="Line 217"/>
              <p:cNvSpPr>
                <a:spLocks noChangeShapeType="1"/>
              </p:cNvSpPr>
              <p:nvPr/>
            </p:nvSpPr>
            <p:spPr bwMode="auto">
              <a:xfrm flipH="1">
                <a:off x="1761" y="2500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24" name="Line 218"/>
              <p:cNvSpPr>
                <a:spLocks noChangeShapeType="1"/>
              </p:cNvSpPr>
              <p:nvPr/>
            </p:nvSpPr>
            <p:spPr bwMode="auto">
              <a:xfrm flipH="1">
                <a:off x="1752" y="2597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25" name="Text Box 219"/>
              <p:cNvSpPr txBox="1">
                <a:spLocks noChangeArrowheads="1"/>
              </p:cNvSpPr>
              <p:nvPr/>
            </p:nvSpPr>
            <p:spPr bwMode="auto">
              <a:xfrm>
                <a:off x="1599" y="1667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D0</a:t>
                </a:r>
              </a:p>
            </p:txBody>
          </p:sp>
          <p:sp>
            <p:nvSpPr>
              <p:cNvPr id="68726" name="Text Box 220"/>
              <p:cNvSpPr txBox="1">
                <a:spLocks noChangeArrowheads="1"/>
              </p:cNvSpPr>
              <p:nvPr/>
            </p:nvSpPr>
            <p:spPr bwMode="auto">
              <a:xfrm>
                <a:off x="1604" y="1780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D1</a:t>
                </a:r>
              </a:p>
            </p:txBody>
          </p:sp>
          <p:sp>
            <p:nvSpPr>
              <p:cNvPr id="68727" name="Text Box 221"/>
              <p:cNvSpPr txBox="1">
                <a:spLocks noChangeArrowheads="1"/>
              </p:cNvSpPr>
              <p:nvPr/>
            </p:nvSpPr>
            <p:spPr bwMode="auto">
              <a:xfrm>
                <a:off x="1603" y="1919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D2</a:t>
                </a:r>
              </a:p>
            </p:txBody>
          </p:sp>
          <p:sp>
            <p:nvSpPr>
              <p:cNvPr id="68728" name="Text Box 222"/>
              <p:cNvSpPr txBox="1">
                <a:spLocks noChangeArrowheads="1"/>
              </p:cNvSpPr>
              <p:nvPr/>
            </p:nvSpPr>
            <p:spPr bwMode="auto">
              <a:xfrm>
                <a:off x="1600" y="2064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D3</a:t>
                </a:r>
              </a:p>
            </p:txBody>
          </p:sp>
          <p:sp>
            <p:nvSpPr>
              <p:cNvPr id="68729" name="Text Box 223"/>
              <p:cNvSpPr txBox="1">
                <a:spLocks noChangeArrowheads="1"/>
              </p:cNvSpPr>
              <p:nvPr/>
            </p:nvSpPr>
            <p:spPr bwMode="auto">
              <a:xfrm>
                <a:off x="1602" y="2190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D4</a:t>
                </a:r>
              </a:p>
            </p:txBody>
          </p:sp>
          <p:sp>
            <p:nvSpPr>
              <p:cNvPr id="68730" name="Text Box 224"/>
              <p:cNvSpPr txBox="1">
                <a:spLocks noChangeArrowheads="1"/>
              </p:cNvSpPr>
              <p:nvPr/>
            </p:nvSpPr>
            <p:spPr bwMode="auto">
              <a:xfrm>
                <a:off x="1604" y="2321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D5</a:t>
                </a:r>
              </a:p>
            </p:txBody>
          </p:sp>
          <p:sp>
            <p:nvSpPr>
              <p:cNvPr id="68731" name="Text Box 225"/>
              <p:cNvSpPr txBox="1">
                <a:spLocks noChangeArrowheads="1"/>
              </p:cNvSpPr>
              <p:nvPr/>
            </p:nvSpPr>
            <p:spPr bwMode="auto">
              <a:xfrm>
                <a:off x="1602" y="2431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D6</a:t>
                </a:r>
              </a:p>
            </p:txBody>
          </p:sp>
          <p:sp>
            <p:nvSpPr>
              <p:cNvPr id="68732" name="Text Box 226"/>
              <p:cNvSpPr txBox="1">
                <a:spLocks noChangeArrowheads="1"/>
              </p:cNvSpPr>
              <p:nvPr/>
            </p:nvSpPr>
            <p:spPr bwMode="auto">
              <a:xfrm>
                <a:off x="1602" y="2534"/>
                <a:ext cx="19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D7</a:t>
                </a:r>
              </a:p>
            </p:txBody>
          </p:sp>
          <p:sp>
            <p:nvSpPr>
              <p:cNvPr id="68733" name="Oval 227"/>
              <p:cNvSpPr>
                <a:spLocks noChangeArrowheads="1"/>
              </p:cNvSpPr>
              <p:nvPr/>
            </p:nvSpPr>
            <p:spPr bwMode="auto">
              <a:xfrm>
                <a:off x="1463" y="2755"/>
                <a:ext cx="48" cy="4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34" name="Oval 228"/>
              <p:cNvSpPr>
                <a:spLocks noChangeArrowheads="1"/>
              </p:cNvSpPr>
              <p:nvPr/>
            </p:nvSpPr>
            <p:spPr bwMode="auto">
              <a:xfrm>
                <a:off x="1613" y="2752"/>
                <a:ext cx="48" cy="4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35" name="Oval 229"/>
              <p:cNvSpPr>
                <a:spLocks noChangeArrowheads="1"/>
              </p:cNvSpPr>
              <p:nvPr/>
            </p:nvSpPr>
            <p:spPr bwMode="auto">
              <a:xfrm>
                <a:off x="1534" y="1581"/>
                <a:ext cx="48" cy="4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36" name="Text Box 230"/>
              <p:cNvSpPr txBox="1">
                <a:spLocks noChangeArrowheads="1"/>
              </p:cNvSpPr>
              <p:nvPr/>
            </p:nvSpPr>
            <p:spPr bwMode="auto">
              <a:xfrm>
                <a:off x="1383" y="2643"/>
                <a:ext cx="209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OE</a:t>
                </a:r>
              </a:p>
            </p:txBody>
          </p:sp>
          <p:sp>
            <p:nvSpPr>
              <p:cNvPr id="68737" name="Line 231"/>
              <p:cNvSpPr>
                <a:spLocks noChangeShapeType="1"/>
              </p:cNvSpPr>
              <p:nvPr/>
            </p:nvSpPr>
            <p:spPr bwMode="auto">
              <a:xfrm>
                <a:off x="1450" y="2669"/>
                <a:ext cx="7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38" name="Text Box 232"/>
              <p:cNvSpPr txBox="1">
                <a:spLocks noChangeArrowheads="1"/>
              </p:cNvSpPr>
              <p:nvPr/>
            </p:nvSpPr>
            <p:spPr bwMode="auto">
              <a:xfrm>
                <a:off x="1529" y="2642"/>
                <a:ext cx="205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CE</a:t>
                </a:r>
              </a:p>
            </p:txBody>
          </p:sp>
          <p:sp>
            <p:nvSpPr>
              <p:cNvPr id="68739" name="Line 233"/>
              <p:cNvSpPr>
                <a:spLocks noChangeShapeType="1"/>
              </p:cNvSpPr>
              <p:nvPr/>
            </p:nvSpPr>
            <p:spPr bwMode="auto">
              <a:xfrm>
                <a:off x="1594" y="2668"/>
                <a:ext cx="7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  <p:sp>
            <p:nvSpPr>
              <p:cNvPr id="68740" name="Text Box 234"/>
              <p:cNvSpPr txBox="1">
                <a:spLocks noChangeArrowheads="1"/>
              </p:cNvSpPr>
              <p:nvPr/>
            </p:nvSpPr>
            <p:spPr bwMode="auto">
              <a:xfrm>
                <a:off x="1475" y="1625"/>
                <a:ext cx="176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Frutiger 55 Roman" charset="0"/>
                    <a:ea typeface="ＭＳ Ｐゴシック" pitchFamily="34" charset="-128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>
                    <a:solidFill>
                      <a:srgbClr val="000000"/>
                    </a:solidFill>
                  </a:rPr>
                  <a:t>W</a:t>
                </a:r>
              </a:p>
            </p:txBody>
          </p:sp>
          <p:sp>
            <p:nvSpPr>
              <p:cNvPr id="68741" name="Line 235"/>
              <p:cNvSpPr>
                <a:spLocks noChangeShapeType="1"/>
              </p:cNvSpPr>
              <p:nvPr/>
            </p:nvSpPr>
            <p:spPr bwMode="auto">
              <a:xfrm>
                <a:off x="1527" y="1655"/>
                <a:ext cx="7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  <a:latin typeface="Frutiger 55 Roman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68616" name="Line 236"/>
            <p:cNvSpPr>
              <a:spLocks noChangeShapeType="1"/>
            </p:cNvSpPr>
            <p:nvPr/>
          </p:nvSpPr>
          <p:spPr bwMode="auto">
            <a:xfrm>
              <a:off x="4540250" y="1463675"/>
              <a:ext cx="0" cy="395287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17" name="Line 237"/>
            <p:cNvSpPr>
              <a:spLocks noChangeShapeType="1"/>
            </p:cNvSpPr>
            <p:nvPr/>
          </p:nvSpPr>
          <p:spPr bwMode="auto">
            <a:xfrm>
              <a:off x="6562725" y="1465263"/>
              <a:ext cx="0" cy="395287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18" name="Line 238"/>
            <p:cNvSpPr>
              <a:spLocks noChangeShapeType="1"/>
            </p:cNvSpPr>
            <p:nvPr/>
          </p:nvSpPr>
          <p:spPr bwMode="auto">
            <a:xfrm rot="5400000" flipV="1">
              <a:off x="3722688" y="-1355725"/>
              <a:ext cx="9525" cy="568007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19" name="Line 239"/>
            <p:cNvSpPr>
              <a:spLocks noChangeShapeType="1"/>
            </p:cNvSpPr>
            <p:nvPr/>
          </p:nvSpPr>
          <p:spPr bwMode="auto">
            <a:xfrm>
              <a:off x="6115050" y="1860550"/>
              <a:ext cx="0" cy="395287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20" name="Line 240"/>
            <p:cNvSpPr>
              <a:spLocks noChangeShapeType="1"/>
            </p:cNvSpPr>
            <p:nvPr/>
          </p:nvSpPr>
          <p:spPr bwMode="auto">
            <a:xfrm>
              <a:off x="8137525" y="1851025"/>
              <a:ext cx="0" cy="395287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21" name="Line 241"/>
            <p:cNvSpPr>
              <a:spLocks noChangeShapeType="1"/>
            </p:cNvSpPr>
            <p:nvPr/>
          </p:nvSpPr>
          <p:spPr bwMode="auto">
            <a:xfrm rot="-5400000">
              <a:off x="4429125" y="2073275"/>
              <a:ext cx="9525" cy="745807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23" name="Freeform 243"/>
            <p:cNvSpPr>
              <a:spLocks/>
            </p:cNvSpPr>
            <p:nvPr/>
          </p:nvSpPr>
          <p:spPr bwMode="auto">
            <a:xfrm>
              <a:off x="3527425" y="3565525"/>
              <a:ext cx="1928813" cy="142875"/>
            </a:xfrm>
            <a:custGeom>
              <a:avLst/>
              <a:gdLst>
                <a:gd name="T0" fmla="*/ 2147483647 w 1056"/>
                <a:gd name="T1" fmla="*/ 0 h 90"/>
                <a:gd name="T2" fmla="*/ 2147483647 w 1056"/>
                <a:gd name="T3" fmla="*/ 2147483647 h 90"/>
                <a:gd name="T4" fmla="*/ 0 w 1056"/>
                <a:gd name="T5" fmla="*/ 2147483647 h 90"/>
                <a:gd name="T6" fmla="*/ 0 60000 65536"/>
                <a:gd name="T7" fmla="*/ 0 60000 65536"/>
                <a:gd name="T8" fmla="*/ 0 60000 65536"/>
                <a:gd name="T9" fmla="*/ 0 w 1056"/>
                <a:gd name="T10" fmla="*/ 0 h 90"/>
                <a:gd name="T11" fmla="*/ 1056 w 1056"/>
                <a:gd name="T12" fmla="*/ 90 h 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56" h="90">
                  <a:moveTo>
                    <a:pt x="1056" y="0"/>
                  </a:moveTo>
                  <a:cubicBezTo>
                    <a:pt x="1056" y="30"/>
                    <a:pt x="1056" y="60"/>
                    <a:pt x="1056" y="90"/>
                  </a:cubicBezTo>
                  <a:lnTo>
                    <a:pt x="0" y="9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25" name="Freeform 245"/>
            <p:cNvSpPr>
              <a:spLocks/>
            </p:cNvSpPr>
            <p:nvPr/>
          </p:nvSpPr>
          <p:spPr bwMode="auto">
            <a:xfrm>
              <a:off x="6350000" y="3554413"/>
              <a:ext cx="1106488" cy="131762"/>
            </a:xfrm>
            <a:custGeom>
              <a:avLst/>
              <a:gdLst>
                <a:gd name="T0" fmla="*/ 2147483647 w 1056"/>
                <a:gd name="T1" fmla="*/ 0 h 90"/>
                <a:gd name="T2" fmla="*/ 2147483647 w 1056"/>
                <a:gd name="T3" fmla="*/ 2147483647 h 90"/>
                <a:gd name="T4" fmla="*/ 0 w 1056"/>
                <a:gd name="T5" fmla="*/ 2147483647 h 90"/>
                <a:gd name="T6" fmla="*/ 0 60000 65536"/>
                <a:gd name="T7" fmla="*/ 0 60000 65536"/>
                <a:gd name="T8" fmla="*/ 0 60000 65536"/>
                <a:gd name="T9" fmla="*/ 0 w 1056"/>
                <a:gd name="T10" fmla="*/ 0 h 90"/>
                <a:gd name="T11" fmla="*/ 1056 w 1056"/>
                <a:gd name="T12" fmla="*/ 90 h 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56" h="90">
                  <a:moveTo>
                    <a:pt x="1056" y="0"/>
                  </a:moveTo>
                  <a:cubicBezTo>
                    <a:pt x="1056" y="30"/>
                    <a:pt x="1056" y="60"/>
                    <a:pt x="1056" y="90"/>
                  </a:cubicBezTo>
                  <a:lnTo>
                    <a:pt x="0" y="9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29" name="Oval 250"/>
            <p:cNvSpPr>
              <a:spLocks noChangeArrowheads="1"/>
            </p:cNvSpPr>
            <p:nvPr/>
          </p:nvSpPr>
          <p:spPr bwMode="auto">
            <a:xfrm>
              <a:off x="4333875" y="1562100"/>
              <a:ext cx="82550" cy="92075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400" b="1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35" name="Line 263"/>
            <p:cNvSpPr>
              <a:spLocks noChangeShapeType="1"/>
            </p:cNvSpPr>
            <p:nvPr/>
          </p:nvSpPr>
          <p:spPr bwMode="auto">
            <a:xfrm>
              <a:off x="2924175" y="1608138"/>
              <a:ext cx="44069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36" name="Line 264"/>
            <p:cNvSpPr>
              <a:spLocks noChangeShapeType="1"/>
            </p:cNvSpPr>
            <p:nvPr/>
          </p:nvSpPr>
          <p:spPr bwMode="auto">
            <a:xfrm>
              <a:off x="4365625" y="3787775"/>
              <a:ext cx="30035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37" name="Line 265"/>
            <p:cNvSpPr>
              <a:spLocks noChangeShapeType="1"/>
            </p:cNvSpPr>
            <p:nvPr/>
          </p:nvSpPr>
          <p:spPr bwMode="auto">
            <a:xfrm flipV="1">
              <a:off x="4365625" y="1600200"/>
              <a:ext cx="0" cy="21875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38" name="Line 266"/>
            <p:cNvSpPr>
              <a:spLocks noChangeShapeType="1"/>
            </p:cNvSpPr>
            <p:nvPr/>
          </p:nvSpPr>
          <p:spPr bwMode="auto">
            <a:xfrm>
              <a:off x="7216775" y="3543300"/>
              <a:ext cx="0" cy="603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39" name="Line 268"/>
            <p:cNvSpPr>
              <a:spLocks noChangeShapeType="1"/>
            </p:cNvSpPr>
            <p:nvPr/>
          </p:nvSpPr>
          <p:spPr bwMode="auto">
            <a:xfrm>
              <a:off x="5213350" y="3559175"/>
              <a:ext cx="0" cy="603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40" name="Line 269"/>
            <p:cNvSpPr>
              <a:spLocks noChangeShapeType="1"/>
            </p:cNvSpPr>
            <p:nvPr/>
          </p:nvSpPr>
          <p:spPr bwMode="auto">
            <a:xfrm flipH="1">
              <a:off x="6234113" y="3611563"/>
              <a:ext cx="9747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47" name="Line 277"/>
            <p:cNvSpPr>
              <a:spLocks noChangeShapeType="1"/>
            </p:cNvSpPr>
            <p:nvPr/>
          </p:nvSpPr>
          <p:spPr bwMode="auto">
            <a:xfrm flipH="1">
              <a:off x="3932238" y="3627438"/>
              <a:ext cx="12731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49" name="Oval 279"/>
            <p:cNvSpPr>
              <a:spLocks noChangeArrowheads="1"/>
            </p:cNvSpPr>
            <p:nvPr/>
          </p:nvSpPr>
          <p:spPr bwMode="auto">
            <a:xfrm>
              <a:off x="3900488" y="3570288"/>
              <a:ext cx="74612" cy="92075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400" b="1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50" name="Line 280"/>
            <p:cNvSpPr>
              <a:spLocks noChangeShapeType="1"/>
            </p:cNvSpPr>
            <p:nvPr/>
          </p:nvSpPr>
          <p:spPr bwMode="auto">
            <a:xfrm flipH="1">
              <a:off x="2130425" y="2286000"/>
              <a:ext cx="18161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51" name="Line 282"/>
            <p:cNvSpPr>
              <a:spLocks noChangeShapeType="1"/>
            </p:cNvSpPr>
            <p:nvPr/>
          </p:nvSpPr>
          <p:spPr bwMode="auto">
            <a:xfrm flipH="1">
              <a:off x="2136775" y="4206875"/>
              <a:ext cx="11318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52" name="Line 283"/>
            <p:cNvSpPr>
              <a:spLocks noChangeShapeType="1"/>
            </p:cNvSpPr>
            <p:nvPr/>
          </p:nvSpPr>
          <p:spPr bwMode="auto">
            <a:xfrm flipH="1">
              <a:off x="2135188" y="4533900"/>
              <a:ext cx="638175" cy="95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53" name="Line 284"/>
            <p:cNvSpPr>
              <a:spLocks noChangeShapeType="1"/>
            </p:cNvSpPr>
            <p:nvPr/>
          </p:nvSpPr>
          <p:spPr bwMode="auto">
            <a:xfrm>
              <a:off x="2925763" y="1604963"/>
              <a:ext cx="0" cy="3857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54" name="Line 285"/>
            <p:cNvSpPr>
              <a:spLocks noChangeShapeType="1"/>
            </p:cNvSpPr>
            <p:nvPr/>
          </p:nvSpPr>
          <p:spPr bwMode="auto">
            <a:xfrm flipH="1">
              <a:off x="2143125" y="1990725"/>
              <a:ext cx="7731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55" name="Text Box 286"/>
            <p:cNvSpPr txBox="1">
              <a:spLocks noChangeArrowheads="1"/>
            </p:cNvSpPr>
            <p:nvPr/>
          </p:nvSpPr>
          <p:spPr bwMode="auto">
            <a:xfrm>
              <a:off x="2010519" y="1204119"/>
              <a:ext cx="1773237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>
                  <a:solidFill>
                    <a:srgbClr val="000000"/>
                  </a:solidFill>
                </a:rPr>
                <a:t>Address Bus: A0..A14</a:t>
              </a:r>
            </a:p>
          </p:txBody>
        </p:sp>
        <p:sp>
          <p:nvSpPr>
            <p:cNvPr id="68656" name="Text Box 287"/>
            <p:cNvSpPr txBox="1">
              <a:spLocks noChangeArrowheads="1"/>
            </p:cNvSpPr>
            <p:nvPr/>
          </p:nvSpPr>
          <p:spPr bwMode="auto">
            <a:xfrm>
              <a:off x="327025" y="4659313"/>
              <a:ext cx="609600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b="1">
                  <a:solidFill>
                    <a:srgbClr val="000000"/>
                  </a:solidFill>
                </a:rPr>
                <a:t>To uP</a:t>
              </a:r>
            </a:p>
          </p:txBody>
        </p:sp>
        <p:sp>
          <p:nvSpPr>
            <p:cNvPr id="68657" name="Rectangle 288"/>
            <p:cNvSpPr>
              <a:spLocks noChangeArrowheads="1"/>
            </p:cNvSpPr>
            <p:nvPr/>
          </p:nvSpPr>
          <p:spPr bwMode="auto">
            <a:xfrm>
              <a:off x="1422400" y="1798638"/>
              <a:ext cx="701675" cy="33321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400" b="1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58" name="Text Box 289"/>
            <p:cNvSpPr txBox="1">
              <a:spLocks noChangeArrowheads="1"/>
            </p:cNvSpPr>
            <p:nvPr/>
          </p:nvSpPr>
          <p:spPr bwMode="auto">
            <a:xfrm rot="-5400000">
              <a:off x="666750" y="3357563"/>
              <a:ext cx="2147887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b="1">
                  <a:solidFill>
                    <a:srgbClr val="000000"/>
                  </a:solidFill>
                </a:rPr>
                <a:t>ADDRESS DECODE LOGIC</a:t>
              </a:r>
            </a:p>
          </p:txBody>
        </p:sp>
        <p:sp>
          <p:nvSpPr>
            <p:cNvPr id="68659" name="Text Box 290"/>
            <p:cNvSpPr txBox="1">
              <a:spLocks noChangeArrowheads="1"/>
            </p:cNvSpPr>
            <p:nvPr/>
          </p:nvSpPr>
          <p:spPr bwMode="auto">
            <a:xfrm>
              <a:off x="2397125" y="1752600"/>
              <a:ext cx="328613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b="1">
                  <a:solidFill>
                    <a:srgbClr val="000000"/>
                  </a:solidFill>
                </a:rPr>
                <a:t>W</a:t>
              </a:r>
            </a:p>
          </p:txBody>
        </p:sp>
        <p:sp>
          <p:nvSpPr>
            <p:cNvPr id="68660" name="Line 291"/>
            <p:cNvSpPr>
              <a:spLocks noChangeShapeType="1"/>
            </p:cNvSpPr>
            <p:nvPr/>
          </p:nvSpPr>
          <p:spPr bwMode="auto">
            <a:xfrm>
              <a:off x="2459038" y="1808163"/>
              <a:ext cx="1619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61" name="Text Box 292"/>
            <p:cNvSpPr txBox="1">
              <a:spLocks noChangeArrowheads="1"/>
            </p:cNvSpPr>
            <p:nvPr/>
          </p:nvSpPr>
          <p:spPr bwMode="auto">
            <a:xfrm>
              <a:off x="276225" y="1724025"/>
              <a:ext cx="6096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b="1">
                  <a:solidFill>
                    <a:srgbClr val="000000"/>
                  </a:solidFill>
                </a:rPr>
                <a:t>To uP</a:t>
              </a:r>
            </a:p>
          </p:txBody>
        </p:sp>
        <p:sp>
          <p:nvSpPr>
            <p:cNvPr id="68662" name="Line 293"/>
            <p:cNvSpPr>
              <a:spLocks noChangeShapeType="1"/>
            </p:cNvSpPr>
            <p:nvPr/>
          </p:nvSpPr>
          <p:spPr bwMode="auto">
            <a:xfrm flipH="1">
              <a:off x="538163" y="2205038"/>
              <a:ext cx="893762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63" name="Line 294"/>
            <p:cNvSpPr>
              <a:spLocks noChangeShapeType="1"/>
            </p:cNvSpPr>
            <p:nvPr/>
          </p:nvSpPr>
          <p:spPr bwMode="auto">
            <a:xfrm>
              <a:off x="609600" y="5791200"/>
              <a:ext cx="690563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64" name="Line 295"/>
            <p:cNvSpPr>
              <a:spLocks noChangeShapeType="1"/>
            </p:cNvSpPr>
            <p:nvPr/>
          </p:nvSpPr>
          <p:spPr bwMode="auto">
            <a:xfrm flipV="1">
              <a:off x="598488" y="1484313"/>
              <a:ext cx="812800" cy="952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65" name="Text Box 296"/>
            <p:cNvSpPr txBox="1">
              <a:spLocks noChangeArrowheads="1"/>
            </p:cNvSpPr>
            <p:nvPr/>
          </p:nvSpPr>
          <p:spPr bwMode="auto">
            <a:xfrm>
              <a:off x="611189" y="2227412"/>
              <a:ext cx="49670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>
                  <a:solidFill>
                    <a:srgbClr val="000000"/>
                  </a:solidFill>
                </a:rPr>
                <a:t>A15</a:t>
              </a:r>
            </a:p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>
                  <a:solidFill>
                    <a:srgbClr val="FF0000"/>
                  </a:solidFill>
                </a:rPr>
                <a:t>?</a:t>
              </a:r>
            </a:p>
          </p:txBody>
        </p:sp>
        <p:sp>
          <p:nvSpPr>
            <p:cNvPr id="68666" name="Line 297"/>
            <p:cNvSpPr>
              <a:spLocks noChangeShapeType="1"/>
            </p:cNvSpPr>
            <p:nvPr/>
          </p:nvSpPr>
          <p:spPr bwMode="auto">
            <a:xfrm>
              <a:off x="558800" y="2209800"/>
              <a:ext cx="5080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70" name="Text Box 301"/>
            <p:cNvSpPr txBox="1">
              <a:spLocks noChangeArrowheads="1"/>
            </p:cNvSpPr>
            <p:nvPr/>
          </p:nvSpPr>
          <p:spPr bwMode="auto">
            <a:xfrm>
              <a:off x="2349500" y="2057400"/>
              <a:ext cx="404813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b="1">
                  <a:solidFill>
                    <a:srgbClr val="000000"/>
                  </a:solidFill>
                </a:rPr>
                <a:t>OE</a:t>
              </a:r>
            </a:p>
          </p:txBody>
        </p:sp>
        <p:sp>
          <p:nvSpPr>
            <p:cNvPr id="68671" name="Line 302"/>
            <p:cNvSpPr>
              <a:spLocks noChangeShapeType="1"/>
            </p:cNvSpPr>
            <p:nvPr/>
          </p:nvSpPr>
          <p:spPr bwMode="auto">
            <a:xfrm>
              <a:off x="2397125" y="2092325"/>
              <a:ext cx="2746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72" name="Text Box 305"/>
            <p:cNvSpPr txBox="1">
              <a:spLocks noChangeArrowheads="1"/>
            </p:cNvSpPr>
            <p:nvPr/>
          </p:nvSpPr>
          <p:spPr bwMode="auto">
            <a:xfrm>
              <a:off x="2252663" y="3925888"/>
              <a:ext cx="479425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b="1">
                  <a:solidFill>
                    <a:srgbClr val="000000"/>
                  </a:solidFill>
                </a:rPr>
                <a:t>CE0</a:t>
              </a:r>
            </a:p>
          </p:txBody>
        </p:sp>
        <p:sp>
          <p:nvSpPr>
            <p:cNvPr id="68673" name="Line 306"/>
            <p:cNvSpPr>
              <a:spLocks noChangeShapeType="1"/>
            </p:cNvSpPr>
            <p:nvPr/>
          </p:nvSpPr>
          <p:spPr bwMode="auto">
            <a:xfrm>
              <a:off x="2336800" y="3960813"/>
              <a:ext cx="2746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74" name="Text Box 307"/>
            <p:cNvSpPr txBox="1">
              <a:spLocks noChangeArrowheads="1"/>
            </p:cNvSpPr>
            <p:nvPr/>
          </p:nvSpPr>
          <p:spPr bwMode="auto">
            <a:xfrm>
              <a:off x="2252663" y="4283075"/>
              <a:ext cx="47942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b="1">
                  <a:solidFill>
                    <a:srgbClr val="000000"/>
                  </a:solidFill>
                </a:rPr>
                <a:t>CE1</a:t>
              </a:r>
            </a:p>
          </p:txBody>
        </p:sp>
        <p:sp>
          <p:nvSpPr>
            <p:cNvPr id="68675" name="Line 308"/>
            <p:cNvSpPr>
              <a:spLocks noChangeShapeType="1"/>
            </p:cNvSpPr>
            <p:nvPr/>
          </p:nvSpPr>
          <p:spPr bwMode="auto">
            <a:xfrm>
              <a:off x="2336800" y="4318000"/>
              <a:ext cx="2746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76" name="Line 309"/>
            <p:cNvSpPr>
              <a:spLocks noChangeShapeType="1"/>
            </p:cNvSpPr>
            <p:nvPr/>
          </p:nvSpPr>
          <p:spPr bwMode="auto">
            <a:xfrm flipH="1">
              <a:off x="538163" y="3870325"/>
              <a:ext cx="8842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77" name="Line 310"/>
            <p:cNvSpPr>
              <a:spLocks noChangeShapeType="1"/>
            </p:cNvSpPr>
            <p:nvPr/>
          </p:nvSpPr>
          <p:spPr bwMode="auto">
            <a:xfrm flipH="1">
              <a:off x="538163" y="4378325"/>
              <a:ext cx="8842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78" name="Text Box 311"/>
            <p:cNvSpPr txBox="1">
              <a:spLocks noChangeArrowheads="1"/>
            </p:cNvSpPr>
            <p:nvPr/>
          </p:nvSpPr>
          <p:spPr bwMode="auto">
            <a:xfrm>
              <a:off x="520700" y="3594100"/>
              <a:ext cx="40322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b="1">
                  <a:solidFill>
                    <a:srgbClr val="000000"/>
                  </a:solidFill>
                </a:rPr>
                <a:t>RD</a:t>
              </a:r>
            </a:p>
          </p:txBody>
        </p:sp>
        <p:sp>
          <p:nvSpPr>
            <p:cNvPr id="68679" name="Line 312"/>
            <p:cNvSpPr>
              <a:spLocks noChangeShapeType="1"/>
            </p:cNvSpPr>
            <p:nvPr/>
          </p:nvSpPr>
          <p:spPr bwMode="auto">
            <a:xfrm>
              <a:off x="600075" y="3657600"/>
              <a:ext cx="2222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80" name="Text Box 313"/>
            <p:cNvSpPr txBox="1">
              <a:spLocks noChangeArrowheads="1"/>
            </p:cNvSpPr>
            <p:nvPr/>
          </p:nvSpPr>
          <p:spPr bwMode="auto">
            <a:xfrm>
              <a:off x="512763" y="4029075"/>
              <a:ext cx="43815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b="1">
                  <a:solidFill>
                    <a:srgbClr val="000000"/>
                  </a:solidFill>
                </a:rPr>
                <a:t>WR</a:t>
              </a:r>
            </a:p>
          </p:txBody>
        </p:sp>
        <p:sp>
          <p:nvSpPr>
            <p:cNvPr id="68681" name="Line 314"/>
            <p:cNvSpPr>
              <a:spLocks noChangeShapeType="1"/>
            </p:cNvSpPr>
            <p:nvPr/>
          </p:nvSpPr>
          <p:spPr bwMode="auto">
            <a:xfrm>
              <a:off x="609600" y="4064000"/>
              <a:ext cx="2222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82" name="Line 315"/>
            <p:cNvSpPr>
              <a:spLocks noChangeShapeType="1"/>
            </p:cNvSpPr>
            <p:nvPr/>
          </p:nvSpPr>
          <p:spPr bwMode="auto">
            <a:xfrm>
              <a:off x="528638" y="3860800"/>
              <a:ext cx="254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68683" name="Line 316"/>
            <p:cNvSpPr>
              <a:spLocks noChangeShapeType="1"/>
            </p:cNvSpPr>
            <p:nvPr/>
          </p:nvSpPr>
          <p:spPr bwMode="auto">
            <a:xfrm>
              <a:off x="558800" y="4378325"/>
              <a:ext cx="254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endParaRPr>
            </a:p>
          </p:txBody>
        </p:sp>
        <p:sp>
          <p:nvSpPr>
            <p:cNvPr id="2" name="Rectangle 1"/>
            <p:cNvSpPr/>
            <p:nvPr/>
          </p:nvSpPr>
          <p:spPr>
            <a:xfrm>
              <a:off x="1411288" y="1560513"/>
              <a:ext cx="6863672" cy="417353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FFFFFF"/>
                </a:solidFill>
                <a:latin typeface="Frutiger 55 Roman"/>
                <a:ea typeface="ＭＳ Ｐゴシック"/>
              </a:endParaRPr>
            </a:p>
          </p:txBody>
        </p:sp>
      </p:grpSp>
      <p:sp>
        <p:nvSpPr>
          <p:cNvPr id="4" name="Rectangle 3"/>
          <p:cNvSpPr/>
          <p:nvPr/>
        </p:nvSpPr>
        <p:spPr>
          <a:xfrm>
            <a:off x="1600200" y="3657600"/>
            <a:ext cx="4114800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600" b="1" dirty="0">
                <a:ln w="11430"/>
                <a:gradFill>
                  <a:gsLst>
                    <a:gs pos="0">
                      <a:srgbClr val="AE4845">
                        <a:tint val="90000"/>
                        <a:satMod val="120000"/>
                      </a:srgbClr>
                    </a:gs>
                    <a:gs pos="25000">
                      <a:srgbClr val="AE4845">
                        <a:tint val="93000"/>
                        <a:satMod val="120000"/>
                      </a:srgbClr>
                    </a:gs>
                    <a:gs pos="50000">
                      <a:srgbClr val="AE4845">
                        <a:shade val="89000"/>
                        <a:satMod val="110000"/>
                      </a:srgbClr>
                    </a:gs>
                    <a:gs pos="75000">
                      <a:srgbClr val="AE4845">
                        <a:tint val="93000"/>
                        <a:satMod val="120000"/>
                      </a:srgbClr>
                    </a:gs>
                    <a:gs pos="100000">
                      <a:srgbClr val="AE4845">
                        <a:tint val="90000"/>
                        <a:satMod val="120000"/>
                      </a:srgb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Frutiger 55 Roman" charset="0"/>
                <a:ea typeface="ＭＳ Ｐゴシック" pitchFamily="34" charset="-128"/>
              </a:rPr>
              <a:t>?</a:t>
            </a:r>
          </a:p>
        </p:txBody>
      </p:sp>
      <p:sp>
        <p:nvSpPr>
          <p:cNvPr id="284" name="Rectangle 283"/>
          <p:cNvSpPr/>
          <p:nvPr/>
        </p:nvSpPr>
        <p:spPr bwMode="auto">
          <a:xfrm>
            <a:off x="4648200" y="1905000"/>
            <a:ext cx="940506" cy="881449"/>
          </a:xfrm>
          <a:prstGeom prst="rect">
            <a:avLst/>
          </a:prstGeom>
          <a:solidFill>
            <a:schemeClr val="accent6"/>
          </a:solidFill>
          <a:ln w="0" cap="rnd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35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FFFFFF"/>
                </a:solidFill>
                <a:latin typeface="Frutiger 55 Roman"/>
                <a:ea typeface="ＭＳ Ｐゴシック"/>
              </a:rPr>
              <a:t>32K X 8</a:t>
            </a:r>
          </a:p>
        </p:txBody>
      </p:sp>
      <p:sp>
        <p:nvSpPr>
          <p:cNvPr id="285" name="Rectangle 284"/>
          <p:cNvSpPr/>
          <p:nvPr/>
        </p:nvSpPr>
        <p:spPr bwMode="auto">
          <a:xfrm>
            <a:off x="6400800" y="1905000"/>
            <a:ext cx="940506" cy="881449"/>
          </a:xfrm>
          <a:prstGeom prst="rect">
            <a:avLst/>
          </a:prstGeom>
          <a:solidFill>
            <a:schemeClr val="accent6"/>
          </a:solidFill>
          <a:ln w="0" cap="rnd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35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FFFFFF"/>
                </a:solidFill>
                <a:latin typeface="Frutiger 55 Roman"/>
                <a:ea typeface="ＭＳ Ｐゴシック"/>
              </a:rPr>
              <a:t>32K X 8</a:t>
            </a:r>
          </a:p>
        </p:txBody>
      </p:sp>
      <p:sp>
        <p:nvSpPr>
          <p:cNvPr id="286" name="Rectangle 285"/>
          <p:cNvSpPr/>
          <p:nvPr/>
        </p:nvSpPr>
        <p:spPr bwMode="auto">
          <a:xfrm>
            <a:off x="4648200" y="3962400"/>
            <a:ext cx="940506" cy="881449"/>
          </a:xfrm>
          <a:prstGeom prst="rect">
            <a:avLst/>
          </a:prstGeom>
          <a:solidFill>
            <a:schemeClr val="accent6"/>
          </a:solidFill>
          <a:ln w="0" cap="rnd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35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FFFFFF"/>
                </a:solidFill>
                <a:latin typeface="Frutiger 55 Roman"/>
                <a:ea typeface="ＭＳ Ｐゴシック"/>
              </a:rPr>
              <a:t>32K X 8</a:t>
            </a:r>
          </a:p>
        </p:txBody>
      </p:sp>
      <p:sp>
        <p:nvSpPr>
          <p:cNvPr id="287" name="Rectangle 286"/>
          <p:cNvSpPr/>
          <p:nvPr/>
        </p:nvSpPr>
        <p:spPr bwMode="auto">
          <a:xfrm>
            <a:off x="6400800" y="3962400"/>
            <a:ext cx="940506" cy="881449"/>
          </a:xfrm>
          <a:prstGeom prst="rect">
            <a:avLst/>
          </a:prstGeom>
          <a:solidFill>
            <a:schemeClr val="accent6"/>
          </a:solidFill>
          <a:ln w="0" cap="rnd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35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FFFFFF"/>
                </a:solidFill>
                <a:latin typeface="Frutiger 55 Roman"/>
                <a:ea typeface="ＭＳ Ｐゴシック"/>
              </a:rPr>
              <a:t>32K X 8</a:t>
            </a:r>
          </a:p>
        </p:txBody>
      </p:sp>
      <p:sp>
        <p:nvSpPr>
          <p:cNvPr id="288" name="Rectangle 287"/>
          <p:cNvSpPr/>
          <p:nvPr/>
        </p:nvSpPr>
        <p:spPr bwMode="auto">
          <a:xfrm>
            <a:off x="1676400" y="1828800"/>
            <a:ext cx="990600" cy="3429000"/>
          </a:xfrm>
          <a:prstGeom prst="rect">
            <a:avLst/>
          </a:prstGeom>
          <a:solidFill>
            <a:schemeClr val="accent6"/>
          </a:solidFill>
          <a:ln w="0" cap="rnd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35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31750" contourW="44450">
            <a:bevelT prst="relaxedInset"/>
            <a:bevelB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FFFFFF"/>
                </a:solidFill>
                <a:latin typeface="Frutiger 55 Roman"/>
                <a:ea typeface="ＭＳ Ｐゴシック"/>
              </a:rPr>
              <a:t>Control Line Decoder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19400" y="2838271"/>
            <a:ext cx="2057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rPr>
              <a:t>~OE?</a:t>
            </a:r>
          </a:p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Frutiger 55 Roman" charset="0"/>
                <a:ea typeface="ＭＳ Ｐゴシック" pitchFamily="34" charset="-128"/>
              </a:rPr>
              <a:t>~CS?</a:t>
            </a:r>
          </a:p>
        </p:txBody>
      </p:sp>
      <p:sp>
        <p:nvSpPr>
          <p:cNvPr id="290" name="Oval 289"/>
          <p:cNvSpPr/>
          <p:nvPr/>
        </p:nvSpPr>
        <p:spPr>
          <a:xfrm>
            <a:off x="4724400" y="1676400"/>
            <a:ext cx="176905" cy="199868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~CS</a:t>
            </a:r>
          </a:p>
        </p:txBody>
      </p:sp>
      <p:sp>
        <p:nvSpPr>
          <p:cNvPr id="291" name="Oval 290"/>
          <p:cNvSpPr/>
          <p:nvPr/>
        </p:nvSpPr>
        <p:spPr>
          <a:xfrm>
            <a:off x="5105400" y="1676400"/>
            <a:ext cx="176905" cy="199868"/>
          </a:xfrm>
          <a:prstGeom prst="ellipse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~OE</a:t>
            </a:r>
          </a:p>
        </p:txBody>
      </p:sp>
      <p:sp>
        <p:nvSpPr>
          <p:cNvPr id="292" name="Oval 291"/>
          <p:cNvSpPr/>
          <p:nvPr/>
        </p:nvSpPr>
        <p:spPr>
          <a:xfrm>
            <a:off x="4724400" y="3733800"/>
            <a:ext cx="176905" cy="199868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~CS</a:t>
            </a:r>
          </a:p>
        </p:txBody>
      </p:sp>
      <p:sp>
        <p:nvSpPr>
          <p:cNvPr id="293" name="Oval 292"/>
          <p:cNvSpPr/>
          <p:nvPr/>
        </p:nvSpPr>
        <p:spPr>
          <a:xfrm>
            <a:off x="5105400" y="3733800"/>
            <a:ext cx="176905" cy="199868"/>
          </a:xfrm>
          <a:prstGeom prst="ellipse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~OE</a:t>
            </a:r>
          </a:p>
        </p:txBody>
      </p:sp>
      <p:sp>
        <p:nvSpPr>
          <p:cNvPr id="294" name="Oval 293"/>
          <p:cNvSpPr/>
          <p:nvPr/>
        </p:nvSpPr>
        <p:spPr>
          <a:xfrm>
            <a:off x="6553200" y="1676400"/>
            <a:ext cx="176905" cy="199868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~CS</a:t>
            </a:r>
          </a:p>
        </p:txBody>
      </p:sp>
      <p:sp>
        <p:nvSpPr>
          <p:cNvPr id="295" name="Oval 294"/>
          <p:cNvSpPr/>
          <p:nvPr/>
        </p:nvSpPr>
        <p:spPr>
          <a:xfrm>
            <a:off x="6934200" y="1676400"/>
            <a:ext cx="176905" cy="199868"/>
          </a:xfrm>
          <a:prstGeom prst="ellipse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~OE</a:t>
            </a:r>
          </a:p>
        </p:txBody>
      </p:sp>
      <p:sp>
        <p:nvSpPr>
          <p:cNvPr id="296" name="Oval 295"/>
          <p:cNvSpPr/>
          <p:nvPr/>
        </p:nvSpPr>
        <p:spPr>
          <a:xfrm>
            <a:off x="6553200" y="3733800"/>
            <a:ext cx="176905" cy="199868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~CS</a:t>
            </a:r>
          </a:p>
        </p:txBody>
      </p:sp>
      <p:sp>
        <p:nvSpPr>
          <p:cNvPr id="297" name="Oval 296"/>
          <p:cNvSpPr/>
          <p:nvPr/>
        </p:nvSpPr>
        <p:spPr>
          <a:xfrm>
            <a:off x="6909695" y="3737132"/>
            <a:ext cx="176905" cy="199868"/>
          </a:xfrm>
          <a:prstGeom prst="ellipse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~OE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5867400"/>
            <a:ext cx="645414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Map A0-A14 to smaller memory  (offset bits)</a:t>
            </a:r>
          </a:p>
          <a:p>
            <a:r>
              <a:rPr lang="en-US" dirty="0"/>
              <a:t>Map A15 to page selection (</a:t>
            </a:r>
            <a:r>
              <a:rPr lang="en-US" b="1" dirty="0">
                <a:solidFill>
                  <a:srgbClr val="FF0000"/>
                </a:solidFill>
              </a:rPr>
              <a:t>Q:</a:t>
            </a:r>
            <a:r>
              <a:rPr lang="en-US" dirty="0"/>
              <a:t> ~OE or ~CS or ~W?)</a:t>
            </a:r>
          </a:p>
          <a:p>
            <a:r>
              <a:rPr lang="en-US" dirty="0"/>
              <a:t>Map RD/WR to storing or retrieving (</a:t>
            </a:r>
            <a:r>
              <a:rPr lang="en-US" b="1" dirty="0">
                <a:solidFill>
                  <a:srgbClr val="FF0000"/>
                </a:solidFill>
              </a:rPr>
              <a:t>Q:</a:t>
            </a:r>
            <a:r>
              <a:rPr lang="en-US" dirty="0"/>
              <a:t> ~OE or ~CS or ~W?)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002268"/>
            <a:ext cx="4114800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Start with Black Boxes and drill down</a:t>
            </a:r>
          </a:p>
        </p:txBody>
      </p:sp>
      <p:sp>
        <p:nvSpPr>
          <p:cNvPr id="300" name="Rectangular Callout 299"/>
          <p:cNvSpPr/>
          <p:nvPr/>
        </p:nvSpPr>
        <p:spPr>
          <a:xfrm>
            <a:off x="228600" y="3048000"/>
            <a:ext cx="1295400" cy="457200"/>
          </a:xfrm>
          <a:prstGeom prst="wedgeRectCallout">
            <a:avLst/>
          </a:prstGeom>
          <a:noFill/>
          <a:ln>
            <a:solidFill>
              <a:srgbClr val="FF0000">
                <a:alpha val="56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Notice These Control Wires?</a:t>
            </a:r>
          </a:p>
        </p:txBody>
      </p:sp>
      <p:sp>
        <p:nvSpPr>
          <p:cNvPr id="301" name="Oval 300"/>
          <p:cNvSpPr/>
          <p:nvPr/>
        </p:nvSpPr>
        <p:spPr>
          <a:xfrm>
            <a:off x="5105400" y="2819400"/>
            <a:ext cx="176905" cy="199868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~CS</a:t>
            </a:r>
          </a:p>
        </p:txBody>
      </p:sp>
      <p:sp>
        <p:nvSpPr>
          <p:cNvPr id="302" name="Oval 301"/>
          <p:cNvSpPr/>
          <p:nvPr/>
        </p:nvSpPr>
        <p:spPr>
          <a:xfrm>
            <a:off x="6934200" y="2819400"/>
            <a:ext cx="176905" cy="199868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~CS</a:t>
            </a:r>
          </a:p>
        </p:txBody>
      </p:sp>
      <p:sp>
        <p:nvSpPr>
          <p:cNvPr id="303" name="Oval 302"/>
          <p:cNvSpPr/>
          <p:nvPr/>
        </p:nvSpPr>
        <p:spPr>
          <a:xfrm>
            <a:off x="5105400" y="4876800"/>
            <a:ext cx="176905" cy="199868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~CS</a:t>
            </a:r>
          </a:p>
        </p:txBody>
      </p:sp>
      <p:sp>
        <p:nvSpPr>
          <p:cNvPr id="304" name="Oval 303"/>
          <p:cNvSpPr/>
          <p:nvPr/>
        </p:nvSpPr>
        <p:spPr>
          <a:xfrm>
            <a:off x="6934200" y="4876800"/>
            <a:ext cx="176905" cy="199868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~CS</a:t>
            </a:r>
          </a:p>
        </p:txBody>
      </p:sp>
      <p:sp>
        <p:nvSpPr>
          <p:cNvPr id="305" name="Oval 304"/>
          <p:cNvSpPr/>
          <p:nvPr/>
        </p:nvSpPr>
        <p:spPr>
          <a:xfrm>
            <a:off x="6781800" y="5822846"/>
            <a:ext cx="789191" cy="717446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~CS</a:t>
            </a:r>
          </a:p>
        </p:txBody>
      </p:sp>
      <p:sp>
        <p:nvSpPr>
          <p:cNvPr id="306" name="Oval 305"/>
          <p:cNvSpPr/>
          <p:nvPr/>
        </p:nvSpPr>
        <p:spPr>
          <a:xfrm>
            <a:off x="7567409" y="5822846"/>
            <a:ext cx="789191" cy="717446"/>
          </a:xfrm>
          <a:prstGeom prst="ellipse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~OE</a:t>
            </a:r>
          </a:p>
        </p:txBody>
      </p:sp>
      <p:sp>
        <p:nvSpPr>
          <p:cNvPr id="307" name="Oval 306"/>
          <p:cNvSpPr/>
          <p:nvPr/>
        </p:nvSpPr>
        <p:spPr>
          <a:xfrm>
            <a:off x="8354809" y="5791200"/>
            <a:ext cx="789191" cy="71744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~</a:t>
            </a:r>
            <a:r>
              <a:rPr lang="en-US" sz="1200" kern="0" dirty="0">
                <a:solidFill>
                  <a:srgbClr val="000000"/>
                </a:solidFill>
                <a:latin typeface="Frutiger 55 Roman"/>
                <a:ea typeface="ＭＳ Ｐゴシック"/>
              </a:rPr>
              <a:t>W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  <a:cs typeface="+mn-cs"/>
            </a:endParaRPr>
          </a:p>
        </p:txBody>
      </p:sp>
      <p:sp>
        <p:nvSpPr>
          <p:cNvPr id="309" name="Rectangular Callout 308"/>
          <p:cNvSpPr/>
          <p:nvPr/>
        </p:nvSpPr>
        <p:spPr>
          <a:xfrm>
            <a:off x="8048022" y="5181600"/>
            <a:ext cx="1070578" cy="457200"/>
          </a:xfrm>
          <a:prstGeom prst="wedgeRectCallout">
            <a:avLst>
              <a:gd name="adj1" fmla="val 27696"/>
              <a:gd name="adj2" fmla="val 98611"/>
            </a:avLst>
          </a:prstGeom>
          <a:noFill/>
          <a:ln>
            <a:solidFill>
              <a:srgbClr val="FF0000">
                <a:alpha val="56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Added ~W</a:t>
            </a:r>
          </a:p>
        </p:txBody>
      </p:sp>
    </p:spTree>
    <p:extLst>
      <p:ext uri="{BB962C8B-B14F-4D97-AF65-F5344CB8AC3E}">
        <p14:creationId xmlns:p14="http://schemas.microsoft.com/office/powerpoint/2010/main" val="137534515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0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5113" y="152400"/>
            <a:ext cx="8659812" cy="688975"/>
          </a:xfrm>
        </p:spPr>
        <p:txBody>
          <a:bodyPr/>
          <a:lstStyle/>
          <a:p>
            <a:r>
              <a:rPr lang="en-US" dirty="0"/>
              <a:t>Decoding Memory</a:t>
            </a:r>
          </a:p>
        </p:txBody>
      </p:sp>
      <p:grpSp>
        <p:nvGrpSpPr>
          <p:cNvPr id="68612" name="Group 64"/>
          <p:cNvGrpSpPr>
            <a:grpSpLocks/>
          </p:cNvGrpSpPr>
          <p:nvPr/>
        </p:nvGrpSpPr>
        <p:grpSpPr bwMode="auto">
          <a:xfrm>
            <a:off x="4522788" y="1852612"/>
            <a:ext cx="1601787" cy="1938338"/>
            <a:chOff x="1052" y="1581"/>
            <a:chExt cx="1009" cy="1221"/>
          </a:xfrm>
        </p:grpSpPr>
        <p:sp>
          <p:nvSpPr>
            <p:cNvPr id="68854" name="Rectangle 4"/>
            <p:cNvSpPr>
              <a:spLocks noChangeArrowheads="1"/>
            </p:cNvSpPr>
            <p:nvPr/>
          </p:nvSpPr>
          <p:spPr bwMode="auto">
            <a:xfrm>
              <a:off x="1359" y="1632"/>
              <a:ext cx="397" cy="112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855" name="Line 5"/>
            <p:cNvSpPr>
              <a:spLocks noChangeShapeType="1"/>
            </p:cNvSpPr>
            <p:nvPr/>
          </p:nvSpPr>
          <p:spPr bwMode="auto">
            <a:xfrm flipH="1">
              <a:off x="1056" y="172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56" name="Line 6"/>
            <p:cNvSpPr>
              <a:spLocks noChangeShapeType="1"/>
            </p:cNvSpPr>
            <p:nvPr/>
          </p:nvSpPr>
          <p:spPr bwMode="auto">
            <a:xfrm flipH="1">
              <a:off x="1055" y="179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57" name="Line 7"/>
            <p:cNvSpPr>
              <a:spLocks noChangeShapeType="1"/>
            </p:cNvSpPr>
            <p:nvPr/>
          </p:nvSpPr>
          <p:spPr bwMode="auto">
            <a:xfrm flipH="1">
              <a:off x="1056" y="1849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58" name="Line 8"/>
            <p:cNvSpPr>
              <a:spLocks noChangeShapeType="1"/>
            </p:cNvSpPr>
            <p:nvPr/>
          </p:nvSpPr>
          <p:spPr bwMode="auto">
            <a:xfrm flipH="1">
              <a:off x="1055" y="191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59" name="Line 9"/>
            <p:cNvSpPr>
              <a:spLocks noChangeShapeType="1"/>
            </p:cNvSpPr>
            <p:nvPr/>
          </p:nvSpPr>
          <p:spPr bwMode="auto">
            <a:xfrm flipH="1">
              <a:off x="1053" y="197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60" name="Line 10"/>
            <p:cNvSpPr>
              <a:spLocks noChangeShapeType="1"/>
            </p:cNvSpPr>
            <p:nvPr/>
          </p:nvSpPr>
          <p:spPr bwMode="auto">
            <a:xfrm flipH="1">
              <a:off x="1052" y="203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61" name="Line 11"/>
            <p:cNvSpPr>
              <a:spLocks noChangeShapeType="1"/>
            </p:cNvSpPr>
            <p:nvPr/>
          </p:nvSpPr>
          <p:spPr bwMode="auto">
            <a:xfrm flipH="1">
              <a:off x="1053" y="209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62" name="Line 12"/>
            <p:cNvSpPr>
              <a:spLocks noChangeShapeType="1"/>
            </p:cNvSpPr>
            <p:nvPr/>
          </p:nvSpPr>
          <p:spPr bwMode="auto">
            <a:xfrm flipH="1">
              <a:off x="1052" y="215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63" name="Line 13"/>
            <p:cNvSpPr>
              <a:spLocks noChangeShapeType="1"/>
            </p:cNvSpPr>
            <p:nvPr/>
          </p:nvSpPr>
          <p:spPr bwMode="auto">
            <a:xfrm flipH="1">
              <a:off x="1056" y="221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64" name="Line 14"/>
            <p:cNvSpPr>
              <a:spLocks noChangeShapeType="1"/>
            </p:cNvSpPr>
            <p:nvPr/>
          </p:nvSpPr>
          <p:spPr bwMode="auto">
            <a:xfrm flipH="1">
              <a:off x="1055" y="228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65" name="Line 15"/>
            <p:cNvSpPr>
              <a:spLocks noChangeShapeType="1"/>
            </p:cNvSpPr>
            <p:nvPr/>
          </p:nvSpPr>
          <p:spPr bwMode="auto">
            <a:xfrm flipH="1">
              <a:off x="1056" y="2339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66" name="Line 16"/>
            <p:cNvSpPr>
              <a:spLocks noChangeShapeType="1"/>
            </p:cNvSpPr>
            <p:nvPr/>
          </p:nvSpPr>
          <p:spPr bwMode="auto">
            <a:xfrm flipH="1">
              <a:off x="1055" y="240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67" name="Line 17"/>
            <p:cNvSpPr>
              <a:spLocks noChangeShapeType="1"/>
            </p:cNvSpPr>
            <p:nvPr/>
          </p:nvSpPr>
          <p:spPr bwMode="auto">
            <a:xfrm flipH="1">
              <a:off x="1053" y="247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68" name="Line 18"/>
            <p:cNvSpPr>
              <a:spLocks noChangeShapeType="1"/>
            </p:cNvSpPr>
            <p:nvPr/>
          </p:nvSpPr>
          <p:spPr bwMode="auto">
            <a:xfrm flipH="1">
              <a:off x="1052" y="253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69" name="Line 19"/>
            <p:cNvSpPr>
              <a:spLocks noChangeShapeType="1"/>
            </p:cNvSpPr>
            <p:nvPr/>
          </p:nvSpPr>
          <p:spPr bwMode="auto">
            <a:xfrm flipH="1">
              <a:off x="1057" y="259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70" name="Text Box 21"/>
            <p:cNvSpPr txBox="1">
              <a:spLocks noChangeArrowheads="1"/>
            </p:cNvSpPr>
            <p:nvPr/>
          </p:nvSpPr>
          <p:spPr bwMode="auto">
            <a:xfrm>
              <a:off x="1335" y="165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A0</a:t>
              </a:r>
            </a:p>
          </p:txBody>
        </p:sp>
        <p:sp>
          <p:nvSpPr>
            <p:cNvPr id="68871" name="Text Box 22"/>
            <p:cNvSpPr txBox="1">
              <a:spLocks noChangeArrowheads="1"/>
            </p:cNvSpPr>
            <p:nvPr/>
          </p:nvSpPr>
          <p:spPr bwMode="auto">
            <a:xfrm>
              <a:off x="1339" y="1716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</a:t>
              </a:r>
            </a:p>
          </p:txBody>
        </p:sp>
        <p:sp>
          <p:nvSpPr>
            <p:cNvPr id="68872" name="Text Box 23"/>
            <p:cNvSpPr txBox="1">
              <a:spLocks noChangeArrowheads="1"/>
            </p:cNvSpPr>
            <p:nvPr/>
          </p:nvSpPr>
          <p:spPr bwMode="auto">
            <a:xfrm>
              <a:off x="1338" y="1782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A2</a:t>
              </a:r>
            </a:p>
          </p:txBody>
        </p:sp>
        <p:sp>
          <p:nvSpPr>
            <p:cNvPr id="68873" name="Text Box 24"/>
            <p:cNvSpPr txBox="1">
              <a:spLocks noChangeArrowheads="1"/>
            </p:cNvSpPr>
            <p:nvPr/>
          </p:nvSpPr>
          <p:spPr bwMode="auto">
            <a:xfrm>
              <a:off x="1339" y="184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A3</a:t>
              </a:r>
            </a:p>
          </p:txBody>
        </p:sp>
        <p:sp>
          <p:nvSpPr>
            <p:cNvPr id="68874" name="Text Box 25"/>
            <p:cNvSpPr txBox="1">
              <a:spLocks noChangeArrowheads="1"/>
            </p:cNvSpPr>
            <p:nvPr/>
          </p:nvSpPr>
          <p:spPr bwMode="auto">
            <a:xfrm>
              <a:off x="1335" y="190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A4</a:t>
              </a:r>
            </a:p>
          </p:txBody>
        </p:sp>
        <p:sp>
          <p:nvSpPr>
            <p:cNvPr id="68875" name="Text Box 26"/>
            <p:cNvSpPr txBox="1">
              <a:spLocks noChangeArrowheads="1"/>
            </p:cNvSpPr>
            <p:nvPr/>
          </p:nvSpPr>
          <p:spPr bwMode="auto">
            <a:xfrm>
              <a:off x="1339" y="1966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A5</a:t>
              </a:r>
            </a:p>
          </p:txBody>
        </p:sp>
        <p:sp>
          <p:nvSpPr>
            <p:cNvPr id="68876" name="Text Box 27"/>
            <p:cNvSpPr txBox="1">
              <a:spLocks noChangeArrowheads="1"/>
            </p:cNvSpPr>
            <p:nvPr/>
          </p:nvSpPr>
          <p:spPr bwMode="auto">
            <a:xfrm>
              <a:off x="1338" y="2032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A6</a:t>
              </a:r>
            </a:p>
          </p:txBody>
        </p:sp>
        <p:sp>
          <p:nvSpPr>
            <p:cNvPr id="68877" name="Text Box 28"/>
            <p:cNvSpPr txBox="1">
              <a:spLocks noChangeArrowheads="1"/>
            </p:cNvSpPr>
            <p:nvPr/>
          </p:nvSpPr>
          <p:spPr bwMode="auto">
            <a:xfrm>
              <a:off x="1339" y="209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A7</a:t>
              </a:r>
            </a:p>
          </p:txBody>
        </p:sp>
        <p:sp>
          <p:nvSpPr>
            <p:cNvPr id="68878" name="Text Box 29"/>
            <p:cNvSpPr txBox="1">
              <a:spLocks noChangeArrowheads="1"/>
            </p:cNvSpPr>
            <p:nvPr/>
          </p:nvSpPr>
          <p:spPr bwMode="auto">
            <a:xfrm>
              <a:off x="1332" y="215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A8</a:t>
              </a:r>
            </a:p>
          </p:txBody>
        </p:sp>
        <p:sp>
          <p:nvSpPr>
            <p:cNvPr id="68879" name="Text Box 30"/>
            <p:cNvSpPr txBox="1">
              <a:spLocks noChangeArrowheads="1"/>
            </p:cNvSpPr>
            <p:nvPr/>
          </p:nvSpPr>
          <p:spPr bwMode="auto">
            <a:xfrm>
              <a:off x="1336" y="221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A9</a:t>
              </a:r>
            </a:p>
          </p:txBody>
        </p:sp>
        <p:sp>
          <p:nvSpPr>
            <p:cNvPr id="68880" name="Text Box 31"/>
            <p:cNvSpPr txBox="1">
              <a:spLocks noChangeArrowheads="1"/>
            </p:cNvSpPr>
            <p:nvPr/>
          </p:nvSpPr>
          <p:spPr bwMode="auto">
            <a:xfrm>
              <a:off x="1317" y="2281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A10</a:t>
              </a:r>
            </a:p>
          </p:txBody>
        </p:sp>
        <p:sp>
          <p:nvSpPr>
            <p:cNvPr id="68881" name="Text Box 32"/>
            <p:cNvSpPr txBox="1">
              <a:spLocks noChangeArrowheads="1"/>
            </p:cNvSpPr>
            <p:nvPr/>
          </p:nvSpPr>
          <p:spPr bwMode="auto">
            <a:xfrm>
              <a:off x="1318" y="2346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A11</a:t>
              </a:r>
            </a:p>
          </p:txBody>
        </p:sp>
        <p:sp>
          <p:nvSpPr>
            <p:cNvPr id="68882" name="Text Box 33"/>
            <p:cNvSpPr txBox="1">
              <a:spLocks noChangeArrowheads="1"/>
            </p:cNvSpPr>
            <p:nvPr/>
          </p:nvSpPr>
          <p:spPr bwMode="auto">
            <a:xfrm>
              <a:off x="1314" y="2404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A12</a:t>
              </a:r>
            </a:p>
          </p:txBody>
        </p:sp>
        <p:sp>
          <p:nvSpPr>
            <p:cNvPr id="68883" name="Text Box 34"/>
            <p:cNvSpPr txBox="1">
              <a:spLocks noChangeArrowheads="1"/>
            </p:cNvSpPr>
            <p:nvPr/>
          </p:nvSpPr>
          <p:spPr bwMode="auto">
            <a:xfrm>
              <a:off x="1318" y="2465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A13</a:t>
              </a:r>
            </a:p>
          </p:txBody>
        </p:sp>
        <p:sp>
          <p:nvSpPr>
            <p:cNvPr id="68884" name="Text Box 35"/>
            <p:cNvSpPr txBox="1">
              <a:spLocks noChangeArrowheads="1"/>
            </p:cNvSpPr>
            <p:nvPr/>
          </p:nvSpPr>
          <p:spPr bwMode="auto">
            <a:xfrm>
              <a:off x="1317" y="2531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A14</a:t>
              </a:r>
            </a:p>
          </p:txBody>
        </p:sp>
        <p:sp>
          <p:nvSpPr>
            <p:cNvPr id="68885" name="Line 37"/>
            <p:cNvSpPr>
              <a:spLocks noChangeShapeType="1"/>
            </p:cNvSpPr>
            <p:nvPr/>
          </p:nvSpPr>
          <p:spPr bwMode="auto">
            <a:xfrm flipH="1">
              <a:off x="1756" y="174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86" name="Line 38"/>
            <p:cNvSpPr>
              <a:spLocks noChangeShapeType="1"/>
            </p:cNvSpPr>
            <p:nvPr/>
          </p:nvSpPr>
          <p:spPr bwMode="auto">
            <a:xfrm flipH="1">
              <a:off x="1759" y="1844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87" name="Line 39"/>
            <p:cNvSpPr>
              <a:spLocks noChangeShapeType="1"/>
            </p:cNvSpPr>
            <p:nvPr/>
          </p:nvSpPr>
          <p:spPr bwMode="auto">
            <a:xfrm flipH="1">
              <a:off x="1757" y="198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88" name="Line 40"/>
            <p:cNvSpPr>
              <a:spLocks noChangeShapeType="1"/>
            </p:cNvSpPr>
            <p:nvPr/>
          </p:nvSpPr>
          <p:spPr bwMode="auto">
            <a:xfrm flipH="1">
              <a:off x="1756" y="2135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89" name="Line 41"/>
            <p:cNvSpPr>
              <a:spLocks noChangeShapeType="1"/>
            </p:cNvSpPr>
            <p:nvPr/>
          </p:nvSpPr>
          <p:spPr bwMode="auto">
            <a:xfrm flipH="1">
              <a:off x="1754" y="227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90" name="Line 42"/>
            <p:cNvSpPr>
              <a:spLocks noChangeShapeType="1"/>
            </p:cNvSpPr>
            <p:nvPr/>
          </p:nvSpPr>
          <p:spPr bwMode="auto">
            <a:xfrm flipH="1">
              <a:off x="1756" y="238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91" name="Line 43"/>
            <p:cNvSpPr>
              <a:spLocks noChangeShapeType="1"/>
            </p:cNvSpPr>
            <p:nvPr/>
          </p:nvSpPr>
          <p:spPr bwMode="auto">
            <a:xfrm flipH="1">
              <a:off x="1761" y="250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92" name="Line 44"/>
            <p:cNvSpPr>
              <a:spLocks noChangeShapeType="1"/>
            </p:cNvSpPr>
            <p:nvPr/>
          </p:nvSpPr>
          <p:spPr bwMode="auto">
            <a:xfrm flipH="1">
              <a:off x="1752" y="259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93" name="Text Box 45"/>
            <p:cNvSpPr txBox="1">
              <a:spLocks noChangeArrowheads="1"/>
            </p:cNvSpPr>
            <p:nvPr/>
          </p:nvSpPr>
          <p:spPr bwMode="auto">
            <a:xfrm>
              <a:off x="1599" y="166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D0</a:t>
              </a:r>
            </a:p>
          </p:txBody>
        </p:sp>
        <p:sp>
          <p:nvSpPr>
            <p:cNvPr id="68894" name="Text Box 46"/>
            <p:cNvSpPr txBox="1">
              <a:spLocks noChangeArrowheads="1"/>
            </p:cNvSpPr>
            <p:nvPr/>
          </p:nvSpPr>
          <p:spPr bwMode="auto">
            <a:xfrm>
              <a:off x="1604" y="1780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D1</a:t>
              </a:r>
            </a:p>
          </p:txBody>
        </p:sp>
        <p:sp>
          <p:nvSpPr>
            <p:cNvPr id="68895" name="Text Box 47"/>
            <p:cNvSpPr txBox="1">
              <a:spLocks noChangeArrowheads="1"/>
            </p:cNvSpPr>
            <p:nvPr/>
          </p:nvSpPr>
          <p:spPr bwMode="auto">
            <a:xfrm>
              <a:off x="1603" y="1919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D2</a:t>
              </a:r>
            </a:p>
          </p:txBody>
        </p:sp>
        <p:sp>
          <p:nvSpPr>
            <p:cNvPr id="68896" name="Text Box 48"/>
            <p:cNvSpPr txBox="1">
              <a:spLocks noChangeArrowheads="1"/>
            </p:cNvSpPr>
            <p:nvPr/>
          </p:nvSpPr>
          <p:spPr bwMode="auto">
            <a:xfrm>
              <a:off x="1600" y="206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D3</a:t>
              </a:r>
            </a:p>
          </p:txBody>
        </p:sp>
        <p:sp>
          <p:nvSpPr>
            <p:cNvPr id="68897" name="Text Box 49"/>
            <p:cNvSpPr txBox="1">
              <a:spLocks noChangeArrowheads="1"/>
            </p:cNvSpPr>
            <p:nvPr/>
          </p:nvSpPr>
          <p:spPr bwMode="auto">
            <a:xfrm>
              <a:off x="1602" y="2190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D4</a:t>
              </a:r>
            </a:p>
          </p:txBody>
        </p:sp>
        <p:sp>
          <p:nvSpPr>
            <p:cNvPr id="68898" name="Text Box 50"/>
            <p:cNvSpPr txBox="1">
              <a:spLocks noChangeArrowheads="1"/>
            </p:cNvSpPr>
            <p:nvPr/>
          </p:nvSpPr>
          <p:spPr bwMode="auto">
            <a:xfrm>
              <a:off x="1604" y="2321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D5</a:t>
              </a:r>
            </a:p>
          </p:txBody>
        </p:sp>
        <p:sp>
          <p:nvSpPr>
            <p:cNvPr id="68899" name="Text Box 51"/>
            <p:cNvSpPr txBox="1">
              <a:spLocks noChangeArrowheads="1"/>
            </p:cNvSpPr>
            <p:nvPr/>
          </p:nvSpPr>
          <p:spPr bwMode="auto">
            <a:xfrm>
              <a:off x="1602" y="2431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D6</a:t>
              </a:r>
            </a:p>
          </p:txBody>
        </p:sp>
        <p:sp>
          <p:nvSpPr>
            <p:cNvPr id="68900" name="Text Box 52"/>
            <p:cNvSpPr txBox="1">
              <a:spLocks noChangeArrowheads="1"/>
            </p:cNvSpPr>
            <p:nvPr/>
          </p:nvSpPr>
          <p:spPr bwMode="auto">
            <a:xfrm>
              <a:off x="1602" y="253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D7</a:t>
              </a:r>
            </a:p>
          </p:txBody>
        </p:sp>
        <p:sp>
          <p:nvSpPr>
            <p:cNvPr id="68901" name="Oval 53"/>
            <p:cNvSpPr>
              <a:spLocks noChangeArrowheads="1"/>
            </p:cNvSpPr>
            <p:nvPr/>
          </p:nvSpPr>
          <p:spPr bwMode="auto">
            <a:xfrm>
              <a:off x="1463" y="2755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902" name="Oval 54"/>
            <p:cNvSpPr>
              <a:spLocks noChangeArrowheads="1"/>
            </p:cNvSpPr>
            <p:nvPr/>
          </p:nvSpPr>
          <p:spPr bwMode="auto">
            <a:xfrm>
              <a:off x="1613" y="2752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903" name="Oval 56"/>
            <p:cNvSpPr>
              <a:spLocks noChangeArrowheads="1"/>
            </p:cNvSpPr>
            <p:nvPr/>
          </p:nvSpPr>
          <p:spPr bwMode="auto">
            <a:xfrm>
              <a:off x="1534" y="1581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904" name="Text Box 57"/>
            <p:cNvSpPr txBox="1">
              <a:spLocks noChangeArrowheads="1"/>
            </p:cNvSpPr>
            <p:nvPr/>
          </p:nvSpPr>
          <p:spPr bwMode="auto">
            <a:xfrm>
              <a:off x="1383" y="2643"/>
              <a:ext cx="209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OE</a:t>
              </a:r>
            </a:p>
          </p:txBody>
        </p:sp>
        <p:sp>
          <p:nvSpPr>
            <p:cNvPr id="68905" name="Line 58"/>
            <p:cNvSpPr>
              <a:spLocks noChangeShapeType="1"/>
            </p:cNvSpPr>
            <p:nvPr/>
          </p:nvSpPr>
          <p:spPr bwMode="auto">
            <a:xfrm>
              <a:off x="1450" y="2669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906" name="Text Box 59"/>
            <p:cNvSpPr txBox="1">
              <a:spLocks noChangeArrowheads="1"/>
            </p:cNvSpPr>
            <p:nvPr/>
          </p:nvSpPr>
          <p:spPr bwMode="auto">
            <a:xfrm>
              <a:off x="1529" y="2642"/>
              <a:ext cx="205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CE</a:t>
              </a:r>
            </a:p>
          </p:txBody>
        </p:sp>
        <p:sp>
          <p:nvSpPr>
            <p:cNvPr id="68907" name="Line 60"/>
            <p:cNvSpPr>
              <a:spLocks noChangeShapeType="1"/>
            </p:cNvSpPr>
            <p:nvPr/>
          </p:nvSpPr>
          <p:spPr bwMode="auto">
            <a:xfrm>
              <a:off x="1594" y="2668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908" name="Text Box 62"/>
            <p:cNvSpPr txBox="1">
              <a:spLocks noChangeArrowheads="1"/>
            </p:cNvSpPr>
            <p:nvPr/>
          </p:nvSpPr>
          <p:spPr bwMode="auto">
            <a:xfrm>
              <a:off x="1475" y="1625"/>
              <a:ext cx="17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W</a:t>
              </a:r>
            </a:p>
          </p:txBody>
        </p:sp>
        <p:sp>
          <p:nvSpPr>
            <p:cNvPr id="68909" name="Line 63"/>
            <p:cNvSpPr>
              <a:spLocks noChangeShapeType="1"/>
            </p:cNvSpPr>
            <p:nvPr/>
          </p:nvSpPr>
          <p:spPr bwMode="auto">
            <a:xfrm>
              <a:off x="1527" y="1655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8613" name="Group 65"/>
          <p:cNvGrpSpPr>
            <a:grpSpLocks/>
          </p:cNvGrpSpPr>
          <p:nvPr/>
        </p:nvGrpSpPr>
        <p:grpSpPr bwMode="auto">
          <a:xfrm>
            <a:off x="6524625" y="1843087"/>
            <a:ext cx="1601788" cy="1938338"/>
            <a:chOff x="1052" y="1581"/>
            <a:chExt cx="1009" cy="1221"/>
          </a:xfrm>
        </p:grpSpPr>
        <p:sp>
          <p:nvSpPr>
            <p:cNvPr id="68798" name="Rectangle 66"/>
            <p:cNvSpPr>
              <a:spLocks noChangeArrowheads="1"/>
            </p:cNvSpPr>
            <p:nvPr/>
          </p:nvSpPr>
          <p:spPr bwMode="auto">
            <a:xfrm>
              <a:off x="1359" y="1632"/>
              <a:ext cx="397" cy="112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799" name="Line 67"/>
            <p:cNvSpPr>
              <a:spLocks noChangeShapeType="1"/>
            </p:cNvSpPr>
            <p:nvPr/>
          </p:nvSpPr>
          <p:spPr bwMode="auto">
            <a:xfrm flipH="1">
              <a:off x="1056" y="172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00" name="Line 68"/>
            <p:cNvSpPr>
              <a:spLocks noChangeShapeType="1"/>
            </p:cNvSpPr>
            <p:nvPr/>
          </p:nvSpPr>
          <p:spPr bwMode="auto">
            <a:xfrm flipH="1">
              <a:off x="1055" y="179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01" name="Line 69"/>
            <p:cNvSpPr>
              <a:spLocks noChangeShapeType="1"/>
            </p:cNvSpPr>
            <p:nvPr/>
          </p:nvSpPr>
          <p:spPr bwMode="auto">
            <a:xfrm flipH="1">
              <a:off x="1056" y="1849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02" name="Line 70"/>
            <p:cNvSpPr>
              <a:spLocks noChangeShapeType="1"/>
            </p:cNvSpPr>
            <p:nvPr/>
          </p:nvSpPr>
          <p:spPr bwMode="auto">
            <a:xfrm flipH="1">
              <a:off x="1055" y="191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03" name="Line 71"/>
            <p:cNvSpPr>
              <a:spLocks noChangeShapeType="1"/>
            </p:cNvSpPr>
            <p:nvPr/>
          </p:nvSpPr>
          <p:spPr bwMode="auto">
            <a:xfrm flipH="1">
              <a:off x="1053" y="197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04" name="Line 72"/>
            <p:cNvSpPr>
              <a:spLocks noChangeShapeType="1"/>
            </p:cNvSpPr>
            <p:nvPr/>
          </p:nvSpPr>
          <p:spPr bwMode="auto">
            <a:xfrm flipH="1">
              <a:off x="1052" y="203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05" name="Line 73"/>
            <p:cNvSpPr>
              <a:spLocks noChangeShapeType="1"/>
            </p:cNvSpPr>
            <p:nvPr/>
          </p:nvSpPr>
          <p:spPr bwMode="auto">
            <a:xfrm flipH="1">
              <a:off x="1053" y="209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06" name="Line 74"/>
            <p:cNvSpPr>
              <a:spLocks noChangeShapeType="1"/>
            </p:cNvSpPr>
            <p:nvPr/>
          </p:nvSpPr>
          <p:spPr bwMode="auto">
            <a:xfrm flipH="1">
              <a:off x="1052" y="215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07" name="Line 75"/>
            <p:cNvSpPr>
              <a:spLocks noChangeShapeType="1"/>
            </p:cNvSpPr>
            <p:nvPr/>
          </p:nvSpPr>
          <p:spPr bwMode="auto">
            <a:xfrm flipH="1">
              <a:off x="1056" y="221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08" name="Line 76"/>
            <p:cNvSpPr>
              <a:spLocks noChangeShapeType="1"/>
            </p:cNvSpPr>
            <p:nvPr/>
          </p:nvSpPr>
          <p:spPr bwMode="auto">
            <a:xfrm flipH="1">
              <a:off x="1055" y="228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09" name="Line 77"/>
            <p:cNvSpPr>
              <a:spLocks noChangeShapeType="1"/>
            </p:cNvSpPr>
            <p:nvPr/>
          </p:nvSpPr>
          <p:spPr bwMode="auto">
            <a:xfrm flipH="1">
              <a:off x="1056" y="2339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10" name="Line 78"/>
            <p:cNvSpPr>
              <a:spLocks noChangeShapeType="1"/>
            </p:cNvSpPr>
            <p:nvPr/>
          </p:nvSpPr>
          <p:spPr bwMode="auto">
            <a:xfrm flipH="1">
              <a:off x="1055" y="240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11" name="Line 79"/>
            <p:cNvSpPr>
              <a:spLocks noChangeShapeType="1"/>
            </p:cNvSpPr>
            <p:nvPr/>
          </p:nvSpPr>
          <p:spPr bwMode="auto">
            <a:xfrm flipH="1">
              <a:off x="1053" y="247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12" name="Line 80"/>
            <p:cNvSpPr>
              <a:spLocks noChangeShapeType="1"/>
            </p:cNvSpPr>
            <p:nvPr/>
          </p:nvSpPr>
          <p:spPr bwMode="auto">
            <a:xfrm flipH="1">
              <a:off x="1052" y="253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13" name="Line 81"/>
            <p:cNvSpPr>
              <a:spLocks noChangeShapeType="1"/>
            </p:cNvSpPr>
            <p:nvPr/>
          </p:nvSpPr>
          <p:spPr bwMode="auto">
            <a:xfrm flipH="1">
              <a:off x="1057" y="259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14" name="Text Box 82"/>
            <p:cNvSpPr txBox="1">
              <a:spLocks noChangeArrowheads="1"/>
            </p:cNvSpPr>
            <p:nvPr/>
          </p:nvSpPr>
          <p:spPr bwMode="auto">
            <a:xfrm>
              <a:off x="1335" y="165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A0</a:t>
              </a:r>
            </a:p>
          </p:txBody>
        </p:sp>
        <p:sp>
          <p:nvSpPr>
            <p:cNvPr id="68815" name="Text Box 83"/>
            <p:cNvSpPr txBox="1">
              <a:spLocks noChangeArrowheads="1"/>
            </p:cNvSpPr>
            <p:nvPr/>
          </p:nvSpPr>
          <p:spPr bwMode="auto">
            <a:xfrm>
              <a:off x="1339" y="1716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</a:t>
              </a:r>
            </a:p>
          </p:txBody>
        </p:sp>
        <p:sp>
          <p:nvSpPr>
            <p:cNvPr id="68816" name="Text Box 84"/>
            <p:cNvSpPr txBox="1">
              <a:spLocks noChangeArrowheads="1"/>
            </p:cNvSpPr>
            <p:nvPr/>
          </p:nvSpPr>
          <p:spPr bwMode="auto">
            <a:xfrm>
              <a:off x="1338" y="1782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A2</a:t>
              </a:r>
            </a:p>
          </p:txBody>
        </p:sp>
        <p:sp>
          <p:nvSpPr>
            <p:cNvPr id="68817" name="Text Box 85"/>
            <p:cNvSpPr txBox="1">
              <a:spLocks noChangeArrowheads="1"/>
            </p:cNvSpPr>
            <p:nvPr/>
          </p:nvSpPr>
          <p:spPr bwMode="auto">
            <a:xfrm>
              <a:off x="1339" y="184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A3</a:t>
              </a:r>
            </a:p>
          </p:txBody>
        </p:sp>
        <p:sp>
          <p:nvSpPr>
            <p:cNvPr id="68818" name="Text Box 86"/>
            <p:cNvSpPr txBox="1">
              <a:spLocks noChangeArrowheads="1"/>
            </p:cNvSpPr>
            <p:nvPr/>
          </p:nvSpPr>
          <p:spPr bwMode="auto">
            <a:xfrm>
              <a:off x="1335" y="190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A4</a:t>
              </a:r>
            </a:p>
          </p:txBody>
        </p:sp>
        <p:sp>
          <p:nvSpPr>
            <p:cNvPr id="68819" name="Text Box 87"/>
            <p:cNvSpPr txBox="1">
              <a:spLocks noChangeArrowheads="1"/>
            </p:cNvSpPr>
            <p:nvPr/>
          </p:nvSpPr>
          <p:spPr bwMode="auto">
            <a:xfrm>
              <a:off x="1339" y="1966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A5</a:t>
              </a:r>
            </a:p>
          </p:txBody>
        </p:sp>
        <p:sp>
          <p:nvSpPr>
            <p:cNvPr id="68820" name="Text Box 88"/>
            <p:cNvSpPr txBox="1">
              <a:spLocks noChangeArrowheads="1"/>
            </p:cNvSpPr>
            <p:nvPr/>
          </p:nvSpPr>
          <p:spPr bwMode="auto">
            <a:xfrm>
              <a:off x="1338" y="2032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A6</a:t>
              </a:r>
            </a:p>
          </p:txBody>
        </p:sp>
        <p:sp>
          <p:nvSpPr>
            <p:cNvPr id="68821" name="Text Box 89"/>
            <p:cNvSpPr txBox="1">
              <a:spLocks noChangeArrowheads="1"/>
            </p:cNvSpPr>
            <p:nvPr/>
          </p:nvSpPr>
          <p:spPr bwMode="auto">
            <a:xfrm>
              <a:off x="1339" y="209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A7</a:t>
              </a:r>
            </a:p>
          </p:txBody>
        </p:sp>
        <p:sp>
          <p:nvSpPr>
            <p:cNvPr id="68822" name="Text Box 90"/>
            <p:cNvSpPr txBox="1">
              <a:spLocks noChangeArrowheads="1"/>
            </p:cNvSpPr>
            <p:nvPr/>
          </p:nvSpPr>
          <p:spPr bwMode="auto">
            <a:xfrm>
              <a:off x="1332" y="215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A8</a:t>
              </a:r>
            </a:p>
          </p:txBody>
        </p:sp>
        <p:sp>
          <p:nvSpPr>
            <p:cNvPr id="68823" name="Text Box 91"/>
            <p:cNvSpPr txBox="1">
              <a:spLocks noChangeArrowheads="1"/>
            </p:cNvSpPr>
            <p:nvPr/>
          </p:nvSpPr>
          <p:spPr bwMode="auto">
            <a:xfrm>
              <a:off x="1336" y="221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A9</a:t>
              </a:r>
            </a:p>
          </p:txBody>
        </p:sp>
        <p:sp>
          <p:nvSpPr>
            <p:cNvPr id="68824" name="Text Box 92"/>
            <p:cNvSpPr txBox="1">
              <a:spLocks noChangeArrowheads="1"/>
            </p:cNvSpPr>
            <p:nvPr/>
          </p:nvSpPr>
          <p:spPr bwMode="auto">
            <a:xfrm>
              <a:off x="1317" y="2281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A10</a:t>
              </a:r>
            </a:p>
          </p:txBody>
        </p:sp>
        <p:sp>
          <p:nvSpPr>
            <p:cNvPr id="68825" name="Text Box 93"/>
            <p:cNvSpPr txBox="1">
              <a:spLocks noChangeArrowheads="1"/>
            </p:cNvSpPr>
            <p:nvPr/>
          </p:nvSpPr>
          <p:spPr bwMode="auto">
            <a:xfrm>
              <a:off x="1318" y="2346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A11</a:t>
              </a:r>
            </a:p>
          </p:txBody>
        </p:sp>
        <p:sp>
          <p:nvSpPr>
            <p:cNvPr id="68826" name="Text Box 94"/>
            <p:cNvSpPr txBox="1">
              <a:spLocks noChangeArrowheads="1"/>
            </p:cNvSpPr>
            <p:nvPr/>
          </p:nvSpPr>
          <p:spPr bwMode="auto">
            <a:xfrm>
              <a:off x="1314" y="2404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A12</a:t>
              </a:r>
            </a:p>
          </p:txBody>
        </p:sp>
        <p:sp>
          <p:nvSpPr>
            <p:cNvPr id="68827" name="Text Box 95"/>
            <p:cNvSpPr txBox="1">
              <a:spLocks noChangeArrowheads="1"/>
            </p:cNvSpPr>
            <p:nvPr/>
          </p:nvSpPr>
          <p:spPr bwMode="auto">
            <a:xfrm>
              <a:off x="1318" y="2465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A13</a:t>
              </a:r>
            </a:p>
          </p:txBody>
        </p:sp>
        <p:sp>
          <p:nvSpPr>
            <p:cNvPr id="68828" name="Text Box 96"/>
            <p:cNvSpPr txBox="1">
              <a:spLocks noChangeArrowheads="1"/>
            </p:cNvSpPr>
            <p:nvPr/>
          </p:nvSpPr>
          <p:spPr bwMode="auto">
            <a:xfrm>
              <a:off x="1317" y="2531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A14</a:t>
              </a:r>
            </a:p>
          </p:txBody>
        </p:sp>
        <p:sp>
          <p:nvSpPr>
            <p:cNvPr id="68829" name="Line 97"/>
            <p:cNvSpPr>
              <a:spLocks noChangeShapeType="1"/>
            </p:cNvSpPr>
            <p:nvPr/>
          </p:nvSpPr>
          <p:spPr bwMode="auto">
            <a:xfrm flipH="1">
              <a:off x="1756" y="174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30" name="Line 98"/>
            <p:cNvSpPr>
              <a:spLocks noChangeShapeType="1"/>
            </p:cNvSpPr>
            <p:nvPr/>
          </p:nvSpPr>
          <p:spPr bwMode="auto">
            <a:xfrm flipH="1">
              <a:off x="1759" y="1844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31" name="Line 99"/>
            <p:cNvSpPr>
              <a:spLocks noChangeShapeType="1"/>
            </p:cNvSpPr>
            <p:nvPr/>
          </p:nvSpPr>
          <p:spPr bwMode="auto">
            <a:xfrm flipH="1">
              <a:off x="1757" y="198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32" name="Line 100"/>
            <p:cNvSpPr>
              <a:spLocks noChangeShapeType="1"/>
            </p:cNvSpPr>
            <p:nvPr/>
          </p:nvSpPr>
          <p:spPr bwMode="auto">
            <a:xfrm flipH="1">
              <a:off x="1756" y="2135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33" name="Line 101"/>
            <p:cNvSpPr>
              <a:spLocks noChangeShapeType="1"/>
            </p:cNvSpPr>
            <p:nvPr/>
          </p:nvSpPr>
          <p:spPr bwMode="auto">
            <a:xfrm flipH="1">
              <a:off x="1754" y="227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34" name="Line 102"/>
            <p:cNvSpPr>
              <a:spLocks noChangeShapeType="1"/>
            </p:cNvSpPr>
            <p:nvPr/>
          </p:nvSpPr>
          <p:spPr bwMode="auto">
            <a:xfrm flipH="1">
              <a:off x="1756" y="238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35" name="Line 103"/>
            <p:cNvSpPr>
              <a:spLocks noChangeShapeType="1"/>
            </p:cNvSpPr>
            <p:nvPr/>
          </p:nvSpPr>
          <p:spPr bwMode="auto">
            <a:xfrm flipH="1">
              <a:off x="1761" y="250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36" name="Line 104"/>
            <p:cNvSpPr>
              <a:spLocks noChangeShapeType="1"/>
            </p:cNvSpPr>
            <p:nvPr/>
          </p:nvSpPr>
          <p:spPr bwMode="auto">
            <a:xfrm flipH="1">
              <a:off x="1752" y="259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37" name="Text Box 105"/>
            <p:cNvSpPr txBox="1">
              <a:spLocks noChangeArrowheads="1"/>
            </p:cNvSpPr>
            <p:nvPr/>
          </p:nvSpPr>
          <p:spPr bwMode="auto">
            <a:xfrm>
              <a:off x="1599" y="166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D0</a:t>
              </a:r>
            </a:p>
          </p:txBody>
        </p:sp>
        <p:sp>
          <p:nvSpPr>
            <p:cNvPr id="68838" name="Text Box 106"/>
            <p:cNvSpPr txBox="1">
              <a:spLocks noChangeArrowheads="1"/>
            </p:cNvSpPr>
            <p:nvPr/>
          </p:nvSpPr>
          <p:spPr bwMode="auto">
            <a:xfrm>
              <a:off x="1604" y="1780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D1</a:t>
              </a:r>
            </a:p>
          </p:txBody>
        </p:sp>
        <p:sp>
          <p:nvSpPr>
            <p:cNvPr id="68839" name="Text Box 107"/>
            <p:cNvSpPr txBox="1">
              <a:spLocks noChangeArrowheads="1"/>
            </p:cNvSpPr>
            <p:nvPr/>
          </p:nvSpPr>
          <p:spPr bwMode="auto">
            <a:xfrm>
              <a:off x="1603" y="1919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D2</a:t>
              </a:r>
            </a:p>
          </p:txBody>
        </p:sp>
        <p:sp>
          <p:nvSpPr>
            <p:cNvPr id="68840" name="Text Box 108"/>
            <p:cNvSpPr txBox="1">
              <a:spLocks noChangeArrowheads="1"/>
            </p:cNvSpPr>
            <p:nvPr/>
          </p:nvSpPr>
          <p:spPr bwMode="auto">
            <a:xfrm>
              <a:off x="1600" y="206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D3</a:t>
              </a:r>
            </a:p>
          </p:txBody>
        </p:sp>
        <p:sp>
          <p:nvSpPr>
            <p:cNvPr id="68841" name="Text Box 109"/>
            <p:cNvSpPr txBox="1">
              <a:spLocks noChangeArrowheads="1"/>
            </p:cNvSpPr>
            <p:nvPr/>
          </p:nvSpPr>
          <p:spPr bwMode="auto">
            <a:xfrm>
              <a:off x="1602" y="2190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D4</a:t>
              </a:r>
            </a:p>
          </p:txBody>
        </p:sp>
        <p:sp>
          <p:nvSpPr>
            <p:cNvPr id="68842" name="Text Box 110"/>
            <p:cNvSpPr txBox="1">
              <a:spLocks noChangeArrowheads="1"/>
            </p:cNvSpPr>
            <p:nvPr/>
          </p:nvSpPr>
          <p:spPr bwMode="auto">
            <a:xfrm>
              <a:off x="1604" y="2321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D5</a:t>
              </a:r>
            </a:p>
          </p:txBody>
        </p:sp>
        <p:sp>
          <p:nvSpPr>
            <p:cNvPr id="68843" name="Text Box 111"/>
            <p:cNvSpPr txBox="1">
              <a:spLocks noChangeArrowheads="1"/>
            </p:cNvSpPr>
            <p:nvPr/>
          </p:nvSpPr>
          <p:spPr bwMode="auto">
            <a:xfrm>
              <a:off x="1602" y="2431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D6</a:t>
              </a:r>
            </a:p>
          </p:txBody>
        </p:sp>
        <p:sp>
          <p:nvSpPr>
            <p:cNvPr id="68844" name="Text Box 112"/>
            <p:cNvSpPr txBox="1">
              <a:spLocks noChangeArrowheads="1"/>
            </p:cNvSpPr>
            <p:nvPr/>
          </p:nvSpPr>
          <p:spPr bwMode="auto">
            <a:xfrm>
              <a:off x="1602" y="253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D7</a:t>
              </a:r>
            </a:p>
          </p:txBody>
        </p:sp>
        <p:sp>
          <p:nvSpPr>
            <p:cNvPr id="68845" name="Oval 113"/>
            <p:cNvSpPr>
              <a:spLocks noChangeArrowheads="1"/>
            </p:cNvSpPr>
            <p:nvPr/>
          </p:nvSpPr>
          <p:spPr bwMode="auto">
            <a:xfrm>
              <a:off x="1463" y="2755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846" name="Oval 114"/>
            <p:cNvSpPr>
              <a:spLocks noChangeArrowheads="1"/>
            </p:cNvSpPr>
            <p:nvPr/>
          </p:nvSpPr>
          <p:spPr bwMode="auto">
            <a:xfrm>
              <a:off x="1613" y="2752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847" name="Oval 115"/>
            <p:cNvSpPr>
              <a:spLocks noChangeArrowheads="1"/>
            </p:cNvSpPr>
            <p:nvPr/>
          </p:nvSpPr>
          <p:spPr bwMode="auto">
            <a:xfrm>
              <a:off x="1534" y="1581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848" name="Text Box 116"/>
            <p:cNvSpPr txBox="1">
              <a:spLocks noChangeArrowheads="1"/>
            </p:cNvSpPr>
            <p:nvPr/>
          </p:nvSpPr>
          <p:spPr bwMode="auto">
            <a:xfrm>
              <a:off x="1383" y="2643"/>
              <a:ext cx="209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OE</a:t>
              </a:r>
            </a:p>
          </p:txBody>
        </p:sp>
        <p:sp>
          <p:nvSpPr>
            <p:cNvPr id="68849" name="Line 117"/>
            <p:cNvSpPr>
              <a:spLocks noChangeShapeType="1"/>
            </p:cNvSpPr>
            <p:nvPr/>
          </p:nvSpPr>
          <p:spPr bwMode="auto">
            <a:xfrm>
              <a:off x="1450" y="2669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50" name="Text Box 118"/>
            <p:cNvSpPr txBox="1">
              <a:spLocks noChangeArrowheads="1"/>
            </p:cNvSpPr>
            <p:nvPr/>
          </p:nvSpPr>
          <p:spPr bwMode="auto">
            <a:xfrm>
              <a:off x="1529" y="2642"/>
              <a:ext cx="205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CE</a:t>
              </a:r>
            </a:p>
          </p:txBody>
        </p:sp>
        <p:sp>
          <p:nvSpPr>
            <p:cNvPr id="68851" name="Line 119"/>
            <p:cNvSpPr>
              <a:spLocks noChangeShapeType="1"/>
            </p:cNvSpPr>
            <p:nvPr/>
          </p:nvSpPr>
          <p:spPr bwMode="auto">
            <a:xfrm>
              <a:off x="1594" y="2668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52" name="Text Box 120"/>
            <p:cNvSpPr txBox="1">
              <a:spLocks noChangeArrowheads="1"/>
            </p:cNvSpPr>
            <p:nvPr/>
          </p:nvSpPr>
          <p:spPr bwMode="auto">
            <a:xfrm>
              <a:off x="1475" y="1625"/>
              <a:ext cx="17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W</a:t>
              </a:r>
            </a:p>
          </p:txBody>
        </p:sp>
        <p:sp>
          <p:nvSpPr>
            <p:cNvPr id="68853" name="Line 121"/>
            <p:cNvSpPr>
              <a:spLocks noChangeShapeType="1"/>
            </p:cNvSpPr>
            <p:nvPr/>
          </p:nvSpPr>
          <p:spPr bwMode="auto">
            <a:xfrm>
              <a:off x="1527" y="1655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8614" name="Group 122"/>
          <p:cNvGrpSpPr>
            <a:grpSpLocks/>
          </p:cNvGrpSpPr>
          <p:nvPr/>
        </p:nvGrpSpPr>
        <p:grpSpPr bwMode="auto">
          <a:xfrm>
            <a:off x="4532313" y="4037012"/>
            <a:ext cx="1601787" cy="1938338"/>
            <a:chOff x="1052" y="1581"/>
            <a:chExt cx="1009" cy="1221"/>
          </a:xfrm>
        </p:grpSpPr>
        <p:sp>
          <p:nvSpPr>
            <p:cNvPr id="68742" name="Rectangle 123"/>
            <p:cNvSpPr>
              <a:spLocks noChangeArrowheads="1"/>
            </p:cNvSpPr>
            <p:nvPr/>
          </p:nvSpPr>
          <p:spPr bwMode="auto">
            <a:xfrm>
              <a:off x="1359" y="1632"/>
              <a:ext cx="397" cy="112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743" name="Line 124"/>
            <p:cNvSpPr>
              <a:spLocks noChangeShapeType="1"/>
            </p:cNvSpPr>
            <p:nvPr/>
          </p:nvSpPr>
          <p:spPr bwMode="auto">
            <a:xfrm flipH="1">
              <a:off x="1056" y="172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44" name="Line 125"/>
            <p:cNvSpPr>
              <a:spLocks noChangeShapeType="1"/>
            </p:cNvSpPr>
            <p:nvPr/>
          </p:nvSpPr>
          <p:spPr bwMode="auto">
            <a:xfrm flipH="1">
              <a:off x="1055" y="179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45" name="Line 126"/>
            <p:cNvSpPr>
              <a:spLocks noChangeShapeType="1"/>
            </p:cNvSpPr>
            <p:nvPr/>
          </p:nvSpPr>
          <p:spPr bwMode="auto">
            <a:xfrm flipH="1">
              <a:off x="1056" y="1849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46" name="Line 127"/>
            <p:cNvSpPr>
              <a:spLocks noChangeShapeType="1"/>
            </p:cNvSpPr>
            <p:nvPr/>
          </p:nvSpPr>
          <p:spPr bwMode="auto">
            <a:xfrm flipH="1">
              <a:off x="1055" y="191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47" name="Line 128"/>
            <p:cNvSpPr>
              <a:spLocks noChangeShapeType="1"/>
            </p:cNvSpPr>
            <p:nvPr/>
          </p:nvSpPr>
          <p:spPr bwMode="auto">
            <a:xfrm flipH="1">
              <a:off x="1053" y="197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48" name="Line 129"/>
            <p:cNvSpPr>
              <a:spLocks noChangeShapeType="1"/>
            </p:cNvSpPr>
            <p:nvPr/>
          </p:nvSpPr>
          <p:spPr bwMode="auto">
            <a:xfrm flipH="1">
              <a:off x="1052" y="203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49" name="Line 130"/>
            <p:cNvSpPr>
              <a:spLocks noChangeShapeType="1"/>
            </p:cNvSpPr>
            <p:nvPr/>
          </p:nvSpPr>
          <p:spPr bwMode="auto">
            <a:xfrm flipH="1">
              <a:off x="1053" y="209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50" name="Line 131"/>
            <p:cNvSpPr>
              <a:spLocks noChangeShapeType="1"/>
            </p:cNvSpPr>
            <p:nvPr/>
          </p:nvSpPr>
          <p:spPr bwMode="auto">
            <a:xfrm flipH="1">
              <a:off x="1052" y="215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51" name="Line 132"/>
            <p:cNvSpPr>
              <a:spLocks noChangeShapeType="1"/>
            </p:cNvSpPr>
            <p:nvPr/>
          </p:nvSpPr>
          <p:spPr bwMode="auto">
            <a:xfrm flipH="1">
              <a:off x="1056" y="221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52" name="Line 133"/>
            <p:cNvSpPr>
              <a:spLocks noChangeShapeType="1"/>
            </p:cNvSpPr>
            <p:nvPr/>
          </p:nvSpPr>
          <p:spPr bwMode="auto">
            <a:xfrm flipH="1">
              <a:off x="1055" y="228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53" name="Line 134"/>
            <p:cNvSpPr>
              <a:spLocks noChangeShapeType="1"/>
            </p:cNvSpPr>
            <p:nvPr/>
          </p:nvSpPr>
          <p:spPr bwMode="auto">
            <a:xfrm flipH="1">
              <a:off x="1056" y="2339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54" name="Line 135"/>
            <p:cNvSpPr>
              <a:spLocks noChangeShapeType="1"/>
            </p:cNvSpPr>
            <p:nvPr/>
          </p:nvSpPr>
          <p:spPr bwMode="auto">
            <a:xfrm flipH="1">
              <a:off x="1055" y="240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55" name="Line 136"/>
            <p:cNvSpPr>
              <a:spLocks noChangeShapeType="1"/>
            </p:cNvSpPr>
            <p:nvPr/>
          </p:nvSpPr>
          <p:spPr bwMode="auto">
            <a:xfrm flipH="1">
              <a:off x="1053" y="247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56" name="Line 137"/>
            <p:cNvSpPr>
              <a:spLocks noChangeShapeType="1"/>
            </p:cNvSpPr>
            <p:nvPr/>
          </p:nvSpPr>
          <p:spPr bwMode="auto">
            <a:xfrm flipH="1">
              <a:off x="1052" y="253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57" name="Line 138"/>
            <p:cNvSpPr>
              <a:spLocks noChangeShapeType="1"/>
            </p:cNvSpPr>
            <p:nvPr/>
          </p:nvSpPr>
          <p:spPr bwMode="auto">
            <a:xfrm flipH="1">
              <a:off x="1057" y="259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58" name="Text Box 139"/>
            <p:cNvSpPr txBox="1">
              <a:spLocks noChangeArrowheads="1"/>
            </p:cNvSpPr>
            <p:nvPr/>
          </p:nvSpPr>
          <p:spPr bwMode="auto">
            <a:xfrm>
              <a:off x="1335" y="165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A0</a:t>
              </a:r>
            </a:p>
          </p:txBody>
        </p:sp>
        <p:sp>
          <p:nvSpPr>
            <p:cNvPr id="68759" name="Text Box 140"/>
            <p:cNvSpPr txBox="1">
              <a:spLocks noChangeArrowheads="1"/>
            </p:cNvSpPr>
            <p:nvPr/>
          </p:nvSpPr>
          <p:spPr bwMode="auto">
            <a:xfrm>
              <a:off x="1339" y="1716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</a:t>
              </a:r>
            </a:p>
          </p:txBody>
        </p:sp>
        <p:sp>
          <p:nvSpPr>
            <p:cNvPr id="68760" name="Text Box 141"/>
            <p:cNvSpPr txBox="1">
              <a:spLocks noChangeArrowheads="1"/>
            </p:cNvSpPr>
            <p:nvPr/>
          </p:nvSpPr>
          <p:spPr bwMode="auto">
            <a:xfrm>
              <a:off x="1338" y="1782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A2</a:t>
              </a:r>
            </a:p>
          </p:txBody>
        </p:sp>
        <p:sp>
          <p:nvSpPr>
            <p:cNvPr id="68761" name="Text Box 142"/>
            <p:cNvSpPr txBox="1">
              <a:spLocks noChangeArrowheads="1"/>
            </p:cNvSpPr>
            <p:nvPr/>
          </p:nvSpPr>
          <p:spPr bwMode="auto">
            <a:xfrm>
              <a:off x="1339" y="184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A3</a:t>
              </a:r>
            </a:p>
          </p:txBody>
        </p:sp>
        <p:sp>
          <p:nvSpPr>
            <p:cNvPr id="68762" name="Text Box 143"/>
            <p:cNvSpPr txBox="1">
              <a:spLocks noChangeArrowheads="1"/>
            </p:cNvSpPr>
            <p:nvPr/>
          </p:nvSpPr>
          <p:spPr bwMode="auto">
            <a:xfrm>
              <a:off x="1335" y="190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A4</a:t>
              </a:r>
            </a:p>
          </p:txBody>
        </p:sp>
        <p:sp>
          <p:nvSpPr>
            <p:cNvPr id="68763" name="Text Box 144"/>
            <p:cNvSpPr txBox="1">
              <a:spLocks noChangeArrowheads="1"/>
            </p:cNvSpPr>
            <p:nvPr/>
          </p:nvSpPr>
          <p:spPr bwMode="auto">
            <a:xfrm>
              <a:off x="1339" y="1966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A5</a:t>
              </a:r>
            </a:p>
          </p:txBody>
        </p:sp>
        <p:sp>
          <p:nvSpPr>
            <p:cNvPr id="68764" name="Text Box 145"/>
            <p:cNvSpPr txBox="1">
              <a:spLocks noChangeArrowheads="1"/>
            </p:cNvSpPr>
            <p:nvPr/>
          </p:nvSpPr>
          <p:spPr bwMode="auto">
            <a:xfrm>
              <a:off x="1338" y="2032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A6</a:t>
              </a:r>
            </a:p>
          </p:txBody>
        </p:sp>
        <p:sp>
          <p:nvSpPr>
            <p:cNvPr id="68765" name="Text Box 146"/>
            <p:cNvSpPr txBox="1">
              <a:spLocks noChangeArrowheads="1"/>
            </p:cNvSpPr>
            <p:nvPr/>
          </p:nvSpPr>
          <p:spPr bwMode="auto">
            <a:xfrm>
              <a:off x="1339" y="209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A7</a:t>
              </a:r>
            </a:p>
          </p:txBody>
        </p:sp>
        <p:sp>
          <p:nvSpPr>
            <p:cNvPr id="68766" name="Text Box 147"/>
            <p:cNvSpPr txBox="1">
              <a:spLocks noChangeArrowheads="1"/>
            </p:cNvSpPr>
            <p:nvPr/>
          </p:nvSpPr>
          <p:spPr bwMode="auto">
            <a:xfrm>
              <a:off x="1332" y="215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A8</a:t>
              </a:r>
            </a:p>
          </p:txBody>
        </p:sp>
        <p:sp>
          <p:nvSpPr>
            <p:cNvPr id="68767" name="Text Box 148"/>
            <p:cNvSpPr txBox="1">
              <a:spLocks noChangeArrowheads="1"/>
            </p:cNvSpPr>
            <p:nvPr/>
          </p:nvSpPr>
          <p:spPr bwMode="auto">
            <a:xfrm>
              <a:off x="1336" y="221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A9</a:t>
              </a:r>
            </a:p>
          </p:txBody>
        </p:sp>
        <p:sp>
          <p:nvSpPr>
            <p:cNvPr id="68768" name="Text Box 149"/>
            <p:cNvSpPr txBox="1">
              <a:spLocks noChangeArrowheads="1"/>
            </p:cNvSpPr>
            <p:nvPr/>
          </p:nvSpPr>
          <p:spPr bwMode="auto">
            <a:xfrm>
              <a:off x="1317" y="2281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A10</a:t>
              </a:r>
            </a:p>
          </p:txBody>
        </p:sp>
        <p:sp>
          <p:nvSpPr>
            <p:cNvPr id="68769" name="Text Box 150"/>
            <p:cNvSpPr txBox="1">
              <a:spLocks noChangeArrowheads="1"/>
            </p:cNvSpPr>
            <p:nvPr/>
          </p:nvSpPr>
          <p:spPr bwMode="auto">
            <a:xfrm>
              <a:off x="1318" y="2346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A11</a:t>
              </a:r>
            </a:p>
          </p:txBody>
        </p:sp>
        <p:sp>
          <p:nvSpPr>
            <p:cNvPr id="68770" name="Text Box 151"/>
            <p:cNvSpPr txBox="1">
              <a:spLocks noChangeArrowheads="1"/>
            </p:cNvSpPr>
            <p:nvPr/>
          </p:nvSpPr>
          <p:spPr bwMode="auto">
            <a:xfrm>
              <a:off x="1314" y="2404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A12</a:t>
              </a:r>
            </a:p>
          </p:txBody>
        </p:sp>
        <p:sp>
          <p:nvSpPr>
            <p:cNvPr id="68771" name="Text Box 152"/>
            <p:cNvSpPr txBox="1">
              <a:spLocks noChangeArrowheads="1"/>
            </p:cNvSpPr>
            <p:nvPr/>
          </p:nvSpPr>
          <p:spPr bwMode="auto">
            <a:xfrm>
              <a:off x="1318" y="2465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A13</a:t>
              </a:r>
            </a:p>
          </p:txBody>
        </p:sp>
        <p:sp>
          <p:nvSpPr>
            <p:cNvPr id="68772" name="Text Box 153"/>
            <p:cNvSpPr txBox="1">
              <a:spLocks noChangeArrowheads="1"/>
            </p:cNvSpPr>
            <p:nvPr/>
          </p:nvSpPr>
          <p:spPr bwMode="auto">
            <a:xfrm>
              <a:off x="1317" y="2531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A14</a:t>
              </a:r>
            </a:p>
          </p:txBody>
        </p:sp>
        <p:sp>
          <p:nvSpPr>
            <p:cNvPr id="68773" name="Line 154"/>
            <p:cNvSpPr>
              <a:spLocks noChangeShapeType="1"/>
            </p:cNvSpPr>
            <p:nvPr/>
          </p:nvSpPr>
          <p:spPr bwMode="auto">
            <a:xfrm flipH="1">
              <a:off x="1756" y="174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74" name="Line 155"/>
            <p:cNvSpPr>
              <a:spLocks noChangeShapeType="1"/>
            </p:cNvSpPr>
            <p:nvPr/>
          </p:nvSpPr>
          <p:spPr bwMode="auto">
            <a:xfrm flipH="1">
              <a:off x="1759" y="1844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75" name="Line 156"/>
            <p:cNvSpPr>
              <a:spLocks noChangeShapeType="1"/>
            </p:cNvSpPr>
            <p:nvPr/>
          </p:nvSpPr>
          <p:spPr bwMode="auto">
            <a:xfrm flipH="1">
              <a:off x="1757" y="198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76" name="Line 157"/>
            <p:cNvSpPr>
              <a:spLocks noChangeShapeType="1"/>
            </p:cNvSpPr>
            <p:nvPr/>
          </p:nvSpPr>
          <p:spPr bwMode="auto">
            <a:xfrm flipH="1">
              <a:off x="1756" y="2135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77" name="Line 158"/>
            <p:cNvSpPr>
              <a:spLocks noChangeShapeType="1"/>
            </p:cNvSpPr>
            <p:nvPr/>
          </p:nvSpPr>
          <p:spPr bwMode="auto">
            <a:xfrm flipH="1">
              <a:off x="1754" y="227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78" name="Line 159"/>
            <p:cNvSpPr>
              <a:spLocks noChangeShapeType="1"/>
            </p:cNvSpPr>
            <p:nvPr/>
          </p:nvSpPr>
          <p:spPr bwMode="auto">
            <a:xfrm flipH="1">
              <a:off x="1756" y="238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79" name="Line 160"/>
            <p:cNvSpPr>
              <a:spLocks noChangeShapeType="1"/>
            </p:cNvSpPr>
            <p:nvPr/>
          </p:nvSpPr>
          <p:spPr bwMode="auto">
            <a:xfrm flipH="1">
              <a:off x="1761" y="250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80" name="Line 161"/>
            <p:cNvSpPr>
              <a:spLocks noChangeShapeType="1"/>
            </p:cNvSpPr>
            <p:nvPr/>
          </p:nvSpPr>
          <p:spPr bwMode="auto">
            <a:xfrm flipH="1">
              <a:off x="1752" y="259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81" name="Text Box 162"/>
            <p:cNvSpPr txBox="1">
              <a:spLocks noChangeArrowheads="1"/>
            </p:cNvSpPr>
            <p:nvPr/>
          </p:nvSpPr>
          <p:spPr bwMode="auto">
            <a:xfrm>
              <a:off x="1599" y="166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D0</a:t>
              </a:r>
            </a:p>
          </p:txBody>
        </p:sp>
        <p:sp>
          <p:nvSpPr>
            <p:cNvPr id="68782" name="Text Box 163"/>
            <p:cNvSpPr txBox="1">
              <a:spLocks noChangeArrowheads="1"/>
            </p:cNvSpPr>
            <p:nvPr/>
          </p:nvSpPr>
          <p:spPr bwMode="auto">
            <a:xfrm>
              <a:off x="1604" y="1780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D1</a:t>
              </a:r>
            </a:p>
          </p:txBody>
        </p:sp>
        <p:sp>
          <p:nvSpPr>
            <p:cNvPr id="68783" name="Text Box 164"/>
            <p:cNvSpPr txBox="1">
              <a:spLocks noChangeArrowheads="1"/>
            </p:cNvSpPr>
            <p:nvPr/>
          </p:nvSpPr>
          <p:spPr bwMode="auto">
            <a:xfrm>
              <a:off x="1603" y="1919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D2</a:t>
              </a:r>
            </a:p>
          </p:txBody>
        </p:sp>
        <p:sp>
          <p:nvSpPr>
            <p:cNvPr id="68784" name="Text Box 165"/>
            <p:cNvSpPr txBox="1">
              <a:spLocks noChangeArrowheads="1"/>
            </p:cNvSpPr>
            <p:nvPr/>
          </p:nvSpPr>
          <p:spPr bwMode="auto">
            <a:xfrm>
              <a:off x="1600" y="206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D3</a:t>
              </a:r>
            </a:p>
          </p:txBody>
        </p:sp>
        <p:sp>
          <p:nvSpPr>
            <p:cNvPr id="68785" name="Text Box 166"/>
            <p:cNvSpPr txBox="1">
              <a:spLocks noChangeArrowheads="1"/>
            </p:cNvSpPr>
            <p:nvPr/>
          </p:nvSpPr>
          <p:spPr bwMode="auto">
            <a:xfrm>
              <a:off x="1602" y="2190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D4</a:t>
              </a:r>
            </a:p>
          </p:txBody>
        </p:sp>
        <p:sp>
          <p:nvSpPr>
            <p:cNvPr id="68786" name="Text Box 167"/>
            <p:cNvSpPr txBox="1">
              <a:spLocks noChangeArrowheads="1"/>
            </p:cNvSpPr>
            <p:nvPr/>
          </p:nvSpPr>
          <p:spPr bwMode="auto">
            <a:xfrm>
              <a:off x="1604" y="2321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D5</a:t>
              </a:r>
            </a:p>
          </p:txBody>
        </p:sp>
        <p:sp>
          <p:nvSpPr>
            <p:cNvPr id="68787" name="Text Box 168"/>
            <p:cNvSpPr txBox="1">
              <a:spLocks noChangeArrowheads="1"/>
            </p:cNvSpPr>
            <p:nvPr/>
          </p:nvSpPr>
          <p:spPr bwMode="auto">
            <a:xfrm>
              <a:off x="1602" y="2431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D6</a:t>
              </a:r>
            </a:p>
          </p:txBody>
        </p:sp>
        <p:sp>
          <p:nvSpPr>
            <p:cNvPr id="68788" name="Text Box 169"/>
            <p:cNvSpPr txBox="1">
              <a:spLocks noChangeArrowheads="1"/>
            </p:cNvSpPr>
            <p:nvPr/>
          </p:nvSpPr>
          <p:spPr bwMode="auto">
            <a:xfrm>
              <a:off x="1602" y="253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D7</a:t>
              </a:r>
            </a:p>
          </p:txBody>
        </p:sp>
        <p:sp>
          <p:nvSpPr>
            <p:cNvPr id="68789" name="Oval 170"/>
            <p:cNvSpPr>
              <a:spLocks noChangeArrowheads="1"/>
            </p:cNvSpPr>
            <p:nvPr/>
          </p:nvSpPr>
          <p:spPr bwMode="auto">
            <a:xfrm>
              <a:off x="1463" y="2755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790" name="Oval 171"/>
            <p:cNvSpPr>
              <a:spLocks noChangeArrowheads="1"/>
            </p:cNvSpPr>
            <p:nvPr/>
          </p:nvSpPr>
          <p:spPr bwMode="auto">
            <a:xfrm>
              <a:off x="1613" y="2752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791" name="Oval 172"/>
            <p:cNvSpPr>
              <a:spLocks noChangeArrowheads="1"/>
            </p:cNvSpPr>
            <p:nvPr/>
          </p:nvSpPr>
          <p:spPr bwMode="auto">
            <a:xfrm>
              <a:off x="1534" y="1581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792" name="Text Box 173"/>
            <p:cNvSpPr txBox="1">
              <a:spLocks noChangeArrowheads="1"/>
            </p:cNvSpPr>
            <p:nvPr/>
          </p:nvSpPr>
          <p:spPr bwMode="auto">
            <a:xfrm>
              <a:off x="1383" y="2643"/>
              <a:ext cx="209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OE</a:t>
              </a:r>
            </a:p>
          </p:txBody>
        </p:sp>
        <p:sp>
          <p:nvSpPr>
            <p:cNvPr id="68793" name="Line 174"/>
            <p:cNvSpPr>
              <a:spLocks noChangeShapeType="1"/>
            </p:cNvSpPr>
            <p:nvPr/>
          </p:nvSpPr>
          <p:spPr bwMode="auto">
            <a:xfrm>
              <a:off x="1450" y="2669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94" name="Text Box 175"/>
            <p:cNvSpPr txBox="1">
              <a:spLocks noChangeArrowheads="1"/>
            </p:cNvSpPr>
            <p:nvPr/>
          </p:nvSpPr>
          <p:spPr bwMode="auto">
            <a:xfrm>
              <a:off x="1529" y="2642"/>
              <a:ext cx="205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CE</a:t>
              </a:r>
            </a:p>
          </p:txBody>
        </p:sp>
        <p:sp>
          <p:nvSpPr>
            <p:cNvPr id="68795" name="Line 176"/>
            <p:cNvSpPr>
              <a:spLocks noChangeShapeType="1"/>
            </p:cNvSpPr>
            <p:nvPr/>
          </p:nvSpPr>
          <p:spPr bwMode="auto">
            <a:xfrm>
              <a:off x="1594" y="2668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96" name="Text Box 177"/>
            <p:cNvSpPr txBox="1">
              <a:spLocks noChangeArrowheads="1"/>
            </p:cNvSpPr>
            <p:nvPr/>
          </p:nvSpPr>
          <p:spPr bwMode="auto">
            <a:xfrm>
              <a:off x="1475" y="1625"/>
              <a:ext cx="17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W</a:t>
              </a:r>
            </a:p>
          </p:txBody>
        </p:sp>
        <p:sp>
          <p:nvSpPr>
            <p:cNvPr id="68797" name="Line 178"/>
            <p:cNvSpPr>
              <a:spLocks noChangeShapeType="1"/>
            </p:cNvSpPr>
            <p:nvPr/>
          </p:nvSpPr>
          <p:spPr bwMode="auto">
            <a:xfrm>
              <a:off x="1527" y="1655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8615" name="Group 179"/>
          <p:cNvGrpSpPr>
            <a:grpSpLocks/>
          </p:cNvGrpSpPr>
          <p:nvPr/>
        </p:nvGrpSpPr>
        <p:grpSpPr bwMode="auto">
          <a:xfrm>
            <a:off x="6564313" y="4037012"/>
            <a:ext cx="1601787" cy="1938338"/>
            <a:chOff x="1052" y="1581"/>
            <a:chExt cx="1009" cy="1221"/>
          </a:xfrm>
        </p:grpSpPr>
        <p:sp>
          <p:nvSpPr>
            <p:cNvPr id="68686" name="Rectangle 180"/>
            <p:cNvSpPr>
              <a:spLocks noChangeArrowheads="1"/>
            </p:cNvSpPr>
            <p:nvPr/>
          </p:nvSpPr>
          <p:spPr bwMode="auto">
            <a:xfrm>
              <a:off x="1359" y="1632"/>
              <a:ext cx="397" cy="112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687" name="Line 181"/>
            <p:cNvSpPr>
              <a:spLocks noChangeShapeType="1"/>
            </p:cNvSpPr>
            <p:nvPr/>
          </p:nvSpPr>
          <p:spPr bwMode="auto">
            <a:xfrm flipH="1">
              <a:off x="1056" y="172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88" name="Line 182"/>
            <p:cNvSpPr>
              <a:spLocks noChangeShapeType="1"/>
            </p:cNvSpPr>
            <p:nvPr/>
          </p:nvSpPr>
          <p:spPr bwMode="auto">
            <a:xfrm flipH="1">
              <a:off x="1055" y="179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89" name="Line 183"/>
            <p:cNvSpPr>
              <a:spLocks noChangeShapeType="1"/>
            </p:cNvSpPr>
            <p:nvPr/>
          </p:nvSpPr>
          <p:spPr bwMode="auto">
            <a:xfrm flipH="1">
              <a:off x="1056" y="1849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90" name="Line 184"/>
            <p:cNvSpPr>
              <a:spLocks noChangeShapeType="1"/>
            </p:cNvSpPr>
            <p:nvPr/>
          </p:nvSpPr>
          <p:spPr bwMode="auto">
            <a:xfrm flipH="1">
              <a:off x="1055" y="191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91" name="Line 185"/>
            <p:cNvSpPr>
              <a:spLocks noChangeShapeType="1"/>
            </p:cNvSpPr>
            <p:nvPr/>
          </p:nvSpPr>
          <p:spPr bwMode="auto">
            <a:xfrm flipH="1">
              <a:off x="1053" y="197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92" name="Line 186"/>
            <p:cNvSpPr>
              <a:spLocks noChangeShapeType="1"/>
            </p:cNvSpPr>
            <p:nvPr/>
          </p:nvSpPr>
          <p:spPr bwMode="auto">
            <a:xfrm flipH="1">
              <a:off x="1052" y="203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93" name="Line 187"/>
            <p:cNvSpPr>
              <a:spLocks noChangeShapeType="1"/>
            </p:cNvSpPr>
            <p:nvPr/>
          </p:nvSpPr>
          <p:spPr bwMode="auto">
            <a:xfrm flipH="1">
              <a:off x="1053" y="209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94" name="Line 188"/>
            <p:cNvSpPr>
              <a:spLocks noChangeShapeType="1"/>
            </p:cNvSpPr>
            <p:nvPr/>
          </p:nvSpPr>
          <p:spPr bwMode="auto">
            <a:xfrm flipH="1">
              <a:off x="1052" y="215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95" name="Line 189"/>
            <p:cNvSpPr>
              <a:spLocks noChangeShapeType="1"/>
            </p:cNvSpPr>
            <p:nvPr/>
          </p:nvSpPr>
          <p:spPr bwMode="auto">
            <a:xfrm flipH="1">
              <a:off x="1056" y="221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96" name="Line 190"/>
            <p:cNvSpPr>
              <a:spLocks noChangeShapeType="1"/>
            </p:cNvSpPr>
            <p:nvPr/>
          </p:nvSpPr>
          <p:spPr bwMode="auto">
            <a:xfrm flipH="1">
              <a:off x="1055" y="228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97" name="Line 191"/>
            <p:cNvSpPr>
              <a:spLocks noChangeShapeType="1"/>
            </p:cNvSpPr>
            <p:nvPr/>
          </p:nvSpPr>
          <p:spPr bwMode="auto">
            <a:xfrm flipH="1">
              <a:off x="1056" y="2339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98" name="Line 192"/>
            <p:cNvSpPr>
              <a:spLocks noChangeShapeType="1"/>
            </p:cNvSpPr>
            <p:nvPr/>
          </p:nvSpPr>
          <p:spPr bwMode="auto">
            <a:xfrm flipH="1">
              <a:off x="1055" y="240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99" name="Line 193"/>
            <p:cNvSpPr>
              <a:spLocks noChangeShapeType="1"/>
            </p:cNvSpPr>
            <p:nvPr/>
          </p:nvSpPr>
          <p:spPr bwMode="auto">
            <a:xfrm flipH="1">
              <a:off x="1053" y="247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00" name="Line 194"/>
            <p:cNvSpPr>
              <a:spLocks noChangeShapeType="1"/>
            </p:cNvSpPr>
            <p:nvPr/>
          </p:nvSpPr>
          <p:spPr bwMode="auto">
            <a:xfrm flipH="1">
              <a:off x="1052" y="253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01" name="Line 195"/>
            <p:cNvSpPr>
              <a:spLocks noChangeShapeType="1"/>
            </p:cNvSpPr>
            <p:nvPr/>
          </p:nvSpPr>
          <p:spPr bwMode="auto">
            <a:xfrm flipH="1">
              <a:off x="1057" y="259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02" name="Text Box 196"/>
            <p:cNvSpPr txBox="1">
              <a:spLocks noChangeArrowheads="1"/>
            </p:cNvSpPr>
            <p:nvPr/>
          </p:nvSpPr>
          <p:spPr bwMode="auto">
            <a:xfrm>
              <a:off x="1335" y="165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A0</a:t>
              </a:r>
            </a:p>
          </p:txBody>
        </p:sp>
        <p:sp>
          <p:nvSpPr>
            <p:cNvPr id="68703" name="Text Box 197"/>
            <p:cNvSpPr txBox="1">
              <a:spLocks noChangeArrowheads="1"/>
            </p:cNvSpPr>
            <p:nvPr/>
          </p:nvSpPr>
          <p:spPr bwMode="auto">
            <a:xfrm>
              <a:off x="1339" y="1716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</a:t>
              </a:r>
            </a:p>
          </p:txBody>
        </p:sp>
        <p:sp>
          <p:nvSpPr>
            <p:cNvPr id="68704" name="Text Box 198"/>
            <p:cNvSpPr txBox="1">
              <a:spLocks noChangeArrowheads="1"/>
            </p:cNvSpPr>
            <p:nvPr/>
          </p:nvSpPr>
          <p:spPr bwMode="auto">
            <a:xfrm>
              <a:off x="1338" y="1782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A2</a:t>
              </a:r>
            </a:p>
          </p:txBody>
        </p:sp>
        <p:sp>
          <p:nvSpPr>
            <p:cNvPr id="68705" name="Text Box 199"/>
            <p:cNvSpPr txBox="1">
              <a:spLocks noChangeArrowheads="1"/>
            </p:cNvSpPr>
            <p:nvPr/>
          </p:nvSpPr>
          <p:spPr bwMode="auto">
            <a:xfrm>
              <a:off x="1339" y="184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A3</a:t>
              </a:r>
            </a:p>
          </p:txBody>
        </p:sp>
        <p:sp>
          <p:nvSpPr>
            <p:cNvPr id="68706" name="Text Box 200"/>
            <p:cNvSpPr txBox="1">
              <a:spLocks noChangeArrowheads="1"/>
            </p:cNvSpPr>
            <p:nvPr/>
          </p:nvSpPr>
          <p:spPr bwMode="auto">
            <a:xfrm>
              <a:off x="1335" y="190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A4</a:t>
              </a:r>
            </a:p>
          </p:txBody>
        </p:sp>
        <p:sp>
          <p:nvSpPr>
            <p:cNvPr id="68707" name="Text Box 201"/>
            <p:cNvSpPr txBox="1">
              <a:spLocks noChangeArrowheads="1"/>
            </p:cNvSpPr>
            <p:nvPr/>
          </p:nvSpPr>
          <p:spPr bwMode="auto">
            <a:xfrm>
              <a:off x="1339" y="1966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A5</a:t>
              </a:r>
            </a:p>
          </p:txBody>
        </p:sp>
        <p:sp>
          <p:nvSpPr>
            <p:cNvPr id="68708" name="Text Box 202"/>
            <p:cNvSpPr txBox="1">
              <a:spLocks noChangeArrowheads="1"/>
            </p:cNvSpPr>
            <p:nvPr/>
          </p:nvSpPr>
          <p:spPr bwMode="auto">
            <a:xfrm>
              <a:off x="1338" y="2032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A6</a:t>
              </a:r>
            </a:p>
          </p:txBody>
        </p:sp>
        <p:sp>
          <p:nvSpPr>
            <p:cNvPr id="68709" name="Text Box 203"/>
            <p:cNvSpPr txBox="1">
              <a:spLocks noChangeArrowheads="1"/>
            </p:cNvSpPr>
            <p:nvPr/>
          </p:nvSpPr>
          <p:spPr bwMode="auto">
            <a:xfrm>
              <a:off x="1339" y="209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A7</a:t>
              </a:r>
            </a:p>
          </p:txBody>
        </p:sp>
        <p:sp>
          <p:nvSpPr>
            <p:cNvPr id="68710" name="Text Box 204"/>
            <p:cNvSpPr txBox="1">
              <a:spLocks noChangeArrowheads="1"/>
            </p:cNvSpPr>
            <p:nvPr/>
          </p:nvSpPr>
          <p:spPr bwMode="auto">
            <a:xfrm>
              <a:off x="1332" y="215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A8</a:t>
              </a:r>
            </a:p>
          </p:txBody>
        </p:sp>
        <p:sp>
          <p:nvSpPr>
            <p:cNvPr id="68711" name="Text Box 205"/>
            <p:cNvSpPr txBox="1">
              <a:spLocks noChangeArrowheads="1"/>
            </p:cNvSpPr>
            <p:nvPr/>
          </p:nvSpPr>
          <p:spPr bwMode="auto">
            <a:xfrm>
              <a:off x="1336" y="221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A9</a:t>
              </a:r>
            </a:p>
          </p:txBody>
        </p:sp>
        <p:sp>
          <p:nvSpPr>
            <p:cNvPr id="68712" name="Text Box 206"/>
            <p:cNvSpPr txBox="1">
              <a:spLocks noChangeArrowheads="1"/>
            </p:cNvSpPr>
            <p:nvPr/>
          </p:nvSpPr>
          <p:spPr bwMode="auto">
            <a:xfrm>
              <a:off x="1317" y="2281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A10</a:t>
              </a:r>
            </a:p>
          </p:txBody>
        </p:sp>
        <p:sp>
          <p:nvSpPr>
            <p:cNvPr id="68713" name="Text Box 207"/>
            <p:cNvSpPr txBox="1">
              <a:spLocks noChangeArrowheads="1"/>
            </p:cNvSpPr>
            <p:nvPr/>
          </p:nvSpPr>
          <p:spPr bwMode="auto">
            <a:xfrm>
              <a:off x="1318" y="2346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A11</a:t>
              </a:r>
            </a:p>
          </p:txBody>
        </p:sp>
        <p:sp>
          <p:nvSpPr>
            <p:cNvPr id="68714" name="Text Box 208"/>
            <p:cNvSpPr txBox="1">
              <a:spLocks noChangeArrowheads="1"/>
            </p:cNvSpPr>
            <p:nvPr/>
          </p:nvSpPr>
          <p:spPr bwMode="auto">
            <a:xfrm>
              <a:off x="1314" y="2404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A12</a:t>
              </a:r>
            </a:p>
          </p:txBody>
        </p:sp>
        <p:sp>
          <p:nvSpPr>
            <p:cNvPr id="68715" name="Text Box 209"/>
            <p:cNvSpPr txBox="1">
              <a:spLocks noChangeArrowheads="1"/>
            </p:cNvSpPr>
            <p:nvPr/>
          </p:nvSpPr>
          <p:spPr bwMode="auto">
            <a:xfrm>
              <a:off x="1318" y="2465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A13</a:t>
              </a:r>
            </a:p>
          </p:txBody>
        </p:sp>
        <p:sp>
          <p:nvSpPr>
            <p:cNvPr id="68716" name="Text Box 210"/>
            <p:cNvSpPr txBox="1">
              <a:spLocks noChangeArrowheads="1"/>
            </p:cNvSpPr>
            <p:nvPr/>
          </p:nvSpPr>
          <p:spPr bwMode="auto">
            <a:xfrm>
              <a:off x="1317" y="2531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A14</a:t>
              </a:r>
            </a:p>
          </p:txBody>
        </p:sp>
        <p:sp>
          <p:nvSpPr>
            <p:cNvPr id="68717" name="Line 211"/>
            <p:cNvSpPr>
              <a:spLocks noChangeShapeType="1"/>
            </p:cNvSpPr>
            <p:nvPr/>
          </p:nvSpPr>
          <p:spPr bwMode="auto">
            <a:xfrm flipH="1">
              <a:off x="1756" y="174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18" name="Line 212"/>
            <p:cNvSpPr>
              <a:spLocks noChangeShapeType="1"/>
            </p:cNvSpPr>
            <p:nvPr/>
          </p:nvSpPr>
          <p:spPr bwMode="auto">
            <a:xfrm flipH="1">
              <a:off x="1759" y="1844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19" name="Line 213"/>
            <p:cNvSpPr>
              <a:spLocks noChangeShapeType="1"/>
            </p:cNvSpPr>
            <p:nvPr/>
          </p:nvSpPr>
          <p:spPr bwMode="auto">
            <a:xfrm flipH="1">
              <a:off x="1757" y="198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20" name="Line 214"/>
            <p:cNvSpPr>
              <a:spLocks noChangeShapeType="1"/>
            </p:cNvSpPr>
            <p:nvPr/>
          </p:nvSpPr>
          <p:spPr bwMode="auto">
            <a:xfrm flipH="1">
              <a:off x="1756" y="2135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21" name="Line 215"/>
            <p:cNvSpPr>
              <a:spLocks noChangeShapeType="1"/>
            </p:cNvSpPr>
            <p:nvPr/>
          </p:nvSpPr>
          <p:spPr bwMode="auto">
            <a:xfrm flipH="1">
              <a:off x="1754" y="227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22" name="Line 216"/>
            <p:cNvSpPr>
              <a:spLocks noChangeShapeType="1"/>
            </p:cNvSpPr>
            <p:nvPr/>
          </p:nvSpPr>
          <p:spPr bwMode="auto">
            <a:xfrm flipH="1">
              <a:off x="1756" y="238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23" name="Line 217"/>
            <p:cNvSpPr>
              <a:spLocks noChangeShapeType="1"/>
            </p:cNvSpPr>
            <p:nvPr/>
          </p:nvSpPr>
          <p:spPr bwMode="auto">
            <a:xfrm flipH="1">
              <a:off x="1761" y="250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24" name="Line 218"/>
            <p:cNvSpPr>
              <a:spLocks noChangeShapeType="1"/>
            </p:cNvSpPr>
            <p:nvPr/>
          </p:nvSpPr>
          <p:spPr bwMode="auto">
            <a:xfrm flipH="1">
              <a:off x="1752" y="259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25" name="Text Box 219"/>
            <p:cNvSpPr txBox="1">
              <a:spLocks noChangeArrowheads="1"/>
            </p:cNvSpPr>
            <p:nvPr/>
          </p:nvSpPr>
          <p:spPr bwMode="auto">
            <a:xfrm>
              <a:off x="1599" y="166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D0</a:t>
              </a:r>
            </a:p>
          </p:txBody>
        </p:sp>
        <p:sp>
          <p:nvSpPr>
            <p:cNvPr id="68726" name="Text Box 220"/>
            <p:cNvSpPr txBox="1">
              <a:spLocks noChangeArrowheads="1"/>
            </p:cNvSpPr>
            <p:nvPr/>
          </p:nvSpPr>
          <p:spPr bwMode="auto">
            <a:xfrm>
              <a:off x="1604" y="1780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D1</a:t>
              </a:r>
            </a:p>
          </p:txBody>
        </p:sp>
        <p:sp>
          <p:nvSpPr>
            <p:cNvPr id="68727" name="Text Box 221"/>
            <p:cNvSpPr txBox="1">
              <a:spLocks noChangeArrowheads="1"/>
            </p:cNvSpPr>
            <p:nvPr/>
          </p:nvSpPr>
          <p:spPr bwMode="auto">
            <a:xfrm>
              <a:off x="1603" y="1919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D2</a:t>
              </a:r>
            </a:p>
          </p:txBody>
        </p:sp>
        <p:sp>
          <p:nvSpPr>
            <p:cNvPr id="68728" name="Text Box 222"/>
            <p:cNvSpPr txBox="1">
              <a:spLocks noChangeArrowheads="1"/>
            </p:cNvSpPr>
            <p:nvPr/>
          </p:nvSpPr>
          <p:spPr bwMode="auto">
            <a:xfrm>
              <a:off x="1600" y="206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D3</a:t>
              </a:r>
            </a:p>
          </p:txBody>
        </p:sp>
        <p:sp>
          <p:nvSpPr>
            <p:cNvPr id="68729" name="Text Box 223"/>
            <p:cNvSpPr txBox="1">
              <a:spLocks noChangeArrowheads="1"/>
            </p:cNvSpPr>
            <p:nvPr/>
          </p:nvSpPr>
          <p:spPr bwMode="auto">
            <a:xfrm>
              <a:off x="1602" y="2190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D4</a:t>
              </a:r>
            </a:p>
          </p:txBody>
        </p:sp>
        <p:sp>
          <p:nvSpPr>
            <p:cNvPr id="68730" name="Text Box 224"/>
            <p:cNvSpPr txBox="1">
              <a:spLocks noChangeArrowheads="1"/>
            </p:cNvSpPr>
            <p:nvPr/>
          </p:nvSpPr>
          <p:spPr bwMode="auto">
            <a:xfrm>
              <a:off x="1604" y="2321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D5</a:t>
              </a:r>
            </a:p>
          </p:txBody>
        </p:sp>
        <p:sp>
          <p:nvSpPr>
            <p:cNvPr id="68731" name="Text Box 225"/>
            <p:cNvSpPr txBox="1">
              <a:spLocks noChangeArrowheads="1"/>
            </p:cNvSpPr>
            <p:nvPr/>
          </p:nvSpPr>
          <p:spPr bwMode="auto">
            <a:xfrm>
              <a:off x="1602" y="2431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D6</a:t>
              </a:r>
            </a:p>
          </p:txBody>
        </p:sp>
        <p:sp>
          <p:nvSpPr>
            <p:cNvPr id="68732" name="Text Box 226"/>
            <p:cNvSpPr txBox="1">
              <a:spLocks noChangeArrowheads="1"/>
            </p:cNvSpPr>
            <p:nvPr/>
          </p:nvSpPr>
          <p:spPr bwMode="auto">
            <a:xfrm>
              <a:off x="1602" y="253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D7</a:t>
              </a:r>
            </a:p>
          </p:txBody>
        </p:sp>
        <p:sp>
          <p:nvSpPr>
            <p:cNvPr id="68733" name="Oval 227"/>
            <p:cNvSpPr>
              <a:spLocks noChangeArrowheads="1"/>
            </p:cNvSpPr>
            <p:nvPr/>
          </p:nvSpPr>
          <p:spPr bwMode="auto">
            <a:xfrm>
              <a:off x="1463" y="2755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734" name="Oval 228"/>
            <p:cNvSpPr>
              <a:spLocks noChangeArrowheads="1"/>
            </p:cNvSpPr>
            <p:nvPr/>
          </p:nvSpPr>
          <p:spPr bwMode="auto">
            <a:xfrm>
              <a:off x="1613" y="2752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735" name="Oval 229"/>
            <p:cNvSpPr>
              <a:spLocks noChangeArrowheads="1"/>
            </p:cNvSpPr>
            <p:nvPr/>
          </p:nvSpPr>
          <p:spPr bwMode="auto">
            <a:xfrm>
              <a:off x="1534" y="1581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736" name="Text Box 230"/>
            <p:cNvSpPr txBox="1">
              <a:spLocks noChangeArrowheads="1"/>
            </p:cNvSpPr>
            <p:nvPr/>
          </p:nvSpPr>
          <p:spPr bwMode="auto">
            <a:xfrm>
              <a:off x="1383" y="2643"/>
              <a:ext cx="209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OE</a:t>
              </a:r>
            </a:p>
          </p:txBody>
        </p:sp>
        <p:sp>
          <p:nvSpPr>
            <p:cNvPr id="68737" name="Line 231"/>
            <p:cNvSpPr>
              <a:spLocks noChangeShapeType="1"/>
            </p:cNvSpPr>
            <p:nvPr/>
          </p:nvSpPr>
          <p:spPr bwMode="auto">
            <a:xfrm>
              <a:off x="1450" y="2669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38" name="Text Box 232"/>
            <p:cNvSpPr txBox="1">
              <a:spLocks noChangeArrowheads="1"/>
            </p:cNvSpPr>
            <p:nvPr/>
          </p:nvSpPr>
          <p:spPr bwMode="auto">
            <a:xfrm>
              <a:off x="1529" y="2642"/>
              <a:ext cx="205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CE</a:t>
              </a:r>
            </a:p>
          </p:txBody>
        </p:sp>
        <p:sp>
          <p:nvSpPr>
            <p:cNvPr id="68739" name="Line 233"/>
            <p:cNvSpPr>
              <a:spLocks noChangeShapeType="1"/>
            </p:cNvSpPr>
            <p:nvPr/>
          </p:nvSpPr>
          <p:spPr bwMode="auto">
            <a:xfrm>
              <a:off x="1594" y="2668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40" name="Text Box 234"/>
            <p:cNvSpPr txBox="1">
              <a:spLocks noChangeArrowheads="1"/>
            </p:cNvSpPr>
            <p:nvPr/>
          </p:nvSpPr>
          <p:spPr bwMode="auto">
            <a:xfrm>
              <a:off x="1475" y="1625"/>
              <a:ext cx="17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W</a:t>
              </a:r>
            </a:p>
          </p:txBody>
        </p:sp>
        <p:sp>
          <p:nvSpPr>
            <p:cNvPr id="68741" name="Line 235"/>
            <p:cNvSpPr>
              <a:spLocks noChangeShapeType="1"/>
            </p:cNvSpPr>
            <p:nvPr/>
          </p:nvSpPr>
          <p:spPr bwMode="auto">
            <a:xfrm>
              <a:off x="1527" y="1655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68616" name="Line 236"/>
          <p:cNvSpPr>
            <a:spLocks noChangeShapeType="1"/>
          </p:cNvSpPr>
          <p:nvPr/>
        </p:nvSpPr>
        <p:spPr bwMode="auto">
          <a:xfrm>
            <a:off x="4540250" y="1700212"/>
            <a:ext cx="0" cy="39528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17" name="Line 237"/>
          <p:cNvSpPr>
            <a:spLocks noChangeShapeType="1"/>
          </p:cNvSpPr>
          <p:nvPr/>
        </p:nvSpPr>
        <p:spPr bwMode="auto">
          <a:xfrm>
            <a:off x="6562725" y="1701800"/>
            <a:ext cx="0" cy="39528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18" name="Line 238"/>
          <p:cNvSpPr>
            <a:spLocks noChangeShapeType="1"/>
          </p:cNvSpPr>
          <p:nvPr/>
        </p:nvSpPr>
        <p:spPr bwMode="auto">
          <a:xfrm rot="5400000" flipV="1">
            <a:off x="3722688" y="-1119188"/>
            <a:ext cx="9525" cy="56800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19" name="Line 239"/>
          <p:cNvSpPr>
            <a:spLocks noChangeShapeType="1"/>
          </p:cNvSpPr>
          <p:nvPr/>
        </p:nvSpPr>
        <p:spPr bwMode="auto">
          <a:xfrm>
            <a:off x="6115050" y="2097087"/>
            <a:ext cx="0" cy="39528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20" name="Line 240"/>
          <p:cNvSpPr>
            <a:spLocks noChangeShapeType="1"/>
          </p:cNvSpPr>
          <p:nvPr/>
        </p:nvSpPr>
        <p:spPr bwMode="auto">
          <a:xfrm>
            <a:off x="8137525" y="2087562"/>
            <a:ext cx="0" cy="39528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21" name="Line 241"/>
          <p:cNvSpPr>
            <a:spLocks noChangeShapeType="1"/>
          </p:cNvSpPr>
          <p:nvPr/>
        </p:nvSpPr>
        <p:spPr bwMode="auto">
          <a:xfrm rot="-5400000">
            <a:off x="4429125" y="2309812"/>
            <a:ext cx="9525" cy="74580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23" name="Freeform 243"/>
          <p:cNvSpPr>
            <a:spLocks/>
          </p:cNvSpPr>
          <p:nvPr/>
        </p:nvSpPr>
        <p:spPr bwMode="auto">
          <a:xfrm>
            <a:off x="3527425" y="3802062"/>
            <a:ext cx="1928813" cy="142875"/>
          </a:xfrm>
          <a:custGeom>
            <a:avLst/>
            <a:gdLst>
              <a:gd name="T0" fmla="*/ 2147483647 w 1056"/>
              <a:gd name="T1" fmla="*/ 0 h 90"/>
              <a:gd name="T2" fmla="*/ 2147483647 w 1056"/>
              <a:gd name="T3" fmla="*/ 2147483647 h 90"/>
              <a:gd name="T4" fmla="*/ 0 w 1056"/>
              <a:gd name="T5" fmla="*/ 2147483647 h 90"/>
              <a:gd name="T6" fmla="*/ 0 60000 65536"/>
              <a:gd name="T7" fmla="*/ 0 60000 65536"/>
              <a:gd name="T8" fmla="*/ 0 60000 65536"/>
              <a:gd name="T9" fmla="*/ 0 w 1056"/>
              <a:gd name="T10" fmla="*/ 0 h 90"/>
              <a:gd name="T11" fmla="*/ 1056 w 1056"/>
              <a:gd name="T12" fmla="*/ 90 h 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56" h="90">
                <a:moveTo>
                  <a:pt x="1056" y="0"/>
                </a:moveTo>
                <a:cubicBezTo>
                  <a:pt x="1056" y="30"/>
                  <a:pt x="1056" y="60"/>
                  <a:pt x="1056" y="90"/>
                </a:cubicBezTo>
                <a:lnTo>
                  <a:pt x="0" y="9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24" name="Freeform 244"/>
          <p:cNvSpPr>
            <a:spLocks/>
          </p:cNvSpPr>
          <p:nvPr/>
        </p:nvSpPr>
        <p:spPr bwMode="auto">
          <a:xfrm>
            <a:off x="3271838" y="5975350"/>
            <a:ext cx="2184400" cy="214312"/>
          </a:xfrm>
          <a:custGeom>
            <a:avLst/>
            <a:gdLst>
              <a:gd name="T0" fmla="*/ 2147483647 w 1056"/>
              <a:gd name="T1" fmla="*/ 0 h 90"/>
              <a:gd name="T2" fmla="*/ 2147483647 w 1056"/>
              <a:gd name="T3" fmla="*/ 2147483647 h 90"/>
              <a:gd name="T4" fmla="*/ 0 w 1056"/>
              <a:gd name="T5" fmla="*/ 2147483647 h 90"/>
              <a:gd name="T6" fmla="*/ 0 60000 65536"/>
              <a:gd name="T7" fmla="*/ 0 60000 65536"/>
              <a:gd name="T8" fmla="*/ 0 60000 65536"/>
              <a:gd name="T9" fmla="*/ 0 w 1056"/>
              <a:gd name="T10" fmla="*/ 0 h 90"/>
              <a:gd name="T11" fmla="*/ 1056 w 1056"/>
              <a:gd name="T12" fmla="*/ 90 h 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56" h="90">
                <a:moveTo>
                  <a:pt x="1056" y="0"/>
                </a:moveTo>
                <a:cubicBezTo>
                  <a:pt x="1056" y="30"/>
                  <a:pt x="1056" y="60"/>
                  <a:pt x="1056" y="90"/>
                </a:cubicBezTo>
                <a:lnTo>
                  <a:pt x="0" y="9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25" name="Freeform 245"/>
          <p:cNvSpPr>
            <a:spLocks/>
          </p:cNvSpPr>
          <p:nvPr/>
        </p:nvSpPr>
        <p:spPr bwMode="auto">
          <a:xfrm>
            <a:off x="6350000" y="3790950"/>
            <a:ext cx="1106488" cy="131762"/>
          </a:xfrm>
          <a:custGeom>
            <a:avLst/>
            <a:gdLst>
              <a:gd name="T0" fmla="*/ 2147483647 w 1056"/>
              <a:gd name="T1" fmla="*/ 0 h 90"/>
              <a:gd name="T2" fmla="*/ 2147483647 w 1056"/>
              <a:gd name="T3" fmla="*/ 2147483647 h 90"/>
              <a:gd name="T4" fmla="*/ 0 w 1056"/>
              <a:gd name="T5" fmla="*/ 2147483647 h 90"/>
              <a:gd name="T6" fmla="*/ 0 60000 65536"/>
              <a:gd name="T7" fmla="*/ 0 60000 65536"/>
              <a:gd name="T8" fmla="*/ 0 60000 65536"/>
              <a:gd name="T9" fmla="*/ 0 w 1056"/>
              <a:gd name="T10" fmla="*/ 0 h 90"/>
              <a:gd name="T11" fmla="*/ 1056 w 1056"/>
              <a:gd name="T12" fmla="*/ 90 h 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56" h="90">
                <a:moveTo>
                  <a:pt x="1056" y="0"/>
                </a:moveTo>
                <a:cubicBezTo>
                  <a:pt x="1056" y="30"/>
                  <a:pt x="1056" y="60"/>
                  <a:pt x="1056" y="90"/>
                </a:cubicBezTo>
                <a:lnTo>
                  <a:pt x="0" y="9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26" name="Freeform 246"/>
          <p:cNvSpPr>
            <a:spLocks/>
          </p:cNvSpPr>
          <p:nvPr/>
        </p:nvSpPr>
        <p:spPr bwMode="auto">
          <a:xfrm>
            <a:off x="6345238" y="5976937"/>
            <a:ext cx="1139825" cy="374650"/>
          </a:xfrm>
          <a:custGeom>
            <a:avLst/>
            <a:gdLst>
              <a:gd name="T0" fmla="*/ 2147483647 w 1056"/>
              <a:gd name="T1" fmla="*/ 0 h 90"/>
              <a:gd name="T2" fmla="*/ 2147483647 w 1056"/>
              <a:gd name="T3" fmla="*/ 2147483647 h 90"/>
              <a:gd name="T4" fmla="*/ 0 w 1056"/>
              <a:gd name="T5" fmla="*/ 2147483647 h 90"/>
              <a:gd name="T6" fmla="*/ 0 60000 65536"/>
              <a:gd name="T7" fmla="*/ 0 60000 65536"/>
              <a:gd name="T8" fmla="*/ 0 60000 65536"/>
              <a:gd name="T9" fmla="*/ 0 w 1056"/>
              <a:gd name="T10" fmla="*/ 0 h 90"/>
              <a:gd name="T11" fmla="*/ 1056 w 1056"/>
              <a:gd name="T12" fmla="*/ 90 h 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56" h="90">
                <a:moveTo>
                  <a:pt x="1056" y="0"/>
                </a:moveTo>
                <a:cubicBezTo>
                  <a:pt x="1056" y="30"/>
                  <a:pt x="1056" y="60"/>
                  <a:pt x="1056" y="90"/>
                </a:cubicBezTo>
                <a:lnTo>
                  <a:pt x="0" y="9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27" name="Line 247"/>
          <p:cNvSpPr>
            <a:spLocks noChangeShapeType="1"/>
          </p:cNvSpPr>
          <p:nvPr/>
        </p:nvSpPr>
        <p:spPr bwMode="auto">
          <a:xfrm>
            <a:off x="6359525" y="3944937"/>
            <a:ext cx="1588" cy="23987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28" name="Oval 248"/>
          <p:cNvSpPr>
            <a:spLocks noChangeArrowheads="1"/>
          </p:cNvSpPr>
          <p:nvPr/>
        </p:nvSpPr>
        <p:spPr bwMode="auto">
          <a:xfrm>
            <a:off x="6319838" y="6302375"/>
            <a:ext cx="82550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8629" name="Oval 250"/>
          <p:cNvSpPr>
            <a:spLocks noChangeArrowheads="1"/>
          </p:cNvSpPr>
          <p:nvPr/>
        </p:nvSpPr>
        <p:spPr bwMode="auto">
          <a:xfrm>
            <a:off x="4333875" y="1798637"/>
            <a:ext cx="82550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8630" name="Oval 251"/>
          <p:cNvSpPr>
            <a:spLocks noChangeArrowheads="1"/>
          </p:cNvSpPr>
          <p:nvPr/>
        </p:nvSpPr>
        <p:spPr bwMode="auto">
          <a:xfrm>
            <a:off x="3503613" y="6138862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8631" name="Line 253"/>
          <p:cNvSpPr>
            <a:spLocks noChangeShapeType="1"/>
          </p:cNvSpPr>
          <p:nvPr/>
        </p:nvSpPr>
        <p:spPr bwMode="auto">
          <a:xfrm flipH="1" flipV="1">
            <a:off x="2760663" y="6343650"/>
            <a:ext cx="3598862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32" name="Line 254"/>
          <p:cNvSpPr>
            <a:spLocks noChangeShapeType="1"/>
          </p:cNvSpPr>
          <p:nvPr/>
        </p:nvSpPr>
        <p:spPr bwMode="auto">
          <a:xfrm flipH="1">
            <a:off x="3525838" y="3954462"/>
            <a:ext cx="0" cy="22574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33" name="Line 255"/>
          <p:cNvSpPr>
            <a:spLocks noChangeShapeType="1"/>
          </p:cNvSpPr>
          <p:nvPr/>
        </p:nvSpPr>
        <p:spPr bwMode="auto">
          <a:xfrm flipV="1">
            <a:off x="3275013" y="4448175"/>
            <a:ext cx="1587" cy="1730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34" name="Line 256"/>
          <p:cNvSpPr>
            <a:spLocks noChangeShapeType="1"/>
          </p:cNvSpPr>
          <p:nvPr/>
        </p:nvSpPr>
        <p:spPr bwMode="auto">
          <a:xfrm flipV="1">
            <a:off x="2784475" y="4775200"/>
            <a:ext cx="0" cy="15859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35" name="Line 263"/>
          <p:cNvSpPr>
            <a:spLocks noChangeShapeType="1"/>
          </p:cNvSpPr>
          <p:nvPr/>
        </p:nvSpPr>
        <p:spPr bwMode="auto">
          <a:xfrm>
            <a:off x="2924175" y="1844675"/>
            <a:ext cx="44069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36" name="Line 264"/>
          <p:cNvSpPr>
            <a:spLocks noChangeShapeType="1"/>
          </p:cNvSpPr>
          <p:nvPr/>
        </p:nvSpPr>
        <p:spPr bwMode="auto">
          <a:xfrm>
            <a:off x="4365625" y="4024312"/>
            <a:ext cx="30035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37" name="Line 265"/>
          <p:cNvSpPr>
            <a:spLocks noChangeShapeType="1"/>
          </p:cNvSpPr>
          <p:nvPr/>
        </p:nvSpPr>
        <p:spPr bwMode="auto">
          <a:xfrm flipV="1">
            <a:off x="4365625" y="1836737"/>
            <a:ext cx="0" cy="21875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38" name="Line 266"/>
          <p:cNvSpPr>
            <a:spLocks noChangeShapeType="1"/>
          </p:cNvSpPr>
          <p:nvPr/>
        </p:nvSpPr>
        <p:spPr bwMode="auto">
          <a:xfrm>
            <a:off x="7216775" y="3779837"/>
            <a:ext cx="0" cy="60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39" name="Line 268"/>
          <p:cNvSpPr>
            <a:spLocks noChangeShapeType="1"/>
          </p:cNvSpPr>
          <p:nvPr/>
        </p:nvSpPr>
        <p:spPr bwMode="auto">
          <a:xfrm>
            <a:off x="5213350" y="3795712"/>
            <a:ext cx="0" cy="60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40" name="Line 269"/>
          <p:cNvSpPr>
            <a:spLocks noChangeShapeType="1"/>
          </p:cNvSpPr>
          <p:nvPr/>
        </p:nvSpPr>
        <p:spPr bwMode="auto">
          <a:xfrm flipH="1">
            <a:off x="6234113" y="3848100"/>
            <a:ext cx="9747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41" name="Line 270"/>
          <p:cNvSpPr>
            <a:spLocks noChangeShapeType="1"/>
          </p:cNvSpPr>
          <p:nvPr/>
        </p:nvSpPr>
        <p:spPr bwMode="auto">
          <a:xfrm>
            <a:off x="7245350" y="5989637"/>
            <a:ext cx="1588" cy="584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42" name="Line 271"/>
          <p:cNvSpPr>
            <a:spLocks noChangeShapeType="1"/>
          </p:cNvSpPr>
          <p:nvPr/>
        </p:nvSpPr>
        <p:spPr bwMode="auto">
          <a:xfrm flipH="1">
            <a:off x="5227638" y="5981700"/>
            <a:ext cx="0" cy="6048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43" name="Line 272"/>
          <p:cNvSpPr>
            <a:spLocks noChangeShapeType="1"/>
          </p:cNvSpPr>
          <p:nvPr/>
        </p:nvSpPr>
        <p:spPr bwMode="auto">
          <a:xfrm flipH="1" flipV="1">
            <a:off x="5222875" y="6581775"/>
            <a:ext cx="2022475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44" name="Line 274"/>
          <p:cNvSpPr>
            <a:spLocks noChangeShapeType="1"/>
          </p:cNvSpPr>
          <p:nvPr/>
        </p:nvSpPr>
        <p:spPr bwMode="auto">
          <a:xfrm>
            <a:off x="6240463" y="3848100"/>
            <a:ext cx="0" cy="27051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45" name="Oval 275"/>
          <p:cNvSpPr>
            <a:spLocks noChangeArrowheads="1"/>
          </p:cNvSpPr>
          <p:nvPr/>
        </p:nvSpPr>
        <p:spPr bwMode="auto">
          <a:xfrm>
            <a:off x="6196013" y="6537325"/>
            <a:ext cx="82550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8646" name="Line 276"/>
          <p:cNvSpPr>
            <a:spLocks noChangeShapeType="1"/>
          </p:cNvSpPr>
          <p:nvPr/>
        </p:nvSpPr>
        <p:spPr bwMode="auto">
          <a:xfrm flipH="1">
            <a:off x="3943350" y="6572250"/>
            <a:ext cx="127317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47" name="Line 277"/>
          <p:cNvSpPr>
            <a:spLocks noChangeShapeType="1"/>
          </p:cNvSpPr>
          <p:nvPr/>
        </p:nvSpPr>
        <p:spPr bwMode="auto">
          <a:xfrm flipH="1">
            <a:off x="3932238" y="3863975"/>
            <a:ext cx="12731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48" name="Line 278"/>
          <p:cNvSpPr>
            <a:spLocks noChangeShapeType="1"/>
          </p:cNvSpPr>
          <p:nvPr/>
        </p:nvSpPr>
        <p:spPr bwMode="auto">
          <a:xfrm flipH="1" flipV="1">
            <a:off x="3946525" y="2528887"/>
            <a:ext cx="0" cy="40544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49" name="Oval 279"/>
          <p:cNvSpPr>
            <a:spLocks noChangeArrowheads="1"/>
          </p:cNvSpPr>
          <p:nvPr/>
        </p:nvSpPr>
        <p:spPr bwMode="auto">
          <a:xfrm>
            <a:off x="3900488" y="3806825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8650" name="Line 280"/>
          <p:cNvSpPr>
            <a:spLocks noChangeShapeType="1"/>
          </p:cNvSpPr>
          <p:nvPr/>
        </p:nvSpPr>
        <p:spPr bwMode="auto">
          <a:xfrm flipH="1">
            <a:off x="2130425" y="2522537"/>
            <a:ext cx="1816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51" name="Line 282"/>
          <p:cNvSpPr>
            <a:spLocks noChangeShapeType="1"/>
          </p:cNvSpPr>
          <p:nvPr/>
        </p:nvSpPr>
        <p:spPr bwMode="auto">
          <a:xfrm flipH="1">
            <a:off x="2136775" y="4443412"/>
            <a:ext cx="11318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52" name="Line 283"/>
          <p:cNvSpPr>
            <a:spLocks noChangeShapeType="1"/>
          </p:cNvSpPr>
          <p:nvPr/>
        </p:nvSpPr>
        <p:spPr bwMode="auto">
          <a:xfrm flipH="1">
            <a:off x="2135188" y="4770437"/>
            <a:ext cx="63817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53" name="Line 284"/>
          <p:cNvSpPr>
            <a:spLocks noChangeShapeType="1"/>
          </p:cNvSpPr>
          <p:nvPr/>
        </p:nvSpPr>
        <p:spPr bwMode="auto">
          <a:xfrm>
            <a:off x="2925763" y="1841500"/>
            <a:ext cx="0" cy="385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54" name="Line 285"/>
          <p:cNvSpPr>
            <a:spLocks noChangeShapeType="1"/>
          </p:cNvSpPr>
          <p:nvPr/>
        </p:nvSpPr>
        <p:spPr bwMode="auto">
          <a:xfrm flipH="1">
            <a:off x="2143125" y="2227262"/>
            <a:ext cx="7731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56" name="Text Box 287"/>
          <p:cNvSpPr txBox="1">
            <a:spLocks noChangeArrowheads="1"/>
          </p:cNvSpPr>
          <p:nvPr/>
        </p:nvSpPr>
        <p:spPr bwMode="auto">
          <a:xfrm>
            <a:off x="327025" y="4895850"/>
            <a:ext cx="609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To uP</a:t>
            </a:r>
          </a:p>
        </p:txBody>
      </p:sp>
      <p:sp>
        <p:nvSpPr>
          <p:cNvPr id="68657" name="Rectangle 288"/>
          <p:cNvSpPr>
            <a:spLocks noChangeArrowheads="1"/>
          </p:cNvSpPr>
          <p:nvPr/>
        </p:nvSpPr>
        <p:spPr bwMode="auto">
          <a:xfrm>
            <a:off x="1422400" y="2035175"/>
            <a:ext cx="701675" cy="333216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8658" name="Text Box 289"/>
          <p:cNvSpPr txBox="1">
            <a:spLocks noChangeArrowheads="1"/>
          </p:cNvSpPr>
          <p:nvPr/>
        </p:nvSpPr>
        <p:spPr bwMode="auto">
          <a:xfrm rot="-5400000">
            <a:off x="666750" y="3594100"/>
            <a:ext cx="21478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ADDRESS DECODE LOGIC</a:t>
            </a:r>
          </a:p>
        </p:txBody>
      </p:sp>
      <p:sp>
        <p:nvSpPr>
          <p:cNvPr id="68659" name="Text Box 290"/>
          <p:cNvSpPr txBox="1">
            <a:spLocks noChangeArrowheads="1"/>
          </p:cNvSpPr>
          <p:nvPr/>
        </p:nvSpPr>
        <p:spPr bwMode="auto">
          <a:xfrm>
            <a:off x="2397125" y="1989137"/>
            <a:ext cx="3286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W</a:t>
            </a:r>
          </a:p>
        </p:txBody>
      </p:sp>
      <p:sp>
        <p:nvSpPr>
          <p:cNvPr id="68660" name="Line 291"/>
          <p:cNvSpPr>
            <a:spLocks noChangeShapeType="1"/>
          </p:cNvSpPr>
          <p:nvPr/>
        </p:nvSpPr>
        <p:spPr bwMode="auto">
          <a:xfrm>
            <a:off x="2459038" y="2044700"/>
            <a:ext cx="1619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61" name="Text Box 292"/>
          <p:cNvSpPr txBox="1">
            <a:spLocks noChangeArrowheads="1"/>
          </p:cNvSpPr>
          <p:nvPr/>
        </p:nvSpPr>
        <p:spPr bwMode="auto">
          <a:xfrm>
            <a:off x="276225" y="1960562"/>
            <a:ext cx="609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To uP</a:t>
            </a:r>
          </a:p>
        </p:txBody>
      </p:sp>
      <p:sp>
        <p:nvSpPr>
          <p:cNvPr id="68662" name="Line 293"/>
          <p:cNvSpPr>
            <a:spLocks noChangeShapeType="1"/>
          </p:cNvSpPr>
          <p:nvPr/>
        </p:nvSpPr>
        <p:spPr bwMode="auto">
          <a:xfrm flipH="1">
            <a:off x="538163" y="2441575"/>
            <a:ext cx="893762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63" name="Line 294"/>
          <p:cNvSpPr>
            <a:spLocks noChangeShapeType="1"/>
          </p:cNvSpPr>
          <p:nvPr/>
        </p:nvSpPr>
        <p:spPr bwMode="auto">
          <a:xfrm>
            <a:off x="609600" y="6027737"/>
            <a:ext cx="69056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64" name="Line 295"/>
          <p:cNvSpPr>
            <a:spLocks noChangeShapeType="1"/>
          </p:cNvSpPr>
          <p:nvPr/>
        </p:nvSpPr>
        <p:spPr bwMode="auto">
          <a:xfrm flipV="1">
            <a:off x="598488" y="1720850"/>
            <a:ext cx="812800" cy="95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66" name="Line 297"/>
          <p:cNvSpPr>
            <a:spLocks noChangeShapeType="1"/>
          </p:cNvSpPr>
          <p:nvPr/>
        </p:nvSpPr>
        <p:spPr bwMode="auto">
          <a:xfrm>
            <a:off x="558800" y="2452687"/>
            <a:ext cx="508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70" name="Text Box 301"/>
          <p:cNvSpPr txBox="1">
            <a:spLocks noChangeArrowheads="1"/>
          </p:cNvSpPr>
          <p:nvPr/>
        </p:nvSpPr>
        <p:spPr bwMode="auto">
          <a:xfrm>
            <a:off x="2349500" y="2293937"/>
            <a:ext cx="4048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OE</a:t>
            </a:r>
          </a:p>
        </p:txBody>
      </p:sp>
      <p:sp>
        <p:nvSpPr>
          <p:cNvPr id="68671" name="Line 302"/>
          <p:cNvSpPr>
            <a:spLocks noChangeShapeType="1"/>
          </p:cNvSpPr>
          <p:nvPr/>
        </p:nvSpPr>
        <p:spPr bwMode="auto">
          <a:xfrm>
            <a:off x="2397125" y="2328862"/>
            <a:ext cx="2746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72" name="Text Box 305"/>
          <p:cNvSpPr txBox="1">
            <a:spLocks noChangeArrowheads="1"/>
          </p:cNvSpPr>
          <p:nvPr/>
        </p:nvSpPr>
        <p:spPr bwMode="auto">
          <a:xfrm>
            <a:off x="2252663" y="4162425"/>
            <a:ext cx="479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>
                <a:solidFill>
                  <a:srgbClr val="FF0000"/>
                </a:solidFill>
              </a:rPr>
              <a:t>CE0</a:t>
            </a:r>
          </a:p>
        </p:txBody>
      </p:sp>
      <p:sp>
        <p:nvSpPr>
          <p:cNvPr id="68673" name="Line 306"/>
          <p:cNvSpPr>
            <a:spLocks noChangeShapeType="1"/>
          </p:cNvSpPr>
          <p:nvPr/>
        </p:nvSpPr>
        <p:spPr bwMode="auto">
          <a:xfrm>
            <a:off x="2336800" y="4197350"/>
            <a:ext cx="2746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74" name="Text Box 307"/>
          <p:cNvSpPr txBox="1">
            <a:spLocks noChangeArrowheads="1"/>
          </p:cNvSpPr>
          <p:nvPr/>
        </p:nvSpPr>
        <p:spPr bwMode="auto">
          <a:xfrm>
            <a:off x="2252663" y="4519612"/>
            <a:ext cx="479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>
                <a:solidFill>
                  <a:srgbClr val="FF0000"/>
                </a:solidFill>
              </a:rPr>
              <a:t>CE1</a:t>
            </a:r>
          </a:p>
        </p:txBody>
      </p:sp>
      <p:sp>
        <p:nvSpPr>
          <p:cNvPr id="68675" name="Line 308"/>
          <p:cNvSpPr>
            <a:spLocks noChangeShapeType="1"/>
          </p:cNvSpPr>
          <p:nvPr/>
        </p:nvSpPr>
        <p:spPr bwMode="auto">
          <a:xfrm>
            <a:off x="2336800" y="4554537"/>
            <a:ext cx="2746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76" name="Line 309"/>
          <p:cNvSpPr>
            <a:spLocks noChangeShapeType="1"/>
          </p:cNvSpPr>
          <p:nvPr/>
        </p:nvSpPr>
        <p:spPr bwMode="auto">
          <a:xfrm flipH="1">
            <a:off x="538163" y="4106862"/>
            <a:ext cx="8842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77" name="Line 310"/>
          <p:cNvSpPr>
            <a:spLocks noChangeShapeType="1"/>
          </p:cNvSpPr>
          <p:nvPr/>
        </p:nvSpPr>
        <p:spPr bwMode="auto">
          <a:xfrm flipH="1">
            <a:off x="538163" y="4614862"/>
            <a:ext cx="8842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78" name="Text Box 311"/>
          <p:cNvSpPr txBox="1">
            <a:spLocks noChangeArrowheads="1"/>
          </p:cNvSpPr>
          <p:nvPr/>
        </p:nvSpPr>
        <p:spPr bwMode="auto">
          <a:xfrm>
            <a:off x="520700" y="3830637"/>
            <a:ext cx="403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RD</a:t>
            </a:r>
          </a:p>
        </p:txBody>
      </p:sp>
      <p:sp>
        <p:nvSpPr>
          <p:cNvPr id="68679" name="Line 312"/>
          <p:cNvSpPr>
            <a:spLocks noChangeShapeType="1"/>
          </p:cNvSpPr>
          <p:nvPr/>
        </p:nvSpPr>
        <p:spPr bwMode="auto">
          <a:xfrm>
            <a:off x="600075" y="3894137"/>
            <a:ext cx="222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80" name="Text Box 313"/>
          <p:cNvSpPr txBox="1">
            <a:spLocks noChangeArrowheads="1"/>
          </p:cNvSpPr>
          <p:nvPr/>
        </p:nvSpPr>
        <p:spPr bwMode="auto">
          <a:xfrm>
            <a:off x="512763" y="4265612"/>
            <a:ext cx="4381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WR</a:t>
            </a:r>
          </a:p>
        </p:txBody>
      </p:sp>
      <p:sp>
        <p:nvSpPr>
          <p:cNvPr id="68681" name="Line 314"/>
          <p:cNvSpPr>
            <a:spLocks noChangeShapeType="1"/>
          </p:cNvSpPr>
          <p:nvPr/>
        </p:nvSpPr>
        <p:spPr bwMode="auto">
          <a:xfrm>
            <a:off x="609600" y="4300537"/>
            <a:ext cx="222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82" name="Line 315"/>
          <p:cNvSpPr>
            <a:spLocks noChangeShapeType="1"/>
          </p:cNvSpPr>
          <p:nvPr/>
        </p:nvSpPr>
        <p:spPr bwMode="auto">
          <a:xfrm>
            <a:off x="528638" y="4097337"/>
            <a:ext cx="254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83" name="Line 316"/>
          <p:cNvSpPr>
            <a:spLocks noChangeShapeType="1"/>
          </p:cNvSpPr>
          <p:nvPr/>
        </p:nvSpPr>
        <p:spPr bwMode="auto">
          <a:xfrm>
            <a:off x="558800" y="4614862"/>
            <a:ext cx="254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85" name="Oval 318"/>
          <p:cNvSpPr>
            <a:spLocks noChangeArrowheads="1"/>
          </p:cNvSpPr>
          <p:nvPr/>
        </p:nvSpPr>
        <p:spPr bwMode="auto">
          <a:xfrm>
            <a:off x="5186363" y="6527800"/>
            <a:ext cx="82550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04" name="Text Box 286"/>
          <p:cNvSpPr txBox="1">
            <a:spLocks noChangeArrowheads="1"/>
          </p:cNvSpPr>
          <p:nvPr/>
        </p:nvSpPr>
        <p:spPr bwMode="auto">
          <a:xfrm>
            <a:off x="2010519" y="1440656"/>
            <a:ext cx="17732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Address Bus: A0..A14</a:t>
            </a:r>
            <a:endParaRPr lang="en-US" b="1" dirty="0"/>
          </a:p>
        </p:txBody>
      </p:sp>
      <p:sp>
        <p:nvSpPr>
          <p:cNvPr id="305" name="Text Box 296"/>
          <p:cNvSpPr txBox="1">
            <a:spLocks noChangeArrowheads="1"/>
          </p:cNvSpPr>
          <p:nvPr/>
        </p:nvSpPr>
        <p:spPr bwMode="auto">
          <a:xfrm>
            <a:off x="619645" y="2463949"/>
            <a:ext cx="4797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 dirty="0"/>
              <a:t>A15</a:t>
            </a:r>
          </a:p>
          <a:p>
            <a:pPr algn="ctr" eaLnBrk="1" hangingPunct="1"/>
            <a:r>
              <a:rPr lang="en-US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306" name="Text Box 242"/>
          <p:cNvSpPr txBox="1">
            <a:spLocks noChangeArrowheads="1"/>
          </p:cNvSpPr>
          <p:nvPr/>
        </p:nvSpPr>
        <p:spPr bwMode="auto">
          <a:xfrm>
            <a:off x="8246386" y="3678237"/>
            <a:ext cx="8651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 dirty="0"/>
              <a:t>Data Bus: D0..D15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52663" y="3856037"/>
            <a:ext cx="644474" cy="13446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ular Callout 11"/>
          <p:cNvSpPr/>
          <p:nvPr/>
        </p:nvSpPr>
        <p:spPr>
          <a:xfrm>
            <a:off x="2286000" y="3103723"/>
            <a:ext cx="1600200" cy="612648"/>
          </a:xfrm>
          <a:prstGeom prst="wedgeRectCallout">
            <a:avLst/>
          </a:prstGeom>
          <a:noFill/>
          <a:ln>
            <a:solidFill>
              <a:srgbClr val="FF0000">
                <a:alpha val="56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What do these do?</a:t>
            </a:r>
          </a:p>
          <a:p>
            <a:pPr algn="ctr"/>
            <a:r>
              <a:rPr lang="en-US" sz="1200" b="1" dirty="0" err="1">
                <a:solidFill>
                  <a:srgbClr val="FF0000"/>
                </a:solidFill>
              </a:rPr>
              <a:t>Q:What</a:t>
            </a:r>
            <a:r>
              <a:rPr lang="en-US" sz="1200" b="1" dirty="0">
                <a:solidFill>
                  <a:srgbClr val="FF0000"/>
                </a:solidFill>
              </a:rPr>
              <a:t> feeds these?</a:t>
            </a:r>
          </a:p>
        </p:txBody>
      </p:sp>
      <p:sp>
        <p:nvSpPr>
          <p:cNvPr id="300" name="Rectangle 3"/>
          <p:cNvSpPr txBox="1">
            <a:spLocks noChangeArrowheads="1"/>
          </p:cNvSpPr>
          <p:nvPr/>
        </p:nvSpPr>
        <p:spPr bwMode="auto">
          <a:xfrm>
            <a:off x="327025" y="762000"/>
            <a:ext cx="8718550" cy="473075"/>
          </a:xfrm>
          <a:prstGeom prst="rect">
            <a:avLst/>
          </a:prstGeom>
          <a:ln/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1800" kern="0" dirty="0"/>
              <a:t>Design the SRAM  (64K x 16) memory system using 256K bit ( 32K x 8 ) SRAM chips</a:t>
            </a:r>
          </a:p>
          <a:p>
            <a:endParaRPr lang="en-US" sz="1800" kern="0" dirty="0"/>
          </a:p>
        </p:txBody>
      </p:sp>
      <p:sp>
        <p:nvSpPr>
          <p:cNvPr id="309" name="TextBox 308"/>
          <p:cNvSpPr txBox="1"/>
          <p:nvPr/>
        </p:nvSpPr>
        <p:spPr>
          <a:xfrm>
            <a:off x="4953000" y="1106269"/>
            <a:ext cx="4114800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Unbox Smaller Memory &amp; drill down</a:t>
            </a:r>
          </a:p>
          <a:p>
            <a:r>
              <a:rPr lang="en-US" dirty="0"/>
              <a:t>Notice OE, CE, &amp; W control lines here</a:t>
            </a:r>
          </a:p>
        </p:txBody>
      </p:sp>
      <p:sp>
        <p:nvSpPr>
          <p:cNvPr id="301" name="Rounded Rectangle 300"/>
          <p:cNvSpPr/>
          <p:nvPr/>
        </p:nvSpPr>
        <p:spPr>
          <a:xfrm>
            <a:off x="0" y="6096000"/>
            <a:ext cx="2057400" cy="762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r>
              <a:rPr lang="en-US" dirty="0"/>
              <a:t>\</a:t>
            </a:r>
          </a:p>
          <a:p>
            <a:pPr algn="ctr"/>
            <a:r>
              <a:rPr lang="en-US" sz="1400" dirty="0"/>
              <a:t>“on”, “read”, “write”</a:t>
            </a:r>
          </a:p>
        </p:txBody>
      </p:sp>
      <p:sp>
        <p:nvSpPr>
          <p:cNvPr id="302" name="Oval 301"/>
          <p:cNvSpPr/>
          <p:nvPr/>
        </p:nvSpPr>
        <p:spPr>
          <a:xfrm>
            <a:off x="25400" y="6070600"/>
            <a:ext cx="659562" cy="621787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~CS</a:t>
            </a:r>
          </a:p>
        </p:txBody>
      </p:sp>
      <p:sp>
        <p:nvSpPr>
          <p:cNvPr id="303" name="Oval 302"/>
          <p:cNvSpPr/>
          <p:nvPr/>
        </p:nvSpPr>
        <p:spPr>
          <a:xfrm>
            <a:off x="584200" y="6071113"/>
            <a:ext cx="659562" cy="621787"/>
          </a:xfrm>
          <a:prstGeom prst="ellipse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~OE</a:t>
            </a:r>
          </a:p>
        </p:txBody>
      </p:sp>
      <p:sp>
        <p:nvSpPr>
          <p:cNvPr id="307" name="Oval 306"/>
          <p:cNvSpPr/>
          <p:nvPr/>
        </p:nvSpPr>
        <p:spPr>
          <a:xfrm>
            <a:off x="1219200" y="6071113"/>
            <a:ext cx="659562" cy="621787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</a:rPr>
              <a:t>~</a:t>
            </a:r>
            <a:r>
              <a:rPr lang="en-US" sz="1000" kern="0" dirty="0">
                <a:solidFill>
                  <a:srgbClr val="000000"/>
                </a:solidFill>
                <a:latin typeface="Frutiger 55 Roman"/>
                <a:ea typeface="ＭＳ Ｐゴシック"/>
              </a:rPr>
              <a:t>W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582830"/>
      </p:ext>
    </p:extLst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5113" y="152400"/>
            <a:ext cx="8659812" cy="688975"/>
          </a:xfrm>
        </p:spPr>
        <p:txBody>
          <a:bodyPr/>
          <a:lstStyle/>
          <a:p>
            <a:r>
              <a:rPr lang="en-US" dirty="0"/>
              <a:t>Decoding Memory</a:t>
            </a:r>
          </a:p>
        </p:txBody>
      </p:sp>
      <p:grpSp>
        <p:nvGrpSpPr>
          <p:cNvPr id="68612" name="Group 64"/>
          <p:cNvGrpSpPr>
            <a:grpSpLocks/>
          </p:cNvGrpSpPr>
          <p:nvPr/>
        </p:nvGrpSpPr>
        <p:grpSpPr bwMode="auto">
          <a:xfrm>
            <a:off x="4522788" y="1852612"/>
            <a:ext cx="1601787" cy="1938338"/>
            <a:chOff x="1052" y="1581"/>
            <a:chExt cx="1009" cy="1221"/>
          </a:xfrm>
        </p:grpSpPr>
        <p:sp>
          <p:nvSpPr>
            <p:cNvPr id="68854" name="Rectangle 4"/>
            <p:cNvSpPr>
              <a:spLocks noChangeArrowheads="1"/>
            </p:cNvSpPr>
            <p:nvPr/>
          </p:nvSpPr>
          <p:spPr bwMode="auto">
            <a:xfrm>
              <a:off x="1359" y="1632"/>
              <a:ext cx="397" cy="112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855" name="Line 5"/>
            <p:cNvSpPr>
              <a:spLocks noChangeShapeType="1"/>
            </p:cNvSpPr>
            <p:nvPr/>
          </p:nvSpPr>
          <p:spPr bwMode="auto">
            <a:xfrm flipH="1">
              <a:off x="1056" y="172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56" name="Line 6"/>
            <p:cNvSpPr>
              <a:spLocks noChangeShapeType="1"/>
            </p:cNvSpPr>
            <p:nvPr/>
          </p:nvSpPr>
          <p:spPr bwMode="auto">
            <a:xfrm flipH="1">
              <a:off x="1055" y="179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57" name="Line 7"/>
            <p:cNvSpPr>
              <a:spLocks noChangeShapeType="1"/>
            </p:cNvSpPr>
            <p:nvPr/>
          </p:nvSpPr>
          <p:spPr bwMode="auto">
            <a:xfrm flipH="1">
              <a:off x="1056" y="1849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58" name="Line 8"/>
            <p:cNvSpPr>
              <a:spLocks noChangeShapeType="1"/>
            </p:cNvSpPr>
            <p:nvPr/>
          </p:nvSpPr>
          <p:spPr bwMode="auto">
            <a:xfrm flipH="1">
              <a:off x="1055" y="191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59" name="Line 9"/>
            <p:cNvSpPr>
              <a:spLocks noChangeShapeType="1"/>
            </p:cNvSpPr>
            <p:nvPr/>
          </p:nvSpPr>
          <p:spPr bwMode="auto">
            <a:xfrm flipH="1">
              <a:off x="1053" y="197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60" name="Line 10"/>
            <p:cNvSpPr>
              <a:spLocks noChangeShapeType="1"/>
            </p:cNvSpPr>
            <p:nvPr/>
          </p:nvSpPr>
          <p:spPr bwMode="auto">
            <a:xfrm flipH="1">
              <a:off x="1052" y="203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61" name="Line 11"/>
            <p:cNvSpPr>
              <a:spLocks noChangeShapeType="1"/>
            </p:cNvSpPr>
            <p:nvPr/>
          </p:nvSpPr>
          <p:spPr bwMode="auto">
            <a:xfrm flipH="1">
              <a:off x="1053" y="209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62" name="Line 12"/>
            <p:cNvSpPr>
              <a:spLocks noChangeShapeType="1"/>
            </p:cNvSpPr>
            <p:nvPr/>
          </p:nvSpPr>
          <p:spPr bwMode="auto">
            <a:xfrm flipH="1">
              <a:off x="1052" y="215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63" name="Line 13"/>
            <p:cNvSpPr>
              <a:spLocks noChangeShapeType="1"/>
            </p:cNvSpPr>
            <p:nvPr/>
          </p:nvSpPr>
          <p:spPr bwMode="auto">
            <a:xfrm flipH="1">
              <a:off x="1056" y="221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64" name="Line 14"/>
            <p:cNvSpPr>
              <a:spLocks noChangeShapeType="1"/>
            </p:cNvSpPr>
            <p:nvPr/>
          </p:nvSpPr>
          <p:spPr bwMode="auto">
            <a:xfrm flipH="1">
              <a:off x="1055" y="228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65" name="Line 15"/>
            <p:cNvSpPr>
              <a:spLocks noChangeShapeType="1"/>
            </p:cNvSpPr>
            <p:nvPr/>
          </p:nvSpPr>
          <p:spPr bwMode="auto">
            <a:xfrm flipH="1">
              <a:off x="1056" y="2339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66" name="Line 16"/>
            <p:cNvSpPr>
              <a:spLocks noChangeShapeType="1"/>
            </p:cNvSpPr>
            <p:nvPr/>
          </p:nvSpPr>
          <p:spPr bwMode="auto">
            <a:xfrm flipH="1">
              <a:off x="1055" y="240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67" name="Line 17"/>
            <p:cNvSpPr>
              <a:spLocks noChangeShapeType="1"/>
            </p:cNvSpPr>
            <p:nvPr/>
          </p:nvSpPr>
          <p:spPr bwMode="auto">
            <a:xfrm flipH="1">
              <a:off x="1053" y="247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68" name="Line 18"/>
            <p:cNvSpPr>
              <a:spLocks noChangeShapeType="1"/>
            </p:cNvSpPr>
            <p:nvPr/>
          </p:nvSpPr>
          <p:spPr bwMode="auto">
            <a:xfrm flipH="1">
              <a:off x="1052" y="253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69" name="Line 19"/>
            <p:cNvSpPr>
              <a:spLocks noChangeShapeType="1"/>
            </p:cNvSpPr>
            <p:nvPr/>
          </p:nvSpPr>
          <p:spPr bwMode="auto">
            <a:xfrm flipH="1">
              <a:off x="1057" y="259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70" name="Text Box 21"/>
            <p:cNvSpPr txBox="1">
              <a:spLocks noChangeArrowheads="1"/>
            </p:cNvSpPr>
            <p:nvPr/>
          </p:nvSpPr>
          <p:spPr bwMode="auto">
            <a:xfrm>
              <a:off x="1335" y="165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A0</a:t>
              </a:r>
            </a:p>
          </p:txBody>
        </p:sp>
        <p:sp>
          <p:nvSpPr>
            <p:cNvPr id="68871" name="Text Box 22"/>
            <p:cNvSpPr txBox="1">
              <a:spLocks noChangeArrowheads="1"/>
            </p:cNvSpPr>
            <p:nvPr/>
          </p:nvSpPr>
          <p:spPr bwMode="auto">
            <a:xfrm>
              <a:off x="1339" y="1716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</a:t>
              </a:r>
            </a:p>
          </p:txBody>
        </p:sp>
        <p:sp>
          <p:nvSpPr>
            <p:cNvPr id="68872" name="Text Box 23"/>
            <p:cNvSpPr txBox="1">
              <a:spLocks noChangeArrowheads="1"/>
            </p:cNvSpPr>
            <p:nvPr/>
          </p:nvSpPr>
          <p:spPr bwMode="auto">
            <a:xfrm>
              <a:off x="1338" y="1782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A2</a:t>
              </a:r>
            </a:p>
          </p:txBody>
        </p:sp>
        <p:sp>
          <p:nvSpPr>
            <p:cNvPr id="68873" name="Text Box 24"/>
            <p:cNvSpPr txBox="1">
              <a:spLocks noChangeArrowheads="1"/>
            </p:cNvSpPr>
            <p:nvPr/>
          </p:nvSpPr>
          <p:spPr bwMode="auto">
            <a:xfrm>
              <a:off x="1339" y="184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A3</a:t>
              </a:r>
            </a:p>
          </p:txBody>
        </p:sp>
        <p:sp>
          <p:nvSpPr>
            <p:cNvPr id="68874" name="Text Box 25"/>
            <p:cNvSpPr txBox="1">
              <a:spLocks noChangeArrowheads="1"/>
            </p:cNvSpPr>
            <p:nvPr/>
          </p:nvSpPr>
          <p:spPr bwMode="auto">
            <a:xfrm>
              <a:off x="1335" y="190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A4</a:t>
              </a:r>
            </a:p>
          </p:txBody>
        </p:sp>
        <p:sp>
          <p:nvSpPr>
            <p:cNvPr id="68875" name="Text Box 26"/>
            <p:cNvSpPr txBox="1">
              <a:spLocks noChangeArrowheads="1"/>
            </p:cNvSpPr>
            <p:nvPr/>
          </p:nvSpPr>
          <p:spPr bwMode="auto">
            <a:xfrm>
              <a:off x="1339" y="1966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A5</a:t>
              </a:r>
            </a:p>
          </p:txBody>
        </p:sp>
        <p:sp>
          <p:nvSpPr>
            <p:cNvPr id="68876" name="Text Box 27"/>
            <p:cNvSpPr txBox="1">
              <a:spLocks noChangeArrowheads="1"/>
            </p:cNvSpPr>
            <p:nvPr/>
          </p:nvSpPr>
          <p:spPr bwMode="auto">
            <a:xfrm>
              <a:off x="1338" y="2032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A6</a:t>
              </a:r>
            </a:p>
          </p:txBody>
        </p:sp>
        <p:sp>
          <p:nvSpPr>
            <p:cNvPr id="68877" name="Text Box 28"/>
            <p:cNvSpPr txBox="1">
              <a:spLocks noChangeArrowheads="1"/>
            </p:cNvSpPr>
            <p:nvPr/>
          </p:nvSpPr>
          <p:spPr bwMode="auto">
            <a:xfrm>
              <a:off x="1339" y="209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A7</a:t>
              </a:r>
            </a:p>
          </p:txBody>
        </p:sp>
        <p:sp>
          <p:nvSpPr>
            <p:cNvPr id="68878" name="Text Box 29"/>
            <p:cNvSpPr txBox="1">
              <a:spLocks noChangeArrowheads="1"/>
            </p:cNvSpPr>
            <p:nvPr/>
          </p:nvSpPr>
          <p:spPr bwMode="auto">
            <a:xfrm>
              <a:off x="1332" y="215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A8</a:t>
              </a:r>
            </a:p>
          </p:txBody>
        </p:sp>
        <p:sp>
          <p:nvSpPr>
            <p:cNvPr id="68879" name="Text Box 30"/>
            <p:cNvSpPr txBox="1">
              <a:spLocks noChangeArrowheads="1"/>
            </p:cNvSpPr>
            <p:nvPr/>
          </p:nvSpPr>
          <p:spPr bwMode="auto">
            <a:xfrm>
              <a:off x="1336" y="221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A9</a:t>
              </a:r>
            </a:p>
          </p:txBody>
        </p:sp>
        <p:sp>
          <p:nvSpPr>
            <p:cNvPr id="68880" name="Text Box 31"/>
            <p:cNvSpPr txBox="1">
              <a:spLocks noChangeArrowheads="1"/>
            </p:cNvSpPr>
            <p:nvPr/>
          </p:nvSpPr>
          <p:spPr bwMode="auto">
            <a:xfrm>
              <a:off x="1317" y="2281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A10</a:t>
              </a:r>
            </a:p>
          </p:txBody>
        </p:sp>
        <p:sp>
          <p:nvSpPr>
            <p:cNvPr id="68881" name="Text Box 32"/>
            <p:cNvSpPr txBox="1">
              <a:spLocks noChangeArrowheads="1"/>
            </p:cNvSpPr>
            <p:nvPr/>
          </p:nvSpPr>
          <p:spPr bwMode="auto">
            <a:xfrm>
              <a:off x="1318" y="2346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A11</a:t>
              </a:r>
            </a:p>
          </p:txBody>
        </p:sp>
        <p:sp>
          <p:nvSpPr>
            <p:cNvPr id="68882" name="Text Box 33"/>
            <p:cNvSpPr txBox="1">
              <a:spLocks noChangeArrowheads="1"/>
            </p:cNvSpPr>
            <p:nvPr/>
          </p:nvSpPr>
          <p:spPr bwMode="auto">
            <a:xfrm>
              <a:off x="1314" y="2404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A12</a:t>
              </a:r>
            </a:p>
          </p:txBody>
        </p:sp>
        <p:sp>
          <p:nvSpPr>
            <p:cNvPr id="68883" name="Text Box 34"/>
            <p:cNvSpPr txBox="1">
              <a:spLocks noChangeArrowheads="1"/>
            </p:cNvSpPr>
            <p:nvPr/>
          </p:nvSpPr>
          <p:spPr bwMode="auto">
            <a:xfrm>
              <a:off x="1318" y="2465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A13</a:t>
              </a:r>
            </a:p>
          </p:txBody>
        </p:sp>
        <p:sp>
          <p:nvSpPr>
            <p:cNvPr id="68884" name="Text Box 35"/>
            <p:cNvSpPr txBox="1">
              <a:spLocks noChangeArrowheads="1"/>
            </p:cNvSpPr>
            <p:nvPr/>
          </p:nvSpPr>
          <p:spPr bwMode="auto">
            <a:xfrm>
              <a:off x="1317" y="2531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A14</a:t>
              </a:r>
            </a:p>
          </p:txBody>
        </p:sp>
        <p:sp>
          <p:nvSpPr>
            <p:cNvPr id="68885" name="Line 37"/>
            <p:cNvSpPr>
              <a:spLocks noChangeShapeType="1"/>
            </p:cNvSpPr>
            <p:nvPr/>
          </p:nvSpPr>
          <p:spPr bwMode="auto">
            <a:xfrm flipH="1">
              <a:off x="1756" y="174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86" name="Line 38"/>
            <p:cNvSpPr>
              <a:spLocks noChangeShapeType="1"/>
            </p:cNvSpPr>
            <p:nvPr/>
          </p:nvSpPr>
          <p:spPr bwMode="auto">
            <a:xfrm flipH="1">
              <a:off x="1759" y="1844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87" name="Line 39"/>
            <p:cNvSpPr>
              <a:spLocks noChangeShapeType="1"/>
            </p:cNvSpPr>
            <p:nvPr/>
          </p:nvSpPr>
          <p:spPr bwMode="auto">
            <a:xfrm flipH="1">
              <a:off x="1757" y="198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88" name="Line 40"/>
            <p:cNvSpPr>
              <a:spLocks noChangeShapeType="1"/>
            </p:cNvSpPr>
            <p:nvPr/>
          </p:nvSpPr>
          <p:spPr bwMode="auto">
            <a:xfrm flipH="1">
              <a:off x="1756" y="2135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89" name="Line 41"/>
            <p:cNvSpPr>
              <a:spLocks noChangeShapeType="1"/>
            </p:cNvSpPr>
            <p:nvPr/>
          </p:nvSpPr>
          <p:spPr bwMode="auto">
            <a:xfrm flipH="1">
              <a:off x="1754" y="227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90" name="Line 42"/>
            <p:cNvSpPr>
              <a:spLocks noChangeShapeType="1"/>
            </p:cNvSpPr>
            <p:nvPr/>
          </p:nvSpPr>
          <p:spPr bwMode="auto">
            <a:xfrm flipH="1">
              <a:off x="1756" y="238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91" name="Line 43"/>
            <p:cNvSpPr>
              <a:spLocks noChangeShapeType="1"/>
            </p:cNvSpPr>
            <p:nvPr/>
          </p:nvSpPr>
          <p:spPr bwMode="auto">
            <a:xfrm flipH="1">
              <a:off x="1761" y="250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92" name="Line 44"/>
            <p:cNvSpPr>
              <a:spLocks noChangeShapeType="1"/>
            </p:cNvSpPr>
            <p:nvPr/>
          </p:nvSpPr>
          <p:spPr bwMode="auto">
            <a:xfrm flipH="1">
              <a:off x="1752" y="259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93" name="Text Box 45"/>
            <p:cNvSpPr txBox="1">
              <a:spLocks noChangeArrowheads="1"/>
            </p:cNvSpPr>
            <p:nvPr/>
          </p:nvSpPr>
          <p:spPr bwMode="auto">
            <a:xfrm>
              <a:off x="1599" y="166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D0</a:t>
              </a:r>
            </a:p>
          </p:txBody>
        </p:sp>
        <p:sp>
          <p:nvSpPr>
            <p:cNvPr id="68894" name="Text Box 46"/>
            <p:cNvSpPr txBox="1">
              <a:spLocks noChangeArrowheads="1"/>
            </p:cNvSpPr>
            <p:nvPr/>
          </p:nvSpPr>
          <p:spPr bwMode="auto">
            <a:xfrm>
              <a:off x="1604" y="1780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D1</a:t>
              </a:r>
            </a:p>
          </p:txBody>
        </p:sp>
        <p:sp>
          <p:nvSpPr>
            <p:cNvPr id="68895" name="Text Box 47"/>
            <p:cNvSpPr txBox="1">
              <a:spLocks noChangeArrowheads="1"/>
            </p:cNvSpPr>
            <p:nvPr/>
          </p:nvSpPr>
          <p:spPr bwMode="auto">
            <a:xfrm>
              <a:off x="1603" y="1919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D2</a:t>
              </a:r>
            </a:p>
          </p:txBody>
        </p:sp>
        <p:sp>
          <p:nvSpPr>
            <p:cNvPr id="68896" name="Text Box 48"/>
            <p:cNvSpPr txBox="1">
              <a:spLocks noChangeArrowheads="1"/>
            </p:cNvSpPr>
            <p:nvPr/>
          </p:nvSpPr>
          <p:spPr bwMode="auto">
            <a:xfrm>
              <a:off x="1600" y="206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D3</a:t>
              </a:r>
            </a:p>
          </p:txBody>
        </p:sp>
        <p:sp>
          <p:nvSpPr>
            <p:cNvPr id="68897" name="Text Box 49"/>
            <p:cNvSpPr txBox="1">
              <a:spLocks noChangeArrowheads="1"/>
            </p:cNvSpPr>
            <p:nvPr/>
          </p:nvSpPr>
          <p:spPr bwMode="auto">
            <a:xfrm>
              <a:off x="1602" y="2190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D4</a:t>
              </a:r>
            </a:p>
          </p:txBody>
        </p:sp>
        <p:sp>
          <p:nvSpPr>
            <p:cNvPr id="68898" name="Text Box 50"/>
            <p:cNvSpPr txBox="1">
              <a:spLocks noChangeArrowheads="1"/>
            </p:cNvSpPr>
            <p:nvPr/>
          </p:nvSpPr>
          <p:spPr bwMode="auto">
            <a:xfrm>
              <a:off x="1604" y="2321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D5</a:t>
              </a:r>
            </a:p>
          </p:txBody>
        </p:sp>
        <p:sp>
          <p:nvSpPr>
            <p:cNvPr id="68899" name="Text Box 51"/>
            <p:cNvSpPr txBox="1">
              <a:spLocks noChangeArrowheads="1"/>
            </p:cNvSpPr>
            <p:nvPr/>
          </p:nvSpPr>
          <p:spPr bwMode="auto">
            <a:xfrm>
              <a:off x="1602" y="2431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D6</a:t>
              </a:r>
            </a:p>
          </p:txBody>
        </p:sp>
        <p:sp>
          <p:nvSpPr>
            <p:cNvPr id="68900" name="Text Box 52"/>
            <p:cNvSpPr txBox="1">
              <a:spLocks noChangeArrowheads="1"/>
            </p:cNvSpPr>
            <p:nvPr/>
          </p:nvSpPr>
          <p:spPr bwMode="auto">
            <a:xfrm>
              <a:off x="1602" y="253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D7</a:t>
              </a:r>
            </a:p>
          </p:txBody>
        </p:sp>
        <p:sp>
          <p:nvSpPr>
            <p:cNvPr id="68901" name="Oval 53"/>
            <p:cNvSpPr>
              <a:spLocks noChangeArrowheads="1"/>
            </p:cNvSpPr>
            <p:nvPr/>
          </p:nvSpPr>
          <p:spPr bwMode="auto">
            <a:xfrm>
              <a:off x="1463" y="2755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902" name="Oval 54"/>
            <p:cNvSpPr>
              <a:spLocks noChangeArrowheads="1"/>
            </p:cNvSpPr>
            <p:nvPr/>
          </p:nvSpPr>
          <p:spPr bwMode="auto">
            <a:xfrm>
              <a:off x="1613" y="2752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903" name="Oval 56"/>
            <p:cNvSpPr>
              <a:spLocks noChangeArrowheads="1"/>
            </p:cNvSpPr>
            <p:nvPr/>
          </p:nvSpPr>
          <p:spPr bwMode="auto">
            <a:xfrm>
              <a:off x="1534" y="1581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904" name="Text Box 57"/>
            <p:cNvSpPr txBox="1">
              <a:spLocks noChangeArrowheads="1"/>
            </p:cNvSpPr>
            <p:nvPr/>
          </p:nvSpPr>
          <p:spPr bwMode="auto">
            <a:xfrm>
              <a:off x="1383" y="2643"/>
              <a:ext cx="209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OE</a:t>
              </a:r>
            </a:p>
          </p:txBody>
        </p:sp>
        <p:sp>
          <p:nvSpPr>
            <p:cNvPr id="68905" name="Line 58"/>
            <p:cNvSpPr>
              <a:spLocks noChangeShapeType="1"/>
            </p:cNvSpPr>
            <p:nvPr/>
          </p:nvSpPr>
          <p:spPr bwMode="auto">
            <a:xfrm>
              <a:off x="1450" y="2669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906" name="Text Box 59"/>
            <p:cNvSpPr txBox="1">
              <a:spLocks noChangeArrowheads="1"/>
            </p:cNvSpPr>
            <p:nvPr/>
          </p:nvSpPr>
          <p:spPr bwMode="auto">
            <a:xfrm>
              <a:off x="1529" y="2642"/>
              <a:ext cx="205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CE</a:t>
              </a:r>
            </a:p>
          </p:txBody>
        </p:sp>
        <p:sp>
          <p:nvSpPr>
            <p:cNvPr id="68907" name="Line 60"/>
            <p:cNvSpPr>
              <a:spLocks noChangeShapeType="1"/>
            </p:cNvSpPr>
            <p:nvPr/>
          </p:nvSpPr>
          <p:spPr bwMode="auto">
            <a:xfrm>
              <a:off x="1594" y="2668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908" name="Text Box 62"/>
            <p:cNvSpPr txBox="1">
              <a:spLocks noChangeArrowheads="1"/>
            </p:cNvSpPr>
            <p:nvPr/>
          </p:nvSpPr>
          <p:spPr bwMode="auto">
            <a:xfrm>
              <a:off x="1475" y="1625"/>
              <a:ext cx="17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W</a:t>
              </a:r>
            </a:p>
          </p:txBody>
        </p:sp>
        <p:sp>
          <p:nvSpPr>
            <p:cNvPr id="68909" name="Line 63"/>
            <p:cNvSpPr>
              <a:spLocks noChangeShapeType="1"/>
            </p:cNvSpPr>
            <p:nvPr/>
          </p:nvSpPr>
          <p:spPr bwMode="auto">
            <a:xfrm>
              <a:off x="1527" y="1655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8613" name="Group 65"/>
          <p:cNvGrpSpPr>
            <a:grpSpLocks/>
          </p:cNvGrpSpPr>
          <p:nvPr/>
        </p:nvGrpSpPr>
        <p:grpSpPr bwMode="auto">
          <a:xfrm>
            <a:off x="6524625" y="1843087"/>
            <a:ext cx="1601788" cy="1938338"/>
            <a:chOff x="1052" y="1581"/>
            <a:chExt cx="1009" cy="1221"/>
          </a:xfrm>
        </p:grpSpPr>
        <p:sp>
          <p:nvSpPr>
            <p:cNvPr id="68798" name="Rectangle 66"/>
            <p:cNvSpPr>
              <a:spLocks noChangeArrowheads="1"/>
            </p:cNvSpPr>
            <p:nvPr/>
          </p:nvSpPr>
          <p:spPr bwMode="auto">
            <a:xfrm>
              <a:off x="1359" y="1632"/>
              <a:ext cx="397" cy="112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799" name="Line 67"/>
            <p:cNvSpPr>
              <a:spLocks noChangeShapeType="1"/>
            </p:cNvSpPr>
            <p:nvPr/>
          </p:nvSpPr>
          <p:spPr bwMode="auto">
            <a:xfrm flipH="1">
              <a:off x="1056" y="172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00" name="Line 68"/>
            <p:cNvSpPr>
              <a:spLocks noChangeShapeType="1"/>
            </p:cNvSpPr>
            <p:nvPr/>
          </p:nvSpPr>
          <p:spPr bwMode="auto">
            <a:xfrm flipH="1">
              <a:off x="1055" y="179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01" name="Line 69"/>
            <p:cNvSpPr>
              <a:spLocks noChangeShapeType="1"/>
            </p:cNvSpPr>
            <p:nvPr/>
          </p:nvSpPr>
          <p:spPr bwMode="auto">
            <a:xfrm flipH="1">
              <a:off x="1056" y="1849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02" name="Line 70"/>
            <p:cNvSpPr>
              <a:spLocks noChangeShapeType="1"/>
            </p:cNvSpPr>
            <p:nvPr/>
          </p:nvSpPr>
          <p:spPr bwMode="auto">
            <a:xfrm flipH="1">
              <a:off x="1055" y="191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03" name="Line 71"/>
            <p:cNvSpPr>
              <a:spLocks noChangeShapeType="1"/>
            </p:cNvSpPr>
            <p:nvPr/>
          </p:nvSpPr>
          <p:spPr bwMode="auto">
            <a:xfrm flipH="1">
              <a:off x="1053" y="197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04" name="Line 72"/>
            <p:cNvSpPr>
              <a:spLocks noChangeShapeType="1"/>
            </p:cNvSpPr>
            <p:nvPr/>
          </p:nvSpPr>
          <p:spPr bwMode="auto">
            <a:xfrm flipH="1">
              <a:off x="1052" y="203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05" name="Line 73"/>
            <p:cNvSpPr>
              <a:spLocks noChangeShapeType="1"/>
            </p:cNvSpPr>
            <p:nvPr/>
          </p:nvSpPr>
          <p:spPr bwMode="auto">
            <a:xfrm flipH="1">
              <a:off x="1053" y="209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06" name="Line 74"/>
            <p:cNvSpPr>
              <a:spLocks noChangeShapeType="1"/>
            </p:cNvSpPr>
            <p:nvPr/>
          </p:nvSpPr>
          <p:spPr bwMode="auto">
            <a:xfrm flipH="1">
              <a:off x="1052" y="215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07" name="Line 75"/>
            <p:cNvSpPr>
              <a:spLocks noChangeShapeType="1"/>
            </p:cNvSpPr>
            <p:nvPr/>
          </p:nvSpPr>
          <p:spPr bwMode="auto">
            <a:xfrm flipH="1">
              <a:off x="1056" y="221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08" name="Line 76"/>
            <p:cNvSpPr>
              <a:spLocks noChangeShapeType="1"/>
            </p:cNvSpPr>
            <p:nvPr/>
          </p:nvSpPr>
          <p:spPr bwMode="auto">
            <a:xfrm flipH="1">
              <a:off x="1055" y="228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09" name="Line 77"/>
            <p:cNvSpPr>
              <a:spLocks noChangeShapeType="1"/>
            </p:cNvSpPr>
            <p:nvPr/>
          </p:nvSpPr>
          <p:spPr bwMode="auto">
            <a:xfrm flipH="1">
              <a:off x="1056" y="2339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10" name="Line 78"/>
            <p:cNvSpPr>
              <a:spLocks noChangeShapeType="1"/>
            </p:cNvSpPr>
            <p:nvPr/>
          </p:nvSpPr>
          <p:spPr bwMode="auto">
            <a:xfrm flipH="1">
              <a:off x="1055" y="240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11" name="Line 79"/>
            <p:cNvSpPr>
              <a:spLocks noChangeShapeType="1"/>
            </p:cNvSpPr>
            <p:nvPr/>
          </p:nvSpPr>
          <p:spPr bwMode="auto">
            <a:xfrm flipH="1">
              <a:off x="1053" y="247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12" name="Line 80"/>
            <p:cNvSpPr>
              <a:spLocks noChangeShapeType="1"/>
            </p:cNvSpPr>
            <p:nvPr/>
          </p:nvSpPr>
          <p:spPr bwMode="auto">
            <a:xfrm flipH="1">
              <a:off x="1052" y="253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13" name="Line 81"/>
            <p:cNvSpPr>
              <a:spLocks noChangeShapeType="1"/>
            </p:cNvSpPr>
            <p:nvPr/>
          </p:nvSpPr>
          <p:spPr bwMode="auto">
            <a:xfrm flipH="1">
              <a:off x="1057" y="259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14" name="Text Box 82"/>
            <p:cNvSpPr txBox="1">
              <a:spLocks noChangeArrowheads="1"/>
            </p:cNvSpPr>
            <p:nvPr/>
          </p:nvSpPr>
          <p:spPr bwMode="auto">
            <a:xfrm>
              <a:off x="1335" y="165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A0</a:t>
              </a:r>
            </a:p>
          </p:txBody>
        </p:sp>
        <p:sp>
          <p:nvSpPr>
            <p:cNvPr id="68815" name="Text Box 83"/>
            <p:cNvSpPr txBox="1">
              <a:spLocks noChangeArrowheads="1"/>
            </p:cNvSpPr>
            <p:nvPr/>
          </p:nvSpPr>
          <p:spPr bwMode="auto">
            <a:xfrm>
              <a:off x="1339" y="1716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</a:t>
              </a:r>
            </a:p>
          </p:txBody>
        </p:sp>
        <p:sp>
          <p:nvSpPr>
            <p:cNvPr id="68816" name="Text Box 84"/>
            <p:cNvSpPr txBox="1">
              <a:spLocks noChangeArrowheads="1"/>
            </p:cNvSpPr>
            <p:nvPr/>
          </p:nvSpPr>
          <p:spPr bwMode="auto">
            <a:xfrm>
              <a:off x="1338" y="1782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A2</a:t>
              </a:r>
            </a:p>
          </p:txBody>
        </p:sp>
        <p:sp>
          <p:nvSpPr>
            <p:cNvPr id="68817" name="Text Box 85"/>
            <p:cNvSpPr txBox="1">
              <a:spLocks noChangeArrowheads="1"/>
            </p:cNvSpPr>
            <p:nvPr/>
          </p:nvSpPr>
          <p:spPr bwMode="auto">
            <a:xfrm>
              <a:off x="1339" y="184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A3</a:t>
              </a:r>
            </a:p>
          </p:txBody>
        </p:sp>
        <p:sp>
          <p:nvSpPr>
            <p:cNvPr id="68818" name="Text Box 86"/>
            <p:cNvSpPr txBox="1">
              <a:spLocks noChangeArrowheads="1"/>
            </p:cNvSpPr>
            <p:nvPr/>
          </p:nvSpPr>
          <p:spPr bwMode="auto">
            <a:xfrm>
              <a:off x="1335" y="190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A4</a:t>
              </a:r>
            </a:p>
          </p:txBody>
        </p:sp>
        <p:sp>
          <p:nvSpPr>
            <p:cNvPr id="68819" name="Text Box 87"/>
            <p:cNvSpPr txBox="1">
              <a:spLocks noChangeArrowheads="1"/>
            </p:cNvSpPr>
            <p:nvPr/>
          </p:nvSpPr>
          <p:spPr bwMode="auto">
            <a:xfrm>
              <a:off x="1339" y="1966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A5</a:t>
              </a:r>
            </a:p>
          </p:txBody>
        </p:sp>
        <p:sp>
          <p:nvSpPr>
            <p:cNvPr id="68820" name="Text Box 88"/>
            <p:cNvSpPr txBox="1">
              <a:spLocks noChangeArrowheads="1"/>
            </p:cNvSpPr>
            <p:nvPr/>
          </p:nvSpPr>
          <p:spPr bwMode="auto">
            <a:xfrm>
              <a:off x="1338" y="2032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A6</a:t>
              </a:r>
            </a:p>
          </p:txBody>
        </p:sp>
        <p:sp>
          <p:nvSpPr>
            <p:cNvPr id="68821" name="Text Box 89"/>
            <p:cNvSpPr txBox="1">
              <a:spLocks noChangeArrowheads="1"/>
            </p:cNvSpPr>
            <p:nvPr/>
          </p:nvSpPr>
          <p:spPr bwMode="auto">
            <a:xfrm>
              <a:off x="1339" y="209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A7</a:t>
              </a:r>
            </a:p>
          </p:txBody>
        </p:sp>
        <p:sp>
          <p:nvSpPr>
            <p:cNvPr id="68822" name="Text Box 90"/>
            <p:cNvSpPr txBox="1">
              <a:spLocks noChangeArrowheads="1"/>
            </p:cNvSpPr>
            <p:nvPr/>
          </p:nvSpPr>
          <p:spPr bwMode="auto">
            <a:xfrm>
              <a:off x="1332" y="215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A8</a:t>
              </a:r>
            </a:p>
          </p:txBody>
        </p:sp>
        <p:sp>
          <p:nvSpPr>
            <p:cNvPr id="68823" name="Text Box 91"/>
            <p:cNvSpPr txBox="1">
              <a:spLocks noChangeArrowheads="1"/>
            </p:cNvSpPr>
            <p:nvPr/>
          </p:nvSpPr>
          <p:spPr bwMode="auto">
            <a:xfrm>
              <a:off x="1336" y="221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A9</a:t>
              </a:r>
            </a:p>
          </p:txBody>
        </p:sp>
        <p:sp>
          <p:nvSpPr>
            <p:cNvPr id="68824" name="Text Box 92"/>
            <p:cNvSpPr txBox="1">
              <a:spLocks noChangeArrowheads="1"/>
            </p:cNvSpPr>
            <p:nvPr/>
          </p:nvSpPr>
          <p:spPr bwMode="auto">
            <a:xfrm>
              <a:off x="1317" y="2281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A10</a:t>
              </a:r>
            </a:p>
          </p:txBody>
        </p:sp>
        <p:sp>
          <p:nvSpPr>
            <p:cNvPr id="68825" name="Text Box 93"/>
            <p:cNvSpPr txBox="1">
              <a:spLocks noChangeArrowheads="1"/>
            </p:cNvSpPr>
            <p:nvPr/>
          </p:nvSpPr>
          <p:spPr bwMode="auto">
            <a:xfrm>
              <a:off x="1318" y="2346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A11</a:t>
              </a:r>
            </a:p>
          </p:txBody>
        </p:sp>
        <p:sp>
          <p:nvSpPr>
            <p:cNvPr id="68826" name="Text Box 94"/>
            <p:cNvSpPr txBox="1">
              <a:spLocks noChangeArrowheads="1"/>
            </p:cNvSpPr>
            <p:nvPr/>
          </p:nvSpPr>
          <p:spPr bwMode="auto">
            <a:xfrm>
              <a:off x="1314" y="2404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A12</a:t>
              </a:r>
            </a:p>
          </p:txBody>
        </p:sp>
        <p:sp>
          <p:nvSpPr>
            <p:cNvPr id="68827" name="Text Box 95"/>
            <p:cNvSpPr txBox="1">
              <a:spLocks noChangeArrowheads="1"/>
            </p:cNvSpPr>
            <p:nvPr/>
          </p:nvSpPr>
          <p:spPr bwMode="auto">
            <a:xfrm>
              <a:off x="1318" y="2465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A13</a:t>
              </a:r>
            </a:p>
          </p:txBody>
        </p:sp>
        <p:sp>
          <p:nvSpPr>
            <p:cNvPr id="68828" name="Text Box 96"/>
            <p:cNvSpPr txBox="1">
              <a:spLocks noChangeArrowheads="1"/>
            </p:cNvSpPr>
            <p:nvPr/>
          </p:nvSpPr>
          <p:spPr bwMode="auto">
            <a:xfrm>
              <a:off x="1317" y="2531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A14</a:t>
              </a:r>
            </a:p>
          </p:txBody>
        </p:sp>
        <p:sp>
          <p:nvSpPr>
            <p:cNvPr id="68829" name="Line 97"/>
            <p:cNvSpPr>
              <a:spLocks noChangeShapeType="1"/>
            </p:cNvSpPr>
            <p:nvPr/>
          </p:nvSpPr>
          <p:spPr bwMode="auto">
            <a:xfrm flipH="1">
              <a:off x="1756" y="174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30" name="Line 98"/>
            <p:cNvSpPr>
              <a:spLocks noChangeShapeType="1"/>
            </p:cNvSpPr>
            <p:nvPr/>
          </p:nvSpPr>
          <p:spPr bwMode="auto">
            <a:xfrm flipH="1">
              <a:off x="1759" y="1844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31" name="Line 99"/>
            <p:cNvSpPr>
              <a:spLocks noChangeShapeType="1"/>
            </p:cNvSpPr>
            <p:nvPr/>
          </p:nvSpPr>
          <p:spPr bwMode="auto">
            <a:xfrm flipH="1">
              <a:off x="1757" y="198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32" name="Line 100"/>
            <p:cNvSpPr>
              <a:spLocks noChangeShapeType="1"/>
            </p:cNvSpPr>
            <p:nvPr/>
          </p:nvSpPr>
          <p:spPr bwMode="auto">
            <a:xfrm flipH="1">
              <a:off x="1756" y="2135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33" name="Line 101"/>
            <p:cNvSpPr>
              <a:spLocks noChangeShapeType="1"/>
            </p:cNvSpPr>
            <p:nvPr/>
          </p:nvSpPr>
          <p:spPr bwMode="auto">
            <a:xfrm flipH="1">
              <a:off x="1754" y="227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34" name="Line 102"/>
            <p:cNvSpPr>
              <a:spLocks noChangeShapeType="1"/>
            </p:cNvSpPr>
            <p:nvPr/>
          </p:nvSpPr>
          <p:spPr bwMode="auto">
            <a:xfrm flipH="1">
              <a:off x="1756" y="238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35" name="Line 103"/>
            <p:cNvSpPr>
              <a:spLocks noChangeShapeType="1"/>
            </p:cNvSpPr>
            <p:nvPr/>
          </p:nvSpPr>
          <p:spPr bwMode="auto">
            <a:xfrm flipH="1">
              <a:off x="1761" y="250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36" name="Line 104"/>
            <p:cNvSpPr>
              <a:spLocks noChangeShapeType="1"/>
            </p:cNvSpPr>
            <p:nvPr/>
          </p:nvSpPr>
          <p:spPr bwMode="auto">
            <a:xfrm flipH="1">
              <a:off x="1752" y="259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37" name="Text Box 105"/>
            <p:cNvSpPr txBox="1">
              <a:spLocks noChangeArrowheads="1"/>
            </p:cNvSpPr>
            <p:nvPr/>
          </p:nvSpPr>
          <p:spPr bwMode="auto">
            <a:xfrm>
              <a:off x="1599" y="166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D0</a:t>
              </a:r>
            </a:p>
          </p:txBody>
        </p:sp>
        <p:sp>
          <p:nvSpPr>
            <p:cNvPr id="68838" name="Text Box 106"/>
            <p:cNvSpPr txBox="1">
              <a:spLocks noChangeArrowheads="1"/>
            </p:cNvSpPr>
            <p:nvPr/>
          </p:nvSpPr>
          <p:spPr bwMode="auto">
            <a:xfrm>
              <a:off x="1604" y="1780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D1</a:t>
              </a:r>
            </a:p>
          </p:txBody>
        </p:sp>
        <p:sp>
          <p:nvSpPr>
            <p:cNvPr id="68839" name="Text Box 107"/>
            <p:cNvSpPr txBox="1">
              <a:spLocks noChangeArrowheads="1"/>
            </p:cNvSpPr>
            <p:nvPr/>
          </p:nvSpPr>
          <p:spPr bwMode="auto">
            <a:xfrm>
              <a:off x="1603" y="1919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D2</a:t>
              </a:r>
            </a:p>
          </p:txBody>
        </p:sp>
        <p:sp>
          <p:nvSpPr>
            <p:cNvPr id="68840" name="Text Box 108"/>
            <p:cNvSpPr txBox="1">
              <a:spLocks noChangeArrowheads="1"/>
            </p:cNvSpPr>
            <p:nvPr/>
          </p:nvSpPr>
          <p:spPr bwMode="auto">
            <a:xfrm>
              <a:off x="1600" y="206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D3</a:t>
              </a:r>
            </a:p>
          </p:txBody>
        </p:sp>
        <p:sp>
          <p:nvSpPr>
            <p:cNvPr id="68841" name="Text Box 109"/>
            <p:cNvSpPr txBox="1">
              <a:spLocks noChangeArrowheads="1"/>
            </p:cNvSpPr>
            <p:nvPr/>
          </p:nvSpPr>
          <p:spPr bwMode="auto">
            <a:xfrm>
              <a:off x="1602" y="2190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D4</a:t>
              </a:r>
            </a:p>
          </p:txBody>
        </p:sp>
        <p:sp>
          <p:nvSpPr>
            <p:cNvPr id="68842" name="Text Box 110"/>
            <p:cNvSpPr txBox="1">
              <a:spLocks noChangeArrowheads="1"/>
            </p:cNvSpPr>
            <p:nvPr/>
          </p:nvSpPr>
          <p:spPr bwMode="auto">
            <a:xfrm>
              <a:off x="1604" y="2321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D5</a:t>
              </a:r>
            </a:p>
          </p:txBody>
        </p:sp>
        <p:sp>
          <p:nvSpPr>
            <p:cNvPr id="68843" name="Text Box 111"/>
            <p:cNvSpPr txBox="1">
              <a:spLocks noChangeArrowheads="1"/>
            </p:cNvSpPr>
            <p:nvPr/>
          </p:nvSpPr>
          <p:spPr bwMode="auto">
            <a:xfrm>
              <a:off x="1602" y="2431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D6</a:t>
              </a:r>
            </a:p>
          </p:txBody>
        </p:sp>
        <p:sp>
          <p:nvSpPr>
            <p:cNvPr id="68844" name="Text Box 112"/>
            <p:cNvSpPr txBox="1">
              <a:spLocks noChangeArrowheads="1"/>
            </p:cNvSpPr>
            <p:nvPr/>
          </p:nvSpPr>
          <p:spPr bwMode="auto">
            <a:xfrm>
              <a:off x="1602" y="253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D7</a:t>
              </a:r>
            </a:p>
          </p:txBody>
        </p:sp>
        <p:sp>
          <p:nvSpPr>
            <p:cNvPr id="68845" name="Oval 113"/>
            <p:cNvSpPr>
              <a:spLocks noChangeArrowheads="1"/>
            </p:cNvSpPr>
            <p:nvPr/>
          </p:nvSpPr>
          <p:spPr bwMode="auto">
            <a:xfrm>
              <a:off x="1463" y="2755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846" name="Oval 114"/>
            <p:cNvSpPr>
              <a:spLocks noChangeArrowheads="1"/>
            </p:cNvSpPr>
            <p:nvPr/>
          </p:nvSpPr>
          <p:spPr bwMode="auto">
            <a:xfrm>
              <a:off x="1613" y="2752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847" name="Oval 115"/>
            <p:cNvSpPr>
              <a:spLocks noChangeArrowheads="1"/>
            </p:cNvSpPr>
            <p:nvPr/>
          </p:nvSpPr>
          <p:spPr bwMode="auto">
            <a:xfrm>
              <a:off x="1534" y="1581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848" name="Text Box 116"/>
            <p:cNvSpPr txBox="1">
              <a:spLocks noChangeArrowheads="1"/>
            </p:cNvSpPr>
            <p:nvPr/>
          </p:nvSpPr>
          <p:spPr bwMode="auto">
            <a:xfrm>
              <a:off x="1383" y="2643"/>
              <a:ext cx="209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OE</a:t>
              </a:r>
            </a:p>
          </p:txBody>
        </p:sp>
        <p:sp>
          <p:nvSpPr>
            <p:cNvPr id="68849" name="Line 117"/>
            <p:cNvSpPr>
              <a:spLocks noChangeShapeType="1"/>
            </p:cNvSpPr>
            <p:nvPr/>
          </p:nvSpPr>
          <p:spPr bwMode="auto">
            <a:xfrm>
              <a:off x="1450" y="2669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50" name="Text Box 118"/>
            <p:cNvSpPr txBox="1">
              <a:spLocks noChangeArrowheads="1"/>
            </p:cNvSpPr>
            <p:nvPr/>
          </p:nvSpPr>
          <p:spPr bwMode="auto">
            <a:xfrm>
              <a:off x="1529" y="2642"/>
              <a:ext cx="205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CE</a:t>
              </a:r>
            </a:p>
          </p:txBody>
        </p:sp>
        <p:sp>
          <p:nvSpPr>
            <p:cNvPr id="68851" name="Line 119"/>
            <p:cNvSpPr>
              <a:spLocks noChangeShapeType="1"/>
            </p:cNvSpPr>
            <p:nvPr/>
          </p:nvSpPr>
          <p:spPr bwMode="auto">
            <a:xfrm>
              <a:off x="1594" y="2668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52" name="Text Box 120"/>
            <p:cNvSpPr txBox="1">
              <a:spLocks noChangeArrowheads="1"/>
            </p:cNvSpPr>
            <p:nvPr/>
          </p:nvSpPr>
          <p:spPr bwMode="auto">
            <a:xfrm>
              <a:off x="1475" y="1625"/>
              <a:ext cx="17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W</a:t>
              </a:r>
            </a:p>
          </p:txBody>
        </p:sp>
        <p:sp>
          <p:nvSpPr>
            <p:cNvPr id="68853" name="Line 121"/>
            <p:cNvSpPr>
              <a:spLocks noChangeShapeType="1"/>
            </p:cNvSpPr>
            <p:nvPr/>
          </p:nvSpPr>
          <p:spPr bwMode="auto">
            <a:xfrm>
              <a:off x="1527" y="1655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8614" name="Group 122"/>
          <p:cNvGrpSpPr>
            <a:grpSpLocks/>
          </p:cNvGrpSpPr>
          <p:nvPr/>
        </p:nvGrpSpPr>
        <p:grpSpPr bwMode="auto">
          <a:xfrm>
            <a:off x="4532313" y="4037012"/>
            <a:ext cx="1601787" cy="1938338"/>
            <a:chOff x="1052" y="1581"/>
            <a:chExt cx="1009" cy="1221"/>
          </a:xfrm>
        </p:grpSpPr>
        <p:sp>
          <p:nvSpPr>
            <p:cNvPr id="68742" name="Rectangle 123"/>
            <p:cNvSpPr>
              <a:spLocks noChangeArrowheads="1"/>
            </p:cNvSpPr>
            <p:nvPr/>
          </p:nvSpPr>
          <p:spPr bwMode="auto">
            <a:xfrm>
              <a:off x="1359" y="1632"/>
              <a:ext cx="397" cy="112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743" name="Line 124"/>
            <p:cNvSpPr>
              <a:spLocks noChangeShapeType="1"/>
            </p:cNvSpPr>
            <p:nvPr/>
          </p:nvSpPr>
          <p:spPr bwMode="auto">
            <a:xfrm flipH="1">
              <a:off x="1056" y="172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44" name="Line 125"/>
            <p:cNvSpPr>
              <a:spLocks noChangeShapeType="1"/>
            </p:cNvSpPr>
            <p:nvPr/>
          </p:nvSpPr>
          <p:spPr bwMode="auto">
            <a:xfrm flipH="1">
              <a:off x="1055" y="179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45" name="Line 126"/>
            <p:cNvSpPr>
              <a:spLocks noChangeShapeType="1"/>
            </p:cNvSpPr>
            <p:nvPr/>
          </p:nvSpPr>
          <p:spPr bwMode="auto">
            <a:xfrm flipH="1">
              <a:off x="1056" y="1849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46" name="Line 127"/>
            <p:cNvSpPr>
              <a:spLocks noChangeShapeType="1"/>
            </p:cNvSpPr>
            <p:nvPr/>
          </p:nvSpPr>
          <p:spPr bwMode="auto">
            <a:xfrm flipH="1">
              <a:off x="1055" y="191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47" name="Line 128"/>
            <p:cNvSpPr>
              <a:spLocks noChangeShapeType="1"/>
            </p:cNvSpPr>
            <p:nvPr/>
          </p:nvSpPr>
          <p:spPr bwMode="auto">
            <a:xfrm flipH="1">
              <a:off x="1053" y="197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48" name="Line 129"/>
            <p:cNvSpPr>
              <a:spLocks noChangeShapeType="1"/>
            </p:cNvSpPr>
            <p:nvPr/>
          </p:nvSpPr>
          <p:spPr bwMode="auto">
            <a:xfrm flipH="1">
              <a:off x="1052" y="203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49" name="Line 130"/>
            <p:cNvSpPr>
              <a:spLocks noChangeShapeType="1"/>
            </p:cNvSpPr>
            <p:nvPr/>
          </p:nvSpPr>
          <p:spPr bwMode="auto">
            <a:xfrm flipH="1">
              <a:off x="1053" y="209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50" name="Line 131"/>
            <p:cNvSpPr>
              <a:spLocks noChangeShapeType="1"/>
            </p:cNvSpPr>
            <p:nvPr/>
          </p:nvSpPr>
          <p:spPr bwMode="auto">
            <a:xfrm flipH="1">
              <a:off x="1052" y="215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51" name="Line 132"/>
            <p:cNvSpPr>
              <a:spLocks noChangeShapeType="1"/>
            </p:cNvSpPr>
            <p:nvPr/>
          </p:nvSpPr>
          <p:spPr bwMode="auto">
            <a:xfrm flipH="1">
              <a:off x="1056" y="221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52" name="Line 133"/>
            <p:cNvSpPr>
              <a:spLocks noChangeShapeType="1"/>
            </p:cNvSpPr>
            <p:nvPr/>
          </p:nvSpPr>
          <p:spPr bwMode="auto">
            <a:xfrm flipH="1">
              <a:off x="1055" y="228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53" name="Line 134"/>
            <p:cNvSpPr>
              <a:spLocks noChangeShapeType="1"/>
            </p:cNvSpPr>
            <p:nvPr/>
          </p:nvSpPr>
          <p:spPr bwMode="auto">
            <a:xfrm flipH="1">
              <a:off x="1056" y="2339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54" name="Line 135"/>
            <p:cNvSpPr>
              <a:spLocks noChangeShapeType="1"/>
            </p:cNvSpPr>
            <p:nvPr/>
          </p:nvSpPr>
          <p:spPr bwMode="auto">
            <a:xfrm flipH="1">
              <a:off x="1055" y="240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55" name="Line 136"/>
            <p:cNvSpPr>
              <a:spLocks noChangeShapeType="1"/>
            </p:cNvSpPr>
            <p:nvPr/>
          </p:nvSpPr>
          <p:spPr bwMode="auto">
            <a:xfrm flipH="1">
              <a:off x="1053" y="247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56" name="Line 137"/>
            <p:cNvSpPr>
              <a:spLocks noChangeShapeType="1"/>
            </p:cNvSpPr>
            <p:nvPr/>
          </p:nvSpPr>
          <p:spPr bwMode="auto">
            <a:xfrm flipH="1">
              <a:off x="1052" y="253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57" name="Line 138"/>
            <p:cNvSpPr>
              <a:spLocks noChangeShapeType="1"/>
            </p:cNvSpPr>
            <p:nvPr/>
          </p:nvSpPr>
          <p:spPr bwMode="auto">
            <a:xfrm flipH="1">
              <a:off x="1057" y="259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58" name="Text Box 139"/>
            <p:cNvSpPr txBox="1">
              <a:spLocks noChangeArrowheads="1"/>
            </p:cNvSpPr>
            <p:nvPr/>
          </p:nvSpPr>
          <p:spPr bwMode="auto">
            <a:xfrm>
              <a:off x="1335" y="165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A0</a:t>
              </a:r>
            </a:p>
          </p:txBody>
        </p:sp>
        <p:sp>
          <p:nvSpPr>
            <p:cNvPr id="68759" name="Text Box 140"/>
            <p:cNvSpPr txBox="1">
              <a:spLocks noChangeArrowheads="1"/>
            </p:cNvSpPr>
            <p:nvPr/>
          </p:nvSpPr>
          <p:spPr bwMode="auto">
            <a:xfrm>
              <a:off x="1339" y="1716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</a:t>
              </a:r>
            </a:p>
          </p:txBody>
        </p:sp>
        <p:sp>
          <p:nvSpPr>
            <p:cNvPr id="68760" name="Text Box 141"/>
            <p:cNvSpPr txBox="1">
              <a:spLocks noChangeArrowheads="1"/>
            </p:cNvSpPr>
            <p:nvPr/>
          </p:nvSpPr>
          <p:spPr bwMode="auto">
            <a:xfrm>
              <a:off x="1338" y="1782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A2</a:t>
              </a:r>
            </a:p>
          </p:txBody>
        </p:sp>
        <p:sp>
          <p:nvSpPr>
            <p:cNvPr id="68761" name="Text Box 142"/>
            <p:cNvSpPr txBox="1">
              <a:spLocks noChangeArrowheads="1"/>
            </p:cNvSpPr>
            <p:nvPr/>
          </p:nvSpPr>
          <p:spPr bwMode="auto">
            <a:xfrm>
              <a:off x="1339" y="184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A3</a:t>
              </a:r>
            </a:p>
          </p:txBody>
        </p:sp>
        <p:sp>
          <p:nvSpPr>
            <p:cNvPr id="68762" name="Text Box 143"/>
            <p:cNvSpPr txBox="1">
              <a:spLocks noChangeArrowheads="1"/>
            </p:cNvSpPr>
            <p:nvPr/>
          </p:nvSpPr>
          <p:spPr bwMode="auto">
            <a:xfrm>
              <a:off x="1335" y="190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A4</a:t>
              </a:r>
            </a:p>
          </p:txBody>
        </p:sp>
        <p:sp>
          <p:nvSpPr>
            <p:cNvPr id="68763" name="Text Box 144"/>
            <p:cNvSpPr txBox="1">
              <a:spLocks noChangeArrowheads="1"/>
            </p:cNvSpPr>
            <p:nvPr/>
          </p:nvSpPr>
          <p:spPr bwMode="auto">
            <a:xfrm>
              <a:off x="1339" y="1966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A5</a:t>
              </a:r>
            </a:p>
          </p:txBody>
        </p:sp>
        <p:sp>
          <p:nvSpPr>
            <p:cNvPr id="68764" name="Text Box 145"/>
            <p:cNvSpPr txBox="1">
              <a:spLocks noChangeArrowheads="1"/>
            </p:cNvSpPr>
            <p:nvPr/>
          </p:nvSpPr>
          <p:spPr bwMode="auto">
            <a:xfrm>
              <a:off x="1338" y="2032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A6</a:t>
              </a:r>
            </a:p>
          </p:txBody>
        </p:sp>
        <p:sp>
          <p:nvSpPr>
            <p:cNvPr id="68765" name="Text Box 146"/>
            <p:cNvSpPr txBox="1">
              <a:spLocks noChangeArrowheads="1"/>
            </p:cNvSpPr>
            <p:nvPr/>
          </p:nvSpPr>
          <p:spPr bwMode="auto">
            <a:xfrm>
              <a:off x="1339" y="209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A7</a:t>
              </a:r>
            </a:p>
          </p:txBody>
        </p:sp>
        <p:sp>
          <p:nvSpPr>
            <p:cNvPr id="68766" name="Text Box 147"/>
            <p:cNvSpPr txBox="1">
              <a:spLocks noChangeArrowheads="1"/>
            </p:cNvSpPr>
            <p:nvPr/>
          </p:nvSpPr>
          <p:spPr bwMode="auto">
            <a:xfrm>
              <a:off x="1332" y="215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A8</a:t>
              </a:r>
            </a:p>
          </p:txBody>
        </p:sp>
        <p:sp>
          <p:nvSpPr>
            <p:cNvPr id="68767" name="Text Box 148"/>
            <p:cNvSpPr txBox="1">
              <a:spLocks noChangeArrowheads="1"/>
            </p:cNvSpPr>
            <p:nvPr/>
          </p:nvSpPr>
          <p:spPr bwMode="auto">
            <a:xfrm>
              <a:off x="1336" y="221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A9</a:t>
              </a:r>
            </a:p>
          </p:txBody>
        </p:sp>
        <p:sp>
          <p:nvSpPr>
            <p:cNvPr id="68768" name="Text Box 149"/>
            <p:cNvSpPr txBox="1">
              <a:spLocks noChangeArrowheads="1"/>
            </p:cNvSpPr>
            <p:nvPr/>
          </p:nvSpPr>
          <p:spPr bwMode="auto">
            <a:xfrm>
              <a:off x="1317" y="2281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A10</a:t>
              </a:r>
            </a:p>
          </p:txBody>
        </p:sp>
        <p:sp>
          <p:nvSpPr>
            <p:cNvPr id="68769" name="Text Box 150"/>
            <p:cNvSpPr txBox="1">
              <a:spLocks noChangeArrowheads="1"/>
            </p:cNvSpPr>
            <p:nvPr/>
          </p:nvSpPr>
          <p:spPr bwMode="auto">
            <a:xfrm>
              <a:off x="1318" y="2346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A11</a:t>
              </a:r>
            </a:p>
          </p:txBody>
        </p:sp>
        <p:sp>
          <p:nvSpPr>
            <p:cNvPr id="68770" name="Text Box 151"/>
            <p:cNvSpPr txBox="1">
              <a:spLocks noChangeArrowheads="1"/>
            </p:cNvSpPr>
            <p:nvPr/>
          </p:nvSpPr>
          <p:spPr bwMode="auto">
            <a:xfrm>
              <a:off x="1314" y="2404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A12</a:t>
              </a:r>
            </a:p>
          </p:txBody>
        </p:sp>
        <p:sp>
          <p:nvSpPr>
            <p:cNvPr id="68771" name="Text Box 152"/>
            <p:cNvSpPr txBox="1">
              <a:spLocks noChangeArrowheads="1"/>
            </p:cNvSpPr>
            <p:nvPr/>
          </p:nvSpPr>
          <p:spPr bwMode="auto">
            <a:xfrm>
              <a:off x="1318" y="2465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A13</a:t>
              </a:r>
            </a:p>
          </p:txBody>
        </p:sp>
        <p:sp>
          <p:nvSpPr>
            <p:cNvPr id="68772" name="Text Box 153"/>
            <p:cNvSpPr txBox="1">
              <a:spLocks noChangeArrowheads="1"/>
            </p:cNvSpPr>
            <p:nvPr/>
          </p:nvSpPr>
          <p:spPr bwMode="auto">
            <a:xfrm>
              <a:off x="1317" y="2531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A14</a:t>
              </a:r>
            </a:p>
          </p:txBody>
        </p:sp>
        <p:sp>
          <p:nvSpPr>
            <p:cNvPr id="68773" name="Line 154"/>
            <p:cNvSpPr>
              <a:spLocks noChangeShapeType="1"/>
            </p:cNvSpPr>
            <p:nvPr/>
          </p:nvSpPr>
          <p:spPr bwMode="auto">
            <a:xfrm flipH="1">
              <a:off x="1756" y="174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74" name="Line 155"/>
            <p:cNvSpPr>
              <a:spLocks noChangeShapeType="1"/>
            </p:cNvSpPr>
            <p:nvPr/>
          </p:nvSpPr>
          <p:spPr bwMode="auto">
            <a:xfrm flipH="1">
              <a:off x="1759" y="1844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75" name="Line 156"/>
            <p:cNvSpPr>
              <a:spLocks noChangeShapeType="1"/>
            </p:cNvSpPr>
            <p:nvPr/>
          </p:nvSpPr>
          <p:spPr bwMode="auto">
            <a:xfrm flipH="1">
              <a:off x="1757" y="198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76" name="Line 157"/>
            <p:cNvSpPr>
              <a:spLocks noChangeShapeType="1"/>
            </p:cNvSpPr>
            <p:nvPr/>
          </p:nvSpPr>
          <p:spPr bwMode="auto">
            <a:xfrm flipH="1">
              <a:off x="1756" y="2135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77" name="Line 158"/>
            <p:cNvSpPr>
              <a:spLocks noChangeShapeType="1"/>
            </p:cNvSpPr>
            <p:nvPr/>
          </p:nvSpPr>
          <p:spPr bwMode="auto">
            <a:xfrm flipH="1">
              <a:off x="1754" y="227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78" name="Line 159"/>
            <p:cNvSpPr>
              <a:spLocks noChangeShapeType="1"/>
            </p:cNvSpPr>
            <p:nvPr/>
          </p:nvSpPr>
          <p:spPr bwMode="auto">
            <a:xfrm flipH="1">
              <a:off x="1756" y="238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79" name="Line 160"/>
            <p:cNvSpPr>
              <a:spLocks noChangeShapeType="1"/>
            </p:cNvSpPr>
            <p:nvPr/>
          </p:nvSpPr>
          <p:spPr bwMode="auto">
            <a:xfrm flipH="1">
              <a:off x="1761" y="250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80" name="Line 161"/>
            <p:cNvSpPr>
              <a:spLocks noChangeShapeType="1"/>
            </p:cNvSpPr>
            <p:nvPr/>
          </p:nvSpPr>
          <p:spPr bwMode="auto">
            <a:xfrm flipH="1">
              <a:off x="1752" y="259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81" name="Text Box 162"/>
            <p:cNvSpPr txBox="1">
              <a:spLocks noChangeArrowheads="1"/>
            </p:cNvSpPr>
            <p:nvPr/>
          </p:nvSpPr>
          <p:spPr bwMode="auto">
            <a:xfrm>
              <a:off x="1599" y="166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D0</a:t>
              </a:r>
            </a:p>
          </p:txBody>
        </p:sp>
        <p:sp>
          <p:nvSpPr>
            <p:cNvPr id="68782" name="Text Box 163"/>
            <p:cNvSpPr txBox="1">
              <a:spLocks noChangeArrowheads="1"/>
            </p:cNvSpPr>
            <p:nvPr/>
          </p:nvSpPr>
          <p:spPr bwMode="auto">
            <a:xfrm>
              <a:off x="1604" y="1780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D1</a:t>
              </a:r>
            </a:p>
          </p:txBody>
        </p:sp>
        <p:sp>
          <p:nvSpPr>
            <p:cNvPr id="68783" name="Text Box 164"/>
            <p:cNvSpPr txBox="1">
              <a:spLocks noChangeArrowheads="1"/>
            </p:cNvSpPr>
            <p:nvPr/>
          </p:nvSpPr>
          <p:spPr bwMode="auto">
            <a:xfrm>
              <a:off x="1603" y="1919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D2</a:t>
              </a:r>
            </a:p>
          </p:txBody>
        </p:sp>
        <p:sp>
          <p:nvSpPr>
            <p:cNvPr id="68784" name="Text Box 165"/>
            <p:cNvSpPr txBox="1">
              <a:spLocks noChangeArrowheads="1"/>
            </p:cNvSpPr>
            <p:nvPr/>
          </p:nvSpPr>
          <p:spPr bwMode="auto">
            <a:xfrm>
              <a:off x="1600" y="206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D3</a:t>
              </a:r>
            </a:p>
          </p:txBody>
        </p:sp>
        <p:sp>
          <p:nvSpPr>
            <p:cNvPr id="68785" name="Text Box 166"/>
            <p:cNvSpPr txBox="1">
              <a:spLocks noChangeArrowheads="1"/>
            </p:cNvSpPr>
            <p:nvPr/>
          </p:nvSpPr>
          <p:spPr bwMode="auto">
            <a:xfrm>
              <a:off x="1602" y="2190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D4</a:t>
              </a:r>
            </a:p>
          </p:txBody>
        </p:sp>
        <p:sp>
          <p:nvSpPr>
            <p:cNvPr id="68786" name="Text Box 167"/>
            <p:cNvSpPr txBox="1">
              <a:spLocks noChangeArrowheads="1"/>
            </p:cNvSpPr>
            <p:nvPr/>
          </p:nvSpPr>
          <p:spPr bwMode="auto">
            <a:xfrm>
              <a:off x="1604" y="2321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D5</a:t>
              </a:r>
            </a:p>
          </p:txBody>
        </p:sp>
        <p:sp>
          <p:nvSpPr>
            <p:cNvPr id="68787" name="Text Box 168"/>
            <p:cNvSpPr txBox="1">
              <a:spLocks noChangeArrowheads="1"/>
            </p:cNvSpPr>
            <p:nvPr/>
          </p:nvSpPr>
          <p:spPr bwMode="auto">
            <a:xfrm>
              <a:off x="1602" y="2431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D6</a:t>
              </a:r>
            </a:p>
          </p:txBody>
        </p:sp>
        <p:sp>
          <p:nvSpPr>
            <p:cNvPr id="68788" name="Text Box 169"/>
            <p:cNvSpPr txBox="1">
              <a:spLocks noChangeArrowheads="1"/>
            </p:cNvSpPr>
            <p:nvPr/>
          </p:nvSpPr>
          <p:spPr bwMode="auto">
            <a:xfrm>
              <a:off x="1602" y="253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D7</a:t>
              </a:r>
            </a:p>
          </p:txBody>
        </p:sp>
        <p:sp>
          <p:nvSpPr>
            <p:cNvPr id="68789" name="Oval 170"/>
            <p:cNvSpPr>
              <a:spLocks noChangeArrowheads="1"/>
            </p:cNvSpPr>
            <p:nvPr/>
          </p:nvSpPr>
          <p:spPr bwMode="auto">
            <a:xfrm>
              <a:off x="1463" y="2755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790" name="Oval 171"/>
            <p:cNvSpPr>
              <a:spLocks noChangeArrowheads="1"/>
            </p:cNvSpPr>
            <p:nvPr/>
          </p:nvSpPr>
          <p:spPr bwMode="auto">
            <a:xfrm>
              <a:off x="1613" y="2752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791" name="Oval 172"/>
            <p:cNvSpPr>
              <a:spLocks noChangeArrowheads="1"/>
            </p:cNvSpPr>
            <p:nvPr/>
          </p:nvSpPr>
          <p:spPr bwMode="auto">
            <a:xfrm>
              <a:off x="1534" y="1581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792" name="Text Box 173"/>
            <p:cNvSpPr txBox="1">
              <a:spLocks noChangeArrowheads="1"/>
            </p:cNvSpPr>
            <p:nvPr/>
          </p:nvSpPr>
          <p:spPr bwMode="auto">
            <a:xfrm>
              <a:off x="1383" y="2643"/>
              <a:ext cx="209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OE</a:t>
              </a:r>
            </a:p>
          </p:txBody>
        </p:sp>
        <p:sp>
          <p:nvSpPr>
            <p:cNvPr id="68793" name="Line 174"/>
            <p:cNvSpPr>
              <a:spLocks noChangeShapeType="1"/>
            </p:cNvSpPr>
            <p:nvPr/>
          </p:nvSpPr>
          <p:spPr bwMode="auto">
            <a:xfrm>
              <a:off x="1450" y="2669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94" name="Text Box 175"/>
            <p:cNvSpPr txBox="1">
              <a:spLocks noChangeArrowheads="1"/>
            </p:cNvSpPr>
            <p:nvPr/>
          </p:nvSpPr>
          <p:spPr bwMode="auto">
            <a:xfrm>
              <a:off x="1529" y="2642"/>
              <a:ext cx="205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CE</a:t>
              </a:r>
            </a:p>
          </p:txBody>
        </p:sp>
        <p:sp>
          <p:nvSpPr>
            <p:cNvPr id="68795" name="Line 176"/>
            <p:cNvSpPr>
              <a:spLocks noChangeShapeType="1"/>
            </p:cNvSpPr>
            <p:nvPr/>
          </p:nvSpPr>
          <p:spPr bwMode="auto">
            <a:xfrm>
              <a:off x="1594" y="2668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96" name="Text Box 177"/>
            <p:cNvSpPr txBox="1">
              <a:spLocks noChangeArrowheads="1"/>
            </p:cNvSpPr>
            <p:nvPr/>
          </p:nvSpPr>
          <p:spPr bwMode="auto">
            <a:xfrm>
              <a:off x="1475" y="1625"/>
              <a:ext cx="17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W</a:t>
              </a:r>
            </a:p>
          </p:txBody>
        </p:sp>
        <p:sp>
          <p:nvSpPr>
            <p:cNvPr id="68797" name="Line 178"/>
            <p:cNvSpPr>
              <a:spLocks noChangeShapeType="1"/>
            </p:cNvSpPr>
            <p:nvPr/>
          </p:nvSpPr>
          <p:spPr bwMode="auto">
            <a:xfrm>
              <a:off x="1527" y="1655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8615" name="Group 179"/>
          <p:cNvGrpSpPr>
            <a:grpSpLocks/>
          </p:cNvGrpSpPr>
          <p:nvPr/>
        </p:nvGrpSpPr>
        <p:grpSpPr bwMode="auto">
          <a:xfrm>
            <a:off x="6564313" y="4037012"/>
            <a:ext cx="1601787" cy="1938338"/>
            <a:chOff x="1052" y="1581"/>
            <a:chExt cx="1009" cy="1221"/>
          </a:xfrm>
        </p:grpSpPr>
        <p:sp>
          <p:nvSpPr>
            <p:cNvPr id="68686" name="Rectangle 180"/>
            <p:cNvSpPr>
              <a:spLocks noChangeArrowheads="1"/>
            </p:cNvSpPr>
            <p:nvPr/>
          </p:nvSpPr>
          <p:spPr bwMode="auto">
            <a:xfrm>
              <a:off x="1359" y="1632"/>
              <a:ext cx="397" cy="112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687" name="Line 181"/>
            <p:cNvSpPr>
              <a:spLocks noChangeShapeType="1"/>
            </p:cNvSpPr>
            <p:nvPr/>
          </p:nvSpPr>
          <p:spPr bwMode="auto">
            <a:xfrm flipH="1">
              <a:off x="1056" y="172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88" name="Line 182"/>
            <p:cNvSpPr>
              <a:spLocks noChangeShapeType="1"/>
            </p:cNvSpPr>
            <p:nvPr/>
          </p:nvSpPr>
          <p:spPr bwMode="auto">
            <a:xfrm flipH="1">
              <a:off x="1055" y="179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89" name="Line 183"/>
            <p:cNvSpPr>
              <a:spLocks noChangeShapeType="1"/>
            </p:cNvSpPr>
            <p:nvPr/>
          </p:nvSpPr>
          <p:spPr bwMode="auto">
            <a:xfrm flipH="1">
              <a:off x="1056" y="1849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90" name="Line 184"/>
            <p:cNvSpPr>
              <a:spLocks noChangeShapeType="1"/>
            </p:cNvSpPr>
            <p:nvPr/>
          </p:nvSpPr>
          <p:spPr bwMode="auto">
            <a:xfrm flipH="1">
              <a:off x="1055" y="191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91" name="Line 185"/>
            <p:cNvSpPr>
              <a:spLocks noChangeShapeType="1"/>
            </p:cNvSpPr>
            <p:nvPr/>
          </p:nvSpPr>
          <p:spPr bwMode="auto">
            <a:xfrm flipH="1">
              <a:off x="1053" y="197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92" name="Line 186"/>
            <p:cNvSpPr>
              <a:spLocks noChangeShapeType="1"/>
            </p:cNvSpPr>
            <p:nvPr/>
          </p:nvSpPr>
          <p:spPr bwMode="auto">
            <a:xfrm flipH="1">
              <a:off x="1052" y="203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93" name="Line 187"/>
            <p:cNvSpPr>
              <a:spLocks noChangeShapeType="1"/>
            </p:cNvSpPr>
            <p:nvPr/>
          </p:nvSpPr>
          <p:spPr bwMode="auto">
            <a:xfrm flipH="1">
              <a:off x="1053" y="209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94" name="Line 188"/>
            <p:cNvSpPr>
              <a:spLocks noChangeShapeType="1"/>
            </p:cNvSpPr>
            <p:nvPr/>
          </p:nvSpPr>
          <p:spPr bwMode="auto">
            <a:xfrm flipH="1">
              <a:off x="1052" y="215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95" name="Line 189"/>
            <p:cNvSpPr>
              <a:spLocks noChangeShapeType="1"/>
            </p:cNvSpPr>
            <p:nvPr/>
          </p:nvSpPr>
          <p:spPr bwMode="auto">
            <a:xfrm flipH="1">
              <a:off x="1056" y="221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96" name="Line 190"/>
            <p:cNvSpPr>
              <a:spLocks noChangeShapeType="1"/>
            </p:cNvSpPr>
            <p:nvPr/>
          </p:nvSpPr>
          <p:spPr bwMode="auto">
            <a:xfrm flipH="1">
              <a:off x="1055" y="228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97" name="Line 191"/>
            <p:cNvSpPr>
              <a:spLocks noChangeShapeType="1"/>
            </p:cNvSpPr>
            <p:nvPr/>
          </p:nvSpPr>
          <p:spPr bwMode="auto">
            <a:xfrm flipH="1">
              <a:off x="1056" y="2339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98" name="Line 192"/>
            <p:cNvSpPr>
              <a:spLocks noChangeShapeType="1"/>
            </p:cNvSpPr>
            <p:nvPr/>
          </p:nvSpPr>
          <p:spPr bwMode="auto">
            <a:xfrm flipH="1">
              <a:off x="1055" y="240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99" name="Line 193"/>
            <p:cNvSpPr>
              <a:spLocks noChangeShapeType="1"/>
            </p:cNvSpPr>
            <p:nvPr/>
          </p:nvSpPr>
          <p:spPr bwMode="auto">
            <a:xfrm flipH="1">
              <a:off x="1053" y="247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00" name="Line 194"/>
            <p:cNvSpPr>
              <a:spLocks noChangeShapeType="1"/>
            </p:cNvSpPr>
            <p:nvPr/>
          </p:nvSpPr>
          <p:spPr bwMode="auto">
            <a:xfrm flipH="1">
              <a:off x="1052" y="253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01" name="Line 195"/>
            <p:cNvSpPr>
              <a:spLocks noChangeShapeType="1"/>
            </p:cNvSpPr>
            <p:nvPr/>
          </p:nvSpPr>
          <p:spPr bwMode="auto">
            <a:xfrm flipH="1">
              <a:off x="1057" y="259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02" name="Text Box 196"/>
            <p:cNvSpPr txBox="1">
              <a:spLocks noChangeArrowheads="1"/>
            </p:cNvSpPr>
            <p:nvPr/>
          </p:nvSpPr>
          <p:spPr bwMode="auto">
            <a:xfrm>
              <a:off x="1335" y="165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A0</a:t>
              </a:r>
            </a:p>
          </p:txBody>
        </p:sp>
        <p:sp>
          <p:nvSpPr>
            <p:cNvPr id="68703" name="Text Box 197"/>
            <p:cNvSpPr txBox="1">
              <a:spLocks noChangeArrowheads="1"/>
            </p:cNvSpPr>
            <p:nvPr/>
          </p:nvSpPr>
          <p:spPr bwMode="auto">
            <a:xfrm>
              <a:off x="1339" y="1716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</a:t>
              </a:r>
            </a:p>
          </p:txBody>
        </p:sp>
        <p:sp>
          <p:nvSpPr>
            <p:cNvPr id="68704" name="Text Box 198"/>
            <p:cNvSpPr txBox="1">
              <a:spLocks noChangeArrowheads="1"/>
            </p:cNvSpPr>
            <p:nvPr/>
          </p:nvSpPr>
          <p:spPr bwMode="auto">
            <a:xfrm>
              <a:off x="1338" y="1782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A2</a:t>
              </a:r>
            </a:p>
          </p:txBody>
        </p:sp>
        <p:sp>
          <p:nvSpPr>
            <p:cNvPr id="68705" name="Text Box 199"/>
            <p:cNvSpPr txBox="1">
              <a:spLocks noChangeArrowheads="1"/>
            </p:cNvSpPr>
            <p:nvPr/>
          </p:nvSpPr>
          <p:spPr bwMode="auto">
            <a:xfrm>
              <a:off x="1339" y="184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A3</a:t>
              </a:r>
            </a:p>
          </p:txBody>
        </p:sp>
        <p:sp>
          <p:nvSpPr>
            <p:cNvPr id="68706" name="Text Box 200"/>
            <p:cNvSpPr txBox="1">
              <a:spLocks noChangeArrowheads="1"/>
            </p:cNvSpPr>
            <p:nvPr/>
          </p:nvSpPr>
          <p:spPr bwMode="auto">
            <a:xfrm>
              <a:off x="1335" y="190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A4</a:t>
              </a:r>
            </a:p>
          </p:txBody>
        </p:sp>
        <p:sp>
          <p:nvSpPr>
            <p:cNvPr id="68707" name="Text Box 201"/>
            <p:cNvSpPr txBox="1">
              <a:spLocks noChangeArrowheads="1"/>
            </p:cNvSpPr>
            <p:nvPr/>
          </p:nvSpPr>
          <p:spPr bwMode="auto">
            <a:xfrm>
              <a:off x="1339" y="1966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A5</a:t>
              </a:r>
            </a:p>
          </p:txBody>
        </p:sp>
        <p:sp>
          <p:nvSpPr>
            <p:cNvPr id="68708" name="Text Box 202"/>
            <p:cNvSpPr txBox="1">
              <a:spLocks noChangeArrowheads="1"/>
            </p:cNvSpPr>
            <p:nvPr/>
          </p:nvSpPr>
          <p:spPr bwMode="auto">
            <a:xfrm>
              <a:off x="1338" y="2032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A6</a:t>
              </a:r>
            </a:p>
          </p:txBody>
        </p:sp>
        <p:sp>
          <p:nvSpPr>
            <p:cNvPr id="68709" name="Text Box 203"/>
            <p:cNvSpPr txBox="1">
              <a:spLocks noChangeArrowheads="1"/>
            </p:cNvSpPr>
            <p:nvPr/>
          </p:nvSpPr>
          <p:spPr bwMode="auto">
            <a:xfrm>
              <a:off x="1339" y="209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A7</a:t>
              </a:r>
            </a:p>
          </p:txBody>
        </p:sp>
        <p:sp>
          <p:nvSpPr>
            <p:cNvPr id="68710" name="Text Box 204"/>
            <p:cNvSpPr txBox="1">
              <a:spLocks noChangeArrowheads="1"/>
            </p:cNvSpPr>
            <p:nvPr/>
          </p:nvSpPr>
          <p:spPr bwMode="auto">
            <a:xfrm>
              <a:off x="1332" y="215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A8</a:t>
              </a:r>
            </a:p>
          </p:txBody>
        </p:sp>
        <p:sp>
          <p:nvSpPr>
            <p:cNvPr id="68711" name="Text Box 205"/>
            <p:cNvSpPr txBox="1">
              <a:spLocks noChangeArrowheads="1"/>
            </p:cNvSpPr>
            <p:nvPr/>
          </p:nvSpPr>
          <p:spPr bwMode="auto">
            <a:xfrm>
              <a:off x="1336" y="221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A9</a:t>
              </a:r>
            </a:p>
          </p:txBody>
        </p:sp>
        <p:sp>
          <p:nvSpPr>
            <p:cNvPr id="68712" name="Text Box 206"/>
            <p:cNvSpPr txBox="1">
              <a:spLocks noChangeArrowheads="1"/>
            </p:cNvSpPr>
            <p:nvPr/>
          </p:nvSpPr>
          <p:spPr bwMode="auto">
            <a:xfrm>
              <a:off x="1317" y="2281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A10</a:t>
              </a:r>
            </a:p>
          </p:txBody>
        </p:sp>
        <p:sp>
          <p:nvSpPr>
            <p:cNvPr id="68713" name="Text Box 207"/>
            <p:cNvSpPr txBox="1">
              <a:spLocks noChangeArrowheads="1"/>
            </p:cNvSpPr>
            <p:nvPr/>
          </p:nvSpPr>
          <p:spPr bwMode="auto">
            <a:xfrm>
              <a:off x="1318" y="2346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A11</a:t>
              </a:r>
            </a:p>
          </p:txBody>
        </p:sp>
        <p:sp>
          <p:nvSpPr>
            <p:cNvPr id="68714" name="Text Box 208"/>
            <p:cNvSpPr txBox="1">
              <a:spLocks noChangeArrowheads="1"/>
            </p:cNvSpPr>
            <p:nvPr/>
          </p:nvSpPr>
          <p:spPr bwMode="auto">
            <a:xfrm>
              <a:off x="1314" y="2404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A12</a:t>
              </a:r>
            </a:p>
          </p:txBody>
        </p:sp>
        <p:sp>
          <p:nvSpPr>
            <p:cNvPr id="68715" name="Text Box 209"/>
            <p:cNvSpPr txBox="1">
              <a:spLocks noChangeArrowheads="1"/>
            </p:cNvSpPr>
            <p:nvPr/>
          </p:nvSpPr>
          <p:spPr bwMode="auto">
            <a:xfrm>
              <a:off x="1318" y="2465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A13</a:t>
              </a:r>
            </a:p>
          </p:txBody>
        </p:sp>
        <p:sp>
          <p:nvSpPr>
            <p:cNvPr id="68716" name="Text Box 210"/>
            <p:cNvSpPr txBox="1">
              <a:spLocks noChangeArrowheads="1"/>
            </p:cNvSpPr>
            <p:nvPr/>
          </p:nvSpPr>
          <p:spPr bwMode="auto">
            <a:xfrm>
              <a:off x="1317" y="2531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A14</a:t>
              </a:r>
            </a:p>
          </p:txBody>
        </p:sp>
        <p:sp>
          <p:nvSpPr>
            <p:cNvPr id="68717" name="Line 211"/>
            <p:cNvSpPr>
              <a:spLocks noChangeShapeType="1"/>
            </p:cNvSpPr>
            <p:nvPr/>
          </p:nvSpPr>
          <p:spPr bwMode="auto">
            <a:xfrm flipH="1">
              <a:off x="1756" y="174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18" name="Line 212"/>
            <p:cNvSpPr>
              <a:spLocks noChangeShapeType="1"/>
            </p:cNvSpPr>
            <p:nvPr/>
          </p:nvSpPr>
          <p:spPr bwMode="auto">
            <a:xfrm flipH="1">
              <a:off x="1759" y="1844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19" name="Line 213"/>
            <p:cNvSpPr>
              <a:spLocks noChangeShapeType="1"/>
            </p:cNvSpPr>
            <p:nvPr/>
          </p:nvSpPr>
          <p:spPr bwMode="auto">
            <a:xfrm flipH="1">
              <a:off x="1757" y="198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20" name="Line 214"/>
            <p:cNvSpPr>
              <a:spLocks noChangeShapeType="1"/>
            </p:cNvSpPr>
            <p:nvPr/>
          </p:nvSpPr>
          <p:spPr bwMode="auto">
            <a:xfrm flipH="1">
              <a:off x="1756" y="2135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21" name="Line 215"/>
            <p:cNvSpPr>
              <a:spLocks noChangeShapeType="1"/>
            </p:cNvSpPr>
            <p:nvPr/>
          </p:nvSpPr>
          <p:spPr bwMode="auto">
            <a:xfrm flipH="1">
              <a:off x="1754" y="227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22" name="Line 216"/>
            <p:cNvSpPr>
              <a:spLocks noChangeShapeType="1"/>
            </p:cNvSpPr>
            <p:nvPr/>
          </p:nvSpPr>
          <p:spPr bwMode="auto">
            <a:xfrm flipH="1">
              <a:off x="1756" y="238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23" name="Line 217"/>
            <p:cNvSpPr>
              <a:spLocks noChangeShapeType="1"/>
            </p:cNvSpPr>
            <p:nvPr/>
          </p:nvSpPr>
          <p:spPr bwMode="auto">
            <a:xfrm flipH="1">
              <a:off x="1761" y="250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24" name="Line 218"/>
            <p:cNvSpPr>
              <a:spLocks noChangeShapeType="1"/>
            </p:cNvSpPr>
            <p:nvPr/>
          </p:nvSpPr>
          <p:spPr bwMode="auto">
            <a:xfrm flipH="1">
              <a:off x="1752" y="259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25" name="Text Box 219"/>
            <p:cNvSpPr txBox="1">
              <a:spLocks noChangeArrowheads="1"/>
            </p:cNvSpPr>
            <p:nvPr/>
          </p:nvSpPr>
          <p:spPr bwMode="auto">
            <a:xfrm>
              <a:off x="1599" y="166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D0</a:t>
              </a:r>
            </a:p>
          </p:txBody>
        </p:sp>
        <p:sp>
          <p:nvSpPr>
            <p:cNvPr id="68726" name="Text Box 220"/>
            <p:cNvSpPr txBox="1">
              <a:spLocks noChangeArrowheads="1"/>
            </p:cNvSpPr>
            <p:nvPr/>
          </p:nvSpPr>
          <p:spPr bwMode="auto">
            <a:xfrm>
              <a:off x="1604" y="1780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D1</a:t>
              </a:r>
            </a:p>
          </p:txBody>
        </p:sp>
        <p:sp>
          <p:nvSpPr>
            <p:cNvPr id="68727" name="Text Box 221"/>
            <p:cNvSpPr txBox="1">
              <a:spLocks noChangeArrowheads="1"/>
            </p:cNvSpPr>
            <p:nvPr/>
          </p:nvSpPr>
          <p:spPr bwMode="auto">
            <a:xfrm>
              <a:off x="1603" y="1919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D2</a:t>
              </a:r>
            </a:p>
          </p:txBody>
        </p:sp>
        <p:sp>
          <p:nvSpPr>
            <p:cNvPr id="68728" name="Text Box 222"/>
            <p:cNvSpPr txBox="1">
              <a:spLocks noChangeArrowheads="1"/>
            </p:cNvSpPr>
            <p:nvPr/>
          </p:nvSpPr>
          <p:spPr bwMode="auto">
            <a:xfrm>
              <a:off x="1600" y="206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D3</a:t>
              </a:r>
            </a:p>
          </p:txBody>
        </p:sp>
        <p:sp>
          <p:nvSpPr>
            <p:cNvPr id="68729" name="Text Box 223"/>
            <p:cNvSpPr txBox="1">
              <a:spLocks noChangeArrowheads="1"/>
            </p:cNvSpPr>
            <p:nvPr/>
          </p:nvSpPr>
          <p:spPr bwMode="auto">
            <a:xfrm>
              <a:off x="1602" y="2190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D4</a:t>
              </a:r>
            </a:p>
          </p:txBody>
        </p:sp>
        <p:sp>
          <p:nvSpPr>
            <p:cNvPr id="68730" name="Text Box 224"/>
            <p:cNvSpPr txBox="1">
              <a:spLocks noChangeArrowheads="1"/>
            </p:cNvSpPr>
            <p:nvPr/>
          </p:nvSpPr>
          <p:spPr bwMode="auto">
            <a:xfrm>
              <a:off x="1604" y="2321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D5</a:t>
              </a:r>
            </a:p>
          </p:txBody>
        </p:sp>
        <p:sp>
          <p:nvSpPr>
            <p:cNvPr id="68731" name="Text Box 225"/>
            <p:cNvSpPr txBox="1">
              <a:spLocks noChangeArrowheads="1"/>
            </p:cNvSpPr>
            <p:nvPr/>
          </p:nvSpPr>
          <p:spPr bwMode="auto">
            <a:xfrm>
              <a:off x="1602" y="2431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D6</a:t>
              </a:r>
            </a:p>
          </p:txBody>
        </p:sp>
        <p:sp>
          <p:nvSpPr>
            <p:cNvPr id="68732" name="Text Box 226"/>
            <p:cNvSpPr txBox="1">
              <a:spLocks noChangeArrowheads="1"/>
            </p:cNvSpPr>
            <p:nvPr/>
          </p:nvSpPr>
          <p:spPr bwMode="auto">
            <a:xfrm>
              <a:off x="1602" y="253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D7</a:t>
              </a:r>
            </a:p>
          </p:txBody>
        </p:sp>
        <p:sp>
          <p:nvSpPr>
            <p:cNvPr id="68733" name="Oval 227"/>
            <p:cNvSpPr>
              <a:spLocks noChangeArrowheads="1"/>
            </p:cNvSpPr>
            <p:nvPr/>
          </p:nvSpPr>
          <p:spPr bwMode="auto">
            <a:xfrm>
              <a:off x="1463" y="2755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734" name="Oval 228"/>
            <p:cNvSpPr>
              <a:spLocks noChangeArrowheads="1"/>
            </p:cNvSpPr>
            <p:nvPr/>
          </p:nvSpPr>
          <p:spPr bwMode="auto">
            <a:xfrm>
              <a:off x="1613" y="2752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735" name="Oval 229"/>
            <p:cNvSpPr>
              <a:spLocks noChangeArrowheads="1"/>
            </p:cNvSpPr>
            <p:nvPr/>
          </p:nvSpPr>
          <p:spPr bwMode="auto">
            <a:xfrm>
              <a:off x="1534" y="1581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736" name="Text Box 230"/>
            <p:cNvSpPr txBox="1">
              <a:spLocks noChangeArrowheads="1"/>
            </p:cNvSpPr>
            <p:nvPr/>
          </p:nvSpPr>
          <p:spPr bwMode="auto">
            <a:xfrm>
              <a:off x="1383" y="2643"/>
              <a:ext cx="209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OE</a:t>
              </a:r>
            </a:p>
          </p:txBody>
        </p:sp>
        <p:sp>
          <p:nvSpPr>
            <p:cNvPr id="68737" name="Line 231"/>
            <p:cNvSpPr>
              <a:spLocks noChangeShapeType="1"/>
            </p:cNvSpPr>
            <p:nvPr/>
          </p:nvSpPr>
          <p:spPr bwMode="auto">
            <a:xfrm>
              <a:off x="1450" y="2669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38" name="Text Box 232"/>
            <p:cNvSpPr txBox="1">
              <a:spLocks noChangeArrowheads="1"/>
            </p:cNvSpPr>
            <p:nvPr/>
          </p:nvSpPr>
          <p:spPr bwMode="auto">
            <a:xfrm>
              <a:off x="1529" y="2642"/>
              <a:ext cx="205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CE</a:t>
              </a:r>
            </a:p>
          </p:txBody>
        </p:sp>
        <p:sp>
          <p:nvSpPr>
            <p:cNvPr id="68739" name="Line 233"/>
            <p:cNvSpPr>
              <a:spLocks noChangeShapeType="1"/>
            </p:cNvSpPr>
            <p:nvPr/>
          </p:nvSpPr>
          <p:spPr bwMode="auto">
            <a:xfrm>
              <a:off x="1594" y="2668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40" name="Text Box 234"/>
            <p:cNvSpPr txBox="1">
              <a:spLocks noChangeArrowheads="1"/>
            </p:cNvSpPr>
            <p:nvPr/>
          </p:nvSpPr>
          <p:spPr bwMode="auto">
            <a:xfrm>
              <a:off x="1475" y="1625"/>
              <a:ext cx="17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W</a:t>
              </a:r>
            </a:p>
          </p:txBody>
        </p:sp>
        <p:sp>
          <p:nvSpPr>
            <p:cNvPr id="68741" name="Line 235"/>
            <p:cNvSpPr>
              <a:spLocks noChangeShapeType="1"/>
            </p:cNvSpPr>
            <p:nvPr/>
          </p:nvSpPr>
          <p:spPr bwMode="auto">
            <a:xfrm>
              <a:off x="1527" y="1655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68616" name="Line 236"/>
          <p:cNvSpPr>
            <a:spLocks noChangeShapeType="1"/>
          </p:cNvSpPr>
          <p:nvPr/>
        </p:nvSpPr>
        <p:spPr bwMode="auto">
          <a:xfrm>
            <a:off x="4540250" y="1700212"/>
            <a:ext cx="0" cy="39528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17" name="Line 237"/>
          <p:cNvSpPr>
            <a:spLocks noChangeShapeType="1"/>
          </p:cNvSpPr>
          <p:nvPr/>
        </p:nvSpPr>
        <p:spPr bwMode="auto">
          <a:xfrm>
            <a:off x="6562725" y="1701800"/>
            <a:ext cx="0" cy="39528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18" name="Line 238"/>
          <p:cNvSpPr>
            <a:spLocks noChangeShapeType="1"/>
          </p:cNvSpPr>
          <p:nvPr/>
        </p:nvSpPr>
        <p:spPr bwMode="auto">
          <a:xfrm rot="5400000" flipV="1">
            <a:off x="3722688" y="-1119188"/>
            <a:ext cx="9525" cy="56800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19" name="Line 239"/>
          <p:cNvSpPr>
            <a:spLocks noChangeShapeType="1"/>
          </p:cNvSpPr>
          <p:nvPr/>
        </p:nvSpPr>
        <p:spPr bwMode="auto">
          <a:xfrm>
            <a:off x="6115050" y="2097087"/>
            <a:ext cx="0" cy="39528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20" name="Line 240"/>
          <p:cNvSpPr>
            <a:spLocks noChangeShapeType="1"/>
          </p:cNvSpPr>
          <p:nvPr/>
        </p:nvSpPr>
        <p:spPr bwMode="auto">
          <a:xfrm>
            <a:off x="8137525" y="2087562"/>
            <a:ext cx="0" cy="39528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21" name="Line 241"/>
          <p:cNvSpPr>
            <a:spLocks noChangeShapeType="1"/>
          </p:cNvSpPr>
          <p:nvPr/>
        </p:nvSpPr>
        <p:spPr bwMode="auto">
          <a:xfrm rot="-5400000">
            <a:off x="4429125" y="2309812"/>
            <a:ext cx="9525" cy="74580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23" name="Freeform 243"/>
          <p:cNvSpPr>
            <a:spLocks/>
          </p:cNvSpPr>
          <p:nvPr/>
        </p:nvSpPr>
        <p:spPr bwMode="auto">
          <a:xfrm>
            <a:off x="3527425" y="3802062"/>
            <a:ext cx="1928813" cy="142875"/>
          </a:xfrm>
          <a:custGeom>
            <a:avLst/>
            <a:gdLst>
              <a:gd name="T0" fmla="*/ 2147483647 w 1056"/>
              <a:gd name="T1" fmla="*/ 0 h 90"/>
              <a:gd name="T2" fmla="*/ 2147483647 w 1056"/>
              <a:gd name="T3" fmla="*/ 2147483647 h 90"/>
              <a:gd name="T4" fmla="*/ 0 w 1056"/>
              <a:gd name="T5" fmla="*/ 2147483647 h 90"/>
              <a:gd name="T6" fmla="*/ 0 60000 65536"/>
              <a:gd name="T7" fmla="*/ 0 60000 65536"/>
              <a:gd name="T8" fmla="*/ 0 60000 65536"/>
              <a:gd name="T9" fmla="*/ 0 w 1056"/>
              <a:gd name="T10" fmla="*/ 0 h 90"/>
              <a:gd name="T11" fmla="*/ 1056 w 1056"/>
              <a:gd name="T12" fmla="*/ 90 h 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56" h="90">
                <a:moveTo>
                  <a:pt x="1056" y="0"/>
                </a:moveTo>
                <a:cubicBezTo>
                  <a:pt x="1056" y="30"/>
                  <a:pt x="1056" y="60"/>
                  <a:pt x="1056" y="90"/>
                </a:cubicBezTo>
                <a:lnTo>
                  <a:pt x="0" y="9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24" name="Freeform 244"/>
          <p:cNvSpPr>
            <a:spLocks/>
          </p:cNvSpPr>
          <p:nvPr/>
        </p:nvSpPr>
        <p:spPr bwMode="auto">
          <a:xfrm>
            <a:off x="3271838" y="5975350"/>
            <a:ext cx="2184400" cy="214312"/>
          </a:xfrm>
          <a:custGeom>
            <a:avLst/>
            <a:gdLst>
              <a:gd name="T0" fmla="*/ 2147483647 w 1056"/>
              <a:gd name="T1" fmla="*/ 0 h 90"/>
              <a:gd name="T2" fmla="*/ 2147483647 w 1056"/>
              <a:gd name="T3" fmla="*/ 2147483647 h 90"/>
              <a:gd name="T4" fmla="*/ 0 w 1056"/>
              <a:gd name="T5" fmla="*/ 2147483647 h 90"/>
              <a:gd name="T6" fmla="*/ 0 60000 65536"/>
              <a:gd name="T7" fmla="*/ 0 60000 65536"/>
              <a:gd name="T8" fmla="*/ 0 60000 65536"/>
              <a:gd name="T9" fmla="*/ 0 w 1056"/>
              <a:gd name="T10" fmla="*/ 0 h 90"/>
              <a:gd name="T11" fmla="*/ 1056 w 1056"/>
              <a:gd name="T12" fmla="*/ 90 h 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56" h="90">
                <a:moveTo>
                  <a:pt x="1056" y="0"/>
                </a:moveTo>
                <a:cubicBezTo>
                  <a:pt x="1056" y="30"/>
                  <a:pt x="1056" y="60"/>
                  <a:pt x="1056" y="90"/>
                </a:cubicBezTo>
                <a:lnTo>
                  <a:pt x="0" y="9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25" name="Freeform 245"/>
          <p:cNvSpPr>
            <a:spLocks/>
          </p:cNvSpPr>
          <p:nvPr/>
        </p:nvSpPr>
        <p:spPr bwMode="auto">
          <a:xfrm>
            <a:off x="6350000" y="3790950"/>
            <a:ext cx="1106488" cy="131762"/>
          </a:xfrm>
          <a:custGeom>
            <a:avLst/>
            <a:gdLst>
              <a:gd name="T0" fmla="*/ 2147483647 w 1056"/>
              <a:gd name="T1" fmla="*/ 0 h 90"/>
              <a:gd name="T2" fmla="*/ 2147483647 w 1056"/>
              <a:gd name="T3" fmla="*/ 2147483647 h 90"/>
              <a:gd name="T4" fmla="*/ 0 w 1056"/>
              <a:gd name="T5" fmla="*/ 2147483647 h 90"/>
              <a:gd name="T6" fmla="*/ 0 60000 65536"/>
              <a:gd name="T7" fmla="*/ 0 60000 65536"/>
              <a:gd name="T8" fmla="*/ 0 60000 65536"/>
              <a:gd name="T9" fmla="*/ 0 w 1056"/>
              <a:gd name="T10" fmla="*/ 0 h 90"/>
              <a:gd name="T11" fmla="*/ 1056 w 1056"/>
              <a:gd name="T12" fmla="*/ 90 h 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56" h="90">
                <a:moveTo>
                  <a:pt x="1056" y="0"/>
                </a:moveTo>
                <a:cubicBezTo>
                  <a:pt x="1056" y="30"/>
                  <a:pt x="1056" y="60"/>
                  <a:pt x="1056" y="90"/>
                </a:cubicBezTo>
                <a:lnTo>
                  <a:pt x="0" y="9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26" name="Freeform 246"/>
          <p:cNvSpPr>
            <a:spLocks/>
          </p:cNvSpPr>
          <p:nvPr/>
        </p:nvSpPr>
        <p:spPr bwMode="auto">
          <a:xfrm>
            <a:off x="6345238" y="5976937"/>
            <a:ext cx="1139825" cy="374650"/>
          </a:xfrm>
          <a:custGeom>
            <a:avLst/>
            <a:gdLst>
              <a:gd name="T0" fmla="*/ 2147483647 w 1056"/>
              <a:gd name="T1" fmla="*/ 0 h 90"/>
              <a:gd name="T2" fmla="*/ 2147483647 w 1056"/>
              <a:gd name="T3" fmla="*/ 2147483647 h 90"/>
              <a:gd name="T4" fmla="*/ 0 w 1056"/>
              <a:gd name="T5" fmla="*/ 2147483647 h 90"/>
              <a:gd name="T6" fmla="*/ 0 60000 65536"/>
              <a:gd name="T7" fmla="*/ 0 60000 65536"/>
              <a:gd name="T8" fmla="*/ 0 60000 65536"/>
              <a:gd name="T9" fmla="*/ 0 w 1056"/>
              <a:gd name="T10" fmla="*/ 0 h 90"/>
              <a:gd name="T11" fmla="*/ 1056 w 1056"/>
              <a:gd name="T12" fmla="*/ 90 h 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56" h="90">
                <a:moveTo>
                  <a:pt x="1056" y="0"/>
                </a:moveTo>
                <a:cubicBezTo>
                  <a:pt x="1056" y="30"/>
                  <a:pt x="1056" y="60"/>
                  <a:pt x="1056" y="90"/>
                </a:cubicBezTo>
                <a:lnTo>
                  <a:pt x="0" y="9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27" name="Line 247"/>
          <p:cNvSpPr>
            <a:spLocks noChangeShapeType="1"/>
          </p:cNvSpPr>
          <p:nvPr/>
        </p:nvSpPr>
        <p:spPr bwMode="auto">
          <a:xfrm>
            <a:off x="6359525" y="3944937"/>
            <a:ext cx="1588" cy="23987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28" name="Oval 248"/>
          <p:cNvSpPr>
            <a:spLocks noChangeArrowheads="1"/>
          </p:cNvSpPr>
          <p:nvPr/>
        </p:nvSpPr>
        <p:spPr bwMode="auto">
          <a:xfrm>
            <a:off x="6319838" y="6302375"/>
            <a:ext cx="82550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8629" name="Oval 250"/>
          <p:cNvSpPr>
            <a:spLocks noChangeArrowheads="1"/>
          </p:cNvSpPr>
          <p:nvPr/>
        </p:nvSpPr>
        <p:spPr bwMode="auto">
          <a:xfrm>
            <a:off x="4333875" y="1798637"/>
            <a:ext cx="82550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8630" name="Oval 251"/>
          <p:cNvSpPr>
            <a:spLocks noChangeArrowheads="1"/>
          </p:cNvSpPr>
          <p:nvPr/>
        </p:nvSpPr>
        <p:spPr bwMode="auto">
          <a:xfrm>
            <a:off x="3503613" y="6138862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8631" name="Line 253"/>
          <p:cNvSpPr>
            <a:spLocks noChangeShapeType="1"/>
          </p:cNvSpPr>
          <p:nvPr/>
        </p:nvSpPr>
        <p:spPr bwMode="auto">
          <a:xfrm flipH="1" flipV="1">
            <a:off x="2760663" y="6343650"/>
            <a:ext cx="3598862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32" name="Line 254"/>
          <p:cNvSpPr>
            <a:spLocks noChangeShapeType="1"/>
          </p:cNvSpPr>
          <p:nvPr/>
        </p:nvSpPr>
        <p:spPr bwMode="auto">
          <a:xfrm flipH="1">
            <a:off x="3525838" y="3954462"/>
            <a:ext cx="0" cy="22574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33" name="Line 255"/>
          <p:cNvSpPr>
            <a:spLocks noChangeShapeType="1"/>
          </p:cNvSpPr>
          <p:nvPr/>
        </p:nvSpPr>
        <p:spPr bwMode="auto">
          <a:xfrm flipV="1">
            <a:off x="3275013" y="4448175"/>
            <a:ext cx="1587" cy="1730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34" name="Line 256"/>
          <p:cNvSpPr>
            <a:spLocks noChangeShapeType="1"/>
          </p:cNvSpPr>
          <p:nvPr/>
        </p:nvSpPr>
        <p:spPr bwMode="auto">
          <a:xfrm flipV="1">
            <a:off x="2784475" y="4775200"/>
            <a:ext cx="0" cy="15859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35" name="Line 263"/>
          <p:cNvSpPr>
            <a:spLocks noChangeShapeType="1"/>
          </p:cNvSpPr>
          <p:nvPr/>
        </p:nvSpPr>
        <p:spPr bwMode="auto">
          <a:xfrm>
            <a:off x="2924175" y="1844675"/>
            <a:ext cx="44069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36" name="Line 264"/>
          <p:cNvSpPr>
            <a:spLocks noChangeShapeType="1"/>
          </p:cNvSpPr>
          <p:nvPr/>
        </p:nvSpPr>
        <p:spPr bwMode="auto">
          <a:xfrm>
            <a:off x="4365625" y="4024312"/>
            <a:ext cx="30035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37" name="Line 265"/>
          <p:cNvSpPr>
            <a:spLocks noChangeShapeType="1"/>
          </p:cNvSpPr>
          <p:nvPr/>
        </p:nvSpPr>
        <p:spPr bwMode="auto">
          <a:xfrm flipV="1">
            <a:off x="4365625" y="1836737"/>
            <a:ext cx="0" cy="21875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38" name="Line 266"/>
          <p:cNvSpPr>
            <a:spLocks noChangeShapeType="1"/>
          </p:cNvSpPr>
          <p:nvPr/>
        </p:nvSpPr>
        <p:spPr bwMode="auto">
          <a:xfrm>
            <a:off x="7216775" y="3779837"/>
            <a:ext cx="0" cy="60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39" name="Line 268"/>
          <p:cNvSpPr>
            <a:spLocks noChangeShapeType="1"/>
          </p:cNvSpPr>
          <p:nvPr/>
        </p:nvSpPr>
        <p:spPr bwMode="auto">
          <a:xfrm>
            <a:off x="5213350" y="3795712"/>
            <a:ext cx="0" cy="60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40" name="Line 269"/>
          <p:cNvSpPr>
            <a:spLocks noChangeShapeType="1"/>
          </p:cNvSpPr>
          <p:nvPr/>
        </p:nvSpPr>
        <p:spPr bwMode="auto">
          <a:xfrm flipH="1">
            <a:off x="6234113" y="3848100"/>
            <a:ext cx="9747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41" name="Line 270"/>
          <p:cNvSpPr>
            <a:spLocks noChangeShapeType="1"/>
          </p:cNvSpPr>
          <p:nvPr/>
        </p:nvSpPr>
        <p:spPr bwMode="auto">
          <a:xfrm>
            <a:off x="7245350" y="5989637"/>
            <a:ext cx="1588" cy="584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42" name="Line 271"/>
          <p:cNvSpPr>
            <a:spLocks noChangeShapeType="1"/>
          </p:cNvSpPr>
          <p:nvPr/>
        </p:nvSpPr>
        <p:spPr bwMode="auto">
          <a:xfrm flipH="1">
            <a:off x="5227638" y="5981700"/>
            <a:ext cx="0" cy="6048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43" name="Line 272"/>
          <p:cNvSpPr>
            <a:spLocks noChangeShapeType="1"/>
          </p:cNvSpPr>
          <p:nvPr/>
        </p:nvSpPr>
        <p:spPr bwMode="auto">
          <a:xfrm flipH="1" flipV="1">
            <a:off x="5222875" y="6581775"/>
            <a:ext cx="2022475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44" name="Line 274"/>
          <p:cNvSpPr>
            <a:spLocks noChangeShapeType="1"/>
          </p:cNvSpPr>
          <p:nvPr/>
        </p:nvSpPr>
        <p:spPr bwMode="auto">
          <a:xfrm>
            <a:off x="6240463" y="3848100"/>
            <a:ext cx="0" cy="27051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45" name="Oval 275"/>
          <p:cNvSpPr>
            <a:spLocks noChangeArrowheads="1"/>
          </p:cNvSpPr>
          <p:nvPr/>
        </p:nvSpPr>
        <p:spPr bwMode="auto">
          <a:xfrm>
            <a:off x="6196013" y="6537325"/>
            <a:ext cx="82550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8646" name="Line 276"/>
          <p:cNvSpPr>
            <a:spLocks noChangeShapeType="1"/>
          </p:cNvSpPr>
          <p:nvPr/>
        </p:nvSpPr>
        <p:spPr bwMode="auto">
          <a:xfrm flipH="1">
            <a:off x="3943350" y="6572250"/>
            <a:ext cx="127317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47" name="Line 277"/>
          <p:cNvSpPr>
            <a:spLocks noChangeShapeType="1"/>
          </p:cNvSpPr>
          <p:nvPr/>
        </p:nvSpPr>
        <p:spPr bwMode="auto">
          <a:xfrm flipH="1">
            <a:off x="3932238" y="3863975"/>
            <a:ext cx="12731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48" name="Line 278"/>
          <p:cNvSpPr>
            <a:spLocks noChangeShapeType="1"/>
          </p:cNvSpPr>
          <p:nvPr/>
        </p:nvSpPr>
        <p:spPr bwMode="auto">
          <a:xfrm flipH="1" flipV="1">
            <a:off x="3946525" y="2528887"/>
            <a:ext cx="0" cy="40544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49" name="Oval 279"/>
          <p:cNvSpPr>
            <a:spLocks noChangeArrowheads="1"/>
          </p:cNvSpPr>
          <p:nvPr/>
        </p:nvSpPr>
        <p:spPr bwMode="auto">
          <a:xfrm>
            <a:off x="3900488" y="3806825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8650" name="Line 280"/>
          <p:cNvSpPr>
            <a:spLocks noChangeShapeType="1"/>
          </p:cNvSpPr>
          <p:nvPr/>
        </p:nvSpPr>
        <p:spPr bwMode="auto">
          <a:xfrm flipH="1">
            <a:off x="2130425" y="2522537"/>
            <a:ext cx="1816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51" name="Line 282"/>
          <p:cNvSpPr>
            <a:spLocks noChangeShapeType="1"/>
          </p:cNvSpPr>
          <p:nvPr/>
        </p:nvSpPr>
        <p:spPr bwMode="auto">
          <a:xfrm flipH="1">
            <a:off x="2136775" y="4443412"/>
            <a:ext cx="11318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52" name="Line 283"/>
          <p:cNvSpPr>
            <a:spLocks noChangeShapeType="1"/>
          </p:cNvSpPr>
          <p:nvPr/>
        </p:nvSpPr>
        <p:spPr bwMode="auto">
          <a:xfrm flipH="1">
            <a:off x="2135188" y="4770437"/>
            <a:ext cx="63817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53" name="Line 284"/>
          <p:cNvSpPr>
            <a:spLocks noChangeShapeType="1"/>
          </p:cNvSpPr>
          <p:nvPr/>
        </p:nvSpPr>
        <p:spPr bwMode="auto">
          <a:xfrm>
            <a:off x="2925763" y="1841500"/>
            <a:ext cx="0" cy="385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54" name="Line 285"/>
          <p:cNvSpPr>
            <a:spLocks noChangeShapeType="1"/>
          </p:cNvSpPr>
          <p:nvPr/>
        </p:nvSpPr>
        <p:spPr bwMode="auto">
          <a:xfrm flipH="1">
            <a:off x="2143125" y="2227262"/>
            <a:ext cx="7731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56" name="Text Box 287"/>
          <p:cNvSpPr txBox="1">
            <a:spLocks noChangeArrowheads="1"/>
          </p:cNvSpPr>
          <p:nvPr/>
        </p:nvSpPr>
        <p:spPr bwMode="auto">
          <a:xfrm>
            <a:off x="327025" y="4895850"/>
            <a:ext cx="609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To uP</a:t>
            </a:r>
          </a:p>
        </p:txBody>
      </p:sp>
      <p:sp>
        <p:nvSpPr>
          <p:cNvPr id="68657" name="Rectangle 288"/>
          <p:cNvSpPr>
            <a:spLocks noChangeArrowheads="1"/>
          </p:cNvSpPr>
          <p:nvPr/>
        </p:nvSpPr>
        <p:spPr bwMode="auto">
          <a:xfrm>
            <a:off x="1422400" y="2035175"/>
            <a:ext cx="701675" cy="333216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8658" name="Text Box 289"/>
          <p:cNvSpPr txBox="1">
            <a:spLocks noChangeArrowheads="1"/>
          </p:cNvSpPr>
          <p:nvPr/>
        </p:nvSpPr>
        <p:spPr bwMode="auto">
          <a:xfrm rot="-5400000">
            <a:off x="666750" y="3594100"/>
            <a:ext cx="21478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ADDRESS DECODE LOGIC</a:t>
            </a:r>
          </a:p>
        </p:txBody>
      </p:sp>
      <p:sp>
        <p:nvSpPr>
          <p:cNvPr id="68659" name="Text Box 290"/>
          <p:cNvSpPr txBox="1">
            <a:spLocks noChangeArrowheads="1"/>
          </p:cNvSpPr>
          <p:nvPr/>
        </p:nvSpPr>
        <p:spPr bwMode="auto">
          <a:xfrm>
            <a:off x="2397125" y="1989137"/>
            <a:ext cx="3286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W</a:t>
            </a:r>
          </a:p>
        </p:txBody>
      </p:sp>
      <p:sp>
        <p:nvSpPr>
          <p:cNvPr id="68660" name="Line 291"/>
          <p:cNvSpPr>
            <a:spLocks noChangeShapeType="1"/>
          </p:cNvSpPr>
          <p:nvPr/>
        </p:nvSpPr>
        <p:spPr bwMode="auto">
          <a:xfrm>
            <a:off x="2459038" y="2044700"/>
            <a:ext cx="1619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61" name="Text Box 292"/>
          <p:cNvSpPr txBox="1">
            <a:spLocks noChangeArrowheads="1"/>
          </p:cNvSpPr>
          <p:nvPr/>
        </p:nvSpPr>
        <p:spPr bwMode="auto">
          <a:xfrm>
            <a:off x="276225" y="1960562"/>
            <a:ext cx="609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To uP</a:t>
            </a:r>
          </a:p>
        </p:txBody>
      </p:sp>
      <p:sp>
        <p:nvSpPr>
          <p:cNvPr id="68662" name="Line 293"/>
          <p:cNvSpPr>
            <a:spLocks noChangeShapeType="1"/>
          </p:cNvSpPr>
          <p:nvPr/>
        </p:nvSpPr>
        <p:spPr bwMode="auto">
          <a:xfrm flipH="1">
            <a:off x="538163" y="2441575"/>
            <a:ext cx="893762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63" name="Line 294"/>
          <p:cNvSpPr>
            <a:spLocks noChangeShapeType="1"/>
          </p:cNvSpPr>
          <p:nvPr/>
        </p:nvSpPr>
        <p:spPr bwMode="auto">
          <a:xfrm>
            <a:off x="609600" y="6027737"/>
            <a:ext cx="69056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64" name="Line 295"/>
          <p:cNvSpPr>
            <a:spLocks noChangeShapeType="1"/>
          </p:cNvSpPr>
          <p:nvPr/>
        </p:nvSpPr>
        <p:spPr bwMode="auto">
          <a:xfrm flipV="1">
            <a:off x="598488" y="1720850"/>
            <a:ext cx="812800" cy="95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66" name="Line 297"/>
          <p:cNvSpPr>
            <a:spLocks noChangeShapeType="1"/>
          </p:cNvSpPr>
          <p:nvPr/>
        </p:nvSpPr>
        <p:spPr bwMode="auto">
          <a:xfrm>
            <a:off x="558800" y="2452687"/>
            <a:ext cx="508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70" name="Text Box 301"/>
          <p:cNvSpPr txBox="1">
            <a:spLocks noChangeArrowheads="1"/>
          </p:cNvSpPr>
          <p:nvPr/>
        </p:nvSpPr>
        <p:spPr bwMode="auto">
          <a:xfrm>
            <a:off x="2349500" y="2293937"/>
            <a:ext cx="4048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OE</a:t>
            </a:r>
          </a:p>
        </p:txBody>
      </p:sp>
      <p:sp>
        <p:nvSpPr>
          <p:cNvPr id="68671" name="Line 302"/>
          <p:cNvSpPr>
            <a:spLocks noChangeShapeType="1"/>
          </p:cNvSpPr>
          <p:nvPr/>
        </p:nvSpPr>
        <p:spPr bwMode="auto">
          <a:xfrm>
            <a:off x="2397125" y="2328862"/>
            <a:ext cx="2746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72" name="Text Box 305"/>
          <p:cNvSpPr txBox="1">
            <a:spLocks noChangeArrowheads="1"/>
          </p:cNvSpPr>
          <p:nvPr/>
        </p:nvSpPr>
        <p:spPr bwMode="auto">
          <a:xfrm>
            <a:off x="2252663" y="4162425"/>
            <a:ext cx="479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 dirty="0">
                <a:solidFill>
                  <a:srgbClr val="3366FF"/>
                </a:solidFill>
              </a:rPr>
              <a:t>CE0</a:t>
            </a:r>
          </a:p>
        </p:txBody>
      </p:sp>
      <p:sp>
        <p:nvSpPr>
          <p:cNvPr id="68673" name="Line 306"/>
          <p:cNvSpPr>
            <a:spLocks noChangeShapeType="1"/>
          </p:cNvSpPr>
          <p:nvPr/>
        </p:nvSpPr>
        <p:spPr bwMode="auto">
          <a:xfrm>
            <a:off x="2336800" y="4197350"/>
            <a:ext cx="2746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74" name="Text Box 307"/>
          <p:cNvSpPr txBox="1">
            <a:spLocks noChangeArrowheads="1"/>
          </p:cNvSpPr>
          <p:nvPr/>
        </p:nvSpPr>
        <p:spPr bwMode="auto">
          <a:xfrm>
            <a:off x="2252663" y="4519612"/>
            <a:ext cx="479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 dirty="0">
                <a:solidFill>
                  <a:srgbClr val="3366FF"/>
                </a:solidFill>
              </a:rPr>
              <a:t>CE1</a:t>
            </a:r>
          </a:p>
        </p:txBody>
      </p:sp>
      <p:sp>
        <p:nvSpPr>
          <p:cNvPr id="68675" name="Line 308"/>
          <p:cNvSpPr>
            <a:spLocks noChangeShapeType="1"/>
          </p:cNvSpPr>
          <p:nvPr/>
        </p:nvSpPr>
        <p:spPr bwMode="auto">
          <a:xfrm>
            <a:off x="2336800" y="4554537"/>
            <a:ext cx="2746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76" name="Line 309"/>
          <p:cNvSpPr>
            <a:spLocks noChangeShapeType="1"/>
          </p:cNvSpPr>
          <p:nvPr/>
        </p:nvSpPr>
        <p:spPr bwMode="auto">
          <a:xfrm flipH="1">
            <a:off x="538163" y="4106862"/>
            <a:ext cx="8842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77" name="Line 310"/>
          <p:cNvSpPr>
            <a:spLocks noChangeShapeType="1"/>
          </p:cNvSpPr>
          <p:nvPr/>
        </p:nvSpPr>
        <p:spPr bwMode="auto">
          <a:xfrm flipH="1">
            <a:off x="538163" y="4614862"/>
            <a:ext cx="8842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78" name="Text Box 311"/>
          <p:cNvSpPr txBox="1">
            <a:spLocks noChangeArrowheads="1"/>
          </p:cNvSpPr>
          <p:nvPr/>
        </p:nvSpPr>
        <p:spPr bwMode="auto">
          <a:xfrm>
            <a:off x="520700" y="3830637"/>
            <a:ext cx="403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RD</a:t>
            </a:r>
          </a:p>
        </p:txBody>
      </p:sp>
      <p:sp>
        <p:nvSpPr>
          <p:cNvPr id="68679" name="Line 312"/>
          <p:cNvSpPr>
            <a:spLocks noChangeShapeType="1"/>
          </p:cNvSpPr>
          <p:nvPr/>
        </p:nvSpPr>
        <p:spPr bwMode="auto">
          <a:xfrm>
            <a:off x="600075" y="3894137"/>
            <a:ext cx="222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80" name="Text Box 313"/>
          <p:cNvSpPr txBox="1">
            <a:spLocks noChangeArrowheads="1"/>
          </p:cNvSpPr>
          <p:nvPr/>
        </p:nvSpPr>
        <p:spPr bwMode="auto">
          <a:xfrm>
            <a:off x="512763" y="4265612"/>
            <a:ext cx="4381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WR</a:t>
            </a:r>
          </a:p>
        </p:txBody>
      </p:sp>
      <p:sp>
        <p:nvSpPr>
          <p:cNvPr id="68681" name="Line 314"/>
          <p:cNvSpPr>
            <a:spLocks noChangeShapeType="1"/>
          </p:cNvSpPr>
          <p:nvPr/>
        </p:nvSpPr>
        <p:spPr bwMode="auto">
          <a:xfrm>
            <a:off x="609600" y="4300537"/>
            <a:ext cx="222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82" name="Line 315"/>
          <p:cNvSpPr>
            <a:spLocks noChangeShapeType="1"/>
          </p:cNvSpPr>
          <p:nvPr/>
        </p:nvSpPr>
        <p:spPr bwMode="auto">
          <a:xfrm>
            <a:off x="528638" y="4097337"/>
            <a:ext cx="254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83" name="Line 316"/>
          <p:cNvSpPr>
            <a:spLocks noChangeShapeType="1"/>
          </p:cNvSpPr>
          <p:nvPr/>
        </p:nvSpPr>
        <p:spPr bwMode="auto">
          <a:xfrm>
            <a:off x="558800" y="4614862"/>
            <a:ext cx="254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85" name="Oval 318"/>
          <p:cNvSpPr>
            <a:spLocks noChangeArrowheads="1"/>
          </p:cNvSpPr>
          <p:nvPr/>
        </p:nvSpPr>
        <p:spPr bwMode="auto">
          <a:xfrm>
            <a:off x="5186363" y="6527800"/>
            <a:ext cx="82550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03" name="Rectangle 3"/>
          <p:cNvSpPr txBox="1">
            <a:spLocks noChangeArrowheads="1"/>
          </p:cNvSpPr>
          <p:nvPr/>
        </p:nvSpPr>
        <p:spPr bwMode="auto">
          <a:xfrm>
            <a:off x="0" y="957348"/>
            <a:ext cx="5768975" cy="355428"/>
          </a:xfrm>
          <a:prstGeom prst="rect">
            <a:avLst/>
          </a:prstGeom>
          <a:ln/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1800" kern="0" dirty="0">
                <a:solidFill>
                  <a:srgbClr val="FF0000"/>
                </a:solidFill>
              </a:rPr>
              <a:t>Q:</a:t>
            </a:r>
            <a:r>
              <a:rPr lang="en-US" sz="1800" kern="0" dirty="0"/>
              <a:t> Can we access bytes in this system? If so, how?</a:t>
            </a:r>
          </a:p>
          <a:p>
            <a:endParaRPr lang="en-US" sz="1800" kern="0" dirty="0"/>
          </a:p>
        </p:txBody>
      </p:sp>
      <p:sp>
        <p:nvSpPr>
          <p:cNvPr id="304" name="Text Box 286"/>
          <p:cNvSpPr txBox="1">
            <a:spLocks noChangeArrowheads="1"/>
          </p:cNvSpPr>
          <p:nvPr/>
        </p:nvSpPr>
        <p:spPr bwMode="auto">
          <a:xfrm>
            <a:off x="2010519" y="1440656"/>
            <a:ext cx="17732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Address Bus: A0..A14</a:t>
            </a:r>
            <a:endParaRPr lang="en-US" b="1" dirty="0"/>
          </a:p>
        </p:txBody>
      </p:sp>
      <p:sp>
        <p:nvSpPr>
          <p:cNvPr id="305" name="Text Box 296"/>
          <p:cNvSpPr txBox="1">
            <a:spLocks noChangeArrowheads="1"/>
          </p:cNvSpPr>
          <p:nvPr/>
        </p:nvSpPr>
        <p:spPr bwMode="auto">
          <a:xfrm>
            <a:off x="228600" y="2463949"/>
            <a:ext cx="12618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 dirty="0">
                <a:solidFill>
                  <a:srgbClr val="3366FF"/>
                </a:solidFill>
              </a:rPr>
              <a:t>A15</a:t>
            </a:r>
          </a:p>
          <a:p>
            <a:pPr algn="ctr" eaLnBrk="1" hangingPunct="1"/>
            <a:r>
              <a:rPr lang="en-US" b="1" dirty="0">
                <a:solidFill>
                  <a:srgbClr val="3366FF"/>
                </a:solidFill>
              </a:rPr>
              <a:t>Page selection</a:t>
            </a:r>
          </a:p>
        </p:txBody>
      </p:sp>
      <p:sp>
        <p:nvSpPr>
          <p:cNvPr id="306" name="Text Box 242"/>
          <p:cNvSpPr txBox="1">
            <a:spLocks noChangeArrowheads="1"/>
          </p:cNvSpPr>
          <p:nvPr/>
        </p:nvSpPr>
        <p:spPr bwMode="auto">
          <a:xfrm>
            <a:off x="8246386" y="3678237"/>
            <a:ext cx="8651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 dirty="0"/>
              <a:t>Data Bus: D0..D15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52663" y="3856037"/>
            <a:ext cx="644474" cy="13446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Rectangular Callout 299"/>
          <p:cNvSpPr/>
          <p:nvPr/>
        </p:nvSpPr>
        <p:spPr>
          <a:xfrm>
            <a:off x="2286000" y="3103723"/>
            <a:ext cx="1600200" cy="612648"/>
          </a:xfrm>
          <a:prstGeom prst="wedgeRectCallout">
            <a:avLst/>
          </a:prstGeom>
          <a:noFill/>
          <a:ln>
            <a:solidFill>
              <a:srgbClr val="FF0000">
                <a:alpha val="56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3366FF"/>
                </a:solidFill>
              </a:rPr>
              <a:t>What do these do?</a:t>
            </a:r>
          </a:p>
          <a:p>
            <a:pPr algn="ctr"/>
            <a:r>
              <a:rPr lang="en-US" sz="1200" b="1" dirty="0">
                <a:solidFill>
                  <a:srgbClr val="3366FF"/>
                </a:solidFill>
              </a:rPr>
              <a:t>What feeds these?</a:t>
            </a:r>
          </a:p>
        </p:txBody>
      </p:sp>
      <p:sp>
        <p:nvSpPr>
          <p:cNvPr id="301" name="Rounded Rectangle 300"/>
          <p:cNvSpPr/>
          <p:nvPr/>
        </p:nvSpPr>
        <p:spPr>
          <a:xfrm>
            <a:off x="4767223" y="1447800"/>
            <a:ext cx="1133554" cy="464820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50000"/>
                  <a:satMod val="300000"/>
                  <a:alpha val="16000"/>
                </a:schemeClr>
              </a:gs>
              <a:gs pos="35000">
                <a:schemeClr val="accent5">
                  <a:tint val="37000"/>
                  <a:satMod val="300000"/>
                  <a:alpha val="16000"/>
                </a:schemeClr>
              </a:gs>
              <a:gs pos="100000">
                <a:schemeClr val="accent5">
                  <a:tint val="15000"/>
                  <a:satMod val="350000"/>
                  <a:alpha val="16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3366FF"/>
                </a:solidFill>
              </a:rPr>
              <a:t>Page 0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02" name="Rounded Rectangle 301"/>
          <p:cNvSpPr/>
          <p:nvPr/>
        </p:nvSpPr>
        <p:spPr>
          <a:xfrm>
            <a:off x="6781800" y="1447800"/>
            <a:ext cx="1133554" cy="464820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50000"/>
                  <a:satMod val="300000"/>
                  <a:alpha val="16000"/>
                </a:schemeClr>
              </a:gs>
              <a:gs pos="35000">
                <a:schemeClr val="accent5">
                  <a:tint val="37000"/>
                  <a:satMod val="300000"/>
                  <a:alpha val="16000"/>
                </a:schemeClr>
              </a:gs>
              <a:gs pos="100000">
                <a:schemeClr val="accent5">
                  <a:tint val="15000"/>
                  <a:satMod val="350000"/>
                  <a:alpha val="16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3366FF"/>
                </a:solidFill>
              </a:rPr>
              <a:t>Page 1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07" name="TextBox 306"/>
          <p:cNvSpPr txBox="1"/>
          <p:nvPr/>
        </p:nvSpPr>
        <p:spPr>
          <a:xfrm>
            <a:off x="1676400" y="0"/>
            <a:ext cx="7283958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Notice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how this example flips page axes? </a:t>
            </a:r>
          </a:p>
          <a:p>
            <a:r>
              <a:rPr lang="en-US" b="1" dirty="0">
                <a:solidFill>
                  <a:srgbClr val="FF0000"/>
                </a:solidFill>
              </a:rPr>
              <a:t>Notice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how we synthesize two redundant lines from one? (CE0|1)</a:t>
            </a:r>
          </a:p>
          <a:p>
            <a:r>
              <a:rPr lang="en-US" b="1" dirty="0">
                <a:solidFill>
                  <a:srgbClr val="FF0000"/>
                </a:solidFill>
              </a:rPr>
              <a:t>Notice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how W and OE are controlled by RD/WR? </a:t>
            </a:r>
          </a:p>
        </p:txBody>
      </p:sp>
      <p:sp>
        <p:nvSpPr>
          <p:cNvPr id="311" name="Rectangular Callout 310"/>
          <p:cNvSpPr/>
          <p:nvPr/>
        </p:nvSpPr>
        <p:spPr>
          <a:xfrm>
            <a:off x="2895600" y="1981200"/>
            <a:ext cx="1066800" cy="457200"/>
          </a:xfrm>
          <a:prstGeom prst="wedgeRectCallout">
            <a:avLst/>
          </a:prstGeom>
          <a:noFill/>
          <a:ln>
            <a:solidFill>
              <a:srgbClr val="FF0000">
                <a:alpha val="56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What about this?</a:t>
            </a:r>
          </a:p>
        </p:txBody>
      </p:sp>
      <p:sp>
        <p:nvSpPr>
          <p:cNvPr id="315" name="Rectangular Callout 314"/>
          <p:cNvSpPr/>
          <p:nvPr/>
        </p:nvSpPr>
        <p:spPr>
          <a:xfrm>
            <a:off x="152400" y="3352800"/>
            <a:ext cx="1295400" cy="457200"/>
          </a:xfrm>
          <a:prstGeom prst="wedgeRectCallout">
            <a:avLst/>
          </a:prstGeom>
          <a:noFill/>
          <a:ln>
            <a:solidFill>
              <a:srgbClr val="FF0000">
                <a:alpha val="56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These control Data Bus IO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951468"/>
            <a:ext cx="762598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366FF"/>
                </a:solidFill>
              </a:rPr>
              <a:t>A: </a:t>
            </a:r>
            <a:r>
              <a:rPr lang="en-US" dirty="0"/>
              <a:t>This memory system cannot address individual bytes – only words!</a:t>
            </a:r>
          </a:p>
        </p:txBody>
      </p:sp>
      <p:sp>
        <p:nvSpPr>
          <p:cNvPr id="308" name="Line 294"/>
          <p:cNvSpPr>
            <a:spLocks noChangeShapeType="1"/>
          </p:cNvSpPr>
          <p:nvPr/>
        </p:nvSpPr>
        <p:spPr bwMode="auto">
          <a:xfrm>
            <a:off x="609600" y="6027737"/>
            <a:ext cx="69056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9" name="Rounded Rectangle 308"/>
          <p:cNvSpPr/>
          <p:nvPr/>
        </p:nvSpPr>
        <p:spPr>
          <a:xfrm>
            <a:off x="0" y="6096000"/>
            <a:ext cx="2057400" cy="762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r>
              <a:rPr lang="en-US" dirty="0"/>
              <a:t>\</a:t>
            </a:r>
          </a:p>
          <a:p>
            <a:pPr algn="ctr"/>
            <a:r>
              <a:rPr lang="en-US" sz="1400" dirty="0"/>
              <a:t>“on”, “read”, “write”</a:t>
            </a:r>
          </a:p>
        </p:txBody>
      </p:sp>
      <p:sp>
        <p:nvSpPr>
          <p:cNvPr id="310" name="Oval 309"/>
          <p:cNvSpPr/>
          <p:nvPr/>
        </p:nvSpPr>
        <p:spPr>
          <a:xfrm>
            <a:off x="25400" y="6070600"/>
            <a:ext cx="659562" cy="621787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~CS</a:t>
            </a:r>
          </a:p>
        </p:txBody>
      </p:sp>
      <p:sp>
        <p:nvSpPr>
          <p:cNvPr id="312" name="Oval 311"/>
          <p:cNvSpPr/>
          <p:nvPr/>
        </p:nvSpPr>
        <p:spPr>
          <a:xfrm>
            <a:off x="584200" y="6071113"/>
            <a:ext cx="659562" cy="621787"/>
          </a:xfrm>
          <a:prstGeom prst="ellipse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  <a:cs typeface="+mn-cs"/>
              </a:rPr>
              <a:t>~OE</a:t>
            </a:r>
          </a:p>
        </p:txBody>
      </p:sp>
      <p:sp>
        <p:nvSpPr>
          <p:cNvPr id="313" name="Oval 312"/>
          <p:cNvSpPr/>
          <p:nvPr/>
        </p:nvSpPr>
        <p:spPr>
          <a:xfrm>
            <a:off x="1219200" y="6071113"/>
            <a:ext cx="659562" cy="621787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55 Roman"/>
                <a:ea typeface="ＭＳ Ｐゴシック"/>
              </a:rPr>
              <a:t>~</a:t>
            </a:r>
            <a:r>
              <a:rPr lang="en-US" sz="1000" kern="0" dirty="0">
                <a:solidFill>
                  <a:srgbClr val="000000"/>
                </a:solidFill>
                <a:latin typeface="Frutiger 55 Roman"/>
                <a:ea typeface="ＭＳ Ｐゴシック"/>
              </a:rPr>
              <a:t>W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55 Roman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75135717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" grpId="0" animBg="1"/>
      <p:bldP spid="311" grpId="0" animBg="1"/>
      <p:bldP spid="315" grpId="0" animBg="1"/>
      <p:bldP spid="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-204390" y="149225"/>
            <a:ext cx="9525793" cy="688975"/>
          </a:xfrm>
        </p:spPr>
        <p:txBody>
          <a:bodyPr/>
          <a:lstStyle/>
          <a:p>
            <a:r>
              <a:rPr lang="en-US" sz="4000" dirty="0"/>
              <a:t>Processor-to-Memory &amp; Addresses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81062"/>
            <a:ext cx="9045575" cy="2776538"/>
          </a:xfrm>
        </p:spPr>
        <p:txBody>
          <a:bodyPr>
            <a:normAutofit/>
          </a:bodyPr>
          <a:lstStyle/>
          <a:p>
            <a:r>
              <a:rPr lang="en-US" sz="1800" dirty="0"/>
              <a:t>Suppose a </a:t>
            </a:r>
            <a:r>
              <a:rPr lang="en-US" sz="1800" i="1" dirty="0"/>
              <a:t>µ</a:t>
            </a:r>
            <a:r>
              <a:rPr lang="en-US" sz="1800" dirty="0"/>
              <a:t>P has a </a:t>
            </a:r>
            <a:r>
              <a:rPr lang="en-US" sz="1800" b="1" dirty="0">
                <a:solidFill>
                  <a:srgbClr val="FF6600"/>
                </a:solidFill>
              </a:rPr>
              <a:t>17-bit address </a:t>
            </a:r>
            <a:r>
              <a:rPr lang="en-US" sz="1800" dirty="0"/>
              <a:t>bus and </a:t>
            </a:r>
            <a:r>
              <a:rPr lang="en-US" sz="1800" b="1" dirty="0">
                <a:solidFill>
                  <a:srgbClr val="0000FF"/>
                </a:solidFill>
              </a:rPr>
              <a:t>16-bit wide data bus</a:t>
            </a:r>
            <a:r>
              <a:rPr lang="en-US" sz="1800" dirty="0"/>
              <a:t>, and it has  byte-addressable addressing. And this </a:t>
            </a:r>
            <a:r>
              <a:rPr lang="en-US" sz="1800" i="1" dirty="0"/>
              <a:t>µ</a:t>
            </a:r>
            <a:r>
              <a:rPr lang="en-US" sz="1800" dirty="0"/>
              <a:t>P is connected to a memory system M which is built with </a:t>
            </a:r>
            <a:r>
              <a:rPr lang="en-US" sz="1800" b="1" dirty="0">
                <a:solidFill>
                  <a:srgbClr val="FF6600"/>
                </a:solidFill>
              </a:rPr>
              <a:t>32K</a:t>
            </a:r>
            <a:r>
              <a:rPr lang="en-US" sz="1800" dirty="0"/>
              <a:t> x </a:t>
            </a:r>
            <a:r>
              <a:rPr lang="en-US" sz="1800" b="1" dirty="0">
                <a:solidFill>
                  <a:srgbClr val="0000FF"/>
                </a:solidFill>
              </a:rPr>
              <a:t>8</a:t>
            </a:r>
            <a:r>
              <a:rPr lang="en-US" sz="1800" dirty="0"/>
              <a:t> devices and uses </a:t>
            </a:r>
            <a:r>
              <a:rPr lang="en-US" sz="1800" b="1" i="1" dirty="0">
                <a:solidFill>
                  <a:srgbClr val="660066"/>
                </a:solidFill>
              </a:rPr>
              <a:t>high-order</a:t>
            </a:r>
            <a:r>
              <a:rPr lang="en-US" sz="1800" dirty="0">
                <a:solidFill>
                  <a:srgbClr val="660066"/>
                </a:solidFill>
              </a:rPr>
              <a:t> </a:t>
            </a:r>
            <a:r>
              <a:rPr lang="en-US" sz="1800" b="1" i="1" dirty="0">
                <a:solidFill>
                  <a:srgbClr val="660066"/>
                </a:solidFill>
              </a:rPr>
              <a:t>interleaving</a:t>
            </a:r>
            <a:r>
              <a:rPr lang="en-US" sz="1800" dirty="0"/>
              <a:t>.</a:t>
            </a:r>
          </a:p>
          <a:p>
            <a:pPr lvl="1"/>
            <a:endParaRPr lang="en-US" sz="1800" b="1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1800" b="1" i="1" dirty="0">
              <a:solidFill>
                <a:srgbClr val="FF0000"/>
              </a:solidFill>
            </a:endParaRPr>
          </a:p>
          <a:p>
            <a:endParaRPr lang="en-US" sz="1800" b="1" i="1" dirty="0">
              <a:solidFill>
                <a:srgbClr val="FF0000"/>
              </a:solidFill>
            </a:endParaRP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grpSp>
        <p:nvGrpSpPr>
          <p:cNvPr id="306" name="Group 305"/>
          <p:cNvGrpSpPr/>
          <p:nvPr/>
        </p:nvGrpSpPr>
        <p:grpSpPr>
          <a:xfrm>
            <a:off x="1638300" y="3048000"/>
            <a:ext cx="5867400" cy="3054350"/>
            <a:chOff x="2971159" y="2813050"/>
            <a:chExt cx="3228975" cy="3054350"/>
          </a:xfrm>
        </p:grpSpPr>
        <p:sp>
          <p:nvSpPr>
            <p:cNvPr id="307" name="Line 14"/>
            <p:cNvSpPr>
              <a:spLocks noChangeShapeType="1"/>
            </p:cNvSpPr>
            <p:nvPr/>
          </p:nvSpPr>
          <p:spPr bwMode="auto">
            <a:xfrm>
              <a:off x="2980684" y="3094037"/>
              <a:ext cx="0" cy="27035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08" name="Line 15"/>
            <p:cNvSpPr>
              <a:spLocks noChangeShapeType="1"/>
            </p:cNvSpPr>
            <p:nvPr/>
          </p:nvSpPr>
          <p:spPr bwMode="auto">
            <a:xfrm>
              <a:off x="4077646" y="3074987"/>
              <a:ext cx="0" cy="2701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09" name="Freeform 16"/>
            <p:cNvSpPr>
              <a:spLocks/>
            </p:cNvSpPr>
            <p:nvPr/>
          </p:nvSpPr>
          <p:spPr bwMode="auto">
            <a:xfrm>
              <a:off x="2971159" y="2813050"/>
              <a:ext cx="1119187" cy="371475"/>
            </a:xfrm>
            <a:custGeom>
              <a:avLst/>
              <a:gdLst>
                <a:gd name="T0" fmla="*/ 0 w 692"/>
                <a:gd name="T1" fmla="*/ 2147483647 h 234"/>
                <a:gd name="T2" fmla="*/ 2147483647 w 692"/>
                <a:gd name="T3" fmla="*/ 2147483647 h 234"/>
                <a:gd name="T4" fmla="*/ 2147483647 w 692"/>
                <a:gd name="T5" fmla="*/ 2147483647 h 234"/>
                <a:gd name="T6" fmla="*/ 2147483647 w 692"/>
                <a:gd name="T7" fmla="*/ 2147483647 h 234"/>
                <a:gd name="T8" fmla="*/ 2147483647 w 692"/>
                <a:gd name="T9" fmla="*/ 2147483647 h 234"/>
                <a:gd name="T10" fmla="*/ 2147483647 w 692"/>
                <a:gd name="T11" fmla="*/ 2147483647 h 2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92"/>
                <a:gd name="T19" fmla="*/ 0 h 234"/>
                <a:gd name="T20" fmla="*/ 692 w 692"/>
                <a:gd name="T21" fmla="*/ 234 h 23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92" h="234">
                  <a:moveTo>
                    <a:pt x="0" y="177"/>
                  </a:moveTo>
                  <a:cubicBezTo>
                    <a:pt x="21" y="115"/>
                    <a:pt x="43" y="54"/>
                    <a:pt x="84" y="62"/>
                  </a:cubicBezTo>
                  <a:cubicBezTo>
                    <a:pt x="125" y="70"/>
                    <a:pt x="192" y="210"/>
                    <a:pt x="244" y="222"/>
                  </a:cubicBezTo>
                  <a:cubicBezTo>
                    <a:pt x="296" y="234"/>
                    <a:pt x="345" y="168"/>
                    <a:pt x="397" y="132"/>
                  </a:cubicBezTo>
                  <a:cubicBezTo>
                    <a:pt x="449" y="96"/>
                    <a:pt x="508" y="0"/>
                    <a:pt x="557" y="4"/>
                  </a:cubicBezTo>
                  <a:cubicBezTo>
                    <a:pt x="606" y="8"/>
                    <a:pt x="650" y="163"/>
                    <a:pt x="692" y="158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10" name="Freeform 17"/>
            <p:cNvSpPr>
              <a:spLocks/>
            </p:cNvSpPr>
            <p:nvPr/>
          </p:nvSpPr>
          <p:spPr bwMode="auto">
            <a:xfrm>
              <a:off x="2980684" y="5495925"/>
              <a:ext cx="1098550" cy="371475"/>
            </a:xfrm>
            <a:custGeom>
              <a:avLst/>
              <a:gdLst>
                <a:gd name="T0" fmla="*/ 0 w 692"/>
                <a:gd name="T1" fmla="*/ 2147483647 h 234"/>
                <a:gd name="T2" fmla="*/ 2147483647 w 692"/>
                <a:gd name="T3" fmla="*/ 2147483647 h 234"/>
                <a:gd name="T4" fmla="*/ 2147483647 w 692"/>
                <a:gd name="T5" fmla="*/ 2147483647 h 234"/>
                <a:gd name="T6" fmla="*/ 2147483647 w 692"/>
                <a:gd name="T7" fmla="*/ 2147483647 h 234"/>
                <a:gd name="T8" fmla="*/ 2147483647 w 692"/>
                <a:gd name="T9" fmla="*/ 2147483647 h 234"/>
                <a:gd name="T10" fmla="*/ 2147483647 w 692"/>
                <a:gd name="T11" fmla="*/ 2147483647 h 2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92"/>
                <a:gd name="T19" fmla="*/ 0 h 234"/>
                <a:gd name="T20" fmla="*/ 692 w 692"/>
                <a:gd name="T21" fmla="*/ 234 h 23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92" h="234">
                  <a:moveTo>
                    <a:pt x="0" y="177"/>
                  </a:moveTo>
                  <a:cubicBezTo>
                    <a:pt x="21" y="115"/>
                    <a:pt x="43" y="54"/>
                    <a:pt x="84" y="62"/>
                  </a:cubicBezTo>
                  <a:cubicBezTo>
                    <a:pt x="125" y="70"/>
                    <a:pt x="192" y="210"/>
                    <a:pt x="244" y="222"/>
                  </a:cubicBezTo>
                  <a:cubicBezTo>
                    <a:pt x="296" y="234"/>
                    <a:pt x="345" y="168"/>
                    <a:pt x="397" y="132"/>
                  </a:cubicBezTo>
                  <a:cubicBezTo>
                    <a:pt x="449" y="96"/>
                    <a:pt x="508" y="0"/>
                    <a:pt x="557" y="4"/>
                  </a:cubicBezTo>
                  <a:cubicBezTo>
                    <a:pt x="606" y="8"/>
                    <a:pt x="650" y="163"/>
                    <a:pt x="692" y="158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11" name="Text Box 21"/>
            <p:cNvSpPr txBox="1">
              <a:spLocks noChangeArrowheads="1"/>
            </p:cNvSpPr>
            <p:nvPr/>
          </p:nvSpPr>
          <p:spPr bwMode="auto">
            <a:xfrm>
              <a:off x="3023141" y="3359368"/>
              <a:ext cx="1000945" cy="181588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i="1" dirty="0"/>
                <a:t>µ</a:t>
              </a:r>
              <a:r>
                <a:rPr lang="en-US" sz="1600" b="1" dirty="0"/>
                <a:t>P</a:t>
              </a:r>
            </a:p>
            <a:p>
              <a:pPr algn="ctr"/>
              <a:r>
                <a:rPr lang="en-US" sz="1600" dirty="0"/>
                <a:t>External View </a:t>
              </a:r>
            </a:p>
            <a:p>
              <a:pPr algn="ctr"/>
              <a:r>
                <a:rPr lang="en-US" sz="1600" dirty="0"/>
                <a:t>of an </a:t>
              </a:r>
            </a:p>
            <a:p>
              <a:pPr algn="ctr"/>
              <a:r>
                <a:rPr lang="en-US" sz="1600" dirty="0"/>
                <a:t>Address Ignores</a:t>
              </a:r>
            </a:p>
            <a:p>
              <a:pPr algn="ctr"/>
              <a:r>
                <a:rPr lang="en-US" sz="1600" b="1" dirty="0">
                  <a:solidFill>
                    <a:srgbClr val="008000"/>
                  </a:solidFill>
                </a:rPr>
                <a:t>Control Wire </a:t>
              </a:r>
              <a:r>
                <a:rPr lang="en-US" sz="1600" dirty="0"/>
                <a:t>V.S.</a:t>
              </a:r>
            </a:p>
            <a:p>
              <a:pPr algn="ctr"/>
              <a:r>
                <a:rPr lang="en-US" sz="1600" b="1" dirty="0">
                  <a:solidFill>
                    <a:srgbClr val="FF6600"/>
                  </a:solidFill>
                </a:rPr>
                <a:t>Address Wire </a:t>
              </a:r>
            </a:p>
            <a:p>
              <a:pPr algn="ctr"/>
              <a:r>
                <a:rPr lang="en-US" sz="1600" dirty="0"/>
                <a:t>Distinction</a:t>
              </a:r>
            </a:p>
          </p:txBody>
        </p:sp>
        <p:sp>
          <p:nvSpPr>
            <p:cNvPr id="312" name="Rectangle 24"/>
            <p:cNvSpPr>
              <a:spLocks noChangeArrowheads="1"/>
            </p:cNvSpPr>
            <p:nvPr/>
          </p:nvSpPr>
          <p:spPr bwMode="auto">
            <a:xfrm>
              <a:off x="5123809" y="3727044"/>
              <a:ext cx="1076325" cy="10461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13" name="Text Box 25"/>
            <p:cNvSpPr txBox="1">
              <a:spLocks noChangeArrowheads="1"/>
            </p:cNvSpPr>
            <p:nvPr/>
          </p:nvSpPr>
          <p:spPr bwMode="auto">
            <a:xfrm>
              <a:off x="5127716" y="3779858"/>
              <a:ext cx="1019306" cy="83099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 b="1" dirty="0"/>
                <a:t>Divide the Outer, Local </a:t>
              </a:r>
            </a:p>
            <a:p>
              <a:pPr algn="ctr"/>
              <a:r>
                <a:rPr lang="en-US" sz="1200" b="1" dirty="0"/>
                <a:t>Memory Interface Into </a:t>
              </a:r>
            </a:p>
            <a:p>
              <a:pPr algn="ctr"/>
              <a:r>
                <a:rPr lang="en-US" sz="1200" b="1" dirty="0"/>
                <a:t>Three Groups</a:t>
              </a:r>
            </a:p>
            <a:p>
              <a:pPr algn="ctr"/>
              <a:r>
                <a:rPr lang="en-US" sz="1200" b="1" dirty="0"/>
                <a:t>{Page, Offset, BS}</a:t>
              </a:r>
            </a:p>
          </p:txBody>
        </p:sp>
        <p:sp>
          <p:nvSpPr>
            <p:cNvPr id="314" name="Line 26"/>
            <p:cNvSpPr>
              <a:spLocks noChangeShapeType="1"/>
            </p:cNvSpPr>
            <p:nvPr/>
          </p:nvSpPr>
          <p:spPr bwMode="auto">
            <a:xfrm flipH="1">
              <a:off x="4057009" y="4112806"/>
              <a:ext cx="1055687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3" name="Rectangle 2"/>
          <p:cNvSpPr/>
          <p:nvPr/>
        </p:nvSpPr>
        <p:spPr>
          <a:xfrm>
            <a:off x="3627530" y="3293210"/>
            <a:ext cx="457200" cy="27019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 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5066652" y="3276600"/>
            <a:ext cx="473152" cy="2748959"/>
            <a:chOff x="3365500" y="3233737"/>
            <a:chExt cx="473152" cy="2748959"/>
          </a:xfrm>
        </p:grpSpPr>
        <p:sp>
          <p:nvSpPr>
            <p:cNvPr id="15" name="Rectangle 14"/>
            <p:cNvSpPr/>
            <p:nvPr/>
          </p:nvSpPr>
          <p:spPr>
            <a:xfrm>
              <a:off x="3367126" y="3581400"/>
              <a:ext cx="457200" cy="207645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15 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3365500" y="3233737"/>
              <a:ext cx="471526" cy="347663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367126" y="5635033"/>
              <a:ext cx="471526" cy="347663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1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5555987" y="3247637"/>
            <a:ext cx="38928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Byte selection (</a:t>
            </a:r>
            <a:r>
              <a:rPr lang="en-US" sz="2800" b="1" dirty="0" err="1"/>
              <a:t>LSb</a:t>
            </a:r>
            <a:r>
              <a:rPr lang="en-US" sz="2800" b="1" dirty="0"/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00319" y="5684799"/>
            <a:ext cx="37960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Page selection (</a:t>
            </a:r>
            <a:r>
              <a:rPr lang="en-US" sz="2800" b="1" dirty="0" err="1"/>
              <a:t>MSb</a:t>
            </a:r>
            <a:r>
              <a:rPr lang="en-US" sz="2800" b="1" dirty="0"/>
              <a:t>) 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167141"/>
              </p:ext>
            </p:extLst>
          </p:nvPr>
        </p:nvGraphicFramePr>
        <p:xfrm>
          <a:off x="3162300" y="2072640"/>
          <a:ext cx="28575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>
                    <a:solidFill>
                      <a:srgbClr val="6600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Offset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byte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  <a:alpha val="5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" name="Elbow Connector 6"/>
          <p:cNvCxnSpPr/>
          <p:nvPr/>
        </p:nvCxnSpPr>
        <p:spPr>
          <a:xfrm rot="5400000">
            <a:off x="4525263" y="607208"/>
            <a:ext cx="430129" cy="2546455"/>
          </a:xfrm>
          <a:prstGeom prst="bentConnector3">
            <a:avLst>
              <a:gd name="adj1" fmla="val 50000"/>
            </a:avLst>
          </a:prstGeom>
          <a:ln>
            <a:solidFill>
              <a:srgbClr val="660066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626100" y="2590800"/>
            <a:ext cx="379806" cy="2769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 err="1"/>
              <a:t>lsb</a:t>
            </a:r>
            <a:endParaRPr lang="en-US" sz="1200" dirty="0"/>
          </a:p>
        </p:txBody>
      </p:sp>
      <p:sp>
        <p:nvSpPr>
          <p:cNvPr id="23" name="TextBox 22"/>
          <p:cNvSpPr txBox="1"/>
          <p:nvPr/>
        </p:nvSpPr>
        <p:spPr>
          <a:xfrm>
            <a:off x="3175000" y="2590800"/>
            <a:ext cx="470877" cy="2769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 err="1"/>
              <a:t>msb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5568457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Assembly on the 68K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Lets become coding masters!</a:t>
            </a:r>
          </a:p>
          <a:p>
            <a:pPr lvl="1"/>
            <a:r>
              <a:rPr lang="en-US" dirty="0"/>
              <a:t>Full speed ahead!</a:t>
            </a:r>
          </a:p>
        </p:txBody>
      </p:sp>
    </p:spTree>
    <p:extLst>
      <p:ext uri="{BB962C8B-B14F-4D97-AF65-F5344CB8AC3E}">
        <p14:creationId xmlns:p14="http://schemas.microsoft.com/office/powerpoint/2010/main" val="28445395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404 Not Found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ERROR</a:t>
            </a:r>
          </a:p>
        </p:txBody>
      </p:sp>
      <p:sp>
        <p:nvSpPr>
          <p:cNvPr id="4" name="&quot;No&quot; Symbol 3"/>
          <p:cNvSpPr/>
          <p:nvPr/>
        </p:nvSpPr>
        <p:spPr>
          <a:xfrm>
            <a:off x="1981200" y="1600200"/>
            <a:ext cx="5181600" cy="4724400"/>
          </a:xfrm>
          <a:prstGeom prst="noSmoking">
            <a:avLst/>
          </a:prstGeom>
          <a:solidFill>
            <a:srgbClr val="9C5252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4680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06908" y="0"/>
            <a:ext cx="9957816" cy="1600200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 </a:t>
            </a:r>
            <a:r>
              <a:rPr lang="en-US" sz="4800" dirty="0"/>
              <a:t>Processor-to-Memory Interface </a:t>
            </a:r>
            <a:br>
              <a:rPr lang="en-US" sz="4800" dirty="0"/>
            </a:br>
            <a:r>
              <a:rPr lang="en-US" sz="3600" dirty="0"/>
              <a:t>(Disassembler Trial Groups?)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Consider a group that may end up as your Disassembler team, </a:t>
            </a:r>
          </a:p>
          <a:p>
            <a:pPr lvl="1"/>
            <a:r>
              <a:rPr lang="en-US" dirty="0"/>
              <a:t>Work together, but everyone will have their own clicker answer</a:t>
            </a:r>
          </a:p>
          <a:p>
            <a:r>
              <a:rPr lang="en-US" sz="2000" dirty="0"/>
              <a:t>After 5-8 minutes, vote on each answer</a:t>
            </a:r>
          </a:p>
          <a:p>
            <a:r>
              <a:rPr lang="en-US" sz="2000" dirty="0"/>
              <a:t>If you finish early, see exercise 5 &amp; 6 &amp; 7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81000" y="3200400"/>
            <a:ext cx="3124199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000000"/>
                </a:solidFill>
                <a:latin typeface="Frutiger 55 Roman"/>
                <a:ea typeface="ＭＳ Ｐゴシック"/>
              </a:rPr>
              <a:t># of addressable bins (larger)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000000"/>
                </a:solidFill>
                <a:latin typeface="Frutiger 55 Roman"/>
                <a:ea typeface="ＭＳ Ｐゴシック"/>
              </a:rPr>
              <a:t>--------------------------------------- = # of pages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000000"/>
                </a:solidFill>
                <a:latin typeface="Frutiger 55 Roman"/>
                <a:ea typeface="ＭＳ Ｐゴシック"/>
              </a:rPr>
              <a:t># of addressable bins (smaller)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3886200"/>
            <a:ext cx="31242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000000"/>
                </a:solidFill>
                <a:latin typeface="Frutiger 55 Roman"/>
                <a:ea typeface="ＭＳ Ｐゴシック"/>
              </a:rPr>
              <a:t># of Bytes or bits (larger)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000000"/>
                </a:solidFill>
                <a:latin typeface="Frutiger 55 Roman"/>
                <a:ea typeface="ＭＳ Ｐゴシック"/>
              </a:rPr>
              <a:t>--------------------------------------- = # of chips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000000"/>
                </a:solidFill>
                <a:latin typeface="Frutiger 55 Roman"/>
                <a:ea typeface="ＭＳ Ｐゴシック"/>
              </a:rPr>
              <a:t># of Bytes or bits (smaller)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4572000"/>
            <a:ext cx="31242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000000"/>
                </a:solidFill>
                <a:latin typeface="Frutiger 55 Roman"/>
                <a:ea typeface="ＭＳ Ｐゴシック"/>
              </a:rPr>
              <a:t># of chips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000000"/>
                </a:solidFill>
                <a:latin typeface="Frutiger 55 Roman"/>
                <a:ea typeface="ＭＳ Ｐゴシック"/>
              </a:rPr>
              <a:t>----------------------------- = chips per page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000000"/>
                </a:solidFill>
                <a:latin typeface="Frutiger 55 Roman"/>
                <a:ea typeface="ＭＳ Ｐゴシック"/>
              </a:rPr>
              <a:t># of pages                               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5562600"/>
            <a:ext cx="62484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000000"/>
                </a:solidFill>
                <a:latin typeface="Frutiger 55 Roman"/>
                <a:ea typeface="ＭＳ Ｐゴシック"/>
              </a:rPr>
              <a:t>If byte-selectable on an N x 8 system: addressable bins == addressable bytes == 2</a:t>
            </a:r>
            <a:r>
              <a:rPr lang="en-US" sz="1200" baseline="30000" dirty="0">
                <a:solidFill>
                  <a:srgbClr val="000000"/>
                </a:solidFill>
                <a:latin typeface="Frutiger 55 Roman"/>
                <a:ea typeface="ＭＳ Ｐゴシック"/>
              </a:rPr>
              <a:t>N</a:t>
            </a:r>
            <a:endParaRPr lang="en-US" sz="1200" dirty="0">
              <a:solidFill>
                <a:srgbClr val="000000"/>
              </a:solidFill>
              <a:latin typeface="Frutiger 55 Roman"/>
              <a:ea typeface="ＭＳ Ｐゴシック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000000"/>
                </a:solidFill>
                <a:latin typeface="Frutiger 55 Roman"/>
                <a:ea typeface="ＭＳ Ｐゴシック"/>
              </a:rPr>
              <a:t>If byte-selectable on N x M where M &gt;8 , this means:</a:t>
            </a:r>
          </a:p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 sz="1200" dirty="0">
                <a:solidFill>
                  <a:srgbClr val="000000"/>
                </a:solidFill>
                <a:latin typeface="Frutiger 55 Roman"/>
                <a:ea typeface="ＭＳ Ｐゴシック"/>
              </a:rPr>
              <a:t>more than one byte per page (could still be one chip per page)</a:t>
            </a:r>
          </a:p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 sz="1200" dirty="0">
                <a:solidFill>
                  <a:srgbClr val="000000"/>
                </a:solidFill>
                <a:latin typeface="Frutiger 55 Roman"/>
                <a:ea typeface="ＭＳ Ｐゴシック"/>
              </a:rPr>
              <a:t># of </a:t>
            </a:r>
            <a:r>
              <a:rPr lang="en-US" sz="1200" dirty="0" err="1">
                <a:solidFill>
                  <a:srgbClr val="000000"/>
                </a:solidFill>
                <a:latin typeface="Frutiger 55 Roman"/>
                <a:ea typeface="ＭＳ Ｐゴシック"/>
              </a:rPr>
              <a:t>mappable</a:t>
            </a:r>
            <a:r>
              <a:rPr lang="en-US" sz="1200" dirty="0">
                <a:solidFill>
                  <a:srgbClr val="000000"/>
                </a:solidFill>
                <a:latin typeface="Frutiger 55 Roman"/>
                <a:ea typeface="ＭＳ Ｐゴシック"/>
              </a:rPr>
              <a:t> bins is less than 2</a:t>
            </a:r>
            <a:r>
              <a:rPr lang="en-US" sz="1200" baseline="30000" dirty="0">
                <a:solidFill>
                  <a:srgbClr val="000000"/>
                </a:solidFill>
                <a:latin typeface="Frutiger 55 Roman"/>
                <a:ea typeface="ＭＳ Ｐゴシック"/>
              </a:rPr>
              <a:t>N</a:t>
            </a:r>
            <a:r>
              <a:rPr lang="en-US" sz="1200" dirty="0">
                <a:solidFill>
                  <a:srgbClr val="000000"/>
                </a:solidFill>
                <a:latin typeface="Frutiger 55 Roman"/>
                <a:ea typeface="ＭＳ Ｐゴシック"/>
              </a:rPr>
              <a:t> as lines must now be dedicated to Byte Selection</a:t>
            </a:r>
          </a:p>
          <a:p>
            <a:pPr marL="628650" lvl="1" indent="-171450" fontAlgn="base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 sz="1200" dirty="0">
                <a:solidFill>
                  <a:srgbClr val="000000"/>
                </a:solidFill>
                <a:latin typeface="Frutiger 55 Roman"/>
                <a:ea typeface="ＭＳ Ｐゴシック"/>
              </a:rPr>
              <a:t>In this example, 2 bits for BS, so 2</a:t>
            </a:r>
            <a:r>
              <a:rPr lang="en-US" sz="1200" baseline="30000" dirty="0">
                <a:solidFill>
                  <a:srgbClr val="000000"/>
                </a:solidFill>
                <a:latin typeface="Frutiger 55 Roman"/>
                <a:ea typeface="ＭＳ Ｐゴシック"/>
              </a:rPr>
              <a:t>(n-2)</a:t>
            </a:r>
            <a:r>
              <a:rPr lang="en-US" sz="1200" dirty="0">
                <a:solidFill>
                  <a:srgbClr val="000000"/>
                </a:solidFill>
                <a:latin typeface="Frutiger 55 Roman"/>
                <a:ea typeface="ＭＳ Ｐゴシック"/>
              </a:rPr>
              <a:t> == 2</a:t>
            </a:r>
            <a:r>
              <a:rPr lang="en-US" sz="1200" baseline="30000" dirty="0">
                <a:solidFill>
                  <a:srgbClr val="000000"/>
                </a:solidFill>
                <a:latin typeface="Frutiger 55 Roman"/>
                <a:ea typeface="ＭＳ Ｐゴシック"/>
              </a:rPr>
              <a:t>8</a:t>
            </a:r>
            <a:r>
              <a:rPr lang="en-US" sz="1200" dirty="0">
                <a:solidFill>
                  <a:srgbClr val="000000"/>
                </a:solidFill>
                <a:latin typeface="Frutiger 55 Roman"/>
                <a:ea typeface="ＭＳ Ｐゴシック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Frutiger 55 Roman"/>
                <a:ea typeface="ＭＳ Ｐゴシック"/>
              </a:rPr>
              <a:t>mappable</a:t>
            </a:r>
            <a:r>
              <a:rPr lang="en-US" sz="1200" dirty="0">
                <a:solidFill>
                  <a:srgbClr val="000000"/>
                </a:solidFill>
                <a:latin typeface="Frutiger 55 Roman"/>
                <a:ea typeface="ＭＳ Ｐゴシック"/>
              </a:rPr>
              <a:t> bins, each holding 4B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04894" y="4134323"/>
            <a:ext cx="4658106" cy="81867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19000"/>
                </a:schemeClr>
              </a:gs>
              <a:gs pos="80000">
                <a:schemeClr val="accent1">
                  <a:shade val="93000"/>
                  <a:satMod val="130000"/>
                  <a:alpha val="19000"/>
                </a:schemeClr>
              </a:gs>
              <a:gs pos="100000">
                <a:schemeClr val="accent1">
                  <a:shade val="94000"/>
                  <a:satMod val="135000"/>
                  <a:alpha val="19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dirty="0"/>
              <a:t>Meta-Address Bits w Byte Selection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3296123"/>
            <a:ext cx="4038600" cy="81867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19000"/>
                </a:schemeClr>
              </a:gs>
              <a:gs pos="80000">
                <a:schemeClr val="accent1">
                  <a:shade val="93000"/>
                  <a:satMod val="130000"/>
                  <a:alpha val="19000"/>
                </a:schemeClr>
              </a:gs>
              <a:gs pos="100000">
                <a:schemeClr val="accent1">
                  <a:shade val="94000"/>
                  <a:satMod val="135000"/>
                  <a:alpha val="19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dirty="0"/>
              <a:t>Meta-Address Bits (no BS)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91000" y="3403600"/>
            <a:ext cx="2590800" cy="381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Smaller </a:t>
            </a:r>
            <a:r>
              <a:rPr lang="en-US" dirty="0" err="1"/>
              <a:t>Addr</a:t>
            </a:r>
            <a:r>
              <a:rPr lang="en-US" dirty="0"/>
              <a:t> Lines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91000" y="4191000"/>
            <a:ext cx="2590800" cy="381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Smaller </a:t>
            </a:r>
            <a:r>
              <a:rPr lang="en-US" dirty="0" err="1"/>
              <a:t>Addr</a:t>
            </a:r>
            <a:r>
              <a:rPr lang="en-US" dirty="0"/>
              <a:t> Lines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81800" y="4191000"/>
            <a:ext cx="1208627" cy="381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 bits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4191000"/>
            <a:ext cx="620216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81800" y="3403600"/>
            <a:ext cx="1208627" cy="381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 bits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514600"/>
            <a:ext cx="3157197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Page bits are on the low end?</a:t>
            </a:r>
          </a:p>
          <a:p>
            <a:r>
              <a:rPr lang="en-US" i="1" dirty="0"/>
              <a:t>Low</a:t>
            </a:r>
            <a:r>
              <a:rPr lang="en-US" dirty="0"/>
              <a:t>-order interleaving.</a:t>
            </a:r>
          </a:p>
        </p:txBody>
      </p:sp>
      <p:sp>
        <p:nvSpPr>
          <p:cNvPr id="9" name="Circular Arrow 8"/>
          <p:cNvSpPr/>
          <p:nvPr/>
        </p:nvSpPr>
        <p:spPr>
          <a:xfrm rot="7543395">
            <a:off x="7536680" y="2854042"/>
            <a:ext cx="1383031" cy="10668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73821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>
          <a:xfrm>
            <a:off x="304800" y="685800"/>
            <a:ext cx="8534400" cy="838200"/>
          </a:xfrm>
        </p:spPr>
        <p:txBody>
          <a:bodyPr/>
          <a:lstStyle/>
          <a:p>
            <a:r>
              <a:rPr lang="en-US" dirty="0"/>
              <a:t>Address Space Partitioning (Group Question #1)</a:t>
            </a:r>
          </a:p>
        </p:txBody>
      </p:sp>
      <p:sp>
        <p:nvSpPr>
          <p:cNvPr id="56323" name="Content Placeholder 2"/>
          <p:cNvSpPr>
            <a:spLocks noGrp="1"/>
          </p:cNvSpPr>
          <p:nvPr>
            <p:ph idx="1"/>
          </p:nvPr>
        </p:nvSpPr>
        <p:spPr>
          <a:xfrm>
            <a:off x="-25400" y="1676400"/>
            <a:ext cx="8178800" cy="4648200"/>
          </a:xfrm>
        </p:spPr>
        <p:txBody>
          <a:bodyPr/>
          <a:lstStyle/>
          <a:p>
            <a:r>
              <a:rPr lang="en-US" sz="1800" dirty="0"/>
              <a:t>Build a </a:t>
            </a:r>
            <a:r>
              <a:rPr lang="en-US" sz="1800" b="1" dirty="0">
                <a:solidFill>
                  <a:srgbClr val="FF6600"/>
                </a:solidFill>
              </a:rPr>
              <a:t>1G</a:t>
            </a:r>
            <a:r>
              <a:rPr lang="en-US" sz="1800" b="1" dirty="0">
                <a:solidFill>
                  <a:srgbClr val="0000FF"/>
                </a:solidFill>
              </a:rPr>
              <a:t>B</a:t>
            </a:r>
            <a:r>
              <a:rPr lang="en-US" sz="1800" dirty="0"/>
              <a:t> memory (</a:t>
            </a:r>
            <a:r>
              <a:rPr lang="en-US" sz="1800" b="1" dirty="0">
                <a:solidFill>
                  <a:srgbClr val="FF6600"/>
                </a:solidFill>
              </a:rPr>
              <a:t>1G</a:t>
            </a:r>
            <a:r>
              <a:rPr lang="en-US" sz="1800" dirty="0"/>
              <a:t> X </a:t>
            </a:r>
            <a:r>
              <a:rPr lang="en-US" sz="1800" b="1" dirty="0">
                <a:solidFill>
                  <a:srgbClr val="0000FF"/>
                </a:solidFill>
              </a:rPr>
              <a:t>8</a:t>
            </a:r>
            <a:r>
              <a:rPr lang="en-US" sz="1800" dirty="0"/>
              <a:t> memory organization)</a:t>
            </a:r>
          </a:p>
          <a:p>
            <a:r>
              <a:rPr lang="en-US" sz="1800" dirty="0"/>
              <a:t>Use </a:t>
            </a:r>
            <a:r>
              <a:rPr lang="en-US" sz="1800" b="1" dirty="0">
                <a:solidFill>
                  <a:srgbClr val="FF6600"/>
                </a:solidFill>
              </a:rPr>
              <a:t>4 M</a:t>
            </a:r>
            <a:r>
              <a:rPr lang="en-US" sz="1800" b="1" dirty="0">
                <a:solidFill>
                  <a:srgbClr val="0000FF"/>
                </a:solidFill>
              </a:rPr>
              <a:t>B</a:t>
            </a:r>
            <a:r>
              <a:rPr lang="en-US" sz="1800" dirty="0"/>
              <a:t> memory chips.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Q1:</a:t>
            </a:r>
            <a:r>
              <a:rPr lang="en-US" sz="1800" dirty="0"/>
              <a:t> How many address lines (offset bits) for the smaller memory?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Q2:</a:t>
            </a:r>
            <a:r>
              <a:rPr lang="en-US" sz="1800" dirty="0"/>
              <a:t> How many address lines for the larger memory?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Q3:</a:t>
            </a:r>
            <a:r>
              <a:rPr lang="en-US" sz="1800" dirty="0"/>
              <a:t> How many </a:t>
            </a:r>
            <a:r>
              <a:rPr lang="en-US" sz="1800" b="1" dirty="0">
                <a:solidFill>
                  <a:srgbClr val="FF6600"/>
                </a:solidFill>
              </a:rPr>
              <a:t>4 M</a:t>
            </a:r>
            <a:r>
              <a:rPr lang="en-US" sz="1800" b="1" dirty="0">
                <a:solidFill>
                  <a:srgbClr val="0000FF"/>
                </a:solidFill>
              </a:rPr>
              <a:t>B</a:t>
            </a:r>
            <a:r>
              <a:rPr lang="en-US" sz="1800" dirty="0"/>
              <a:t> memory chips are used?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Q4:</a:t>
            </a:r>
            <a:r>
              <a:rPr lang="en-US" sz="1800" dirty="0"/>
              <a:t> How many chips per page?</a:t>
            </a:r>
            <a:endParaRPr lang="en-US" sz="1800" dirty="0">
              <a:solidFill>
                <a:srgbClr val="FF0000"/>
              </a:solidFill>
            </a:endParaRP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Q5:</a:t>
            </a:r>
            <a:r>
              <a:rPr lang="en-US" sz="1800" dirty="0"/>
              <a:t> How many pages do you have?</a:t>
            </a:r>
            <a:endParaRPr lang="en-US" sz="1800" dirty="0">
              <a:solidFill>
                <a:srgbClr val="FF0000"/>
              </a:solidFill>
            </a:endParaRP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Q6:</a:t>
            </a:r>
            <a:r>
              <a:rPr lang="en-US" sz="1800" dirty="0"/>
              <a:t> How many page selection bits?</a:t>
            </a:r>
          </a:p>
          <a:p>
            <a:pPr lvl="1">
              <a:buFont typeface="Arial" charset="0"/>
              <a:buNone/>
            </a:pPr>
            <a:endParaRPr lang="en-US" sz="1800" dirty="0"/>
          </a:p>
          <a:p>
            <a:pPr lvl="1"/>
            <a:endParaRPr lang="en-US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6591300" y="2985869"/>
            <a:ext cx="3124199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000000"/>
                </a:solidFill>
                <a:latin typeface="Frutiger 55 Roman"/>
                <a:ea typeface="ＭＳ Ｐゴシック"/>
              </a:rPr>
              <a:t># of addressable bins (larger)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000000"/>
                </a:solidFill>
                <a:latin typeface="Frutiger 55 Roman"/>
                <a:ea typeface="ＭＳ Ｐゴシック"/>
              </a:rPr>
              <a:t>--------------------------------------- = # of pages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000000"/>
                </a:solidFill>
                <a:latin typeface="Frutiger 55 Roman"/>
                <a:ea typeface="ＭＳ Ｐゴシック"/>
              </a:rPr>
              <a:t># of addressable bins (smaller)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96100" y="3736538"/>
            <a:ext cx="31242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000000"/>
                </a:solidFill>
                <a:latin typeface="Frutiger 55 Roman"/>
                <a:ea typeface="ＭＳ Ｐゴシック"/>
              </a:rPr>
              <a:t># of Bytes or bits (larger)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000000"/>
                </a:solidFill>
                <a:latin typeface="Frutiger 55 Roman"/>
                <a:ea typeface="ＭＳ Ｐゴシック"/>
              </a:rPr>
              <a:t>--------------------------------------- = # of chips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000000"/>
                </a:solidFill>
                <a:latin typeface="Frutiger 55 Roman"/>
                <a:ea typeface="ＭＳ Ｐゴシック"/>
              </a:rPr>
              <a:t># of Bytes or bits (smaller)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6847" y="4462480"/>
            <a:ext cx="31242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000000"/>
                </a:solidFill>
                <a:latin typeface="Frutiger 55 Roman"/>
                <a:ea typeface="ＭＳ Ｐゴシック"/>
              </a:rPr>
              <a:t># of chips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000000"/>
                </a:solidFill>
                <a:latin typeface="Frutiger 55 Roman"/>
                <a:ea typeface="ＭＳ Ｐゴシック"/>
              </a:rPr>
              <a:t>----------------------------- = chips per page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000000"/>
                </a:solidFill>
                <a:latin typeface="Frutiger 55 Roman"/>
                <a:ea typeface="ＭＳ Ｐゴシック"/>
              </a:rPr>
              <a:t># of pages                                  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31993" y="6601061"/>
            <a:ext cx="4658106" cy="81867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19000"/>
                </a:schemeClr>
              </a:gs>
              <a:gs pos="80000">
                <a:schemeClr val="accent1">
                  <a:shade val="93000"/>
                  <a:satMod val="130000"/>
                  <a:alpha val="19000"/>
                </a:schemeClr>
              </a:gs>
              <a:gs pos="100000">
                <a:schemeClr val="accent1">
                  <a:shade val="94000"/>
                  <a:satMod val="135000"/>
                  <a:alpha val="19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dirty="0"/>
              <a:t>Meta-Address Bits w Byte Selection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41899" y="5762861"/>
            <a:ext cx="4038600" cy="81867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19000"/>
                </a:schemeClr>
              </a:gs>
              <a:gs pos="80000">
                <a:schemeClr val="accent1">
                  <a:shade val="93000"/>
                  <a:satMod val="130000"/>
                  <a:alpha val="19000"/>
                </a:schemeClr>
              </a:gs>
              <a:gs pos="100000">
                <a:schemeClr val="accent1">
                  <a:shade val="94000"/>
                  <a:satMod val="135000"/>
                  <a:alpha val="19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dirty="0"/>
              <a:t>Meta-Address Bits (no BS)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8099" y="5870338"/>
            <a:ext cx="2590800" cy="381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Smaller </a:t>
            </a:r>
            <a:r>
              <a:rPr lang="en-US" dirty="0" err="1"/>
              <a:t>Addr</a:t>
            </a:r>
            <a:r>
              <a:rPr lang="en-US" dirty="0"/>
              <a:t> Lines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18099" y="6657738"/>
            <a:ext cx="2590800" cy="381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Smaller </a:t>
            </a:r>
            <a:r>
              <a:rPr lang="en-US" dirty="0" err="1"/>
              <a:t>Addr</a:t>
            </a:r>
            <a:r>
              <a:rPr lang="en-US" dirty="0"/>
              <a:t> Lines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08899" y="6657738"/>
            <a:ext cx="1208627" cy="381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 bits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28099" y="6657738"/>
            <a:ext cx="620216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08899" y="5870338"/>
            <a:ext cx="1208627" cy="381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 bits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-1234027" y="4681634"/>
            <a:ext cx="4521200" cy="175432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366FF"/>
                </a:solidFill>
              </a:rPr>
              <a:t>A1:</a:t>
            </a:r>
            <a:r>
              <a:rPr lang="en-US" dirty="0"/>
              <a:t> 4Mx8 == 2</a:t>
            </a:r>
            <a:r>
              <a:rPr lang="en-US" baseline="30000" dirty="0"/>
              <a:t>22</a:t>
            </a:r>
            <a:r>
              <a:rPr lang="en-US" dirty="0"/>
              <a:t>, so 22 </a:t>
            </a:r>
            <a:r>
              <a:rPr lang="en-US" dirty="0" err="1"/>
              <a:t>addr</a:t>
            </a:r>
            <a:r>
              <a:rPr lang="en-US" dirty="0"/>
              <a:t>/offset lines</a:t>
            </a:r>
          </a:p>
          <a:p>
            <a:r>
              <a:rPr lang="en-US" dirty="0">
                <a:solidFill>
                  <a:srgbClr val="3366FF"/>
                </a:solidFill>
              </a:rPr>
              <a:t>A2:</a:t>
            </a:r>
            <a:r>
              <a:rPr lang="en-US" dirty="0"/>
              <a:t> 1Gx8 == 2</a:t>
            </a:r>
            <a:r>
              <a:rPr lang="en-US" baseline="30000" dirty="0"/>
              <a:t>30</a:t>
            </a:r>
            <a:r>
              <a:rPr lang="en-US" dirty="0"/>
              <a:t>, so 30 </a:t>
            </a:r>
            <a:r>
              <a:rPr lang="en-US" dirty="0" err="1"/>
              <a:t>addr</a:t>
            </a:r>
            <a:r>
              <a:rPr lang="en-US" dirty="0"/>
              <a:t> lines</a:t>
            </a:r>
            <a:endParaRPr lang="en-US" dirty="0">
              <a:solidFill>
                <a:srgbClr val="3366FF"/>
              </a:solidFill>
            </a:endParaRPr>
          </a:p>
          <a:p>
            <a:r>
              <a:rPr lang="en-US" dirty="0">
                <a:solidFill>
                  <a:srgbClr val="3366FF"/>
                </a:solidFill>
              </a:rPr>
              <a:t>A3:</a:t>
            </a:r>
            <a:r>
              <a:rPr lang="en-US" dirty="0"/>
              <a:t> 1G/4M == 2</a:t>
            </a:r>
            <a:r>
              <a:rPr lang="en-US" baseline="30000" dirty="0"/>
              <a:t>30</a:t>
            </a:r>
            <a:r>
              <a:rPr lang="en-US" dirty="0"/>
              <a:t>/2</a:t>
            </a:r>
            <a:r>
              <a:rPr lang="en-US" baseline="30000" dirty="0"/>
              <a:t>22</a:t>
            </a:r>
            <a:r>
              <a:rPr lang="en-US" dirty="0"/>
              <a:t> = 2</a:t>
            </a:r>
            <a:r>
              <a:rPr lang="en-US" baseline="30000" dirty="0"/>
              <a:t>8</a:t>
            </a:r>
            <a:r>
              <a:rPr lang="en-US" dirty="0"/>
              <a:t> chips = 256</a:t>
            </a:r>
          </a:p>
          <a:p>
            <a:r>
              <a:rPr lang="en-US" dirty="0">
                <a:solidFill>
                  <a:srgbClr val="3366FF"/>
                </a:solidFill>
              </a:rPr>
              <a:t>A4:</a:t>
            </a:r>
            <a:r>
              <a:rPr lang="en-US" dirty="0"/>
              <a:t> One chip per page</a:t>
            </a:r>
            <a:endParaRPr lang="en-US" dirty="0">
              <a:solidFill>
                <a:srgbClr val="3366FF"/>
              </a:solidFill>
            </a:endParaRPr>
          </a:p>
          <a:p>
            <a:r>
              <a:rPr lang="en-US" dirty="0">
                <a:solidFill>
                  <a:srgbClr val="3366FF"/>
                </a:solidFill>
              </a:rPr>
              <a:t>A5:</a:t>
            </a:r>
            <a:r>
              <a:rPr lang="en-US" dirty="0"/>
              <a:t> Same as the number of chips</a:t>
            </a:r>
          </a:p>
          <a:p>
            <a:r>
              <a:rPr lang="en-US" dirty="0">
                <a:solidFill>
                  <a:srgbClr val="3366FF"/>
                </a:solidFill>
              </a:rPr>
              <a:t>A6:</a:t>
            </a:r>
            <a:r>
              <a:rPr lang="en-US" dirty="0"/>
              <a:t> 2</a:t>
            </a:r>
            <a:r>
              <a:rPr lang="en-US" baseline="30000" dirty="0"/>
              <a:t>x</a:t>
            </a:r>
            <a:r>
              <a:rPr lang="en-US" dirty="0"/>
              <a:t> == Y number of pages, or log</a:t>
            </a:r>
            <a:r>
              <a:rPr lang="en-US" baseline="-25000" dirty="0"/>
              <a:t>2</a:t>
            </a:r>
            <a:r>
              <a:rPr lang="en-US" dirty="0"/>
              <a:t>Y=x</a:t>
            </a:r>
          </a:p>
        </p:txBody>
      </p:sp>
    </p:spTree>
    <p:extLst>
      <p:ext uri="{BB962C8B-B14F-4D97-AF65-F5344CB8AC3E}">
        <p14:creationId xmlns:p14="http://schemas.microsoft.com/office/powerpoint/2010/main" val="82863822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229600" cy="838200"/>
          </a:xfrm>
        </p:spPr>
        <p:txBody>
          <a:bodyPr/>
          <a:lstStyle/>
          <a:p>
            <a:r>
              <a:rPr lang="en-US" dirty="0"/>
              <a:t>Group Exercise #2</a:t>
            </a:r>
          </a:p>
        </p:txBody>
      </p:sp>
      <p:sp>
        <p:nvSpPr>
          <p:cNvPr id="5632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178800" cy="4648200"/>
          </a:xfrm>
        </p:spPr>
        <p:txBody>
          <a:bodyPr/>
          <a:lstStyle/>
          <a:p>
            <a:r>
              <a:rPr lang="en-US" sz="1800" dirty="0"/>
              <a:t>Build a </a:t>
            </a:r>
            <a:r>
              <a:rPr lang="en-US" sz="1800" b="1" dirty="0">
                <a:solidFill>
                  <a:srgbClr val="FF6600"/>
                </a:solidFill>
              </a:rPr>
              <a:t>1M</a:t>
            </a:r>
            <a:r>
              <a:rPr lang="en-US" sz="1800" b="1" dirty="0">
                <a:solidFill>
                  <a:srgbClr val="0000FF"/>
                </a:solidFill>
              </a:rPr>
              <a:t>B</a:t>
            </a:r>
            <a:r>
              <a:rPr lang="en-US" sz="1800" dirty="0"/>
              <a:t> memory (</a:t>
            </a:r>
            <a:r>
              <a:rPr lang="en-US" sz="1800" b="1" dirty="0">
                <a:solidFill>
                  <a:srgbClr val="FF6600"/>
                </a:solidFill>
              </a:rPr>
              <a:t>1M</a:t>
            </a:r>
            <a:r>
              <a:rPr lang="en-US" sz="1800" dirty="0"/>
              <a:t> X </a:t>
            </a:r>
            <a:r>
              <a:rPr lang="en-US" sz="1800" b="1" dirty="0">
                <a:solidFill>
                  <a:srgbClr val="0000FF"/>
                </a:solidFill>
              </a:rPr>
              <a:t>8</a:t>
            </a:r>
            <a:r>
              <a:rPr lang="en-US" sz="1800" dirty="0"/>
              <a:t> memory organization)</a:t>
            </a:r>
          </a:p>
          <a:p>
            <a:r>
              <a:rPr lang="en-US" sz="1800" dirty="0"/>
              <a:t>Use </a:t>
            </a:r>
            <a:r>
              <a:rPr lang="en-US" sz="1800" b="1" dirty="0">
                <a:solidFill>
                  <a:srgbClr val="FF6600"/>
                </a:solidFill>
              </a:rPr>
              <a:t>64K</a:t>
            </a:r>
            <a:r>
              <a:rPr lang="en-US" sz="1800" b="1" dirty="0">
                <a:solidFill>
                  <a:srgbClr val="0000FF"/>
                </a:solidFill>
              </a:rPr>
              <a:t>B</a:t>
            </a:r>
            <a:r>
              <a:rPr lang="en-US" sz="1800" dirty="0"/>
              <a:t> memory chips.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Q1:</a:t>
            </a:r>
            <a:r>
              <a:rPr lang="en-US" sz="1800" dirty="0"/>
              <a:t> How many address lines for the larger memory?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Q2: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How many address lines for the smaller memory?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Q3:</a:t>
            </a:r>
            <a:r>
              <a:rPr lang="en-US" sz="1800" dirty="0"/>
              <a:t> How many 64 KB memory chips are used?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Q4:</a:t>
            </a:r>
            <a:r>
              <a:rPr lang="en-US" sz="1800" dirty="0"/>
              <a:t> How many pages you will have?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Q5:</a:t>
            </a:r>
            <a:r>
              <a:rPr lang="en-US" sz="1800" dirty="0"/>
              <a:t> How many chips per page?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Q6:</a:t>
            </a:r>
            <a:r>
              <a:rPr lang="en-US" sz="1800" dirty="0"/>
              <a:t> How many page selection bits you need?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Q7:</a:t>
            </a:r>
            <a:r>
              <a:rPr lang="en-US" sz="1800" dirty="0"/>
              <a:t> Draw the address using </a:t>
            </a:r>
            <a:r>
              <a:rPr lang="en-US" sz="1800" b="1" i="1" dirty="0">
                <a:solidFill>
                  <a:srgbClr val="660066"/>
                </a:solidFill>
              </a:rPr>
              <a:t>low-order interleaving</a:t>
            </a:r>
            <a:r>
              <a:rPr lang="en-US" sz="1800" i="1" dirty="0"/>
              <a:t>.</a:t>
            </a:r>
          </a:p>
          <a:p>
            <a:pPr lvl="1">
              <a:buFont typeface="Arial" charset="0"/>
              <a:buNone/>
            </a:pPr>
            <a:endParaRPr lang="en-US" sz="1800" dirty="0"/>
          </a:p>
          <a:p>
            <a:pPr lvl="1"/>
            <a:endParaRPr lang="en-US" sz="1800" dirty="0"/>
          </a:p>
        </p:txBody>
      </p:sp>
      <p:sp>
        <p:nvSpPr>
          <p:cNvPr id="11" name="Rounded Rectangle 10"/>
          <p:cNvSpPr/>
          <p:nvPr/>
        </p:nvSpPr>
        <p:spPr>
          <a:xfrm>
            <a:off x="4333494" y="5963123"/>
            <a:ext cx="4658106" cy="81867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19000"/>
                </a:schemeClr>
              </a:gs>
              <a:gs pos="80000">
                <a:schemeClr val="accent1">
                  <a:shade val="93000"/>
                  <a:satMod val="130000"/>
                  <a:alpha val="19000"/>
                </a:schemeClr>
              </a:gs>
              <a:gs pos="100000">
                <a:schemeClr val="accent1">
                  <a:shade val="94000"/>
                  <a:satMod val="135000"/>
                  <a:alpha val="19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dirty="0"/>
              <a:t>Meta-Address Bits w Byte Selection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5124923"/>
            <a:ext cx="4038600" cy="81867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19000"/>
                </a:schemeClr>
              </a:gs>
              <a:gs pos="80000">
                <a:schemeClr val="accent1">
                  <a:shade val="93000"/>
                  <a:satMod val="130000"/>
                  <a:alpha val="19000"/>
                </a:schemeClr>
              </a:gs>
              <a:gs pos="100000">
                <a:schemeClr val="accent1">
                  <a:shade val="94000"/>
                  <a:satMod val="135000"/>
                  <a:alpha val="19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dirty="0"/>
              <a:t>Meta-Address Bits (no BS)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9600" y="5232400"/>
            <a:ext cx="2590800" cy="381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Smaller </a:t>
            </a:r>
            <a:r>
              <a:rPr lang="en-US" dirty="0" err="1"/>
              <a:t>Addr</a:t>
            </a:r>
            <a:r>
              <a:rPr lang="en-US" dirty="0"/>
              <a:t> Lines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19600" y="6019800"/>
            <a:ext cx="2590800" cy="381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Smaller </a:t>
            </a:r>
            <a:r>
              <a:rPr lang="en-US" dirty="0" err="1"/>
              <a:t>Addr</a:t>
            </a:r>
            <a:r>
              <a:rPr lang="en-US" dirty="0"/>
              <a:t> Lines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10400" y="6019800"/>
            <a:ext cx="1208627" cy="381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 bits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6019800"/>
            <a:ext cx="620216" cy="381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10400" y="5232400"/>
            <a:ext cx="1208627" cy="381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 bits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" y="4648200"/>
            <a:ext cx="4191000" cy="175432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366FF"/>
                </a:solidFill>
              </a:rPr>
              <a:t>A1: </a:t>
            </a:r>
            <a:r>
              <a:rPr lang="en-US" dirty="0">
                <a:solidFill>
                  <a:srgbClr val="000000"/>
                </a:solidFill>
              </a:rPr>
              <a:t>1Megax8 == 2</a:t>
            </a:r>
            <a:r>
              <a:rPr lang="en-US" baseline="30000" dirty="0">
                <a:solidFill>
                  <a:srgbClr val="000000"/>
                </a:solidFill>
              </a:rPr>
              <a:t>20</a:t>
            </a:r>
            <a:r>
              <a:rPr lang="en-US" dirty="0">
                <a:solidFill>
                  <a:srgbClr val="000000"/>
                </a:solidFill>
              </a:rPr>
              <a:t>  so 20 </a:t>
            </a:r>
            <a:r>
              <a:rPr lang="en-US" dirty="0" err="1">
                <a:solidFill>
                  <a:srgbClr val="000000"/>
                </a:solidFill>
              </a:rPr>
              <a:t>addr</a:t>
            </a:r>
            <a:r>
              <a:rPr lang="en-US" dirty="0">
                <a:solidFill>
                  <a:srgbClr val="000000"/>
                </a:solidFill>
              </a:rPr>
              <a:t> lines</a:t>
            </a:r>
          </a:p>
          <a:p>
            <a:r>
              <a:rPr lang="en-US" dirty="0">
                <a:solidFill>
                  <a:srgbClr val="3366FF"/>
                </a:solidFill>
              </a:rPr>
              <a:t>A2: </a:t>
            </a:r>
            <a:r>
              <a:rPr lang="en-US" dirty="0">
                <a:solidFill>
                  <a:schemeClr val="tx1"/>
                </a:solidFill>
              </a:rPr>
              <a:t>64Kx8 == 2</a:t>
            </a:r>
            <a:r>
              <a:rPr lang="en-US" baseline="30000" dirty="0">
                <a:solidFill>
                  <a:schemeClr val="tx1"/>
                </a:solidFill>
              </a:rPr>
              <a:t>16</a:t>
            </a:r>
            <a:r>
              <a:rPr lang="en-US" dirty="0">
                <a:solidFill>
                  <a:schemeClr val="tx1"/>
                </a:solidFill>
              </a:rPr>
              <a:t>, so 16 </a:t>
            </a:r>
            <a:r>
              <a:rPr lang="en-US" dirty="0" err="1">
                <a:solidFill>
                  <a:schemeClr val="tx1"/>
                </a:solidFill>
              </a:rPr>
              <a:t>addr</a:t>
            </a:r>
            <a:r>
              <a:rPr lang="en-US" dirty="0">
                <a:solidFill>
                  <a:schemeClr val="tx1"/>
                </a:solidFill>
              </a:rPr>
              <a:t> lines</a:t>
            </a:r>
          </a:p>
          <a:p>
            <a:r>
              <a:rPr lang="en-US" dirty="0">
                <a:solidFill>
                  <a:srgbClr val="3366FF"/>
                </a:solidFill>
              </a:rPr>
              <a:t>A3: </a:t>
            </a:r>
            <a:r>
              <a:rPr lang="en-US" dirty="0">
                <a:solidFill>
                  <a:schemeClr val="tx1"/>
                </a:solidFill>
              </a:rPr>
              <a:t>2</a:t>
            </a:r>
            <a:r>
              <a:rPr lang="en-US" baseline="30000" dirty="0">
                <a:solidFill>
                  <a:schemeClr val="tx1"/>
                </a:solidFill>
              </a:rPr>
              <a:t>20</a:t>
            </a:r>
            <a:r>
              <a:rPr lang="en-US" dirty="0">
                <a:solidFill>
                  <a:schemeClr val="tx1"/>
                </a:solidFill>
              </a:rPr>
              <a:t>/2</a:t>
            </a:r>
            <a:r>
              <a:rPr lang="en-US" baseline="30000" dirty="0">
                <a:solidFill>
                  <a:schemeClr val="tx1"/>
                </a:solidFill>
              </a:rPr>
              <a:t>16</a:t>
            </a:r>
            <a:r>
              <a:rPr lang="en-US" dirty="0">
                <a:solidFill>
                  <a:schemeClr val="tx1"/>
                </a:solidFill>
              </a:rPr>
              <a:t>==2</a:t>
            </a:r>
            <a:r>
              <a:rPr lang="en-US" baseline="30000" dirty="0">
                <a:solidFill>
                  <a:schemeClr val="tx1"/>
                </a:solidFill>
              </a:rPr>
              <a:t>4</a:t>
            </a:r>
            <a:r>
              <a:rPr lang="en-US" dirty="0">
                <a:solidFill>
                  <a:schemeClr val="tx1"/>
                </a:solidFill>
              </a:rPr>
              <a:t>, so 16 chips</a:t>
            </a:r>
          </a:p>
          <a:p>
            <a:r>
              <a:rPr lang="en-US" dirty="0">
                <a:solidFill>
                  <a:srgbClr val="3366FF"/>
                </a:solidFill>
              </a:rPr>
              <a:t>A4:</a:t>
            </a:r>
            <a:r>
              <a:rPr lang="en-US" dirty="0">
                <a:solidFill>
                  <a:schemeClr val="tx1"/>
                </a:solidFill>
              </a:rPr>
              <a:t> 16 pages</a:t>
            </a:r>
          </a:p>
          <a:p>
            <a:r>
              <a:rPr lang="en-US" dirty="0">
                <a:solidFill>
                  <a:srgbClr val="3366FF"/>
                </a:solidFill>
              </a:rPr>
              <a:t>A5:</a:t>
            </a:r>
            <a:r>
              <a:rPr lang="en-US" dirty="0"/>
              <a:t> 1 chip per page, since both are x8</a:t>
            </a:r>
          </a:p>
          <a:p>
            <a:r>
              <a:rPr lang="en-US" dirty="0">
                <a:solidFill>
                  <a:srgbClr val="3366FF"/>
                </a:solidFill>
              </a:rPr>
              <a:t>A6:</a:t>
            </a:r>
            <a:r>
              <a:rPr lang="en-US" dirty="0"/>
              <a:t> 4 page bits for 16 pages</a:t>
            </a:r>
          </a:p>
        </p:txBody>
      </p:sp>
      <p:sp>
        <p:nvSpPr>
          <p:cNvPr id="2" name="Bent Arrow 1"/>
          <p:cNvSpPr/>
          <p:nvPr/>
        </p:nvSpPr>
        <p:spPr>
          <a:xfrm rot="5400000">
            <a:off x="6568387" y="4129987"/>
            <a:ext cx="1396998" cy="757028"/>
          </a:xfrm>
          <a:prstGeom prst="bentArrow">
            <a:avLst/>
          </a:prstGeom>
          <a:solidFill>
            <a:srgbClr val="6600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118681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5113" y="152400"/>
            <a:ext cx="8659812" cy="688975"/>
          </a:xfrm>
        </p:spPr>
        <p:txBody>
          <a:bodyPr/>
          <a:lstStyle/>
          <a:p>
            <a:r>
              <a:rPr lang="en-US" dirty="0"/>
              <a:t>Processor and Memory #3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7025" y="881062"/>
            <a:ext cx="8718550" cy="3690938"/>
          </a:xfrm>
        </p:spPr>
        <p:txBody>
          <a:bodyPr>
            <a:normAutofit fontScale="25000" lnSpcReduction="20000"/>
          </a:bodyPr>
          <a:lstStyle/>
          <a:p>
            <a:r>
              <a:rPr lang="en-US" sz="6400" dirty="0"/>
              <a:t>Suppose a </a:t>
            </a:r>
            <a:r>
              <a:rPr lang="en-US" sz="6400" i="1" dirty="0"/>
              <a:t>µ</a:t>
            </a:r>
            <a:r>
              <a:rPr lang="en-US" sz="6400" dirty="0"/>
              <a:t>P has a </a:t>
            </a:r>
            <a:r>
              <a:rPr lang="en-US" sz="6400" b="1" dirty="0">
                <a:solidFill>
                  <a:srgbClr val="FF6600"/>
                </a:solidFill>
              </a:rPr>
              <a:t>17-bit </a:t>
            </a:r>
            <a:r>
              <a:rPr lang="en-US" sz="6400" dirty="0">
                <a:solidFill>
                  <a:srgbClr val="FF6600"/>
                </a:solidFill>
              </a:rPr>
              <a:t>address bus </a:t>
            </a:r>
            <a:r>
              <a:rPr lang="en-US" sz="6400" dirty="0"/>
              <a:t>and </a:t>
            </a:r>
            <a:r>
              <a:rPr lang="en-US" sz="6400" b="1" dirty="0">
                <a:solidFill>
                  <a:srgbClr val="0000FF"/>
                </a:solidFill>
              </a:rPr>
              <a:t>16-bit</a:t>
            </a:r>
            <a:r>
              <a:rPr lang="en-US" sz="6400" dirty="0">
                <a:solidFill>
                  <a:srgbClr val="0000FF"/>
                </a:solidFill>
              </a:rPr>
              <a:t> wide data bus</a:t>
            </a:r>
            <a:r>
              <a:rPr lang="en-US" sz="6400" dirty="0"/>
              <a:t>, and </a:t>
            </a:r>
            <a:r>
              <a:rPr lang="en-US" sz="6400" b="1" dirty="0"/>
              <a:t>has no byte-addressable </a:t>
            </a:r>
            <a:r>
              <a:rPr lang="en-US" sz="6400" dirty="0"/>
              <a:t>addressing. And this </a:t>
            </a:r>
            <a:r>
              <a:rPr lang="en-US" sz="6400" i="1" dirty="0"/>
              <a:t>µ</a:t>
            </a:r>
            <a:r>
              <a:rPr lang="en-US" sz="6400" dirty="0"/>
              <a:t>P is connected to a memory system M which is built with </a:t>
            </a:r>
            <a:r>
              <a:rPr lang="en-US" sz="6400" b="1" dirty="0">
                <a:solidFill>
                  <a:srgbClr val="FF6600"/>
                </a:solidFill>
              </a:rPr>
              <a:t>32K</a:t>
            </a:r>
            <a:r>
              <a:rPr lang="en-US" sz="6400" b="1" dirty="0"/>
              <a:t> x </a:t>
            </a:r>
            <a:r>
              <a:rPr lang="en-US" sz="6400" b="1" dirty="0">
                <a:solidFill>
                  <a:srgbClr val="0000FF"/>
                </a:solidFill>
              </a:rPr>
              <a:t>8</a:t>
            </a:r>
            <a:r>
              <a:rPr lang="en-US" sz="6400" b="1" dirty="0"/>
              <a:t> </a:t>
            </a:r>
            <a:r>
              <a:rPr lang="en-US" sz="6400" dirty="0"/>
              <a:t>devices.</a:t>
            </a:r>
          </a:p>
          <a:p>
            <a:pPr marL="457200" lvl="1" indent="0">
              <a:buNone/>
            </a:pPr>
            <a:r>
              <a:rPr lang="en-US" sz="6400" dirty="0">
                <a:solidFill>
                  <a:srgbClr val="FF0000"/>
                </a:solidFill>
              </a:rPr>
              <a:t>Q1:</a:t>
            </a:r>
            <a:r>
              <a:rPr lang="en-US" sz="6400" dirty="0"/>
              <a:t> How many </a:t>
            </a:r>
            <a:r>
              <a:rPr lang="en-US" sz="6400" b="1" dirty="0">
                <a:solidFill>
                  <a:srgbClr val="FF6600"/>
                </a:solidFill>
              </a:rPr>
              <a:t>address lines</a:t>
            </a:r>
            <a:r>
              <a:rPr lang="en-US" sz="6400" dirty="0"/>
              <a:t> and data lines at </a:t>
            </a:r>
            <a:r>
              <a:rPr lang="en-US" sz="6400" i="1" dirty="0"/>
              <a:t>µ</a:t>
            </a:r>
            <a:r>
              <a:rPr lang="en-US" sz="6400" b="1" i="1" dirty="0"/>
              <a:t>P?</a:t>
            </a:r>
            <a:endParaRPr lang="en-US" sz="64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6400" dirty="0">
                <a:solidFill>
                  <a:srgbClr val="FF0000"/>
                </a:solidFill>
              </a:rPr>
              <a:t>Q2:</a:t>
            </a:r>
            <a:r>
              <a:rPr lang="en-US" sz="6400" dirty="0"/>
              <a:t> What is the </a:t>
            </a:r>
            <a:r>
              <a:rPr lang="en-US" sz="6400" b="1" dirty="0">
                <a:solidFill>
                  <a:srgbClr val="FF0000"/>
                </a:solidFill>
              </a:rPr>
              <a:t>total capacity </a:t>
            </a:r>
            <a:r>
              <a:rPr lang="en-US" sz="6400" dirty="0"/>
              <a:t>of the </a:t>
            </a:r>
            <a:r>
              <a:rPr lang="en-US" sz="6400" i="1" dirty="0"/>
              <a:t>µ</a:t>
            </a:r>
            <a:r>
              <a:rPr lang="en-US" sz="6400" dirty="0"/>
              <a:t>P? (the total number of bytes to fill the address space)</a:t>
            </a:r>
            <a:endParaRPr lang="en-US" sz="64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6400" dirty="0">
                <a:solidFill>
                  <a:srgbClr val="FF0000"/>
                </a:solidFill>
              </a:rPr>
              <a:t>Q3:</a:t>
            </a:r>
            <a:r>
              <a:rPr lang="en-US" sz="6400" dirty="0"/>
              <a:t> How many </a:t>
            </a:r>
            <a:r>
              <a:rPr lang="en-US" sz="6400" b="1" dirty="0">
                <a:solidFill>
                  <a:srgbClr val="FF6600"/>
                </a:solidFill>
              </a:rPr>
              <a:t>address lines</a:t>
            </a:r>
            <a:r>
              <a:rPr lang="en-US" sz="6400" dirty="0"/>
              <a:t> and </a:t>
            </a:r>
            <a:r>
              <a:rPr lang="en-US" sz="6400" b="1" dirty="0">
                <a:solidFill>
                  <a:srgbClr val="0000FF"/>
                </a:solidFill>
              </a:rPr>
              <a:t>data lines </a:t>
            </a:r>
            <a:r>
              <a:rPr lang="en-US" sz="6400" dirty="0"/>
              <a:t>in the smaller memory? (How many address lines and data lines per </a:t>
            </a:r>
            <a:r>
              <a:rPr lang="en-US" sz="6400" b="1" dirty="0">
                <a:solidFill>
                  <a:srgbClr val="FF6600"/>
                </a:solidFill>
              </a:rPr>
              <a:t>32K</a:t>
            </a:r>
            <a:r>
              <a:rPr lang="en-US" sz="6400" dirty="0"/>
              <a:t> x </a:t>
            </a:r>
            <a:r>
              <a:rPr lang="en-US" sz="6400" b="1" dirty="0">
                <a:solidFill>
                  <a:srgbClr val="0000FF"/>
                </a:solidFill>
              </a:rPr>
              <a:t>8</a:t>
            </a:r>
            <a:r>
              <a:rPr lang="en-US" sz="6400" dirty="0"/>
              <a:t> chip?)</a:t>
            </a:r>
            <a:endParaRPr lang="en-US" sz="64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6400" dirty="0">
                <a:solidFill>
                  <a:srgbClr val="FF0000"/>
                </a:solidFill>
              </a:rPr>
              <a:t>Q4:</a:t>
            </a:r>
            <a:r>
              <a:rPr lang="en-US" sz="6400" dirty="0"/>
              <a:t> How many </a:t>
            </a:r>
            <a:r>
              <a:rPr lang="en-US" sz="6400" b="1" dirty="0">
                <a:solidFill>
                  <a:srgbClr val="008000"/>
                </a:solidFill>
              </a:rPr>
              <a:t>page</a:t>
            </a:r>
            <a:r>
              <a:rPr lang="en-US" sz="6400" dirty="0"/>
              <a:t> selection bits in the memory system M?</a:t>
            </a:r>
            <a:endParaRPr lang="en-US" sz="64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6400" dirty="0">
                <a:solidFill>
                  <a:srgbClr val="FF0000"/>
                </a:solidFill>
              </a:rPr>
              <a:t>Q5:</a:t>
            </a:r>
            <a:r>
              <a:rPr lang="en-US" sz="6400" dirty="0"/>
              <a:t> How many byte selection bits in the memory system M?</a:t>
            </a:r>
          </a:p>
          <a:p>
            <a:pPr marL="457200" lvl="1" indent="0">
              <a:buNone/>
            </a:pPr>
            <a:r>
              <a:rPr lang="en-US" sz="6400" dirty="0">
                <a:solidFill>
                  <a:srgbClr val="FF0000"/>
                </a:solidFill>
              </a:rPr>
              <a:t>Q6:</a:t>
            </a:r>
            <a:r>
              <a:rPr lang="en-US" sz="6400" dirty="0"/>
              <a:t> How many of the smaller memory chips are in the </a:t>
            </a:r>
            <a:r>
              <a:rPr lang="en-US" sz="6400" i="1" dirty="0"/>
              <a:t>µ</a:t>
            </a:r>
            <a:r>
              <a:rPr lang="en-US" sz="6400" dirty="0"/>
              <a:t>P?</a:t>
            </a:r>
          </a:p>
          <a:p>
            <a:pPr marL="457200" lvl="1" indent="0">
              <a:buNone/>
            </a:pPr>
            <a:r>
              <a:rPr lang="en-US" sz="6400" dirty="0">
                <a:solidFill>
                  <a:srgbClr val="FF0000"/>
                </a:solidFill>
              </a:rPr>
              <a:t>Q7:</a:t>
            </a:r>
            <a:r>
              <a:rPr lang="en-US" sz="6400" dirty="0"/>
              <a:t> Draw the larger memory as pages of smaller memories.  </a:t>
            </a:r>
          </a:p>
          <a:p>
            <a:pPr marL="457200" lvl="1" indent="0">
              <a:buNone/>
            </a:pPr>
            <a:endParaRPr lang="en-US" sz="1800" dirty="0">
              <a:solidFill>
                <a:srgbClr val="FF0000"/>
              </a:solidFill>
            </a:endParaRP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3632201" y="4840069"/>
            <a:ext cx="3124199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# of addressable bins (larger)</a:t>
            </a:r>
          </a:p>
          <a:p>
            <a:r>
              <a:rPr lang="en-US" sz="1200" dirty="0"/>
              <a:t>--------------------------------------- = # of pages</a:t>
            </a:r>
          </a:p>
          <a:p>
            <a:r>
              <a:rPr lang="en-US" sz="1200" dirty="0"/>
              <a:t># of addressable bins (smaller)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4840069"/>
            <a:ext cx="31242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# of Bytes or bits (larger)</a:t>
            </a:r>
          </a:p>
          <a:p>
            <a:r>
              <a:rPr lang="en-US" sz="1200" dirty="0"/>
              <a:t>--------------------------------------- = # of chips</a:t>
            </a:r>
          </a:p>
          <a:p>
            <a:r>
              <a:rPr lang="en-US" sz="1200" dirty="0"/>
              <a:t># of Bytes or bits (smaller)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4840069"/>
            <a:ext cx="22860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# of chips</a:t>
            </a:r>
          </a:p>
          <a:p>
            <a:r>
              <a:rPr lang="en-US" sz="1200" dirty="0"/>
              <a:t>---------------- = chips per page</a:t>
            </a:r>
          </a:p>
          <a:p>
            <a:r>
              <a:rPr lang="en-US" sz="1200" dirty="0"/>
              <a:t># of pages                               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5600" y="5766137"/>
            <a:ext cx="62484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If byte-selectable on an N x 8 system: addressable bins == addressable bytes == 2</a:t>
            </a:r>
            <a:r>
              <a:rPr lang="en-US" sz="1200" baseline="30000" dirty="0"/>
              <a:t>N</a:t>
            </a:r>
            <a:endParaRPr lang="en-US" sz="1200" dirty="0"/>
          </a:p>
          <a:p>
            <a:r>
              <a:rPr lang="en-US" sz="1200" dirty="0"/>
              <a:t>If byte-selectable on N x M where M &gt;8 , this means:</a:t>
            </a:r>
          </a:p>
          <a:p>
            <a:pPr marL="171450" indent="-171450">
              <a:buFont typeface="Arial"/>
              <a:buChar char="•"/>
            </a:pPr>
            <a:r>
              <a:rPr lang="en-US" sz="1200" dirty="0"/>
              <a:t>more than one byte per page (could still be one chip per page)</a:t>
            </a:r>
          </a:p>
          <a:p>
            <a:pPr marL="171450" indent="-171450">
              <a:buFont typeface="Arial"/>
              <a:buChar char="•"/>
            </a:pPr>
            <a:r>
              <a:rPr lang="en-US" sz="1200" dirty="0"/>
              <a:t># of </a:t>
            </a:r>
            <a:r>
              <a:rPr lang="en-US" sz="1200" dirty="0" err="1"/>
              <a:t>mappable</a:t>
            </a:r>
            <a:r>
              <a:rPr lang="en-US" sz="1200" dirty="0"/>
              <a:t> bins is less than 2</a:t>
            </a:r>
            <a:r>
              <a:rPr lang="en-US" sz="1200" baseline="30000" dirty="0"/>
              <a:t>N</a:t>
            </a:r>
            <a:r>
              <a:rPr lang="en-US" sz="1200" dirty="0"/>
              <a:t> as lines must now be dedicated to Byte Selection</a:t>
            </a:r>
          </a:p>
          <a:p>
            <a:pPr marL="628650" lvl="1" indent="-171450">
              <a:buFont typeface="Arial"/>
              <a:buChar char="•"/>
            </a:pPr>
            <a:r>
              <a:rPr lang="en-US" sz="1200" dirty="0"/>
              <a:t>In this example, 2 bits for BS, so 2</a:t>
            </a:r>
            <a:r>
              <a:rPr lang="en-US" sz="1200" baseline="30000" dirty="0"/>
              <a:t>(n-2)</a:t>
            </a:r>
            <a:r>
              <a:rPr lang="en-US" sz="1200" dirty="0"/>
              <a:t> == 2</a:t>
            </a:r>
            <a:r>
              <a:rPr lang="en-US" sz="1200" baseline="30000" dirty="0"/>
              <a:t>8</a:t>
            </a:r>
            <a:r>
              <a:rPr lang="en-US" sz="1200" dirty="0"/>
              <a:t> </a:t>
            </a:r>
            <a:r>
              <a:rPr lang="en-US" sz="1200" dirty="0" err="1"/>
              <a:t>mappable</a:t>
            </a:r>
            <a:r>
              <a:rPr lang="en-US" sz="1200" dirty="0"/>
              <a:t> bins, each holding 4B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2413337"/>
            <a:ext cx="5257800" cy="20313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366FF"/>
                </a:solidFill>
              </a:rPr>
              <a:t>A1: </a:t>
            </a:r>
            <a:r>
              <a:rPr lang="en-US" dirty="0">
                <a:solidFill>
                  <a:srgbClr val="000000"/>
                </a:solidFill>
              </a:rPr>
              <a:t>17-bit address bus, so 17x16</a:t>
            </a:r>
          </a:p>
          <a:p>
            <a:r>
              <a:rPr lang="en-US" dirty="0">
                <a:solidFill>
                  <a:srgbClr val="3366FF"/>
                </a:solidFill>
              </a:rPr>
              <a:t>A2: </a:t>
            </a:r>
            <a:r>
              <a:rPr lang="en-US" dirty="0">
                <a:solidFill>
                  <a:schemeClr val="tx1"/>
                </a:solidFill>
              </a:rPr>
              <a:t>2</a:t>
            </a:r>
            <a:r>
              <a:rPr lang="en-US" baseline="30000" dirty="0">
                <a:solidFill>
                  <a:schemeClr val="tx1"/>
                </a:solidFill>
              </a:rPr>
              <a:t>17</a:t>
            </a:r>
            <a:r>
              <a:rPr lang="en-US" dirty="0">
                <a:solidFill>
                  <a:schemeClr val="tx1"/>
                </a:solidFill>
              </a:rPr>
              <a:t> bins, each holding 2 Bytes == 256KB</a:t>
            </a:r>
          </a:p>
          <a:p>
            <a:r>
              <a:rPr lang="en-US" dirty="0">
                <a:solidFill>
                  <a:srgbClr val="3366FF"/>
                </a:solidFill>
              </a:rPr>
              <a:t>A3: </a:t>
            </a:r>
            <a:r>
              <a:rPr lang="en-US" dirty="0">
                <a:solidFill>
                  <a:schemeClr val="tx1"/>
                </a:solidFill>
              </a:rPr>
              <a:t>32K ==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2</a:t>
            </a:r>
            <a:r>
              <a:rPr lang="en-US" baseline="30000" dirty="0">
                <a:solidFill>
                  <a:schemeClr val="tx1"/>
                </a:solidFill>
              </a:rPr>
              <a:t>15</a:t>
            </a:r>
            <a:r>
              <a:rPr lang="en-US" dirty="0">
                <a:solidFill>
                  <a:schemeClr val="tx1"/>
                </a:solidFill>
              </a:rPr>
              <a:t>, so 15 address lines</a:t>
            </a:r>
            <a:endParaRPr lang="en-US" baseline="30000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rgbClr val="3366FF"/>
                </a:solidFill>
              </a:rPr>
              <a:t>A4:</a:t>
            </a:r>
            <a:r>
              <a:rPr lang="en-US" dirty="0">
                <a:solidFill>
                  <a:schemeClr val="tx1"/>
                </a:solidFill>
              </a:rPr>
              <a:t> 17-15 == 2 page bits.  Or 128K/32K == 4 pages</a:t>
            </a:r>
          </a:p>
          <a:p>
            <a:r>
              <a:rPr lang="en-US" dirty="0">
                <a:solidFill>
                  <a:srgbClr val="3366FF"/>
                </a:solidFill>
              </a:rPr>
              <a:t>A5:</a:t>
            </a:r>
            <a:r>
              <a:rPr lang="en-US" dirty="0">
                <a:solidFill>
                  <a:schemeClr val="tx1"/>
                </a:solidFill>
              </a:rPr>
              <a:t> None, by definition</a:t>
            </a:r>
          </a:p>
          <a:p>
            <a:r>
              <a:rPr lang="en-US" dirty="0">
                <a:solidFill>
                  <a:srgbClr val="3366FF"/>
                </a:solidFill>
              </a:rPr>
              <a:t>A5:</a:t>
            </a:r>
            <a:r>
              <a:rPr lang="en-US" dirty="0"/>
              <a:t> 2 chip per page to match the x16 data stride</a:t>
            </a:r>
          </a:p>
          <a:p>
            <a:r>
              <a:rPr lang="en-US" dirty="0">
                <a:solidFill>
                  <a:srgbClr val="3366FF"/>
                </a:solidFill>
              </a:rPr>
              <a:t>A6:</a:t>
            </a:r>
            <a:r>
              <a:rPr lang="en-US" dirty="0"/>
              <a:t> 4 pages with 2 chips per page == 8</a:t>
            </a:r>
          </a:p>
        </p:txBody>
      </p:sp>
    </p:spTree>
    <p:extLst>
      <p:ext uri="{BB962C8B-B14F-4D97-AF65-F5344CB8AC3E}">
        <p14:creationId xmlns:p14="http://schemas.microsoft.com/office/powerpoint/2010/main" val="408140134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229600" cy="838200"/>
          </a:xfrm>
        </p:spPr>
        <p:txBody>
          <a:bodyPr/>
          <a:lstStyle/>
          <a:p>
            <a:r>
              <a:rPr lang="en-US" dirty="0"/>
              <a:t>Color Blind Example #4</a:t>
            </a:r>
          </a:p>
        </p:txBody>
      </p:sp>
      <p:sp>
        <p:nvSpPr>
          <p:cNvPr id="56323" name="Content Placeholder 2"/>
          <p:cNvSpPr>
            <a:spLocks noGrp="1"/>
          </p:cNvSpPr>
          <p:nvPr>
            <p:ph idx="1"/>
          </p:nvPr>
        </p:nvSpPr>
        <p:spPr>
          <a:xfrm>
            <a:off x="-25400" y="762000"/>
            <a:ext cx="8178800" cy="5562600"/>
          </a:xfrm>
        </p:spPr>
        <p:txBody>
          <a:bodyPr>
            <a:normAutofit/>
          </a:bodyPr>
          <a:lstStyle/>
          <a:p>
            <a:r>
              <a:rPr lang="en-US" sz="1800" dirty="0"/>
              <a:t>A </a:t>
            </a:r>
            <a:r>
              <a:rPr lang="en-US" sz="1800" i="1" dirty="0"/>
              <a:t>µ</a:t>
            </a:r>
            <a:r>
              <a:rPr lang="en-US" sz="1800" dirty="0"/>
              <a:t>P has 10-bit address bus and 32-bit wide data bus. Assume that you are accessing a memory system that has been built using 128 x 8 memory chips. The </a:t>
            </a:r>
            <a:r>
              <a:rPr lang="en-US" sz="1800" i="1" dirty="0"/>
              <a:t>µ</a:t>
            </a:r>
            <a:r>
              <a:rPr lang="en-US" sz="1800" dirty="0"/>
              <a:t>P is </a:t>
            </a:r>
            <a:r>
              <a:rPr lang="en-US" sz="1800" b="1" dirty="0"/>
              <a:t>byte-addressable.</a:t>
            </a:r>
            <a:r>
              <a:rPr lang="en-US" sz="1800" dirty="0"/>
              <a:t>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How many bits do you need for byte selection?</a:t>
            </a:r>
            <a:endParaRPr lang="en-US" sz="1800" dirty="0">
              <a:solidFill>
                <a:srgbClr val="FF0000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How many offset bits do you need?</a:t>
            </a:r>
            <a:endParaRPr lang="en-US" sz="1800" dirty="0">
              <a:solidFill>
                <a:srgbClr val="FF0000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How many pages do you have?</a:t>
            </a:r>
          </a:p>
          <a:p>
            <a:pPr marL="457200" lvl="1" indent="0">
              <a:buNone/>
            </a:pPr>
            <a:endParaRPr lang="en-US" sz="18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lang="en-US" sz="18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lang="en-US" sz="1800" dirty="0">
              <a:solidFill>
                <a:srgbClr val="FF0000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Divide the 10-bit address lines into page number bits, offset bits and byte address bits.</a:t>
            </a:r>
          </a:p>
          <a:p>
            <a:pPr marL="457200" lvl="1" indent="0">
              <a:buNone/>
            </a:pPr>
            <a:endParaRPr lang="en-US" sz="1800" dirty="0"/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How many 128 x 8 memory chips do you need to completely fill the memory space of this processor?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How much memory total does the processor have, in Bytes?</a:t>
            </a:r>
            <a:endParaRPr lang="en-US" sz="1800" dirty="0">
              <a:solidFill>
                <a:srgbClr val="FF0000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Draw the configuration.</a:t>
            </a:r>
          </a:p>
          <a:p>
            <a:pPr marL="457200" lvl="1" indent="0">
              <a:buNone/>
            </a:pPr>
            <a:endParaRPr lang="en-US" sz="1800" dirty="0">
              <a:solidFill>
                <a:srgbClr val="FF0000"/>
              </a:solidFill>
            </a:endParaRPr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>
              <a:buFont typeface="Arial" charset="0"/>
              <a:buNone/>
            </a:pPr>
            <a:endParaRPr lang="en-US" sz="1800" dirty="0"/>
          </a:p>
          <a:p>
            <a:pPr lvl="1"/>
            <a:endParaRPr lang="en-US" sz="1800" dirty="0"/>
          </a:p>
        </p:txBody>
      </p:sp>
      <p:sp>
        <p:nvSpPr>
          <p:cNvPr id="3" name="TextBox 2"/>
          <p:cNvSpPr txBox="1"/>
          <p:nvPr/>
        </p:nvSpPr>
        <p:spPr>
          <a:xfrm>
            <a:off x="-25400" y="2895600"/>
            <a:ext cx="3124199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# of addressable bins (larger)</a:t>
            </a:r>
          </a:p>
          <a:p>
            <a:r>
              <a:rPr lang="en-US" sz="1200" dirty="0"/>
              <a:t>--------------------------------------- = # of pages</a:t>
            </a:r>
          </a:p>
          <a:p>
            <a:r>
              <a:rPr lang="en-US" sz="1200" dirty="0"/>
              <a:t># of addressable bins (smaller)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24200" y="2895600"/>
            <a:ext cx="31242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# of Bytes or bits (larger)</a:t>
            </a:r>
          </a:p>
          <a:p>
            <a:r>
              <a:rPr lang="en-US" sz="1200" dirty="0"/>
              <a:t>--------------------------------------- = # of chips</a:t>
            </a:r>
          </a:p>
          <a:p>
            <a:r>
              <a:rPr lang="en-US" sz="1200" dirty="0"/>
              <a:t># of Bytes or bits (smaller)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19800" y="2895600"/>
            <a:ext cx="31242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# of chips</a:t>
            </a:r>
          </a:p>
          <a:p>
            <a:r>
              <a:rPr lang="en-US" sz="1200" dirty="0"/>
              <a:t>----------------------------- = chips per page</a:t>
            </a:r>
          </a:p>
          <a:p>
            <a:r>
              <a:rPr lang="en-US" sz="1200" dirty="0"/>
              <a:t># of pages                                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03600" y="6045280"/>
            <a:ext cx="62484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If byte-selectable on an N x 8 system: addressable bins == addressable bytes == 2</a:t>
            </a:r>
            <a:r>
              <a:rPr lang="en-US" sz="1200" baseline="30000" dirty="0"/>
              <a:t>N</a:t>
            </a:r>
            <a:endParaRPr lang="en-US" sz="1200" dirty="0"/>
          </a:p>
          <a:p>
            <a:r>
              <a:rPr lang="en-US" sz="1200" dirty="0"/>
              <a:t>If byte-selectable on N x M where M &gt; 8, this means:</a:t>
            </a:r>
          </a:p>
          <a:p>
            <a:pPr marL="171450" indent="-171450">
              <a:buFont typeface="Arial"/>
              <a:buChar char="•"/>
            </a:pPr>
            <a:r>
              <a:rPr lang="en-US" sz="1200" dirty="0"/>
              <a:t>more than one byte per page (could still be one chip per page)</a:t>
            </a:r>
          </a:p>
          <a:p>
            <a:pPr marL="171450" indent="-171450">
              <a:buFont typeface="Arial"/>
              <a:buChar char="•"/>
            </a:pPr>
            <a:r>
              <a:rPr lang="en-US" sz="1200" dirty="0"/>
              <a:t># of </a:t>
            </a:r>
            <a:r>
              <a:rPr lang="en-US" sz="1200" dirty="0" err="1"/>
              <a:t>mappable</a:t>
            </a:r>
            <a:r>
              <a:rPr lang="en-US" sz="1200" dirty="0"/>
              <a:t> bins is less than 2</a:t>
            </a:r>
            <a:r>
              <a:rPr lang="en-US" sz="1200" baseline="30000" dirty="0"/>
              <a:t>N</a:t>
            </a:r>
            <a:r>
              <a:rPr lang="en-US" sz="1200" dirty="0"/>
              <a:t> as lines must now be dedicated to Byte Selection</a:t>
            </a:r>
          </a:p>
          <a:p>
            <a:pPr marL="628650" lvl="1" indent="-171450">
              <a:buFont typeface="Arial"/>
              <a:buChar char="•"/>
            </a:pPr>
            <a:r>
              <a:rPr lang="en-US" sz="1200" dirty="0"/>
              <a:t>In this example, 2 bits for BS, so 2</a:t>
            </a:r>
            <a:r>
              <a:rPr lang="en-US" sz="1200" baseline="30000" dirty="0"/>
              <a:t>(n-2)</a:t>
            </a:r>
            <a:r>
              <a:rPr lang="en-US" sz="1200" dirty="0"/>
              <a:t> == 2</a:t>
            </a:r>
            <a:r>
              <a:rPr lang="en-US" sz="1200" baseline="30000" dirty="0"/>
              <a:t>8</a:t>
            </a:r>
            <a:r>
              <a:rPr lang="en-US" sz="1200" dirty="0"/>
              <a:t> </a:t>
            </a:r>
            <a:r>
              <a:rPr lang="en-US" sz="1200" dirty="0" err="1"/>
              <a:t>mappable</a:t>
            </a:r>
            <a:r>
              <a:rPr lang="en-US" sz="1200" dirty="0"/>
              <a:t> bins, each holding 4B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3300" y="1560731"/>
            <a:ext cx="5487540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</a:rPr>
              <a:t>A1:</a:t>
            </a:r>
            <a:r>
              <a:rPr lang="en-US" dirty="0"/>
              <a:t> 4 Bytes, so 2</a:t>
            </a:r>
            <a:r>
              <a:rPr lang="en-US" baseline="30000" dirty="0"/>
              <a:t> </a:t>
            </a:r>
            <a:r>
              <a:rPr lang="en-US" dirty="0"/>
              <a:t>BS bits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780" y="1873538"/>
            <a:ext cx="5474840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</a:rPr>
              <a:t>A2:</a:t>
            </a:r>
            <a:r>
              <a:rPr lang="en-US" dirty="0"/>
              <a:t> log</a:t>
            </a:r>
            <a:r>
              <a:rPr lang="en-US" baseline="-25000" dirty="0"/>
              <a:t>2</a:t>
            </a:r>
            <a:r>
              <a:rPr lang="en-US" dirty="0"/>
              <a:t>128 = 7 offset bits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297851"/>
            <a:ext cx="8305800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</a:rPr>
              <a:t>A3:</a:t>
            </a:r>
            <a:r>
              <a:rPr lang="en-US" dirty="0"/>
              <a:t> 10-2-7 = 1 page bit for 2 pages </a:t>
            </a:r>
            <a:r>
              <a:rPr lang="en-US" i="1" dirty="0">
                <a:solidFill>
                  <a:srgbClr val="008000"/>
                </a:solidFill>
              </a:rPr>
              <a:t>or</a:t>
            </a:r>
            <a:r>
              <a:rPr lang="en-US" dirty="0"/>
              <a:t> 2</a:t>
            </a:r>
            <a:r>
              <a:rPr lang="en-US" baseline="30000" dirty="0"/>
              <a:t>10</a:t>
            </a:r>
            <a:r>
              <a:rPr lang="en-US" dirty="0"/>
              <a:t>/2</a:t>
            </a:r>
            <a:r>
              <a:rPr lang="en-US" baseline="30000" dirty="0"/>
              <a:t>7 </a:t>
            </a:r>
            <a:r>
              <a:rPr lang="en-US" dirty="0"/>
              <a:t>=2</a:t>
            </a:r>
            <a:r>
              <a:rPr lang="en-US" baseline="30000" dirty="0"/>
              <a:t>3</a:t>
            </a:r>
            <a:r>
              <a:rPr lang="en-US" dirty="0"/>
              <a:t> chips and if 4 chips/page, 2 pages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8400" y="4004028"/>
            <a:ext cx="7464812" cy="54073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</a:rPr>
              <a:t>A4:</a:t>
            </a:r>
            <a:r>
              <a:rPr lang="en-US" dirty="0"/>
              <a:t> (1)(7)(2)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0" y="4588612"/>
            <a:ext cx="4063168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</a:rPr>
              <a:t>A5:</a:t>
            </a:r>
            <a:r>
              <a:rPr lang="en-US" dirty="0"/>
              <a:t> 4 per page &amp; 2 pages = 8 chips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40444" y="5001789"/>
            <a:ext cx="4213555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</a:rPr>
              <a:t>A6:</a:t>
            </a:r>
            <a:r>
              <a:rPr lang="en-US" dirty="0"/>
              <a:t> 4 chips per row/page and 2 rows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142264"/>
              </p:ext>
            </p:extLst>
          </p:nvPr>
        </p:nvGraphicFramePr>
        <p:xfrm>
          <a:off x="7772399" y="4113440"/>
          <a:ext cx="5105401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6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0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page(1)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offset(7)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byte(2)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-4902200" y="5842337"/>
            <a:ext cx="7772400" cy="57250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/>
              <a:t>Page 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-3095955" y="5946429"/>
            <a:ext cx="1622755" cy="36431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</a:rPr>
              <a:t>128x8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-1419555" y="5946429"/>
            <a:ext cx="1622755" cy="36431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</a:rPr>
              <a:t>128x8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6845" y="5946429"/>
            <a:ext cx="1622755" cy="36431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128x8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-4772355" y="5946429"/>
            <a:ext cx="1622755" cy="36431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</a:rPr>
              <a:t>128x8</a:t>
            </a:r>
          </a:p>
        </p:txBody>
      </p:sp>
    </p:spTree>
    <p:extLst>
      <p:ext uri="{BB962C8B-B14F-4D97-AF65-F5344CB8AC3E}">
        <p14:creationId xmlns:p14="http://schemas.microsoft.com/office/powerpoint/2010/main" val="182243126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821155"/>
          </a:xfrm>
        </p:spPr>
        <p:txBody>
          <a:bodyPr/>
          <a:lstStyle/>
          <a:p>
            <a:r>
              <a:rPr lang="en-US" dirty="0">
                <a:solidFill>
                  <a:srgbClr val="008000"/>
                </a:solidFill>
              </a:rPr>
              <a:t>Page</a:t>
            </a:r>
            <a:r>
              <a:rPr lang="en-US" dirty="0"/>
              <a:t> : </a:t>
            </a:r>
            <a:r>
              <a:rPr lang="en-US" dirty="0">
                <a:solidFill>
                  <a:srgbClr val="FF6600"/>
                </a:solidFill>
              </a:rPr>
              <a:t>Offset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0" y="6248400"/>
            <a:ext cx="2167112" cy="468411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What else?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80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7873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3346055"/>
            <a:ext cx="7632432" cy="3359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229600" cy="838200"/>
          </a:xfrm>
        </p:spPr>
        <p:txBody>
          <a:bodyPr/>
          <a:lstStyle/>
          <a:p>
            <a:r>
              <a:rPr lang="en-US" dirty="0">
                <a:solidFill>
                  <a:srgbClr val="008000"/>
                </a:solidFill>
              </a:rPr>
              <a:t>Paging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260" y="1017588"/>
            <a:ext cx="8996680" cy="4773612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1800" dirty="0"/>
              <a:t>Processors with smaller address spaces can still manipulate larger memory arrays with techniques such as </a:t>
            </a:r>
            <a:r>
              <a:rPr lang="en-US" sz="1800" b="1" i="1" dirty="0">
                <a:solidFill>
                  <a:srgbClr val="008000"/>
                </a:solidFill>
              </a:rPr>
              <a:t>Paging</a:t>
            </a:r>
          </a:p>
          <a:p>
            <a:pPr lvl="1">
              <a:lnSpc>
                <a:spcPct val="110000"/>
              </a:lnSpc>
            </a:pPr>
            <a:r>
              <a:rPr lang="en-US" sz="1800" dirty="0"/>
              <a:t>Special memory or I/O location used to swap in and out memory pages</a:t>
            </a:r>
          </a:p>
          <a:p>
            <a:pPr>
              <a:lnSpc>
                <a:spcPct val="110000"/>
              </a:lnSpc>
            </a:pPr>
            <a:r>
              <a:rPr lang="en-US" sz="1800" b="1" i="1" dirty="0">
                <a:solidFill>
                  <a:srgbClr val="008000"/>
                </a:solidFill>
              </a:rPr>
              <a:t>Hardware paging </a:t>
            </a:r>
            <a:r>
              <a:rPr lang="en-US" sz="1800" b="1" i="1" dirty="0"/>
              <a:t>should not be confused with virtual addresses &amp; </a:t>
            </a:r>
            <a:r>
              <a:rPr lang="en-US" sz="1800" b="1" i="1" dirty="0" err="1"/>
              <a:t>VPaging</a:t>
            </a:r>
            <a:endParaRPr lang="en-US" sz="1800" b="1" i="1" dirty="0"/>
          </a:p>
          <a:p>
            <a:pPr>
              <a:lnSpc>
                <a:spcPct val="110000"/>
              </a:lnSpc>
            </a:pPr>
            <a:r>
              <a:rPr lang="en-US" sz="1800" dirty="0"/>
              <a:t>In the figure below, writing a data value to the </a:t>
            </a:r>
            <a:r>
              <a:rPr lang="en-US" sz="1800" b="1" dirty="0">
                <a:solidFill>
                  <a:srgbClr val="008000"/>
                </a:solidFill>
              </a:rPr>
              <a:t>page select register </a:t>
            </a:r>
            <a:r>
              <a:rPr lang="en-US" sz="1800" dirty="0"/>
              <a:t>will cause a page swap to occur </a:t>
            </a:r>
          </a:p>
          <a:p>
            <a:pPr>
              <a:lnSpc>
                <a:spcPct val="110000"/>
              </a:lnSpc>
            </a:pPr>
            <a:endParaRPr lang="en-US" sz="1800" b="1" i="1" dirty="0"/>
          </a:p>
          <a:p>
            <a:pPr algn="ctr">
              <a:lnSpc>
                <a:spcPct val="110000"/>
              </a:lnSpc>
            </a:pPr>
            <a:endParaRPr lang="en-US" sz="1800" dirty="0"/>
          </a:p>
          <a:p>
            <a:pPr algn="ctr">
              <a:lnSpc>
                <a:spcPct val="110000"/>
              </a:lnSpc>
            </a:pPr>
            <a:endParaRPr lang="en-US" sz="1800" dirty="0"/>
          </a:p>
          <a:p>
            <a:pPr>
              <a:lnSpc>
                <a:spcPct val="110000"/>
              </a:lnSpc>
            </a:pPr>
            <a:endParaRPr lang="en-US" sz="1800" dirty="0"/>
          </a:p>
        </p:txBody>
      </p:sp>
      <p:grpSp>
        <p:nvGrpSpPr>
          <p:cNvPr id="53253" name="Group 9"/>
          <p:cNvGrpSpPr>
            <a:grpSpLocks/>
          </p:cNvGrpSpPr>
          <p:nvPr/>
        </p:nvGrpSpPr>
        <p:grpSpPr bwMode="auto">
          <a:xfrm>
            <a:off x="3124200" y="6056312"/>
            <a:ext cx="801687" cy="420688"/>
            <a:chOff x="791111" y="5640512"/>
            <a:chExt cx="801384" cy="421240"/>
          </a:xfrm>
        </p:grpSpPr>
        <p:sp>
          <p:nvSpPr>
            <p:cNvPr id="53259" name="Rectangle 6"/>
            <p:cNvSpPr>
              <a:spLocks noChangeArrowheads="1"/>
            </p:cNvSpPr>
            <p:nvPr/>
          </p:nvSpPr>
          <p:spPr bwMode="auto">
            <a:xfrm>
              <a:off x="791111" y="5640512"/>
              <a:ext cx="801384" cy="421240"/>
            </a:xfrm>
            <a:prstGeom prst="rect">
              <a:avLst/>
            </a:prstGeom>
            <a:solidFill>
              <a:schemeClr val="bg1"/>
            </a:solidFill>
            <a:ln w="1905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 sz="1400" b="1"/>
            </a:p>
          </p:txBody>
        </p:sp>
        <p:sp>
          <p:nvSpPr>
            <p:cNvPr id="53260" name="TextBox 7"/>
            <p:cNvSpPr txBox="1">
              <a:spLocks noChangeArrowheads="1"/>
            </p:cNvSpPr>
            <p:nvPr/>
          </p:nvSpPr>
          <p:spPr bwMode="auto">
            <a:xfrm>
              <a:off x="791111" y="5671335"/>
              <a:ext cx="761459" cy="338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800" b="1" dirty="0">
                  <a:solidFill>
                    <a:srgbClr val="008000"/>
                  </a:solidFill>
                </a:rPr>
                <a:t>Page Select</a:t>
              </a:r>
            </a:p>
            <a:p>
              <a:pPr eaLnBrk="1" hangingPunct="1"/>
              <a:r>
                <a:rPr lang="en-US" sz="800" b="1" dirty="0">
                  <a:solidFill>
                    <a:srgbClr val="008000"/>
                  </a:solidFill>
                </a:rPr>
                <a:t>Register</a:t>
              </a:r>
            </a:p>
          </p:txBody>
        </p:sp>
      </p:grpSp>
      <p:sp>
        <p:nvSpPr>
          <p:cNvPr id="53254" name="Rectangle 10"/>
          <p:cNvSpPr>
            <a:spLocks noChangeArrowheads="1"/>
          </p:cNvSpPr>
          <p:nvPr/>
        </p:nvSpPr>
        <p:spPr bwMode="auto">
          <a:xfrm>
            <a:off x="3949700" y="6126162"/>
            <a:ext cx="106363" cy="307975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bg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en-US" sz="1400" b="1"/>
          </a:p>
        </p:txBody>
      </p:sp>
      <p:cxnSp>
        <p:nvCxnSpPr>
          <p:cNvPr id="53255" name="Straight Connector 16"/>
          <p:cNvCxnSpPr>
            <a:cxnSpLocks noChangeShapeType="1"/>
          </p:cNvCxnSpPr>
          <p:nvPr/>
        </p:nvCxnSpPr>
        <p:spPr bwMode="auto">
          <a:xfrm>
            <a:off x="3927475" y="6149975"/>
            <a:ext cx="150813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53256" name="Straight Connector 17"/>
          <p:cNvCxnSpPr>
            <a:cxnSpLocks noChangeShapeType="1"/>
          </p:cNvCxnSpPr>
          <p:nvPr/>
        </p:nvCxnSpPr>
        <p:spPr bwMode="auto">
          <a:xfrm>
            <a:off x="3925888" y="6229350"/>
            <a:ext cx="150812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53257" name="Straight Connector 18"/>
          <p:cNvCxnSpPr>
            <a:cxnSpLocks noChangeShapeType="1"/>
          </p:cNvCxnSpPr>
          <p:nvPr/>
        </p:nvCxnSpPr>
        <p:spPr bwMode="auto">
          <a:xfrm>
            <a:off x="3929063" y="6302375"/>
            <a:ext cx="14922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53258" name="Straight Connector 19"/>
          <p:cNvCxnSpPr>
            <a:cxnSpLocks noChangeShapeType="1"/>
          </p:cNvCxnSpPr>
          <p:nvPr/>
        </p:nvCxnSpPr>
        <p:spPr bwMode="auto">
          <a:xfrm>
            <a:off x="3929063" y="6372225"/>
            <a:ext cx="14922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4218735534"/>
      </p:ext>
    </p:extLst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838200" y="5638800"/>
            <a:ext cx="4274820" cy="685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Hardware Addressing subdivides bits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77000" y="3810000"/>
            <a:ext cx="2514600" cy="24384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008000"/>
                </a:solidFill>
              </a:rPr>
              <a:t>Page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7000" y="1295400"/>
            <a:ext cx="2514600" cy="24765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008000"/>
                </a:solidFill>
              </a:rPr>
              <a:t>Page 0</a:t>
            </a:r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229600" cy="838200"/>
          </a:xfrm>
        </p:spPr>
        <p:txBody>
          <a:bodyPr/>
          <a:lstStyle/>
          <a:p>
            <a:r>
              <a:rPr lang="en-US" dirty="0">
                <a:solidFill>
                  <a:srgbClr val="008000"/>
                </a:solidFill>
              </a:rPr>
              <a:t>Paging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72390" y="996950"/>
            <a:ext cx="6621780" cy="51752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1800" dirty="0"/>
              <a:t>Suppose a larger memory chip has </a:t>
            </a:r>
            <a:r>
              <a:rPr lang="en-US" sz="1800" b="1" dirty="0">
                <a:solidFill>
                  <a:srgbClr val="FF6600"/>
                </a:solidFill>
              </a:rPr>
              <a:t>32</a:t>
            </a:r>
            <a:r>
              <a:rPr lang="en-US" sz="1800" dirty="0"/>
              <a:t> X </a:t>
            </a:r>
            <a:r>
              <a:rPr lang="en-US" sz="1800" b="1" dirty="0">
                <a:solidFill>
                  <a:srgbClr val="0000FF"/>
                </a:solidFill>
              </a:rPr>
              <a:t>8</a:t>
            </a:r>
            <a:r>
              <a:rPr lang="en-US" sz="1800" dirty="0"/>
              <a:t> capacity. 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An inner memory chip has </a:t>
            </a:r>
            <a:r>
              <a:rPr lang="en-US" sz="1800" b="1" dirty="0">
                <a:solidFill>
                  <a:srgbClr val="FF6600"/>
                </a:solidFill>
              </a:rPr>
              <a:t>16 addressable spaces</a:t>
            </a:r>
          </a:p>
          <a:p>
            <a:pPr>
              <a:lnSpc>
                <a:spcPct val="110000"/>
              </a:lnSpc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You need </a:t>
            </a:r>
            <a:r>
              <a:rPr lang="en-US" sz="2000" b="1" i="1" dirty="0">
                <a:solidFill>
                  <a:srgbClr val="008000"/>
                </a:solidFill>
              </a:rPr>
              <a:t>2 smaller pages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to build the larger chip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How could we address data at </a:t>
            </a:r>
            <a:r>
              <a:rPr lang="en-US" sz="1800" b="1" dirty="0"/>
              <a:t>14</a:t>
            </a:r>
            <a:r>
              <a:rPr lang="en-US" sz="1800" dirty="0"/>
              <a:t> and </a:t>
            </a:r>
            <a:r>
              <a:rPr lang="en-US" sz="1800" b="1" dirty="0"/>
              <a:t>30</a:t>
            </a:r>
            <a:r>
              <a:rPr lang="en-US" sz="1800" dirty="0"/>
              <a:t>?</a:t>
            </a:r>
          </a:p>
          <a:p>
            <a:pPr lvl="1">
              <a:lnSpc>
                <a:spcPct val="110000"/>
              </a:lnSpc>
            </a:pPr>
            <a:r>
              <a:rPr lang="en-US" sz="1800" b="1" i="1" dirty="0"/>
              <a:t>Method 1: Read an absolute address</a:t>
            </a:r>
          </a:p>
          <a:p>
            <a:pPr lvl="1">
              <a:lnSpc>
                <a:spcPct val="110000"/>
              </a:lnSpc>
              <a:buFont typeface="Arial" charset="0"/>
              <a:buNone/>
            </a:pPr>
            <a:r>
              <a:rPr lang="en-US" sz="1800" dirty="0"/>
              <a:t>	Address 14</a:t>
            </a:r>
            <a:r>
              <a:rPr lang="en-US" sz="1800" baseline="30000" dirty="0"/>
              <a:t>  </a:t>
            </a:r>
            <a:r>
              <a:rPr lang="en-US" sz="1800" dirty="0"/>
              <a:t> = 01110</a:t>
            </a:r>
          </a:p>
          <a:p>
            <a:pPr lvl="1">
              <a:lnSpc>
                <a:spcPct val="110000"/>
              </a:lnSpc>
              <a:buFont typeface="Arial" charset="0"/>
              <a:buNone/>
            </a:pPr>
            <a:r>
              <a:rPr lang="en-US" sz="1800" dirty="0"/>
              <a:t>	Address  30</a:t>
            </a:r>
            <a:r>
              <a:rPr lang="en-US" sz="1800" baseline="30000" dirty="0"/>
              <a:t> </a:t>
            </a:r>
            <a:r>
              <a:rPr lang="en-US" sz="1800" dirty="0"/>
              <a:t> = 11110</a:t>
            </a:r>
          </a:p>
          <a:p>
            <a:pPr lvl="1">
              <a:lnSpc>
                <a:spcPct val="110000"/>
              </a:lnSpc>
            </a:pPr>
            <a:r>
              <a:rPr lang="en-US" sz="1800" b="1" i="1" dirty="0"/>
              <a:t>Method 2: Read with </a:t>
            </a:r>
            <a:r>
              <a:rPr lang="en-US" sz="1800" b="1" i="1" dirty="0">
                <a:solidFill>
                  <a:srgbClr val="008000"/>
                </a:solidFill>
              </a:rPr>
              <a:t>page number </a:t>
            </a:r>
            <a:r>
              <a:rPr lang="en-US" sz="1800" b="1" i="1" dirty="0"/>
              <a:t>and </a:t>
            </a:r>
            <a:r>
              <a:rPr lang="en-US" sz="1800" b="1" i="1" dirty="0">
                <a:solidFill>
                  <a:srgbClr val="FF6600"/>
                </a:solidFill>
              </a:rPr>
              <a:t>offset</a:t>
            </a:r>
            <a:r>
              <a:rPr lang="en-US" sz="1800" b="1" i="1" dirty="0"/>
              <a:t>, </a:t>
            </a:r>
            <a:r>
              <a:rPr lang="en-US" sz="1800" i="1" dirty="0"/>
              <a:t>(assuming that 0 to 15 at the </a:t>
            </a:r>
            <a:r>
              <a:rPr lang="en-US" sz="1800" b="1" i="1" dirty="0">
                <a:solidFill>
                  <a:srgbClr val="008000"/>
                </a:solidFill>
              </a:rPr>
              <a:t>0th page</a:t>
            </a:r>
            <a:r>
              <a:rPr lang="en-US" sz="1800" i="1" dirty="0"/>
              <a:t>, 16-31 on the next </a:t>
            </a:r>
            <a:r>
              <a:rPr lang="en-US" sz="1800" b="1" i="1" dirty="0">
                <a:solidFill>
                  <a:srgbClr val="008000"/>
                </a:solidFill>
              </a:rPr>
              <a:t>page</a:t>
            </a:r>
            <a:r>
              <a:rPr lang="en-US" sz="1800" i="1" dirty="0"/>
              <a:t>.)</a:t>
            </a:r>
          </a:p>
          <a:p>
            <a:pPr marL="857250" lvl="2" indent="0">
              <a:lnSpc>
                <a:spcPct val="110000"/>
              </a:lnSpc>
              <a:buFont typeface="Arial" charset="0"/>
              <a:buNone/>
            </a:pPr>
            <a:r>
              <a:rPr lang="en-US" sz="1800" dirty="0"/>
              <a:t>Address 14</a:t>
            </a:r>
            <a:r>
              <a:rPr lang="en-US" sz="1800" baseline="30000" dirty="0"/>
              <a:t> </a:t>
            </a:r>
            <a:r>
              <a:rPr lang="en-US" sz="1800" dirty="0"/>
              <a:t>  = 0 1110 (</a:t>
            </a:r>
            <a:r>
              <a:rPr lang="en-US" sz="1800" b="1" dirty="0">
                <a:solidFill>
                  <a:srgbClr val="008000"/>
                </a:solidFill>
              </a:rPr>
              <a:t>page 0</a:t>
            </a:r>
            <a:r>
              <a:rPr lang="en-US" sz="1800" dirty="0"/>
              <a:t> : </a:t>
            </a:r>
            <a:r>
              <a:rPr lang="en-US" sz="1800" b="1" dirty="0">
                <a:solidFill>
                  <a:srgbClr val="FF6600"/>
                </a:solidFill>
              </a:rPr>
              <a:t>offset 1110</a:t>
            </a:r>
            <a:r>
              <a:rPr lang="en-US" sz="1800" dirty="0"/>
              <a:t>)</a:t>
            </a:r>
          </a:p>
          <a:p>
            <a:pPr marL="857250" lvl="2" indent="0">
              <a:lnSpc>
                <a:spcPct val="110000"/>
              </a:lnSpc>
              <a:buNone/>
            </a:pPr>
            <a:r>
              <a:rPr lang="en-US" sz="1800" dirty="0"/>
              <a:t>Address 30</a:t>
            </a:r>
            <a:r>
              <a:rPr lang="en-US" sz="1800" baseline="30000" dirty="0"/>
              <a:t> </a:t>
            </a:r>
            <a:r>
              <a:rPr lang="en-US" sz="1800" dirty="0"/>
              <a:t>  = 1 1110 (</a:t>
            </a:r>
            <a:r>
              <a:rPr lang="en-US" sz="1800" b="1" dirty="0">
                <a:solidFill>
                  <a:srgbClr val="008000"/>
                </a:solidFill>
              </a:rPr>
              <a:t>page 1</a:t>
            </a:r>
            <a:r>
              <a:rPr lang="en-US" sz="1800" dirty="0"/>
              <a:t> : </a:t>
            </a:r>
            <a:r>
              <a:rPr lang="en-US" sz="1800" b="1" dirty="0">
                <a:solidFill>
                  <a:srgbClr val="FF6600"/>
                </a:solidFill>
              </a:rPr>
              <a:t>offset 1110</a:t>
            </a:r>
            <a:r>
              <a:rPr lang="en-US" sz="1800" dirty="0"/>
              <a:t>)</a:t>
            </a:r>
          </a:p>
          <a:p>
            <a:pPr marL="857250" lvl="2" indent="0">
              <a:lnSpc>
                <a:spcPct val="110000"/>
              </a:lnSpc>
              <a:buFont typeface="Arial" charset="0"/>
              <a:buNone/>
            </a:pPr>
            <a:endParaRPr lang="en-US" sz="1800" dirty="0"/>
          </a:p>
          <a:p>
            <a:pPr lvl="1">
              <a:lnSpc>
                <a:spcPct val="110000"/>
              </a:lnSpc>
            </a:pPr>
            <a:endParaRPr lang="en-US" sz="1800" b="1" i="1" dirty="0"/>
          </a:p>
          <a:p>
            <a:pPr algn="ctr">
              <a:lnSpc>
                <a:spcPct val="110000"/>
              </a:lnSpc>
            </a:pPr>
            <a:endParaRPr lang="en-US" sz="1800" dirty="0"/>
          </a:p>
          <a:p>
            <a:pPr algn="ctr">
              <a:lnSpc>
                <a:spcPct val="110000"/>
              </a:lnSpc>
            </a:pPr>
            <a:endParaRPr lang="en-US" sz="1800" dirty="0"/>
          </a:p>
          <a:p>
            <a:pPr>
              <a:lnSpc>
                <a:spcPct val="110000"/>
              </a:lnSpc>
            </a:pPr>
            <a:endParaRPr lang="en-US" sz="18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622869"/>
              </p:ext>
            </p:extLst>
          </p:nvPr>
        </p:nvGraphicFramePr>
        <p:xfrm>
          <a:off x="6858000" y="1066324"/>
          <a:ext cx="1295400" cy="271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400" dirty="0"/>
                    </a:p>
                    <a:p>
                      <a:endParaRPr lang="en-US" sz="400" dirty="0"/>
                    </a:p>
                    <a:p>
                      <a:endParaRPr lang="en-US" sz="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968279"/>
              </p:ext>
            </p:extLst>
          </p:nvPr>
        </p:nvGraphicFramePr>
        <p:xfrm>
          <a:off x="6858000" y="3809524"/>
          <a:ext cx="1295400" cy="2438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350"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solidFill>
                      <a:schemeClr val="accent2">
                        <a:alpha val="1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solidFill>
                      <a:schemeClr val="accent2">
                        <a:alpha val="1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860200" y="1066324"/>
            <a:ext cx="12170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Address 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3200" y="1295142"/>
            <a:ext cx="3810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7030A0"/>
                </a:solidFill>
              </a:rPr>
              <a:t>0 </a:t>
            </a:r>
          </a:p>
          <a:p>
            <a:r>
              <a:rPr lang="en-US" sz="1000" b="1" dirty="0">
                <a:solidFill>
                  <a:srgbClr val="7030A0"/>
                </a:solidFill>
              </a:rPr>
              <a:t>1  </a:t>
            </a:r>
          </a:p>
          <a:p>
            <a:r>
              <a:rPr lang="en-US" sz="1000" b="1" dirty="0">
                <a:solidFill>
                  <a:srgbClr val="7030A0"/>
                </a:solidFill>
              </a:rPr>
              <a:t>2 </a:t>
            </a:r>
          </a:p>
          <a:p>
            <a:r>
              <a:rPr lang="en-US" sz="1000" b="1" dirty="0">
                <a:solidFill>
                  <a:srgbClr val="7030A0"/>
                </a:solidFill>
              </a:rPr>
              <a:t>3 </a:t>
            </a:r>
          </a:p>
          <a:p>
            <a:r>
              <a:rPr lang="en-US" sz="1000" b="1" dirty="0">
                <a:solidFill>
                  <a:srgbClr val="7030A0"/>
                </a:solidFill>
              </a:rPr>
              <a:t>4</a:t>
            </a:r>
          </a:p>
          <a:p>
            <a:r>
              <a:rPr lang="en-US" sz="1000" b="1" dirty="0">
                <a:solidFill>
                  <a:srgbClr val="7030A0"/>
                </a:solidFill>
              </a:rPr>
              <a:t>5 </a:t>
            </a:r>
          </a:p>
          <a:p>
            <a:r>
              <a:rPr lang="en-US" sz="1000" b="1" dirty="0">
                <a:solidFill>
                  <a:srgbClr val="7030A0"/>
                </a:solidFill>
              </a:rPr>
              <a:t>6 </a:t>
            </a:r>
          </a:p>
          <a:p>
            <a:r>
              <a:rPr lang="en-US" sz="1000" b="1" dirty="0">
                <a:solidFill>
                  <a:srgbClr val="7030A0"/>
                </a:solidFill>
              </a:rPr>
              <a:t>7 </a:t>
            </a:r>
          </a:p>
          <a:p>
            <a:r>
              <a:rPr lang="en-US" sz="1000" b="1" dirty="0">
                <a:solidFill>
                  <a:srgbClr val="7030A0"/>
                </a:solidFill>
              </a:rPr>
              <a:t>8 </a:t>
            </a:r>
          </a:p>
          <a:p>
            <a:r>
              <a:rPr lang="en-US" sz="1000" b="1" dirty="0">
                <a:solidFill>
                  <a:srgbClr val="7030A0"/>
                </a:solidFill>
              </a:rPr>
              <a:t>9 10 11 12 13</a:t>
            </a:r>
          </a:p>
          <a:p>
            <a:r>
              <a:rPr lang="en-US" sz="1000" b="1" dirty="0">
                <a:solidFill>
                  <a:srgbClr val="7030A0"/>
                </a:solidFill>
              </a:rPr>
              <a:t>14</a:t>
            </a:r>
          </a:p>
          <a:p>
            <a:r>
              <a:rPr lang="en-US" sz="1000" b="1" dirty="0">
                <a:solidFill>
                  <a:srgbClr val="7030A0"/>
                </a:solidFill>
              </a:rPr>
              <a:t>15</a:t>
            </a:r>
          </a:p>
          <a:p>
            <a:r>
              <a:rPr lang="en-US" sz="1000" b="1" dirty="0">
                <a:solidFill>
                  <a:srgbClr val="7030A0"/>
                </a:solidFill>
              </a:rPr>
              <a:t>16</a:t>
            </a:r>
          </a:p>
          <a:p>
            <a:r>
              <a:rPr lang="en-US" sz="1000" b="1" dirty="0">
                <a:solidFill>
                  <a:srgbClr val="7030A0"/>
                </a:solidFill>
              </a:rPr>
              <a:t>17</a:t>
            </a:r>
          </a:p>
          <a:p>
            <a:r>
              <a:rPr lang="en-US" sz="1000" b="1" dirty="0">
                <a:solidFill>
                  <a:srgbClr val="7030A0"/>
                </a:solidFill>
              </a:rPr>
              <a:t>18</a:t>
            </a:r>
          </a:p>
          <a:p>
            <a:r>
              <a:rPr lang="en-US" sz="1000" b="1" dirty="0">
                <a:solidFill>
                  <a:srgbClr val="7030A0"/>
                </a:solidFill>
              </a:rPr>
              <a:t>19</a:t>
            </a:r>
          </a:p>
          <a:p>
            <a:r>
              <a:rPr lang="en-US" sz="1000" b="1" dirty="0">
                <a:solidFill>
                  <a:srgbClr val="7030A0"/>
                </a:solidFill>
              </a:rPr>
              <a:t>20</a:t>
            </a:r>
          </a:p>
          <a:p>
            <a:r>
              <a:rPr lang="en-US" sz="1000" b="1" dirty="0">
                <a:solidFill>
                  <a:srgbClr val="7030A0"/>
                </a:solidFill>
              </a:rPr>
              <a:t>21</a:t>
            </a:r>
          </a:p>
          <a:p>
            <a:r>
              <a:rPr lang="en-US" sz="1000" b="1" dirty="0">
                <a:solidFill>
                  <a:srgbClr val="7030A0"/>
                </a:solidFill>
              </a:rPr>
              <a:t>22</a:t>
            </a:r>
          </a:p>
          <a:p>
            <a:r>
              <a:rPr lang="en-US" sz="1000" b="1" dirty="0">
                <a:solidFill>
                  <a:srgbClr val="7030A0"/>
                </a:solidFill>
              </a:rPr>
              <a:t>23</a:t>
            </a:r>
          </a:p>
          <a:p>
            <a:r>
              <a:rPr lang="en-US" sz="1000" b="1" dirty="0">
                <a:solidFill>
                  <a:srgbClr val="7030A0"/>
                </a:solidFill>
              </a:rPr>
              <a:t>24</a:t>
            </a:r>
          </a:p>
          <a:p>
            <a:r>
              <a:rPr lang="en-US" sz="1000" b="1" dirty="0">
                <a:solidFill>
                  <a:srgbClr val="7030A0"/>
                </a:solidFill>
              </a:rPr>
              <a:t>25</a:t>
            </a:r>
          </a:p>
          <a:p>
            <a:r>
              <a:rPr lang="en-US" sz="1000" b="1" dirty="0">
                <a:solidFill>
                  <a:srgbClr val="7030A0"/>
                </a:solidFill>
              </a:rPr>
              <a:t>26</a:t>
            </a:r>
          </a:p>
          <a:p>
            <a:r>
              <a:rPr lang="en-US" sz="1000" b="1" dirty="0">
                <a:solidFill>
                  <a:srgbClr val="7030A0"/>
                </a:solidFill>
              </a:rPr>
              <a:t>27</a:t>
            </a:r>
          </a:p>
          <a:p>
            <a:r>
              <a:rPr lang="en-US" sz="1000" b="1" dirty="0">
                <a:solidFill>
                  <a:srgbClr val="7030A0"/>
                </a:solidFill>
              </a:rPr>
              <a:t>28</a:t>
            </a:r>
          </a:p>
          <a:p>
            <a:r>
              <a:rPr lang="en-US" sz="1000" b="1" dirty="0">
                <a:solidFill>
                  <a:srgbClr val="7030A0"/>
                </a:solidFill>
              </a:rPr>
              <a:t>29</a:t>
            </a:r>
          </a:p>
          <a:p>
            <a:r>
              <a:rPr lang="en-US" sz="1000" b="1" dirty="0">
                <a:solidFill>
                  <a:srgbClr val="7030A0"/>
                </a:solidFill>
              </a:rPr>
              <a:t>30</a:t>
            </a:r>
          </a:p>
          <a:p>
            <a:r>
              <a:rPr lang="en-US" sz="1000" b="1" dirty="0">
                <a:solidFill>
                  <a:srgbClr val="7030A0"/>
                </a:solidFill>
              </a:rPr>
              <a:t>31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0400" y="3733324"/>
            <a:ext cx="381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</a:rPr>
              <a:t>0 </a:t>
            </a:r>
          </a:p>
          <a:p>
            <a:r>
              <a:rPr lang="en-US" sz="1000" b="1" dirty="0">
                <a:solidFill>
                  <a:srgbClr val="FF0000"/>
                </a:solidFill>
              </a:rPr>
              <a:t>1  </a:t>
            </a:r>
          </a:p>
          <a:p>
            <a:r>
              <a:rPr lang="en-US" sz="1000" b="1" dirty="0">
                <a:solidFill>
                  <a:srgbClr val="FF0000"/>
                </a:solidFill>
              </a:rPr>
              <a:t>2 </a:t>
            </a:r>
          </a:p>
          <a:p>
            <a:r>
              <a:rPr lang="en-US" sz="1000" b="1" dirty="0">
                <a:solidFill>
                  <a:srgbClr val="FF0000"/>
                </a:solidFill>
              </a:rPr>
              <a:t>3 </a:t>
            </a:r>
          </a:p>
          <a:p>
            <a:r>
              <a:rPr lang="en-US" sz="1000" b="1" dirty="0">
                <a:solidFill>
                  <a:srgbClr val="FF0000"/>
                </a:solidFill>
              </a:rPr>
              <a:t>4</a:t>
            </a:r>
          </a:p>
          <a:p>
            <a:r>
              <a:rPr lang="en-US" sz="1000" b="1" dirty="0">
                <a:solidFill>
                  <a:srgbClr val="FF0000"/>
                </a:solidFill>
              </a:rPr>
              <a:t>5 </a:t>
            </a:r>
          </a:p>
          <a:p>
            <a:r>
              <a:rPr lang="en-US" sz="1000" b="1" dirty="0">
                <a:solidFill>
                  <a:srgbClr val="FF0000"/>
                </a:solidFill>
              </a:rPr>
              <a:t>6 </a:t>
            </a:r>
          </a:p>
          <a:p>
            <a:r>
              <a:rPr lang="en-US" sz="1000" b="1" dirty="0">
                <a:solidFill>
                  <a:srgbClr val="FF0000"/>
                </a:solidFill>
              </a:rPr>
              <a:t>7 </a:t>
            </a:r>
          </a:p>
          <a:p>
            <a:r>
              <a:rPr lang="en-US" sz="1000" b="1" dirty="0">
                <a:solidFill>
                  <a:srgbClr val="FF0000"/>
                </a:solidFill>
              </a:rPr>
              <a:t>8 </a:t>
            </a:r>
          </a:p>
          <a:p>
            <a:r>
              <a:rPr lang="en-US" sz="1000" b="1" dirty="0">
                <a:solidFill>
                  <a:srgbClr val="FF0000"/>
                </a:solidFill>
              </a:rPr>
              <a:t>9 10 11 12 13</a:t>
            </a:r>
          </a:p>
          <a:p>
            <a:r>
              <a:rPr lang="en-US" sz="1000" b="1" dirty="0">
                <a:solidFill>
                  <a:srgbClr val="FF0000"/>
                </a:solidFill>
              </a:rPr>
              <a:t>14</a:t>
            </a:r>
          </a:p>
          <a:p>
            <a:r>
              <a:rPr lang="en-US" sz="1000" b="1" dirty="0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0200" y="1294924"/>
            <a:ext cx="381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3333FF"/>
                </a:solidFill>
              </a:rPr>
              <a:t>0 </a:t>
            </a:r>
          </a:p>
          <a:p>
            <a:r>
              <a:rPr lang="en-US" sz="1000" b="1" dirty="0">
                <a:solidFill>
                  <a:srgbClr val="3333FF"/>
                </a:solidFill>
              </a:rPr>
              <a:t>1  </a:t>
            </a:r>
          </a:p>
          <a:p>
            <a:r>
              <a:rPr lang="en-US" sz="1000" b="1" dirty="0">
                <a:solidFill>
                  <a:srgbClr val="3333FF"/>
                </a:solidFill>
              </a:rPr>
              <a:t>2 </a:t>
            </a:r>
          </a:p>
          <a:p>
            <a:r>
              <a:rPr lang="en-US" sz="1000" b="1" dirty="0">
                <a:solidFill>
                  <a:srgbClr val="3333FF"/>
                </a:solidFill>
              </a:rPr>
              <a:t>3 </a:t>
            </a:r>
          </a:p>
          <a:p>
            <a:r>
              <a:rPr lang="en-US" sz="1000" b="1" dirty="0">
                <a:solidFill>
                  <a:srgbClr val="3333FF"/>
                </a:solidFill>
              </a:rPr>
              <a:t>4</a:t>
            </a:r>
          </a:p>
          <a:p>
            <a:r>
              <a:rPr lang="en-US" sz="1000" b="1" dirty="0">
                <a:solidFill>
                  <a:srgbClr val="3333FF"/>
                </a:solidFill>
              </a:rPr>
              <a:t>5 </a:t>
            </a:r>
          </a:p>
          <a:p>
            <a:r>
              <a:rPr lang="en-US" sz="1000" b="1" dirty="0">
                <a:solidFill>
                  <a:srgbClr val="3333FF"/>
                </a:solidFill>
              </a:rPr>
              <a:t>6 </a:t>
            </a:r>
          </a:p>
          <a:p>
            <a:r>
              <a:rPr lang="en-US" sz="1000" b="1" dirty="0">
                <a:solidFill>
                  <a:srgbClr val="3333FF"/>
                </a:solidFill>
              </a:rPr>
              <a:t>7 </a:t>
            </a:r>
          </a:p>
          <a:p>
            <a:r>
              <a:rPr lang="en-US" sz="1000" b="1" dirty="0">
                <a:solidFill>
                  <a:srgbClr val="3333FF"/>
                </a:solidFill>
              </a:rPr>
              <a:t>8 </a:t>
            </a:r>
          </a:p>
          <a:p>
            <a:r>
              <a:rPr lang="en-US" sz="1000" b="1" dirty="0">
                <a:solidFill>
                  <a:srgbClr val="3333FF"/>
                </a:solidFill>
              </a:rPr>
              <a:t>9 10 11 12 13</a:t>
            </a:r>
          </a:p>
          <a:p>
            <a:r>
              <a:rPr lang="en-US" sz="1000" b="1" dirty="0">
                <a:solidFill>
                  <a:srgbClr val="3333FF"/>
                </a:solidFill>
              </a:rPr>
              <a:t>14</a:t>
            </a:r>
          </a:p>
          <a:p>
            <a:r>
              <a:rPr lang="en-US" sz="1000" b="1" dirty="0">
                <a:solidFill>
                  <a:srgbClr val="3333FF"/>
                </a:solidFill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3485850"/>
            <a:ext cx="1905000" cy="1717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477000" y="5927164"/>
            <a:ext cx="1905000" cy="1561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2646325" y="4470400"/>
            <a:ext cx="496455" cy="762000"/>
          </a:xfrm>
          <a:prstGeom prst="roundRect">
            <a:avLst/>
          </a:prstGeom>
          <a:gradFill flip="none" rotWithShape="1">
            <a:gsLst>
              <a:gs pos="0">
                <a:schemeClr val="accent3">
                  <a:shade val="51000"/>
                  <a:satMod val="130000"/>
                  <a:alpha val="7000"/>
                </a:schemeClr>
              </a:gs>
              <a:gs pos="80000">
                <a:schemeClr val="accent3">
                  <a:shade val="93000"/>
                  <a:satMod val="130000"/>
                  <a:alpha val="7000"/>
                </a:schemeClr>
              </a:gs>
              <a:gs pos="100000">
                <a:schemeClr val="accent3">
                  <a:shade val="94000"/>
                  <a:satMod val="135000"/>
                  <a:alpha val="7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2273300" y="2794000"/>
            <a:ext cx="728389" cy="7620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50000"/>
                  <a:satMod val="300000"/>
                  <a:alpha val="22000"/>
                </a:schemeClr>
              </a:gs>
              <a:gs pos="35000">
                <a:schemeClr val="accent1">
                  <a:tint val="37000"/>
                  <a:satMod val="300000"/>
                  <a:alpha val="22000"/>
                </a:schemeClr>
              </a:gs>
              <a:gs pos="100000">
                <a:schemeClr val="accent1">
                  <a:tint val="15000"/>
                  <a:satMod val="350000"/>
                  <a:alpha val="22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2413000" y="4470400"/>
            <a:ext cx="191405" cy="76200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50000"/>
                  <a:satMod val="300000"/>
                  <a:alpha val="16000"/>
                </a:schemeClr>
              </a:gs>
              <a:gs pos="35000">
                <a:schemeClr val="accent5">
                  <a:tint val="37000"/>
                  <a:satMod val="300000"/>
                  <a:alpha val="16000"/>
                </a:schemeClr>
              </a:gs>
              <a:gs pos="100000">
                <a:schemeClr val="accent5">
                  <a:tint val="15000"/>
                  <a:satMod val="350000"/>
                  <a:alpha val="16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1413510" y="5686175"/>
            <a:ext cx="1371600" cy="25742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 #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10510" y="5682749"/>
            <a:ext cx="1117600" cy="26085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Offset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76600" y="2921000"/>
            <a:ext cx="2515458" cy="50711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Programmer View,</a:t>
            </a:r>
          </a:p>
          <a:p>
            <a:pPr algn="ctr"/>
            <a:r>
              <a:rPr lang="en-US" dirty="0"/>
              <a:t>Absolute Address</a:t>
            </a:r>
          </a:p>
        </p:txBody>
      </p:sp>
      <p:cxnSp>
        <p:nvCxnSpPr>
          <p:cNvPr id="24" name="Straight Arrow Connector 23"/>
          <p:cNvCxnSpPr>
            <a:stCxn id="15" idx="2"/>
          </p:cNvCxnSpPr>
          <p:nvPr/>
        </p:nvCxnSpPr>
        <p:spPr>
          <a:xfrm flipH="1">
            <a:off x="2286000" y="5232400"/>
            <a:ext cx="222703" cy="406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3" idx="2"/>
            <a:endCxn id="21" idx="0"/>
          </p:cNvCxnSpPr>
          <p:nvPr/>
        </p:nvCxnSpPr>
        <p:spPr>
          <a:xfrm>
            <a:off x="2894553" y="5232400"/>
            <a:ext cx="474757" cy="45034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4" idx="3"/>
            <a:endCxn id="22" idx="1"/>
          </p:cNvCxnSpPr>
          <p:nvPr/>
        </p:nvCxnSpPr>
        <p:spPr>
          <a:xfrm flipV="1">
            <a:off x="3001689" y="3174556"/>
            <a:ext cx="274911" cy="4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8223136"/>
      </p:ext>
    </p:extLst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838200"/>
          </a:xfrm>
        </p:spPr>
        <p:txBody>
          <a:bodyPr/>
          <a:lstStyle/>
          <a:p>
            <a:r>
              <a:rPr lang="en-US" dirty="0"/>
              <a:t>A</a:t>
            </a:r>
            <a:r>
              <a:rPr lang="en-US" sz="400" dirty="0"/>
              <a:t>ddress</a:t>
            </a:r>
            <a:r>
              <a:rPr lang="en-US" dirty="0"/>
              <a:t> S</a:t>
            </a:r>
            <a:r>
              <a:rPr lang="en-US" sz="400" dirty="0"/>
              <a:t>pace</a:t>
            </a:r>
            <a:r>
              <a:rPr lang="en-US" dirty="0"/>
              <a:t> Partitioning Exercise</a:t>
            </a:r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>
          <a:xfrm>
            <a:off x="457200" y="884238"/>
            <a:ext cx="8178800" cy="86836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/>
              <a:t>Using </a:t>
            </a:r>
            <a:r>
              <a:rPr lang="en-US" sz="1800" b="1" dirty="0">
                <a:solidFill>
                  <a:srgbClr val="FF6600"/>
                </a:solidFill>
              </a:rPr>
              <a:t>1 K</a:t>
            </a:r>
            <a:r>
              <a:rPr lang="en-US" sz="1800" b="1" dirty="0">
                <a:solidFill>
                  <a:srgbClr val="0000FF"/>
                </a:solidFill>
              </a:rPr>
              <a:t>B</a:t>
            </a:r>
            <a:r>
              <a:rPr lang="en-US" sz="1800" dirty="0"/>
              <a:t> master memory module built with a </a:t>
            </a:r>
            <a:r>
              <a:rPr lang="en-US" sz="1800" b="1" dirty="0">
                <a:solidFill>
                  <a:srgbClr val="FF6600"/>
                </a:solidFill>
              </a:rPr>
              <a:t>128</a:t>
            </a:r>
            <a:r>
              <a:rPr lang="en-US" sz="1800" dirty="0"/>
              <a:t> x </a:t>
            </a:r>
            <a:r>
              <a:rPr lang="en-US" sz="1800" b="1" dirty="0">
                <a:solidFill>
                  <a:srgbClr val="0000FF"/>
                </a:solidFill>
              </a:rPr>
              <a:t>8</a:t>
            </a:r>
            <a:r>
              <a:rPr lang="en-US" sz="1800" dirty="0"/>
              <a:t> chips</a:t>
            </a:r>
          </a:p>
          <a:p>
            <a:r>
              <a:rPr lang="en-US" sz="1800" dirty="0">
                <a:solidFill>
                  <a:srgbClr val="FF0000"/>
                </a:solidFill>
              </a:rPr>
              <a:t>?</a:t>
            </a:r>
            <a:r>
              <a:rPr lang="en-US" sz="1800" dirty="0"/>
              <a:t>  bits for page selection. </a:t>
            </a:r>
          </a:p>
          <a:p>
            <a:r>
              <a:rPr lang="en-US" sz="1800" dirty="0">
                <a:solidFill>
                  <a:srgbClr val="FF0000"/>
                </a:solidFill>
              </a:rPr>
              <a:t>?</a:t>
            </a:r>
            <a:r>
              <a:rPr lang="en-US" sz="1800" dirty="0"/>
              <a:t> bits for offset (each page)</a:t>
            </a:r>
          </a:p>
          <a:p>
            <a:endParaRPr lang="en-US" sz="18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407963"/>
              </p:ext>
            </p:extLst>
          </p:nvPr>
        </p:nvGraphicFramePr>
        <p:xfrm>
          <a:off x="914400" y="2015490"/>
          <a:ext cx="7543801" cy="4241799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9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Page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Selector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(?-bits. Binary)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Offset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Address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(? bits. Binary)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D0D0D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Comments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Absolute Address (Dec)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First address: Page 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Last address: Page 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First address: Page 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Last address: Page 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First address: Page 2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Last address: Page 2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First address: Page 3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Last address: Page 3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…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…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…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…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Left Brace 2"/>
          <p:cNvSpPr/>
          <p:nvPr/>
        </p:nvSpPr>
        <p:spPr>
          <a:xfrm>
            <a:off x="698770" y="2925127"/>
            <a:ext cx="152400" cy="609600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/>
          <p:cNvSpPr/>
          <p:nvPr/>
        </p:nvSpPr>
        <p:spPr>
          <a:xfrm>
            <a:off x="698770" y="3610927"/>
            <a:ext cx="152400" cy="609600"/>
          </a:xfrm>
          <a:prstGeom prst="lef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/>
          <p:cNvSpPr/>
          <p:nvPr/>
        </p:nvSpPr>
        <p:spPr>
          <a:xfrm>
            <a:off x="698770" y="4372927"/>
            <a:ext cx="152400" cy="609600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/>
          <p:cNvSpPr/>
          <p:nvPr/>
        </p:nvSpPr>
        <p:spPr>
          <a:xfrm>
            <a:off x="685800" y="5148827"/>
            <a:ext cx="152400" cy="609600"/>
          </a:xfrm>
          <a:prstGeom prst="lef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9170" y="3091427"/>
            <a:ext cx="7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0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70" y="3777227"/>
            <a:ext cx="7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1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70" y="4539227"/>
            <a:ext cx="7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2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004" y="5315128"/>
            <a:ext cx="7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3 </a:t>
            </a:r>
          </a:p>
        </p:txBody>
      </p:sp>
    </p:spTree>
    <p:extLst>
      <p:ext uri="{BB962C8B-B14F-4D97-AF65-F5344CB8AC3E}">
        <p14:creationId xmlns:p14="http://schemas.microsoft.com/office/powerpoint/2010/main" val="3954721177"/>
      </p:ext>
    </p:extLst>
  </p:cSld>
  <p:clrMapOvr>
    <a:masterClrMapping/>
  </p:clrMapOvr>
  <p:transition spd="slow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229600" cy="838200"/>
          </a:xfrm>
        </p:spPr>
        <p:txBody>
          <a:bodyPr/>
          <a:lstStyle/>
          <a:p>
            <a:r>
              <a:rPr lang="en-US" dirty="0"/>
              <a:t>Partitioning Exercise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946753"/>
              </p:ext>
            </p:extLst>
          </p:nvPr>
        </p:nvGraphicFramePr>
        <p:xfrm>
          <a:off x="914400" y="2015490"/>
          <a:ext cx="7543801" cy="4241799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9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Page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Selector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(3-bits. Binary)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Offset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Address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(7 bits. Binary)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D0D0D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Comments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Absolute Address (Dec)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0000000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First address: Page 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?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?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Last address: Page 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?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?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?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First address: Page 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?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?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?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Last address: Page 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?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First address: Page 2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Last address: Page 2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First address: Page 3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Last address: Page 3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…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…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…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…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Left Brace 2"/>
          <p:cNvSpPr/>
          <p:nvPr/>
        </p:nvSpPr>
        <p:spPr>
          <a:xfrm>
            <a:off x="698770" y="2925127"/>
            <a:ext cx="152400" cy="609600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/>
          <p:cNvSpPr/>
          <p:nvPr/>
        </p:nvSpPr>
        <p:spPr>
          <a:xfrm>
            <a:off x="698770" y="3610927"/>
            <a:ext cx="152400" cy="609600"/>
          </a:xfrm>
          <a:prstGeom prst="lef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/>
          <p:cNvSpPr/>
          <p:nvPr/>
        </p:nvSpPr>
        <p:spPr>
          <a:xfrm>
            <a:off x="698770" y="4372927"/>
            <a:ext cx="152400" cy="609600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/>
          <p:cNvSpPr/>
          <p:nvPr/>
        </p:nvSpPr>
        <p:spPr>
          <a:xfrm>
            <a:off x="685800" y="5148827"/>
            <a:ext cx="152400" cy="609600"/>
          </a:xfrm>
          <a:prstGeom prst="lef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9170" y="3091427"/>
            <a:ext cx="7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0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70" y="3777227"/>
            <a:ext cx="7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1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70" y="4539227"/>
            <a:ext cx="7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2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004" y="5315128"/>
            <a:ext cx="7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3 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884238"/>
            <a:ext cx="8178800" cy="868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Using </a:t>
            </a:r>
            <a:r>
              <a:rPr lang="en-US" sz="1800" b="1" dirty="0">
                <a:solidFill>
                  <a:srgbClr val="FF6600"/>
                </a:solidFill>
              </a:rPr>
              <a:t>1 K</a:t>
            </a:r>
            <a:r>
              <a:rPr lang="en-US" sz="1800" b="1" dirty="0">
                <a:solidFill>
                  <a:srgbClr val="0000FF"/>
                </a:solidFill>
              </a:rPr>
              <a:t>B</a:t>
            </a:r>
            <a:r>
              <a:rPr lang="en-US" sz="1800" dirty="0"/>
              <a:t> master memory module built with a </a:t>
            </a:r>
            <a:r>
              <a:rPr lang="en-US" sz="1800" b="1" dirty="0">
                <a:solidFill>
                  <a:srgbClr val="FF6600"/>
                </a:solidFill>
              </a:rPr>
              <a:t>128</a:t>
            </a:r>
            <a:r>
              <a:rPr lang="en-US" sz="1800" dirty="0"/>
              <a:t> x </a:t>
            </a:r>
            <a:r>
              <a:rPr lang="en-US" sz="1800" b="1" dirty="0">
                <a:solidFill>
                  <a:srgbClr val="0000FF"/>
                </a:solidFill>
              </a:rPr>
              <a:t>8</a:t>
            </a:r>
            <a:r>
              <a:rPr lang="en-US" sz="1800" dirty="0"/>
              <a:t> chips</a:t>
            </a:r>
          </a:p>
          <a:p>
            <a:r>
              <a:rPr lang="en-US" sz="1800" b="1" dirty="0">
                <a:solidFill>
                  <a:srgbClr val="FF0000"/>
                </a:solidFill>
              </a:rPr>
              <a:t>3</a:t>
            </a:r>
            <a:r>
              <a:rPr lang="en-US" sz="1800" dirty="0"/>
              <a:t>  bits for page selection. </a:t>
            </a:r>
          </a:p>
          <a:p>
            <a:r>
              <a:rPr lang="en-US" sz="1800" b="1" dirty="0">
                <a:solidFill>
                  <a:srgbClr val="FF0000"/>
                </a:solidFill>
              </a:rPr>
              <a:t>7</a:t>
            </a:r>
            <a:r>
              <a:rPr lang="en-US" sz="1800" dirty="0"/>
              <a:t> bits for offset (each page)</a:t>
            </a:r>
          </a:p>
          <a:p>
            <a:endParaRPr lang="en-US" sz="1800" dirty="0"/>
          </a:p>
        </p:txBody>
      </p:sp>
      <p:sp>
        <p:nvSpPr>
          <p:cNvPr id="2" name="Rounded Rectangle 1"/>
          <p:cNvSpPr/>
          <p:nvPr/>
        </p:nvSpPr>
        <p:spPr>
          <a:xfrm>
            <a:off x="1423221" y="2796825"/>
            <a:ext cx="2690759" cy="40075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25000"/>
                </a:schemeClr>
              </a:gs>
              <a:gs pos="80000">
                <a:schemeClr val="accent1">
                  <a:shade val="93000"/>
                  <a:satMod val="130000"/>
                  <a:alpha val="25000"/>
                </a:schemeClr>
              </a:gs>
              <a:gs pos="100000">
                <a:schemeClr val="accent1">
                  <a:shade val="94000"/>
                  <a:satMod val="135000"/>
                  <a:alpha val="25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Complete Address</a:t>
            </a:r>
          </a:p>
        </p:txBody>
      </p:sp>
      <p:sp>
        <p:nvSpPr>
          <p:cNvPr id="5" name="Curved Down Arrow 4"/>
          <p:cNvSpPr/>
          <p:nvPr/>
        </p:nvSpPr>
        <p:spPr>
          <a:xfrm>
            <a:off x="2180082" y="1600200"/>
            <a:ext cx="5439918" cy="1219200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662828" y="2882900"/>
            <a:ext cx="236572" cy="2286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24000"/>
                </a:schemeClr>
              </a:gs>
              <a:gs pos="80000">
                <a:schemeClr val="accent1">
                  <a:shade val="93000"/>
                  <a:satMod val="130000"/>
                  <a:alpha val="24000"/>
                </a:schemeClr>
              </a:gs>
              <a:gs pos="100000">
                <a:schemeClr val="accent1">
                  <a:shade val="94000"/>
                  <a:satMod val="135000"/>
                  <a:alpha val="24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77491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229600" cy="838200"/>
          </a:xfrm>
        </p:spPr>
        <p:txBody>
          <a:bodyPr/>
          <a:lstStyle/>
          <a:p>
            <a:r>
              <a:rPr lang="en-US" dirty="0"/>
              <a:t>Partitioning Exercise</a:t>
            </a:r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>
          <a:xfrm>
            <a:off x="457200" y="884238"/>
            <a:ext cx="8178800" cy="868362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Using </a:t>
            </a:r>
            <a:r>
              <a:rPr lang="en-US" sz="1800" b="1" dirty="0">
                <a:solidFill>
                  <a:srgbClr val="FF6600"/>
                </a:solidFill>
              </a:rPr>
              <a:t>1 K</a:t>
            </a:r>
            <a:r>
              <a:rPr lang="en-US" sz="1800" b="1" dirty="0">
                <a:solidFill>
                  <a:srgbClr val="0000FF"/>
                </a:solidFill>
              </a:rPr>
              <a:t>B</a:t>
            </a:r>
            <a:r>
              <a:rPr lang="en-US" sz="1800" dirty="0"/>
              <a:t> master memory module built with a </a:t>
            </a:r>
            <a:r>
              <a:rPr lang="en-US" sz="1800" b="1" dirty="0">
                <a:solidFill>
                  <a:srgbClr val="FF6600"/>
                </a:solidFill>
              </a:rPr>
              <a:t>128</a:t>
            </a:r>
            <a:r>
              <a:rPr lang="en-US" sz="1800" dirty="0"/>
              <a:t> x </a:t>
            </a:r>
            <a:r>
              <a:rPr lang="en-US" sz="1800" b="1" dirty="0">
                <a:solidFill>
                  <a:srgbClr val="0000FF"/>
                </a:solidFill>
              </a:rPr>
              <a:t>8</a:t>
            </a:r>
            <a:r>
              <a:rPr lang="en-US" sz="1800" dirty="0"/>
              <a:t> chips</a:t>
            </a:r>
          </a:p>
          <a:p>
            <a:r>
              <a:rPr lang="en-US" sz="1800" b="1" dirty="0">
                <a:solidFill>
                  <a:srgbClr val="008000"/>
                </a:solidFill>
              </a:rPr>
              <a:t>3</a:t>
            </a:r>
            <a:r>
              <a:rPr lang="en-US" sz="1800" dirty="0"/>
              <a:t>  bits for page selection. </a:t>
            </a:r>
            <a:r>
              <a:rPr lang="en-US" sz="1800" b="1" dirty="0">
                <a:solidFill>
                  <a:srgbClr val="FF6600"/>
                </a:solidFill>
              </a:rPr>
              <a:t>7</a:t>
            </a:r>
            <a:r>
              <a:rPr lang="en-US" sz="1800" dirty="0"/>
              <a:t> bits for offset (each page)</a:t>
            </a:r>
          </a:p>
          <a:p>
            <a:endParaRPr lang="en-US" sz="18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691266"/>
              </p:ext>
            </p:extLst>
          </p:nvPr>
        </p:nvGraphicFramePr>
        <p:xfrm>
          <a:off x="914400" y="2015490"/>
          <a:ext cx="7543801" cy="4367529"/>
        </p:xfrm>
        <a:graphic>
          <a:graphicData uri="http://schemas.openxmlformats.org/drawingml/2006/table">
            <a:tbl>
              <a:tblPr/>
              <a:tblGrid>
                <a:gridCol w="884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7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71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19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Page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Selector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(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3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 bits. Binary)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Offset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Address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(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7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 bits. Binary)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D0D0D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Comments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Absolute Address (Dec)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Binary to Hex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(R-to-L)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000 0000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First address: Page 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0x000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111 1111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Last address: Page 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127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0x07F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?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?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First address: Page 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128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0x080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?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?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Last address: Page 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?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First address: Page 2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Last address: Page 2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First address: Page 3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Last address: Page 3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…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…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…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…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Left Brace 2"/>
          <p:cNvSpPr/>
          <p:nvPr/>
        </p:nvSpPr>
        <p:spPr>
          <a:xfrm>
            <a:off x="698770" y="2925127"/>
            <a:ext cx="152400" cy="609600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/>
          <p:cNvSpPr/>
          <p:nvPr/>
        </p:nvSpPr>
        <p:spPr>
          <a:xfrm>
            <a:off x="698770" y="3610927"/>
            <a:ext cx="152400" cy="609600"/>
          </a:xfrm>
          <a:prstGeom prst="lef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/>
          <p:cNvSpPr/>
          <p:nvPr/>
        </p:nvSpPr>
        <p:spPr>
          <a:xfrm>
            <a:off x="698770" y="4372927"/>
            <a:ext cx="152400" cy="609600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/>
          <p:cNvSpPr/>
          <p:nvPr/>
        </p:nvSpPr>
        <p:spPr>
          <a:xfrm>
            <a:off x="685800" y="5148827"/>
            <a:ext cx="152400" cy="609600"/>
          </a:xfrm>
          <a:prstGeom prst="lef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9170" y="3091427"/>
            <a:ext cx="7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0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70" y="3777227"/>
            <a:ext cx="7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1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70" y="4539227"/>
            <a:ext cx="7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2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004" y="5315128"/>
            <a:ext cx="7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3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53447" y="3276600"/>
            <a:ext cx="117307" cy="3048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15000"/>
                </a:schemeClr>
              </a:gs>
              <a:gs pos="80000">
                <a:schemeClr val="accent1">
                  <a:shade val="93000"/>
                  <a:satMod val="130000"/>
                  <a:alpha val="15000"/>
                </a:schemeClr>
              </a:gs>
              <a:gs pos="100000">
                <a:schemeClr val="accent1">
                  <a:shade val="94000"/>
                  <a:satMod val="135000"/>
                  <a:alpha val="15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2700606" y="3276600"/>
            <a:ext cx="334694" cy="3048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15000"/>
                </a:schemeClr>
              </a:gs>
              <a:gs pos="80000">
                <a:schemeClr val="accent1">
                  <a:shade val="93000"/>
                  <a:satMod val="130000"/>
                  <a:alpha val="15000"/>
                </a:schemeClr>
              </a:gs>
              <a:gs pos="100000">
                <a:schemeClr val="accent1">
                  <a:shade val="94000"/>
                  <a:satMod val="135000"/>
                  <a:alpha val="15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7743993" y="3276600"/>
            <a:ext cx="117307" cy="304800"/>
          </a:xfrm>
          <a:prstGeom prst="roundRect">
            <a:avLst/>
          </a:prstGeom>
          <a:gradFill flip="none" rotWithShape="1">
            <a:gsLst>
              <a:gs pos="0">
                <a:schemeClr val="accent3">
                  <a:tint val="50000"/>
                  <a:satMod val="300000"/>
                  <a:alpha val="38000"/>
                </a:schemeClr>
              </a:gs>
              <a:gs pos="35000">
                <a:schemeClr val="accent3">
                  <a:tint val="37000"/>
                  <a:satMod val="300000"/>
                  <a:alpha val="38000"/>
                </a:schemeClr>
              </a:gs>
              <a:gs pos="100000">
                <a:schemeClr val="accent3">
                  <a:tint val="15000"/>
                  <a:satMod val="350000"/>
                  <a:alpha val="38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1402612" y="3297014"/>
            <a:ext cx="1276968" cy="284386"/>
          </a:xfrm>
          <a:prstGeom prst="roundRect">
            <a:avLst/>
          </a:prstGeom>
          <a:gradFill flip="none" rotWithShape="1">
            <a:gsLst>
              <a:gs pos="0">
                <a:schemeClr val="accent3">
                  <a:tint val="50000"/>
                  <a:satMod val="300000"/>
                  <a:alpha val="38000"/>
                </a:schemeClr>
              </a:gs>
              <a:gs pos="35000">
                <a:schemeClr val="accent3">
                  <a:tint val="37000"/>
                  <a:satMod val="300000"/>
                  <a:alpha val="38000"/>
                </a:schemeClr>
              </a:gs>
              <a:gs pos="100000">
                <a:schemeClr val="accent3">
                  <a:tint val="15000"/>
                  <a:satMod val="350000"/>
                  <a:alpha val="38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ounded Rectangle 18"/>
          <p:cNvSpPr/>
          <p:nvPr/>
        </p:nvSpPr>
        <p:spPr>
          <a:xfrm>
            <a:off x="7649611" y="3276600"/>
            <a:ext cx="88135" cy="30480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50000"/>
                  <a:satMod val="300000"/>
                  <a:alpha val="31000"/>
                </a:schemeClr>
              </a:gs>
              <a:gs pos="35000">
                <a:schemeClr val="accent5">
                  <a:tint val="37000"/>
                  <a:satMod val="300000"/>
                  <a:alpha val="31000"/>
                </a:schemeClr>
              </a:gs>
              <a:gs pos="100000">
                <a:schemeClr val="accent5">
                  <a:tint val="15000"/>
                  <a:satMod val="350000"/>
                  <a:alpha val="31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1206833" y="3276600"/>
            <a:ext cx="202867" cy="30480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50000"/>
                  <a:satMod val="300000"/>
                  <a:alpha val="31000"/>
                </a:schemeClr>
              </a:gs>
              <a:gs pos="35000">
                <a:schemeClr val="accent5">
                  <a:tint val="37000"/>
                  <a:satMod val="300000"/>
                  <a:alpha val="31000"/>
                </a:schemeClr>
              </a:gs>
              <a:gs pos="100000">
                <a:schemeClr val="accent5">
                  <a:tint val="15000"/>
                  <a:satMod val="350000"/>
                  <a:alpha val="31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278973" y="3657600"/>
            <a:ext cx="857927" cy="30777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/>
              <a:t>000 0000</a:t>
            </a:r>
          </a:p>
        </p:txBody>
      </p:sp>
      <p:sp>
        <p:nvSpPr>
          <p:cNvPr id="21" name="Curved Down Arrow 20"/>
          <p:cNvSpPr/>
          <p:nvPr/>
        </p:nvSpPr>
        <p:spPr>
          <a:xfrm rot="5700309">
            <a:off x="2879101" y="3343959"/>
            <a:ext cx="858756" cy="364319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286000" y="4035623"/>
            <a:ext cx="857927" cy="30777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/>
              <a:t>111 1111</a:t>
            </a:r>
          </a:p>
        </p:txBody>
      </p:sp>
      <p:sp>
        <p:nvSpPr>
          <p:cNvPr id="23" name="Curved Down Arrow 22"/>
          <p:cNvSpPr/>
          <p:nvPr/>
        </p:nvSpPr>
        <p:spPr>
          <a:xfrm rot="5700309">
            <a:off x="2837549" y="3690474"/>
            <a:ext cx="858756" cy="364319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286000" y="4419600"/>
            <a:ext cx="857927" cy="30777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/>
              <a:t>000 0000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93027" y="4797623"/>
            <a:ext cx="857927" cy="30777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/>
              <a:t>111 1111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71946" y="5254823"/>
            <a:ext cx="857927" cy="30777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/>
              <a:t>000 0000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78973" y="5661223"/>
            <a:ext cx="857927" cy="30777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/>
              <a:t>111 1111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6230" y="3657600"/>
            <a:ext cx="453970" cy="30777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001</a:t>
            </a:r>
          </a:p>
        </p:txBody>
      </p:sp>
      <p:sp>
        <p:nvSpPr>
          <p:cNvPr id="28" name="Curved Down Arrow 27"/>
          <p:cNvSpPr/>
          <p:nvPr/>
        </p:nvSpPr>
        <p:spPr>
          <a:xfrm rot="5700309">
            <a:off x="1313549" y="3309474"/>
            <a:ext cx="858756" cy="364319"/>
          </a:xfrm>
          <a:prstGeom prst="curved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43000" y="4035623"/>
            <a:ext cx="453970" cy="30777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6230" y="4419600"/>
            <a:ext cx="453970" cy="30777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010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4797623"/>
            <a:ext cx="453970" cy="30777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010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6230" y="5257800"/>
            <a:ext cx="453970" cy="30777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011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5673923"/>
            <a:ext cx="453970" cy="30777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011</a:t>
            </a:r>
          </a:p>
        </p:txBody>
      </p:sp>
      <p:sp>
        <p:nvSpPr>
          <p:cNvPr id="35" name="Curved Down Arrow 34"/>
          <p:cNvSpPr/>
          <p:nvPr/>
        </p:nvSpPr>
        <p:spPr>
          <a:xfrm rot="5700309">
            <a:off x="5199749" y="3309474"/>
            <a:ext cx="858756" cy="364319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Curved Down Arrow 35"/>
          <p:cNvSpPr/>
          <p:nvPr/>
        </p:nvSpPr>
        <p:spPr>
          <a:xfrm rot="5700309">
            <a:off x="5237849" y="3679507"/>
            <a:ext cx="858756" cy="364319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048430" y="4038600"/>
            <a:ext cx="453970" cy="30777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</a:rPr>
              <a:t>255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45200" y="4416623"/>
            <a:ext cx="453970" cy="30777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</a:rPr>
              <a:t>256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19800" y="4797623"/>
            <a:ext cx="453970" cy="30777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</a:rPr>
              <a:t>383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19800" y="5178623"/>
            <a:ext cx="453970" cy="30777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</a:rPr>
              <a:t>384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19800" y="5651500"/>
            <a:ext cx="453970" cy="30777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</a:rPr>
              <a:t>511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62901" y="5638800"/>
            <a:ext cx="304800" cy="3048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15000"/>
                </a:schemeClr>
              </a:gs>
              <a:gs pos="80000">
                <a:schemeClr val="accent1">
                  <a:shade val="93000"/>
                  <a:satMod val="130000"/>
                  <a:alpha val="15000"/>
                </a:schemeClr>
              </a:gs>
              <a:gs pos="100000">
                <a:schemeClr val="accent1">
                  <a:shade val="94000"/>
                  <a:satMod val="135000"/>
                  <a:alpha val="15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577054" y="5638800"/>
            <a:ext cx="347746" cy="304800"/>
          </a:xfrm>
          <a:prstGeom prst="roundRect">
            <a:avLst/>
          </a:prstGeom>
          <a:gradFill flip="none" rotWithShape="1">
            <a:gsLst>
              <a:gs pos="0">
                <a:schemeClr val="accent3">
                  <a:tint val="50000"/>
                  <a:satMod val="300000"/>
                  <a:alpha val="38000"/>
                </a:schemeClr>
              </a:gs>
              <a:gs pos="35000">
                <a:schemeClr val="accent3">
                  <a:tint val="37000"/>
                  <a:satMod val="300000"/>
                  <a:alpha val="38000"/>
                </a:schemeClr>
              </a:gs>
              <a:gs pos="100000">
                <a:schemeClr val="accent3">
                  <a:tint val="15000"/>
                  <a:satMod val="350000"/>
                  <a:alpha val="38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62800" y="5638800"/>
            <a:ext cx="376592" cy="30480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50000"/>
                  <a:satMod val="300000"/>
                  <a:alpha val="31000"/>
                </a:schemeClr>
              </a:gs>
              <a:gs pos="35000">
                <a:schemeClr val="accent5">
                  <a:tint val="37000"/>
                  <a:satMod val="300000"/>
                  <a:alpha val="31000"/>
                </a:schemeClr>
              </a:gs>
              <a:gs pos="100000">
                <a:schemeClr val="accent5">
                  <a:tint val="15000"/>
                  <a:satMod val="350000"/>
                  <a:alpha val="31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00606" y="5676900"/>
            <a:ext cx="334694" cy="3048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15000"/>
                </a:schemeClr>
              </a:gs>
              <a:gs pos="80000">
                <a:schemeClr val="accent1">
                  <a:shade val="93000"/>
                  <a:satMod val="130000"/>
                  <a:alpha val="15000"/>
                </a:schemeClr>
              </a:gs>
              <a:gs pos="100000">
                <a:schemeClr val="accent1">
                  <a:shade val="94000"/>
                  <a:satMod val="135000"/>
                  <a:alpha val="15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/>
          <p:cNvSpPr/>
          <p:nvPr/>
        </p:nvSpPr>
        <p:spPr>
          <a:xfrm>
            <a:off x="1402612" y="5676900"/>
            <a:ext cx="1276968" cy="304800"/>
          </a:xfrm>
          <a:prstGeom prst="roundRect">
            <a:avLst/>
          </a:prstGeom>
          <a:gradFill flip="none" rotWithShape="1">
            <a:gsLst>
              <a:gs pos="0">
                <a:schemeClr val="accent3">
                  <a:tint val="50000"/>
                  <a:satMod val="300000"/>
                  <a:alpha val="38000"/>
                </a:schemeClr>
              </a:gs>
              <a:gs pos="35000">
                <a:schemeClr val="accent3">
                  <a:tint val="37000"/>
                  <a:satMod val="300000"/>
                  <a:alpha val="38000"/>
                </a:schemeClr>
              </a:gs>
              <a:gs pos="100000">
                <a:schemeClr val="accent3">
                  <a:tint val="15000"/>
                  <a:satMod val="350000"/>
                  <a:alpha val="38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ounded Rectangle 47"/>
          <p:cNvSpPr/>
          <p:nvPr/>
        </p:nvSpPr>
        <p:spPr>
          <a:xfrm>
            <a:off x="1206833" y="5676900"/>
            <a:ext cx="202867" cy="30480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50000"/>
                  <a:satMod val="300000"/>
                  <a:alpha val="31000"/>
                </a:schemeClr>
              </a:gs>
              <a:gs pos="35000">
                <a:schemeClr val="accent5">
                  <a:tint val="37000"/>
                  <a:satMod val="300000"/>
                  <a:alpha val="31000"/>
                </a:schemeClr>
              </a:gs>
              <a:gs pos="100000">
                <a:schemeClr val="accent5">
                  <a:tint val="15000"/>
                  <a:satMod val="350000"/>
                  <a:alpha val="31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urved Down Arrow 48"/>
          <p:cNvSpPr/>
          <p:nvPr/>
        </p:nvSpPr>
        <p:spPr>
          <a:xfrm rot="5617095">
            <a:off x="8209250" y="3072246"/>
            <a:ext cx="586541" cy="484909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Curved Down Arrow 49"/>
          <p:cNvSpPr/>
          <p:nvPr/>
        </p:nvSpPr>
        <p:spPr>
          <a:xfrm rot="5617095">
            <a:off x="8247350" y="3799333"/>
            <a:ext cx="586541" cy="484909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1" name="Curved Down Arrow 50"/>
          <p:cNvSpPr/>
          <p:nvPr/>
        </p:nvSpPr>
        <p:spPr>
          <a:xfrm rot="5617095">
            <a:off x="8196809" y="4554958"/>
            <a:ext cx="586541" cy="484909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610600" y="3822700"/>
            <a:ext cx="543876" cy="30523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+7F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10600" y="3123767"/>
            <a:ext cx="543876" cy="30523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+7F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10600" y="4584700"/>
            <a:ext cx="543876" cy="30523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+7F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23502" y="3461049"/>
            <a:ext cx="415498" cy="30523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+1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23502" y="4209317"/>
            <a:ext cx="415498" cy="30523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+1</a:t>
            </a:r>
          </a:p>
        </p:txBody>
      </p:sp>
    </p:spTree>
    <p:extLst>
      <p:ext uri="{BB962C8B-B14F-4D97-AF65-F5344CB8AC3E}">
        <p14:creationId xmlns:p14="http://schemas.microsoft.com/office/powerpoint/2010/main" val="333693994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8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1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4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2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5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8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1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4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9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2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7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2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5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0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5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8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3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2000"/>
                            </p:stCondLst>
                            <p:childTnLst>
                              <p:par>
                                <p:cTn id="14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7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4000"/>
                            </p:stCondLst>
                            <p:childTnLst>
                              <p:par>
                                <p:cTn id="14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1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6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000"/>
                            </p:stCondLst>
                            <p:childTnLst>
                              <p:par>
                                <p:cTn id="158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0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4000"/>
                            </p:stCondLst>
                            <p:childTnLst>
                              <p:par>
                                <p:cTn id="162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4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-106680" y="0"/>
            <a:ext cx="9052560" cy="838200"/>
          </a:xfrm>
        </p:spPr>
        <p:txBody>
          <a:bodyPr/>
          <a:lstStyle/>
          <a:p>
            <a:r>
              <a:rPr lang="en-US" dirty="0"/>
              <a:t>More Partitioning Exercises</a:t>
            </a:r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>
          <a:xfrm>
            <a:off x="457200" y="838199"/>
            <a:ext cx="8458200" cy="928599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/>
              <a:t>Using </a:t>
            </a:r>
            <a:r>
              <a:rPr lang="en-US" sz="1800" b="1" dirty="0">
                <a:solidFill>
                  <a:srgbClr val="FF6600"/>
                </a:solidFill>
              </a:rPr>
              <a:t>1 G</a:t>
            </a:r>
            <a:r>
              <a:rPr lang="en-US" sz="1800" b="1" dirty="0">
                <a:solidFill>
                  <a:srgbClr val="0000FF"/>
                </a:solidFill>
              </a:rPr>
              <a:t>B</a:t>
            </a:r>
            <a:r>
              <a:rPr lang="en-US" sz="1800" dirty="0"/>
              <a:t> memories (30 bits) with a </a:t>
            </a:r>
            <a:r>
              <a:rPr lang="en-US" sz="1800" b="1" dirty="0">
                <a:solidFill>
                  <a:srgbClr val="FF6600"/>
                </a:solidFill>
              </a:rPr>
              <a:t>4 M</a:t>
            </a:r>
            <a:r>
              <a:rPr lang="en-US" sz="1800" b="1" dirty="0">
                <a:solidFill>
                  <a:srgbClr val="0000FF"/>
                </a:solidFill>
              </a:rPr>
              <a:t>B</a:t>
            </a:r>
            <a:r>
              <a:rPr lang="en-US" sz="1800" dirty="0"/>
              <a:t> chips (22 bits)</a:t>
            </a:r>
          </a:p>
          <a:p>
            <a:r>
              <a:rPr lang="en-US" sz="1800" b="1" dirty="0">
                <a:solidFill>
                  <a:srgbClr val="008000"/>
                </a:solidFill>
              </a:rPr>
              <a:t>Page selector</a:t>
            </a:r>
            <a:r>
              <a:rPr lang="en-US" sz="1800" dirty="0"/>
              <a:t>: (</a:t>
            </a:r>
            <a:r>
              <a:rPr lang="en-US" sz="1800" b="1" dirty="0">
                <a:solidFill>
                  <a:srgbClr val="FF0000"/>
                </a:solidFill>
              </a:rPr>
              <a:t>?</a:t>
            </a:r>
            <a:r>
              <a:rPr lang="en-US" sz="1800" dirty="0"/>
              <a:t> bits)</a:t>
            </a:r>
          </a:p>
          <a:p>
            <a:r>
              <a:rPr lang="en-US" sz="1800" b="1" dirty="0">
                <a:solidFill>
                  <a:srgbClr val="FF6600"/>
                </a:solidFill>
              </a:rPr>
              <a:t>Offset</a:t>
            </a:r>
            <a:r>
              <a:rPr lang="en-US" sz="1800" dirty="0"/>
              <a:t> (the # address lines for each chip/page): </a:t>
            </a:r>
            <a:r>
              <a:rPr lang="en-US" sz="1800" b="1" dirty="0">
                <a:solidFill>
                  <a:srgbClr val="FF0000"/>
                </a:solidFill>
              </a:rPr>
              <a:t>?</a:t>
            </a:r>
            <a:r>
              <a:rPr lang="en-US" sz="1800" dirty="0"/>
              <a:t> bits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777707"/>
              </p:ext>
            </p:extLst>
          </p:nvPr>
        </p:nvGraphicFramePr>
        <p:xfrm>
          <a:off x="914399" y="1905000"/>
          <a:ext cx="7543801" cy="4389119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9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Page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Selector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(?-bits. Binary)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Offset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Address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(?-bits. Binary)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D0D0D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Comments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Absolute Address (Hex)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?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00 0000 0000 0000 0000 0000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First address: Page 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00000000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?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11 1111 1111 1111 1111 1111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Last address: Page 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?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?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00 0000 0000 0000 0000 0000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First address: Page 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?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11 1111 1111 1111 1111 1111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Last address: Page 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?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00 0000 0000 0000 0000 0000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First address: Page 2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?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11 1111 1111 1111 1111 1111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Last address: Page 2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.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.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.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.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.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.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00 0000 0000 0000 0000 0000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First address: Page FF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11 1111 1111 1111 1111 1111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Last address: Page FF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Left Brace 2"/>
          <p:cNvSpPr/>
          <p:nvPr/>
        </p:nvSpPr>
        <p:spPr>
          <a:xfrm>
            <a:off x="698769" y="2814637"/>
            <a:ext cx="152400" cy="609600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/>
          <p:cNvSpPr/>
          <p:nvPr/>
        </p:nvSpPr>
        <p:spPr>
          <a:xfrm>
            <a:off x="698769" y="3500437"/>
            <a:ext cx="152400" cy="609600"/>
          </a:xfrm>
          <a:prstGeom prst="lef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/>
          <p:cNvSpPr/>
          <p:nvPr/>
        </p:nvSpPr>
        <p:spPr>
          <a:xfrm>
            <a:off x="698769" y="4262437"/>
            <a:ext cx="152400" cy="609600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/>
          <p:cNvSpPr/>
          <p:nvPr/>
        </p:nvSpPr>
        <p:spPr>
          <a:xfrm>
            <a:off x="698769" y="5481637"/>
            <a:ext cx="152400" cy="609600"/>
          </a:xfrm>
          <a:prstGeom prst="lef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9169" y="2980937"/>
            <a:ext cx="7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0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69" y="3666737"/>
            <a:ext cx="7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1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69" y="4428737"/>
            <a:ext cx="7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2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" y="5558135"/>
            <a:ext cx="774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255 </a:t>
            </a:r>
          </a:p>
        </p:txBody>
      </p:sp>
    </p:spTree>
    <p:extLst>
      <p:ext uri="{BB962C8B-B14F-4D97-AF65-F5344CB8AC3E}">
        <p14:creationId xmlns:p14="http://schemas.microsoft.com/office/powerpoint/2010/main" val="3893353471"/>
      </p:ext>
    </p:extLst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-106680" y="0"/>
            <a:ext cx="9052560" cy="838200"/>
          </a:xfrm>
        </p:spPr>
        <p:txBody>
          <a:bodyPr/>
          <a:lstStyle/>
          <a:p>
            <a:r>
              <a:rPr lang="en-US" dirty="0"/>
              <a:t>Address Space Partitioning</a:t>
            </a:r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>
          <a:xfrm>
            <a:off x="457200" y="838199"/>
            <a:ext cx="8458200" cy="928599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/>
              <a:t>Using </a:t>
            </a:r>
            <a:r>
              <a:rPr lang="en-US" sz="1800" b="1" dirty="0">
                <a:solidFill>
                  <a:srgbClr val="FF6600"/>
                </a:solidFill>
              </a:rPr>
              <a:t>1 G</a:t>
            </a:r>
            <a:r>
              <a:rPr lang="en-US" sz="1800" b="1" dirty="0">
                <a:solidFill>
                  <a:srgbClr val="0000FF"/>
                </a:solidFill>
              </a:rPr>
              <a:t>B</a:t>
            </a:r>
            <a:r>
              <a:rPr lang="en-US" sz="1800" dirty="0"/>
              <a:t> memories (30 bits) with a </a:t>
            </a:r>
            <a:r>
              <a:rPr lang="en-US" sz="1800" b="1" dirty="0">
                <a:solidFill>
                  <a:srgbClr val="FF6600"/>
                </a:solidFill>
              </a:rPr>
              <a:t>4 M</a:t>
            </a:r>
            <a:r>
              <a:rPr lang="en-US" sz="1800" b="1" dirty="0">
                <a:solidFill>
                  <a:srgbClr val="0000FF"/>
                </a:solidFill>
              </a:rPr>
              <a:t>B</a:t>
            </a:r>
            <a:r>
              <a:rPr lang="en-US" sz="1800" dirty="0"/>
              <a:t> chips (22 bits)</a:t>
            </a:r>
          </a:p>
          <a:p>
            <a:r>
              <a:rPr lang="en-US" sz="1800" b="1" dirty="0">
                <a:solidFill>
                  <a:srgbClr val="008000"/>
                </a:solidFill>
              </a:rPr>
              <a:t>Page selector</a:t>
            </a:r>
            <a:r>
              <a:rPr lang="en-US" sz="1800" dirty="0"/>
              <a:t>: (</a:t>
            </a:r>
            <a:r>
              <a:rPr lang="en-US" sz="1800" b="1" dirty="0">
                <a:solidFill>
                  <a:srgbClr val="3366FF"/>
                </a:solidFill>
              </a:rPr>
              <a:t>8</a:t>
            </a:r>
            <a:r>
              <a:rPr lang="en-US" sz="1800" dirty="0">
                <a:solidFill>
                  <a:srgbClr val="3366FF"/>
                </a:solidFill>
              </a:rPr>
              <a:t> bits</a:t>
            </a:r>
            <a:r>
              <a:rPr lang="en-US" sz="1800" dirty="0"/>
              <a:t>)</a:t>
            </a:r>
          </a:p>
          <a:p>
            <a:r>
              <a:rPr lang="en-US" sz="1800" b="1" dirty="0">
                <a:solidFill>
                  <a:srgbClr val="FF6600"/>
                </a:solidFill>
              </a:rPr>
              <a:t>Offset</a:t>
            </a:r>
            <a:r>
              <a:rPr lang="en-US" sz="1800" dirty="0">
                <a:solidFill>
                  <a:srgbClr val="FF6600"/>
                </a:solidFill>
              </a:rPr>
              <a:t> </a:t>
            </a:r>
            <a:r>
              <a:rPr lang="en-US" sz="1800" dirty="0"/>
              <a:t>(the # address lines for each chip/page): </a:t>
            </a:r>
            <a:r>
              <a:rPr lang="en-US" sz="1800" b="1" dirty="0">
                <a:solidFill>
                  <a:srgbClr val="3366FF"/>
                </a:solidFill>
              </a:rPr>
              <a:t>22</a:t>
            </a:r>
            <a:r>
              <a:rPr lang="en-US" sz="1800" dirty="0">
                <a:solidFill>
                  <a:srgbClr val="3366FF"/>
                </a:solidFill>
              </a:rPr>
              <a:t> bits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478271"/>
              </p:ext>
            </p:extLst>
          </p:nvPr>
        </p:nvGraphicFramePr>
        <p:xfrm>
          <a:off x="914399" y="1905000"/>
          <a:ext cx="7543801" cy="4389119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9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Page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Selector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(8-bits. Binary)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Offset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Address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(22-bits. Binary)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D0D0D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Comments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Absolute Address (Hex)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00 0000 0000 0000 0000 0000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First address: Page 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00000000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11 1111 1111 1111 1111 1111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Last address: Page 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?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?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00 0000 0000 0000 0000 0000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First address: Page 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?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11 1111 1111 1111 1111 1111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Last address: Page 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?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00 0000 0000 0000 0000 0000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First address: Page 2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?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11 1111 1111 1111 1111 1111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Last address: Page 2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.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.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.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.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.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.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00 0000 0000 0000 0000 0000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First address: Page FF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11 1111 1111 1111 1111 1111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Last address: Page FF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Left Brace 2"/>
          <p:cNvSpPr/>
          <p:nvPr/>
        </p:nvSpPr>
        <p:spPr>
          <a:xfrm>
            <a:off x="698769" y="2814637"/>
            <a:ext cx="152400" cy="609600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/>
          <p:cNvSpPr/>
          <p:nvPr/>
        </p:nvSpPr>
        <p:spPr>
          <a:xfrm>
            <a:off x="698769" y="3500437"/>
            <a:ext cx="152400" cy="609600"/>
          </a:xfrm>
          <a:prstGeom prst="lef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/>
          <p:cNvSpPr/>
          <p:nvPr/>
        </p:nvSpPr>
        <p:spPr>
          <a:xfrm>
            <a:off x="698769" y="4262437"/>
            <a:ext cx="152400" cy="609600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/>
          <p:cNvSpPr/>
          <p:nvPr/>
        </p:nvSpPr>
        <p:spPr>
          <a:xfrm>
            <a:off x="698769" y="5481637"/>
            <a:ext cx="152400" cy="609600"/>
          </a:xfrm>
          <a:prstGeom prst="lef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9169" y="2980937"/>
            <a:ext cx="7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0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69" y="3666737"/>
            <a:ext cx="7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1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69" y="4428737"/>
            <a:ext cx="7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2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" y="5558135"/>
            <a:ext cx="774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255 </a:t>
            </a:r>
          </a:p>
        </p:txBody>
      </p:sp>
    </p:spTree>
    <p:extLst>
      <p:ext uri="{BB962C8B-B14F-4D97-AF65-F5344CB8AC3E}">
        <p14:creationId xmlns:p14="http://schemas.microsoft.com/office/powerpoint/2010/main" val="4271807391"/>
      </p:ext>
    </p:extLst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88181"/>
              </p:ext>
            </p:extLst>
          </p:nvPr>
        </p:nvGraphicFramePr>
        <p:xfrm>
          <a:off x="914399" y="1905000"/>
          <a:ext cx="7543801" cy="4389119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9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Page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Selector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(8-bits. Binary)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Offset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Address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(22-bits. Binary)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D0D0D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Comments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Absolute Address (Hex)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00 0000 0000 0000 0000 0000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First address: Page 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00000000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11 1111 1111 1111 1111 1111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Last address: Page 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003FFFFF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00 0000 01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00 0000 0000 0000 0000 0000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First address: Page 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?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00 0000 01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11 1111 1111 1111 1111 1111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Last address: Page 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?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?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00 0000 0000 0000 0000 0000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First address: Page 2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?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11 1111 1111 1111 1111 1111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Last address: Page 2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.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.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.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.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.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.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00 0000 0000 0000 0000 0000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First address: Page FF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11 1111 1111 1111 1111 1111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Last address: Page FF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Left Brace 2"/>
          <p:cNvSpPr/>
          <p:nvPr/>
        </p:nvSpPr>
        <p:spPr>
          <a:xfrm>
            <a:off x="698769" y="2814637"/>
            <a:ext cx="152400" cy="609600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/>
          <p:cNvSpPr/>
          <p:nvPr/>
        </p:nvSpPr>
        <p:spPr>
          <a:xfrm>
            <a:off x="698769" y="3500437"/>
            <a:ext cx="152400" cy="609600"/>
          </a:xfrm>
          <a:prstGeom prst="lef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/>
          <p:cNvSpPr/>
          <p:nvPr/>
        </p:nvSpPr>
        <p:spPr>
          <a:xfrm>
            <a:off x="698769" y="4262437"/>
            <a:ext cx="152400" cy="609600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/>
          <p:cNvSpPr/>
          <p:nvPr/>
        </p:nvSpPr>
        <p:spPr>
          <a:xfrm>
            <a:off x="698769" y="5481637"/>
            <a:ext cx="152400" cy="609600"/>
          </a:xfrm>
          <a:prstGeom prst="lef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9169" y="2980937"/>
            <a:ext cx="7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0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69" y="3666737"/>
            <a:ext cx="7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1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69" y="4428737"/>
            <a:ext cx="7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2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" y="5558135"/>
            <a:ext cx="774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255 </a:t>
            </a: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-106680" y="0"/>
            <a:ext cx="9052560" cy="838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Address Space Partitioning</a:t>
            </a:r>
            <a:endParaRPr lang="en-US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457200" y="838199"/>
            <a:ext cx="8458200" cy="9285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1800" dirty="0"/>
              <a:t>Using </a:t>
            </a:r>
            <a:r>
              <a:rPr lang="en-US" sz="1800" b="1" dirty="0">
                <a:solidFill>
                  <a:srgbClr val="FF6600"/>
                </a:solidFill>
              </a:rPr>
              <a:t>1 G</a:t>
            </a:r>
            <a:r>
              <a:rPr lang="en-US" sz="1800" b="1" dirty="0">
                <a:solidFill>
                  <a:srgbClr val="0000FF"/>
                </a:solidFill>
              </a:rPr>
              <a:t>B</a:t>
            </a:r>
            <a:r>
              <a:rPr lang="en-US" sz="1800" dirty="0"/>
              <a:t> memories (30 bits) with a </a:t>
            </a:r>
            <a:r>
              <a:rPr lang="en-US" sz="1800" b="1" dirty="0">
                <a:solidFill>
                  <a:srgbClr val="FF6600"/>
                </a:solidFill>
              </a:rPr>
              <a:t>4 M</a:t>
            </a:r>
            <a:r>
              <a:rPr lang="en-US" sz="1800" b="1" dirty="0">
                <a:solidFill>
                  <a:srgbClr val="0000FF"/>
                </a:solidFill>
              </a:rPr>
              <a:t>B</a:t>
            </a:r>
            <a:r>
              <a:rPr lang="en-US" sz="1800" dirty="0"/>
              <a:t> chips (22 bits)</a:t>
            </a:r>
          </a:p>
          <a:p>
            <a:r>
              <a:rPr lang="en-US" sz="1800" b="1" dirty="0">
                <a:solidFill>
                  <a:srgbClr val="008000"/>
                </a:solidFill>
              </a:rPr>
              <a:t>Page selector</a:t>
            </a:r>
            <a:r>
              <a:rPr lang="en-US" sz="1800" dirty="0"/>
              <a:t>: 8 bits</a:t>
            </a:r>
          </a:p>
          <a:p>
            <a:r>
              <a:rPr lang="en-US" sz="1800" b="1" dirty="0">
                <a:solidFill>
                  <a:srgbClr val="FF6600"/>
                </a:solidFill>
              </a:rPr>
              <a:t>Offset</a:t>
            </a:r>
            <a:r>
              <a:rPr lang="en-US" sz="1800" dirty="0">
                <a:solidFill>
                  <a:srgbClr val="FF6600"/>
                </a:solidFill>
              </a:rPr>
              <a:t> </a:t>
            </a:r>
            <a:r>
              <a:rPr lang="en-US" sz="1800" dirty="0"/>
              <a:t>(the # address lines for each chip/page):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22 bits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6" name="Rounded Rectangle 15"/>
          <p:cNvSpPr/>
          <p:nvPr/>
        </p:nvSpPr>
        <p:spPr>
          <a:xfrm>
            <a:off x="7658100" y="3049155"/>
            <a:ext cx="533400" cy="277091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50000"/>
                  <a:satMod val="300000"/>
                  <a:alpha val="20000"/>
                </a:schemeClr>
              </a:gs>
              <a:gs pos="35000">
                <a:schemeClr val="accent5">
                  <a:tint val="37000"/>
                  <a:satMod val="300000"/>
                  <a:alpha val="20000"/>
                </a:schemeClr>
              </a:gs>
              <a:gs pos="100000">
                <a:schemeClr val="accent5">
                  <a:tint val="15000"/>
                  <a:satMod val="350000"/>
                  <a:alpha val="20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2796052" y="3060700"/>
            <a:ext cx="2025586" cy="277091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50000"/>
                  <a:satMod val="300000"/>
                  <a:alpha val="20000"/>
                </a:schemeClr>
              </a:gs>
              <a:gs pos="35000">
                <a:schemeClr val="accent5">
                  <a:tint val="37000"/>
                  <a:satMod val="300000"/>
                  <a:alpha val="20000"/>
                </a:schemeClr>
              </a:gs>
              <a:gs pos="100000">
                <a:schemeClr val="accent5">
                  <a:tint val="15000"/>
                  <a:satMod val="350000"/>
                  <a:alpha val="20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7554189" y="3050309"/>
            <a:ext cx="105531" cy="277091"/>
          </a:xfrm>
          <a:prstGeom prst="roundRect">
            <a:avLst/>
          </a:prstGeom>
          <a:gradFill flip="none" rotWithShape="1">
            <a:gsLst>
              <a:gs pos="0">
                <a:schemeClr val="accent3">
                  <a:tint val="50000"/>
                  <a:satMod val="300000"/>
                  <a:alpha val="22000"/>
                </a:schemeClr>
              </a:gs>
              <a:gs pos="35000">
                <a:schemeClr val="accent3">
                  <a:tint val="37000"/>
                  <a:satMod val="300000"/>
                  <a:alpha val="22000"/>
                </a:schemeClr>
              </a:gs>
              <a:gs pos="100000">
                <a:schemeClr val="accent3">
                  <a:tint val="15000"/>
                  <a:satMod val="350000"/>
                  <a:alpha val="22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1823948" y="3048000"/>
            <a:ext cx="944953" cy="277091"/>
          </a:xfrm>
          <a:prstGeom prst="roundRect">
            <a:avLst/>
          </a:prstGeom>
          <a:gradFill flip="none" rotWithShape="1">
            <a:gsLst>
              <a:gs pos="0">
                <a:schemeClr val="accent3">
                  <a:tint val="50000"/>
                  <a:satMod val="300000"/>
                  <a:alpha val="22000"/>
                </a:schemeClr>
              </a:gs>
              <a:gs pos="35000">
                <a:schemeClr val="accent3">
                  <a:tint val="37000"/>
                  <a:satMod val="300000"/>
                  <a:alpha val="22000"/>
                </a:schemeClr>
              </a:gs>
              <a:gs pos="100000">
                <a:schemeClr val="accent3">
                  <a:tint val="15000"/>
                  <a:satMod val="350000"/>
                  <a:alpha val="22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1082398" y="3048000"/>
            <a:ext cx="709957" cy="27709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50000"/>
                  <a:satMod val="300000"/>
                  <a:alpha val="18000"/>
                </a:schemeClr>
              </a:gs>
              <a:gs pos="35000">
                <a:schemeClr val="accent1">
                  <a:tint val="37000"/>
                  <a:satMod val="300000"/>
                  <a:alpha val="18000"/>
                </a:schemeClr>
              </a:gs>
              <a:gs pos="100000">
                <a:schemeClr val="accent1">
                  <a:tint val="15000"/>
                  <a:satMod val="350000"/>
                  <a:alpha val="18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7352422" y="3048000"/>
            <a:ext cx="205649" cy="27709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50000"/>
                  <a:satMod val="300000"/>
                  <a:alpha val="17000"/>
                </a:schemeClr>
              </a:gs>
              <a:gs pos="35000">
                <a:schemeClr val="accent1">
                  <a:tint val="37000"/>
                  <a:satMod val="300000"/>
                  <a:alpha val="17000"/>
                </a:schemeClr>
              </a:gs>
              <a:gs pos="100000">
                <a:schemeClr val="accent1">
                  <a:tint val="15000"/>
                  <a:satMod val="350000"/>
                  <a:alpha val="17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37557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490184"/>
              </p:ext>
            </p:extLst>
          </p:nvPr>
        </p:nvGraphicFramePr>
        <p:xfrm>
          <a:off x="914399" y="1905000"/>
          <a:ext cx="7543801" cy="4389119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9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Page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Selector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(8-bits. Binary)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Offset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Address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(22-bits. Binary)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D0D0D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Comments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Absolute Address (Hex)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00 0000 0000 0000 0000 0000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First address: Page 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00000000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11 1111 1111 1111 1111 1111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Last address: Page 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003FFFFF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00 0000 01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00 0000 0000 0000 0000 0000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First address: Page 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00400000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00 0000 01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11 1111 1111 1111 1111 1111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Last address: Page 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007FFFFF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00 0000 10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00 0000 0000 0000 0000 0000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First address: Page 2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00800000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00 0000 10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11 1111 1111 1111 1111 1111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Last address: Page 2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?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.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.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.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.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.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.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.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.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?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00 0000 0000 0000 0000 0000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First address: Page FF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?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?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11 1111 1111 1111 1111 1111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Last address: Page FF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?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Left Brace 2"/>
          <p:cNvSpPr/>
          <p:nvPr/>
        </p:nvSpPr>
        <p:spPr>
          <a:xfrm>
            <a:off x="698769" y="2814637"/>
            <a:ext cx="152400" cy="609600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/>
          <p:cNvSpPr/>
          <p:nvPr/>
        </p:nvSpPr>
        <p:spPr>
          <a:xfrm>
            <a:off x="698769" y="3500437"/>
            <a:ext cx="152400" cy="609600"/>
          </a:xfrm>
          <a:prstGeom prst="lef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/>
          <p:cNvSpPr/>
          <p:nvPr/>
        </p:nvSpPr>
        <p:spPr>
          <a:xfrm>
            <a:off x="698769" y="4262437"/>
            <a:ext cx="152400" cy="609600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/>
          <p:cNvSpPr/>
          <p:nvPr/>
        </p:nvSpPr>
        <p:spPr>
          <a:xfrm>
            <a:off x="698769" y="5481637"/>
            <a:ext cx="152400" cy="609600"/>
          </a:xfrm>
          <a:prstGeom prst="lef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9169" y="2980937"/>
            <a:ext cx="7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0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69" y="3666737"/>
            <a:ext cx="7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1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69" y="4428737"/>
            <a:ext cx="7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2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" y="5558135"/>
            <a:ext cx="774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255 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-106680" y="0"/>
            <a:ext cx="9052560" cy="838200"/>
          </a:xfrm>
        </p:spPr>
        <p:txBody>
          <a:bodyPr/>
          <a:lstStyle/>
          <a:p>
            <a:r>
              <a:rPr lang="en-US" dirty="0"/>
              <a:t>Address Space Partitioning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457200" y="838199"/>
            <a:ext cx="8458200" cy="9285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1800" dirty="0"/>
              <a:t>Using </a:t>
            </a:r>
            <a:r>
              <a:rPr lang="en-US" sz="1800" b="1" dirty="0">
                <a:solidFill>
                  <a:srgbClr val="FF6600"/>
                </a:solidFill>
              </a:rPr>
              <a:t>1 G</a:t>
            </a:r>
            <a:r>
              <a:rPr lang="en-US" sz="1800" b="1" dirty="0">
                <a:solidFill>
                  <a:srgbClr val="0000FF"/>
                </a:solidFill>
              </a:rPr>
              <a:t>B</a:t>
            </a:r>
            <a:r>
              <a:rPr lang="en-US" sz="1800" dirty="0"/>
              <a:t> memories (30 bits) with a </a:t>
            </a:r>
            <a:r>
              <a:rPr lang="en-US" sz="1800" b="1" dirty="0">
                <a:solidFill>
                  <a:srgbClr val="FF6600"/>
                </a:solidFill>
              </a:rPr>
              <a:t>4 M</a:t>
            </a:r>
            <a:r>
              <a:rPr lang="en-US" sz="1800" b="1" dirty="0">
                <a:solidFill>
                  <a:srgbClr val="0000FF"/>
                </a:solidFill>
              </a:rPr>
              <a:t>B</a:t>
            </a:r>
            <a:r>
              <a:rPr lang="en-US" sz="1800" dirty="0"/>
              <a:t> chips (22 bits)</a:t>
            </a:r>
          </a:p>
          <a:p>
            <a:r>
              <a:rPr lang="en-US" sz="1800" b="1" dirty="0">
                <a:solidFill>
                  <a:srgbClr val="008000"/>
                </a:solidFill>
              </a:rPr>
              <a:t>Page selector</a:t>
            </a:r>
            <a:r>
              <a:rPr lang="en-US" sz="1800" dirty="0"/>
              <a:t>: 8 bits</a:t>
            </a:r>
          </a:p>
          <a:p>
            <a:r>
              <a:rPr lang="en-US" sz="1800" b="1" dirty="0">
                <a:solidFill>
                  <a:srgbClr val="FF6600"/>
                </a:solidFill>
              </a:rPr>
              <a:t>Offset</a:t>
            </a:r>
            <a:r>
              <a:rPr lang="en-US" sz="1800" dirty="0">
                <a:solidFill>
                  <a:srgbClr val="FF6600"/>
                </a:solidFill>
              </a:rPr>
              <a:t> </a:t>
            </a:r>
            <a:r>
              <a:rPr lang="en-US" sz="1800" dirty="0"/>
              <a:t>(the # address lines for each chip/page):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22 bits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2" name="Rounded Rectangle 1"/>
          <p:cNvSpPr/>
          <p:nvPr/>
        </p:nvSpPr>
        <p:spPr>
          <a:xfrm>
            <a:off x="7682346" y="3430155"/>
            <a:ext cx="484909" cy="277091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50000"/>
                  <a:satMod val="300000"/>
                  <a:alpha val="20000"/>
                </a:schemeClr>
              </a:gs>
              <a:gs pos="35000">
                <a:schemeClr val="accent5">
                  <a:tint val="37000"/>
                  <a:satMod val="300000"/>
                  <a:alpha val="20000"/>
                </a:schemeClr>
              </a:gs>
              <a:gs pos="100000">
                <a:schemeClr val="accent5">
                  <a:tint val="15000"/>
                  <a:satMod val="350000"/>
                  <a:alpha val="20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2707473" y="3429000"/>
            <a:ext cx="2228145" cy="277091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50000"/>
                  <a:satMod val="300000"/>
                  <a:alpha val="20000"/>
                </a:schemeClr>
              </a:gs>
              <a:gs pos="35000">
                <a:schemeClr val="accent5">
                  <a:tint val="37000"/>
                  <a:satMod val="300000"/>
                  <a:alpha val="20000"/>
                </a:schemeClr>
              </a:gs>
              <a:gs pos="100000">
                <a:schemeClr val="accent5">
                  <a:tint val="15000"/>
                  <a:satMod val="350000"/>
                  <a:alpha val="20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7568508" y="3431309"/>
            <a:ext cx="127692" cy="277091"/>
          </a:xfrm>
          <a:prstGeom prst="roundRect">
            <a:avLst/>
          </a:prstGeom>
          <a:gradFill flip="none" rotWithShape="1">
            <a:gsLst>
              <a:gs pos="0">
                <a:schemeClr val="accent3">
                  <a:tint val="50000"/>
                  <a:satMod val="300000"/>
                  <a:alpha val="22000"/>
                </a:schemeClr>
              </a:gs>
              <a:gs pos="35000">
                <a:schemeClr val="accent3">
                  <a:tint val="37000"/>
                  <a:satMod val="300000"/>
                  <a:alpha val="22000"/>
                </a:schemeClr>
              </a:gs>
              <a:gs pos="100000">
                <a:schemeClr val="accent3">
                  <a:tint val="15000"/>
                  <a:satMod val="350000"/>
                  <a:alpha val="22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1828800" y="3429000"/>
            <a:ext cx="859048" cy="277091"/>
          </a:xfrm>
          <a:prstGeom prst="roundRect">
            <a:avLst/>
          </a:prstGeom>
          <a:gradFill flip="none" rotWithShape="1">
            <a:gsLst>
              <a:gs pos="0">
                <a:schemeClr val="accent3">
                  <a:tint val="50000"/>
                  <a:satMod val="300000"/>
                  <a:alpha val="22000"/>
                </a:schemeClr>
              </a:gs>
              <a:gs pos="35000">
                <a:schemeClr val="accent3">
                  <a:tint val="37000"/>
                  <a:satMod val="300000"/>
                  <a:alpha val="22000"/>
                </a:schemeClr>
              </a:gs>
              <a:gs pos="100000">
                <a:schemeClr val="accent3">
                  <a:tint val="15000"/>
                  <a:satMod val="350000"/>
                  <a:alpha val="22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1095098" y="3429000"/>
            <a:ext cx="709957" cy="27709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50000"/>
                  <a:satMod val="300000"/>
                  <a:alpha val="18000"/>
                </a:schemeClr>
              </a:gs>
              <a:gs pos="35000">
                <a:schemeClr val="accent1">
                  <a:tint val="37000"/>
                  <a:satMod val="300000"/>
                  <a:alpha val="18000"/>
                </a:schemeClr>
              </a:gs>
              <a:gs pos="100000">
                <a:schemeClr val="accent1">
                  <a:tint val="15000"/>
                  <a:satMod val="350000"/>
                  <a:alpha val="18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7377822" y="3429000"/>
            <a:ext cx="205649" cy="27709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50000"/>
                  <a:satMod val="300000"/>
                  <a:alpha val="17000"/>
                </a:schemeClr>
              </a:gs>
              <a:gs pos="35000">
                <a:schemeClr val="accent1">
                  <a:tint val="37000"/>
                  <a:satMod val="300000"/>
                  <a:alpha val="17000"/>
                </a:schemeClr>
              </a:gs>
              <a:gs pos="100000">
                <a:schemeClr val="accent1">
                  <a:tint val="15000"/>
                  <a:satMod val="350000"/>
                  <a:alpha val="17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76184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53565"/>
              </p:ext>
            </p:extLst>
          </p:nvPr>
        </p:nvGraphicFramePr>
        <p:xfrm>
          <a:off x="914399" y="1905000"/>
          <a:ext cx="7543801" cy="4389119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9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Page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Selector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(8-bits. Binary)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Offset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Address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(22-bits. Binary)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D0D0D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Comments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Frutiger 55 Roman" charset="0"/>
                        <a:ea typeface="ＭＳ Ｐゴシック" pitchFamily="34" charset="-128"/>
                      </a:endParaRP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Absolute Address (Hex)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00 0000 0000 0000 0000 0000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First address: Page 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00000000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11 1111 1111 1111 1111 1111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Last address: Page 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003FFFFF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00 0000 01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00 0000 0000 0000 0000 0000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First address: Page 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00400000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00 0000 01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11 1111 1111 1111 1111 1111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Last address: Page 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007FFFFF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00 0000 10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00 0000 0000 0000 0000 0000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First address: Page 2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00800000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00 0000 10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11 1111 1111 1111 1111 1111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Last address: Page 2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00BFFFFF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.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.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.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.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.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.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.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.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11 1111 11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00 0000 0000 0000 0000 0000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First address: Page FF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3FC00000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11 1111 11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11 1111 1111 1111 1111 1111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Last address: Page FF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Frutiger 55 Roman" charset="0"/>
                          <a:ea typeface="ＭＳ Ｐゴシック" pitchFamily="34" charset="-128"/>
                        </a:rPr>
                        <a:t>3FFFFFFF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Left Brace 2"/>
          <p:cNvSpPr/>
          <p:nvPr/>
        </p:nvSpPr>
        <p:spPr>
          <a:xfrm>
            <a:off x="698769" y="2814637"/>
            <a:ext cx="152400" cy="609600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/>
          <p:cNvSpPr/>
          <p:nvPr/>
        </p:nvSpPr>
        <p:spPr>
          <a:xfrm>
            <a:off x="698769" y="3500437"/>
            <a:ext cx="152400" cy="609600"/>
          </a:xfrm>
          <a:prstGeom prst="lef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/>
          <p:cNvSpPr/>
          <p:nvPr/>
        </p:nvSpPr>
        <p:spPr>
          <a:xfrm>
            <a:off x="698769" y="4262437"/>
            <a:ext cx="152400" cy="609600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/>
          <p:cNvSpPr/>
          <p:nvPr/>
        </p:nvSpPr>
        <p:spPr>
          <a:xfrm>
            <a:off x="698769" y="5481637"/>
            <a:ext cx="152400" cy="609600"/>
          </a:xfrm>
          <a:prstGeom prst="lef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9169" y="2980937"/>
            <a:ext cx="7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0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69" y="3666737"/>
            <a:ext cx="7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1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69" y="4428737"/>
            <a:ext cx="7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2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" y="5558135"/>
            <a:ext cx="774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255 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-106680" y="0"/>
            <a:ext cx="9052560" cy="838200"/>
          </a:xfrm>
        </p:spPr>
        <p:txBody>
          <a:bodyPr/>
          <a:lstStyle/>
          <a:p>
            <a:r>
              <a:rPr lang="en-US" dirty="0"/>
              <a:t>Address Partitioning Done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457200" y="838199"/>
            <a:ext cx="8458200" cy="9285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1800" dirty="0"/>
              <a:t>Using </a:t>
            </a:r>
            <a:r>
              <a:rPr lang="en-US" sz="1800" b="1" dirty="0">
                <a:solidFill>
                  <a:srgbClr val="FF6600"/>
                </a:solidFill>
              </a:rPr>
              <a:t>1 G</a:t>
            </a:r>
            <a:r>
              <a:rPr lang="en-US" sz="1800" b="1" dirty="0">
                <a:solidFill>
                  <a:srgbClr val="0000FF"/>
                </a:solidFill>
              </a:rPr>
              <a:t>B</a:t>
            </a:r>
            <a:r>
              <a:rPr lang="en-US" sz="1800" dirty="0"/>
              <a:t> memories (30 bits) with a </a:t>
            </a:r>
            <a:r>
              <a:rPr lang="en-US" sz="1800" b="1" dirty="0">
                <a:solidFill>
                  <a:srgbClr val="FF6600"/>
                </a:solidFill>
              </a:rPr>
              <a:t>4 M</a:t>
            </a:r>
            <a:r>
              <a:rPr lang="en-US" sz="1800" b="1" dirty="0">
                <a:solidFill>
                  <a:srgbClr val="0000FF"/>
                </a:solidFill>
              </a:rPr>
              <a:t>B</a:t>
            </a:r>
            <a:r>
              <a:rPr lang="en-US" sz="1800" dirty="0"/>
              <a:t> chips (22 bits)</a:t>
            </a:r>
          </a:p>
          <a:p>
            <a:r>
              <a:rPr lang="en-US" sz="1800" b="1" dirty="0">
                <a:solidFill>
                  <a:srgbClr val="008000"/>
                </a:solidFill>
              </a:rPr>
              <a:t>Page selector</a:t>
            </a:r>
            <a:r>
              <a:rPr lang="en-US" sz="1800" dirty="0"/>
              <a:t>: 8 bits</a:t>
            </a:r>
          </a:p>
          <a:p>
            <a:r>
              <a:rPr lang="en-US" sz="1800" b="1" dirty="0">
                <a:solidFill>
                  <a:srgbClr val="FF6600"/>
                </a:solidFill>
              </a:rPr>
              <a:t>Offset</a:t>
            </a:r>
            <a:r>
              <a:rPr lang="en-US" sz="1800" dirty="0"/>
              <a:t> (the # address lines for each chip/page):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22 bits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97011201"/>
      </p:ext>
    </p:extLst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3301"/>
            <a:ext cx="8229600" cy="993598"/>
          </a:xfrm>
        </p:spPr>
        <p:txBody>
          <a:bodyPr/>
          <a:lstStyle/>
          <a:p>
            <a:r>
              <a:rPr lang="en-US" dirty="0"/>
              <a:t>Aside: Hard-Boiled Eggs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l="2421" r="2421"/>
          <a:stretch>
            <a:fillRect/>
          </a:stretch>
        </p:blipFill>
        <p:spPr>
          <a:xfrm>
            <a:off x="457200" y="1722437"/>
            <a:ext cx="8229600" cy="4525963"/>
          </a:xfrm>
        </p:spPr>
      </p:pic>
      <p:sp>
        <p:nvSpPr>
          <p:cNvPr id="5" name="TextBox 4"/>
          <p:cNvSpPr txBox="1"/>
          <p:nvPr/>
        </p:nvSpPr>
        <p:spPr>
          <a:xfrm>
            <a:off x="3134218" y="6412468"/>
            <a:ext cx="3349138" cy="21544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800" dirty="0"/>
              <a:t>Image Source: http://</a:t>
            </a:r>
            <a:r>
              <a:rPr lang="en-US" sz="800" dirty="0" err="1"/>
              <a:t>lehacker.com</a:t>
            </a:r>
            <a:r>
              <a:rPr lang="en-US" sz="800" dirty="0"/>
              <a:t>/big-endian-little-endian-formats/</a:t>
            </a:r>
          </a:p>
        </p:txBody>
      </p:sp>
    </p:spTree>
    <p:extLst>
      <p:ext uri="{BB962C8B-B14F-4D97-AF65-F5344CB8AC3E}">
        <p14:creationId xmlns:p14="http://schemas.microsoft.com/office/powerpoint/2010/main" val="14043750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-167877" y="457200"/>
            <a:ext cx="9525793" cy="688975"/>
          </a:xfrm>
        </p:spPr>
        <p:txBody>
          <a:bodyPr/>
          <a:lstStyle/>
          <a:p>
            <a:r>
              <a:rPr lang="en-US" dirty="0"/>
              <a:t>Byte Addressing – Big Endian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7025" y="1219200"/>
            <a:ext cx="8718550" cy="685800"/>
          </a:xfrm>
        </p:spPr>
        <p:txBody>
          <a:bodyPr/>
          <a:lstStyle/>
          <a:p>
            <a:endParaRPr lang="en-US" sz="1800" dirty="0"/>
          </a:p>
          <a:p>
            <a:endParaRPr lang="en-US" sz="1800" dirty="0"/>
          </a:p>
        </p:txBody>
      </p:sp>
      <p:sp>
        <p:nvSpPr>
          <p:cNvPr id="290" name="Rectangle 3"/>
          <p:cNvSpPr txBox="1">
            <a:spLocks noChangeArrowheads="1"/>
          </p:cNvSpPr>
          <p:nvPr/>
        </p:nvSpPr>
        <p:spPr bwMode="auto">
          <a:xfrm>
            <a:off x="90916" y="6065520"/>
            <a:ext cx="8672084" cy="670560"/>
          </a:xfrm>
          <a:prstGeom prst="rect">
            <a:avLst/>
          </a:prstGeom>
          <a:ln/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1800" b="1" kern="0" dirty="0">
                <a:solidFill>
                  <a:srgbClr val="0033CC"/>
                </a:solidFill>
              </a:rPr>
              <a:t>This is a big-endian processor. </a:t>
            </a:r>
            <a:r>
              <a:rPr lang="en-US" sz="1800" kern="0" dirty="0">
                <a:solidFill>
                  <a:srgbClr val="000000"/>
                </a:solidFill>
              </a:rPr>
              <a:t>Regardless,</a:t>
            </a:r>
            <a:r>
              <a:rPr lang="en-US" sz="1800" b="1" kern="0" dirty="0">
                <a:solidFill>
                  <a:srgbClr val="0033CC"/>
                </a:solidFill>
              </a:rPr>
              <a:t> </a:t>
            </a:r>
            <a:r>
              <a:rPr lang="en-US" sz="1800" kern="0" dirty="0"/>
              <a:t>Word addresses will always be an even number: </a:t>
            </a:r>
            <a:endParaRPr lang="en-US" sz="1800" b="1" kern="0" dirty="0">
              <a:solidFill>
                <a:srgbClr val="0033CC"/>
              </a:solidFill>
            </a:endParaRPr>
          </a:p>
          <a:p>
            <a:endParaRPr lang="en-US" sz="1800" kern="0" dirty="0"/>
          </a:p>
          <a:p>
            <a:endParaRPr lang="en-US" sz="1800" kern="0" dirty="0"/>
          </a:p>
        </p:txBody>
      </p:sp>
      <p:sp>
        <p:nvSpPr>
          <p:cNvPr id="9" name="Rectangle 8"/>
          <p:cNvSpPr/>
          <p:nvPr/>
        </p:nvSpPr>
        <p:spPr>
          <a:xfrm>
            <a:off x="1219200" y="3124200"/>
            <a:ext cx="3124200" cy="25908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447800" y="3396734"/>
            <a:ext cx="1143000" cy="794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 data bits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95600" y="3396734"/>
            <a:ext cx="1143000" cy="794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 data bits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78604" y="4756666"/>
            <a:ext cx="1143000" cy="794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 data bits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404" y="4756666"/>
            <a:ext cx="1143000" cy="794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 data bits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6774" y="2754868"/>
            <a:ext cx="3385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16 data bits – 8 data bits/use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97463" y="3276600"/>
            <a:ext cx="1269538" cy="2330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600953"/>
              </p:ext>
            </p:extLst>
          </p:nvPr>
        </p:nvGraphicFramePr>
        <p:xfrm>
          <a:off x="4779828" y="1878193"/>
          <a:ext cx="3886199" cy="411242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87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4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75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7739">
                <a:tc>
                  <a:txBody>
                    <a:bodyPr/>
                    <a:lstStyle/>
                    <a:p>
                      <a:r>
                        <a:rPr lang="en-US" sz="1200" dirty="0"/>
                        <a:t>Page</a:t>
                      </a:r>
                    </a:p>
                    <a:p>
                      <a:r>
                        <a:rPr lang="en-US" sz="1200" dirty="0"/>
                        <a:t>(A16)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Word Address</a:t>
                      </a:r>
                    </a:p>
                    <a:p>
                      <a:r>
                        <a:rPr lang="en-US" sz="1200" dirty="0"/>
                        <a:t>(A16..A0)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D15…D8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D7..D0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612">
                <a:tc rowSpan="5"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3333FF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3333FF"/>
                          </a:solidFill>
                        </a:rPr>
                        <a:t>0x00000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0x00001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18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3333FF"/>
                          </a:solidFill>
                        </a:rPr>
                        <a:t>0x00002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0x00003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18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3333FF"/>
                          </a:solidFill>
                        </a:rPr>
                        <a:t>0x00004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0x00004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0x00005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18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3333FF"/>
                          </a:solidFill>
                        </a:rPr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…</a:t>
                      </a:r>
                      <a:endParaRPr lang="en-US" sz="1400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…</a:t>
                      </a:r>
                      <a:endParaRPr lang="en-US" sz="1400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465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3333FF"/>
                          </a:solidFill>
                        </a:rPr>
                        <a:t>0x0FFFE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0x0FFFE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0x0FFFF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465">
                <a:tc rowSpan="5"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0x10001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465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0x10002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0x10002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0x10003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465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0x10004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0x10004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0x10005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465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…</a:t>
                      </a:r>
                      <a:endParaRPr lang="en-US" sz="1400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…</a:t>
                      </a:r>
                      <a:endParaRPr lang="en-US" sz="1400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465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0x1FFFE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0x1FFFE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0x1FFFF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0" name="Line 26"/>
          <p:cNvSpPr>
            <a:spLocks noChangeShapeType="1"/>
          </p:cNvSpPr>
          <p:nvPr/>
        </p:nvSpPr>
        <p:spPr bwMode="auto">
          <a:xfrm flipH="1">
            <a:off x="328692" y="4310121"/>
            <a:ext cx="890508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en-US"/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772526"/>
              </p:ext>
            </p:extLst>
          </p:nvPr>
        </p:nvGraphicFramePr>
        <p:xfrm>
          <a:off x="1066800" y="2042809"/>
          <a:ext cx="28575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Offset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byte</a:t>
                      </a:r>
                    </a:p>
                  </a:txBody>
                  <a:tcPr>
                    <a:solidFill>
                      <a:srgbClr val="FFC000">
                        <a:alpha val="5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Right Arrow 2"/>
          <p:cNvSpPr/>
          <p:nvPr/>
        </p:nvSpPr>
        <p:spPr>
          <a:xfrm>
            <a:off x="2362200" y="3810000"/>
            <a:ext cx="762000" cy="381000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>
          <a:xfrm>
            <a:off x="327025" y="1219200"/>
            <a:ext cx="8718550" cy="6858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1800" dirty="0"/>
              <a:t>Q: Where do we start reading for a given row?  (For BS == 0)</a:t>
            </a:r>
          </a:p>
          <a:p>
            <a:r>
              <a:rPr lang="en-US" sz="1800" dirty="0"/>
              <a:t>A: From the “MSB”  </a:t>
            </a:r>
            <a:r>
              <a:rPr lang="en-US" sz="1800" dirty="0">
                <a:solidFill>
                  <a:srgbClr val="FF0000"/>
                </a:solidFill>
              </a:rPr>
              <a:t>//consider an array of ascending values</a:t>
            </a:r>
          </a:p>
        </p:txBody>
      </p:sp>
    </p:spTree>
    <p:extLst>
      <p:ext uri="{BB962C8B-B14F-4D97-AF65-F5344CB8AC3E}">
        <p14:creationId xmlns:p14="http://schemas.microsoft.com/office/powerpoint/2010/main" val="927468503"/>
      </p:ext>
    </p:extLst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-533400" y="152400"/>
            <a:ext cx="10478372" cy="688975"/>
          </a:xfrm>
        </p:spPr>
        <p:txBody>
          <a:bodyPr/>
          <a:lstStyle/>
          <a:p>
            <a:r>
              <a:rPr lang="en-US" sz="4800" dirty="0"/>
              <a:t>Byte Addressing – Little Endian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7025" y="1066800"/>
            <a:ext cx="8718550" cy="685800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Q: Where do we start reading for a given row?  (For BS == 0)</a:t>
            </a:r>
          </a:p>
          <a:p>
            <a:r>
              <a:rPr lang="en-US" sz="1800" dirty="0"/>
              <a:t>A: From the “LSB” </a:t>
            </a:r>
            <a:r>
              <a:rPr lang="en-US" sz="1800" dirty="0">
                <a:solidFill>
                  <a:srgbClr val="FF0000"/>
                </a:solidFill>
              </a:rPr>
              <a:t>//consider an array of ascending values</a:t>
            </a:r>
          </a:p>
          <a:p>
            <a:endParaRPr lang="en-US" sz="1800" dirty="0"/>
          </a:p>
        </p:txBody>
      </p:sp>
      <p:graphicFrame>
        <p:nvGraphicFramePr>
          <p:cNvPr id="289" name="Table 2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143204"/>
              </p:ext>
            </p:extLst>
          </p:nvPr>
        </p:nvGraphicFramePr>
        <p:xfrm>
          <a:off x="1307154" y="2133600"/>
          <a:ext cx="28575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Offset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byte</a:t>
                      </a:r>
                    </a:p>
                  </a:txBody>
                  <a:tcPr>
                    <a:solidFill>
                      <a:srgbClr val="FFC000">
                        <a:alpha val="5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225047"/>
              </p:ext>
            </p:extLst>
          </p:nvPr>
        </p:nvGraphicFramePr>
        <p:xfrm>
          <a:off x="4779828" y="1878193"/>
          <a:ext cx="3886199" cy="411242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87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4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75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7739">
                <a:tc>
                  <a:txBody>
                    <a:bodyPr/>
                    <a:lstStyle/>
                    <a:p>
                      <a:r>
                        <a:rPr lang="en-US" sz="1200" dirty="0"/>
                        <a:t>Page</a:t>
                      </a:r>
                    </a:p>
                    <a:p>
                      <a:r>
                        <a:rPr lang="en-US" sz="1200" dirty="0"/>
                        <a:t>(A16)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Word Address</a:t>
                      </a:r>
                    </a:p>
                    <a:p>
                      <a:r>
                        <a:rPr lang="en-US" sz="1200" dirty="0"/>
                        <a:t>(A16..A0)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D15…D8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D7..D0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612">
                <a:tc rowSpan="5"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3333FF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3333FF"/>
                          </a:solidFill>
                        </a:rPr>
                        <a:t>0x00000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18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3333FF"/>
                          </a:solidFill>
                        </a:rPr>
                        <a:t>0x00002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0x00002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18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3333FF"/>
                          </a:solidFill>
                        </a:rPr>
                        <a:t>0x00004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0x00005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0x00004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18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3333FF"/>
                          </a:solidFill>
                        </a:rPr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…</a:t>
                      </a:r>
                      <a:endParaRPr lang="en-US" sz="1400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…</a:t>
                      </a:r>
                      <a:endParaRPr lang="en-US" sz="1400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465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3333FF"/>
                          </a:solidFill>
                        </a:rPr>
                        <a:t>0x0FFFE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0x0FFFF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0x0FFFE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465">
                <a:tc rowSpan="5"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0x10001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0x10000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465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0x10002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0x10003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0x10002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465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0x10004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0x10005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0x10004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465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…</a:t>
                      </a:r>
                      <a:endParaRPr lang="en-US" sz="1400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…</a:t>
                      </a:r>
                      <a:endParaRPr lang="en-US" sz="1400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465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0x1FFFE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0x1FFFF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0x1FFFE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1219200" y="3124200"/>
            <a:ext cx="3124200" cy="25908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1447800" y="3396734"/>
            <a:ext cx="1143000" cy="794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 data bits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95600" y="3396734"/>
            <a:ext cx="1143000" cy="794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 data bits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78604" y="4756666"/>
            <a:ext cx="1143000" cy="794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 data bits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404" y="4756666"/>
            <a:ext cx="1143000" cy="794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 data bits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27508" y="3254400"/>
            <a:ext cx="1269538" cy="2330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Line 26"/>
          <p:cNvSpPr>
            <a:spLocks noChangeShapeType="1"/>
          </p:cNvSpPr>
          <p:nvPr/>
        </p:nvSpPr>
        <p:spPr bwMode="auto">
          <a:xfrm flipH="1">
            <a:off x="328692" y="4310121"/>
            <a:ext cx="890508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2" name="Left Arrow 1"/>
          <p:cNvSpPr/>
          <p:nvPr/>
        </p:nvSpPr>
        <p:spPr>
          <a:xfrm>
            <a:off x="2362200" y="3733800"/>
            <a:ext cx="685800" cy="457200"/>
          </a:xfrm>
          <a:prstGeom prst="lef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186774" y="2754868"/>
            <a:ext cx="3385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16 data bits – 8 data bits/use</a:t>
            </a: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90916" y="6065520"/>
            <a:ext cx="8672084" cy="670560"/>
          </a:xfrm>
          <a:prstGeom prst="rect">
            <a:avLst/>
          </a:prstGeom>
          <a:ln/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1800" b="1" kern="0" dirty="0">
                <a:solidFill>
                  <a:srgbClr val="0033CC"/>
                </a:solidFill>
              </a:rPr>
              <a:t>This is a little-endian processor. </a:t>
            </a:r>
            <a:r>
              <a:rPr lang="en-US" sz="1800" kern="0" dirty="0">
                <a:solidFill>
                  <a:srgbClr val="000000"/>
                </a:solidFill>
              </a:rPr>
              <a:t>Regardless,</a:t>
            </a:r>
            <a:r>
              <a:rPr lang="en-US" sz="1800" b="1" kern="0" dirty="0">
                <a:solidFill>
                  <a:srgbClr val="0033CC"/>
                </a:solidFill>
              </a:rPr>
              <a:t> </a:t>
            </a:r>
            <a:r>
              <a:rPr lang="en-US" sz="1800" kern="0" dirty="0"/>
              <a:t>Word addresses will always be an even number: </a:t>
            </a:r>
            <a:endParaRPr lang="en-US" sz="1800" b="1" kern="0" dirty="0">
              <a:solidFill>
                <a:srgbClr val="0033CC"/>
              </a:solidFill>
            </a:endParaRPr>
          </a:p>
          <a:p>
            <a:endParaRPr lang="en-US" sz="1800" kern="0" dirty="0"/>
          </a:p>
          <a:p>
            <a:endParaRPr lang="en-US" sz="1800" kern="0" dirty="0"/>
          </a:p>
        </p:txBody>
      </p:sp>
    </p:spTree>
    <p:extLst>
      <p:ext uri="{BB962C8B-B14F-4D97-AF65-F5344CB8AC3E}">
        <p14:creationId xmlns:p14="http://schemas.microsoft.com/office/powerpoint/2010/main" val="4099387226"/>
      </p:ext>
    </p:extLst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2" name="Rectangle 4"/>
          <p:cNvSpPr>
            <a:spLocks noGrp="1" noChangeArrowheads="1"/>
          </p:cNvSpPr>
          <p:nvPr>
            <p:ph type="title"/>
          </p:nvPr>
        </p:nvSpPr>
        <p:spPr>
          <a:xfrm>
            <a:off x="304800" y="76200"/>
            <a:ext cx="8229600" cy="838200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Byte Packing –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Big Endian</a:t>
            </a:r>
          </a:p>
        </p:txBody>
      </p:sp>
      <p:grpSp>
        <p:nvGrpSpPr>
          <p:cNvPr id="283654" name="Group 29"/>
          <p:cNvGrpSpPr>
            <a:grpSpLocks/>
          </p:cNvGrpSpPr>
          <p:nvPr/>
        </p:nvGrpSpPr>
        <p:grpSpPr bwMode="auto">
          <a:xfrm>
            <a:off x="266700" y="1917700"/>
            <a:ext cx="8423275" cy="342900"/>
            <a:chOff x="278" y="976"/>
            <a:chExt cx="5306" cy="216"/>
          </a:xfrm>
        </p:grpSpPr>
        <p:grpSp>
          <p:nvGrpSpPr>
            <p:cNvPr id="283779" name="Group 26"/>
            <p:cNvGrpSpPr>
              <a:grpSpLocks/>
            </p:cNvGrpSpPr>
            <p:nvPr/>
          </p:nvGrpSpPr>
          <p:grpSpPr bwMode="auto">
            <a:xfrm>
              <a:off x="816" y="976"/>
              <a:ext cx="4768" cy="216"/>
              <a:chOff x="384" y="984"/>
              <a:chExt cx="4768" cy="216"/>
            </a:xfrm>
          </p:grpSpPr>
          <p:grpSp>
            <p:nvGrpSpPr>
              <p:cNvPr id="283781" name="Group 14"/>
              <p:cNvGrpSpPr>
                <a:grpSpLocks/>
              </p:cNvGrpSpPr>
              <p:nvPr/>
            </p:nvGrpSpPr>
            <p:grpSpPr bwMode="auto">
              <a:xfrm>
                <a:off x="1576" y="984"/>
                <a:ext cx="1192" cy="216"/>
                <a:chOff x="848" y="992"/>
                <a:chExt cx="1336" cy="216"/>
              </a:xfrm>
            </p:grpSpPr>
            <p:sp>
              <p:nvSpPr>
                <p:cNvPr id="283791" name="Rectangle 15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92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75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1 – Address 000001</a:t>
                  </a:r>
                </a:p>
              </p:txBody>
            </p:sp>
          </p:grpSp>
          <p:grpSp>
            <p:nvGrpSpPr>
              <p:cNvPr id="283782" name="Group 17"/>
              <p:cNvGrpSpPr>
                <a:grpSpLocks/>
              </p:cNvGrpSpPr>
              <p:nvPr/>
            </p:nvGrpSpPr>
            <p:grpSpPr bwMode="auto">
              <a:xfrm>
                <a:off x="384" y="984"/>
                <a:ext cx="1192" cy="216"/>
                <a:chOff x="848" y="992"/>
                <a:chExt cx="1336" cy="216"/>
              </a:xfrm>
            </p:grpSpPr>
            <p:sp>
              <p:nvSpPr>
                <p:cNvPr id="283789" name="Rectangle 18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90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75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0 – Address 000000</a:t>
                  </a:r>
                </a:p>
              </p:txBody>
            </p:sp>
          </p:grpSp>
          <p:grpSp>
            <p:nvGrpSpPr>
              <p:cNvPr id="283783" name="Group 20"/>
              <p:cNvGrpSpPr>
                <a:grpSpLocks/>
              </p:cNvGrpSpPr>
              <p:nvPr/>
            </p:nvGrpSpPr>
            <p:grpSpPr bwMode="auto">
              <a:xfrm>
                <a:off x="3960" y="984"/>
                <a:ext cx="1192" cy="216"/>
                <a:chOff x="848" y="992"/>
                <a:chExt cx="1336" cy="216"/>
              </a:xfrm>
            </p:grpSpPr>
            <p:sp>
              <p:nvSpPr>
                <p:cNvPr id="283787" name="Rectangle 21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88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75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3 – Address 000003</a:t>
                  </a:r>
                </a:p>
              </p:txBody>
            </p:sp>
          </p:grpSp>
          <p:grpSp>
            <p:nvGrpSpPr>
              <p:cNvPr id="283784" name="Group 23"/>
              <p:cNvGrpSpPr>
                <a:grpSpLocks/>
              </p:cNvGrpSpPr>
              <p:nvPr/>
            </p:nvGrpSpPr>
            <p:grpSpPr bwMode="auto">
              <a:xfrm>
                <a:off x="2768" y="984"/>
                <a:ext cx="1192" cy="216"/>
                <a:chOff x="848" y="992"/>
                <a:chExt cx="1336" cy="216"/>
              </a:xfrm>
            </p:grpSpPr>
            <p:sp>
              <p:nvSpPr>
                <p:cNvPr id="283785" name="Rectangle 24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86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75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2 – Address 000002</a:t>
                  </a:r>
                </a:p>
              </p:txBody>
            </p:sp>
          </p:grpSp>
        </p:grpSp>
        <p:sp>
          <p:nvSpPr>
            <p:cNvPr id="283780" name="Text Box 28"/>
            <p:cNvSpPr txBox="1">
              <a:spLocks noChangeArrowheads="1"/>
            </p:cNvSpPr>
            <p:nvPr/>
          </p:nvSpPr>
          <p:spPr bwMode="auto">
            <a:xfrm>
              <a:off x="278" y="989"/>
              <a:ext cx="434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000000</a:t>
              </a:r>
            </a:p>
          </p:txBody>
        </p:sp>
      </p:grpSp>
      <p:grpSp>
        <p:nvGrpSpPr>
          <p:cNvPr id="283655" name="Group 36"/>
          <p:cNvGrpSpPr>
            <a:grpSpLocks/>
          </p:cNvGrpSpPr>
          <p:nvPr/>
        </p:nvGrpSpPr>
        <p:grpSpPr bwMode="auto">
          <a:xfrm>
            <a:off x="266700" y="2260600"/>
            <a:ext cx="8423275" cy="342900"/>
            <a:chOff x="278" y="976"/>
            <a:chExt cx="5306" cy="216"/>
          </a:xfrm>
        </p:grpSpPr>
        <p:grpSp>
          <p:nvGrpSpPr>
            <p:cNvPr id="283765" name="Group 37"/>
            <p:cNvGrpSpPr>
              <a:grpSpLocks/>
            </p:cNvGrpSpPr>
            <p:nvPr/>
          </p:nvGrpSpPr>
          <p:grpSpPr bwMode="auto">
            <a:xfrm>
              <a:off x="816" y="976"/>
              <a:ext cx="4768" cy="216"/>
              <a:chOff x="384" y="984"/>
              <a:chExt cx="4768" cy="216"/>
            </a:xfrm>
          </p:grpSpPr>
          <p:grpSp>
            <p:nvGrpSpPr>
              <p:cNvPr id="283767" name="Group 38"/>
              <p:cNvGrpSpPr>
                <a:grpSpLocks/>
              </p:cNvGrpSpPr>
              <p:nvPr/>
            </p:nvGrpSpPr>
            <p:grpSpPr bwMode="auto">
              <a:xfrm>
                <a:off x="1576" y="984"/>
                <a:ext cx="1192" cy="216"/>
                <a:chOff x="848" y="992"/>
                <a:chExt cx="1336" cy="216"/>
              </a:xfrm>
            </p:grpSpPr>
            <p:sp>
              <p:nvSpPr>
                <p:cNvPr id="283777" name="Rectangle 39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78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75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1 – Address 000005</a:t>
                  </a:r>
                </a:p>
              </p:txBody>
            </p:sp>
          </p:grpSp>
          <p:grpSp>
            <p:nvGrpSpPr>
              <p:cNvPr id="283768" name="Group 41"/>
              <p:cNvGrpSpPr>
                <a:grpSpLocks/>
              </p:cNvGrpSpPr>
              <p:nvPr/>
            </p:nvGrpSpPr>
            <p:grpSpPr bwMode="auto">
              <a:xfrm>
                <a:off x="384" y="984"/>
                <a:ext cx="1192" cy="216"/>
                <a:chOff x="848" y="992"/>
                <a:chExt cx="1336" cy="216"/>
              </a:xfrm>
            </p:grpSpPr>
            <p:sp>
              <p:nvSpPr>
                <p:cNvPr id="283775" name="Rectangle 42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76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75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0 – Address 000004</a:t>
                  </a:r>
                </a:p>
              </p:txBody>
            </p:sp>
          </p:grpSp>
          <p:grpSp>
            <p:nvGrpSpPr>
              <p:cNvPr id="283769" name="Group 44"/>
              <p:cNvGrpSpPr>
                <a:grpSpLocks/>
              </p:cNvGrpSpPr>
              <p:nvPr/>
            </p:nvGrpSpPr>
            <p:grpSpPr bwMode="auto">
              <a:xfrm>
                <a:off x="3960" y="984"/>
                <a:ext cx="1192" cy="216"/>
                <a:chOff x="848" y="992"/>
                <a:chExt cx="1336" cy="216"/>
              </a:xfrm>
            </p:grpSpPr>
            <p:sp>
              <p:nvSpPr>
                <p:cNvPr id="283773" name="Rectangle 45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74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75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3 – Address 000007</a:t>
                  </a:r>
                </a:p>
              </p:txBody>
            </p:sp>
          </p:grpSp>
          <p:grpSp>
            <p:nvGrpSpPr>
              <p:cNvPr id="283770" name="Group 47"/>
              <p:cNvGrpSpPr>
                <a:grpSpLocks/>
              </p:cNvGrpSpPr>
              <p:nvPr/>
            </p:nvGrpSpPr>
            <p:grpSpPr bwMode="auto">
              <a:xfrm>
                <a:off x="2768" y="984"/>
                <a:ext cx="1192" cy="216"/>
                <a:chOff x="848" y="992"/>
                <a:chExt cx="1336" cy="216"/>
              </a:xfrm>
            </p:grpSpPr>
            <p:sp>
              <p:nvSpPr>
                <p:cNvPr id="283771" name="Rectangle 48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72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75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2 – Address 000006</a:t>
                  </a:r>
                </a:p>
              </p:txBody>
            </p:sp>
          </p:grpSp>
        </p:grpSp>
        <p:sp>
          <p:nvSpPr>
            <p:cNvPr id="283766" name="Text Box 50"/>
            <p:cNvSpPr txBox="1">
              <a:spLocks noChangeArrowheads="1"/>
            </p:cNvSpPr>
            <p:nvPr/>
          </p:nvSpPr>
          <p:spPr bwMode="auto">
            <a:xfrm>
              <a:off x="278" y="989"/>
              <a:ext cx="434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000004</a:t>
              </a:r>
            </a:p>
          </p:txBody>
        </p:sp>
      </p:grpSp>
      <p:grpSp>
        <p:nvGrpSpPr>
          <p:cNvPr id="283656" name="Group 51"/>
          <p:cNvGrpSpPr>
            <a:grpSpLocks/>
          </p:cNvGrpSpPr>
          <p:nvPr/>
        </p:nvGrpSpPr>
        <p:grpSpPr bwMode="auto">
          <a:xfrm>
            <a:off x="266700" y="2603500"/>
            <a:ext cx="8423275" cy="342900"/>
            <a:chOff x="278" y="976"/>
            <a:chExt cx="5306" cy="216"/>
          </a:xfrm>
        </p:grpSpPr>
        <p:grpSp>
          <p:nvGrpSpPr>
            <p:cNvPr id="283751" name="Group 52"/>
            <p:cNvGrpSpPr>
              <a:grpSpLocks/>
            </p:cNvGrpSpPr>
            <p:nvPr/>
          </p:nvGrpSpPr>
          <p:grpSpPr bwMode="auto">
            <a:xfrm>
              <a:off x="816" y="976"/>
              <a:ext cx="4768" cy="216"/>
              <a:chOff x="384" y="984"/>
              <a:chExt cx="4768" cy="216"/>
            </a:xfrm>
          </p:grpSpPr>
          <p:grpSp>
            <p:nvGrpSpPr>
              <p:cNvPr id="283753" name="Group 53"/>
              <p:cNvGrpSpPr>
                <a:grpSpLocks/>
              </p:cNvGrpSpPr>
              <p:nvPr/>
            </p:nvGrpSpPr>
            <p:grpSpPr bwMode="auto">
              <a:xfrm>
                <a:off x="1576" y="984"/>
                <a:ext cx="1192" cy="216"/>
                <a:chOff x="848" y="992"/>
                <a:chExt cx="1336" cy="216"/>
              </a:xfrm>
            </p:grpSpPr>
            <p:sp>
              <p:nvSpPr>
                <p:cNvPr id="283763" name="Rectangle 54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64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75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1 – Address 000009</a:t>
                  </a:r>
                </a:p>
              </p:txBody>
            </p:sp>
          </p:grpSp>
          <p:grpSp>
            <p:nvGrpSpPr>
              <p:cNvPr id="283754" name="Group 56"/>
              <p:cNvGrpSpPr>
                <a:grpSpLocks/>
              </p:cNvGrpSpPr>
              <p:nvPr/>
            </p:nvGrpSpPr>
            <p:grpSpPr bwMode="auto">
              <a:xfrm>
                <a:off x="384" y="984"/>
                <a:ext cx="1192" cy="216"/>
                <a:chOff x="848" y="992"/>
                <a:chExt cx="1336" cy="216"/>
              </a:xfrm>
            </p:grpSpPr>
            <p:sp>
              <p:nvSpPr>
                <p:cNvPr id="283761" name="Rectangle 57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62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75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0 – Address 000008</a:t>
                  </a:r>
                </a:p>
              </p:txBody>
            </p:sp>
          </p:grpSp>
          <p:grpSp>
            <p:nvGrpSpPr>
              <p:cNvPr id="283755" name="Group 59"/>
              <p:cNvGrpSpPr>
                <a:grpSpLocks/>
              </p:cNvGrpSpPr>
              <p:nvPr/>
            </p:nvGrpSpPr>
            <p:grpSpPr bwMode="auto">
              <a:xfrm>
                <a:off x="3960" y="984"/>
                <a:ext cx="1192" cy="216"/>
                <a:chOff x="848" y="992"/>
                <a:chExt cx="1336" cy="216"/>
              </a:xfrm>
            </p:grpSpPr>
            <p:sp>
              <p:nvSpPr>
                <p:cNvPr id="283759" name="Rectangle 60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60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91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3 – Address 00000B</a:t>
                  </a:r>
                </a:p>
              </p:txBody>
            </p:sp>
          </p:grpSp>
          <p:grpSp>
            <p:nvGrpSpPr>
              <p:cNvPr id="283756" name="Group 62"/>
              <p:cNvGrpSpPr>
                <a:grpSpLocks/>
              </p:cNvGrpSpPr>
              <p:nvPr/>
            </p:nvGrpSpPr>
            <p:grpSpPr bwMode="auto">
              <a:xfrm>
                <a:off x="2768" y="984"/>
                <a:ext cx="1192" cy="216"/>
                <a:chOff x="848" y="992"/>
                <a:chExt cx="1336" cy="216"/>
              </a:xfrm>
            </p:grpSpPr>
            <p:sp>
              <p:nvSpPr>
                <p:cNvPr id="283757" name="Rectangle 63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58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91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2 – Address 00000A</a:t>
                  </a:r>
                </a:p>
              </p:txBody>
            </p:sp>
          </p:grpSp>
        </p:grpSp>
        <p:sp>
          <p:nvSpPr>
            <p:cNvPr id="283752" name="Text Box 65"/>
            <p:cNvSpPr txBox="1">
              <a:spLocks noChangeArrowheads="1"/>
            </p:cNvSpPr>
            <p:nvPr/>
          </p:nvSpPr>
          <p:spPr bwMode="auto">
            <a:xfrm>
              <a:off x="278" y="989"/>
              <a:ext cx="434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000008</a:t>
              </a:r>
            </a:p>
          </p:txBody>
        </p:sp>
      </p:grpSp>
      <p:grpSp>
        <p:nvGrpSpPr>
          <p:cNvPr id="283657" name="Group 66"/>
          <p:cNvGrpSpPr>
            <a:grpSpLocks/>
          </p:cNvGrpSpPr>
          <p:nvPr/>
        </p:nvGrpSpPr>
        <p:grpSpPr bwMode="auto">
          <a:xfrm>
            <a:off x="266700" y="2946400"/>
            <a:ext cx="8423275" cy="342900"/>
            <a:chOff x="278" y="976"/>
            <a:chExt cx="5306" cy="216"/>
          </a:xfrm>
        </p:grpSpPr>
        <p:grpSp>
          <p:nvGrpSpPr>
            <p:cNvPr id="283737" name="Group 67"/>
            <p:cNvGrpSpPr>
              <a:grpSpLocks/>
            </p:cNvGrpSpPr>
            <p:nvPr/>
          </p:nvGrpSpPr>
          <p:grpSpPr bwMode="auto">
            <a:xfrm>
              <a:off x="816" y="976"/>
              <a:ext cx="4768" cy="216"/>
              <a:chOff x="384" y="984"/>
              <a:chExt cx="4768" cy="216"/>
            </a:xfrm>
          </p:grpSpPr>
          <p:grpSp>
            <p:nvGrpSpPr>
              <p:cNvPr id="283739" name="Group 68"/>
              <p:cNvGrpSpPr>
                <a:grpSpLocks/>
              </p:cNvGrpSpPr>
              <p:nvPr/>
            </p:nvGrpSpPr>
            <p:grpSpPr bwMode="auto">
              <a:xfrm>
                <a:off x="1576" y="984"/>
                <a:ext cx="1192" cy="216"/>
                <a:chOff x="848" y="992"/>
                <a:chExt cx="1336" cy="216"/>
              </a:xfrm>
            </p:grpSpPr>
            <p:sp>
              <p:nvSpPr>
                <p:cNvPr id="283749" name="Rectangle 69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50" name="Text Box 70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91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1 – Address 00000D</a:t>
                  </a:r>
                </a:p>
              </p:txBody>
            </p:sp>
          </p:grpSp>
          <p:grpSp>
            <p:nvGrpSpPr>
              <p:cNvPr id="283740" name="Group 71"/>
              <p:cNvGrpSpPr>
                <a:grpSpLocks/>
              </p:cNvGrpSpPr>
              <p:nvPr/>
            </p:nvGrpSpPr>
            <p:grpSpPr bwMode="auto">
              <a:xfrm>
                <a:off x="384" y="984"/>
                <a:ext cx="1192" cy="216"/>
                <a:chOff x="848" y="992"/>
                <a:chExt cx="1336" cy="216"/>
              </a:xfrm>
            </p:grpSpPr>
            <p:sp>
              <p:nvSpPr>
                <p:cNvPr id="283747" name="Rectangle 72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48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91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0 – Address 00000C</a:t>
                  </a:r>
                </a:p>
              </p:txBody>
            </p:sp>
          </p:grpSp>
          <p:grpSp>
            <p:nvGrpSpPr>
              <p:cNvPr id="283741" name="Group 74"/>
              <p:cNvGrpSpPr>
                <a:grpSpLocks/>
              </p:cNvGrpSpPr>
              <p:nvPr/>
            </p:nvGrpSpPr>
            <p:grpSpPr bwMode="auto">
              <a:xfrm>
                <a:off x="3960" y="984"/>
                <a:ext cx="1192" cy="216"/>
                <a:chOff x="848" y="992"/>
                <a:chExt cx="1336" cy="216"/>
              </a:xfrm>
            </p:grpSpPr>
            <p:sp>
              <p:nvSpPr>
                <p:cNvPr id="283745" name="Rectangle 75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46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81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3 – Address 00000F</a:t>
                  </a:r>
                </a:p>
              </p:txBody>
            </p:sp>
          </p:grpSp>
          <p:grpSp>
            <p:nvGrpSpPr>
              <p:cNvPr id="283742" name="Group 77"/>
              <p:cNvGrpSpPr>
                <a:grpSpLocks/>
              </p:cNvGrpSpPr>
              <p:nvPr/>
            </p:nvGrpSpPr>
            <p:grpSpPr bwMode="auto">
              <a:xfrm>
                <a:off x="2768" y="984"/>
                <a:ext cx="1192" cy="216"/>
                <a:chOff x="848" y="992"/>
                <a:chExt cx="1336" cy="216"/>
              </a:xfrm>
            </p:grpSpPr>
            <p:sp>
              <p:nvSpPr>
                <p:cNvPr id="283743" name="Rectangle 78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44" name="Text Box 79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85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2 – Address 00000E</a:t>
                  </a:r>
                </a:p>
              </p:txBody>
            </p:sp>
          </p:grpSp>
        </p:grpSp>
        <p:sp>
          <p:nvSpPr>
            <p:cNvPr id="283738" name="Text Box 80"/>
            <p:cNvSpPr txBox="1">
              <a:spLocks noChangeArrowheads="1"/>
            </p:cNvSpPr>
            <p:nvPr/>
          </p:nvSpPr>
          <p:spPr bwMode="auto">
            <a:xfrm>
              <a:off x="278" y="989"/>
              <a:ext cx="450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00000C</a:t>
              </a:r>
            </a:p>
          </p:txBody>
        </p:sp>
      </p:grpSp>
      <p:grpSp>
        <p:nvGrpSpPr>
          <p:cNvPr id="283658" name="Group 81"/>
          <p:cNvGrpSpPr>
            <a:grpSpLocks/>
          </p:cNvGrpSpPr>
          <p:nvPr/>
        </p:nvGrpSpPr>
        <p:grpSpPr bwMode="auto">
          <a:xfrm>
            <a:off x="266700" y="3289300"/>
            <a:ext cx="8423275" cy="342900"/>
            <a:chOff x="278" y="976"/>
            <a:chExt cx="5306" cy="216"/>
          </a:xfrm>
        </p:grpSpPr>
        <p:grpSp>
          <p:nvGrpSpPr>
            <p:cNvPr id="283723" name="Group 82"/>
            <p:cNvGrpSpPr>
              <a:grpSpLocks/>
            </p:cNvGrpSpPr>
            <p:nvPr/>
          </p:nvGrpSpPr>
          <p:grpSpPr bwMode="auto">
            <a:xfrm>
              <a:off x="816" y="976"/>
              <a:ext cx="4768" cy="216"/>
              <a:chOff x="384" y="984"/>
              <a:chExt cx="4768" cy="216"/>
            </a:xfrm>
          </p:grpSpPr>
          <p:grpSp>
            <p:nvGrpSpPr>
              <p:cNvPr id="283725" name="Group 83"/>
              <p:cNvGrpSpPr>
                <a:grpSpLocks/>
              </p:cNvGrpSpPr>
              <p:nvPr/>
            </p:nvGrpSpPr>
            <p:grpSpPr bwMode="auto">
              <a:xfrm>
                <a:off x="1576" y="984"/>
                <a:ext cx="1192" cy="216"/>
                <a:chOff x="848" y="992"/>
                <a:chExt cx="1336" cy="216"/>
              </a:xfrm>
            </p:grpSpPr>
            <p:sp>
              <p:nvSpPr>
                <p:cNvPr id="283735" name="Rectangle 84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36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75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1 – Address 000011</a:t>
                  </a:r>
                </a:p>
              </p:txBody>
            </p:sp>
          </p:grpSp>
          <p:grpSp>
            <p:nvGrpSpPr>
              <p:cNvPr id="283726" name="Group 86"/>
              <p:cNvGrpSpPr>
                <a:grpSpLocks/>
              </p:cNvGrpSpPr>
              <p:nvPr/>
            </p:nvGrpSpPr>
            <p:grpSpPr bwMode="auto">
              <a:xfrm>
                <a:off x="384" y="984"/>
                <a:ext cx="1192" cy="216"/>
                <a:chOff x="848" y="992"/>
                <a:chExt cx="1336" cy="216"/>
              </a:xfrm>
            </p:grpSpPr>
            <p:sp>
              <p:nvSpPr>
                <p:cNvPr id="283733" name="Rectangle 87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34" name="Text Box 88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75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0 – Address 000010</a:t>
                  </a:r>
                </a:p>
              </p:txBody>
            </p:sp>
          </p:grpSp>
          <p:grpSp>
            <p:nvGrpSpPr>
              <p:cNvPr id="283727" name="Group 89"/>
              <p:cNvGrpSpPr>
                <a:grpSpLocks/>
              </p:cNvGrpSpPr>
              <p:nvPr/>
            </p:nvGrpSpPr>
            <p:grpSpPr bwMode="auto">
              <a:xfrm>
                <a:off x="3960" y="984"/>
                <a:ext cx="1192" cy="216"/>
                <a:chOff x="848" y="992"/>
                <a:chExt cx="1336" cy="216"/>
              </a:xfrm>
            </p:grpSpPr>
            <p:sp>
              <p:nvSpPr>
                <p:cNvPr id="283731" name="Rectangle 90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32" name="Text Box 91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75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3 – Address 000013</a:t>
                  </a:r>
                </a:p>
              </p:txBody>
            </p:sp>
          </p:grpSp>
          <p:grpSp>
            <p:nvGrpSpPr>
              <p:cNvPr id="283728" name="Group 92"/>
              <p:cNvGrpSpPr>
                <a:grpSpLocks/>
              </p:cNvGrpSpPr>
              <p:nvPr/>
            </p:nvGrpSpPr>
            <p:grpSpPr bwMode="auto">
              <a:xfrm>
                <a:off x="2768" y="984"/>
                <a:ext cx="1192" cy="216"/>
                <a:chOff x="848" y="992"/>
                <a:chExt cx="1336" cy="216"/>
              </a:xfrm>
            </p:grpSpPr>
            <p:sp>
              <p:nvSpPr>
                <p:cNvPr id="283729" name="Rectangle 93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30" name="Text Box 94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75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2 – Address 000012</a:t>
                  </a:r>
                </a:p>
              </p:txBody>
            </p:sp>
          </p:grpSp>
        </p:grpSp>
        <p:sp>
          <p:nvSpPr>
            <p:cNvPr id="283724" name="Text Box 95"/>
            <p:cNvSpPr txBox="1">
              <a:spLocks noChangeArrowheads="1"/>
            </p:cNvSpPr>
            <p:nvPr/>
          </p:nvSpPr>
          <p:spPr bwMode="auto">
            <a:xfrm>
              <a:off x="278" y="989"/>
              <a:ext cx="434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000010</a:t>
              </a:r>
            </a:p>
          </p:txBody>
        </p:sp>
      </p:grpSp>
      <p:sp>
        <p:nvSpPr>
          <p:cNvPr id="283659" name="Oval 96"/>
          <p:cNvSpPr>
            <a:spLocks noChangeArrowheads="1"/>
          </p:cNvSpPr>
          <p:nvPr/>
        </p:nvSpPr>
        <p:spPr bwMode="auto">
          <a:xfrm>
            <a:off x="4511675" y="3759200"/>
            <a:ext cx="101600" cy="10160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283660" name="Oval 97"/>
          <p:cNvSpPr>
            <a:spLocks noChangeArrowheads="1"/>
          </p:cNvSpPr>
          <p:nvPr/>
        </p:nvSpPr>
        <p:spPr bwMode="auto">
          <a:xfrm>
            <a:off x="4511675" y="3937000"/>
            <a:ext cx="101600" cy="10160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283661" name="Oval 98"/>
          <p:cNvSpPr>
            <a:spLocks noChangeArrowheads="1"/>
          </p:cNvSpPr>
          <p:nvPr/>
        </p:nvSpPr>
        <p:spPr bwMode="auto">
          <a:xfrm>
            <a:off x="4511675" y="4127500"/>
            <a:ext cx="101600" cy="10160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283662" name="Oval 99"/>
          <p:cNvSpPr>
            <a:spLocks noChangeArrowheads="1"/>
          </p:cNvSpPr>
          <p:nvPr/>
        </p:nvSpPr>
        <p:spPr bwMode="auto">
          <a:xfrm>
            <a:off x="4511675" y="4305300"/>
            <a:ext cx="101600" cy="10160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grpSp>
        <p:nvGrpSpPr>
          <p:cNvPr id="283663" name="Group 100"/>
          <p:cNvGrpSpPr>
            <a:grpSpLocks/>
          </p:cNvGrpSpPr>
          <p:nvPr/>
        </p:nvGrpSpPr>
        <p:grpSpPr bwMode="auto">
          <a:xfrm>
            <a:off x="254000" y="4495800"/>
            <a:ext cx="8423275" cy="342900"/>
            <a:chOff x="278" y="976"/>
            <a:chExt cx="5306" cy="216"/>
          </a:xfrm>
        </p:grpSpPr>
        <p:grpSp>
          <p:nvGrpSpPr>
            <p:cNvPr id="283709" name="Group 101"/>
            <p:cNvGrpSpPr>
              <a:grpSpLocks/>
            </p:cNvGrpSpPr>
            <p:nvPr/>
          </p:nvGrpSpPr>
          <p:grpSpPr bwMode="auto">
            <a:xfrm>
              <a:off x="816" y="976"/>
              <a:ext cx="4768" cy="216"/>
              <a:chOff x="384" y="984"/>
              <a:chExt cx="4768" cy="216"/>
            </a:xfrm>
          </p:grpSpPr>
          <p:grpSp>
            <p:nvGrpSpPr>
              <p:cNvPr id="283711" name="Group 102"/>
              <p:cNvGrpSpPr>
                <a:grpSpLocks/>
              </p:cNvGrpSpPr>
              <p:nvPr/>
            </p:nvGrpSpPr>
            <p:grpSpPr bwMode="auto">
              <a:xfrm>
                <a:off x="1576" y="984"/>
                <a:ext cx="1192" cy="216"/>
                <a:chOff x="848" y="992"/>
                <a:chExt cx="1336" cy="216"/>
              </a:xfrm>
            </p:grpSpPr>
            <p:sp>
              <p:nvSpPr>
                <p:cNvPr id="283721" name="Rectangle 103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22" name="Text Box 104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203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1 – Address FFFFF1</a:t>
                  </a:r>
                </a:p>
              </p:txBody>
            </p:sp>
          </p:grpSp>
          <p:grpSp>
            <p:nvGrpSpPr>
              <p:cNvPr id="283712" name="Group 105"/>
              <p:cNvGrpSpPr>
                <a:grpSpLocks/>
              </p:cNvGrpSpPr>
              <p:nvPr/>
            </p:nvGrpSpPr>
            <p:grpSpPr bwMode="auto">
              <a:xfrm>
                <a:off x="384" y="984"/>
                <a:ext cx="1192" cy="216"/>
                <a:chOff x="848" y="992"/>
                <a:chExt cx="1336" cy="216"/>
              </a:xfrm>
            </p:grpSpPr>
            <p:sp>
              <p:nvSpPr>
                <p:cNvPr id="283719" name="Rectangle 106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20" name="Text Box 107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203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0 – Address FFFFF0</a:t>
                  </a:r>
                </a:p>
              </p:txBody>
            </p:sp>
          </p:grpSp>
          <p:grpSp>
            <p:nvGrpSpPr>
              <p:cNvPr id="283713" name="Group 108"/>
              <p:cNvGrpSpPr>
                <a:grpSpLocks/>
              </p:cNvGrpSpPr>
              <p:nvPr/>
            </p:nvGrpSpPr>
            <p:grpSpPr bwMode="auto">
              <a:xfrm>
                <a:off x="3960" y="984"/>
                <a:ext cx="1192" cy="216"/>
                <a:chOff x="848" y="992"/>
                <a:chExt cx="1336" cy="216"/>
              </a:xfrm>
            </p:grpSpPr>
            <p:sp>
              <p:nvSpPr>
                <p:cNvPr id="283717" name="Rectangle 109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18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203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3 – Address FFFFF3</a:t>
                  </a:r>
                </a:p>
              </p:txBody>
            </p:sp>
          </p:grpSp>
          <p:grpSp>
            <p:nvGrpSpPr>
              <p:cNvPr id="283714" name="Group 111"/>
              <p:cNvGrpSpPr>
                <a:grpSpLocks/>
              </p:cNvGrpSpPr>
              <p:nvPr/>
            </p:nvGrpSpPr>
            <p:grpSpPr bwMode="auto">
              <a:xfrm>
                <a:off x="2768" y="984"/>
                <a:ext cx="1192" cy="216"/>
                <a:chOff x="848" y="992"/>
                <a:chExt cx="1336" cy="216"/>
              </a:xfrm>
            </p:grpSpPr>
            <p:sp>
              <p:nvSpPr>
                <p:cNvPr id="283715" name="Rectangle 112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16" name="Text Box 113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203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2 – Address FFFFF2</a:t>
                  </a:r>
                </a:p>
              </p:txBody>
            </p:sp>
          </p:grpSp>
        </p:grpSp>
        <p:sp>
          <p:nvSpPr>
            <p:cNvPr id="283710" name="Text Box 114"/>
            <p:cNvSpPr txBox="1">
              <a:spLocks noChangeArrowheads="1"/>
            </p:cNvSpPr>
            <p:nvPr/>
          </p:nvSpPr>
          <p:spPr bwMode="auto">
            <a:xfrm>
              <a:off x="278" y="989"/>
              <a:ext cx="464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FFFFF0</a:t>
              </a:r>
            </a:p>
          </p:txBody>
        </p:sp>
      </p:grpSp>
      <p:grpSp>
        <p:nvGrpSpPr>
          <p:cNvPr id="283664" name="Group 115"/>
          <p:cNvGrpSpPr>
            <a:grpSpLocks/>
          </p:cNvGrpSpPr>
          <p:nvPr/>
        </p:nvGrpSpPr>
        <p:grpSpPr bwMode="auto">
          <a:xfrm>
            <a:off x="254000" y="4838700"/>
            <a:ext cx="8423275" cy="342900"/>
            <a:chOff x="278" y="976"/>
            <a:chExt cx="5306" cy="216"/>
          </a:xfrm>
        </p:grpSpPr>
        <p:grpSp>
          <p:nvGrpSpPr>
            <p:cNvPr id="283695" name="Group 116"/>
            <p:cNvGrpSpPr>
              <a:grpSpLocks/>
            </p:cNvGrpSpPr>
            <p:nvPr/>
          </p:nvGrpSpPr>
          <p:grpSpPr bwMode="auto">
            <a:xfrm>
              <a:off x="816" y="976"/>
              <a:ext cx="4768" cy="216"/>
              <a:chOff x="384" y="984"/>
              <a:chExt cx="4768" cy="216"/>
            </a:xfrm>
          </p:grpSpPr>
          <p:grpSp>
            <p:nvGrpSpPr>
              <p:cNvPr id="283697" name="Group 117"/>
              <p:cNvGrpSpPr>
                <a:grpSpLocks/>
              </p:cNvGrpSpPr>
              <p:nvPr/>
            </p:nvGrpSpPr>
            <p:grpSpPr bwMode="auto">
              <a:xfrm>
                <a:off x="1576" y="984"/>
                <a:ext cx="1192" cy="216"/>
                <a:chOff x="848" y="992"/>
                <a:chExt cx="1336" cy="216"/>
              </a:xfrm>
            </p:grpSpPr>
            <p:sp>
              <p:nvSpPr>
                <p:cNvPr id="283707" name="Rectangle 118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08" name="Text Box 119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203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1 – Address FFFFF5</a:t>
                  </a:r>
                </a:p>
              </p:txBody>
            </p:sp>
          </p:grpSp>
          <p:grpSp>
            <p:nvGrpSpPr>
              <p:cNvPr id="283698" name="Group 120"/>
              <p:cNvGrpSpPr>
                <a:grpSpLocks/>
              </p:cNvGrpSpPr>
              <p:nvPr/>
            </p:nvGrpSpPr>
            <p:grpSpPr bwMode="auto">
              <a:xfrm>
                <a:off x="384" y="984"/>
                <a:ext cx="1192" cy="216"/>
                <a:chOff x="848" y="992"/>
                <a:chExt cx="1336" cy="216"/>
              </a:xfrm>
            </p:grpSpPr>
            <p:sp>
              <p:nvSpPr>
                <p:cNvPr id="283705" name="Rectangle 121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06" name="Text Box 122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203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0 – Address FFFFF4</a:t>
                  </a:r>
                </a:p>
              </p:txBody>
            </p:sp>
          </p:grpSp>
          <p:grpSp>
            <p:nvGrpSpPr>
              <p:cNvPr id="283699" name="Group 123"/>
              <p:cNvGrpSpPr>
                <a:grpSpLocks/>
              </p:cNvGrpSpPr>
              <p:nvPr/>
            </p:nvGrpSpPr>
            <p:grpSpPr bwMode="auto">
              <a:xfrm>
                <a:off x="3960" y="984"/>
                <a:ext cx="1192" cy="216"/>
                <a:chOff x="848" y="992"/>
                <a:chExt cx="1336" cy="216"/>
              </a:xfrm>
            </p:grpSpPr>
            <p:sp>
              <p:nvSpPr>
                <p:cNvPr id="283703" name="Rectangle 124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04" name="Text Box 125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203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3 – Address FFFFF7</a:t>
                  </a:r>
                </a:p>
              </p:txBody>
            </p:sp>
          </p:grpSp>
          <p:grpSp>
            <p:nvGrpSpPr>
              <p:cNvPr id="283700" name="Group 126"/>
              <p:cNvGrpSpPr>
                <a:grpSpLocks/>
              </p:cNvGrpSpPr>
              <p:nvPr/>
            </p:nvGrpSpPr>
            <p:grpSpPr bwMode="auto">
              <a:xfrm>
                <a:off x="2768" y="984"/>
                <a:ext cx="1192" cy="216"/>
                <a:chOff x="848" y="992"/>
                <a:chExt cx="1336" cy="216"/>
              </a:xfrm>
            </p:grpSpPr>
            <p:sp>
              <p:nvSpPr>
                <p:cNvPr id="283701" name="Rectangle 127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02" name="Text Box 128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203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2 – Address FFFFF6</a:t>
                  </a:r>
                </a:p>
              </p:txBody>
            </p:sp>
          </p:grpSp>
        </p:grpSp>
        <p:sp>
          <p:nvSpPr>
            <p:cNvPr id="283696" name="Text Box 129"/>
            <p:cNvSpPr txBox="1">
              <a:spLocks noChangeArrowheads="1"/>
            </p:cNvSpPr>
            <p:nvPr/>
          </p:nvSpPr>
          <p:spPr bwMode="auto">
            <a:xfrm>
              <a:off x="278" y="989"/>
              <a:ext cx="464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FFFFF4</a:t>
              </a:r>
            </a:p>
          </p:txBody>
        </p:sp>
      </p:grpSp>
      <p:grpSp>
        <p:nvGrpSpPr>
          <p:cNvPr id="283665" name="Group 130"/>
          <p:cNvGrpSpPr>
            <a:grpSpLocks/>
          </p:cNvGrpSpPr>
          <p:nvPr/>
        </p:nvGrpSpPr>
        <p:grpSpPr bwMode="auto">
          <a:xfrm>
            <a:off x="254000" y="5181600"/>
            <a:ext cx="8423275" cy="342900"/>
            <a:chOff x="278" y="976"/>
            <a:chExt cx="5306" cy="216"/>
          </a:xfrm>
        </p:grpSpPr>
        <p:grpSp>
          <p:nvGrpSpPr>
            <p:cNvPr id="283681" name="Group 131"/>
            <p:cNvGrpSpPr>
              <a:grpSpLocks/>
            </p:cNvGrpSpPr>
            <p:nvPr/>
          </p:nvGrpSpPr>
          <p:grpSpPr bwMode="auto">
            <a:xfrm>
              <a:off x="816" y="976"/>
              <a:ext cx="4768" cy="216"/>
              <a:chOff x="384" y="984"/>
              <a:chExt cx="4768" cy="216"/>
            </a:xfrm>
          </p:grpSpPr>
          <p:grpSp>
            <p:nvGrpSpPr>
              <p:cNvPr id="283683" name="Group 132"/>
              <p:cNvGrpSpPr>
                <a:grpSpLocks/>
              </p:cNvGrpSpPr>
              <p:nvPr/>
            </p:nvGrpSpPr>
            <p:grpSpPr bwMode="auto">
              <a:xfrm>
                <a:off x="1576" y="984"/>
                <a:ext cx="1192" cy="216"/>
                <a:chOff x="848" y="992"/>
                <a:chExt cx="1336" cy="216"/>
              </a:xfrm>
            </p:grpSpPr>
            <p:sp>
              <p:nvSpPr>
                <p:cNvPr id="283693" name="Rectangle 133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694" name="Text Box 134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203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1 – Address FFFFF9</a:t>
                  </a:r>
                </a:p>
              </p:txBody>
            </p:sp>
          </p:grpSp>
          <p:grpSp>
            <p:nvGrpSpPr>
              <p:cNvPr id="283684" name="Group 135"/>
              <p:cNvGrpSpPr>
                <a:grpSpLocks/>
              </p:cNvGrpSpPr>
              <p:nvPr/>
            </p:nvGrpSpPr>
            <p:grpSpPr bwMode="auto">
              <a:xfrm>
                <a:off x="384" y="984"/>
                <a:ext cx="1192" cy="216"/>
                <a:chOff x="848" y="992"/>
                <a:chExt cx="1336" cy="216"/>
              </a:xfrm>
            </p:grpSpPr>
            <p:sp>
              <p:nvSpPr>
                <p:cNvPr id="283691" name="Rectangle 136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692" name="Text Box 137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203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0 – Address FFFFF8</a:t>
                  </a:r>
                </a:p>
              </p:txBody>
            </p:sp>
          </p:grpSp>
          <p:grpSp>
            <p:nvGrpSpPr>
              <p:cNvPr id="283685" name="Group 138"/>
              <p:cNvGrpSpPr>
                <a:grpSpLocks/>
              </p:cNvGrpSpPr>
              <p:nvPr/>
            </p:nvGrpSpPr>
            <p:grpSpPr bwMode="auto">
              <a:xfrm>
                <a:off x="3960" y="984"/>
                <a:ext cx="1192" cy="216"/>
                <a:chOff x="848" y="992"/>
                <a:chExt cx="1336" cy="216"/>
              </a:xfrm>
            </p:grpSpPr>
            <p:sp>
              <p:nvSpPr>
                <p:cNvPr id="283689" name="Rectangle 139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690" name="Text Box 140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219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3 – Address FFFFFB</a:t>
                  </a:r>
                </a:p>
              </p:txBody>
            </p:sp>
          </p:grpSp>
          <p:grpSp>
            <p:nvGrpSpPr>
              <p:cNvPr id="283686" name="Group 141"/>
              <p:cNvGrpSpPr>
                <a:grpSpLocks/>
              </p:cNvGrpSpPr>
              <p:nvPr/>
            </p:nvGrpSpPr>
            <p:grpSpPr bwMode="auto">
              <a:xfrm>
                <a:off x="2768" y="984"/>
                <a:ext cx="1192" cy="216"/>
                <a:chOff x="848" y="992"/>
                <a:chExt cx="1336" cy="216"/>
              </a:xfrm>
            </p:grpSpPr>
            <p:sp>
              <p:nvSpPr>
                <p:cNvPr id="283687" name="Rectangle 142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688" name="Text Box 143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219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2 – Address FFFFFA</a:t>
                  </a:r>
                </a:p>
              </p:txBody>
            </p:sp>
          </p:grpSp>
        </p:grpSp>
        <p:sp>
          <p:nvSpPr>
            <p:cNvPr id="283682" name="Text Box 144"/>
            <p:cNvSpPr txBox="1">
              <a:spLocks noChangeArrowheads="1"/>
            </p:cNvSpPr>
            <p:nvPr/>
          </p:nvSpPr>
          <p:spPr bwMode="auto">
            <a:xfrm>
              <a:off x="278" y="989"/>
              <a:ext cx="464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FFFFF8</a:t>
              </a:r>
            </a:p>
          </p:txBody>
        </p:sp>
      </p:grpSp>
      <p:grpSp>
        <p:nvGrpSpPr>
          <p:cNvPr id="283666" name="Group 145"/>
          <p:cNvGrpSpPr>
            <a:grpSpLocks/>
          </p:cNvGrpSpPr>
          <p:nvPr/>
        </p:nvGrpSpPr>
        <p:grpSpPr bwMode="auto">
          <a:xfrm>
            <a:off x="254000" y="5524500"/>
            <a:ext cx="8423275" cy="342900"/>
            <a:chOff x="278" y="976"/>
            <a:chExt cx="5306" cy="216"/>
          </a:xfrm>
        </p:grpSpPr>
        <p:grpSp>
          <p:nvGrpSpPr>
            <p:cNvPr id="283667" name="Group 146"/>
            <p:cNvGrpSpPr>
              <a:grpSpLocks/>
            </p:cNvGrpSpPr>
            <p:nvPr/>
          </p:nvGrpSpPr>
          <p:grpSpPr bwMode="auto">
            <a:xfrm>
              <a:off x="816" y="976"/>
              <a:ext cx="4768" cy="216"/>
              <a:chOff x="384" y="984"/>
              <a:chExt cx="4768" cy="216"/>
            </a:xfrm>
          </p:grpSpPr>
          <p:grpSp>
            <p:nvGrpSpPr>
              <p:cNvPr id="283669" name="Group 147"/>
              <p:cNvGrpSpPr>
                <a:grpSpLocks/>
              </p:cNvGrpSpPr>
              <p:nvPr/>
            </p:nvGrpSpPr>
            <p:grpSpPr bwMode="auto">
              <a:xfrm>
                <a:off x="1576" y="984"/>
                <a:ext cx="1192" cy="216"/>
                <a:chOff x="848" y="992"/>
                <a:chExt cx="1336" cy="216"/>
              </a:xfrm>
            </p:grpSpPr>
            <p:sp>
              <p:nvSpPr>
                <p:cNvPr id="283679" name="Rectangle 148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680" name="Text Box 149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219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1 – Address FFFFFD</a:t>
                  </a:r>
                </a:p>
              </p:txBody>
            </p:sp>
          </p:grpSp>
          <p:grpSp>
            <p:nvGrpSpPr>
              <p:cNvPr id="283670" name="Group 150"/>
              <p:cNvGrpSpPr>
                <a:grpSpLocks/>
              </p:cNvGrpSpPr>
              <p:nvPr/>
            </p:nvGrpSpPr>
            <p:grpSpPr bwMode="auto">
              <a:xfrm>
                <a:off x="384" y="984"/>
                <a:ext cx="1192" cy="216"/>
                <a:chOff x="848" y="992"/>
                <a:chExt cx="1336" cy="216"/>
              </a:xfrm>
            </p:grpSpPr>
            <p:sp>
              <p:nvSpPr>
                <p:cNvPr id="283677" name="Rectangle 151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678" name="Text Box 152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219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0 – Address FFFFFC</a:t>
                  </a:r>
                </a:p>
              </p:txBody>
            </p:sp>
          </p:grpSp>
          <p:grpSp>
            <p:nvGrpSpPr>
              <p:cNvPr id="283671" name="Group 153"/>
              <p:cNvGrpSpPr>
                <a:grpSpLocks/>
              </p:cNvGrpSpPr>
              <p:nvPr/>
            </p:nvGrpSpPr>
            <p:grpSpPr bwMode="auto">
              <a:xfrm>
                <a:off x="3960" y="984"/>
                <a:ext cx="1192" cy="216"/>
                <a:chOff x="848" y="992"/>
                <a:chExt cx="1336" cy="216"/>
              </a:xfrm>
            </p:grpSpPr>
            <p:sp>
              <p:nvSpPr>
                <p:cNvPr id="283675" name="Rectangle 154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676" name="Text Box 155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209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3 – Address FFFFFF</a:t>
                  </a:r>
                </a:p>
              </p:txBody>
            </p:sp>
          </p:grpSp>
          <p:grpSp>
            <p:nvGrpSpPr>
              <p:cNvPr id="283672" name="Group 156"/>
              <p:cNvGrpSpPr>
                <a:grpSpLocks/>
              </p:cNvGrpSpPr>
              <p:nvPr/>
            </p:nvGrpSpPr>
            <p:grpSpPr bwMode="auto">
              <a:xfrm>
                <a:off x="2768" y="984"/>
                <a:ext cx="1192" cy="216"/>
                <a:chOff x="848" y="992"/>
                <a:chExt cx="1336" cy="216"/>
              </a:xfrm>
            </p:grpSpPr>
            <p:sp>
              <p:nvSpPr>
                <p:cNvPr id="283673" name="Rectangle 157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674" name="Text Box 158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213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/>
                    <a:t>Byte 2 – Address FFFFFE</a:t>
                  </a:r>
                </a:p>
              </p:txBody>
            </p:sp>
          </p:grpSp>
        </p:grpSp>
        <p:sp>
          <p:nvSpPr>
            <p:cNvPr id="283668" name="Text Box 159"/>
            <p:cNvSpPr txBox="1">
              <a:spLocks noChangeArrowheads="1"/>
            </p:cNvSpPr>
            <p:nvPr/>
          </p:nvSpPr>
          <p:spPr bwMode="auto">
            <a:xfrm>
              <a:off x="278" y="989"/>
              <a:ext cx="480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FFFFFC</a:t>
              </a:r>
            </a:p>
          </p:txBody>
        </p:sp>
      </p:grpSp>
      <p:sp>
        <p:nvSpPr>
          <p:cNvPr id="147" name="Rectangle 1027"/>
          <p:cNvSpPr txBox="1">
            <a:spLocks noChangeArrowheads="1"/>
          </p:cNvSpPr>
          <p:nvPr/>
        </p:nvSpPr>
        <p:spPr>
          <a:xfrm>
            <a:off x="76200" y="6096000"/>
            <a:ext cx="8945652" cy="645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Tx/>
              <a:buChar char="•"/>
              <a:tabLst/>
              <a:defRPr/>
            </a:pPr>
            <a:r>
              <a:rPr kumimoji="1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Byte</a:t>
            </a:r>
            <a:r>
              <a:rPr kumimoji="1" lang="en-US" sz="1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1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Packing Definition: </a:t>
            </a:r>
            <a:r>
              <a:rPr kumimoji="1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When the size of</a:t>
            </a:r>
            <a:r>
              <a:rPr kumimoji="1" lang="en-US" sz="1800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the data element (byte) is smaller than the width of the available memory (2B+), we use byte packing to save space </a:t>
            </a:r>
          </a:p>
        </p:txBody>
      </p:sp>
      <p:sp>
        <p:nvSpPr>
          <p:cNvPr id="2" name="Right Arrow 1"/>
          <p:cNvSpPr/>
          <p:nvPr/>
        </p:nvSpPr>
        <p:spPr>
          <a:xfrm>
            <a:off x="1143000" y="3733800"/>
            <a:ext cx="7467600" cy="609600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Read from Left to Right, or from the “Big End” of the Egg first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90887" y="1993900"/>
            <a:ext cx="440826" cy="1600200"/>
          </a:xfrm>
          <a:prstGeom prst="roundRect">
            <a:avLst/>
          </a:prstGeom>
          <a:gradFill flip="none" rotWithShape="1">
            <a:gsLst>
              <a:gs pos="0">
                <a:schemeClr val="accent3">
                  <a:shade val="51000"/>
                  <a:satMod val="130000"/>
                  <a:alpha val="13000"/>
                </a:schemeClr>
              </a:gs>
              <a:gs pos="80000">
                <a:schemeClr val="accent3">
                  <a:shade val="93000"/>
                  <a:satMod val="130000"/>
                  <a:alpha val="13000"/>
                </a:schemeClr>
              </a:gs>
              <a:gs pos="100000">
                <a:schemeClr val="accent3">
                  <a:shade val="94000"/>
                  <a:satMod val="135000"/>
                  <a:alpha val="13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Text Box 27"/>
          <p:cNvSpPr txBox="1">
            <a:spLocks noChangeArrowheads="1"/>
          </p:cNvSpPr>
          <p:nvPr/>
        </p:nvSpPr>
        <p:spPr bwMode="auto">
          <a:xfrm>
            <a:off x="232324" y="1447800"/>
            <a:ext cx="910676" cy="46166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b="1" u="sng" dirty="0" err="1"/>
              <a:t>Longword</a:t>
            </a:r>
            <a:r>
              <a:rPr lang="en-US" sz="1200" b="1" u="sng" dirty="0"/>
              <a:t> </a:t>
            </a:r>
          </a:p>
          <a:p>
            <a:r>
              <a:rPr lang="en-US" sz="1200" b="1" u="sng" dirty="0"/>
              <a:t>Address</a:t>
            </a:r>
          </a:p>
        </p:txBody>
      </p:sp>
      <p:cxnSp>
        <p:nvCxnSpPr>
          <p:cNvPr id="157" name="Straight Arrow Connector 156"/>
          <p:cNvCxnSpPr/>
          <p:nvPr/>
        </p:nvCxnSpPr>
        <p:spPr>
          <a:xfrm>
            <a:off x="8382000" y="1295400"/>
            <a:ext cx="0" cy="609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Straight Arrow Connector 157"/>
          <p:cNvCxnSpPr/>
          <p:nvPr/>
        </p:nvCxnSpPr>
        <p:spPr>
          <a:xfrm>
            <a:off x="8153400" y="1295400"/>
            <a:ext cx="0" cy="609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8610600" y="1295400"/>
            <a:ext cx="0" cy="609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7924800" y="1295400"/>
            <a:ext cx="0" cy="609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8420100" y="990600"/>
            <a:ext cx="377851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D0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781800" y="990600"/>
            <a:ext cx="377851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D7</a:t>
            </a:r>
          </a:p>
        </p:txBody>
      </p:sp>
      <p:cxnSp>
        <p:nvCxnSpPr>
          <p:cNvPr id="163" name="Straight Arrow Connector 162"/>
          <p:cNvCxnSpPr/>
          <p:nvPr/>
        </p:nvCxnSpPr>
        <p:spPr>
          <a:xfrm>
            <a:off x="7467600" y="1295400"/>
            <a:ext cx="0" cy="609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239000" y="1295400"/>
            <a:ext cx="0" cy="609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7696200" y="1295400"/>
            <a:ext cx="0" cy="609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/>
          <p:nvPr/>
        </p:nvCxnSpPr>
        <p:spPr>
          <a:xfrm>
            <a:off x="7010400" y="1295400"/>
            <a:ext cx="0" cy="609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2667000" y="1295400"/>
            <a:ext cx="0" cy="609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/>
          <p:nvPr/>
        </p:nvCxnSpPr>
        <p:spPr>
          <a:xfrm>
            <a:off x="2438400" y="1295400"/>
            <a:ext cx="0" cy="609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9" name="Straight Arrow Connector 168"/>
          <p:cNvCxnSpPr/>
          <p:nvPr/>
        </p:nvCxnSpPr>
        <p:spPr>
          <a:xfrm>
            <a:off x="2895600" y="1295400"/>
            <a:ext cx="0" cy="609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Straight Arrow Connector 169"/>
          <p:cNvCxnSpPr/>
          <p:nvPr/>
        </p:nvCxnSpPr>
        <p:spPr>
          <a:xfrm>
            <a:off x="2209800" y="1295400"/>
            <a:ext cx="0" cy="609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1" name="TextBox 170"/>
          <p:cNvSpPr txBox="1"/>
          <p:nvPr/>
        </p:nvSpPr>
        <p:spPr>
          <a:xfrm>
            <a:off x="2743200" y="990600"/>
            <a:ext cx="457200" cy="2866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D23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14400" y="990600"/>
            <a:ext cx="457200" cy="2866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D31</a:t>
            </a:r>
          </a:p>
        </p:txBody>
      </p:sp>
      <p:cxnSp>
        <p:nvCxnSpPr>
          <p:cNvPr id="173" name="Straight Arrow Connector 172"/>
          <p:cNvCxnSpPr/>
          <p:nvPr/>
        </p:nvCxnSpPr>
        <p:spPr>
          <a:xfrm>
            <a:off x="1752600" y="1295400"/>
            <a:ext cx="0" cy="609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Straight Arrow Connector 173"/>
          <p:cNvCxnSpPr/>
          <p:nvPr/>
        </p:nvCxnSpPr>
        <p:spPr>
          <a:xfrm>
            <a:off x="1524000" y="1295400"/>
            <a:ext cx="0" cy="609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5" name="Straight Arrow Connector 174"/>
          <p:cNvCxnSpPr/>
          <p:nvPr/>
        </p:nvCxnSpPr>
        <p:spPr>
          <a:xfrm>
            <a:off x="1981200" y="1295400"/>
            <a:ext cx="0" cy="609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Straight Arrow Connector 175"/>
          <p:cNvCxnSpPr/>
          <p:nvPr/>
        </p:nvCxnSpPr>
        <p:spPr>
          <a:xfrm>
            <a:off x="1295400" y="1295400"/>
            <a:ext cx="0" cy="609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7" name="TextBox 176"/>
          <p:cNvSpPr txBox="1"/>
          <p:nvPr/>
        </p:nvSpPr>
        <p:spPr>
          <a:xfrm>
            <a:off x="4038600" y="1066800"/>
            <a:ext cx="2057400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6600"/>
                </a:solidFill>
              </a:rPr>
              <a:t>“Read from the </a:t>
            </a:r>
            <a:r>
              <a:rPr lang="en-US" b="1" dirty="0">
                <a:solidFill>
                  <a:srgbClr val="FF6600"/>
                </a:solidFill>
              </a:rPr>
              <a:t>BIG</a:t>
            </a:r>
            <a:r>
              <a:rPr lang="en-US" dirty="0">
                <a:solidFill>
                  <a:srgbClr val="FF6600"/>
                </a:solidFill>
              </a:rPr>
              <a:t> side (MSB)”</a:t>
            </a:r>
          </a:p>
        </p:txBody>
      </p:sp>
    </p:spTree>
    <p:extLst>
      <p:ext uri="{BB962C8B-B14F-4D97-AF65-F5344CB8AC3E}">
        <p14:creationId xmlns:p14="http://schemas.microsoft.com/office/powerpoint/2010/main" val="308289412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3" name="Text Box 27"/>
          <p:cNvSpPr txBox="1">
            <a:spLocks noChangeArrowheads="1"/>
          </p:cNvSpPr>
          <p:nvPr/>
        </p:nvSpPr>
        <p:spPr bwMode="auto">
          <a:xfrm>
            <a:off x="232324" y="1400980"/>
            <a:ext cx="910676" cy="46166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b="1" u="sng" dirty="0" err="1"/>
              <a:t>Longword</a:t>
            </a:r>
            <a:r>
              <a:rPr lang="en-US" sz="1200" b="1" u="sng" dirty="0"/>
              <a:t> </a:t>
            </a:r>
          </a:p>
          <a:p>
            <a:r>
              <a:rPr lang="en-US" sz="1200" b="1" u="sng" dirty="0"/>
              <a:t>Address</a:t>
            </a:r>
          </a:p>
        </p:txBody>
      </p:sp>
      <p:grpSp>
        <p:nvGrpSpPr>
          <p:cNvPr id="283654" name="Group 29"/>
          <p:cNvGrpSpPr>
            <a:grpSpLocks/>
          </p:cNvGrpSpPr>
          <p:nvPr/>
        </p:nvGrpSpPr>
        <p:grpSpPr bwMode="auto">
          <a:xfrm>
            <a:off x="266700" y="1841500"/>
            <a:ext cx="8423275" cy="342900"/>
            <a:chOff x="278" y="976"/>
            <a:chExt cx="5306" cy="216"/>
          </a:xfrm>
        </p:grpSpPr>
        <p:grpSp>
          <p:nvGrpSpPr>
            <p:cNvPr id="283779" name="Group 26"/>
            <p:cNvGrpSpPr>
              <a:grpSpLocks/>
            </p:cNvGrpSpPr>
            <p:nvPr/>
          </p:nvGrpSpPr>
          <p:grpSpPr bwMode="auto">
            <a:xfrm>
              <a:off x="816" y="976"/>
              <a:ext cx="4768" cy="216"/>
              <a:chOff x="384" y="984"/>
              <a:chExt cx="4768" cy="216"/>
            </a:xfrm>
          </p:grpSpPr>
          <p:grpSp>
            <p:nvGrpSpPr>
              <p:cNvPr id="283781" name="Group 14"/>
              <p:cNvGrpSpPr>
                <a:grpSpLocks/>
              </p:cNvGrpSpPr>
              <p:nvPr/>
            </p:nvGrpSpPr>
            <p:grpSpPr bwMode="auto">
              <a:xfrm>
                <a:off x="1576" y="984"/>
                <a:ext cx="1192" cy="216"/>
                <a:chOff x="848" y="992"/>
                <a:chExt cx="1336" cy="216"/>
              </a:xfrm>
            </p:grpSpPr>
            <p:sp>
              <p:nvSpPr>
                <p:cNvPr id="283791" name="Rectangle 15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92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75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 2 – Address 000002</a:t>
                  </a:r>
                </a:p>
              </p:txBody>
            </p:sp>
          </p:grpSp>
          <p:grpSp>
            <p:nvGrpSpPr>
              <p:cNvPr id="283782" name="Group 17"/>
              <p:cNvGrpSpPr>
                <a:grpSpLocks/>
              </p:cNvGrpSpPr>
              <p:nvPr/>
            </p:nvGrpSpPr>
            <p:grpSpPr bwMode="auto">
              <a:xfrm>
                <a:off x="384" y="984"/>
                <a:ext cx="1192" cy="216"/>
                <a:chOff x="848" y="992"/>
                <a:chExt cx="1336" cy="216"/>
              </a:xfrm>
            </p:grpSpPr>
            <p:sp>
              <p:nvSpPr>
                <p:cNvPr id="283789" name="Rectangle 18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90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75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 3 – Address 000003</a:t>
                  </a:r>
                </a:p>
              </p:txBody>
            </p:sp>
          </p:grpSp>
          <p:grpSp>
            <p:nvGrpSpPr>
              <p:cNvPr id="283783" name="Group 20"/>
              <p:cNvGrpSpPr>
                <a:grpSpLocks/>
              </p:cNvGrpSpPr>
              <p:nvPr/>
            </p:nvGrpSpPr>
            <p:grpSpPr bwMode="auto">
              <a:xfrm>
                <a:off x="3960" y="984"/>
                <a:ext cx="1192" cy="216"/>
                <a:chOff x="848" y="992"/>
                <a:chExt cx="1336" cy="216"/>
              </a:xfrm>
            </p:grpSpPr>
            <p:sp>
              <p:nvSpPr>
                <p:cNvPr id="283787" name="Rectangle 21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88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75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 0 – Address 000000</a:t>
                  </a:r>
                </a:p>
              </p:txBody>
            </p:sp>
          </p:grpSp>
          <p:grpSp>
            <p:nvGrpSpPr>
              <p:cNvPr id="283784" name="Group 23"/>
              <p:cNvGrpSpPr>
                <a:grpSpLocks/>
              </p:cNvGrpSpPr>
              <p:nvPr/>
            </p:nvGrpSpPr>
            <p:grpSpPr bwMode="auto">
              <a:xfrm>
                <a:off x="2768" y="984"/>
                <a:ext cx="1192" cy="216"/>
                <a:chOff x="848" y="992"/>
                <a:chExt cx="1336" cy="216"/>
              </a:xfrm>
            </p:grpSpPr>
            <p:sp>
              <p:nvSpPr>
                <p:cNvPr id="283785" name="Rectangle 24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86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75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 1 – Address 000001</a:t>
                  </a:r>
                </a:p>
              </p:txBody>
            </p:sp>
          </p:grpSp>
        </p:grpSp>
        <p:sp>
          <p:nvSpPr>
            <p:cNvPr id="283780" name="Text Box 28"/>
            <p:cNvSpPr txBox="1">
              <a:spLocks noChangeArrowheads="1"/>
            </p:cNvSpPr>
            <p:nvPr/>
          </p:nvSpPr>
          <p:spPr bwMode="auto">
            <a:xfrm>
              <a:off x="278" y="989"/>
              <a:ext cx="434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000000</a:t>
              </a:r>
            </a:p>
          </p:txBody>
        </p:sp>
      </p:grpSp>
      <p:grpSp>
        <p:nvGrpSpPr>
          <p:cNvPr id="283655" name="Group 36"/>
          <p:cNvGrpSpPr>
            <a:grpSpLocks/>
          </p:cNvGrpSpPr>
          <p:nvPr/>
        </p:nvGrpSpPr>
        <p:grpSpPr bwMode="auto">
          <a:xfrm>
            <a:off x="266700" y="2184400"/>
            <a:ext cx="8423275" cy="342900"/>
            <a:chOff x="278" y="976"/>
            <a:chExt cx="5306" cy="216"/>
          </a:xfrm>
        </p:grpSpPr>
        <p:grpSp>
          <p:nvGrpSpPr>
            <p:cNvPr id="283765" name="Group 37"/>
            <p:cNvGrpSpPr>
              <a:grpSpLocks/>
            </p:cNvGrpSpPr>
            <p:nvPr/>
          </p:nvGrpSpPr>
          <p:grpSpPr bwMode="auto">
            <a:xfrm>
              <a:off x="816" y="976"/>
              <a:ext cx="4768" cy="216"/>
              <a:chOff x="384" y="984"/>
              <a:chExt cx="4768" cy="216"/>
            </a:xfrm>
          </p:grpSpPr>
          <p:grpSp>
            <p:nvGrpSpPr>
              <p:cNvPr id="283767" name="Group 38"/>
              <p:cNvGrpSpPr>
                <a:grpSpLocks/>
              </p:cNvGrpSpPr>
              <p:nvPr/>
            </p:nvGrpSpPr>
            <p:grpSpPr bwMode="auto">
              <a:xfrm>
                <a:off x="1576" y="984"/>
                <a:ext cx="1192" cy="216"/>
                <a:chOff x="848" y="992"/>
                <a:chExt cx="1336" cy="216"/>
              </a:xfrm>
            </p:grpSpPr>
            <p:sp>
              <p:nvSpPr>
                <p:cNvPr id="283777" name="Rectangle 39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78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75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 2 – Address 000006</a:t>
                  </a:r>
                </a:p>
              </p:txBody>
            </p:sp>
          </p:grpSp>
          <p:grpSp>
            <p:nvGrpSpPr>
              <p:cNvPr id="283768" name="Group 41"/>
              <p:cNvGrpSpPr>
                <a:grpSpLocks/>
              </p:cNvGrpSpPr>
              <p:nvPr/>
            </p:nvGrpSpPr>
            <p:grpSpPr bwMode="auto">
              <a:xfrm>
                <a:off x="384" y="984"/>
                <a:ext cx="1192" cy="216"/>
                <a:chOff x="848" y="992"/>
                <a:chExt cx="1336" cy="216"/>
              </a:xfrm>
            </p:grpSpPr>
            <p:sp>
              <p:nvSpPr>
                <p:cNvPr id="283775" name="Rectangle 42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76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75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 3 – Address 000007</a:t>
                  </a:r>
                </a:p>
              </p:txBody>
            </p:sp>
          </p:grpSp>
          <p:grpSp>
            <p:nvGrpSpPr>
              <p:cNvPr id="283769" name="Group 44"/>
              <p:cNvGrpSpPr>
                <a:grpSpLocks/>
              </p:cNvGrpSpPr>
              <p:nvPr/>
            </p:nvGrpSpPr>
            <p:grpSpPr bwMode="auto">
              <a:xfrm>
                <a:off x="3960" y="984"/>
                <a:ext cx="1192" cy="216"/>
                <a:chOff x="848" y="992"/>
                <a:chExt cx="1336" cy="216"/>
              </a:xfrm>
            </p:grpSpPr>
            <p:sp>
              <p:nvSpPr>
                <p:cNvPr id="283773" name="Rectangle 45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74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75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 0 – Address 000004</a:t>
                  </a:r>
                </a:p>
              </p:txBody>
            </p:sp>
          </p:grpSp>
          <p:grpSp>
            <p:nvGrpSpPr>
              <p:cNvPr id="283770" name="Group 47"/>
              <p:cNvGrpSpPr>
                <a:grpSpLocks/>
              </p:cNvGrpSpPr>
              <p:nvPr/>
            </p:nvGrpSpPr>
            <p:grpSpPr bwMode="auto">
              <a:xfrm>
                <a:off x="2768" y="984"/>
                <a:ext cx="1192" cy="216"/>
                <a:chOff x="848" y="992"/>
                <a:chExt cx="1336" cy="216"/>
              </a:xfrm>
            </p:grpSpPr>
            <p:sp>
              <p:nvSpPr>
                <p:cNvPr id="283771" name="Rectangle 48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72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75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 1 – Address 000005</a:t>
                  </a:r>
                </a:p>
              </p:txBody>
            </p:sp>
          </p:grpSp>
        </p:grpSp>
        <p:sp>
          <p:nvSpPr>
            <p:cNvPr id="283766" name="Text Box 50"/>
            <p:cNvSpPr txBox="1">
              <a:spLocks noChangeArrowheads="1"/>
            </p:cNvSpPr>
            <p:nvPr/>
          </p:nvSpPr>
          <p:spPr bwMode="auto">
            <a:xfrm>
              <a:off x="278" y="989"/>
              <a:ext cx="434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000004</a:t>
              </a:r>
            </a:p>
          </p:txBody>
        </p:sp>
      </p:grpSp>
      <p:grpSp>
        <p:nvGrpSpPr>
          <p:cNvPr id="283656" name="Group 51"/>
          <p:cNvGrpSpPr>
            <a:grpSpLocks/>
          </p:cNvGrpSpPr>
          <p:nvPr/>
        </p:nvGrpSpPr>
        <p:grpSpPr bwMode="auto">
          <a:xfrm>
            <a:off x="266700" y="2527300"/>
            <a:ext cx="8423275" cy="342900"/>
            <a:chOff x="278" y="976"/>
            <a:chExt cx="5306" cy="216"/>
          </a:xfrm>
        </p:grpSpPr>
        <p:grpSp>
          <p:nvGrpSpPr>
            <p:cNvPr id="283751" name="Group 52"/>
            <p:cNvGrpSpPr>
              <a:grpSpLocks/>
            </p:cNvGrpSpPr>
            <p:nvPr/>
          </p:nvGrpSpPr>
          <p:grpSpPr bwMode="auto">
            <a:xfrm>
              <a:off x="816" y="976"/>
              <a:ext cx="4768" cy="216"/>
              <a:chOff x="384" y="984"/>
              <a:chExt cx="4768" cy="216"/>
            </a:xfrm>
          </p:grpSpPr>
          <p:grpSp>
            <p:nvGrpSpPr>
              <p:cNvPr id="283753" name="Group 53"/>
              <p:cNvGrpSpPr>
                <a:grpSpLocks/>
              </p:cNvGrpSpPr>
              <p:nvPr/>
            </p:nvGrpSpPr>
            <p:grpSpPr bwMode="auto">
              <a:xfrm>
                <a:off x="1576" y="984"/>
                <a:ext cx="1192" cy="216"/>
                <a:chOff x="848" y="992"/>
                <a:chExt cx="1336" cy="216"/>
              </a:xfrm>
            </p:grpSpPr>
            <p:sp>
              <p:nvSpPr>
                <p:cNvPr id="283763" name="Rectangle 54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64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201" cy="155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 2 – Address 00000A</a:t>
                  </a:r>
                </a:p>
              </p:txBody>
            </p:sp>
          </p:grpSp>
          <p:grpSp>
            <p:nvGrpSpPr>
              <p:cNvPr id="283754" name="Group 56"/>
              <p:cNvGrpSpPr>
                <a:grpSpLocks/>
              </p:cNvGrpSpPr>
              <p:nvPr/>
            </p:nvGrpSpPr>
            <p:grpSpPr bwMode="auto">
              <a:xfrm>
                <a:off x="384" y="984"/>
                <a:ext cx="1192" cy="216"/>
                <a:chOff x="848" y="992"/>
                <a:chExt cx="1336" cy="216"/>
              </a:xfrm>
            </p:grpSpPr>
            <p:sp>
              <p:nvSpPr>
                <p:cNvPr id="283761" name="Rectangle 57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62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201" cy="155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 3 – Address 00000B</a:t>
                  </a:r>
                </a:p>
              </p:txBody>
            </p:sp>
          </p:grpSp>
          <p:grpSp>
            <p:nvGrpSpPr>
              <p:cNvPr id="283755" name="Group 59"/>
              <p:cNvGrpSpPr>
                <a:grpSpLocks/>
              </p:cNvGrpSpPr>
              <p:nvPr/>
            </p:nvGrpSpPr>
            <p:grpSpPr bwMode="auto">
              <a:xfrm>
                <a:off x="3960" y="984"/>
                <a:ext cx="1192" cy="216"/>
                <a:chOff x="848" y="992"/>
                <a:chExt cx="1336" cy="216"/>
              </a:xfrm>
            </p:grpSpPr>
            <p:sp>
              <p:nvSpPr>
                <p:cNvPr id="283759" name="Rectangle 60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60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91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 0 – Address 000008</a:t>
                  </a:r>
                </a:p>
              </p:txBody>
            </p:sp>
          </p:grpSp>
          <p:grpSp>
            <p:nvGrpSpPr>
              <p:cNvPr id="283756" name="Group 62"/>
              <p:cNvGrpSpPr>
                <a:grpSpLocks/>
              </p:cNvGrpSpPr>
              <p:nvPr/>
            </p:nvGrpSpPr>
            <p:grpSpPr bwMode="auto">
              <a:xfrm>
                <a:off x="2768" y="984"/>
                <a:ext cx="1192" cy="216"/>
                <a:chOff x="848" y="992"/>
                <a:chExt cx="1336" cy="216"/>
              </a:xfrm>
            </p:grpSpPr>
            <p:sp>
              <p:nvSpPr>
                <p:cNvPr id="283757" name="Rectangle 63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58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91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 1 – Address 000009</a:t>
                  </a:r>
                </a:p>
              </p:txBody>
            </p:sp>
          </p:grpSp>
        </p:grpSp>
        <p:sp>
          <p:nvSpPr>
            <p:cNvPr id="283752" name="Text Box 65"/>
            <p:cNvSpPr txBox="1">
              <a:spLocks noChangeArrowheads="1"/>
            </p:cNvSpPr>
            <p:nvPr/>
          </p:nvSpPr>
          <p:spPr bwMode="auto">
            <a:xfrm>
              <a:off x="278" y="989"/>
              <a:ext cx="434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000008</a:t>
              </a:r>
            </a:p>
          </p:txBody>
        </p:sp>
      </p:grpSp>
      <p:grpSp>
        <p:nvGrpSpPr>
          <p:cNvPr id="283657" name="Group 66"/>
          <p:cNvGrpSpPr>
            <a:grpSpLocks/>
          </p:cNvGrpSpPr>
          <p:nvPr/>
        </p:nvGrpSpPr>
        <p:grpSpPr bwMode="auto">
          <a:xfrm>
            <a:off x="266700" y="2870200"/>
            <a:ext cx="8423275" cy="342900"/>
            <a:chOff x="278" y="976"/>
            <a:chExt cx="5306" cy="216"/>
          </a:xfrm>
        </p:grpSpPr>
        <p:grpSp>
          <p:nvGrpSpPr>
            <p:cNvPr id="283737" name="Group 67"/>
            <p:cNvGrpSpPr>
              <a:grpSpLocks/>
            </p:cNvGrpSpPr>
            <p:nvPr/>
          </p:nvGrpSpPr>
          <p:grpSpPr bwMode="auto">
            <a:xfrm>
              <a:off x="816" y="976"/>
              <a:ext cx="4768" cy="216"/>
              <a:chOff x="384" y="984"/>
              <a:chExt cx="4768" cy="216"/>
            </a:xfrm>
          </p:grpSpPr>
          <p:grpSp>
            <p:nvGrpSpPr>
              <p:cNvPr id="283739" name="Group 68"/>
              <p:cNvGrpSpPr>
                <a:grpSpLocks/>
              </p:cNvGrpSpPr>
              <p:nvPr/>
            </p:nvGrpSpPr>
            <p:grpSpPr bwMode="auto">
              <a:xfrm>
                <a:off x="1576" y="984"/>
                <a:ext cx="1192" cy="216"/>
                <a:chOff x="848" y="992"/>
                <a:chExt cx="1336" cy="216"/>
              </a:xfrm>
            </p:grpSpPr>
            <p:sp>
              <p:nvSpPr>
                <p:cNvPr id="283749" name="Rectangle 69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50" name="Text Box 70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95" cy="155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 2 – Address 00000E</a:t>
                  </a:r>
                </a:p>
              </p:txBody>
            </p:sp>
          </p:grpSp>
          <p:grpSp>
            <p:nvGrpSpPr>
              <p:cNvPr id="283740" name="Group 71"/>
              <p:cNvGrpSpPr>
                <a:grpSpLocks/>
              </p:cNvGrpSpPr>
              <p:nvPr/>
            </p:nvGrpSpPr>
            <p:grpSpPr bwMode="auto">
              <a:xfrm>
                <a:off x="384" y="984"/>
                <a:ext cx="1192" cy="216"/>
                <a:chOff x="848" y="992"/>
                <a:chExt cx="1336" cy="216"/>
              </a:xfrm>
            </p:grpSpPr>
            <p:sp>
              <p:nvSpPr>
                <p:cNvPr id="283747" name="Rectangle 72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48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91" cy="155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 3 – Address 00000F</a:t>
                  </a:r>
                </a:p>
              </p:txBody>
            </p:sp>
          </p:grpSp>
          <p:grpSp>
            <p:nvGrpSpPr>
              <p:cNvPr id="283741" name="Group 74"/>
              <p:cNvGrpSpPr>
                <a:grpSpLocks/>
              </p:cNvGrpSpPr>
              <p:nvPr/>
            </p:nvGrpSpPr>
            <p:grpSpPr bwMode="auto">
              <a:xfrm>
                <a:off x="3960" y="984"/>
                <a:ext cx="1192" cy="216"/>
                <a:chOff x="848" y="992"/>
                <a:chExt cx="1336" cy="216"/>
              </a:xfrm>
            </p:grpSpPr>
            <p:sp>
              <p:nvSpPr>
                <p:cNvPr id="283745" name="Rectangle 75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46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201" cy="155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 0 – Address 00000C</a:t>
                  </a:r>
                </a:p>
              </p:txBody>
            </p:sp>
          </p:grpSp>
          <p:grpSp>
            <p:nvGrpSpPr>
              <p:cNvPr id="283742" name="Group 77"/>
              <p:cNvGrpSpPr>
                <a:grpSpLocks/>
              </p:cNvGrpSpPr>
              <p:nvPr/>
            </p:nvGrpSpPr>
            <p:grpSpPr bwMode="auto">
              <a:xfrm>
                <a:off x="2768" y="984"/>
                <a:ext cx="1192" cy="216"/>
                <a:chOff x="848" y="992"/>
                <a:chExt cx="1336" cy="216"/>
              </a:xfrm>
            </p:grpSpPr>
            <p:sp>
              <p:nvSpPr>
                <p:cNvPr id="283743" name="Rectangle 78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44" name="Text Box 79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51" cy="155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Byte1– Address 00000D</a:t>
                  </a:r>
                </a:p>
              </p:txBody>
            </p:sp>
          </p:grpSp>
        </p:grpSp>
        <p:sp>
          <p:nvSpPr>
            <p:cNvPr id="283738" name="Text Box 80"/>
            <p:cNvSpPr txBox="1">
              <a:spLocks noChangeArrowheads="1"/>
            </p:cNvSpPr>
            <p:nvPr/>
          </p:nvSpPr>
          <p:spPr bwMode="auto">
            <a:xfrm>
              <a:off x="278" y="989"/>
              <a:ext cx="450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00000C</a:t>
              </a:r>
            </a:p>
          </p:txBody>
        </p:sp>
      </p:grpSp>
      <p:grpSp>
        <p:nvGrpSpPr>
          <p:cNvPr id="283658" name="Group 81"/>
          <p:cNvGrpSpPr>
            <a:grpSpLocks/>
          </p:cNvGrpSpPr>
          <p:nvPr/>
        </p:nvGrpSpPr>
        <p:grpSpPr bwMode="auto">
          <a:xfrm>
            <a:off x="266700" y="3213100"/>
            <a:ext cx="8423275" cy="342900"/>
            <a:chOff x="278" y="976"/>
            <a:chExt cx="5306" cy="216"/>
          </a:xfrm>
        </p:grpSpPr>
        <p:grpSp>
          <p:nvGrpSpPr>
            <p:cNvPr id="283723" name="Group 82"/>
            <p:cNvGrpSpPr>
              <a:grpSpLocks/>
            </p:cNvGrpSpPr>
            <p:nvPr/>
          </p:nvGrpSpPr>
          <p:grpSpPr bwMode="auto">
            <a:xfrm>
              <a:off x="816" y="976"/>
              <a:ext cx="4768" cy="216"/>
              <a:chOff x="384" y="984"/>
              <a:chExt cx="4768" cy="216"/>
            </a:xfrm>
          </p:grpSpPr>
          <p:grpSp>
            <p:nvGrpSpPr>
              <p:cNvPr id="283725" name="Group 83"/>
              <p:cNvGrpSpPr>
                <a:grpSpLocks/>
              </p:cNvGrpSpPr>
              <p:nvPr/>
            </p:nvGrpSpPr>
            <p:grpSpPr bwMode="auto">
              <a:xfrm>
                <a:off x="1576" y="984"/>
                <a:ext cx="1192" cy="216"/>
                <a:chOff x="848" y="992"/>
                <a:chExt cx="1336" cy="216"/>
              </a:xfrm>
            </p:grpSpPr>
            <p:sp>
              <p:nvSpPr>
                <p:cNvPr id="283735" name="Rectangle 84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36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75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 2 – Address 000012</a:t>
                  </a:r>
                </a:p>
              </p:txBody>
            </p:sp>
          </p:grpSp>
          <p:grpSp>
            <p:nvGrpSpPr>
              <p:cNvPr id="283726" name="Group 86"/>
              <p:cNvGrpSpPr>
                <a:grpSpLocks/>
              </p:cNvGrpSpPr>
              <p:nvPr/>
            </p:nvGrpSpPr>
            <p:grpSpPr bwMode="auto">
              <a:xfrm>
                <a:off x="384" y="984"/>
                <a:ext cx="1192" cy="216"/>
                <a:chOff x="848" y="992"/>
                <a:chExt cx="1336" cy="216"/>
              </a:xfrm>
            </p:grpSpPr>
            <p:sp>
              <p:nvSpPr>
                <p:cNvPr id="283733" name="Rectangle 87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34" name="Text Box 88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75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 3 – Address 000013</a:t>
                  </a:r>
                </a:p>
              </p:txBody>
            </p:sp>
          </p:grpSp>
          <p:grpSp>
            <p:nvGrpSpPr>
              <p:cNvPr id="283727" name="Group 89"/>
              <p:cNvGrpSpPr>
                <a:grpSpLocks/>
              </p:cNvGrpSpPr>
              <p:nvPr/>
            </p:nvGrpSpPr>
            <p:grpSpPr bwMode="auto">
              <a:xfrm>
                <a:off x="3960" y="984"/>
                <a:ext cx="1192" cy="216"/>
                <a:chOff x="848" y="992"/>
                <a:chExt cx="1336" cy="216"/>
              </a:xfrm>
            </p:grpSpPr>
            <p:sp>
              <p:nvSpPr>
                <p:cNvPr id="283731" name="Rectangle 90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32" name="Text Box 91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75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 0 – Address 000010</a:t>
                  </a:r>
                </a:p>
              </p:txBody>
            </p:sp>
          </p:grpSp>
          <p:grpSp>
            <p:nvGrpSpPr>
              <p:cNvPr id="283728" name="Group 92"/>
              <p:cNvGrpSpPr>
                <a:grpSpLocks/>
              </p:cNvGrpSpPr>
              <p:nvPr/>
            </p:nvGrpSpPr>
            <p:grpSpPr bwMode="auto">
              <a:xfrm>
                <a:off x="2768" y="984"/>
                <a:ext cx="1192" cy="216"/>
                <a:chOff x="848" y="992"/>
                <a:chExt cx="1336" cy="216"/>
              </a:xfrm>
            </p:grpSpPr>
            <p:sp>
              <p:nvSpPr>
                <p:cNvPr id="283729" name="Rectangle 93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30" name="Text Box 94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175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 1 – Address 000011</a:t>
                  </a:r>
                </a:p>
              </p:txBody>
            </p:sp>
          </p:grpSp>
        </p:grpSp>
        <p:sp>
          <p:nvSpPr>
            <p:cNvPr id="283724" name="Text Box 95"/>
            <p:cNvSpPr txBox="1">
              <a:spLocks noChangeArrowheads="1"/>
            </p:cNvSpPr>
            <p:nvPr/>
          </p:nvSpPr>
          <p:spPr bwMode="auto">
            <a:xfrm>
              <a:off x="278" y="989"/>
              <a:ext cx="434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000010</a:t>
              </a:r>
            </a:p>
          </p:txBody>
        </p:sp>
      </p:grpSp>
      <p:sp>
        <p:nvSpPr>
          <p:cNvPr id="283659" name="Oval 96"/>
          <p:cNvSpPr>
            <a:spLocks noChangeArrowheads="1"/>
          </p:cNvSpPr>
          <p:nvPr/>
        </p:nvSpPr>
        <p:spPr bwMode="auto">
          <a:xfrm>
            <a:off x="4511675" y="3683000"/>
            <a:ext cx="101600" cy="10160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283660" name="Oval 97"/>
          <p:cNvSpPr>
            <a:spLocks noChangeArrowheads="1"/>
          </p:cNvSpPr>
          <p:nvPr/>
        </p:nvSpPr>
        <p:spPr bwMode="auto">
          <a:xfrm>
            <a:off x="4511675" y="3860800"/>
            <a:ext cx="101600" cy="10160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283661" name="Oval 98"/>
          <p:cNvSpPr>
            <a:spLocks noChangeArrowheads="1"/>
          </p:cNvSpPr>
          <p:nvPr/>
        </p:nvSpPr>
        <p:spPr bwMode="auto">
          <a:xfrm>
            <a:off x="4511675" y="4051300"/>
            <a:ext cx="101600" cy="10160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283662" name="Oval 99"/>
          <p:cNvSpPr>
            <a:spLocks noChangeArrowheads="1"/>
          </p:cNvSpPr>
          <p:nvPr/>
        </p:nvSpPr>
        <p:spPr bwMode="auto">
          <a:xfrm>
            <a:off x="4511675" y="4229100"/>
            <a:ext cx="101600" cy="10160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grpSp>
        <p:nvGrpSpPr>
          <p:cNvPr id="283663" name="Group 100"/>
          <p:cNvGrpSpPr>
            <a:grpSpLocks/>
          </p:cNvGrpSpPr>
          <p:nvPr/>
        </p:nvGrpSpPr>
        <p:grpSpPr bwMode="auto">
          <a:xfrm>
            <a:off x="254000" y="4419600"/>
            <a:ext cx="8423275" cy="342900"/>
            <a:chOff x="278" y="976"/>
            <a:chExt cx="5306" cy="216"/>
          </a:xfrm>
        </p:grpSpPr>
        <p:grpSp>
          <p:nvGrpSpPr>
            <p:cNvPr id="283709" name="Group 101"/>
            <p:cNvGrpSpPr>
              <a:grpSpLocks/>
            </p:cNvGrpSpPr>
            <p:nvPr/>
          </p:nvGrpSpPr>
          <p:grpSpPr bwMode="auto">
            <a:xfrm>
              <a:off x="816" y="976"/>
              <a:ext cx="4768" cy="216"/>
              <a:chOff x="384" y="984"/>
              <a:chExt cx="4768" cy="216"/>
            </a:xfrm>
          </p:grpSpPr>
          <p:grpSp>
            <p:nvGrpSpPr>
              <p:cNvPr id="283711" name="Group 102"/>
              <p:cNvGrpSpPr>
                <a:grpSpLocks/>
              </p:cNvGrpSpPr>
              <p:nvPr/>
            </p:nvGrpSpPr>
            <p:grpSpPr bwMode="auto">
              <a:xfrm>
                <a:off x="1576" y="984"/>
                <a:ext cx="1192" cy="216"/>
                <a:chOff x="848" y="992"/>
                <a:chExt cx="1336" cy="216"/>
              </a:xfrm>
            </p:grpSpPr>
            <p:sp>
              <p:nvSpPr>
                <p:cNvPr id="283721" name="Rectangle 103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22" name="Text Box 104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203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 2 – Address FFFFF2</a:t>
                  </a:r>
                </a:p>
              </p:txBody>
            </p:sp>
          </p:grpSp>
          <p:grpSp>
            <p:nvGrpSpPr>
              <p:cNvPr id="283712" name="Group 105"/>
              <p:cNvGrpSpPr>
                <a:grpSpLocks/>
              </p:cNvGrpSpPr>
              <p:nvPr/>
            </p:nvGrpSpPr>
            <p:grpSpPr bwMode="auto">
              <a:xfrm>
                <a:off x="384" y="984"/>
                <a:ext cx="1192" cy="216"/>
                <a:chOff x="848" y="992"/>
                <a:chExt cx="1336" cy="216"/>
              </a:xfrm>
            </p:grpSpPr>
            <p:sp>
              <p:nvSpPr>
                <p:cNvPr id="283719" name="Rectangle 106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20" name="Text Box 107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203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 3 – Address FFFFF3</a:t>
                  </a:r>
                </a:p>
              </p:txBody>
            </p:sp>
          </p:grpSp>
          <p:grpSp>
            <p:nvGrpSpPr>
              <p:cNvPr id="283713" name="Group 108"/>
              <p:cNvGrpSpPr>
                <a:grpSpLocks/>
              </p:cNvGrpSpPr>
              <p:nvPr/>
            </p:nvGrpSpPr>
            <p:grpSpPr bwMode="auto">
              <a:xfrm>
                <a:off x="3960" y="984"/>
                <a:ext cx="1192" cy="216"/>
                <a:chOff x="848" y="992"/>
                <a:chExt cx="1336" cy="216"/>
              </a:xfrm>
            </p:grpSpPr>
            <p:sp>
              <p:nvSpPr>
                <p:cNvPr id="283717" name="Rectangle 109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18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203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 3 – Address FFFFF0</a:t>
                  </a:r>
                </a:p>
              </p:txBody>
            </p:sp>
          </p:grpSp>
          <p:grpSp>
            <p:nvGrpSpPr>
              <p:cNvPr id="283714" name="Group 111"/>
              <p:cNvGrpSpPr>
                <a:grpSpLocks/>
              </p:cNvGrpSpPr>
              <p:nvPr/>
            </p:nvGrpSpPr>
            <p:grpSpPr bwMode="auto">
              <a:xfrm>
                <a:off x="2768" y="984"/>
                <a:ext cx="1192" cy="216"/>
                <a:chOff x="848" y="992"/>
                <a:chExt cx="1336" cy="216"/>
              </a:xfrm>
            </p:grpSpPr>
            <p:sp>
              <p:nvSpPr>
                <p:cNvPr id="283715" name="Rectangle 112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16" name="Text Box 113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203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 1 – Address FFFFF1</a:t>
                  </a:r>
                </a:p>
              </p:txBody>
            </p:sp>
          </p:grpSp>
        </p:grpSp>
        <p:sp>
          <p:nvSpPr>
            <p:cNvPr id="283710" name="Text Box 114"/>
            <p:cNvSpPr txBox="1">
              <a:spLocks noChangeArrowheads="1"/>
            </p:cNvSpPr>
            <p:nvPr/>
          </p:nvSpPr>
          <p:spPr bwMode="auto">
            <a:xfrm>
              <a:off x="278" y="989"/>
              <a:ext cx="464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FFFFF0</a:t>
              </a:r>
            </a:p>
          </p:txBody>
        </p:sp>
      </p:grpSp>
      <p:grpSp>
        <p:nvGrpSpPr>
          <p:cNvPr id="283664" name="Group 115"/>
          <p:cNvGrpSpPr>
            <a:grpSpLocks/>
          </p:cNvGrpSpPr>
          <p:nvPr/>
        </p:nvGrpSpPr>
        <p:grpSpPr bwMode="auto">
          <a:xfrm>
            <a:off x="254000" y="4762500"/>
            <a:ext cx="8423275" cy="342900"/>
            <a:chOff x="278" y="976"/>
            <a:chExt cx="5306" cy="216"/>
          </a:xfrm>
        </p:grpSpPr>
        <p:grpSp>
          <p:nvGrpSpPr>
            <p:cNvPr id="283695" name="Group 116"/>
            <p:cNvGrpSpPr>
              <a:grpSpLocks/>
            </p:cNvGrpSpPr>
            <p:nvPr/>
          </p:nvGrpSpPr>
          <p:grpSpPr bwMode="auto">
            <a:xfrm>
              <a:off x="816" y="976"/>
              <a:ext cx="4768" cy="216"/>
              <a:chOff x="384" y="984"/>
              <a:chExt cx="4768" cy="216"/>
            </a:xfrm>
          </p:grpSpPr>
          <p:grpSp>
            <p:nvGrpSpPr>
              <p:cNvPr id="283697" name="Group 117"/>
              <p:cNvGrpSpPr>
                <a:grpSpLocks/>
              </p:cNvGrpSpPr>
              <p:nvPr/>
            </p:nvGrpSpPr>
            <p:grpSpPr bwMode="auto">
              <a:xfrm>
                <a:off x="1576" y="984"/>
                <a:ext cx="1192" cy="216"/>
                <a:chOff x="848" y="992"/>
                <a:chExt cx="1336" cy="216"/>
              </a:xfrm>
            </p:grpSpPr>
            <p:sp>
              <p:nvSpPr>
                <p:cNvPr id="283707" name="Rectangle 118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08" name="Text Box 119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203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 2 – Address FFFFF6</a:t>
                  </a:r>
                </a:p>
              </p:txBody>
            </p:sp>
          </p:grpSp>
          <p:grpSp>
            <p:nvGrpSpPr>
              <p:cNvPr id="283698" name="Group 120"/>
              <p:cNvGrpSpPr>
                <a:grpSpLocks/>
              </p:cNvGrpSpPr>
              <p:nvPr/>
            </p:nvGrpSpPr>
            <p:grpSpPr bwMode="auto">
              <a:xfrm>
                <a:off x="384" y="984"/>
                <a:ext cx="1192" cy="216"/>
                <a:chOff x="848" y="992"/>
                <a:chExt cx="1336" cy="216"/>
              </a:xfrm>
            </p:grpSpPr>
            <p:sp>
              <p:nvSpPr>
                <p:cNvPr id="283705" name="Rectangle 121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06" name="Text Box 122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203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 3 – Address FFFFF7</a:t>
                  </a:r>
                </a:p>
              </p:txBody>
            </p:sp>
          </p:grpSp>
          <p:grpSp>
            <p:nvGrpSpPr>
              <p:cNvPr id="283699" name="Group 123"/>
              <p:cNvGrpSpPr>
                <a:grpSpLocks/>
              </p:cNvGrpSpPr>
              <p:nvPr/>
            </p:nvGrpSpPr>
            <p:grpSpPr bwMode="auto">
              <a:xfrm>
                <a:off x="3960" y="984"/>
                <a:ext cx="1192" cy="216"/>
                <a:chOff x="848" y="992"/>
                <a:chExt cx="1336" cy="216"/>
              </a:xfrm>
            </p:grpSpPr>
            <p:sp>
              <p:nvSpPr>
                <p:cNvPr id="283703" name="Rectangle 124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04" name="Text Box 125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203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 3 – Address FFFFF4</a:t>
                  </a:r>
                </a:p>
              </p:txBody>
            </p:sp>
          </p:grpSp>
          <p:grpSp>
            <p:nvGrpSpPr>
              <p:cNvPr id="283700" name="Group 126"/>
              <p:cNvGrpSpPr>
                <a:grpSpLocks/>
              </p:cNvGrpSpPr>
              <p:nvPr/>
            </p:nvGrpSpPr>
            <p:grpSpPr bwMode="auto">
              <a:xfrm>
                <a:off x="2768" y="984"/>
                <a:ext cx="1192" cy="216"/>
                <a:chOff x="848" y="992"/>
                <a:chExt cx="1336" cy="216"/>
              </a:xfrm>
            </p:grpSpPr>
            <p:sp>
              <p:nvSpPr>
                <p:cNvPr id="283701" name="Rectangle 127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702" name="Text Box 128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203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 1 – Address FFFFF5</a:t>
                  </a:r>
                </a:p>
              </p:txBody>
            </p:sp>
          </p:grpSp>
        </p:grpSp>
        <p:sp>
          <p:nvSpPr>
            <p:cNvPr id="283696" name="Text Box 129"/>
            <p:cNvSpPr txBox="1">
              <a:spLocks noChangeArrowheads="1"/>
            </p:cNvSpPr>
            <p:nvPr/>
          </p:nvSpPr>
          <p:spPr bwMode="auto">
            <a:xfrm>
              <a:off x="278" y="989"/>
              <a:ext cx="464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FFFFF4</a:t>
              </a:r>
            </a:p>
          </p:txBody>
        </p:sp>
      </p:grpSp>
      <p:grpSp>
        <p:nvGrpSpPr>
          <p:cNvPr id="283665" name="Group 130"/>
          <p:cNvGrpSpPr>
            <a:grpSpLocks/>
          </p:cNvGrpSpPr>
          <p:nvPr/>
        </p:nvGrpSpPr>
        <p:grpSpPr bwMode="auto">
          <a:xfrm>
            <a:off x="254000" y="5105400"/>
            <a:ext cx="8423275" cy="342900"/>
            <a:chOff x="278" y="976"/>
            <a:chExt cx="5306" cy="216"/>
          </a:xfrm>
        </p:grpSpPr>
        <p:grpSp>
          <p:nvGrpSpPr>
            <p:cNvPr id="283681" name="Group 131"/>
            <p:cNvGrpSpPr>
              <a:grpSpLocks/>
            </p:cNvGrpSpPr>
            <p:nvPr/>
          </p:nvGrpSpPr>
          <p:grpSpPr bwMode="auto">
            <a:xfrm>
              <a:off x="816" y="976"/>
              <a:ext cx="4768" cy="216"/>
              <a:chOff x="384" y="984"/>
              <a:chExt cx="4768" cy="216"/>
            </a:xfrm>
          </p:grpSpPr>
          <p:grpSp>
            <p:nvGrpSpPr>
              <p:cNvPr id="283683" name="Group 132"/>
              <p:cNvGrpSpPr>
                <a:grpSpLocks/>
              </p:cNvGrpSpPr>
              <p:nvPr/>
            </p:nvGrpSpPr>
            <p:grpSpPr bwMode="auto">
              <a:xfrm>
                <a:off x="1576" y="984"/>
                <a:ext cx="1192" cy="216"/>
                <a:chOff x="848" y="992"/>
                <a:chExt cx="1336" cy="216"/>
              </a:xfrm>
            </p:grpSpPr>
            <p:sp>
              <p:nvSpPr>
                <p:cNvPr id="283693" name="Rectangle 133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694" name="Text Box 134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229" cy="155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 2 – Address FFFFFA</a:t>
                  </a:r>
                </a:p>
              </p:txBody>
            </p:sp>
          </p:grpSp>
          <p:grpSp>
            <p:nvGrpSpPr>
              <p:cNvPr id="283684" name="Group 135"/>
              <p:cNvGrpSpPr>
                <a:grpSpLocks/>
              </p:cNvGrpSpPr>
              <p:nvPr/>
            </p:nvGrpSpPr>
            <p:grpSpPr bwMode="auto">
              <a:xfrm>
                <a:off x="384" y="984"/>
                <a:ext cx="1192" cy="216"/>
                <a:chOff x="848" y="992"/>
                <a:chExt cx="1336" cy="216"/>
              </a:xfrm>
            </p:grpSpPr>
            <p:sp>
              <p:nvSpPr>
                <p:cNvPr id="283691" name="Rectangle 136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692" name="Text Box 137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229" cy="155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 3 – Address FFFFFB</a:t>
                  </a:r>
                </a:p>
              </p:txBody>
            </p:sp>
          </p:grpSp>
          <p:grpSp>
            <p:nvGrpSpPr>
              <p:cNvPr id="283685" name="Group 138"/>
              <p:cNvGrpSpPr>
                <a:grpSpLocks/>
              </p:cNvGrpSpPr>
              <p:nvPr/>
            </p:nvGrpSpPr>
            <p:grpSpPr bwMode="auto">
              <a:xfrm>
                <a:off x="3960" y="984"/>
                <a:ext cx="1192" cy="216"/>
                <a:chOff x="848" y="992"/>
                <a:chExt cx="1336" cy="216"/>
              </a:xfrm>
            </p:grpSpPr>
            <p:sp>
              <p:nvSpPr>
                <p:cNvPr id="283689" name="Rectangle 139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690" name="Text Box 140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219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 3 – Address FFFFF8</a:t>
                  </a:r>
                </a:p>
              </p:txBody>
            </p:sp>
          </p:grpSp>
          <p:grpSp>
            <p:nvGrpSpPr>
              <p:cNvPr id="283686" name="Group 141"/>
              <p:cNvGrpSpPr>
                <a:grpSpLocks/>
              </p:cNvGrpSpPr>
              <p:nvPr/>
            </p:nvGrpSpPr>
            <p:grpSpPr bwMode="auto">
              <a:xfrm>
                <a:off x="2768" y="984"/>
                <a:ext cx="1192" cy="216"/>
                <a:chOff x="848" y="992"/>
                <a:chExt cx="1336" cy="216"/>
              </a:xfrm>
            </p:grpSpPr>
            <p:sp>
              <p:nvSpPr>
                <p:cNvPr id="283687" name="Rectangle 142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688" name="Text Box 143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213" cy="155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 1 – Address FFFFF9</a:t>
                  </a:r>
                </a:p>
              </p:txBody>
            </p:sp>
          </p:grpSp>
        </p:grpSp>
        <p:sp>
          <p:nvSpPr>
            <p:cNvPr id="283682" name="Text Box 144"/>
            <p:cNvSpPr txBox="1">
              <a:spLocks noChangeArrowheads="1"/>
            </p:cNvSpPr>
            <p:nvPr/>
          </p:nvSpPr>
          <p:spPr bwMode="auto">
            <a:xfrm>
              <a:off x="278" y="989"/>
              <a:ext cx="464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FFFFF8</a:t>
              </a:r>
            </a:p>
          </p:txBody>
        </p:sp>
      </p:grpSp>
      <p:grpSp>
        <p:nvGrpSpPr>
          <p:cNvPr id="283666" name="Group 145"/>
          <p:cNvGrpSpPr>
            <a:grpSpLocks/>
          </p:cNvGrpSpPr>
          <p:nvPr/>
        </p:nvGrpSpPr>
        <p:grpSpPr bwMode="auto">
          <a:xfrm>
            <a:off x="254000" y="5448300"/>
            <a:ext cx="8423275" cy="342900"/>
            <a:chOff x="278" y="976"/>
            <a:chExt cx="5306" cy="216"/>
          </a:xfrm>
        </p:grpSpPr>
        <p:grpSp>
          <p:nvGrpSpPr>
            <p:cNvPr id="283667" name="Group 146"/>
            <p:cNvGrpSpPr>
              <a:grpSpLocks/>
            </p:cNvGrpSpPr>
            <p:nvPr/>
          </p:nvGrpSpPr>
          <p:grpSpPr bwMode="auto">
            <a:xfrm>
              <a:off x="816" y="976"/>
              <a:ext cx="4768" cy="216"/>
              <a:chOff x="384" y="984"/>
              <a:chExt cx="4768" cy="216"/>
            </a:xfrm>
          </p:grpSpPr>
          <p:grpSp>
            <p:nvGrpSpPr>
              <p:cNvPr id="283669" name="Group 147"/>
              <p:cNvGrpSpPr>
                <a:grpSpLocks/>
              </p:cNvGrpSpPr>
              <p:nvPr/>
            </p:nvGrpSpPr>
            <p:grpSpPr bwMode="auto">
              <a:xfrm>
                <a:off x="1576" y="984"/>
                <a:ext cx="1192" cy="216"/>
                <a:chOff x="848" y="992"/>
                <a:chExt cx="1336" cy="216"/>
              </a:xfrm>
            </p:grpSpPr>
            <p:sp>
              <p:nvSpPr>
                <p:cNvPr id="283679" name="Rectangle 148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680" name="Text Box 149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224" cy="155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 2 – Address FFFFFE</a:t>
                  </a:r>
                </a:p>
              </p:txBody>
            </p:sp>
          </p:grpSp>
          <p:grpSp>
            <p:nvGrpSpPr>
              <p:cNvPr id="283670" name="Group 150"/>
              <p:cNvGrpSpPr>
                <a:grpSpLocks/>
              </p:cNvGrpSpPr>
              <p:nvPr/>
            </p:nvGrpSpPr>
            <p:grpSpPr bwMode="auto">
              <a:xfrm>
                <a:off x="384" y="984"/>
                <a:ext cx="1192" cy="216"/>
                <a:chOff x="848" y="992"/>
                <a:chExt cx="1336" cy="216"/>
              </a:xfrm>
            </p:grpSpPr>
            <p:sp>
              <p:nvSpPr>
                <p:cNvPr id="283677" name="Rectangle 151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678" name="Text Box 152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219" cy="15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 3 – Address FFFFFF</a:t>
                  </a:r>
                </a:p>
              </p:txBody>
            </p:sp>
          </p:grpSp>
          <p:grpSp>
            <p:nvGrpSpPr>
              <p:cNvPr id="283671" name="Group 153"/>
              <p:cNvGrpSpPr>
                <a:grpSpLocks/>
              </p:cNvGrpSpPr>
              <p:nvPr/>
            </p:nvGrpSpPr>
            <p:grpSpPr bwMode="auto">
              <a:xfrm>
                <a:off x="3960" y="984"/>
                <a:ext cx="1192" cy="216"/>
                <a:chOff x="848" y="992"/>
                <a:chExt cx="1336" cy="216"/>
              </a:xfrm>
            </p:grpSpPr>
            <p:sp>
              <p:nvSpPr>
                <p:cNvPr id="283675" name="Rectangle 154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676" name="Text Box 155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229" cy="155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 3 – Address FFFFFC</a:t>
                  </a:r>
                </a:p>
              </p:txBody>
            </p:sp>
          </p:grpSp>
          <p:grpSp>
            <p:nvGrpSpPr>
              <p:cNvPr id="283672" name="Group 156"/>
              <p:cNvGrpSpPr>
                <a:grpSpLocks/>
              </p:cNvGrpSpPr>
              <p:nvPr/>
            </p:nvGrpSpPr>
            <p:grpSpPr bwMode="auto">
              <a:xfrm>
                <a:off x="2768" y="984"/>
                <a:ext cx="1192" cy="216"/>
                <a:chOff x="848" y="992"/>
                <a:chExt cx="1336" cy="216"/>
              </a:xfrm>
            </p:grpSpPr>
            <p:sp>
              <p:nvSpPr>
                <p:cNvPr id="283673" name="Rectangle 157"/>
                <p:cNvSpPr>
                  <a:spLocks noChangeArrowheads="1"/>
                </p:cNvSpPr>
                <p:nvPr/>
              </p:nvSpPr>
              <p:spPr bwMode="auto">
                <a:xfrm>
                  <a:off x="848" y="992"/>
                  <a:ext cx="1336" cy="21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 sz="1400" b="1"/>
                </a:p>
              </p:txBody>
            </p:sp>
            <p:sp>
              <p:nvSpPr>
                <p:cNvPr id="283674" name="Text Box 158"/>
                <p:cNvSpPr txBox="1">
                  <a:spLocks noChangeArrowheads="1"/>
                </p:cNvSpPr>
                <p:nvPr/>
              </p:nvSpPr>
              <p:spPr bwMode="auto">
                <a:xfrm>
                  <a:off x="926" y="1037"/>
                  <a:ext cx="1229" cy="155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/>
                    <a:t>Byte 1 – Address FFFFFD</a:t>
                  </a:r>
                </a:p>
              </p:txBody>
            </p:sp>
          </p:grpSp>
        </p:grpSp>
        <p:sp>
          <p:nvSpPr>
            <p:cNvPr id="283668" name="Text Box 159"/>
            <p:cNvSpPr txBox="1">
              <a:spLocks noChangeArrowheads="1"/>
            </p:cNvSpPr>
            <p:nvPr/>
          </p:nvSpPr>
          <p:spPr bwMode="auto">
            <a:xfrm>
              <a:off x="278" y="989"/>
              <a:ext cx="480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FFFFFC</a:t>
              </a:r>
            </a:p>
          </p:txBody>
        </p:sp>
      </p:grpSp>
      <p:sp>
        <p:nvSpPr>
          <p:cNvPr id="147" name="Rectangle 1027"/>
          <p:cNvSpPr txBox="1">
            <a:spLocks noChangeArrowheads="1"/>
          </p:cNvSpPr>
          <p:nvPr/>
        </p:nvSpPr>
        <p:spPr>
          <a:xfrm>
            <a:off x="528851" y="5986617"/>
            <a:ext cx="8538949" cy="645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Tx/>
              <a:buChar char="•"/>
              <a:tabLst/>
              <a:defRPr/>
            </a:pPr>
            <a:r>
              <a:rPr kumimoji="1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Byte-Packing Definition:</a:t>
            </a:r>
            <a:r>
              <a:rPr kumimoji="1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When the size of</a:t>
            </a:r>
            <a:r>
              <a:rPr kumimoji="1" lang="en-US" sz="1800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the data element (byte) is smaller than the width of the available memory, we use this to optimize on space </a:t>
            </a:r>
          </a:p>
        </p:txBody>
      </p:sp>
      <p:sp>
        <p:nvSpPr>
          <p:cNvPr id="149" name="Rectangle 4"/>
          <p:cNvSpPr>
            <a:spLocks noGrp="1" noChangeArrowheads="1"/>
          </p:cNvSpPr>
          <p:nvPr>
            <p:ph type="title"/>
          </p:nvPr>
        </p:nvSpPr>
        <p:spPr>
          <a:xfrm>
            <a:off x="15240" y="0"/>
            <a:ext cx="9052560" cy="8382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Byte Packing – </a:t>
            </a:r>
            <a:r>
              <a:rPr lang="en-US" dirty="0"/>
              <a:t>Little Endian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8382000" y="1248580"/>
            <a:ext cx="0" cy="609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Straight Arrow Connector 145"/>
          <p:cNvCxnSpPr/>
          <p:nvPr/>
        </p:nvCxnSpPr>
        <p:spPr>
          <a:xfrm>
            <a:off x="8153400" y="1248580"/>
            <a:ext cx="0" cy="609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>
            <a:off x="8610600" y="1248580"/>
            <a:ext cx="0" cy="609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7924800" y="1248580"/>
            <a:ext cx="0" cy="609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420100" y="943780"/>
            <a:ext cx="377851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D0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781800" y="943780"/>
            <a:ext cx="377851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D7</a:t>
            </a:r>
          </a:p>
        </p:txBody>
      </p:sp>
      <p:cxnSp>
        <p:nvCxnSpPr>
          <p:cNvPr id="156" name="Straight Arrow Connector 155"/>
          <p:cNvCxnSpPr/>
          <p:nvPr/>
        </p:nvCxnSpPr>
        <p:spPr>
          <a:xfrm>
            <a:off x="7467600" y="1248580"/>
            <a:ext cx="0" cy="609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7239000" y="1248580"/>
            <a:ext cx="0" cy="609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Straight Arrow Connector 157"/>
          <p:cNvCxnSpPr/>
          <p:nvPr/>
        </p:nvCxnSpPr>
        <p:spPr>
          <a:xfrm>
            <a:off x="7696200" y="1248580"/>
            <a:ext cx="0" cy="609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7010400" y="1248580"/>
            <a:ext cx="0" cy="609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Left Arrow 6"/>
          <p:cNvSpPr/>
          <p:nvPr/>
        </p:nvSpPr>
        <p:spPr>
          <a:xfrm>
            <a:off x="1143000" y="3686980"/>
            <a:ext cx="7543800" cy="533400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Read from Right to Left, or from the “Little End” of the Egg first.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6963274" y="1934380"/>
            <a:ext cx="440826" cy="16002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10000"/>
                </a:schemeClr>
              </a:gs>
              <a:gs pos="80000">
                <a:schemeClr val="accent1">
                  <a:shade val="93000"/>
                  <a:satMod val="130000"/>
                  <a:alpha val="10000"/>
                </a:schemeClr>
              </a:gs>
              <a:gs pos="100000">
                <a:schemeClr val="accent1">
                  <a:shade val="94000"/>
                  <a:satMod val="135000"/>
                  <a:alpha val="10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5" name="Straight Arrow Connector 164"/>
          <p:cNvCxnSpPr/>
          <p:nvPr/>
        </p:nvCxnSpPr>
        <p:spPr>
          <a:xfrm>
            <a:off x="2667000" y="1248580"/>
            <a:ext cx="0" cy="609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/>
          <p:nvPr/>
        </p:nvCxnSpPr>
        <p:spPr>
          <a:xfrm>
            <a:off x="2438400" y="1248580"/>
            <a:ext cx="0" cy="609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2895600" y="1248580"/>
            <a:ext cx="0" cy="609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/>
          <p:nvPr/>
        </p:nvCxnSpPr>
        <p:spPr>
          <a:xfrm>
            <a:off x="2209800" y="1248580"/>
            <a:ext cx="0" cy="609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>
            <a:off x="2743200" y="943780"/>
            <a:ext cx="457200" cy="2866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D23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14400" y="943780"/>
            <a:ext cx="457200" cy="2866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D31</a:t>
            </a:r>
          </a:p>
        </p:txBody>
      </p:sp>
      <p:cxnSp>
        <p:nvCxnSpPr>
          <p:cNvPr id="171" name="Straight Arrow Connector 170"/>
          <p:cNvCxnSpPr/>
          <p:nvPr/>
        </p:nvCxnSpPr>
        <p:spPr>
          <a:xfrm>
            <a:off x="1752600" y="1248580"/>
            <a:ext cx="0" cy="609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2" name="Straight Arrow Connector 171"/>
          <p:cNvCxnSpPr/>
          <p:nvPr/>
        </p:nvCxnSpPr>
        <p:spPr>
          <a:xfrm>
            <a:off x="1524000" y="1248580"/>
            <a:ext cx="0" cy="609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Straight Arrow Connector 172"/>
          <p:cNvCxnSpPr/>
          <p:nvPr/>
        </p:nvCxnSpPr>
        <p:spPr>
          <a:xfrm>
            <a:off x="1981200" y="1248580"/>
            <a:ext cx="0" cy="609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Straight Arrow Connector 173"/>
          <p:cNvCxnSpPr/>
          <p:nvPr/>
        </p:nvCxnSpPr>
        <p:spPr>
          <a:xfrm>
            <a:off x="1295400" y="1248580"/>
            <a:ext cx="0" cy="609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55720" y="969553"/>
            <a:ext cx="2346960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366FF"/>
                </a:solidFill>
              </a:rPr>
              <a:t>“Read from the </a:t>
            </a:r>
            <a:r>
              <a:rPr lang="en-US" b="1" dirty="0">
                <a:solidFill>
                  <a:srgbClr val="3366FF"/>
                </a:solidFill>
              </a:rPr>
              <a:t>LITTLE </a:t>
            </a:r>
            <a:r>
              <a:rPr lang="en-US" dirty="0">
                <a:solidFill>
                  <a:srgbClr val="3366FF"/>
                </a:solidFill>
              </a:rPr>
              <a:t>side (LSB)”</a:t>
            </a:r>
          </a:p>
        </p:txBody>
      </p:sp>
    </p:spTree>
    <p:extLst>
      <p:ext uri="{BB962C8B-B14F-4D97-AF65-F5344CB8AC3E}">
        <p14:creationId xmlns:p14="http://schemas.microsoft.com/office/powerpoint/2010/main" val="34595932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-106680" y="609600"/>
            <a:ext cx="9052560" cy="838200"/>
          </a:xfrm>
        </p:spPr>
        <p:txBody>
          <a:bodyPr/>
          <a:lstStyle/>
          <a:p>
            <a:r>
              <a:rPr lang="en-US" dirty="0"/>
              <a:t>Memory Organization &amp; “Endian-ness”</a:t>
            </a:r>
          </a:p>
        </p:txBody>
      </p:sp>
      <p:sp>
        <p:nvSpPr>
          <p:cNvPr id="28467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76200" y="1295400"/>
            <a:ext cx="8943260" cy="2012156"/>
          </a:xfrm>
        </p:spPr>
        <p:txBody>
          <a:bodyPr/>
          <a:lstStyle/>
          <a:p>
            <a:r>
              <a:rPr lang="en-US" sz="1800" dirty="0"/>
              <a:t>Memory organization depends upon the width of the processor data bus</a:t>
            </a:r>
          </a:p>
          <a:p>
            <a:pPr lvl="1"/>
            <a:r>
              <a:rPr lang="en-US" sz="1800" dirty="0"/>
              <a:t>The 68000 is a 32-bits for data internally</a:t>
            </a:r>
          </a:p>
          <a:p>
            <a:pPr lvl="2"/>
            <a:r>
              <a:rPr lang="en-US" sz="1800" dirty="0"/>
              <a:t>But a 16-bit external data bus: can read 16-bits at a time</a:t>
            </a:r>
          </a:p>
          <a:p>
            <a:pPr lvl="1"/>
            <a:r>
              <a:rPr lang="en-US" sz="1800" dirty="0"/>
              <a:t>All addresses are 32-bits internally, with 24-bits external (16M)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</p:txBody>
      </p:sp>
      <p:sp>
        <p:nvSpPr>
          <p:cNvPr id="284678" name="Rectangle 1028"/>
          <p:cNvSpPr>
            <a:spLocks noChangeArrowheads="1"/>
          </p:cNvSpPr>
          <p:nvPr/>
        </p:nvSpPr>
        <p:spPr bwMode="auto">
          <a:xfrm>
            <a:off x="76200" y="3186113"/>
            <a:ext cx="609600" cy="3048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84679" name="AutoShape 1029"/>
          <p:cNvSpPr>
            <a:spLocks noChangeArrowheads="1"/>
          </p:cNvSpPr>
          <p:nvPr/>
        </p:nvSpPr>
        <p:spPr bwMode="auto">
          <a:xfrm>
            <a:off x="76200" y="5395913"/>
            <a:ext cx="609600" cy="228600"/>
          </a:xfrm>
          <a:prstGeom prst="flowChartPunchedTap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84680" name="Line 1030"/>
          <p:cNvSpPr>
            <a:spLocks noChangeShapeType="1"/>
          </p:cNvSpPr>
          <p:nvPr/>
        </p:nvSpPr>
        <p:spPr bwMode="auto">
          <a:xfrm>
            <a:off x="76200" y="33385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681" name="Line 1031"/>
          <p:cNvSpPr>
            <a:spLocks noChangeShapeType="1"/>
          </p:cNvSpPr>
          <p:nvPr/>
        </p:nvSpPr>
        <p:spPr bwMode="auto">
          <a:xfrm>
            <a:off x="152400" y="3186113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682" name="Line 1032"/>
          <p:cNvSpPr>
            <a:spLocks noChangeShapeType="1"/>
          </p:cNvSpPr>
          <p:nvPr/>
        </p:nvSpPr>
        <p:spPr bwMode="auto">
          <a:xfrm>
            <a:off x="228600" y="3186113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683" name="Line 1033"/>
          <p:cNvSpPr>
            <a:spLocks noChangeShapeType="1"/>
          </p:cNvSpPr>
          <p:nvPr/>
        </p:nvSpPr>
        <p:spPr bwMode="auto">
          <a:xfrm>
            <a:off x="304800" y="3186113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684" name="Line 1034"/>
          <p:cNvSpPr>
            <a:spLocks noChangeShapeType="1"/>
          </p:cNvSpPr>
          <p:nvPr/>
        </p:nvSpPr>
        <p:spPr bwMode="auto">
          <a:xfrm>
            <a:off x="381000" y="3186113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685" name="Line 1035"/>
          <p:cNvSpPr>
            <a:spLocks noChangeShapeType="1"/>
          </p:cNvSpPr>
          <p:nvPr/>
        </p:nvSpPr>
        <p:spPr bwMode="auto">
          <a:xfrm>
            <a:off x="457200" y="3186113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686" name="Line 1036"/>
          <p:cNvSpPr>
            <a:spLocks noChangeShapeType="1"/>
          </p:cNvSpPr>
          <p:nvPr/>
        </p:nvSpPr>
        <p:spPr bwMode="auto">
          <a:xfrm>
            <a:off x="533400" y="3186113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687" name="Line 1037"/>
          <p:cNvSpPr>
            <a:spLocks noChangeShapeType="1"/>
          </p:cNvSpPr>
          <p:nvPr/>
        </p:nvSpPr>
        <p:spPr bwMode="auto">
          <a:xfrm>
            <a:off x="609600" y="3186113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688" name="Text Box 1038"/>
          <p:cNvSpPr txBox="1">
            <a:spLocks noChangeArrowheads="1"/>
          </p:cNvSpPr>
          <p:nvPr/>
        </p:nvSpPr>
        <p:spPr bwMode="auto">
          <a:xfrm>
            <a:off x="188912" y="2820988"/>
            <a:ext cx="387350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b="1"/>
              <a:t>Bit</a:t>
            </a:r>
          </a:p>
        </p:txBody>
      </p:sp>
      <p:sp>
        <p:nvSpPr>
          <p:cNvPr id="284689" name="Text Box 1039"/>
          <p:cNvSpPr txBox="1">
            <a:spLocks noChangeArrowheads="1"/>
          </p:cNvSpPr>
          <p:nvPr/>
        </p:nvSpPr>
        <p:spPr bwMode="auto">
          <a:xfrm>
            <a:off x="0" y="2957513"/>
            <a:ext cx="268287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b="1"/>
              <a:t>7</a:t>
            </a:r>
          </a:p>
        </p:txBody>
      </p:sp>
      <p:sp>
        <p:nvSpPr>
          <p:cNvPr id="284690" name="Text Box 1040"/>
          <p:cNvSpPr txBox="1">
            <a:spLocks noChangeArrowheads="1"/>
          </p:cNvSpPr>
          <p:nvPr/>
        </p:nvSpPr>
        <p:spPr bwMode="auto">
          <a:xfrm>
            <a:off x="533400" y="2957513"/>
            <a:ext cx="268287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b="1"/>
              <a:t>0</a:t>
            </a:r>
          </a:p>
        </p:txBody>
      </p:sp>
      <p:sp>
        <p:nvSpPr>
          <p:cNvPr id="284691" name="Line 1041"/>
          <p:cNvSpPr>
            <a:spLocks noChangeShapeType="1"/>
          </p:cNvSpPr>
          <p:nvPr/>
        </p:nvSpPr>
        <p:spPr bwMode="auto">
          <a:xfrm>
            <a:off x="76200" y="34909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692" name="Line 1042"/>
          <p:cNvSpPr>
            <a:spLocks noChangeShapeType="1"/>
          </p:cNvSpPr>
          <p:nvPr/>
        </p:nvSpPr>
        <p:spPr bwMode="auto">
          <a:xfrm>
            <a:off x="76200" y="36433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693" name="Line 1043"/>
          <p:cNvSpPr>
            <a:spLocks noChangeShapeType="1"/>
          </p:cNvSpPr>
          <p:nvPr/>
        </p:nvSpPr>
        <p:spPr bwMode="auto">
          <a:xfrm>
            <a:off x="76200" y="37957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694" name="Line 1044"/>
          <p:cNvSpPr>
            <a:spLocks noChangeShapeType="1"/>
          </p:cNvSpPr>
          <p:nvPr/>
        </p:nvSpPr>
        <p:spPr bwMode="auto">
          <a:xfrm>
            <a:off x="76200" y="39481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695" name="Line 1045"/>
          <p:cNvSpPr>
            <a:spLocks noChangeShapeType="1"/>
          </p:cNvSpPr>
          <p:nvPr/>
        </p:nvSpPr>
        <p:spPr bwMode="auto">
          <a:xfrm>
            <a:off x="76200" y="41005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696" name="Line 1046"/>
          <p:cNvSpPr>
            <a:spLocks noChangeShapeType="1"/>
          </p:cNvSpPr>
          <p:nvPr/>
        </p:nvSpPr>
        <p:spPr bwMode="auto">
          <a:xfrm>
            <a:off x="76200" y="42529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697" name="Line 1047"/>
          <p:cNvSpPr>
            <a:spLocks noChangeShapeType="1"/>
          </p:cNvSpPr>
          <p:nvPr/>
        </p:nvSpPr>
        <p:spPr bwMode="auto">
          <a:xfrm>
            <a:off x="76200" y="44053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698" name="Line 1048"/>
          <p:cNvSpPr>
            <a:spLocks noChangeShapeType="1"/>
          </p:cNvSpPr>
          <p:nvPr/>
        </p:nvSpPr>
        <p:spPr bwMode="auto">
          <a:xfrm>
            <a:off x="76200" y="45577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699" name="Line 1049"/>
          <p:cNvSpPr>
            <a:spLocks noChangeShapeType="1"/>
          </p:cNvSpPr>
          <p:nvPr/>
        </p:nvSpPr>
        <p:spPr bwMode="auto">
          <a:xfrm>
            <a:off x="76200" y="47101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00" name="Line 1050"/>
          <p:cNvSpPr>
            <a:spLocks noChangeShapeType="1"/>
          </p:cNvSpPr>
          <p:nvPr/>
        </p:nvSpPr>
        <p:spPr bwMode="auto">
          <a:xfrm>
            <a:off x="76200" y="48625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01" name="Line 1051"/>
          <p:cNvSpPr>
            <a:spLocks noChangeShapeType="1"/>
          </p:cNvSpPr>
          <p:nvPr/>
        </p:nvSpPr>
        <p:spPr bwMode="auto">
          <a:xfrm>
            <a:off x="76200" y="50149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02" name="Line 1052"/>
          <p:cNvSpPr>
            <a:spLocks noChangeShapeType="1"/>
          </p:cNvSpPr>
          <p:nvPr/>
        </p:nvSpPr>
        <p:spPr bwMode="auto">
          <a:xfrm>
            <a:off x="76200" y="51673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03" name="Line 1053"/>
          <p:cNvSpPr>
            <a:spLocks noChangeShapeType="1"/>
          </p:cNvSpPr>
          <p:nvPr/>
        </p:nvSpPr>
        <p:spPr bwMode="auto">
          <a:xfrm>
            <a:off x="76200" y="53197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04" name="Line 1054"/>
          <p:cNvSpPr>
            <a:spLocks noChangeShapeType="1"/>
          </p:cNvSpPr>
          <p:nvPr/>
        </p:nvSpPr>
        <p:spPr bwMode="auto">
          <a:xfrm>
            <a:off x="76200" y="57769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05" name="Line 1055"/>
          <p:cNvSpPr>
            <a:spLocks noChangeShapeType="1"/>
          </p:cNvSpPr>
          <p:nvPr/>
        </p:nvSpPr>
        <p:spPr bwMode="auto">
          <a:xfrm>
            <a:off x="76200" y="59293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06" name="Line 1056"/>
          <p:cNvSpPr>
            <a:spLocks noChangeShapeType="1"/>
          </p:cNvSpPr>
          <p:nvPr/>
        </p:nvSpPr>
        <p:spPr bwMode="auto">
          <a:xfrm>
            <a:off x="76200" y="60817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07" name="Text Box 1057"/>
          <p:cNvSpPr txBox="1">
            <a:spLocks noChangeArrowheads="1"/>
          </p:cNvSpPr>
          <p:nvPr/>
        </p:nvSpPr>
        <p:spPr bwMode="auto">
          <a:xfrm>
            <a:off x="762000" y="3109913"/>
            <a:ext cx="688975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b="1"/>
              <a:t>0x0000</a:t>
            </a:r>
          </a:p>
        </p:txBody>
      </p:sp>
      <p:sp>
        <p:nvSpPr>
          <p:cNvPr id="284708" name="Text Box 1058"/>
          <p:cNvSpPr txBox="1">
            <a:spLocks noChangeArrowheads="1"/>
          </p:cNvSpPr>
          <p:nvPr/>
        </p:nvSpPr>
        <p:spPr bwMode="auto">
          <a:xfrm>
            <a:off x="762000" y="6081713"/>
            <a:ext cx="727075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b="1"/>
              <a:t>0xFFFF</a:t>
            </a:r>
          </a:p>
        </p:txBody>
      </p:sp>
      <p:sp>
        <p:nvSpPr>
          <p:cNvPr id="284709" name="Text Box 1059"/>
          <p:cNvSpPr txBox="1">
            <a:spLocks noChangeArrowheads="1"/>
          </p:cNvSpPr>
          <p:nvPr/>
        </p:nvSpPr>
        <p:spPr bwMode="auto">
          <a:xfrm>
            <a:off x="757237" y="5853113"/>
            <a:ext cx="735013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b="1"/>
              <a:t>0xFFFE</a:t>
            </a:r>
          </a:p>
        </p:txBody>
      </p:sp>
      <p:sp>
        <p:nvSpPr>
          <p:cNvPr id="284710" name="Text Box 1060"/>
          <p:cNvSpPr txBox="1">
            <a:spLocks noChangeArrowheads="1"/>
          </p:cNvSpPr>
          <p:nvPr/>
        </p:nvSpPr>
        <p:spPr bwMode="auto">
          <a:xfrm>
            <a:off x="246062" y="4054475"/>
            <a:ext cx="268288" cy="2444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/>
              <a:t>S</a:t>
            </a:r>
          </a:p>
        </p:txBody>
      </p:sp>
      <p:sp>
        <p:nvSpPr>
          <p:cNvPr id="284711" name="Text Box 1061"/>
          <p:cNvSpPr txBox="1">
            <a:spLocks noChangeArrowheads="1"/>
          </p:cNvSpPr>
          <p:nvPr/>
        </p:nvSpPr>
        <p:spPr bwMode="auto">
          <a:xfrm>
            <a:off x="250825" y="4206875"/>
            <a:ext cx="261937" cy="2444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/>
              <a:t>T</a:t>
            </a:r>
          </a:p>
        </p:txBody>
      </p:sp>
      <p:sp>
        <p:nvSpPr>
          <p:cNvPr id="284712" name="Text Box 1062"/>
          <p:cNvSpPr txBox="1">
            <a:spLocks noChangeArrowheads="1"/>
          </p:cNvSpPr>
          <p:nvPr/>
        </p:nvSpPr>
        <p:spPr bwMode="auto">
          <a:xfrm>
            <a:off x="242887" y="4359275"/>
            <a:ext cx="276225" cy="2444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/>
              <a:t>R</a:t>
            </a:r>
          </a:p>
        </p:txBody>
      </p:sp>
      <p:sp>
        <p:nvSpPr>
          <p:cNvPr id="284713" name="Text Box 1063"/>
          <p:cNvSpPr txBox="1">
            <a:spLocks noChangeArrowheads="1"/>
          </p:cNvSpPr>
          <p:nvPr/>
        </p:nvSpPr>
        <p:spPr bwMode="auto">
          <a:xfrm>
            <a:off x="271462" y="4511675"/>
            <a:ext cx="219075" cy="2444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/>
              <a:t>I</a:t>
            </a:r>
          </a:p>
        </p:txBody>
      </p:sp>
      <p:sp>
        <p:nvSpPr>
          <p:cNvPr id="284714" name="Text Box 1064"/>
          <p:cNvSpPr txBox="1">
            <a:spLocks noChangeArrowheads="1"/>
          </p:cNvSpPr>
          <p:nvPr/>
        </p:nvSpPr>
        <p:spPr bwMode="auto">
          <a:xfrm>
            <a:off x="242887" y="4664075"/>
            <a:ext cx="276225" cy="2444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/>
              <a:t>N</a:t>
            </a:r>
          </a:p>
        </p:txBody>
      </p:sp>
      <p:sp>
        <p:nvSpPr>
          <p:cNvPr id="284715" name="Text Box 1065"/>
          <p:cNvSpPr txBox="1">
            <a:spLocks noChangeArrowheads="1"/>
          </p:cNvSpPr>
          <p:nvPr/>
        </p:nvSpPr>
        <p:spPr bwMode="auto">
          <a:xfrm>
            <a:off x="239712" y="4816475"/>
            <a:ext cx="282575" cy="2444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/>
              <a:t>G</a:t>
            </a:r>
          </a:p>
        </p:txBody>
      </p:sp>
      <p:sp>
        <p:nvSpPr>
          <p:cNvPr id="284716" name="Line 1066"/>
          <p:cNvSpPr>
            <a:spLocks noChangeShapeType="1"/>
          </p:cNvSpPr>
          <p:nvPr/>
        </p:nvSpPr>
        <p:spPr bwMode="auto">
          <a:xfrm>
            <a:off x="76200" y="5437188"/>
            <a:ext cx="0" cy="1873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17" name="Line 1067"/>
          <p:cNvSpPr>
            <a:spLocks noChangeShapeType="1"/>
          </p:cNvSpPr>
          <p:nvPr/>
        </p:nvSpPr>
        <p:spPr bwMode="auto">
          <a:xfrm>
            <a:off x="690562" y="5411788"/>
            <a:ext cx="0" cy="1873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18" name="Text Box 1068"/>
          <p:cNvSpPr txBox="1">
            <a:spLocks noChangeArrowheads="1"/>
          </p:cNvSpPr>
          <p:nvPr/>
        </p:nvSpPr>
        <p:spPr bwMode="auto">
          <a:xfrm>
            <a:off x="682625" y="4129088"/>
            <a:ext cx="1252537" cy="8540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r>
              <a:rPr lang="en-US" sz="1000" b="1" dirty="0"/>
              <a:t>Byte Addressable</a:t>
            </a:r>
          </a:p>
          <a:p>
            <a:r>
              <a:rPr lang="en-US" sz="1000" b="1"/>
              <a:t> memory for an </a:t>
            </a:r>
          </a:p>
          <a:p>
            <a:r>
              <a:rPr lang="en-US" sz="1000" b="1" dirty="0"/>
              <a:t>8-bit processor</a:t>
            </a:r>
          </a:p>
          <a:p>
            <a:r>
              <a:rPr lang="en-US" sz="1000" b="1" dirty="0"/>
              <a:t>with a 16-bit </a:t>
            </a:r>
          </a:p>
          <a:p>
            <a:r>
              <a:rPr lang="en-US" sz="1000" b="1" dirty="0"/>
              <a:t>addressing range</a:t>
            </a:r>
          </a:p>
        </p:txBody>
      </p:sp>
      <p:sp>
        <p:nvSpPr>
          <p:cNvPr id="284719" name="Rectangle 1069"/>
          <p:cNvSpPr>
            <a:spLocks noChangeArrowheads="1"/>
          </p:cNvSpPr>
          <p:nvPr/>
        </p:nvSpPr>
        <p:spPr bwMode="auto">
          <a:xfrm>
            <a:off x="3629025" y="3201988"/>
            <a:ext cx="609600" cy="3048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84720" name="AutoShape 1070"/>
          <p:cNvSpPr>
            <a:spLocks noChangeArrowheads="1"/>
          </p:cNvSpPr>
          <p:nvPr/>
        </p:nvSpPr>
        <p:spPr bwMode="auto">
          <a:xfrm>
            <a:off x="3629025" y="5411788"/>
            <a:ext cx="609600" cy="228600"/>
          </a:xfrm>
          <a:prstGeom prst="flowChartPunchedTap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84721" name="Line 1071"/>
          <p:cNvSpPr>
            <a:spLocks noChangeShapeType="1"/>
          </p:cNvSpPr>
          <p:nvPr/>
        </p:nvSpPr>
        <p:spPr bwMode="auto">
          <a:xfrm>
            <a:off x="3629025" y="33543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22" name="Line 1072"/>
          <p:cNvSpPr>
            <a:spLocks noChangeShapeType="1"/>
          </p:cNvSpPr>
          <p:nvPr/>
        </p:nvSpPr>
        <p:spPr bwMode="auto">
          <a:xfrm>
            <a:off x="3705225" y="320198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723" name="Line 1073"/>
          <p:cNvSpPr>
            <a:spLocks noChangeShapeType="1"/>
          </p:cNvSpPr>
          <p:nvPr/>
        </p:nvSpPr>
        <p:spPr bwMode="auto">
          <a:xfrm>
            <a:off x="3781425" y="320198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724" name="Line 1074"/>
          <p:cNvSpPr>
            <a:spLocks noChangeShapeType="1"/>
          </p:cNvSpPr>
          <p:nvPr/>
        </p:nvSpPr>
        <p:spPr bwMode="auto">
          <a:xfrm>
            <a:off x="3857625" y="320198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725" name="Line 1075"/>
          <p:cNvSpPr>
            <a:spLocks noChangeShapeType="1"/>
          </p:cNvSpPr>
          <p:nvPr/>
        </p:nvSpPr>
        <p:spPr bwMode="auto">
          <a:xfrm>
            <a:off x="3933825" y="320198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726" name="Line 1076"/>
          <p:cNvSpPr>
            <a:spLocks noChangeShapeType="1"/>
          </p:cNvSpPr>
          <p:nvPr/>
        </p:nvSpPr>
        <p:spPr bwMode="auto">
          <a:xfrm>
            <a:off x="4010025" y="320198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727" name="Line 1077"/>
          <p:cNvSpPr>
            <a:spLocks noChangeShapeType="1"/>
          </p:cNvSpPr>
          <p:nvPr/>
        </p:nvSpPr>
        <p:spPr bwMode="auto">
          <a:xfrm>
            <a:off x="4086225" y="320198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728" name="Line 1078"/>
          <p:cNvSpPr>
            <a:spLocks noChangeShapeType="1"/>
          </p:cNvSpPr>
          <p:nvPr/>
        </p:nvSpPr>
        <p:spPr bwMode="auto">
          <a:xfrm>
            <a:off x="4162425" y="320198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729" name="Text Box 1079"/>
          <p:cNvSpPr txBox="1">
            <a:spLocks noChangeArrowheads="1"/>
          </p:cNvSpPr>
          <p:nvPr/>
        </p:nvSpPr>
        <p:spPr bwMode="auto">
          <a:xfrm>
            <a:off x="3552825" y="2973388"/>
            <a:ext cx="268287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b="1"/>
              <a:t>7</a:t>
            </a:r>
          </a:p>
        </p:txBody>
      </p:sp>
      <p:sp>
        <p:nvSpPr>
          <p:cNvPr id="284730" name="Text Box 1080"/>
          <p:cNvSpPr txBox="1">
            <a:spLocks noChangeArrowheads="1"/>
          </p:cNvSpPr>
          <p:nvPr/>
        </p:nvSpPr>
        <p:spPr bwMode="auto">
          <a:xfrm>
            <a:off x="4086225" y="2973388"/>
            <a:ext cx="268287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b="1"/>
              <a:t>0</a:t>
            </a:r>
          </a:p>
        </p:txBody>
      </p:sp>
      <p:sp>
        <p:nvSpPr>
          <p:cNvPr id="284731" name="Line 1081"/>
          <p:cNvSpPr>
            <a:spLocks noChangeShapeType="1"/>
          </p:cNvSpPr>
          <p:nvPr/>
        </p:nvSpPr>
        <p:spPr bwMode="auto">
          <a:xfrm>
            <a:off x="3629025" y="35067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32" name="Line 1082"/>
          <p:cNvSpPr>
            <a:spLocks noChangeShapeType="1"/>
          </p:cNvSpPr>
          <p:nvPr/>
        </p:nvSpPr>
        <p:spPr bwMode="auto">
          <a:xfrm>
            <a:off x="3629025" y="36591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33" name="Line 1083"/>
          <p:cNvSpPr>
            <a:spLocks noChangeShapeType="1"/>
          </p:cNvSpPr>
          <p:nvPr/>
        </p:nvSpPr>
        <p:spPr bwMode="auto">
          <a:xfrm>
            <a:off x="3629025" y="38115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34" name="Line 1084"/>
          <p:cNvSpPr>
            <a:spLocks noChangeShapeType="1"/>
          </p:cNvSpPr>
          <p:nvPr/>
        </p:nvSpPr>
        <p:spPr bwMode="auto">
          <a:xfrm>
            <a:off x="3629025" y="39639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35" name="Line 1085"/>
          <p:cNvSpPr>
            <a:spLocks noChangeShapeType="1"/>
          </p:cNvSpPr>
          <p:nvPr/>
        </p:nvSpPr>
        <p:spPr bwMode="auto">
          <a:xfrm>
            <a:off x="3629025" y="41163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36" name="Line 1086"/>
          <p:cNvSpPr>
            <a:spLocks noChangeShapeType="1"/>
          </p:cNvSpPr>
          <p:nvPr/>
        </p:nvSpPr>
        <p:spPr bwMode="auto">
          <a:xfrm>
            <a:off x="3629025" y="42687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37" name="Line 1087"/>
          <p:cNvSpPr>
            <a:spLocks noChangeShapeType="1"/>
          </p:cNvSpPr>
          <p:nvPr/>
        </p:nvSpPr>
        <p:spPr bwMode="auto">
          <a:xfrm>
            <a:off x="3629025" y="44211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38" name="Line 1088"/>
          <p:cNvSpPr>
            <a:spLocks noChangeShapeType="1"/>
          </p:cNvSpPr>
          <p:nvPr/>
        </p:nvSpPr>
        <p:spPr bwMode="auto">
          <a:xfrm>
            <a:off x="3629025" y="45735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39" name="Line 1089"/>
          <p:cNvSpPr>
            <a:spLocks noChangeShapeType="1"/>
          </p:cNvSpPr>
          <p:nvPr/>
        </p:nvSpPr>
        <p:spPr bwMode="auto">
          <a:xfrm>
            <a:off x="3629025" y="47259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40" name="Line 1090"/>
          <p:cNvSpPr>
            <a:spLocks noChangeShapeType="1"/>
          </p:cNvSpPr>
          <p:nvPr/>
        </p:nvSpPr>
        <p:spPr bwMode="auto">
          <a:xfrm>
            <a:off x="3629025" y="48783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41" name="Line 1091"/>
          <p:cNvSpPr>
            <a:spLocks noChangeShapeType="1"/>
          </p:cNvSpPr>
          <p:nvPr/>
        </p:nvSpPr>
        <p:spPr bwMode="auto">
          <a:xfrm>
            <a:off x="3629025" y="50307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42" name="Line 1092"/>
          <p:cNvSpPr>
            <a:spLocks noChangeShapeType="1"/>
          </p:cNvSpPr>
          <p:nvPr/>
        </p:nvSpPr>
        <p:spPr bwMode="auto">
          <a:xfrm>
            <a:off x="3629025" y="51831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43" name="Line 1093"/>
          <p:cNvSpPr>
            <a:spLocks noChangeShapeType="1"/>
          </p:cNvSpPr>
          <p:nvPr/>
        </p:nvSpPr>
        <p:spPr bwMode="auto">
          <a:xfrm>
            <a:off x="3629025" y="53355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44" name="Line 1094"/>
          <p:cNvSpPr>
            <a:spLocks noChangeShapeType="1"/>
          </p:cNvSpPr>
          <p:nvPr/>
        </p:nvSpPr>
        <p:spPr bwMode="auto">
          <a:xfrm>
            <a:off x="3629025" y="57927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45" name="Line 1095"/>
          <p:cNvSpPr>
            <a:spLocks noChangeShapeType="1"/>
          </p:cNvSpPr>
          <p:nvPr/>
        </p:nvSpPr>
        <p:spPr bwMode="auto">
          <a:xfrm>
            <a:off x="3629025" y="59451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46" name="Line 1096"/>
          <p:cNvSpPr>
            <a:spLocks noChangeShapeType="1"/>
          </p:cNvSpPr>
          <p:nvPr/>
        </p:nvSpPr>
        <p:spPr bwMode="auto">
          <a:xfrm>
            <a:off x="3629025" y="60975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47" name="Text Box 1097"/>
          <p:cNvSpPr txBox="1">
            <a:spLocks noChangeArrowheads="1"/>
          </p:cNvSpPr>
          <p:nvPr/>
        </p:nvSpPr>
        <p:spPr bwMode="auto">
          <a:xfrm>
            <a:off x="3801531" y="4069477"/>
            <a:ext cx="263000" cy="24622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284748" name="Text Box 1098"/>
          <p:cNvSpPr txBox="1">
            <a:spLocks noChangeArrowheads="1"/>
          </p:cNvSpPr>
          <p:nvPr/>
        </p:nvSpPr>
        <p:spPr bwMode="auto">
          <a:xfrm>
            <a:off x="3201987" y="4070350"/>
            <a:ext cx="261938" cy="2444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284749" name="Text Box 1099"/>
          <p:cNvSpPr txBox="1">
            <a:spLocks noChangeArrowheads="1"/>
          </p:cNvSpPr>
          <p:nvPr/>
        </p:nvSpPr>
        <p:spPr bwMode="auto">
          <a:xfrm>
            <a:off x="3794387" y="4229815"/>
            <a:ext cx="263000" cy="24622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284750" name="Text Box 1100"/>
          <p:cNvSpPr txBox="1">
            <a:spLocks noChangeArrowheads="1"/>
          </p:cNvSpPr>
          <p:nvPr/>
        </p:nvSpPr>
        <p:spPr bwMode="auto">
          <a:xfrm>
            <a:off x="3208599" y="4221877"/>
            <a:ext cx="263000" cy="24622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284751" name="Text Box 1101"/>
          <p:cNvSpPr txBox="1">
            <a:spLocks noChangeArrowheads="1"/>
          </p:cNvSpPr>
          <p:nvPr/>
        </p:nvSpPr>
        <p:spPr bwMode="auto">
          <a:xfrm>
            <a:off x="3795974" y="4374277"/>
            <a:ext cx="263000" cy="24622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284752" name="Text Box 1102"/>
          <p:cNvSpPr txBox="1">
            <a:spLocks noChangeArrowheads="1"/>
          </p:cNvSpPr>
          <p:nvPr/>
        </p:nvSpPr>
        <p:spPr bwMode="auto">
          <a:xfrm>
            <a:off x="3214949" y="4366340"/>
            <a:ext cx="263000" cy="24622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284753" name="Line 1103"/>
          <p:cNvSpPr>
            <a:spLocks noChangeShapeType="1"/>
          </p:cNvSpPr>
          <p:nvPr/>
        </p:nvSpPr>
        <p:spPr bwMode="auto">
          <a:xfrm>
            <a:off x="3629025" y="5453063"/>
            <a:ext cx="0" cy="1873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54" name="Line 1104"/>
          <p:cNvSpPr>
            <a:spLocks noChangeShapeType="1"/>
          </p:cNvSpPr>
          <p:nvPr/>
        </p:nvSpPr>
        <p:spPr bwMode="auto">
          <a:xfrm>
            <a:off x="4243387" y="5427663"/>
            <a:ext cx="0" cy="1873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55" name="Rectangle 1105"/>
          <p:cNvSpPr>
            <a:spLocks noChangeArrowheads="1"/>
          </p:cNvSpPr>
          <p:nvPr/>
        </p:nvSpPr>
        <p:spPr bwMode="auto">
          <a:xfrm>
            <a:off x="3013075" y="3201988"/>
            <a:ext cx="609600" cy="3048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84756" name="AutoShape 1106"/>
          <p:cNvSpPr>
            <a:spLocks noChangeArrowheads="1"/>
          </p:cNvSpPr>
          <p:nvPr/>
        </p:nvSpPr>
        <p:spPr bwMode="auto">
          <a:xfrm>
            <a:off x="3013075" y="5411788"/>
            <a:ext cx="609600" cy="228600"/>
          </a:xfrm>
          <a:prstGeom prst="flowChartPunchedTap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84757" name="Line 1107"/>
          <p:cNvSpPr>
            <a:spLocks noChangeShapeType="1"/>
          </p:cNvSpPr>
          <p:nvPr/>
        </p:nvSpPr>
        <p:spPr bwMode="auto">
          <a:xfrm>
            <a:off x="3013075" y="33543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58" name="Line 1108"/>
          <p:cNvSpPr>
            <a:spLocks noChangeShapeType="1"/>
          </p:cNvSpPr>
          <p:nvPr/>
        </p:nvSpPr>
        <p:spPr bwMode="auto">
          <a:xfrm>
            <a:off x="3089275" y="320198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759" name="Line 1109"/>
          <p:cNvSpPr>
            <a:spLocks noChangeShapeType="1"/>
          </p:cNvSpPr>
          <p:nvPr/>
        </p:nvSpPr>
        <p:spPr bwMode="auto">
          <a:xfrm>
            <a:off x="3165475" y="320198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760" name="Line 1110"/>
          <p:cNvSpPr>
            <a:spLocks noChangeShapeType="1"/>
          </p:cNvSpPr>
          <p:nvPr/>
        </p:nvSpPr>
        <p:spPr bwMode="auto">
          <a:xfrm>
            <a:off x="3241675" y="320198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761" name="Line 1111"/>
          <p:cNvSpPr>
            <a:spLocks noChangeShapeType="1"/>
          </p:cNvSpPr>
          <p:nvPr/>
        </p:nvSpPr>
        <p:spPr bwMode="auto">
          <a:xfrm>
            <a:off x="3317875" y="320198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762" name="Line 1112"/>
          <p:cNvSpPr>
            <a:spLocks noChangeShapeType="1"/>
          </p:cNvSpPr>
          <p:nvPr/>
        </p:nvSpPr>
        <p:spPr bwMode="auto">
          <a:xfrm>
            <a:off x="3394075" y="320198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763" name="Line 1113"/>
          <p:cNvSpPr>
            <a:spLocks noChangeShapeType="1"/>
          </p:cNvSpPr>
          <p:nvPr/>
        </p:nvSpPr>
        <p:spPr bwMode="auto">
          <a:xfrm>
            <a:off x="3470275" y="320198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764" name="Line 1114"/>
          <p:cNvSpPr>
            <a:spLocks noChangeShapeType="1"/>
          </p:cNvSpPr>
          <p:nvPr/>
        </p:nvSpPr>
        <p:spPr bwMode="auto">
          <a:xfrm>
            <a:off x="3546475" y="320198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765" name="Text Box 1115"/>
          <p:cNvSpPr txBox="1">
            <a:spLocks noChangeArrowheads="1"/>
          </p:cNvSpPr>
          <p:nvPr/>
        </p:nvSpPr>
        <p:spPr bwMode="auto">
          <a:xfrm>
            <a:off x="2817812" y="2973388"/>
            <a:ext cx="352425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b="1"/>
              <a:t>15</a:t>
            </a:r>
          </a:p>
        </p:txBody>
      </p:sp>
      <p:sp>
        <p:nvSpPr>
          <p:cNvPr id="284766" name="Text Box 1116"/>
          <p:cNvSpPr txBox="1">
            <a:spLocks noChangeArrowheads="1"/>
          </p:cNvSpPr>
          <p:nvPr/>
        </p:nvSpPr>
        <p:spPr bwMode="auto">
          <a:xfrm>
            <a:off x="3440112" y="2973388"/>
            <a:ext cx="268288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b="1"/>
              <a:t>8</a:t>
            </a:r>
          </a:p>
        </p:txBody>
      </p:sp>
      <p:sp>
        <p:nvSpPr>
          <p:cNvPr id="284767" name="Line 1117"/>
          <p:cNvSpPr>
            <a:spLocks noChangeShapeType="1"/>
          </p:cNvSpPr>
          <p:nvPr/>
        </p:nvSpPr>
        <p:spPr bwMode="auto">
          <a:xfrm>
            <a:off x="3013075" y="35067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68" name="Line 1118"/>
          <p:cNvSpPr>
            <a:spLocks noChangeShapeType="1"/>
          </p:cNvSpPr>
          <p:nvPr/>
        </p:nvSpPr>
        <p:spPr bwMode="auto">
          <a:xfrm>
            <a:off x="3013075" y="36591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69" name="Line 1119"/>
          <p:cNvSpPr>
            <a:spLocks noChangeShapeType="1"/>
          </p:cNvSpPr>
          <p:nvPr/>
        </p:nvSpPr>
        <p:spPr bwMode="auto">
          <a:xfrm>
            <a:off x="3013075" y="38115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70" name="Line 1120"/>
          <p:cNvSpPr>
            <a:spLocks noChangeShapeType="1"/>
          </p:cNvSpPr>
          <p:nvPr/>
        </p:nvSpPr>
        <p:spPr bwMode="auto">
          <a:xfrm>
            <a:off x="3013075" y="39639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71" name="Line 1121"/>
          <p:cNvSpPr>
            <a:spLocks noChangeShapeType="1"/>
          </p:cNvSpPr>
          <p:nvPr/>
        </p:nvSpPr>
        <p:spPr bwMode="auto">
          <a:xfrm>
            <a:off x="3013075" y="41163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72" name="Line 1122"/>
          <p:cNvSpPr>
            <a:spLocks noChangeShapeType="1"/>
          </p:cNvSpPr>
          <p:nvPr/>
        </p:nvSpPr>
        <p:spPr bwMode="auto">
          <a:xfrm>
            <a:off x="3013075" y="42687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73" name="Line 1123"/>
          <p:cNvSpPr>
            <a:spLocks noChangeShapeType="1"/>
          </p:cNvSpPr>
          <p:nvPr/>
        </p:nvSpPr>
        <p:spPr bwMode="auto">
          <a:xfrm>
            <a:off x="3013075" y="44211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74" name="Line 1124"/>
          <p:cNvSpPr>
            <a:spLocks noChangeShapeType="1"/>
          </p:cNvSpPr>
          <p:nvPr/>
        </p:nvSpPr>
        <p:spPr bwMode="auto">
          <a:xfrm>
            <a:off x="3013075" y="45735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75" name="Line 1125"/>
          <p:cNvSpPr>
            <a:spLocks noChangeShapeType="1"/>
          </p:cNvSpPr>
          <p:nvPr/>
        </p:nvSpPr>
        <p:spPr bwMode="auto">
          <a:xfrm>
            <a:off x="3013075" y="47259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76" name="Line 1126"/>
          <p:cNvSpPr>
            <a:spLocks noChangeShapeType="1"/>
          </p:cNvSpPr>
          <p:nvPr/>
        </p:nvSpPr>
        <p:spPr bwMode="auto">
          <a:xfrm>
            <a:off x="3013075" y="48783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77" name="Line 1127"/>
          <p:cNvSpPr>
            <a:spLocks noChangeShapeType="1"/>
          </p:cNvSpPr>
          <p:nvPr/>
        </p:nvSpPr>
        <p:spPr bwMode="auto">
          <a:xfrm>
            <a:off x="3013075" y="50307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78" name="Line 1128"/>
          <p:cNvSpPr>
            <a:spLocks noChangeShapeType="1"/>
          </p:cNvSpPr>
          <p:nvPr/>
        </p:nvSpPr>
        <p:spPr bwMode="auto">
          <a:xfrm>
            <a:off x="3013075" y="51831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79" name="Line 1129"/>
          <p:cNvSpPr>
            <a:spLocks noChangeShapeType="1"/>
          </p:cNvSpPr>
          <p:nvPr/>
        </p:nvSpPr>
        <p:spPr bwMode="auto">
          <a:xfrm>
            <a:off x="3013075" y="53355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80" name="Line 1130"/>
          <p:cNvSpPr>
            <a:spLocks noChangeShapeType="1"/>
          </p:cNvSpPr>
          <p:nvPr/>
        </p:nvSpPr>
        <p:spPr bwMode="auto">
          <a:xfrm>
            <a:off x="3013075" y="57927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81" name="Line 1131"/>
          <p:cNvSpPr>
            <a:spLocks noChangeShapeType="1"/>
          </p:cNvSpPr>
          <p:nvPr/>
        </p:nvSpPr>
        <p:spPr bwMode="auto">
          <a:xfrm>
            <a:off x="3013075" y="59451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82" name="Line 1132"/>
          <p:cNvSpPr>
            <a:spLocks noChangeShapeType="1"/>
          </p:cNvSpPr>
          <p:nvPr/>
        </p:nvSpPr>
        <p:spPr bwMode="auto">
          <a:xfrm>
            <a:off x="3013075" y="60975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83" name="Line 1133"/>
          <p:cNvSpPr>
            <a:spLocks noChangeShapeType="1"/>
          </p:cNvSpPr>
          <p:nvPr/>
        </p:nvSpPr>
        <p:spPr bwMode="auto">
          <a:xfrm>
            <a:off x="3013075" y="5453063"/>
            <a:ext cx="0" cy="1873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84" name="Line 1134"/>
          <p:cNvSpPr>
            <a:spLocks noChangeShapeType="1"/>
          </p:cNvSpPr>
          <p:nvPr/>
        </p:nvSpPr>
        <p:spPr bwMode="auto">
          <a:xfrm>
            <a:off x="3627437" y="5427663"/>
            <a:ext cx="0" cy="1873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85" name="Text Box 1135"/>
          <p:cNvSpPr txBox="1">
            <a:spLocks noChangeArrowheads="1"/>
          </p:cNvSpPr>
          <p:nvPr/>
        </p:nvSpPr>
        <p:spPr bwMode="auto">
          <a:xfrm>
            <a:off x="3910012" y="2754313"/>
            <a:ext cx="387350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b="1"/>
              <a:t>Bit</a:t>
            </a:r>
          </a:p>
        </p:txBody>
      </p:sp>
      <p:sp>
        <p:nvSpPr>
          <p:cNvPr id="284786" name="Text Box 1136"/>
          <p:cNvSpPr txBox="1">
            <a:spLocks noChangeArrowheads="1"/>
          </p:cNvSpPr>
          <p:nvPr/>
        </p:nvSpPr>
        <p:spPr bwMode="auto">
          <a:xfrm>
            <a:off x="4241800" y="3125788"/>
            <a:ext cx="773112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b="1" dirty="0"/>
              <a:t>0x00000</a:t>
            </a:r>
          </a:p>
        </p:txBody>
      </p:sp>
      <p:sp>
        <p:nvSpPr>
          <p:cNvPr id="284787" name="Text Box 1137"/>
          <p:cNvSpPr txBox="1">
            <a:spLocks noChangeArrowheads="1"/>
          </p:cNvSpPr>
          <p:nvPr/>
        </p:nvSpPr>
        <p:spPr bwMode="auto">
          <a:xfrm>
            <a:off x="2112962" y="3141662"/>
            <a:ext cx="773112" cy="27463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b="1" dirty="0"/>
              <a:t>0x00001</a:t>
            </a:r>
          </a:p>
        </p:txBody>
      </p:sp>
      <p:sp>
        <p:nvSpPr>
          <p:cNvPr id="284788" name="Text Box 1138"/>
          <p:cNvSpPr txBox="1">
            <a:spLocks noChangeArrowheads="1"/>
          </p:cNvSpPr>
          <p:nvPr/>
        </p:nvSpPr>
        <p:spPr bwMode="auto">
          <a:xfrm>
            <a:off x="4192587" y="6037263"/>
            <a:ext cx="828675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b="1" dirty="0"/>
              <a:t>0xFFFFE</a:t>
            </a:r>
          </a:p>
        </p:txBody>
      </p:sp>
      <p:sp>
        <p:nvSpPr>
          <p:cNvPr id="284789" name="Text Box 1139"/>
          <p:cNvSpPr txBox="1">
            <a:spLocks noChangeArrowheads="1"/>
          </p:cNvSpPr>
          <p:nvPr/>
        </p:nvSpPr>
        <p:spPr bwMode="auto">
          <a:xfrm>
            <a:off x="2030412" y="6062663"/>
            <a:ext cx="820738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b="1"/>
              <a:t>0xFFFFF</a:t>
            </a:r>
          </a:p>
        </p:txBody>
      </p:sp>
      <p:sp>
        <p:nvSpPr>
          <p:cNvPr id="284790" name="Text Box 1140"/>
          <p:cNvSpPr txBox="1">
            <a:spLocks noChangeArrowheads="1"/>
          </p:cNvSpPr>
          <p:nvPr/>
        </p:nvSpPr>
        <p:spPr bwMode="auto">
          <a:xfrm>
            <a:off x="4233862" y="4100513"/>
            <a:ext cx="1252538" cy="11588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 dirty="0"/>
              <a:t>Byte Addressable</a:t>
            </a:r>
          </a:p>
          <a:p>
            <a:pPr algn="ctr"/>
            <a:r>
              <a:rPr lang="en-US" sz="1000" b="1" dirty="0"/>
              <a:t> memory for a</a:t>
            </a:r>
          </a:p>
          <a:p>
            <a:pPr algn="ctr"/>
            <a:r>
              <a:rPr lang="en-US" sz="1000" b="1" dirty="0"/>
              <a:t>16-bit processor</a:t>
            </a:r>
          </a:p>
          <a:p>
            <a:pPr algn="ctr"/>
            <a:r>
              <a:rPr lang="en-US" sz="1000" b="1" dirty="0"/>
              <a:t>with a 20-bit </a:t>
            </a:r>
          </a:p>
          <a:p>
            <a:pPr algn="ctr"/>
            <a:r>
              <a:rPr lang="en-US" sz="1000" b="1" dirty="0"/>
              <a:t>addressing range</a:t>
            </a:r>
          </a:p>
          <a:p>
            <a:pPr algn="ctr"/>
            <a:r>
              <a:rPr lang="en-US" sz="1000" b="1" dirty="0"/>
              <a:t>Intel 80186</a:t>
            </a:r>
          </a:p>
          <a:p>
            <a:pPr algn="ctr"/>
            <a:r>
              <a:rPr lang="en-US" sz="1000" b="1" i="1" dirty="0"/>
              <a:t>Little Endian</a:t>
            </a:r>
            <a:endParaRPr lang="en-US" sz="1000" b="1" dirty="0"/>
          </a:p>
        </p:txBody>
      </p:sp>
      <p:sp>
        <p:nvSpPr>
          <p:cNvPr id="284791" name="Rectangle 1141"/>
          <p:cNvSpPr>
            <a:spLocks noChangeArrowheads="1"/>
          </p:cNvSpPr>
          <p:nvPr/>
        </p:nvSpPr>
        <p:spPr bwMode="auto">
          <a:xfrm>
            <a:off x="7159625" y="3190875"/>
            <a:ext cx="609600" cy="3048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84792" name="AutoShape 1142"/>
          <p:cNvSpPr>
            <a:spLocks noChangeArrowheads="1"/>
          </p:cNvSpPr>
          <p:nvPr/>
        </p:nvSpPr>
        <p:spPr bwMode="auto">
          <a:xfrm>
            <a:off x="7159625" y="5400675"/>
            <a:ext cx="609600" cy="228600"/>
          </a:xfrm>
          <a:prstGeom prst="flowChartPunchedTap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84793" name="Line 1143"/>
          <p:cNvSpPr>
            <a:spLocks noChangeShapeType="1"/>
          </p:cNvSpPr>
          <p:nvPr/>
        </p:nvSpPr>
        <p:spPr bwMode="auto">
          <a:xfrm>
            <a:off x="7159625" y="334327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94" name="Line 1144"/>
          <p:cNvSpPr>
            <a:spLocks noChangeShapeType="1"/>
          </p:cNvSpPr>
          <p:nvPr/>
        </p:nvSpPr>
        <p:spPr bwMode="auto">
          <a:xfrm>
            <a:off x="7235825" y="3190875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795" name="Line 1145"/>
          <p:cNvSpPr>
            <a:spLocks noChangeShapeType="1"/>
          </p:cNvSpPr>
          <p:nvPr/>
        </p:nvSpPr>
        <p:spPr bwMode="auto">
          <a:xfrm>
            <a:off x="7312025" y="3190875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796" name="Line 1146"/>
          <p:cNvSpPr>
            <a:spLocks noChangeShapeType="1"/>
          </p:cNvSpPr>
          <p:nvPr/>
        </p:nvSpPr>
        <p:spPr bwMode="auto">
          <a:xfrm>
            <a:off x="7388225" y="3190875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797" name="Line 1147"/>
          <p:cNvSpPr>
            <a:spLocks noChangeShapeType="1"/>
          </p:cNvSpPr>
          <p:nvPr/>
        </p:nvSpPr>
        <p:spPr bwMode="auto">
          <a:xfrm>
            <a:off x="7464425" y="3190875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798" name="Line 1148"/>
          <p:cNvSpPr>
            <a:spLocks noChangeShapeType="1"/>
          </p:cNvSpPr>
          <p:nvPr/>
        </p:nvSpPr>
        <p:spPr bwMode="auto">
          <a:xfrm>
            <a:off x="7540625" y="3190875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799" name="Line 1149"/>
          <p:cNvSpPr>
            <a:spLocks noChangeShapeType="1"/>
          </p:cNvSpPr>
          <p:nvPr/>
        </p:nvSpPr>
        <p:spPr bwMode="auto">
          <a:xfrm>
            <a:off x="7616825" y="3190875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800" name="Line 1150"/>
          <p:cNvSpPr>
            <a:spLocks noChangeShapeType="1"/>
          </p:cNvSpPr>
          <p:nvPr/>
        </p:nvSpPr>
        <p:spPr bwMode="auto">
          <a:xfrm>
            <a:off x="7693025" y="3190875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801" name="Text Box 1151"/>
          <p:cNvSpPr txBox="1">
            <a:spLocks noChangeArrowheads="1"/>
          </p:cNvSpPr>
          <p:nvPr/>
        </p:nvSpPr>
        <p:spPr bwMode="auto">
          <a:xfrm>
            <a:off x="7083425" y="2962275"/>
            <a:ext cx="268287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b="1"/>
              <a:t>7</a:t>
            </a:r>
          </a:p>
        </p:txBody>
      </p:sp>
      <p:sp>
        <p:nvSpPr>
          <p:cNvPr id="284802" name="Text Box 1152"/>
          <p:cNvSpPr txBox="1">
            <a:spLocks noChangeArrowheads="1"/>
          </p:cNvSpPr>
          <p:nvPr/>
        </p:nvSpPr>
        <p:spPr bwMode="auto">
          <a:xfrm>
            <a:off x="7616825" y="2962275"/>
            <a:ext cx="268287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b="1"/>
              <a:t>0</a:t>
            </a:r>
          </a:p>
        </p:txBody>
      </p:sp>
      <p:sp>
        <p:nvSpPr>
          <p:cNvPr id="284803" name="Line 1153"/>
          <p:cNvSpPr>
            <a:spLocks noChangeShapeType="1"/>
          </p:cNvSpPr>
          <p:nvPr/>
        </p:nvSpPr>
        <p:spPr bwMode="auto">
          <a:xfrm>
            <a:off x="7159625" y="349567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04" name="Line 1154"/>
          <p:cNvSpPr>
            <a:spLocks noChangeShapeType="1"/>
          </p:cNvSpPr>
          <p:nvPr/>
        </p:nvSpPr>
        <p:spPr bwMode="auto">
          <a:xfrm>
            <a:off x="7159625" y="364807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05" name="Line 1155"/>
          <p:cNvSpPr>
            <a:spLocks noChangeShapeType="1"/>
          </p:cNvSpPr>
          <p:nvPr/>
        </p:nvSpPr>
        <p:spPr bwMode="auto">
          <a:xfrm>
            <a:off x="7159625" y="380047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06" name="Line 1156"/>
          <p:cNvSpPr>
            <a:spLocks noChangeShapeType="1"/>
          </p:cNvSpPr>
          <p:nvPr/>
        </p:nvSpPr>
        <p:spPr bwMode="auto">
          <a:xfrm>
            <a:off x="7159625" y="395287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07" name="Line 1157"/>
          <p:cNvSpPr>
            <a:spLocks noChangeShapeType="1"/>
          </p:cNvSpPr>
          <p:nvPr/>
        </p:nvSpPr>
        <p:spPr bwMode="auto">
          <a:xfrm>
            <a:off x="7159625" y="410527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08" name="Line 1158"/>
          <p:cNvSpPr>
            <a:spLocks noChangeShapeType="1"/>
          </p:cNvSpPr>
          <p:nvPr/>
        </p:nvSpPr>
        <p:spPr bwMode="auto">
          <a:xfrm>
            <a:off x="7159625" y="425767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09" name="Line 1159"/>
          <p:cNvSpPr>
            <a:spLocks noChangeShapeType="1"/>
          </p:cNvSpPr>
          <p:nvPr/>
        </p:nvSpPr>
        <p:spPr bwMode="auto">
          <a:xfrm>
            <a:off x="7159625" y="441007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10" name="Line 1160"/>
          <p:cNvSpPr>
            <a:spLocks noChangeShapeType="1"/>
          </p:cNvSpPr>
          <p:nvPr/>
        </p:nvSpPr>
        <p:spPr bwMode="auto">
          <a:xfrm>
            <a:off x="7159625" y="456247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11" name="Line 1161"/>
          <p:cNvSpPr>
            <a:spLocks noChangeShapeType="1"/>
          </p:cNvSpPr>
          <p:nvPr/>
        </p:nvSpPr>
        <p:spPr bwMode="auto">
          <a:xfrm>
            <a:off x="7159625" y="471487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12" name="Line 1162"/>
          <p:cNvSpPr>
            <a:spLocks noChangeShapeType="1"/>
          </p:cNvSpPr>
          <p:nvPr/>
        </p:nvSpPr>
        <p:spPr bwMode="auto">
          <a:xfrm>
            <a:off x="7159625" y="486727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13" name="Line 1163"/>
          <p:cNvSpPr>
            <a:spLocks noChangeShapeType="1"/>
          </p:cNvSpPr>
          <p:nvPr/>
        </p:nvSpPr>
        <p:spPr bwMode="auto">
          <a:xfrm>
            <a:off x="7159625" y="501967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14" name="Line 1164"/>
          <p:cNvSpPr>
            <a:spLocks noChangeShapeType="1"/>
          </p:cNvSpPr>
          <p:nvPr/>
        </p:nvSpPr>
        <p:spPr bwMode="auto">
          <a:xfrm>
            <a:off x="7159625" y="517207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15" name="Line 1165"/>
          <p:cNvSpPr>
            <a:spLocks noChangeShapeType="1"/>
          </p:cNvSpPr>
          <p:nvPr/>
        </p:nvSpPr>
        <p:spPr bwMode="auto">
          <a:xfrm>
            <a:off x="7159625" y="532447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16" name="Line 1166"/>
          <p:cNvSpPr>
            <a:spLocks noChangeShapeType="1"/>
          </p:cNvSpPr>
          <p:nvPr/>
        </p:nvSpPr>
        <p:spPr bwMode="auto">
          <a:xfrm>
            <a:off x="7159625" y="578167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17" name="Line 1167"/>
          <p:cNvSpPr>
            <a:spLocks noChangeShapeType="1"/>
          </p:cNvSpPr>
          <p:nvPr/>
        </p:nvSpPr>
        <p:spPr bwMode="auto">
          <a:xfrm>
            <a:off x="7159625" y="593407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18" name="Line 1168"/>
          <p:cNvSpPr>
            <a:spLocks noChangeShapeType="1"/>
          </p:cNvSpPr>
          <p:nvPr/>
        </p:nvSpPr>
        <p:spPr bwMode="auto">
          <a:xfrm>
            <a:off x="7159625" y="608647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19" name="Text Box 1169"/>
          <p:cNvSpPr txBox="1">
            <a:spLocks noChangeArrowheads="1"/>
          </p:cNvSpPr>
          <p:nvPr/>
        </p:nvSpPr>
        <p:spPr bwMode="auto">
          <a:xfrm>
            <a:off x="6738937" y="4059237"/>
            <a:ext cx="268288" cy="2444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284820" name="Text Box 1170"/>
          <p:cNvSpPr txBox="1">
            <a:spLocks noChangeArrowheads="1"/>
          </p:cNvSpPr>
          <p:nvPr/>
        </p:nvSpPr>
        <p:spPr bwMode="auto">
          <a:xfrm>
            <a:off x="7290856" y="4069477"/>
            <a:ext cx="263000" cy="24622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284821" name="Text Box 1171"/>
          <p:cNvSpPr txBox="1">
            <a:spLocks noChangeArrowheads="1"/>
          </p:cNvSpPr>
          <p:nvPr/>
        </p:nvSpPr>
        <p:spPr bwMode="auto">
          <a:xfrm>
            <a:off x="6743962" y="4218702"/>
            <a:ext cx="263000" cy="24622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284822" name="Text Box 1172"/>
          <p:cNvSpPr txBox="1">
            <a:spLocks noChangeArrowheads="1"/>
          </p:cNvSpPr>
          <p:nvPr/>
        </p:nvSpPr>
        <p:spPr bwMode="auto">
          <a:xfrm>
            <a:off x="7297999" y="4221877"/>
            <a:ext cx="263000" cy="24622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284823" name="Text Box 1173"/>
          <p:cNvSpPr txBox="1">
            <a:spLocks noChangeArrowheads="1"/>
          </p:cNvSpPr>
          <p:nvPr/>
        </p:nvSpPr>
        <p:spPr bwMode="auto">
          <a:xfrm>
            <a:off x="6736024" y="4393327"/>
            <a:ext cx="263000" cy="24622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284824" name="Text Box 1174"/>
          <p:cNvSpPr txBox="1">
            <a:spLocks noChangeArrowheads="1"/>
          </p:cNvSpPr>
          <p:nvPr/>
        </p:nvSpPr>
        <p:spPr bwMode="auto">
          <a:xfrm>
            <a:off x="7304349" y="4366339"/>
            <a:ext cx="263000" cy="24622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284825" name="Line 1175"/>
          <p:cNvSpPr>
            <a:spLocks noChangeShapeType="1"/>
          </p:cNvSpPr>
          <p:nvPr/>
        </p:nvSpPr>
        <p:spPr bwMode="auto">
          <a:xfrm>
            <a:off x="7159625" y="5441950"/>
            <a:ext cx="0" cy="1873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26" name="Line 1176"/>
          <p:cNvSpPr>
            <a:spLocks noChangeShapeType="1"/>
          </p:cNvSpPr>
          <p:nvPr/>
        </p:nvSpPr>
        <p:spPr bwMode="auto">
          <a:xfrm>
            <a:off x="7773987" y="5416550"/>
            <a:ext cx="0" cy="1873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27" name="Rectangle 1177"/>
          <p:cNvSpPr>
            <a:spLocks noChangeArrowheads="1"/>
          </p:cNvSpPr>
          <p:nvPr/>
        </p:nvSpPr>
        <p:spPr bwMode="auto">
          <a:xfrm>
            <a:off x="6543675" y="3190875"/>
            <a:ext cx="609600" cy="3048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84828" name="AutoShape 1178"/>
          <p:cNvSpPr>
            <a:spLocks noChangeArrowheads="1"/>
          </p:cNvSpPr>
          <p:nvPr/>
        </p:nvSpPr>
        <p:spPr bwMode="auto">
          <a:xfrm>
            <a:off x="6543675" y="5400675"/>
            <a:ext cx="609600" cy="228600"/>
          </a:xfrm>
          <a:prstGeom prst="flowChartPunchedTap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84829" name="Line 1179"/>
          <p:cNvSpPr>
            <a:spLocks noChangeShapeType="1"/>
          </p:cNvSpPr>
          <p:nvPr/>
        </p:nvSpPr>
        <p:spPr bwMode="auto">
          <a:xfrm>
            <a:off x="6543675" y="334327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30" name="Line 1180"/>
          <p:cNvSpPr>
            <a:spLocks noChangeShapeType="1"/>
          </p:cNvSpPr>
          <p:nvPr/>
        </p:nvSpPr>
        <p:spPr bwMode="auto">
          <a:xfrm>
            <a:off x="6619875" y="3190875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831" name="Line 1181"/>
          <p:cNvSpPr>
            <a:spLocks noChangeShapeType="1"/>
          </p:cNvSpPr>
          <p:nvPr/>
        </p:nvSpPr>
        <p:spPr bwMode="auto">
          <a:xfrm>
            <a:off x="6696075" y="3190875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832" name="Line 1182"/>
          <p:cNvSpPr>
            <a:spLocks noChangeShapeType="1"/>
          </p:cNvSpPr>
          <p:nvPr/>
        </p:nvSpPr>
        <p:spPr bwMode="auto">
          <a:xfrm>
            <a:off x="6772275" y="3190875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833" name="Line 1183"/>
          <p:cNvSpPr>
            <a:spLocks noChangeShapeType="1"/>
          </p:cNvSpPr>
          <p:nvPr/>
        </p:nvSpPr>
        <p:spPr bwMode="auto">
          <a:xfrm>
            <a:off x="6848475" y="3190875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834" name="Line 1184"/>
          <p:cNvSpPr>
            <a:spLocks noChangeShapeType="1"/>
          </p:cNvSpPr>
          <p:nvPr/>
        </p:nvSpPr>
        <p:spPr bwMode="auto">
          <a:xfrm>
            <a:off x="6924675" y="3190875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835" name="Line 1185"/>
          <p:cNvSpPr>
            <a:spLocks noChangeShapeType="1"/>
          </p:cNvSpPr>
          <p:nvPr/>
        </p:nvSpPr>
        <p:spPr bwMode="auto">
          <a:xfrm>
            <a:off x="7000875" y="3190875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836" name="Line 1186"/>
          <p:cNvSpPr>
            <a:spLocks noChangeShapeType="1"/>
          </p:cNvSpPr>
          <p:nvPr/>
        </p:nvSpPr>
        <p:spPr bwMode="auto">
          <a:xfrm>
            <a:off x="7077075" y="3190875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837" name="Text Box 1187"/>
          <p:cNvSpPr txBox="1">
            <a:spLocks noChangeArrowheads="1"/>
          </p:cNvSpPr>
          <p:nvPr/>
        </p:nvSpPr>
        <p:spPr bwMode="auto">
          <a:xfrm>
            <a:off x="6348412" y="2962275"/>
            <a:ext cx="352425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b="1"/>
              <a:t>15</a:t>
            </a:r>
          </a:p>
        </p:txBody>
      </p:sp>
      <p:sp>
        <p:nvSpPr>
          <p:cNvPr id="284838" name="Text Box 1188"/>
          <p:cNvSpPr txBox="1">
            <a:spLocks noChangeArrowheads="1"/>
          </p:cNvSpPr>
          <p:nvPr/>
        </p:nvSpPr>
        <p:spPr bwMode="auto">
          <a:xfrm>
            <a:off x="6970712" y="2962275"/>
            <a:ext cx="268288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b="1"/>
              <a:t>8</a:t>
            </a:r>
          </a:p>
        </p:txBody>
      </p:sp>
      <p:sp>
        <p:nvSpPr>
          <p:cNvPr id="284839" name="Line 1189"/>
          <p:cNvSpPr>
            <a:spLocks noChangeShapeType="1"/>
          </p:cNvSpPr>
          <p:nvPr/>
        </p:nvSpPr>
        <p:spPr bwMode="auto">
          <a:xfrm>
            <a:off x="6543675" y="349567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40" name="Line 1190"/>
          <p:cNvSpPr>
            <a:spLocks noChangeShapeType="1"/>
          </p:cNvSpPr>
          <p:nvPr/>
        </p:nvSpPr>
        <p:spPr bwMode="auto">
          <a:xfrm>
            <a:off x="6543675" y="364807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41" name="Line 1191"/>
          <p:cNvSpPr>
            <a:spLocks noChangeShapeType="1"/>
          </p:cNvSpPr>
          <p:nvPr/>
        </p:nvSpPr>
        <p:spPr bwMode="auto">
          <a:xfrm>
            <a:off x="6543675" y="380047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42" name="Line 1192"/>
          <p:cNvSpPr>
            <a:spLocks noChangeShapeType="1"/>
          </p:cNvSpPr>
          <p:nvPr/>
        </p:nvSpPr>
        <p:spPr bwMode="auto">
          <a:xfrm>
            <a:off x="6543675" y="395287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43" name="Line 1193"/>
          <p:cNvSpPr>
            <a:spLocks noChangeShapeType="1"/>
          </p:cNvSpPr>
          <p:nvPr/>
        </p:nvSpPr>
        <p:spPr bwMode="auto">
          <a:xfrm>
            <a:off x="6543675" y="410527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284844" name="Line 1194"/>
          <p:cNvSpPr>
            <a:spLocks noChangeShapeType="1"/>
          </p:cNvSpPr>
          <p:nvPr/>
        </p:nvSpPr>
        <p:spPr bwMode="auto">
          <a:xfrm>
            <a:off x="6543675" y="425767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284845" name="Line 1195"/>
          <p:cNvSpPr>
            <a:spLocks noChangeShapeType="1"/>
          </p:cNvSpPr>
          <p:nvPr/>
        </p:nvSpPr>
        <p:spPr bwMode="auto">
          <a:xfrm>
            <a:off x="6543675" y="441007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284846" name="Line 1196"/>
          <p:cNvSpPr>
            <a:spLocks noChangeShapeType="1"/>
          </p:cNvSpPr>
          <p:nvPr/>
        </p:nvSpPr>
        <p:spPr bwMode="auto">
          <a:xfrm>
            <a:off x="6543675" y="456247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284847" name="Line 1197"/>
          <p:cNvSpPr>
            <a:spLocks noChangeShapeType="1"/>
          </p:cNvSpPr>
          <p:nvPr/>
        </p:nvSpPr>
        <p:spPr bwMode="auto">
          <a:xfrm>
            <a:off x="6543675" y="471487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284848" name="Line 1198"/>
          <p:cNvSpPr>
            <a:spLocks noChangeShapeType="1"/>
          </p:cNvSpPr>
          <p:nvPr/>
        </p:nvSpPr>
        <p:spPr bwMode="auto">
          <a:xfrm>
            <a:off x="6543675" y="486727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49" name="Line 1199"/>
          <p:cNvSpPr>
            <a:spLocks noChangeShapeType="1"/>
          </p:cNvSpPr>
          <p:nvPr/>
        </p:nvSpPr>
        <p:spPr bwMode="auto">
          <a:xfrm>
            <a:off x="6543675" y="501967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50" name="Line 1200"/>
          <p:cNvSpPr>
            <a:spLocks noChangeShapeType="1"/>
          </p:cNvSpPr>
          <p:nvPr/>
        </p:nvSpPr>
        <p:spPr bwMode="auto">
          <a:xfrm>
            <a:off x="6543675" y="517207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51" name="Line 1201"/>
          <p:cNvSpPr>
            <a:spLocks noChangeShapeType="1"/>
          </p:cNvSpPr>
          <p:nvPr/>
        </p:nvSpPr>
        <p:spPr bwMode="auto">
          <a:xfrm>
            <a:off x="6543675" y="532447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52" name="Line 1202"/>
          <p:cNvSpPr>
            <a:spLocks noChangeShapeType="1"/>
          </p:cNvSpPr>
          <p:nvPr/>
        </p:nvSpPr>
        <p:spPr bwMode="auto">
          <a:xfrm>
            <a:off x="6543675" y="578167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53" name="Line 1203"/>
          <p:cNvSpPr>
            <a:spLocks noChangeShapeType="1"/>
          </p:cNvSpPr>
          <p:nvPr/>
        </p:nvSpPr>
        <p:spPr bwMode="auto">
          <a:xfrm>
            <a:off x="6543675" y="593407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54" name="Line 1204"/>
          <p:cNvSpPr>
            <a:spLocks noChangeShapeType="1"/>
          </p:cNvSpPr>
          <p:nvPr/>
        </p:nvSpPr>
        <p:spPr bwMode="auto">
          <a:xfrm>
            <a:off x="6543675" y="608647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55" name="Line 1205"/>
          <p:cNvSpPr>
            <a:spLocks noChangeShapeType="1"/>
          </p:cNvSpPr>
          <p:nvPr/>
        </p:nvSpPr>
        <p:spPr bwMode="auto">
          <a:xfrm>
            <a:off x="6543675" y="5441950"/>
            <a:ext cx="0" cy="1873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56" name="Line 1206"/>
          <p:cNvSpPr>
            <a:spLocks noChangeShapeType="1"/>
          </p:cNvSpPr>
          <p:nvPr/>
        </p:nvSpPr>
        <p:spPr bwMode="auto">
          <a:xfrm>
            <a:off x="7158037" y="5416550"/>
            <a:ext cx="0" cy="1873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57" name="Text Box 1207"/>
          <p:cNvSpPr txBox="1">
            <a:spLocks noChangeArrowheads="1"/>
          </p:cNvSpPr>
          <p:nvPr/>
        </p:nvSpPr>
        <p:spPr bwMode="auto">
          <a:xfrm>
            <a:off x="7150100" y="2743200"/>
            <a:ext cx="387350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b="1"/>
              <a:t>Bit</a:t>
            </a:r>
          </a:p>
        </p:txBody>
      </p:sp>
      <p:sp>
        <p:nvSpPr>
          <p:cNvPr id="284858" name="Text Box 1208"/>
          <p:cNvSpPr txBox="1">
            <a:spLocks noChangeArrowheads="1"/>
          </p:cNvSpPr>
          <p:nvPr/>
        </p:nvSpPr>
        <p:spPr bwMode="auto">
          <a:xfrm>
            <a:off x="7861300" y="3114675"/>
            <a:ext cx="857250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b="1"/>
              <a:t>0x000001</a:t>
            </a:r>
          </a:p>
        </p:txBody>
      </p:sp>
      <p:sp>
        <p:nvSpPr>
          <p:cNvPr id="284859" name="Text Box 1209"/>
          <p:cNvSpPr txBox="1">
            <a:spLocks noChangeArrowheads="1"/>
          </p:cNvSpPr>
          <p:nvPr/>
        </p:nvSpPr>
        <p:spPr bwMode="auto">
          <a:xfrm>
            <a:off x="5518150" y="3138487"/>
            <a:ext cx="857250" cy="27463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b="1" dirty="0"/>
              <a:t>0x000000</a:t>
            </a:r>
          </a:p>
        </p:txBody>
      </p:sp>
      <p:sp>
        <p:nvSpPr>
          <p:cNvPr id="284860" name="Text Box 1210"/>
          <p:cNvSpPr txBox="1">
            <a:spLocks noChangeArrowheads="1"/>
          </p:cNvSpPr>
          <p:nvPr/>
        </p:nvSpPr>
        <p:spPr bwMode="auto">
          <a:xfrm>
            <a:off x="7837487" y="6026150"/>
            <a:ext cx="914400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b="1"/>
              <a:t>0xFFFFFF</a:t>
            </a:r>
          </a:p>
        </p:txBody>
      </p:sp>
      <p:sp>
        <p:nvSpPr>
          <p:cNvPr id="284861" name="Text Box 1211"/>
          <p:cNvSpPr txBox="1">
            <a:spLocks noChangeArrowheads="1"/>
          </p:cNvSpPr>
          <p:nvPr/>
        </p:nvSpPr>
        <p:spPr bwMode="auto">
          <a:xfrm>
            <a:off x="5422900" y="6051550"/>
            <a:ext cx="922338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b="1" dirty="0"/>
              <a:t>0xFFFFFE</a:t>
            </a:r>
          </a:p>
        </p:txBody>
      </p:sp>
      <p:sp>
        <p:nvSpPr>
          <p:cNvPr id="284862" name="Text Box 1212"/>
          <p:cNvSpPr txBox="1">
            <a:spLocks noChangeArrowheads="1"/>
          </p:cNvSpPr>
          <p:nvPr/>
        </p:nvSpPr>
        <p:spPr bwMode="auto">
          <a:xfrm>
            <a:off x="7866062" y="4089400"/>
            <a:ext cx="1252538" cy="11588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/>
              <a:t>Byte Addressable</a:t>
            </a:r>
          </a:p>
          <a:p>
            <a:pPr algn="ctr"/>
            <a:r>
              <a:rPr lang="en-US" sz="1000" b="1"/>
              <a:t> memory for a</a:t>
            </a:r>
          </a:p>
          <a:p>
            <a:pPr algn="ctr"/>
            <a:r>
              <a:rPr lang="en-US" sz="1000" b="1"/>
              <a:t>16-bit processor</a:t>
            </a:r>
          </a:p>
          <a:p>
            <a:pPr algn="ctr"/>
            <a:r>
              <a:rPr lang="en-US" sz="1000" b="1"/>
              <a:t>with a 24-bit </a:t>
            </a:r>
          </a:p>
          <a:p>
            <a:pPr algn="ctr"/>
            <a:r>
              <a:rPr lang="en-US" sz="1000" b="1"/>
              <a:t>addressing range</a:t>
            </a:r>
          </a:p>
          <a:p>
            <a:pPr algn="ctr"/>
            <a:r>
              <a:rPr lang="en-US" sz="1000" b="1"/>
              <a:t>MC68000</a:t>
            </a:r>
          </a:p>
          <a:p>
            <a:pPr algn="ctr"/>
            <a:r>
              <a:rPr lang="en-US" sz="1000" b="1" i="1"/>
              <a:t>Big Endian</a:t>
            </a:r>
            <a:endParaRPr lang="en-US" sz="1000" b="1"/>
          </a:p>
        </p:txBody>
      </p:sp>
      <p:sp>
        <p:nvSpPr>
          <p:cNvPr id="2" name="TextBox 1"/>
          <p:cNvSpPr txBox="1"/>
          <p:nvPr/>
        </p:nvSpPr>
        <p:spPr>
          <a:xfrm>
            <a:off x="0" y="6522831"/>
            <a:ext cx="5163312" cy="33516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dirty="0"/>
              <a:t>R2000 can post to either Big or Little Endian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05000" y="2590800"/>
            <a:ext cx="3505200" cy="38862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11000"/>
                </a:schemeClr>
              </a:gs>
              <a:gs pos="80000">
                <a:schemeClr val="accent1">
                  <a:shade val="93000"/>
                  <a:satMod val="130000"/>
                  <a:alpha val="11000"/>
                </a:schemeClr>
              </a:gs>
              <a:gs pos="100000">
                <a:schemeClr val="accent1">
                  <a:shade val="94000"/>
                  <a:satMod val="135000"/>
                  <a:alpha val="1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0000"/>
                </a:solidFill>
              </a:rPr>
              <a:t>Little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5410200" y="2590800"/>
            <a:ext cx="3657600" cy="388620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50000"/>
                  <a:satMod val="300000"/>
                  <a:alpha val="18000"/>
                </a:schemeClr>
              </a:gs>
              <a:gs pos="35000">
                <a:schemeClr val="accent5">
                  <a:tint val="37000"/>
                  <a:satMod val="300000"/>
                  <a:alpha val="18000"/>
                </a:schemeClr>
              </a:gs>
              <a:gs pos="100000">
                <a:schemeClr val="accent5">
                  <a:tint val="15000"/>
                  <a:satMod val="350000"/>
                  <a:alpha val="18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Big</a:t>
            </a:r>
          </a:p>
        </p:txBody>
      </p:sp>
    </p:spTree>
    <p:extLst>
      <p:ext uri="{BB962C8B-B14F-4D97-AF65-F5344CB8AC3E}">
        <p14:creationId xmlns:p14="http://schemas.microsoft.com/office/powerpoint/2010/main" val="38178246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-106680" y="838200"/>
            <a:ext cx="9052560" cy="838200"/>
          </a:xfrm>
        </p:spPr>
        <p:txBody>
          <a:bodyPr/>
          <a:lstStyle/>
          <a:p>
            <a:r>
              <a:rPr lang="en-US" dirty="0"/>
              <a:t>Memory Organization in 68K, x86, R2000, </a:t>
            </a:r>
            <a:r>
              <a:rPr lang="en-US" dirty="0" err="1"/>
              <a:t>StrongARM</a:t>
            </a:r>
            <a:r>
              <a:rPr lang="en-US" dirty="0"/>
              <a:t> </a:t>
            </a:r>
          </a:p>
        </p:txBody>
      </p:sp>
      <p:sp>
        <p:nvSpPr>
          <p:cNvPr id="284678" name="Rectangle 1028"/>
          <p:cNvSpPr>
            <a:spLocks noChangeArrowheads="1"/>
          </p:cNvSpPr>
          <p:nvPr/>
        </p:nvSpPr>
        <p:spPr bwMode="auto">
          <a:xfrm>
            <a:off x="152400" y="3211513"/>
            <a:ext cx="609600" cy="3048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84679" name="AutoShape 1029"/>
          <p:cNvSpPr>
            <a:spLocks noChangeArrowheads="1"/>
          </p:cNvSpPr>
          <p:nvPr/>
        </p:nvSpPr>
        <p:spPr bwMode="auto">
          <a:xfrm>
            <a:off x="152400" y="5421313"/>
            <a:ext cx="609600" cy="228600"/>
          </a:xfrm>
          <a:prstGeom prst="flowChartPunchedTap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84680" name="Line 1030"/>
          <p:cNvSpPr>
            <a:spLocks noChangeShapeType="1"/>
          </p:cNvSpPr>
          <p:nvPr/>
        </p:nvSpPr>
        <p:spPr bwMode="auto">
          <a:xfrm>
            <a:off x="152400" y="33639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200"/>
          </a:p>
        </p:txBody>
      </p:sp>
      <p:sp>
        <p:nvSpPr>
          <p:cNvPr id="284681" name="Line 1031"/>
          <p:cNvSpPr>
            <a:spLocks noChangeShapeType="1"/>
          </p:cNvSpPr>
          <p:nvPr/>
        </p:nvSpPr>
        <p:spPr bwMode="auto">
          <a:xfrm>
            <a:off x="228600" y="3211513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200"/>
          </a:p>
        </p:txBody>
      </p:sp>
      <p:sp>
        <p:nvSpPr>
          <p:cNvPr id="284682" name="Line 1032"/>
          <p:cNvSpPr>
            <a:spLocks noChangeShapeType="1"/>
          </p:cNvSpPr>
          <p:nvPr/>
        </p:nvSpPr>
        <p:spPr bwMode="auto">
          <a:xfrm>
            <a:off x="304800" y="3211513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200"/>
          </a:p>
        </p:txBody>
      </p:sp>
      <p:sp>
        <p:nvSpPr>
          <p:cNvPr id="284683" name="Line 1033"/>
          <p:cNvSpPr>
            <a:spLocks noChangeShapeType="1"/>
          </p:cNvSpPr>
          <p:nvPr/>
        </p:nvSpPr>
        <p:spPr bwMode="auto">
          <a:xfrm>
            <a:off x="381000" y="3211513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200"/>
          </a:p>
        </p:txBody>
      </p:sp>
      <p:sp>
        <p:nvSpPr>
          <p:cNvPr id="284684" name="Line 1034"/>
          <p:cNvSpPr>
            <a:spLocks noChangeShapeType="1"/>
          </p:cNvSpPr>
          <p:nvPr/>
        </p:nvSpPr>
        <p:spPr bwMode="auto">
          <a:xfrm>
            <a:off x="457200" y="3211513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200"/>
          </a:p>
        </p:txBody>
      </p:sp>
      <p:sp>
        <p:nvSpPr>
          <p:cNvPr id="284685" name="Line 1035"/>
          <p:cNvSpPr>
            <a:spLocks noChangeShapeType="1"/>
          </p:cNvSpPr>
          <p:nvPr/>
        </p:nvSpPr>
        <p:spPr bwMode="auto">
          <a:xfrm>
            <a:off x="533400" y="3211513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200"/>
          </a:p>
        </p:txBody>
      </p:sp>
      <p:sp>
        <p:nvSpPr>
          <p:cNvPr id="284686" name="Line 1036"/>
          <p:cNvSpPr>
            <a:spLocks noChangeShapeType="1"/>
          </p:cNvSpPr>
          <p:nvPr/>
        </p:nvSpPr>
        <p:spPr bwMode="auto">
          <a:xfrm>
            <a:off x="609600" y="3211513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200"/>
          </a:p>
        </p:txBody>
      </p:sp>
      <p:sp>
        <p:nvSpPr>
          <p:cNvPr id="284687" name="Line 1037"/>
          <p:cNvSpPr>
            <a:spLocks noChangeShapeType="1"/>
          </p:cNvSpPr>
          <p:nvPr/>
        </p:nvSpPr>
        <p:spPr bwMode="auto">
          <a:xfrm>
            <a:off x="685800" y="3211513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200"/>
          </a:p>
        </p:txBody>
      </p:sp>
      <p:sp>
        <p:nvSpPr>
          <p:cNvPr id="284688" name="Text Box 1038"/>
          <p:cNvSpPr txBox="1">
            <a:spLocks noChangeArrowheads="1"/>
          </p:cNvSpPr>
          <p:nvPr/>
        </p:nvSpPr>
        <p:spPr bwMode="auto">
          <a:xfrm>
            <a:off x="265112" y="2846388"/>
            <a:ext cx="387350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200" b="1"/>
              <a:t>Bit</a:t>
            </a:r>
          </a:p>
        </p:txBody>
      </p:sp>
      <p:sp>
        <p:nvSpPr>
          <p:cNvPr id="284689" name="Text Box 1039"/>
          <p:cNvSpPr txBox="1">
            <a:spLocks noChangeArrowheads="1"/>
          </p:cNvSpPr>
          <p:nvPr/>
        </p:nvSpPr>
        <p:spPr bwMode="auto">
          <a:xfrm>
            <a:off x="76200" y="2982913"/>
            <a:ext cx="268287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200" b="1"/>
              <a:t>7</a:t>
            </a:r>
          </a:p>
        </p:txBody>
      </p:sp>
      <p:sp>
        <p:nvSpPr>
          <p:cNvPr id="284690" name="Text Box 1040"/>
          <p:cNvSpPr txBox="1">
            <a:spLocks noChangeArrowheads="1"/>
          </p:cNvSpPr>
          <p:nvPr/>
        </p:nvSpPr>
        <p:spPr bwMode="auto">
          <a:xfrm>
            <a:off x="609600" y="2982913"/>
            <a:ext cx="268287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200" b="1"/>
              <a:t>0</a:t>
            </a:r>
          </a:p>
        </p:txBody>
      </p:sp>
      <p:sp>
        <p:nvSpPr>
          <p:cNvPr id="284691" name="Line 1041"/>
          <p:cNvSpPr>
            <a:spLocks noChangeShapeType="1"/>
          </p:cNvSpPr>
          <p:nvPr/>
        </p:nvSpPr>
        <p:spPr bwMode="auto">
          <a:xfrm>
            <a:off x="152400" y="35163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200"/>
          </a:p>
        </p:txBody>
      </p:sp>
      <p:sp>
        <p:nvSpPr>
          <p:cNvPr id="284692" name="Line 1042"/>
          <p:cNvSpPr>
            <a:spLocks noChangeShapeType="1"/>
          </p:cNvSpPr>
          <p:nvPr/>
        </p:nvSpPr>
        <p:spPr bwMode="auto">
          <a:xfrm>
            <a:off x="152400" y="36687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200"/>
          </a:p>
        </p:txBody>
      </p:sp>
      <p:sp>
        <p:nvSpPr>
          <p:cNvPr id="284693" name="Line 1043"/>
          <p:cNvSpPr>
            <a:spLocks noChangeShapeType="1"/>
          </p:cNvSpPr>
          <p:nvPr/>
        </p:nvSpPr>
        <p:spPr bwMode="auto">
          <a:xfrm>
            <a:off x="152400" y="38211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694" name="Line 1044"/>
          <p:cNvSpPr>
            <a:spLocks noChangeShapeType="1"/>
          </p:cNvSpPr>
          <p:nvPr/>
        </p:nvSpPr>
        <p:spPr bwMode="auto">
          <a:xfrm>
            <a:off x="152400" y="39735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695" name="Line 1045"/>
          <p:cNvSpPr>
            <a:spLocks noChangeShapeType="1"/>
          </p:cNvSpPr>
          <p:nvPr/>
        </p:nvSpPr>
        <p:spPr bwMode="auto">
          <a:xfrm>
            <a:off x="152400" y="41259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696" name="Line 1046"/>
          <p:cNvSpPr>
            <a:spLocks noChangeShapeType="1"/>
          </p:cNvSpPr>
          <p:nvPr/>
        </p:nvSpPr>
        <p:spPr bwMode="auto">
          <a:xfrm>
            <a:off x="152400" y="42783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697" name="Line 1047"/>
          <p:cNvSpPr>
            <a:spLocks noChangeShapeType="1"/>
          </p:cNvSpPr>
          <p:nvPr/>
        </p:nvSpPr>
        <p:spPr bwMode="auto">
          <a:xfrm>
            <a:off x="152400" y="44307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698" name="Line 1048"/>
          <p:cNvSpPr>
            <a:spLocks noChangeShapeType="1"/>
          </p:cNvSpPr>
          <p:nvPr/>
        </p:nvSpPr>
        <p:spPr bwMode="auto">
          <a:xfrm>
            <a:off x="152400" y="45831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699" name="Line 1049"/>
          <p:cNvSpPr>
            <a:spLocks noChangeShapeType="1"/>
          </p:cNvSpPr>
          <p:nvPr/>
        </p:nvSpPr>
        <p:spPr bwMode="auto">
          <a:xfrm>
            <a:off x="152400" y="47355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00" name="Line 1050"/>
          <p:cNvSpPr>
            <a:spLocks noChangeShapeType="1"/>
          </p:cNvSpPr>
          <p:nvPr/>
        </p:nvSpPr>
        <p:spPr bwMode="auto">
          <a:xfrm>
            <a:off x="152400" y="48879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01" name="Line 1051"/>
          <p:cNvSpPr>
            <a:spLocks noChangeShapeType="1"/>
          </p:cNvSpPr>
          <p:nvPr/>
        </p:nvSpPr>
        <p:spPr bwMode="auto">
          <a:xfrm>
            <a:off x="152400" y="50403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02" name="Line 1052"/>
          <p:cNvSpPr>
            <a:spLocks noChangeShapeType="1"/>
          </p:cNvSpPr>
          <p:nvPr/>
        </p:nvSpPr>
        <p:spPr bwMode="auto">
          <a:xfrm>
            <a:off x="152400" y="51927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03" name="Line 1053"/>
          <p:cNvSpPr>
            <a:spLocks noChangeShapeType="1"/>
          </p:cNvSpPr>
          <p:nvPr/>
        </p:nvSpPr>
        <p:spPr bwMode="auto">
          <a:xfrm>
            <a:off x="152400" y="53451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04" name="Line 1054"/>
          <p:cNvSpPr>
            <a:spLocks noChangeShapeType="1"/>
          </p:cNvSpPr>
          <p:nvPr/>
        </p:nvSpPr>
        <p:spPr bwMode="auto">
          <a:xfrm>
            <a:off x="152400" y="58023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05" name="Line 1055"/>
          <p:cNvSpPr>
            <a:spLocks noChangeShapeType="1"/>
          </p:cNvSpPr>
          <p:nvPr/>
        </p:nvSpPr>
        <p:spPr bwMode="auto">
          <a:xfrm>
            <a:off x="152400" y="59547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200"/>
          </a:p>
        </p:txBody>
      </p:sp>
      <p:sp>
        <p:nvSpPr>
          <p:cNvPr id="284706" name="Line 1056"/>
          <p:cNvSpPr>
            <a:spLocks noChangeShapeType="1"/>
          </p:cNvSpPr>
          <p:nvPr/>
        </p:nvSpPr>
        <p:spPr bwMode="auto">
          <a:xfrm>
            <a:off x="152400" y="61071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200"/>
          </a:p>
        </p:txBody>
      </p:sp>
      <p:sp>
        <p:nvSpPr>
          <p:cNvPr id="284707" name="Text Box 1057"/>
          <p:cNvSpPr txBox="1">
            <a:spLocks noChangeArrowheads="1"/>
          </p:cNvSpPr>
          <p:nvPr/>
        </p:nvSpPr>
        <p:spPr bwMode="auto">
          <a:xfrm>
            <a:off x="838200" y="3134132"/>
            <a:ext cx="646331" cy="27699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200" b="1"/>
              <a:t>0x0000</a:t>
            </a:r>
          </a:p>
        </p:txBody>
      </p:sp>
      <p:sp>
        <p:nvSpPr>
          <p:cNvPr id="284708" name="Text Box 1058"/>
          <p:cNvSpPr txBox="1">
            <a:spLocks noChangeArrowheads="1"/>
          </p:cNvSpPr>
          <p:nvPr/>
        </p:nvSpPr>
        <p:spPr bwMode="auto">
          <a:xfrm>
            <a:off x="860839" y="6105932"/>
            <a:ext cx="681797" cy="27699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200" b="1"/>
              <a:t>0xFFFF</a:t>
            </a:r>
          </a:p>
        </p:txBody>
      </p:sp>
      <p:sp>
        <p:nvSpPr>
          <p:cNvPr id="284709" name="Text Box 1059"/>
          <p:cNvSpPr txBox="1">
            <a:spLocks noChangeArrowheads="1"/>
          </p:cNvSpPr>
          <p:nvPr/>
        </p:nvSpPr>
        <p:spPr bwMode="auto">
          <a:xfrm>
            <a:off x="856325" y="5877332"/>
            <a:ext cx="689236" cy="27699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200" b="1"/>
              <a:t>0xFFFE</a:t>
            </a:r>
          </a:p>
        </p:txBody>
      </p:sp>
      <p:sp>
        <p:nvSpPr>
          <p:cNvPr id="284710" name="Text Box 1060"/>
          <p:cNvSpPr txBox="1">
            <a:spLocks noChangeArrowheads="1"/>
          </p:cNvSpPr>
          <p:nvPr/>
        </p:nvSpPr>
        <p:spPr bwMode="auto">
          <a:xfrm>
            <a:off x="322262" y="4079875"/>
            <a:ext cx="268288" cy="2444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/>
              <a:t>S</a:t>
            </a:r>
          </a:p>
        </p:txBody>
      </p:sp>
      <p:sp>
        <p:nvSpPr>
          <p:cNvPr id="284711" name="Text Box 1061"/>
          <p:cNvSpPr txBox="1">
            <a:spLocks noChangeArrowheads="1"/>
          </p:cNvSpPr>
          <p:nvPr/>
        </p:nvSpPr>
        <p:spPr bwMode="auto">
          <a:xfrm>
            <a:off x="327025" y="4232275"/>
            <a:ext cx="261937" cy="2444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/>
              <a:t>T</a:t>
            </a:r>
          </a:p>
        </p:txBody>
      </p:sp>
      <p:sp>
        <p:nvSpPr>
          <p:cNvPr id="284712" name="Text Box 1062"/>
          <p:cNvSpPr txBox="1">
            <a:spLocks noChangeArrowheads="1"/>
          </p:cNvSpPr>
          <p:nvPr/>
        </p:nvSpPr>
        <p:spPr bwMode="auto">
          <a:xfrm>
            <a:off x="319087" y="4384675"/>
            <a:ext cx="276225" cy="2444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/>
              <a:t>R</a:t>
            </a:r>
          </a:p>
        </p:txBody>
      </p:sp>
      <p:sp>
        <p:nvSpPr>
          <p:cNvPr id="284713" name="Text Box 1063"/>
          <p:cNvSpPr txBox="1">
            <a:spLocks noChangeArrowheads="1"/>
          </p:cNvSpPr>
          <p:nvPr/>
        </p:nvSpPr>
        <p:spPr bwMode="auto">
          <a:xfrm>
            <a:off x="347662" y="4537075"/>
            <a:ext cx="219075" cy="2444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/>
              <a:t>I</a:t>
            </a:r>
          </a:p>
        </p:txBody>
      </p:sp>
      <p:sp>
        <p:nvSpPr>
          <p:cNvPr id="284714" name="Text Box 1064"/>
          <p:cNvSpPr txBox="1">
            <a:spLocks noChangeArrowheads="1"/>
          </p:cNvSpPr>
          <p:nvPr/>
        </p:nvSpPr>
        <p:spPr bwMode="auto">
          <a:xfrm>
            <a:off x="319087" y="4689475"/>
            <a:ext cx="276225" cy="2444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/>
              <a:t>N</a:t>
            </a:r>
          </a:p>
        </p:txBody>
      </p:sp>
      <p:sp>
        <p:nvSpPr>
          <p:cNvPr id="284715" name="Text Box 1065"/>
          <p:cNvSpPr txBox="1">
            <a:spLocks noChangeArrowheads="1"/>
          </p:cNvSpPr>
          <p:nvPr/>
        </p:nvSpPr>
        <p:spPr bwMode="auto">
          <a:xfrm>
            <a:off x="315912" y="4841875"/>
            <a:ext cx="282575" cy="2444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/>
              <a:t>G</a:t>
            </a:r>
          </a:p>
        </p:txBody>
      </p:sp>
      <p:sp>
        <p:nvSpPr>
          <p:cNvPr id="284716" name="Line 1066"/>
          <p:cNvSpPr>
            <a:spLocks noChangeShapeType="1"/>
          </p:cNvSpPr>
          <p:nvPr/>
        </p:nvSpPr>
        <p:spPr bwMode="auto">
          <a:xfrm>
            <a:off x="152400" y="5462588"/>
            <a:ext cx="0" cy="1873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17" name="Line 1067"/>
          <p:cNvSpPr>
            <a:spLocks noChangeShapeType="1"/>
          </p:cNvSpPr>
          <p:nvPr/>
        </p:nvSpPr>
        <p:spPr bwMode="auto">
          <a:xfrm>
            <a:off x="766762" y="5437188"/>
            <a:ext cx="0" cy="1873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18" name="Text Box 1068"/>
          <p:cNvSpPr txBox="1">
            <a:spLocks noChangeArrowheads="1"/>
          </p:cNvSpPr>
          <p:nvPr/>
        </p:nvSpPr>
        <p:spPr bwMode="auto">
          <a:xfrm>
            <a:off x="758825" y="4154488"/>
            <a:ext cx="1252537" cy="8540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r>
              <a:rPr lang="en-US" sz="1000" b="1" dirty="0"/>
              <a:t>Byte Addressable</a:t>
            </a:r>
          </a:p>
          <a:p>
            <a:r>
              <a:rPr lang="en-US" sz="1000" b="1" dirty="0"/>
              <a:t> memory for an </a:t>
            </a:r>
          </a:p>
          <a:p>
            <a:r>
              <a:rPr lang="en-US" sz="1000" b="1" dirty="0"/>
              <a:t>8-bit processor</a:t>
            </a:r>
          </a:p>
          <a:p>
            <a:r>
              <a:rPr lang="en-US" sz="1000" b="1" dirty="0"/>
              <a:t>with a 16-bit </a:t>
            </a:r>
          </a:p>
          <a:p>
            <a:r>
              <a:rPr lang="en-US" sz="1000" b="1" dirty="0"/>
              <a:t>addressing range</a:t>
            </a:r>
          </a:p>
        </p:txBody>
      </p:sp>
      <p:sp>
        <p:nvSpPr>
          <p:cNvPr id="284719" name="Rectangle 1069"/>
          <p:cNvSpPr>
            <a:spLocks noChangeArrowheads="1"/>
          </p:cNvSpPr>
          <p:nvPr/>
        </p:nvSpPr>
        <p:spPr bwMode="auto">
          <a:xfrm>
            <a:off x="3725863" y="3227388"/>
            <a:ext cx="609600" cy="3048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84720" name="AutoShape 1070"/>
          <p:cNvSpPr>
            <a:spLocks noChangeArrowheads="1"/>
          </p:cNvSpPr>
          <p:nvPr/>
        </p:nvSpPr>
        <p:spPr bwMode="auto">
          <a:xfrm>
            <a:off x="3725863" y="5437188"/>
            <a:ext cx="609600" cy="228600"/>
          </a:xfrm>
          <a:prstGeom prst="flowChartPunchedTap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84721" name="Line 1071"/>
          <p:cNvSpPr>
            <a:spLocks noChangeShapeType="1"/>
          </p:cNvSpPr>
          <p:nvPr/>
        </p:nvSpPr>
        <p:spPr bwMode="auto">
          <a:xfrm>
            <a:off x="3725863" y="33797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200"/>
          </a:p>
        </p:txBody>
      </p:sp>
      <p:sp>
        <p:nvSpPr>
          <p:cNvPr id="284722" name="Line 1072"/>
          <p:cNvSpPr>
            <a:spLocks noChangeShapeType="1"/>
          </p:cNvSpPr>
          <p:nvPr/>
        </p:nvSpPr>
        <p:spPr bwMode="auto">
          <a:xfrm>
            <a:off x="3802063" y="322738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200"/>
          </a:p>
        </p:txBody>
      </p:sp>
      <p:sp>
        <p:nvSpPr>
          <p:cNvPr id="284723" name="Line 1073"/>
          <p:cNvSpPr>
            <a:spLocks noChangeShapeType="1"/>
          </p:cNvSpPr>
          <p:nvPr/>
        </p:nvSpPr>
        <p:spPr bwMode="auto">
          <a:xfrm>
            <a:off x="3878263" y="322738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200"/>
          </a:p>
        </p:txBody>
      </p:sp>
      <p:sp>
        <p:nvSpPr>
          <p:cNvPr id="284724" name="Line 1074"/>
          <p:cNvSpPr>
            <a:spLocks noChangeShapeType="1"/>
          </p:cNvSpPr>
          <p:nvPr/>
        </p:nvSpPr>
        <p:spPr bwMode="auto">
          <a:xfrm>
            <a:off x="3954463" y="322738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200"/>
          </a:p>
        </p:txBody>
      </p:sp>
      <p:sp>
        <p:nvSpPr>
          <p:cNvPr id="284725" name="Line 1075"/>
          <p:cNvSpPr>
            <a:spLocks noChangeShapeType="1"/>
          </p:cNvSpPr>
          <p:nvPr/>
        </p:nvSpPr>
        <p:spPr bwMode="auto">
          <a:xfrm>
            <a:off x="4030663" y="322738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200"/>
          </a:p>
        </p:txBody>
      </p:sp>
      <p:sp>
        <p:nvSpPr>
          <p:cNvPr id="284726" name="Line 1076"/>
          <p:cNvSpPr>
            <a:spLocks noChangeShapeType="1"/>
          </p:cNvSpPr>
          <p:nvPr/>
        </p:nvSpPr>
        <p:spPr bwMode="auto">
          <a:xfrm>
            <a:off x="4106863" y="322738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200"/>
          </a:p>
        </p:txBody>
      </p:sp>
      <p:sp>
        <p:nvSpPr>
          <p:cNvPr id="284727" name="Line 1077"/>
          <p:cNvSpPr>
            <a:spLocks noChangeShapeType="1"/>
          </p:cNvSpPr>
          <p:nvPr/>
        </p:nvSpPr>
        <p:spPr bwMode="auto">
          <a:xfrm>
            <a:off x="4183063" y="322738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200"/>
          </a:p>
        </p:txBody>
      </p:sp>
      <p:sp>
        <p:nvSpPr>
          <p:cNvPr id="284728" name="Line 1078"/>
          <p:cNvSpPr>
            <a:spLocks noChangeShapeType="1"/>
          </p:cNvSpPr>
          <p:nvPr/>
        </p:nvSpPr>
        <p:spPr bwMode="auto">
          <a:xfrm>
            <a:off x="4259263" y="322738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200"/>
          </a:p>
        </p:txBody>
      </p:sp>
      <p:sp>
        <p:nvSpPr>
          <p:cNvPr id="284729" name="Text Box 1079"/>
          <p:cNvSpPr txBox="1">
            <a:spLocks noChangeArrowheads="1"/>
          </p:cNvSpPr>
          <p:nvPr/>
        </p:nvSpPr>
        <p:spPr bwMode="auto">
          <a:xfrm>
            <a:off x="3649663" y="2998788"/>
            <a:ext cx="268287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200" b="1"/>
              <a:t>7</a:t>
            </a:r>
          </a:p>
        </p:txBody>
      </p:sp>
      <p:sp>
        <p:nvSpPr>
          <p:cNvPr id="284730" name="Text Box 1080"/>
          <p:cNvSpPr txBox="1">
            <a:spLocks noChangeArrowheads="1"/>
          </p:cNvSpPr>
          <p:nvPr/>
        </p:nvSpPr>
        <p:spPr bwMode="auto">
          <a:xfrm>
            <a:off x="4183063" y="2998788"/>
            <a:ext cx="268287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200" b="1"/>
              <a:t>0</a:t>
            </a:r>
          </a:p>
        </p:txBody>
      </p:sp>
      <p:sp>
        <p:nvSpPr>
          <p:cNvPr id="284731" name="Line 1081"/>
          <p:cNvSpPr>
            <a:spLocks noChangeShapeType="1"/>
          </p:cNvSpPr>
          <p:nvPr/>
        </p:nvSpPr>
        <p:spPr bwMode="auto">
          <a:xfrm>
            <a:off x="3725863" y="35321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200"/>
          </a:p>
        </p:txBody>
      </p:sp>
      <p:sp>
        <p:nvSpPr>
          <p:cNvPr id="284732" name="Line 1082"/>
          <p:cNvSpPr>
            <a:spLocks noChangeShapeType="1"/>
          </p:cNvSpPr>
          <p:nvPr/>
        </p:nvSpPr>
        <p:spPr bwMode="auto">
          <a:xfrm>
            <a:off x="3725863" y="36845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200"/>
          </a:p>
        </p:txBody>
      </p:sp>
      <p:sp>
        <p:nvSpPr>
          <p:cNvPr id="284733" name="Line 1083"/>
          <p:cNvSpPr>
            <a:spLocks noChangeShapeType="1"/>
          </p:cNvSpPr>
          <p:nvPr/>
        </p:nvSpPr>
        <p:spPr bwMode="auto">
          <a:xfrm>
            <a:off x="3725863" y="38369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34" name="Line 1084"/>
          <p:cNvSpPr>
            <a:spLocks noChangeShapeType="1"/>
          </p:cNvSpPr>
          <p:nvPr/>
        </p:nvSpPr>
        <p:spPr bwMode="auto">
          <a:xfrm>
            <a:off x="3725863" y="39893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35" name="Line 1085"/>
          <p:cNvSpPr>
            <a:spLocks noChangeShapeType="1"/>
          </p:cNvSpPr>
          <p:nvPr/>
        </p:nvSpPr>
        <p:spPr bwMode="auto">
          <a:xfrm>
            <a:off x="3725863" y="41417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36" name="Line 1086"/>
          <p:cNvSpPr>
            <a:spLocks noChangeShapeType="1"/>
          </p:cNvSpPr>
          <p:nvPr/>
        </p:nvSpPr>
        <p:spPr bwMode="auto">
          <a:xfrm>
            <a:off x="3725863" y="42941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37" name="Line 1087"/>
          <p:cNvSpPr>
            <a:spLocks noChangeShapeType="1"/>
          </p:cNvSpPr>
          <p:nvPr/>
        </p:nvSpPr>
        <p:spPr bwMode="auto">
          <a:xfrm>
            <a:off x="3725863" y="44465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38" name="Line 1088"/>
          <p:cNvSpPr>
            <a:spLocks noChangeShapeType="1"/>
          </p:cNvSpPr>
          <p:nvPr/>
        </p:nvSpPr>
        <p:spPr bwMode="auto">
          <a:xfrm>
            <a:off x="3725863" y="45989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39" name="Line 1089"/>
          <p:cNvSpPr>
            <a:spLocks noChangeShapeType="1"/>
          </p:cNvSpPr>
          <p:nvPr/>
        </p:nvSpPr>
        <p:spPr bwMode="auto">
          <a:xfrm>
            <a:off x="3725863" y="47513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40" name="Line 1090"/>
          <p:cNvSpPr>
            <a:spLocks noChangeShapeType="1"/>
          </p:cNvSpPr>
          <p:nvPr/>
        </p:nvSpPr>
        <p:spPr bwMode="auto">
          <a:xfrm>
            <a:off x="3725863" y="49037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41" name="Line 1091"/>
          <p:cNvSpPr>
            <a:spLocks noChangeShapeType="1"/>
          </p:cNvSpPr>
          <p:nvPr/>
        </p:nvSpPr>
        <p:spPr bwMode="auto">
          <a:xfrm>
            <a:off x="3725863" y="50561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42" name="Line 1092"/>
          <p:cNvSpPr>
            <a:spLocks noChangeShapeType="1"/>
          </p:cNvSpPr>
          <p:nvPr/>
        </p:nvSpPr>
        <p:spPr bwMode="auto">
          <a:xfrm>
            <a:off x="3725863" y="52085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43" name="Line 1093"/>
          <p:cNvSpPr>
            <a:spLocks noChangeShapeType="1"/>
          </p:cNvSpPr>
          <p:nvPr/>
        </p:nvSpPr>
        <p:spPr bwMode="auto">
          <a:xfrm>
            <a:off x="3725863" y="53609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44" name="Line 1094"/>
          <p:cNvSpPr>
            <a:spLocks noChangeShapeType="1"/>
          </p:cNvSpPr>
          <p:nvPr/>
        </p:nvSpPr>
        <p:spPr bwMode="auto">
          <a:xfrm>
            <a:off x="3725863" y="58181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200"/>
          </a:p>
        </p:txBody>
      </p:sp>
      <p:sp>
        <p:nvSpPr>
          <p:cNvPr id="284745" name="Line 1095"/>
          <p:cNvSpPr>
            <a:spLocks noChangeShapeType="1"/>
          </p:cNvSpPr>
          <p:nvPr/>
        </p:nvSpPr>
        <p:spPr bwMode="auto">
          <a:xfrm>
            <a:off x="3725863" y="59705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200"/>
          </a:p>
        </p:txBody>
      </p:sp>
      <p:sp>
        <p:nvSpPr>
          <p:cNvPr id="284746" name="Line 1096"/>
          <p:cNvSpPr>
            <a:spLocks noChangeShapeType="1"/>
          </p:cNvSpPr>
          <p:nvPr/>
        </p:nvSpPr>
        <p:spPr bwMode="auto">
          <a:xfrm>
            <a:off x="3725863" y="61229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200"/>
          </a:p>
        </p:txBody>
      </p:sp>
      <p:sp>
        <p:nvSpPr>
          <p:cNvPr id="284747" name="Text Box 1097"/>
          <p:cNvSpPr txBox="1">
            <a:spLocks noChangeArrowheads="1"/>
          </p:cNvSpPr>
          <p:nvPr/>
        </p:nvSpPr>
        <p:spPr bwMode="auto">
          <a:xfrm>
            <a:off x="3895725" y="4095750"/>
            <a:ext cx="268288" cy="2444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/>
              <a:t>S</a:t>
            </a:r>
          </a:p>
        </p:txBody>
      </p:sp>
      <p:sp>
        <p:nvSpPr>
          <p:cNvPr id="284748" name="Text Box 1098"/>
          <p:cNvSpPr txBox="1">
            <a:spLocks noChangeArrowheads="1"/>
          </p:cNvSpPr>
          <p:nvPr/>
        </p:nvSpPr>
        <p:spPr bwMode="auto">
          <a:xfrm>
            <a:off x="3298825" y="4095750"/>
            <a:ext cx="261938" cy="2444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/>
              <a:t>T</a:t>
            </a:r>
          </a:p>
        </p:txBody>
      </p:sp>
      <p:sp>
        <p:nvSpPr>
          <p:cNvPr id="284749" name="Text Box 1099"/>
          <p:cNvSpPr txBox="1">
            <a:spLocks noChangeArrowheads="1"/>
          </p:cNvSpPr>
          <p:nvPr/>
        </p:nvSpPr>
        <p:spPr bwMode="auto">
          <a:xfrm>
            <a:off x="3884613" y="4256088"/>
            <a:ext cx="276225" cy="2444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/>
              <a:t>R</a:t>
            </a:r>
          </a:p>
        </p:txBody>
      </p:sp>
      <p:sp>
        <p:nvSpPr>
          <p:cNvPr id="284750" name="Text Box 1100"/>
          <p:cNvSpPr txBox="1">
            <a:spLocks noChangeArrowheads="1"/>
          </p:cNvSpPr>
          <p:nvPr/>
        </p:nvSpPr>
        <p:spPr bwMode="auto">
          <a:xfrm>
            <a:off x="3327400" y="4248150"/>
            <a:ext cx="219075" cy="2444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/>
              <a:t>I</a:t>
            </a:r>
          </a:p>
        </p:txBody>
      </p:sp>
      <p:sp>
        <p:nvSpPr>
          <p:cNvPr id="284751" name="Text Box 1101"/>
          <p:cNvSpPr txBox="1">
            <a:spLocks noChangeArrowheads="1"/>
          </p:cNvSpPr>
          <p:nvPr/>
        </p:nvSpPr>
        <p:spPr bwMode="auto">
          <a:xfrm>
            <a:off x="3886200" y="4400550"/>
            <a:ext cx="276225" cy="2444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/>
              <a:t>N</a:t>
            </a:r>
          </a:p>
        </p:txBody>
      </p:sp>
      <p:sp>
        <p:nvSpPr>
          <p:cNvPr id="284752" name="Text Box 1102"/>
          <p:cNvSpPr txBox="1">
            <a:spLocks noChangeArrowheads="1"/>
          </p:cNvSpPr>
          <p:nvPr/>
        </p:nvSpPr>
        <p:spPr bwMode="auto">
          <a:xfrm>
            <a:off x="3302000" y="4392613"/>
            <a:ext cx="282575" cy="2444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/>
              <a:t>G</a:t>
            </a:r>
          </a:p>
        </p:txBody>
      </p:sp>
      <p:sp>
        <p:nvSpPr>
          <p:cNvPr id="284753" name="Line 1103"/>
          <p:cNvSpPr>
            <a:spLocks noChangeShapeType="1"/>
          </p:cNvSpPr>
          <p:nvPr/>
        </p:nvSpPr>
        <p:spPr bwMode="auto">
          <a:xfrm>
            <a:off x="3725863" y="5478463"/>
            <a:ext cx="0" cy="1873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54" name="Line 1104"/>
          <p:cNvSpPr>
            <a:spLocks noChangeShapeType="1"/>
          </p:cNvSpPr>
          <p:nvPr/>
        </p:nvSpPr>
        <p:spPr bwMode="auto">
          <a:xfrm>
            <a:off x="4340225" y="5453063"/>
            <a:ext cx="0" cy="1873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55" name="Rectangle 1105"/>
          <p:cNvSpPr>
            <a:spLocks noChangeArrowheads="1"/>
          </p:cNvSpPr>
          <p:nvPr/>
        </p:nvSpPr>
        <p:spPr bwMode="auto">
          <a:xfrm>
            <a:off x="3109913" y="3227388"/>
            <a:ext cx="609600" cy="3048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84756" name="AutoShape 1106"/>
          <p:cNvSpPr>
            <a:spLocks noChangeArrowheads="1"/>
          </p:cNvSpPr>
          <p:nvPr/>
        </p:nvSpPr>
        <p:spPr bwMode="auto">
          <a:xfrm>
            <a:off x="3109913" y="5437188"/>
            <a:ext cx="609600" cy="228600"/>
          </a:xfrm>
          <a:prstGeom prst="flowChartPunchedTap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84757" name="Line 1107"/>
          <p:cNvSpPr>
            <a:spLocks noChangeShapeType="1"/>
          </p:cNvSpPr>
          <p:nvPr/>
        </p:nvSpPr>
        <p:spPr bwMode="auto">
          <a:xfrm>
            <a:off x="3109913" y="33797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200"/>
          </a:p>
        </p:txBody>
      </p:sp>
      <p:sp>
        <p:nvSpPr>
          <p:cNvPr id="284758" name="Line 1108"/>
          <p:cNvSpPr>
            <a:spLocks noChangeShapeType="1"/>
          </p:cNvSpPr>
          <p:nvPr/>
        </p:nvSpPr>
        <p:spPr bwMode="auto">
          <a:xfrm>
            <a:off x="3186113" y="322738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200"/>
          </a:p>
        </p:txBody>
      </p:sp>
      <p:sp>
        <p:nvSpPr>
          <p:cNvPr id="284759" name="Line 1109"/>
          <p:cNvSpPr>
            <a:spLocks noChangeShapeType="1"/>
          </p:cNvSpPr>
          <p:nvPr/>
        </p:nvSpPr>
        <p:spPr bwMode="auto">
          <a:xfrm>
            <a:off x="3262313" y="322738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200"/>
          </a:p>
        </p:txBody>
      </p:sp>
      <p:sp>
        <p:nvSpPr>
          <p:cNvPr id="284760" name="Line 1110"/>
          <p:cNvSpPr>
            <a:spLocks noChangeShapeType="1"/>
          </p:cNvSpPr>
          <p:nvPr/>
        </p:nvSpPr>
        <p:spPr bwMode="auto">
          <a:xfrm>
            <a:off x="3338513" y="322738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200"/>
          </a:p>
        </p:txBody>
      </p:sp>
      <p:sp>
        <p:nvSpPr>
          <p:cNvPr id="284761" name="Line 1111"/>
          <p:cNvSpPr>
            <a:spLocks noChangeShapeType="1"/>
          </p:cNvSpPr>
          <p:nvPr/>
        </p:nvSpPr>
        <p:spPr bwMode="auto">
          <a:xfrm>
            <a:off x="3414713" y="322738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200"/>
          </a:p>
        </p:txBody>
      </p:sp>
      <p:sp>
        <p:nvSpPr>
          <p:cNvPr id="284762" name="Line 1112"/>
          <p:cNvSpPr>
            <a:spLocks noChangeShapeType="1"/>
          </p:cNvSpPr>
          <p:nvPr/>
        </p:nvSpPr>
        <p:spPr bwMode="auto">
          <a:xfrm>
            <a:off x="3490913" y="322738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200"/>
          </a:p>
        </p:txBody>
      </p:sp>
      <p:sp>
        <p:nvSpPr>
          <p:cNvPr id="284763" name="Line 1113"/>
          <p:cNvSpPr>
            <a:spLocks noChangeShapeType="1"/>
          </p:cNvSpPr>
          <p:nvPr/>
        </p:nvSpPr>
        <p:spPr bwMode="auto">
          <a:xfrm>
            <a:off x="3567113" y="322738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200"/>
          </a:p>
        </p:txBody>
      </p:sp>
      <p:sp>
        <p:nvSpPr>
          <p:cNvPr id="284764" name="Line 1114"/>
          <p:cNvSpPr>
            <a:spLocks noChangeShapeType="1"/>
          </p:cNvSpPr>
          <p:nvPr/>
        </p:nvSpPr>
        <p:spPr bwMode="auto">
          <a:xfrm>
            <a:off x="3643313" y="3227388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200"/>
          </a:p>
        </p:txBody>
      </p:sp>
      <p:sp>
        <p:nvSpPr>
          <p:cNvPr id="284765" name="Text Box 1115"/>
          <p:cNvSpPr txBox="1">
            <a:spLocks noChangeArrowheads="1"/>
          </p:cNvSpPr>
          <p:nvPr/>
        </p:nvSpPr>
        <p:spPr bwMode="auto">
          <a:xfrm>
            <a:off x="2921585" y="2997607"/>
            <a:ext cx="338554" cy="27699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200" b="1"/>
              <a:t>15</a:t>
            </a:r>
          </a:p>
        </p:txBody>
      </p:sp>
      <p:sp>
        <p:nvSpPr>
          <p:cNvPr id="284766" name="Text Box 1116"/>
          <p:cNvSpPr txBox="1">
            <a:spLocks noChangeArrowheads="1"/>
          </p:cNvSpPr>
          <p:nvPr/>
        </p:nvSpPr>
        <p:spPr bwMode="auto">
          <a:xfrm>
            <a:off x="3536950" y="2998788"/>
            <a:ext cx="268288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200" b="1"/>
              <a:t>8</a:t>
            </a:r>
          </a:p>
        </p:txBody>
      </p:sp>
      <p:sp>
        <p:nvSpPr>
          <p:cNvPr id="284767" name="Line 1117"/>
          <p:cNvSpPr>
            <a:spLocks noChangeShapeType="1"/>
          </p:cNvSpPr>
          <p:nvPr/>
        </p:nvSpPr>
        <p:spPr bwMode="auto">
          <a:xfrm>
            <a:off x="3109913" y="35321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200"/>
          </a:p>
        </p:txBody>
      </p:sp>
      <p:sp>
        <p:nvSpPr>
          <p:cNvPr id="284768" name="Line 1118"/>
          <p:cNvSpPr>
            <a:spLocks noChangeShapeType="1"/>
          </p:cNvSpPr>
          <p:nvPr/>
        </p:nvSpPr>
        <p:spPr bwMode="auto">
          <a:xfrm>
            <a:off x="3109913" y="36845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200"/>
          </a:p>
        </p:txBody>
      </p:sp>
      <p:sp>
        <p:nvSpPr>
          <p:cNvPr id="284769" name="Line 1119"/>
          <p:cNvSpPr>
            <a:spLocks noChangeShapeType="1"/>
          </p:cNvSpPr>
          <p:nvPr/>
        </p:nvSpPr>
        <p:spPr bwMode="auto">
          <a:xfrm>
            <a:off x="3109913" y="38369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70" name="Line 1120"/>
          <p:cNvSpPr>
            <a:spLocks noChangeShapeType="1"/>
          </p:cNvSpPr>
          <p:nvPr/>
        </p:nvSpPr>
        <p:spPr bwMode="auto">
          <a:xfrm>
            <a:off x="3109913" y="39893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71" name="Line 1121"/>
          <p:cNvSpPr>
            <a:spLocks noChangeShapeType="1"/>
          </p:cNvSpPr>
          <p:nvPr/>
        </p:nvSpPr>
        <p:spPr bwMode="auto">
          <a:xfrm>
            <a:off x="3109913" y="41417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72" name="Line 1122"/>
          <p:cNvSpPr>
            <a:spLocks noChangeShapeType="1"/>
          </p:cNvSpPr>
          <p:nvPr/>
        </p:nvSpPr>
        <p:spPr bwMode="auto">
          <a:xfrm>
            <a:off x="3109913" y="42941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73" name="Line 1123"/>
          <p:cNvSpPr>
            <a:spLocks noChangeShapeType="1"/>
          </p:cNvSpPr>
          <p:nvPr/>
        </p:nvSpPr>
        <p:spPr bwMode="auto">
          <a:xfrm>
            <a:off x="3109913" y="44465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74" name="Line 1124"/>
          <p:cNvSpPr>
            <a:spLocks noChangeShapeType="1"/>
          </p:cNvSpPr>
          <p:nvPr/>
        </p:nvSpPr>
        <p:spPr bwMode="auto">
          <a:xfrm>
            <a:off x="3109913" y="45989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75" name="Line 1125"/>
          <p:cNvSpPr>
            <a:spLocks noChangeShapeType="1"/>
          </p:cNvSpPr>
          <p:nvPr/>
        </p:nvSpPr>
        <p:spPr bwMode="auto">
          <a:xfrm>
            <a:off x="3109913" y="47513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76" name="Line 1126"/>
          <p:cNvSpPr>
            <a:spLocks noChangeShapeType="1"/>
          </p:cNvSpPr>
          <p:nvPr/>
        </p:nvSpPr>
        <p:spPr bwMode="auto">
          <a:xfrm>
            <a:off x="3109913" y="49037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77" name="Line 1127"/>
          <p:cNvSpPr>
            <a:spLocks noChangeShapeType="1"/>
          </p:cNvSpPr>
          <p:nvPr/>
        </p:nvSpPr>
        <p:spPr bwMode="auto">
          <a:xfrm>
            <a:off x="3109913" y="50561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78" name="Line 1128"/>
          <p:cNvSpPr>
            <a:spLocks noChangeShapeType="1"/>
          </p:cNvSpPr>
          <p:nvPr/>
        </p:nvSpPr>
        <p:spPr bwMode="auto">
          <a:xfrm>
            <a:off x="3109913" y="52085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79" name="Line 1129"/>
          <p:cNvSpPr>
            <a:spLocks noChangeShapeType="1"/>
          </p:cNvSpPr>
          <p:nvPr/>
        </p:nvSpPr>
        <p:spPr bwMode="auto">
          <a:xfrm>
            <a:off x="3109913" y="53609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80" name="Line 1130"/>
          <p:cNvSpPr>
            <a:spLocks noChangeShapeType="1"/>
          </p:cNvSpPr>
          <p:nvPr/>
        </p:nvSpPr>
        <p:spPr bwMode="auto">
          <a:xfrm>
            <a:off x="3109913" y="58181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200"/>
          </a:p>
        </p:txBody>
      </p:sp>
      <p:sp>
        <p:nvSpPr>
          <p:cNvPr id="284781" name="Line 1131"/>
          <p:cNvSpPr>
            <a:spLocks noChangeShapeType="1"/>
          </p:cNvSpPr>
          <p:nvPr/>
        </p:nvSpPr>
        <p:spPr bwMode="auto">
          <a:xfrm>
            <a:off x="3109913" y="59705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200"/>
          </a:p>
        </p:txBody>
      </p:sp>
      <p:sp>
        <p:nvSpPr>
          <p:cNvPr id="284782" name="Line 1132"/>
          <p:cNvSpPr>
            <a:spLocks noChangeShapeType="1"/>
          </p:cNvSpPr>
          <p:nvPr/>
        </p:nvSpPr>
        <p:spPr bwMode="auto">
          <a:xfrm>
            <a:off x="3109913" y="61229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200"/>
          </a:p>
        </p:txBody>
      </p:sp>
      <p:sp>
        <p:nvSpPr>
          <p:cNvPr id="284783" name="Line 1133"/>
          <p:cNvSpPr>
            <a:spLocks noChangeShapeType="1"/>
          </p:cNvSpPr>
          <p:nvPr/>
        </p:nvSpPr>
        <p:spPr bwMode="auto">
          <a:xfrm>
            <a:off x="3109913" y="5478463"/>
            <a:ext cx="0" cy="1873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84" name="Line 1134"/>
          <p:cNvSpPr>
            <a:spLocks noChangeShapeType="1"/>
          </p:cNvSpPr>
          <p:nvPr/>
        </p:nvSpPr>
        <p:spPr bwMode="auto">
          <a:xfrm>
            <a:off x="3724275" y="5453063"/>
            <a:ext cx="0" cy="1873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785" name="Text Box 1135"/>
          <p:cNvSpPr txBox="1">
            <a:spLocks noChangeArrowheads="1"/>
          </p:cNvSpPr>
          <p:nvPr/>
        </p:nvSpPr>
        <p:spPr bwMode="auto">
          <a:xfrm>
            <a:off x="4006850" y="2779713"/>
            <a:ext cx="387350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200" b="1"/>
              <a:t>Bit</a:t>
            </a:r>
          </a:p>
        </p:txBody>
      </p:sp>
      <p:sp>
        <p:nvSpPr>
          <p:cNvPr id="284786" name="Text Box 1136"/>
          <p:cNvSpPr txBox="1">
            <a:spLocks noChangeArrowheads="1"/>
          </p:cNvSpPr>
          <p:nvPr/>
        </p:nvSpPr>
        <p:spPr bwMode="auto">
          <a:xfrm>
            <a:off x="4427538" y="3150007"/>
            <a:ext cx="723275" cy="27699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200" b="1"/>
              <a:t>0x00000</a:t>
            </a:r>
          </a:p>
        </p:txBody>
      </p:sp>
      <p:sp>
        <p:nvSpPr>
          <p:cNvPr id="284787" name="Text Box 1137"/>
          <p:cNvSpPr txBox="1">
            <a:spLocks noChangeArrowheads="1"/>
          </p:cNvSpPr>
          <p:nvPr/>
        </p:nvSpPr>
        <p:spPr bwMode="auto">
          <a:xfrm>
            <a:off x="2324725" y="3124200"/>
            <a:ext cx="723275" cy="27699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200" b="1" dirty="0"/>
              <a:t>0x00001</a:t>
            </a:r>
          </a:p>
        </p:txBody>
      </p:sp>
      <p:sp>
        <p:nvSpPr>
          <p:cNvPr id="284788" name="Text Box 1138"/>
          <p:cNvSpPr txBox="1">
            <a:spLocks noChangeArrowheads="1"/>
          </p:cNvSpPr>
          <p:nvPr/>
        </p:nvSpPr>
        <p:spPr bwMode="auto">
          <a:xfrm>
            <a:off x="4403725" y="6061482"/>
            <a:ext cx="775047" cy="27699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200" b="1"/>
              <a:t>0xFFFFE</a:t>
            </a:r>
          </a:p>
        </p:txBody>
      </p:sp>
      <p:sp>
        <p:nvSpPr>
          <p:cNvPr id="284789" name="Text Box 1139"/>
          <p:cNvSpPr txBox="1">
            <a:spLocks noChangeArrowheads="1"/>
          </p:cNvSpPr>
          <p:nvPr/>
        </p:nvSpPr>
        <p:spPr bwMode="auto">
          <a:xfrm>
            <a:off x="2203450" y="6086882"/>
            <a:ext cx="767608" cy="27699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200" b="1"/>
              <a:t>0xFFFFF</a:t>
            </a:r>
          </a:p>
        </p:txBody>
      </p:sp>
      <p:sp>
        <p:nvSpPr>
          <p:cNvPr id="284790" name="Text Box 1140"/>
          <p:cNvSpPr txBox="1">
            <a:spLocks noChangeArrowheads="1"/>
          </p:cNvSpPr>
          <p:nvPr/>
        </p:nvSpPr>
        <p:spPr bwMode="auto">
          <a:xfrm>
            <a:off x="4432300" y="4125913"/>
            <a:ext cx="1252538" cy="11588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/>
              <a:t>Byte Addressable</a:t>
            </a:r>
          </a:p>
          <a:p>
            <a:pPr algn="ctr"/>
            <a:r>
              <a:rPr lang="en-US" sz="1000" b="1"/>
              <a:t> memory for a</a:t>
            </a:r>
          </a:p>
          <a:p>
            <a:pPr algn="ctr"/>
            <a:r>
              <a:rPr lang="en-US" sz="1000" b="1"/>
              <a:t>16-bit processor</a:t>
            </a:r>
          </a:p>
          <a:p>
            <a:pPr algn="ctr"/>
            <a:r>
              <a:rPr lang="en-US" sz="1000" b="1"/>
              <a:t>with a 20-bit </a:t>
            </a:r>
          </a:p>
          <a:p>
            <a:pPr algn="ctr"/>
            <a:r>
              <a:rPr lang="en-US" sz="1000" b="1"/>
              <a:t>addressing range</a:t>
            </a:r>
          </a:p>
          <a:p>
            <a:pPr algn="ctr"/>
            <a:r>
              <a:rPr lang="en-US" sz="1000" b="1"/>
              <a:t>Intel 80186</a:t>
            </a:r>
          </a:p>
          <a:p>
            <a:pPr algn="ctr"/>
            <a:r>
              <a:rPr lang="en-US" sz="1000" b="1" i="1"/>
              <a:t>Little Endian</a:t>
            </a:r>
            <a:endParaRPr lang="en-US" sz="1000" b="1"/>
          </a:p>
        </p:txBody>
      </p:sp>
      <p:sp>
        <p:nvSpPr>
          <p:cNvPr id="284791" name="Rectangle 1141"/>
          <p:cNvSpPr>
            <a:spLocks noChangeArrowheads="1"/>
          </p:cNvSpPr>
          <p:nvPr/>
        </p:nvSpPr>
        <p:spPr bwMode="auto">
          <a:xfrm>
            <a:off x="6894513" y="3236913"/>
            <a:ext cx="609600" cy="3048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84792" name="AutoShape 1142"/>
          <p:cNvSpPr>
            <a:spLocks noChangeArrowheads="1"/>
          </p:cNvSpPr>
          <p:nvPr/>
        </p:nvSpPr>
        <p:spPr bwMode="auto">
          <a:xfrm>
            <a:off x="6894513" y="5446713"/>
            <a:ext cx="609600" cy="228600"/>
          </a:xfrm>
          <a:prstGeom prst="flowChartPunchedTap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84793" name="Line 1143"/>
          <p:cNvSpPr>
            <a:spLocks noChangeShapeType="1"/>
          </p:cNvSpPr>
          <p:nvPr/>
        </p:nvSpPr>
        <p:spPr bwMode="auto">
          <a:xfrm>
            <a:off x="6894513" y="33893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200"/>
          </a:p>
        </p:txBody>
      </p:sp>
      <p:sp>
        <p:nvSpPr>
          <p:cNvPr id="284794" name="Line 1144"/>
          <p:cNvSpPr>
            <a:spLocks noChangeShapeType="1"/>
          </p:cNvSpPr>
          <p:nvPr/>
        </p:nvSpPr>
        <p:spPr bwMode="auto">
          <a:xfrm>
            <a:off x="6970713" y="3236913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200"/>
          </a:p>
        </p:txBody>
      </p:sp>
      <p:sp>
        <p:nvSpPr>
          <p:cNvPr id="284795" name="Line 1145"/>
          <p:cNvSpPr>
            <a:spLocks noChangeShapeType="1"/>
          </p:cNvSpPr>
          <p:nvPr/>
        </p:nvSpPr>
        <p:spPr bwMode="auto">
          <a:xfrm>
            <a:off x="7046913" y="3236913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200"/>
          </a:p>
        </p:txBody>
      </p:sp>
      <p:sp>
        <p:nvSpPr>
          <p:cNvPr id="284796" name="Line 1146"/>
          <p:cNvSpPr>
            <a:spLocks noChangeShapeType="1"/>
          </p:cNvSpPr>
          <p:nvPr/>
        </p:nvSpPr>
        <p:spPr bwMode="auto">
          <a:xfrm>
            <a:off x="7123113" y="3236913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200"/>
          </a:p>
        </p:txBody>
      </p:sp>
      <p:sp>
        <p:nvSpPr>
          <p:cNvPr id="284797" name="Line 1147"/>
          <p:cNvSpPr>
            <a:spLocks noChangeShapeType="1"/>
          </p:cNvSpPr>
          <p:nvPr/>
        </p:nvSpPr>
        <p:spPr bwMode="auto">
          <a:xfrm>
            <a:off x="7199313" y="3236913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200"/>
          </a:p>
        </p:txBody>
      </p:sp>
      <p:sp>
        <p:nvSpPr>
          <p:cNvPr id="284798" name="Line 1148"/>
          <p:cNvSpPr>
            <a:spLocks noChangeShapeType="1"/>
          </p:cNvSpPr>
          <p:nvPr/>
        </p:nvSpPr>
        <p:spPr bwMode="auto">
          <a:xfrm>
            <a:off x="7275513" y="3236913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200"/>
          </a:p>
        </p:txBody>
      </p:sp>
      <p:sp>
        <p:nvSpPr>
          <p:cNvPr id="284799" name="Line 1149"/>
          <p:cNvSpPr>
            <a:spLocks noChangeShapeType="1"/>
          </p:cNvSpPr>
          <p:nvPr/>
        </p:nvSpPr>
        <p:spPr bwMode="auto">
          <a:xfrm>
            <a:off x="7351713" y="3236913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200"/>
          </a:p>
        </p:txBody>
      </p:sp>
      <p:sp>
        <p:nvSpPr>
          <p:cNvPr id="284800" name="Line 1150"/>
          <p:cNvSpPr>
            <a:spLocks noChangeShapeType="1"/>
          </p:cNvSpPr>
          <p:nvPr/>
        </p:nvSpPr>
        <p:spPr bwMode="auto">
          <a:xfrm>
            <a:off x="7427913" y="3236913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200"/>
          </a:p>
        </p:txBody>
      </p:sp>
      <p:sp>
        <p:nvSpPr>
          <p:cNvPr id="284801" name="Text Box 1151"/>
          <p:cNvSpPr txBox="1">
            <a:spLocks noChangeArrowheads="1"/>
          </p:cNvSpPr>
          <p:nvPr/>
        </p:nvSpPr>
        <p:spPr bwMode="auto">
          <a:xfrm>
            <a:off x="6818313" y="3008313"/>
            <a:ext cx="268287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200" b="1"/>
              <a:t>7</a:t>
            </a:r>
          </a:p>
        </p:txBody>
      </p:sp>
      <p:sp>
        <p:nvSpPr>
          <p:cNvPr id="284802" name="Text Box 1152"/>
          <p:cNvSpPr txBox="1">
            <a:spLocks noChangeArrowheads="1"/>
          </p:cNvSpPr>
          <p:nvPr/>
        </p:nvSpPr>
        <p:spPr bwMode="auto">
          <a:xfrm>
            <a:off x="7351713" y="3008313"/>
            <a:ext cx="268287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200" b="1"/>
              <a:t>0</a:t>
            </a:r>
          </a:p>
        </p:txBody>
      </p:sp>
      <p:sp>
        <p:nvSpPr>
          <p:cNvPr id="284803" name="Line 1153"/>
          <p:cNvSpPr>
            <a:spLocks noChangeShapeType="1"/>
          </p:cNvSpPr>
          <p:nvPr/>
        </p:nvSpPr>
        <p:spPr bwMode="auto">
          <a:xfrm>
            <a:off x="6894513" y="35417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200"/>
          </a:p>
        </p:txBody>
      </p:sp>
      <p:sp>
        <p:nvSpPr>
          <p:cNvPr id="284804" name="Line 1154"/>
          <p:cNvSpPr>
            <a:spLocks noChangeShapeType="1"/>
          </p:cNvSpPr>
          <p:nvPr/>
        </p:nvSpPr>
        <p:spPr bwMode="auto">
          <a:xfrm>
            <a:off x="6894513" y="36941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200"/>
          </a:p>
        </p:txBody>
      </p:sp>
      <p:sp>
        <p:nvSpPr>
          <p:cNvPr id="284805" name="Line 1155"/>
          <p:cNvSpPr>
            <a:spLocks noChangeShapeType="1"/>
          </p:cNvSpPr>
          <p:nvPr/>
        </p:nvSpPr>
        <p:spPr bwMode="auto">
          <a:xfrm>
            <a:off x="6894513" y="38465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06" name="Line 1156"/>
          <p:cNvSpPr>
            <a:spLocks noChangeShapeType="1"/>
          </p:cNvSpPr>
          <p:nvPr/>
        </p:nvSpPr>
        <p:spPr bwMode="auto">
          <a:xfrm>
            <a:off x="6894513" y="39989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07" name="Line 1157"/>
          <p:cNvSpPr>
            <a:spLocks noChangeShapeType="1"/>
          </p:cNvSpPr>
          <p:nvPr/>
        </p:nvSpPr>
        <p:spPr bwMode="auto">
          <a:xfrm>
            <a:off x="6894513" y="41513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08" name="Line 1158"/>
          <p:cNvSpPr>
            <a:spLocks noChangeShapeType="1"/>
          </p:cNvSpPr>
          <p:nvPr/>
        </p:nvSpPr>
        <p:spPr bwMode="auto">
          <a:xfrm>
            <a:off x="6894513" y="43037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09" name="Line 1159"/>
          <p:cNvSpPr>
            <a:spLocks noChangeShapeType="1"/>
          </p:cNvSpPr>
          <p:nvPr/>
        </p:nvSpPr>
        <p:spPr bwMode="auto">
          <a:xfrm>
            <a:off x="6894513" y="44561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10" name="Line 1160"/>
          <p:cNvSpPr>
            <a:spLocks noChangeShapeType="1"/>
          </p:cNvSpPr>
          <p:nvPr/>
        </p:nvSpPr>
        <p:spPr bwMode="auto">
          <a:xfrm>
            <a:off x="6894513" y="46085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11" name="Line 1161"/>
          <p:cNvSpPr>
            <a:spLocks noChangeShapeType="1"/>
          </p:cNvSpPr>
          <p:nvPr/>
        </p:nvSpPr>
        <p:spPr bwMode="auto">
          <a:xfrm>
            <a:off x="6894513" y="47609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12" name="Line 1162"/>
          <p:cNvSpPr>
            <a:spLocks noChangeShapeType="1"/>
          </p:cNvSpPr>
          <p:nvPr/>
        </p:nvSpPr>
        <p:spPr bwMode="auto">
          <a:xfrm>
            <a:off x="6894513" y="49133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13" name="Line 1163"/>
          <p:cNvSpPr>
            <a:spLocks noChangeShapeType="1"/>
          </p:cNvSpPr>
          <p:nvPr/>
        </p:nvSpPr>
        <p:spPr bwMode="auto">
          <a:xfrm>
            <a:off x="6894513" y="50657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14" name="Line 1164"/>
          <p:cNvSpPr>
            <a:spLocks noChangeShapeType="1"/>
          </p:cNvSpPr>
          <p:nvPr/>
        </p:nvSpPr>
        <p:spPr bwMode="auto">
          <a:xfrm>
            <a:off x="6894513" y="52181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15" name="Line 1165"/>
          <p:cNvSpPr>
            <a:spLocks noChangeShapeType="1"/>
          </p:cNvSpPr>
          <p:nvPr/>
        </p:nvSpPr>
        <p:spPr bwMode="auto">
          <a:xfrm>
            <a:off x="6894513" y="53705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16" name="Line 1166"/>
          <p:cNvSpPr>
            <a:spLocks noChangeShapeType="1"/>
          </p:cNvSpPr>
          <p:nvPr/>
        </p:nvSpPr>
        <p:spPr bwMode="auto">
          <a:xfrm>
            <a:off x="6894513" y="58277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200"/>
          </a:p>
        </p:txBody>
      </p:sp>
      <p:sp>
        <p:nvSpPr>
          <p:cNvPr id="284817" name="Line 1167"/>
          <p:cNvSpPr>
            <a:spLocks noChangeShapeType="1"/>
          </p:cNvSpPr>
          <p:nvPr/>
        </p:nvSpPr>
        <p:spPr bwMode="auto">
          <a:xfrm>
            <a:off x="6894513" y="59801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200"/>
          </a:p>
        </p:txBody>
      </p:sp>
      <p:sp>
        <p:nvSpPr>
          <p:cNvPr id="284818" name="Line 1168"/>
          <p:cNvSpPr>
            <a:spLocks noChangeShapeType="1"/>
          </p:cNvSpPr>
          <p:nvPr/>
        </p:nvSpPr>
        <p:spPr bwMode="auto">
          <a:xfrm>
            <a:off x="6894513" y="61325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200"/>
          </a:p>
        </p:txBody>
      </p:sp>
      <p:sp>
        <p:nvSpPr>
          <p:cNvPr id="284819" name="Text Box 1169"/>
          <p:cNvSpPr txBox="1">
            <a:spLocks noChangeArrowheads="1"/>
          </p:cNvSpPr>
          <p:nvPr/>
        </p:nvSpPr>
        <p:spPr bwMode="auto">
          <a:xfrm>
            <a:off x="6473825" y="4105275"/>
            <a:ext cx="268288" cy="2444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/>
              <a:t>S</a:t>
            </a:r>
          </a:p>
        </p:txBody>
      </p:sp>
      <p:sp>
        <p:nvSpPr>
          <p:cNvPr id="284820" name="Text Box 1170"/>
          <p:cNvSpPr txBox="1">
            <a:spLocks noChangeArrowheads="1"/>
          </p:cNvSpPr>
          <p:nvPr/>
        </p:nvSpPr>
        <p:spPr bwMode="auto">
          <a:xfrm>
            <a:off x="7026275" y="4116388"/>
            <a:ext cx="261938" cy="2444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/>
              <a:t>T</a:t>
            </a:r>
          </a:p>
        </p:txBody>
      </p:sp>
      <p:sp>
        <p:nvSpPr>
          <p:cNvPr id="284821" name="Text Box 1171"/>
          <p:cNvSpPr txBox="1">
            <a:spLocks noChangeArrowheads="1"/>
          </p:cNvSpPr>
          <p:nvPr/>
        </p:nvSpPr>
        <p:spPr bwMode="auto">
          <a:xfrm>
            <a:off x="6472238" y="4265613"/>
            <a:ext cx="276225" cy="2444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/>
              <a:t>R</a:t>
            </a:r>
          </a:p>
        </p:txBody>
      </p:sp>
      <p:sp>
        <p:nvSpPr>
          <p:cNvPr id="284822" name="Text Box 1172"/>
          <p:cNvSpPr txBox="1">
            <a:spLocks noChangeArrowheads="1"/>
          </p:cNvSpPr>
          <p:nvPr/>
        </p:nvSpPr>
        <p:spPr bwMode="auto">
          <a:xfrm>
            <a:off x="7054850" y="4268788"/>
            <a:ext cx="219075" cy="2444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/>
              <a:t>I</a:t>
            </a:r>
          </a:p>
        </p:txBody>
      </p:sp>
      <p:sp>
        <p:nvSpPr>
          <p:cNvPr id="284823" name="Text Box 1173"/>
          <p:cNvSpPr txBox="1">
            <a:spLocks noChangeArrowheads="1"/>
          </p:cNvSpPr>
          <p:nvPr/>
        </p:nvSpPr>
        <p:spPr bwMode="auto">
          <a:xfrm>
            <a:off x="6464300" y="4440238"/>
            <a:ext cx="276225" cy="2444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/>
              <a:t>N</a:t>
            </a:r>
          </a:p>
        </p:txBody>
      </p:sp>
      <p:sp>
        <p:nvSpPr>
          <p:cNvPr id="284824" name="Text Box 1174"/>
          <p:cNvSpPr txBox="1">
            <a:spLocks noChangeArrowheads="1"/>
          </p:cNvSpPr>
          <p:nvPr/>
        </p:nvSpPr>
        <p:spPr bwMode="auto">
          <a:xfrm>
            <a:off x="7029450" y="4413250"/>
            <a:ext cx="282575" cy="2444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/>
              <a:t>G</a:t>
            </a:r>
          </a:p>
        </p:txBody>
      </p:sp>
      <p:sp>
        <p:nvSpPr>
          <p:cNvPr id="284825" name="Line 1175"/>
          <p:cNvSpPr>
            <a:spLocks noChangeShapeType="1"/>
          </p:cNvSpPr>
          <p:nvPr/>
        </p:nvSpPr>
        <p:spPr bwMode="auto">
          <a:xfrm>
            <a:off x="6894513" y="5487988"/>
            <a:ext cx="0" cy="1873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26" name="Line 1176"/>
          <p:cNvSpPr>
            <a:spLocks noChangeShapeType="1"/>
          </p:cNvSpPr>
          <p:nvPr/>
        </p:nvSpPr>
        <p:spPr bwMode="auto">
          <a:xfrm>
            <a:off x="7508875" y="5462588"/>
            <a:ext cx="0" cy="1873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27" name="Rectangle 1177"/>
          <p:cNvSpPr>
            <a:spLocks noChangeArrowheads="1"/>
          </p:cNvSpPr>
          <p:nvPr/>
        </p:nvSpPr>
        <p:spPr bwMode="auto">
          <a:xfrm>
            <a:off x="6278563" y="3236913"/>
            <a:ext cx="609600" cy="3048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84828" name="AutoShape 1178"/>
          <p:cNvSpPr>
            <a:spLocks noChangeArrowheads="1"/>
          </p:cNvSpPr>
          <p:nvPr/>
        </p:nvSpPr>
        <p:spPr bwMode="auto">
          <a:xfrm>
            <a:off x="6278563" y="5446713"/>
            <a:ext cx="609600" cy="228600"/>
          </a:xfrm>
          <a:prstGeom prst="flowChartPunchedTap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84829" name="Line 1179"/>
          <p:cNvSpPr>
            <a:spLocks noChangeShapeType="1"/>
          </p:cNvSpPr>
          <p:nvPr/>
        </p:nvSpPr>
        <p:spPr bwMode="auto">
          <a:xfrm>
            <a:off x="6278563" y="33893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200"/>
          </a:p>
        </p:txBody>
      </p:sp>
      <p:sp>
        <p:nvSpPr>
          <p:cNvPr id="284830" name="Line 1180"/>
          <p:cNvSpPr>
            <a:spLocks noChangeShapeType="1"/>
          </p:cNvSpPr>
          <p:nvPr/>
        </p:nvSpPr>
        <p:spPr bwMode="auto">
          <a:xfrm>
            <a:off x="6354763" y="3236913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200"/>
          </a:p>
        </p:txBody>
      </p:sp>
      <p:sp>
        <p:nvSpPr>
          <p:cNvPr id="284831" name="Line 1181"/>
          <p:cNvSpPr>
            <a:spLocks noChangeShapeType="1"/>
          </p:cNvSpPr>
          <p:nvPr/>
        </p:nvSpPr>
        <p:spPr bwMode="auto">
          <a:xfrm>
            <a:off x="6430963" y="3236913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200"/>
          </a:p>
        </p:txBody>
      </p:sp>
      <p:sp>
        <p:nvSpPr>
          <p:cNvPr id="284832" name="Line 1182"/>
          <p:cNvSpPr>
            <a:spLocks noChangeShapeType="1"/>
          </p:cNvSpPr>
          <p:nvPr/>
        </p:nvSpPr>
        <p:spPr bwMode="auto">
          <a:xfrm>
            <a:off x="6507163" y="3236913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200"/>
          </a:p>
        </p:txBody>
      </p:sp>
      <p:sp>
        <p:nvSpPr>
          <p:cNvPr id="284833" name="Line 1183"/>
          <p:cNvSpPr>
            <a:spLocks noChangeShapeType="1"/>
          </p:cNvSpPr>
          <p:nvPr/>
        </p:nvSpPr>
        <p:spPr bwMode="auto">
          <a:xfrm>
            <a:off x="6583363" y="3236913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200"/>
          </a:p>
        </p:txBody>
      </p:sp>
      <p:sp>
        <p:nvSpPr>
          <p:cNvPr id="284834" name="Line 1184"/>
          <p:cNvSpPr>
            <a:spLocks noChangeShapeType="1"/>
          </p:cNvSpPr>
          <p:nvPr/>
        </p:nvSpPr>
        <p:spPr bwMode="auto">
          <a:xfrm>
            <a:off x="6659563" y="3236913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200"/>
          </a:p>
        </p:txBody>
      </p:sp>
      <p:sp>
        <p:nvSpPr>
          <p:cNvPr id="284835" name="Line 1185"/>
          <p:cNvSpPr>
            <a:spLocks noChangeShapeType="1"/>
          </p:cNvSpPr>
          <p:nvPr/>
        </p:nvSpPr>
        <p:spPr bwMode="auto">
          <a:xfrm>
            <a:off x="6735763" y="3236913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200"/>
          </a:p>
        </p:txBody>
      </p:sp>
      <p:sp>
        <p:nvSpPr>
          <p:cNvPr id="284836" name="Line 1186"/>
          <p:cNvSpPr>
            <a:spLocks noChangeShapeType="1"/>
          </p:cNvSpPr>
          <p:nvPr/>
        </p:nvSpPr>
        <p:spPr bwMode="auto">
          <a:xfrm>
            <a:off x="6811963" y="3236913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200"/>
          </a:p>
        </p:txBody>
      </p:sp>
      <p:sp>
        <p:nvSpPr>
          <p:cNvPr id="284837" name="Text Box 1187"/>
          <p:cNvSpPr txBox="1">
            <a:spLocks noChangeArrowheads="1"/>
          </p:cNvSpPr>
          <p:nvPr/>
        </p:nvSpPr>
        <p:spPr bwMode="auto">
          <a:xfrm>
            <a:off x="6090235" y="3007132"/>
            <a:ext cx="338554" cy="27699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200" b="1"/>
              <a:t>15</a:t>
            </a:r>
          </a:p>
        </p:txBody>
      </p:sp>
      <p:sp>
        <p:nvSpPr>
          <p:cNvPr id="284838" name="Text Box 1188"/>
          <p:cNvSpPr txBox="1">
            <a:spLocks noChangeArrowheads="1"/>
          </p:cNvSpPr>
          <p:nvPr/>
        </p:nvSpPr>
        <p:spPr bwMode="auto">
          <a:xfrm>
            <a:off x="6705600" y="3008313"/>
            <a:ext cx="268288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200" b="1"/>
              <a:t>8</a:t>
            </a:r>
          </a:p>
        </p:txBody>
      </p:sp>
      <p:sp>
        <p:nvSpPr>
          <p:cNvPr id="284839" name="Line 1189"/>
          <p:cNvSpPr>
            <a:spLocks noChangeShapeType="1"/>
          </p:cNvSpPr>
          <p:nvPr/>
        </p:nvSpPr>
        <p:spPr bwMode="auto">
          <a:xfrm>
            <a:off x="6278563" y="35417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200"/>
          </a:p>
        </p:txBody>
      </p:sp>
      <p:sp>
        <p:nvSpPr>
          <p:cNvPr id="284840" name="Line 1190"/>
          <p:cNvSpPr>
            <a:spLocks noChangeShapeType="1"/>
          </p:cNvSpPr>
          <p:nvPr/>
        </p:nvSpPr>
        <p:spPr bwMode="auto">
          <a:xfrm>
            <a:off x="6278563" y="36941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200"/>
          </a:p>
        </p:txBody>
      </p:sp>
      <p:sp>
        <p:nvSpPr>
          <p:cNvPr id="284841" name="Line 1191"/>
          <p:cNvSpPr>
            <a:spLocks noChangeShapeType="1"/>
          </p:cNvSpPr>
          <p:nvPr/>
        </p:nvSpPr>
        <p:spPr bwMode="auto">
          <a:xfrm>
            <a:off x="6278563" y="38465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42" name="Line 1192"/>
          <p:cNvSpPr>
            <a:spLocks noChangeShapeType="1"/>
          </p:cNvSpPr>
          <p:nvPr/>
        </p:nvSpPr>
        <p:spPr bwMode="auto">
          <a:xfrm>
            <a:off x="6278563" y="39989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43" name="Line 1193"/>
          <p:cNvSpPr>
            <a:spLocks noChangeShapeType="1"/>
          </p:cNvSpPr>
          <p:nvPr/>
        </p:nvSpPr>
        <p:spPr bwMode="auto">
          <a:xfrm>
            <a:off x="6278563" y="41513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44" name="Line 1194"/>
          <p:cNvSpPr>
            <a:spLocks noChangeShapeType="1"/>
          </p:cNvSpPr>
          <p:nvPr/>
        </p:nvSpPr>
        <p:spPr bwMode="auto">
          <a:xfrm>
            <a:off x="6278563" y="43037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45" name="Line 1195"/>
          <p:cNvSpPr>
            <a:spLocks noChangeShapeType="1"/>
          </p:cNvSpPr>
          <p:nvPr/>
        </p:nvSpPr>
        <p:spPr bwMode="auto">
          <a:xfrm>
            <a:off x="6278563" y="44561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46" name="Line 1196"/>
          <p:cNvSpPr>
            <a:spLocks noChangeShapeType="1"/>
          </p:cNvSpPr>
          <p:nvPr/>
        </p:nvSpPr>
        <p:spPr bwMode="auto">
          <a:xfrm>
            <a:off x="6278563" y="46085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47" name="Line 1197"/>
          <p:cNvSpPr>
            <a:spLocks noChangeShapeType="1"/>
          </p:cNvSpPr>
          <p:nvPr/>
        </p:nvSpPr>
        <p:spPr bwMode="auto">
          <a:xfrm>
            <a:off x="6278563" y="47609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48" name="Line 1198"/>
          <p:cNvSpPr>
            <a:spLocks noChangeShapeType="1"/>
          </p:cNvSpPr>
          <p:nvPr/>
        </p:nvSpPr>
        <p:spPr bwMode="auto">
          <a:xfrm>
            <a:off x="6278563" y="49133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49" name="Line 1199"/>
          <p:cNvSpPr>
            <a:spLocks noChangeShapeType="1"/>
          </p:cNvSpPr>
          <p:nvPr/>
        </p:nvSpPr>
        <p:spPr bwMode="auto">
          <a:xfrm>
            <a:off x="6278563" y="50657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50" name="Line 1200"/>
          <p:cNvSpPr>
            <a:spLocks noChangeShapeType="1"/>
          </p:cNvSpPr>
          <p:nvPr/>
        </p:nvSpPr>
        <p:spPr bwMode="auto">
          <a:xfrm>
            <a:off x="6278563" y="52181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51" name="Line 1201"/>
          <p:cNvSpPr>
            <a:spLocks noChangeShapeType="1"/>
          </p:cNvSpPr>
          <p:nvPr/>
        </p:nvSpPr>
        <p:spPr bwMode="auto">
          <a:xfrm>
            <a:off x="6278563" y="53705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52" name="Line 1202"/>
          <p:cNvSpPr>
            <a:spLocks noChangeShapeType="1"/>
          </p:cNvSpPr>
          <p:nvPr/>
        </p:nvSpPr>
        <p:spPr bwMode="auto">
          <a:xfrm>
            <a:off x="6278563" y="58277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200"/>
          </a:p>
        </p:txBody>
      </p:sp>
      <p:sp>
        <p:nvSpPr>
          <p:cNvPr id="284853" name="Line 1203"/>
          <p:cNvSpPr>
            <a:spLocks noChangeShapeType="1"/>
          </p:cNvSpPr>
          <p:nvPr/>
        </p:nvSpPr>
        <p:spPr bwMode="auto">
          <a:xfrm>
            <a:off x="6278563" y="59801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200"/>
          </a:p>
        </p:txBody>
      </p:sp>
      <p:sp>
        <p:nvSpPr>
          <p:cNvPr id="284854" name="Line 1204"/>
          <p:cNvSpPr>
            <a:spLocks noChangeShapeType="1"/>
          </p:cNvSpPr>
          <p:nvPr/>
        </p:nvSpPr>
        <p:spPr bwMode="auto">
          <a:xfrm>
            <a:off x="6278563" y="6132513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200"/>
          </a:p>
        </p:txBody>
      </p:sp>
      <p:sp>
        <p:nvSpPr>
          <p:cNvPr id="284855" name="Line 1205"/>
          <p:cNvSpPr>
            <a:spLocks noChangeShapeType="1"/>
          </p:cNvSpPr>
          <p:nvPr/>
        </p:nvSpPr>
        <p:spPr bwMode="auto">
          <a:xfrm>
            <a:off x="6278563" y="5487988"/>
            <a:ext cx="0" cy="1873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56" name="Line 1206"/>
          <p:cNvSpPr>
            <a:spLocks noChangeShapeType="1"/>
          </p:cNvSpPr>
          <p:nvPr/>
        </p:nvSpPr>
        <p:spPr bwMode="auto">
          <a:xfrm>
            <a:off x="6892925" y="5462588"/>
            <a:ext cx="0" cy="1873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857" name="Text Box 1207"/>
          <p:cNvSpPr txBox="1">
            <a:spLocks noChangeArrowheads="1"/>
          </p:cNvSpPr>
          <p:nvPr/>
        </p:nvSpPr>
        <p:spPr bwMode="auto">
          <a:xfrm>
            <a:off x="7175500" y="2789238"/>
            <a:ext cx="387350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200" b="1"/>
              <a:t>Bit</a:t>
            </a:r>
          </a:p>
        </p:txBody>
      </p:sp>
      <p:sp>
        <p:nvSpPr>
          <p:cNvPr id="284858" name="Text Box 1208"/>
          <p:cNvSpPr txBox="1">
            <a:spLocks noChangeArrowheads="1"/>
          </p:cNvSpPr>
          <p:nvPr/>
        </p:nvSpPr>
        <p:spPr bwMode="auto">
          <a:xfrm>
            <a:off x="7596188" y="3159532"/>
            <a:ext cx="800219" cy="27699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200" b="1"/>
              <a:t>0x000001</a:t>
            </a:r>
          </a:p>
        </p:txBody>
      </p:sp>
      <p:sp>
        <p:nvSpPr>
          <p:cNvPr id="284859" name="Text Box 1209"/>
          <p:cNvSpPr txBox="1">
            <a:spLocks noChangeArrowheads="1"/>
          </p:cNvSpPr>
          <p:nvPr/>
        </p:nvSpPr>
        <p:spPr bwMode="auto">
          <a:xfrm>
            <a:off x="5408613" y="3183345"/>
            <a:ext cx="800219" cy="27699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200" b="1"/>
              <a:t>0x000000</a:t>
            </a:r>
          </a:p>
        </p:txBody>
      </p:sp>
      <p:sp>
        <p:nvSpPr>
          <p:cNvPr id="284860" name="Text Box 1210"/>
          <p:cNvSpPr txBox="1">
            <a:spLocks noChangeArrowheads="1"/>
          </p:cNvSpPr>
          <p:nvPr/>
        </p:nvSpPr>
        <p:spPr bwMode="auto">
          <a:xfrm>
            <a:off x="7572375" y="6071007"/>
            <a:ext cx="853419" cy="27699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200" b="1"/>
              <a:t>0xFFFFFF</a:t>
            </a:r>
          </a:p>
        </p:txBody>
      </p:sp>
      <p:sp>
        <p:nvSpPr>
          <p:cNvPr id="284861" name="Text Box 1211"/>
          <p:cNvSpPr txBox="1">
            <a:spLocks noChangeArrowheads="1"/>
          </p:cNvSpPr>
          <p:nvPr/>
        </p:nvSpPr>
        <p:spPr bwMode="auto">
          <a:xfrm>
            <a:off x="5372100" y="6096407"/>
            <a:ext cx="860858" cy="27699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200" b="1"/>
              <a:t>0xFFFFFE</a:t>
            </a:r>
          </a:p>
        </p:txBody>
      </p:sp>
      <p:sp>
        <p:nvSpPr>
          <p:cNvPr id="284862" name="Text Box 1212"/>
          <p:cNvSpPr txBox="1">
            <a:spLocks noChangeArrowheads="1"/>
          </p:cNvSpPr>
          <p:nvPr/>
        </p:nvSpPr>
        <p:spPr bwMode="auto">
          <a:xfrm>
            <a:off x="7600950" y="4135438"/>
            <a:ext cx="1252538" cy="11588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000" b="1"/>
              <a:t>Byte Addressable</a:t>
            </a:r>
          </a:p>
          <a:p>
            <a:pPr algn="ctr"/>
            <a:r>
              <a:rPr lang="en-US" sz="1000" b="1"/>
              <a:t> memory for a</a:t>
            </a:r>
          </a:p>
          <a:p>
            <a:pPr algn="ctr"/>
            <a:r>
              <a:rPr lang="en-US" sz="1000" b="1"/>
              <a:t>16-bit processor</a:t>
            </a:r>
          </a:p>
          <a:p>
            <a:pPr algn="ctr"/>
            <a:r>
              <a:rPr lang="en-US" sz="1000" b="1"/>
              <a:t>with a 24-bit </a:t>
            </a:r>
          </a:p>
          <a:p>
            <a:pPr algn="ctr"/>
            <a:r>
              <a:rPr lang="en-US" sz="1000" b="1"/>
              <a:t>addressing range</a:t>
            </a:r>
          </a:p>
          <a:p>
            <a:pPr algn="ctr"/>
            <a:r>
              <a:rPr lang="en-US" sz="1000" b="1"/>
              <a:t>MC68000</a:t>
            </a:r>
          </a:p>
          <a:p>
            <a:pPr algn="ctr"/>
            <a:r>
              <a:rPr lang="en-US" sz="1000" b="1" i="1"/>
              <a:t>Big Endian</a:t>
            </a:r>
            <a:endParaRPr lang="en-US" sz="1000" b="1"/>
          </a:p>
        </p:txBody>
      </p:sp>
      <p:sp>
        <p:nvSpPr>
          <p:cNvPr id="191" name="Rounded Rectangle 190"/>
          <p:cNvSpPr/>
          <p:nvPr/>
        </p:nvSpPr>
        <p:spPr>
          <a:xfrm>
            <a:off x="1905000" y="2590800"/>
            <a:ext cx="3505200" cy="38862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11000"/>
                </a:schemeClr>
              </a:gs>
              <a:gs pos="80000">
                <a:schemeClr val="accent1">
                  <a:shade val="93000"/>
                  <a:satMod val="130000"/>
                  <a:alpha val="11000"/>
                </a:schemeClr>
              </a:gs>
              <a:gs pos="100000">
                <a:schemeClr val="accent1">
                  <a:shade val="94000"/>
                  <a:satMod val="135000"/>
                  <a:alpha val="1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Little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5410200" y="2590800"/>
            <a:ext cx="3657600" cy="388620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50000"/>
                  <a:satMod val="300000"/>
                  <a:alpha val="18000"/>
                </a:schemeClr>
              </a:gs>
              <a:gs pos="35000">
                <a:schemeClr val="accent5">
                  <a:tint val="37000"/>
                  <a:satMod val="300000"/>
                  <a:alpha val="18000"/>
                </a:schemeClr>
              </a:gs>
              <a:gs pos="100000">
                <a:schemeClr val="accent5">
                  <a:tint val="15000"/>
                  <a:satMod val="350000"/>
                  <a:alpha val="18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Big</a:t>
            </a:r>
          </a:p>
        </p:txBody>
      </p:sp>
    </p:spTree>
    <p:extLst>
      <p:ext uri="{BB962C8B-B14F-4D97-AF65-F5344CB8AC3E}">
        <p14:creationId xmlns:p14="http://schemas.microsoft.com/office/powerpoint/2010/main" val="12161650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VERSION" val="5"/>
  <p:tag name="TPFULLVERSION" val="05030.17.01"/>
  <p:tag name="PPTVERSION" val="14"/>
  <p:tag name="TPOS" val="6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2_Office Theme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Office Theme">
      <a:majorFont>
        <a:latin typeface="Frutiger 55 Roman"/>
        <a:ea typeface="ＭＳ Ｐゴシック"/>
        <a:cs typeface=""/>
      </a:majorFont>
      <a:minorFont>
        <a:latin typeface="Frutiger 55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Office Them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Office Theme">
  <a:themeElements>
    <a:clrScheme name="2_Office Theme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Office Theme">
      <a:majorFont>
        <a:latin typeface="Frutiger 55 Roman"/>
        <a:ea typeface="ＭＳ Ｐゴシック"/>
        <a:cs typeface=""/>
      </a:majorFont>
      <a:minorFont>
        <a:latin typeface="Frutiger 55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Office Them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Executive.thmx</Template>
  <TotalTime>26624</TotalTime>
  <Words>8843</Words>
  <Application>Microsoft Office PowerPoint</Application>
  <PresentationFormat>On-screen Show (4:3)</PresentationFormat>
  <Paragraphs>2531</Paragraphs>
  <Slides>64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64</vt:i4>
      </vt:variant>
    </vt:vector>
  </HeadingPairs>
  <TitlesOfParts>
    <vt:vector size="78" baseType="lpstr">
      <vt:lpstr>Frutiger 55 Roman</vt:lpstr>
      <vt:lpstr>Malgun Gothic</vt:lpstr>
      <vt:lpstr>MS PGothic</vt:lpstr>
      <vt:lpstr>MS PGothic</vt:lpstr>
      <vt:lpstr>Arial</vt:lpstr>
      <vt:lpstr>Calibri</vt:lpstr>
      <vt:lpstr>Century Gothic</vt:lpstr>
      <vt:lpstr>Courier New</vt:lpstr>
      <vt:lpstr>Mangal</vt:lpstr>
      <vt:lpstr>Palatino Linotype</vt:lpstr>
      <vt:lpstr>Wingdings</vt:lpstr>
      <vt:lpstr>Executive</vt:lpstr>
      <vt:lpstr>2_Office Theme</vt:lpstr>
      <vt:lpstr>3_Office Theme</vt:lpstr>
      <vt:lpstr>Building Memory</vt:lpstr>
      <vt:lpstr>PowerPoint Presentation</vt:lpstr>
      <vt:lpstr>From Smaller to Larger Chips</vt:lpstr>
      <vt:lpstr>Addressable Memory  Defined</vt:lpstr>
      <vt:lpstr>Transistor Density Increase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NEC SRAM</vt:lpstr>
      <vt:lpstr>From SRAM (Embedded) to Extendable DRAM (PC)</vt:lpstr>
      <vt:lpstr>Memory Extension (XY) </vt:lpstr>
      <vt:lpstr>Memory Extension (Y x X) </vt:lpstr>
      <vt:lpstr>Extending Memory Addresses</vt:lpstr>
      <vt:lpstr>Paging Example</vt:lpstr>
      <vt:lpstr>Y by X Memory Dimensions</vt:lpstr>
      <vt:lpstr>Exercise #1</vt:lpstr>
      <vt:lpstr>Exercise #2 (is 2-Person)</vt:lpstr>
      <vt:lpstr>Null Interleaving Example</vt:lpstr>
      <vt:lpstr>Low V.S. High Order Dictates Access Patterns</vt:lpstr>
      <vt:lpstr>Byte Addressable V.S. Word Addressable</vt:lpstr>
      <vt:lpstr>Consider 3 Lines (Address or Byte Select)</vt:lpstr>
      <vt:lpstr>Selecting Bytes</vt:lpstr>
      <vt:lpstr>High &amp; Low Order Example</vt:lpstr>
      <vt:lpstr>Lower Order Exercise</vt:lpstr>
      <vt:lpstr>Guest Memory Chip Characteristics</vt:lpstr>
      <vt:lpstr>Y &amp; X Dimensions Scale Memory</vt:lpstr>
      <vt:lpstr>Cut-and-Paste (in X) To Expand IO Width/Stride</vt:lpstr>
      <vt:lpstr>Cut-and-Paste (in Y) To Expand Address Space</vt:lpstr>
      <vt:lpstr>Outer Memory Interface:  (Inner Memory Address Wires + Control Wires)</vt:lpstr>
      <vt:lpstr>Again: Decoding the Memory Space</vt:lpstr>
      <vt:lpstr>Decoding the Memory Space</vt:lpstr>
      <vt:lpstr>Decoding Memory</vt:lpstr>
      <vt:lpstr>Decoding Memory</vt:lpstr>
      <vt:lpstr>Processor-to-Memory &amp; Addresses</vt:lpstr>
      <vt:lpstr>Introduction to Assembly on the 68K</vt:lpstr>
      <vt:lpstr>404 Not Found</vt:lpstr>
      <vt:lpstr>  Processor-to-Memory Interface  (Disassembler Trial Groups?)</vt:lpstr>
      <vt:lpstr>Address Space Partitioning (Group Question #1)</vt:lpstr>
      <vt:lpstr>Group Exercise #2</vt:lpstr>
      <vt:lpstr>Processor and Memory #3</vt:lpstr>
      <vt:lpstr>Color Blind Example #4</vt:lpstr>
      <vt:lpstr>Page : Offset</vt:lpstr>
      <vt:lpstr>Paging</vt:lpstr>
      <vt:lpstr>Paging</vt:lpstr>
      <vt:lpstr>Address Space Partitioning Exercise</vt:lpstr>
      <vt:lpstr>Partitioning Exercise</vt:lpstr>
      <vt:lpstr>Partitioning Exercise</vt:lpstr>
      <vt:lpstr>More Partitioning Exercises</vt:lpstr>
      <vt:lpstr>Address Space Partitioning</vt:lpstr>
      <vt:lpstr>PowerPoint Presentation</vt:lpstr>
      <vt:lpstr>Address Space Partitioning</vt:lpstr>
      <vt:lpstr>Address Partitioning Done</vt:lpstr>
      <vt:lpstr>Aside: Hard-Boiled Eggs</vt:lpstr>
      <vt:lpstr>Byte Addressing – Big Endian</vt:lpstr>
      <vt:lpstr>Byte Addressing – Little Endian</vt:lpstr>
      <vt:lpstr>Byte Packing – Big Endian</vt:lpstr>
      <vt:lpstr>Byte Packing – Little Endian</vt:lpstr>
      <vt:lpstr>Memory Organization &amp; “Endian-ness”</vt:lpstr>
      <vt:lpstr>Memory Organization in 68K, x86, R2000, StrongARM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ArrayLists</dc:title>
  <dc:creator>ThinBlade</dc:creator>
  <cp:lastModifiedBy>Ryan Peters</cp:lastModifiedBy>
  <cp:revision>2485</cp:revision>
  <dcterms:created xsi:type="dcterms:W3CDTF">2006-08-16T00:00:00Z</dcterms:created>
  <dcterms:modified xsi:type="dcterms:W3CDTF">2018-10-29T15:51:31Z</dcterms:modified>
</cp:coreProperties>
</file>