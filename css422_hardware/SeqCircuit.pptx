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60" r:id="rId2"/>
    <p:sldMasterId id="2147483661" r:id="rId3"/>
    <p:sldMasterId id="2147483662" r:id="rId4"/>
    <p:sldMasterId id="2147483663" r:id="rId5"/>
  </p:sldMasterIdLst>
  <p:notesMasterIdLst>
    <p:notesMasterId r:id="rId58"/>
  </p:notesMasterIdLst>
  <p:handoutMasterIdLst>
    <p:handoutMasterId r:id="rId59"/>
  </p:handoutMasterIdLst>
  <p:sldIdLst>
    <p:sldId id="257" r:id="rId6"/>
    <p:sldId id="689" r:id="rId7"/>
    <p:sldId id="660" r:id="rId8"/>
    <p:sldId id="668" r:id="rId9"/>
    <p:sldId id="676" r:id="rId10"/>
    <p:sldId id="664" r:id="rId11"/>
    <p:sldId id="619" r:id="rId12"/>
    <p:sldId id="624" r:id="rId13"/>
    <p:sldId id="627" r:id="rId14"/>
    <p:sldId id="628" r:id="rId15"/>
    <p:sldId id="629" r:id="rId16"/>
    <p:sldId id="667" r:id="rId17"/>
    <p:sldId id="631" r:id="rId18"/>
    <p:sldId id="683" r:id="rId19"/>
    <p:sldId id="669" r:id="rId20"/>
    <p:sldId id="632" r:id="rId21"/>
    <p:sldId id="670" r:id="rId22"/>
    <p:sldId id="633" r:id="rId23"/>
    <p:sldId id="634" r:id="rId24"/>
    <p:sldId id="542" r:id="rId25"/>
    <p:sldId id="686" r:id="rId26"/>
    <p:sldId id="687" r:id="rId27"/>
    <p:sldId id="684" r:id="rId28"/>
    <p:sldId id="601" r:id="rId29"/>
    <p:sldId id="611" r:id="rId30"/>
    <p:sldId id="606" r:id="rId31"/>
    <p:sldId id="610" r:id="rId32"/>
    <p:sldId id="694" r:id="rId33"/>
    <p:sldId id="695" r:id="rId34"/>
    <p:sldId id="688" r:id="rId35"/>
    <p:sldId id="612" r:id="rId36"/>
    <p:sldId id="696" r:id="rId37"/>
    <p:sldId id="608" r:id="rId38"/>
    <p:sldId id="697" r:id="rId39"/>
    <p:sldId id="613" r:id="rId40"/>
    <p:sldId id="691" r:id="rId41"/>
    <p:sldId id="685" r:id="rId42"/>
    <p:sldId id="692" r:id="rId43"/>
    <p:sldId id="693" r:id="rId44"/>
    <p:sldId id="698" r:id="rId45"/>
    <p:sldId id="699" r:id="rId46"/>
    <p:sldId id="616" r:id="rId47"/>
    <p:sldId id="677" r:id="rId48"/>
    <p:sldId id="579" r:id="rId49"/>
    <p:sldId id="581" r:id="rId50"/>
    <p:sldId id="584" r:id="rId51"/>
    <p:sldId id="585" r:id="rId52"/>
    <p:sldId id="586" r:id="rId53"/>
    <p:sldId id="587" r:id="rId54"/>
    <p:sldId id="589" r:id="rId55"/>
    <p:sldId id="678" r:id="rId56"/>
    <p:sldId id="690" r:id="rId57"/>
  </p:sldIdLst>
  <p:sldSz cx="9144000" cy="6858000" type="screen4x3"/>
  <p:notesSz cx="7010400" cy="9223375"/>
  <p:custShowLst>
    <p:custShow name="Custom Show 1" id="0">
      <p:sldLst/>
    </p:custShow>
  </p:custShowLst>
  <p:custDataLst>
    <p:tags r:id="rId6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Frutiger 55 Roman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Frutiger 55 Roman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Frutiger 55 Roman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Frutiger 55 Roman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Frutiger 55 Roman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Frutiger 55 Roman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Frutiger 55 Roman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Frutiger 55 Roman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Frutiger 55 Roman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5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CC"/>
    <a:srgbClr val="002BB4"/>
    <a:srgbClr val="0033CC"/>
    <a:srgbClr val="003399"/>
    <a:srgbClr val="3333FF"/>
    <a:srgbClr val="FF0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9" autoAdjust="0"/>
    <p:restoredTop sz="75773" autoAdjust="0"/>
  </p:normalViewPr>
  <p:slideViewPr>
    <p:cSldViewPr>
      <p:cViewPr varScale="1">
        <p:scale>
          <a:sx n="74" d="100"/>
          <a:sy n="74" d="100"/>
        </p:scale>
        <p:origin x="-147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052"/>
    </p:cViewPr>
  </p:sorterViewPr>
  <p:notesViewPr>
    <p:cSldViewPr>
      <p:cViewPr varScale="1">
        <p:scale>
          <a:sx n="84" d="100"/>
          <a:sy n="84" d="100"/>
        </p:scale>
        <p:origin x="-1968" y="-72"/>
      </p:cViewPr>
      <p:guideLst>
        <p:guide orient="horz" pos="2905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9" Type="http://schemas.openxmlformats.org/officeDocument/2006/relationships/handoutMaster" Target="handoutMasters/handoutMaster1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60" Type="http://schemas.openxmlformats.org/officeDocument/2006/relationships/printerSettings" Target="printerSettings/printerSettings1.bin"/><Relationship Id="rId61" Type="http://schemas.openxmlformats.org/officeDocument/2006/relationships/tags" Target="tags/tag1.xml"/><Relationship Id="rId62" Type="http://schemas.openxmlformats.org/officeDocument/2006/relationships/presProps" Target="presProp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7840" cy="461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1"/>
            <a:ext cx="3037840" cy="461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/>
            </a:lvl1pPr>
          </a:lstStyle>
          <a:p>
            <a:pPr>
              <a:defRPr/>
            </a:pPr>
            <a:fld id="{DBA4A1CF-28F2-4272-A2BA-3606B4B762D4}" type="datetimeFigureOut">
              <a:rPr lang="en-US"/>
              <a:pPr>
                <a:defRPr/>
              </a:pPr>
              <a:t>10/6/14</a:t>
            </a:fld>
            <a:endParaRPr lang="en-US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60606"/>
            <a:ext cx="3037840" cy="461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60606"/>
            <a:ext cx="3037840" cy="461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/>
            </a:lvl1pPr>
          </a:lstStyle>
          <a:p>
            <a:pPr>
              <a:defRPr/>
            </a:pPr>
            <a:fld id="{3BFEB5D9-A7F7-4514-8A89-35E110D111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26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latin typeface="Arial" pitchFamily="34" charset="0"/>
                <a:ea typeface="굴림" pitchFamily="34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1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>
                <a:latin typeface="Arial" pitchFamily="34" charset="0"/>
                <a:ea typeface="굴림" pitchFamily="34" charset="-127"/>
              </a:defRPr>
            </a:lvl1pPr>
          </a:lstStyle>
          <a:p>
            <a:pPr>
              <a:defRPr/>
            </a:pPr>
            <a:fld id="{07DB5813-1675-447C-8306-DE12F3FF395E}" type="datetimeFigureOut">
              <a:rPr lang="en-US" altLang="ko-KR"/>
              <a:pPr>
                <a:defRPr/>
              </a:pPr>
              <a:t>10/6/14</a:t>
            </a:fld>
            <a:endParaRPr lang="en-US" altLang="ko-KR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8563" y="692150"/>
            <a:ext cx="4613275" cy="34591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381104"/>
            <a:ext cx="5140960" cy="4150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182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2206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 eaLnBrk="0" hangingPunct="0">
              <a:defRPr>
                <a:latin typeface="Arial" pitchFamily="34" charset="0"/>
                <a:ea typeface="굴림" pitchFamily="34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2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762206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굴림" pitchFamily="34" charset="-127"/>
              </a:defRPr>
            </a:lvl1pPr>
          </a:lstStyle>
          <a:p>
            <a:pPr>
              <a:defRPr/>
            </a:pPr>
            <a:fld id="{0CBABED2-8EB9-4F58-9B2E-641E6E2025A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458662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75518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>
                <a:latin typeface="Times New Roman" pitchFamily="-1" charset="0"/>
                <a:cs typeface="+mn-cs"/>
              </a:rPr>
              <a:t> </a:t>
            </a: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1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So far, we have seen combinational circuits</a:t>
            </a: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53648" indent="-289865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59459" indent="-231892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23243" indent="-231892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87027" indent="-231892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50810" indent="-231892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3014594" indent="-231892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78378" indent="-231892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942161" indent="-231892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fld id="{999F48FD-BA58-41E8-9DD3-C8A0FFEA74DE}" type="slidenum">
              <a:rPr lang="ko-KR" altLang="en-US" smtClean="0">
                <a:latin typeface="Arial" pitchFamily="34" charset="0"/>
                <a:ea typeface="굴림" pitchFamily="34" charset="-127"/>
              </a:rPr>
              <a:pPr/>
              <a:t>5</a:t>
            </a:fld>
            <a:endParaRPr lang="en-US" altLang="ko-KR" smtClean="0">
              <a:latin typeface="Arial" pitchFamily="34" charset="0"/>
              <a:ea typeface="굴림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7506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Assume Q=0, ~Q=1</a:t>
            </a:r>
            <a:r>
              <a:rPr lang="en-US" baseline="0" dirty="0" smtClean="0"/>
              <a:t> </a:t>
            </a:r>
          </a:p>
          <a:p>
            <a:r>
              <a:rPr lang="en-US" baseline="0" dirty="0" smtClean="0"/>
              <a:t>Change R to 1, NOR out to Q becomes 0</a:t>
            </a:r>
          </a:p>
          <a:p>
            <a:endParaRPr lang="en-US" baseline="0" dirty="0" smtClean="0"/>
          </a:p>
          <a:p>
            <a:r>
              <a:rPr lang="en-US" baseline="0" dirty="0" smtClean="0"/>
              <a:t>Change R and S to 1, NOR out to ~Q becomes 1 and NOR out to Q is also 1? Bad logic, both hi </a:t>
            </a:r>
          </a:p>
          <a:p>
            <a:r>
              <a:rPr lang="en-US" baseline="0" dirty="0" smtClean="0"/>
              <a:t>Then when RS go low, whichever signal actually goes low last will set the final value in the gate (hi or low, which is bad)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BABED2-8EB9-4F58-9B2E-641E6E2025A4}" type="slidenum">
              <a:rPr lang="ko-KR" altLang="en-US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165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8088" y="698500"/>
            <a:ext cx="4594225" cy="34448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35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8088" y="698500"/>
            <a:ext cx="4594225" cy="34448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27567">
              <a:defRPr/>
            </a:pPr>
            <a:r>
              <a:rPr lang="en-US" dirty="0">
                <a:latin typeface="Times New Roman" pitchFamily="-1" charset="0"/>
                <a:cs typeface="+mn-cs"/>
              </a:rPr>
              <a:t>Another useful flip-flop is the </a:t>
            </a:r>
            <a:r>
              <a:rPr lang="en-US" b="1" dirty="0">
                <a:latin typeface="Times New Roman" pitchFamily="-1" charset="0"/>
                <a:cs typeface="+mn-cs"/>
              </a:rPr>
              <a:t>J–K flip-flop. </a:t>
            </a:r>
            <a:r>
              <a:rPr lang="en-US" dirty="0">
                <a:latin typeface="Times New Roman" pitchFamily="-1" charset="0"/>
                <a:cs typeface="+mn-cs"/>
              </a:rPr>
              <a:t>Like the S–R flip-flop, it has two inputs. However, in this case all possible combinations of input values are valid. Figure 11.26 shows a gate implementation of the J–K flip-flop.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335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>
                <a:latin typeface="Times New Roman" pitchFamily="-1" charset="0"/>
                <a:cs typeface="+mn-cs"/>
              </a:rPr>
              <a:t> </a:t>
            </a: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354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90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>
                <a:latin typeface="Times New Roman" pitchFamily="-1" charset="0"/>
                <a:cs typeface="+mn-cs"/>
              </a:rPr>
              <a:t> </a:t>
            </a: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390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>
                <a:latin typeface="Times New Roman" pitchFamily="-1" charset="0"/>
                <a:cs typeface="+mn-cs"/>
              </a:rPr>
              <a:t> </a:t>
            </a: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5327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If x is low, we OR A and</a:t>
            </a:r>
            <a:r>
              <a:rPr lang="en-US" baseline="0" dirty="0" smtClean="0"/>
              <a:t> B and output this as y</a:t>
            </a:r>
          </a:p>
          <a:p>
            <a:r>
              <a:rPr lang="en-US" baseline="0" dirty="0" smtClean="0"/>
              <a:t>If x is high, we OR A and B and store this in DF(A) and store ~A in DF(B)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BABED2-8EB9-4F58-9B2E-641E6E2025A4}" type="slidenum">
              <a:rPr lang="ko-KR" altLang="en-US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2977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>
                <a:latin typeface="Times New Roman" pitchFamily="-1" charset="0"/>
                <a:cs typeface="+mn-cs"/>
              </a:rPr>
              <a:t> </a:t>
            </a: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581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689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689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>
                <a:latin typeface="Times New Roman" pitchFamily="-1" charset="0"/>
                <a:cs typeface="+mn-cs"/>
              </a:rPr>
              <a:t> </a:t>
            </a: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424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865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7633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726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792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226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114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8088" y="698500"/>
            <a:ext cx="4594225" cy="3444875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921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26763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2347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768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5032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323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49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49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750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367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543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2259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260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3071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089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62000"/>
            <a:ext cx="2057400" cy="53641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762000"/>
            <a:ext cx="6019800" cy="53641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5073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99BCD-1F5E-4F29-9739-94C56D77FBB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3926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314F3-3567-4391-9296-0FFE01216D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9397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8E72EC-6A6B-4319-AC16-8B86117C204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89014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49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49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A86D41-3B4B-4237-8FF1-25119752FF7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4084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B950D-6691-4C20-8417-48EA4989238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5250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B91C29-1C6B-4C33-B328-55E3357DD99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65383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18A8C9-680F-4AA1-BD62-5AA61EB2B0B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38998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606D7F-AB52-4E1E-A081-77B5EB3F043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490705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F928D-6C55-4CF9-957C-3683D366C96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91865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4990F2-B87E-455B-867F-268F5F1FAD1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583478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62000"/>
            <a:ext cx="2057400" cy="53641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762000"/>
            <a:ext cx="6019800" cy="53641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8C7143-42F0-4E17-A2AE-0D265A4AB89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477367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595C8-361D-4785-A0F8-DBE66DB95FA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058508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7391400" y="6172200"/>
            <a:ext cx="914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r" eaLnBrk="1" hangingPunct="1">
              <a:defRPr/>
            </a:pPr>
            <a:fld id="{F3CA0BBD-80AF-42FD-8E80-99E932E1AA1C}" type="slidenum">
              <a:rPr lang="en-US" smtClean="0"/>
              <a:pPr algn="r" eaLnBrk="1" hangingPunct="1">
                <a:defRPr/>
              </a:pPr>
              <a:t>‹#›</a:t>
            </a:fld>
            <a:endParaRPr 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93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3729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047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221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89552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35914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10456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90498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0C090-25E2-4402-B14E-D97A9FA3F57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063547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228600"/>
            <a:ext cx="209550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13410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9B5638-BE0A-4DE0-82EA-6C7570A1B9B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873311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F3FDD-0FDC-4425-ABAF-4E25307A7A9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35033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C6B5B-AF35-4409-B88F-CF1FF17E023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62233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D64F04-083E-4AD6-9991-BB1F1169F39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69476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49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49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10DAC-8CB6-4D82-96BA-EBACDBEADAD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14387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DAC641-DDFE-4A9A-8101-17E17A98CBF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31793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6289E-B7FF-4DBC-89E4-253B6B37CCF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80467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0AE89-09C1-4BDC-99DB-6B6714B3B23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64867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8050F-805A-4220-A0DC-CA698A38CDA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68265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C9F1C-97E6-47D9-8816-2D433E97F01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87792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4FFC0-74D8-4083-A56F-D27C9D6B642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09665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62000"/>
            <a:ext cx="2057400" cy="53641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762000"/>
            <a:ext cx="6019800" cy="53641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2CA4CB-5ABF-447B-B744-FD6EC9CB352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4546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9794A-E4C2-4EBD-A154-BE9AE84A9E0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48062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F2A8F-C0EF-4330-8DA4-2315F46FD3D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04096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81BE8-18AC-43C6-B7AB-0A7E725CA9E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48934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49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49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B5BAE-3A4C-4187-BB7E-51661A887EC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39143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47BCC-E463-4D52-A830-B2954CA8C95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23708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48268-18D2-4DA5-B2BB-FB0F216F889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759732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43479-F72B-4A13-9B50-60980ECD190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88711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2535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335783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07097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62000"/>
            <a:ext cx="2057400" cy="53641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762000"/>
            <a:ext cx="6019800" cy="53641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5119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13" Type="http://schemas.openxmlformats.org/officeDocument/2006/relationships/image" Target="../media/image4.png"/><Relationship Id="rId14" Type="http://schemas.openxmlformats.org/officeDocument/2006/relationships/image" Target="../media/image3.png"/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BFBFBF"/>
            </a:gs>
            <a:gs pos="60001">
              <a:srgbClr val="D9D9D9"/>
            </a:gs>
            <a:gs pos="100000">
              <a:srgbClr val="D9D9D9"/>
            </a:gs>
          </a:gsLst>
          <a:lin ang="5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684412_high_Purple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9275B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ko-KR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9275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ko-KR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pic>
        <p:nvPicPr>
          <p:cNvPr id="1029" name="Picture 7" descr="UW.Wordmark_ctr_white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52425"/>
            <a:ext cx="255111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10"/>
          <p:cNvSpPr>
            <a:spLocks noChangeArrowheads="1"/>
          </p:cNvSpPr>
          <p:nvPr/>
        </p:nvSpPr>
        <p:spPr bwMode="auto">
          <a:xfrm>
            <a:off x="0" y="180975"/>
            <a:ext cx="576263" cy="457200"/>
          </a:xfrm>
          <a:prstGeom prst="rect">
            <a:avLst/>
          </a:prstGeom>
          <a:solidFill>
            <a:srgbClr val="39275B"/>
          </a:solidFill>
          <a:ln>
            <a:noFill/>
          </a:ln>
          <a:effectLst>
            <a:outerShdw dist="38100" dir="3600019" algn="br" rotWithShape="0">
              <a:srgbClr val="808080">
                <a:alpha val="1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457200"/>
            <a:endParaRPr lang="ko-KR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pic>
        <p:nvPicPr>
          <p:cNvPr id="1031" name="Picture 8" descr="UW_W-Logo_RGB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295275"/>
            <a:ext cx="3381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7620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10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76400"/>
            <a:ext cx="8229600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623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5" r:id="rId1"/>
    <p:sldLayoutId id="2147484466" r:id="rId2"/>
    <p:sldLayoutId id="2147484467" r:id="rId3"/>
    <p:sldLayoutId id="2147484468" r:id="rId4"/>
    <p:sldLayoutId id="2147484469" r:id="rId5"/>
    <p:sldLayoutId id="2147484470" r:id="rId6"/>
    <p:sldLayoutId id="2147484471" r:id="rId7"/>
    <p:sldLayoutId id="2147484472" r:id="rId8"/>
    <p:sldLayoutId id="2147484473" r:id="rId9"/>
    <p:sldLayoutId id="2147484474" r:id="rId10"/>
    <p:sldLayoutId id="2147484475" r:id="rId1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7620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76400"/>
            <a:ext cx="8229600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9FCFA63-6224-4F8A-9F3E-0448F4F6A31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76" r:id="rId1"/>
    <p:sldLayoutId id="2147484477" r:id="rId2"/>
    <p:sldLayoutId id="2147484478" r:id="rId3"/>
    <p:sldLayoutId id="2147484479" r:id="rId4"/>
    <p:sldLayoutId id="2147484480" r:id="rId5"/>
    <p:sldLayoutId id="2147484481" r:id="rId6"/>
    <p:sldLayoutId id="2147484482" r:id="rId7"/>
    <p:sldLayoutId id="2147484483" r:id="rId8"/>
    <p:sldLayoutId id="2147484484" r:id="rId9"/>
    <p:sldLayoutId id="2147484485" r:id="rId10"/>
    <p:sldLayoutId id="2147484486" r:id="rId1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9275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ko-KR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80975"/>
            <a:ext cx="576263" cy="457200"/>
          </a:xfrm>
          <a:prstGeom prst="rect">
            <a:avLst/>
          </a:prstGeom>
          <a:solidFill>
            <a:srgbClr val="39275B"/>
          </a:solidFill>
          <a:ln>
            <a:noFill/>
          </a:ln>
          <a:effectLst>
            <a:outerShdw dist="38100" dir="3600019" algn="br" rotWithShape="0">
              <a:srgbClr val="808080">
                <a:alpha val="1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457200"/>
            <a:endParaRPr lang="ko-KR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pic>
        <p:nvPicPr>
          <p:cNvPr id="3076" name="Picture 8" descr="UW_W-Logo_RGB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295275"/>
            <a:ext cx="3381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itle Placeholder 1"/>
          <p:cNvSpPr>
            <a:spLocks noGrp="1"/>
          </p:cNvSpPr>
          <p:nvPr>
            <p:ph type="title"/>
          </p:nvPr>
        </p:nvSpPr>
        <p:spPr bwMode="auto">
          <a:xfrm>
            <a:off x="304800" y="2286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000" y="6553200"/>
            <a:ext cx="692150" cy="1682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DDD5862-8FAB-4E4A-AE54-24B962D8A38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87" r:id="rId1"/>
    <p:sldLayoutId id="2147484508" r:id="rId2"/>
    <p:sldLayoutId id="2147484509" r:id="rId3"/>
    <p:sldLayoutId id="2147484510" r:id="rId4"/>
    <p:sldLayoutId id="2147484511" r:id="rId5"/>
    <p:sldLayoutId id="2147484512" r:id="rId6"/>
    <p:sldLayoutId id="2147484513" r:id="rId7"/>
    <p:sldLayoutId id="2147484514" r:id="rId8"/>
    <p:sldLayoutId id="2147484515" r:id="rId9"/>
    <p:sldLayoutId id="2147484488" r:id="rId10"/>
    <p:sldLayoutId id="2147484489" r:id="rId1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7620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76400"/>
            <a:ext cx="8229600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C046857-5EBD-4814-A953-18E01B4EA05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90" r:id="rId1"/>
    <p:sldLayoutId id="2147484491" r:id="rId2"/>
    <p:sldLayoutId id="2147484492" r:id="rId3"/>
    <p:sldLayoutId id="2147484493" r:id="rId4"/>
    <p:sldLayoutId id="2147484494" r:id="rId5"/>
    <p:sldLayoutId id="2147484495" r:id="rId6"/>
    <p:sldLayoutId id="2147484496" r:id="rId7"/>
    <p:sldLayoutId id="2147484497" r:id="rId8"/>
    <p:sldLayoutId id="2147484498" r:id="rId9"/>
    <p:sldLayoutId id="2147484499" r:id="rId10"/>
    <p:sldLayoutId id="2147484500" r:id="rId1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9275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ko-KR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pic>
        <p:nvPicPr>
          <p:cNvPr id="5123" name="Picture 9" descr="UW.Wordmark_ctr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61950"/>
            <a:ext cx="256381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8"/>
          <p:cNvSpPr>
            <a:spLocks noChangeArrowheads="1"/>
          </p:cNvSpPr>
          <p:nvPr/>
        </p:nvSpPr>
        <p:spPr bwMode="auto">
          <a:xfrm>
            <a:off x="0" y="180975"/>
            <a:ext cx="576263" cy="457200"/>
          </a:xfrm>
          <a:prstGeom prst="rect">
            <a:avLst/>
          </a:prstGeom>
          <a:solidFill>
            <a:srgbClr val="39275B"/>
          </a:solidFill>
          <a:ln>
            <a:noFill/>
          </a:ln>
          <a:effectLst>
            <a:outerShdw dist="38100" dir="3600019" algn="br" rotWithShape="0">
              <a:srgbClr val="808080">
                <a:alpha val="1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457200"/>
            <a:endParaRPr lang="ko-KR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pic>
        <p:nvPicPr>
          <p:cNvPr id="5125" name="Picture 8" descr="UW_W-Logo_RGB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295275"/>
            <a:ext cx="3381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7620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51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76400"/>
            <a:ext cx="8229600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65475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0715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58AD58E-5866-4FEA-B99E-DF75865F5F1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1" r:id="rId1"/>
    <p:sldLayoutId id="2147484502" r:id="rId2"/>
    <p:sldLayoutId id="2147484503" r:id="rId3"/>
    <p:sldLayoutId id="2147484504" r:id="rId4"/>
    <p:sldLayoutId id="2147484505" r:id="rId5"/>
    <p:sldLayoutId id="2147484506" r:id="rId6"/>
    <p:sldLayoutId id="2147484507" r:id="rId7"/>
    <p:sldLayoutId id="2147484516" r:id="rId8"/>
    <p:sldLayoutId id="2147484517" r:id="rId9"/>
    <p:sldLayoutId id="2147484518" r:id="rId10"/>
    <p:sldLayoutId id="2147484519" r:id="rId1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24.xml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21.png"/><Relationship Id="rId1" Type="http://schemas.openxmlformats.org/officeDocument/2006/relationships/tags" Target="../tags/tag2.xml"/><Relationship Id="rId2" Type="http://schemas.openxmlformats.org/officeDocument/2006/relationships/tags" Target="../tags/tag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slideLayout" Target="../slideLayouts/slideLayout24.xml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21.png"/><Relationship Id="rId1" Type="http://schemas.openxmlformats.org/officeDocument/2006/relationships/tags" Target="../tags/tag6.xml"/><Relationship Id="rId2" Type="http://schemas.openxmlformats.org/officeDocument/2006/relationships/tags" Target="../tags/tag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Grp="1"/>
          </p:cNvSpPr>
          <p:nvPr>
            <p:ph type="ctrTitle"/>
          </p:nvPr>
        </p:nvSpPr>
        <p:spPr>
          <a:xfrm>
            <a:off x="4495800" y="914400"/>
            <a:ext cx="4419600" cy="612775"/>
          </a:xfrm>
        </p:spPr>
        <p:txBody>
          <a:bodyPr/>
          <a:lstStyle/>
          <a:p>
            <a:r>
              <a:rPr lang="en-US" altLang="ko-KR" sz="1800" dirty="0" smtClean="0">
                <a:solidFill>
                  <a:schemeClr val="bg1"/>
                </a:solidFill>
              </a:rPr>
              <a:t>CSS 422 Hardware and Computer Organization</a:t>
            </a:r>
            <a:br>
              <a:rPr lang="en-US" altLang="ko-KR" sz="1800" dirty="0" smtClean="0">
                <a:solidFill>
                  <a:schemeClr val="bg1"/>
                </a:solidFill>
              </a:rPr>
            </a:br>
            <a:endParaRPr lang="en-US" altLang="ko-KR" sz="1800" dirty="0" smtClean="0">
              <a:solidFill>
                <a:schemeClr val="bg1"/>
              </a:solidFill>
            </a:endParaRPr>
          </a:p>
        </p:txBody>
      </p:sp>
      <p:sp>
        <p:nvSpPr>
          <p:cNvPr id="18435" name="Rectangle 6"/>
          <p:cNvSpPr>
            <a:spLocks/>
          </p:cNvSpPr>
          <p:nvPr/>
        </p:nvSpPr>
        <p:spPr bwMode="auto">
          <a:xfrm>
            <a:off x="1371600" y="2743200"/>
            <a:ext cx="6400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defTabSz="457200" eaLnBrk="0" hangingPunct="0">
              <a:spcBef>
                <a:spcPct val="20000"/>
              </a:spcBef>
              <a:buFont typeface="Arial" pitchFamily="34" charset="0"/>
              <a:buNone/>
            </a:pPr>
            <a:r>
              <a:rPr lang="en-US" altLang="ko-KR" sz="4800" dirty="0">
                <a:solidFill>
                  <a:schemeClr val="bg1"/>
                </a:solidFill>
                <a:ea typeface="굴림" pitchFamily="34" charset="-127"/>
              </a:rPr>
              <a:t>Sequential </a:t>
            </a:r>
            <a:r>
              <a:rPr lang="en-US" altLang="ko-KR" sz="4800" dirty="0" smtClean="0">
                <a:solidFill>
                  <a:schemeClr val="bg1"/>
                </a:solidFill>
                <a:ea typeface="굴림" pitchFamily="34" charset="-127"/>
              </a:rPr>
              <a:t>circuit</a:t>
            </a:r>
          </a:p>
          <a:p>
            <a:pPr algn="ctr" defTabSz="457200" eaLnBrk="0" hangingPunct="0">
              <a:spcBef>
                <a:spcPct val="20000"/>
              </a:spcBef>
              <a:buFont typeface="Arial" pitchFamily="34" charset="0"/>
              <a:buNone/>
            </a:pPr>
            <a:r>
              <a:rPr lang="en-US" altLang="ko-KR" sz="2000" dirty="0" smtClean="0">
                <a:solidFill>
                  <a:schemeClr val="bg1"/>
                </a:solidFill>
                <a:ea typeface="굴림" pitchFamily="34" charset="-127"/>
              </a:rPr>
              <a:t>Ver. 1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371600" y="4267200"/>
            <a:ext cx="6400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defTabSz="457200">
              <a:spcBef>
                <a:spcPct val="20000"/>
              </a:spcBef>
              <a:buFont typeface="Arial" pitchFamily="34" charset="0"/>
              <a:buNone/>
            </a:pPr>
            <a:r>
              <a:rPr lang="en-US" altLang="ja-JP" sz="3200" smtClean="0">
                <a:solidFill>
                  <a:schemeClr val="bg1"/>
                </a:solidFill>
              </a:rPr>
              <a:t>Senior Lecturer: </a:t>
            </a:r>
            <a:r>
              <a:rPr lang="en-US" altLang="ja-JP" sz="3200" dirty="0" smtClean="0">
                <a:solidFill>
                  <a:schemeClr val="bg1"/>
                </a:solidFill>
              </a:rPr>
              <a:t>Rob Nash</a:t>
            </a:r>
            <a:endParaRPr lang="en-US" altLang="ja-JP" sz="3200" dirty="0">
              <a:solidFill>
                <a:schemeClr val="bg1"/>
              </a:solidFill>
            </a:endParaRPr>
          </a:p>
          <a:p>
            <a:pPr algn="ctr" defTabSz="457200">
              <a:spcBef>
                <a:spcPct val="20000"/>
              </a:spcBef>
              <a:buFont typeface="Arial" pitchFamily="34" charset="0"/>
              <a:buNone/>
            </a:pPr>
            <a:endParaRPr lang="en-US" altLang="ja-JP" sz="3200" dirty="0">
              <a:solidFill>
                <a:schemeClr val="bg1"/>
              </a:solidFill>
            </a:endParaRPr>
          </a:p>
        </p:txBody>
      </p:sp>
      <p:sp>
        <p:nvSpPr>
          <p:cNvPr id="18437" name="Rectangle 3"/>
          <p:cNvSpPr txBox="1">
            <a:spLocks noChangeArrowheads="1"/>
          </p:cNvSpPr>
          <p:nvPr/>
        </p:nvSpPr>
        <p:spPr bwMode="auto">
          <a:xfrm>
            <a:off x="1517650" y="5438775"/>
            <a:ext cx="64008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kumimoji="1" lang="en-US" altLang="ja-JP" sz="2000" dirty="0">
                <a:solidFill>
                  <a:schemeClr val="bg1"/>
                </a:solidFill>
              </a:rPr>
              <a:t>The slides are re-produced by the courtesy of Dr. </a:t>
            </a:r>
            <a:r>
              <a:rPr kumimoji="1" lang="en-US" altLang="ko-KR" sz="2000" dirty="0">
                <a:solidFill>
                  <a:schemeClr val="bg1"/>
                </a:solidFill>
              </a:rPr>
              <a:t>Arnie </a:t>
            </a:r>
            <a:r>
              <a:rPr kumimoji="1" lang="en-US" altLang="ko-KR" sz="2000" dirty="0" smtClean="0">
                <a:solidFill>
                  <a:schemeClr val="bg1"/>
                </a:solidFill>
              </a:rPr>
              <a:t>Berger and edited by </a:t>
            </a:r>
            <a:r>
              <a:rPr kumimoji="1" lang="en-US" altLang="ko-KR" sz="2000" dirty="0" err="1" smtClean="0">
                <a:solidFill>
                  <a:schemeClr val="bg1"/>
                </a:solidFill>
              </a:rPr>
              <a:t>Wooyoung</a:t>
            </a:r>
            <a:r>
              <a:rPr kumimoji="1" lang="en-US" altLang="ko-KR" sz="2000" dirty="0" smtClean="0">
                <a:solidFill>
                  <a:schemeClr val="bg1"/>
                </a:solidFill>
              </a:rPr>
              <a:t> Kim and Rob Nash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ctr" eaLnBrk="1" hangingPunct="1">
              <a:spcBef>
                <a:spcPct val="20000"/>
              </a:spcBef>
              <a:buFont typeface="Arial" pitchFamily="34" charset="0"/>
              <a:buNone/>
            </a:pPr>
            <a:endParaRPr kumimoji="1" lang="en-US" altLang="ja-JP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Before we start</a:t>
            </a: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ko-KR" sz="1800" dirty="0" smtClean="0"/>
              <a:t>Turn off your phone or at least sound off</a:t>
            </a:r>
          </a:p>
          <a:p>
            <a:pPr>
              <a:lnSpc>
                <a:spcPct val="80000"/>
              </a:lnSpc>
            </a:pPr>
            <a:endParaRPr lang="en-US" altLang="ko-KR" sz="1800" dirty="0" smtClean="0"/>
          </a:p>
          <a:p>
            <a:pPr>
              <a:lnSpc>
                <a:spcPct val="80000"/>
              </a:lnSpc>
            </a:pPr>
            <a:r>
              <a:rPr lang="en-US" altLang="ko-KR" sz="1800" dirty="0" smtClean="0"/>
              <a:t>Do not open your laptop, or turn on your computer unless you are asked to do</a:t>
            </a:r>
          </a:p>
          <a:p>
            <a:pPr lvl="1">
              <a:lnSpc>
                <a:spcPct val="80000"/>
              </a:lnSpc>
            </a:pPr>
            <a:r>
              <a:rPr lang="en-US" altLang="ko-KR" sz="1800" dirty="0" smtClean="0"/>
              <a:t>Computers for class notes ONLY. Otherwise, I will consider you are distracting the class, and ask you to leave</a:t>
            </a:r>
          </a:p>
          <a:p>
            <a:pPr lvl="1">
              <a:lnSpc>
                <a:spcPct val="80000"/>
              </a:lnSpc>
            </a:pPr>
            <a:r>
              <a:rPr lang="en-US" altLang="ko-KR" sz="1800" dirty="0" smtClean="0"/>
              <a:t>I tend to ask the students with the laptop open, just to see if you are following my lecture</a:t>
            </a:r>
          </a:p>
          <a:p>
            <a:pPr>
              <a:lnSpc>
                <a:spcPct val="80000"/>
              </a:lnSpc>
            </a:pPr>
            <a:endParaRPr lang="en-US" altLang="ko-KR" sz="1800" dirty="0" smtClean="0"/>
          </a:p>
          <a:p>
            <a:pPr>
              <a:lnSpc>
                <a:spcPct val="80000"/>
              </a:lnSpc>
            </a:pPr>
            <a:r>
              <a:rPr lang="en-US" altLang="ko-KR" sz="1800" dirty="0" smtClean="0"/>
              <a:t>No talk with your friends unless I ask to discuss</a:t>
            </a:r>
          </a:p>
          <a:p>
            <a:pPr>
              <a:lnSpc>
                <a:spcPct val="80000"/>
              </a:lnSpc>
            </a:pPr>
            <a:endParaRPr lang="en-US" altLang="ko-KR" sz="1800" dirty="0" smtClean="0"/>
          </a:p>
          <a:p>
            <a:pPr>
              <a:lnSpc>
                <a:spcPct val="80000"/>
              </a:lnSpc>
            </a:pPr>
            <a:r>
              <a:rPr lang="en-US" altLang="ko-KR" sz="1800" dirty="0" smtClean="0"/>
              <a:t>If I think you are distracting this class, I will ask you to leave the class</a:t>
            </a:r>
          </a:p>
          <a:p>
            <a:pPr>
              <a:lnSpc>
                <a:spcPct val="80000"/>
              </a:lnSpc>
            </a:pPr>
            <a:endParaRPr lang="en-US" altLang="ko-KR" sz="18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Warning: You will see this slide in EVERY class, because you </a:t>
            </a:r>
            <a:r>
              <a:rPr lang="en-US" altLang="ko-KR" sz="1800" dirty="0" smtClean="0">
                <a:solidFill>
                  <a:srgbClr val="FF0000"/>
                </a:solidFill>
              </a:rPr>
              <a:t>keep forgetting </a:t>
            </a:r>
            <a:r>
              <a:rPr lang="en-US" altLang="ko-KR" sz="1800" dirty="0">
                <a:solidFill>
                  <a:srgbClr val="FF0000"/>
                </a:solidFill>
              </a:rPr>
              <a:t>to do so</a:t>
            </a:r>
          </a:p>
          <a:p>
            <a:pPr>
              <a:lnSpc>
                <a:spcPct val="80000"/>
              </a:lnSpc>
            </a:pPr>
            <a:endParaRPr lang="en-US" altLang="ko-KR" sz="1800" dirty="0" smtClean="0"/>
          </a:p>
          <a:p>
            <a:pPr marL="0" indent="0">
              <a:lnSpc>
                <a:spcPct val="80000"/>
              </a:lnSpc>
              <a:buNone/>
            </a:pPr>
            <a:endParaRPr lang="en-US" altLang="ko-KR" sz="1800" dirty="0"/>
          </a:p>
          <a:p>
            <a:pPr marL="0" indent="0">
              <a:lnSpc>
                <a:spcPct val="80000"/>
              </a:lnSpc>
              <a:buNone/>
            </a:pPr>
            <a:endParaRPr lang="en-US" altLang="ko-KR" sz="1800" dirty="0" smtClean="0"/>
          </a:p>
          <a:p>
            <a:pPr>
              <a:lnSpc>
                <a:spcPct val="80000"/>
              </a:lnSpc>
            </a:pPr>
            <a:endParaRPr lang="en-US" altLang="ko-KR" sz="1800" dirty="0" smtClean="0"/>
          </a:p>
          <a:p>
            <a:pPr>
              <a:lnSpc>
                <a:spcPct val="80000"/>
              </a:lnSpc>
              <a:buFont typeface="Arial" pitchFamily="34" charset="0"/>
              <a:buNone/>
            </a:pPr>
            <a:endParaRPr lang="en-US" altLang="ko-KR" sz="1800" dirty="0" smtClean="0"/>
          </a:p>
        </p:txBody>
      </p:sp>
    </p:spTree>
    <p:extLst>
      <p:ext uri="{BB962C8B-B14F-4D97-AF65-F5344CB8AC3E}">
        <p14:creationId xmlns:p14="http://schemas.microsoft.com/office/powerpoint/2010/main" val="33894799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Topic</a:t>
            </a:r>
            <a:endParaRPr lang="en-US" altLang="ko-KR" dirty="0" smtClean="0"/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4196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altLang="ko-KR" sz="1800" dirty="0" smtClean="0"/>
          </a:p>
          <a:p>
            <a:pPr>
              <a:lnSpc>
                <a:spcPct val="80000"/>
              </a:lnSpc>
            </a:pPr>
            <a:r>
              <a:rPr lang="en-US" altLang="ko-KR" sz="1800" dirty="0" smtClean="0"/>
              <a:t>Sequential Circuit</a:t>
            </a:r>
          </a:p>
          <a:p>
            <a:pPr lvl="1">
              <a:lnSpc>
                <a:spcPct val="80000"/>
              </a:lnSpc>
            </a:pPr>
            <a:r>
              <a:rPr lang="en-US" altLang="ko-KR" sz="1800" dirty="0"/>
              <a:t>Chapter </a:t>
            </a:r>
            <a:r>
              <a:rPr lang="en-US" altLang="ko-KR" sz="1800" dirty="0" smtClean="0"/>
              <a:t>4, 5 </a:t>
            </a:r>
            <a:r>
              <a:rPr lang="en-US" altLang="ko-KR" sz="1800" dirty="0"/>
              <a:t>by Berger	</a:t>
            </a:r>
          </a:p>
          <a:p>
            <a:pPr lvl="1">
              <a:lnSpc>
                <a:spcPct val="80000"/>
              </a:lnSpc>
            </a:pPr>
            <a:r>
              <a:rPr lang="en-US" altLang="ko-KR" sz="1800" dirty="0"/>
              <a:t>Chapter 11 by Stallings</a:t>
            </a:r>
          </a:p>
          <a:p>
            <a:pPr lvl="1">
              <a:lnSpc>
                <a:spcPct val="80000"/>
              </a:lnSpc>
            </a:pPr>
            <a:endParaRPr lang="en-US" altLang="ko-KR" sz="1800" dirty="0" smtClean="0"/>
          </a:p>
          <a:p>
            <a:pPr lvl="1">
              <a:lnSpc>
                <a:spcPct val="80000"/>
              </a:lnSpc>
            </a:pPr>
            <a:r>
              <a:rPr lang="en-US" altLang="ko-KR" sz="1800" dirty="0" smtClean="0"/>
              <a:t>Flip-Flop</a:t>
            </a:r>
          </a:p>
          <a:p>
            <a:pPr lvl="1">
              <a:lnSpc>
                <a:spcPct val="80000"/>
              </a:lnSpc>
            </a:pPr>
            <a:r>
              <a:rPr lang="en-US" altLang="ko-KR" sz="1800" dirty="0" smtClean="0"/>
              <a:t>Excitation table and K-maps</a:t>
            </a:r>
          </a:p>
          <a:p>
            <a:pPr lvl="1">
              <a:lnSpc>
                <a:spcPct val="80000"/>
              </a:lnSpc>
            </a:pPr>
            <a:r>
              <a:rPr lang="en-US" altLang="ko-KR" sz="1800" dirty="0" smtClean="0"/>
              <a:t>Design registers</a:t>
            </a:r>
            <a:endParaRPr lang="en-US" altLang="ko-KR" sz="1800" dirty="0"/>
          </a:p>
          <a:p>
            <a:pPr marL="0" indent="0">
              <a:lnSpc>
                <a:spcPct val="80000"/>
              </a:lnSpc>
              <a:buNone/>
            </a:pPr>
            <a:endParaRPr lang="en-US" altLang="ko-KR" sz="1800" dirty="0" smtClean="0"/>
          </a:p>
          <a:p>
            <a:pPr>
              <a:lnSpc>
                <a:spcPct val="80000"/>
              </a:lnSpc>
            </a:pPr>
            <a:endParaRPr lang="en-US" altLang="ko-KR" sz="1800" dirty="0" smtClean="0"/>
          </a:p>
          <a:p>
            <a:pPr>
              <a:lnSpc>
                <a:spcPct val="80000"/>
              </a:lnSpc>
            </a:pPr>
            <a:endParaRPr lang="en-US" altLang="ko-KR" sz="1800" dirty="0" smtClean="0"/>
          </a:p>
          <a:p>
            <a:pPr>
              <a:lnSpc>
                <a:spcPct val="80000"/>
              </a:lnSpc>
            </a:pPr>
            <a:endParaRPr lang="en-US" altLang="ko-KR" sz="1800" dirty="0" smtClean="0"/>
          </a:p>
          <a:p>
            <a:pPr>
              <a:lnSpc>
                <a:spcPct val="80000"/>
              </a:lnSpc>
            </a:pPr>
            <a:endParaRPr lang="en-US" altLang="ko-KR" sz="1800" dirty="0" smtClean="0"/>
          </a:p>
          <a:p>
            <a:pPr>
              <a:lnSpc>
                <a:spcPct val="80000"/>
              </a:lnSpc>
              <a:buFont typeface="Arial" charset="0"/>
              <a:buNone/>
            </a:pPr>
            <a:endParaRPr lang="en-US" altLang="ko-KR" sz="1800" dirty="0" smtClean="0"/>
          </a:p>
        </p:txBody>
      </p:sp>
    </p:spTree>
    <p:extLst>
      <p:ext uri="{BB962C8B-B14F-4D97-AF65-F5344CB8AC3E}">
        <p14:creationId xmlns:p14="http://schemas.microsoft.com/office/powerpoint/2010/main" val="33888133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dirty="0" smtClean="0"/>
              <a:t>Ex) 2-binary counter 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219200"/>
            <a:ext cx="5027158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25438" y="1071563"/>
            <a:ext cx="3484562" cy="2433637"/>
          </a:xfrm>
        </p:spPr>
        <p:txBody>
          <a:bodyPr/>
          <a:lstStyle/>
          <a:p>
            <a:r>
              <a:rPr lang="en-US" sz="1800" kern="1200" dirty="0" smtClean="0">
                <a:latin typeface="Times New Roman" pitchFamily="-1" charset="0"/>
              </a:rPr>
              <a:t>Want to design a 2-binary counter system with logic gates.</a:t>
            </a:r>
          </a:p>
          <a:p>
            <a:r>
              <a:rPr lang="en-US" sz="1800" kern="1200" dirty="0" smtClean="0">
                <a:latin typeface="Times New Roman" pitchFamily="-1" charset="0"/>
              </a:rPr>
              <a:t>2-binary counter:</a:t>
            </a:r>
          </a:p>
          <a:p>
            <a:pPr lvl="1"/>
            <a:r>
              <a:rPr lang="en-US" sz="1800" kern="1200" dirty="0" smtClean="0">
                <a:latin typeface="Times New Roman" pitchFamily="-1" charset="0"/>
              </a:rPr>
              <a:t>Input: one control bit</a:t>
            </a:r>
          </a:p>
          <a:p>
            <a:pPr lvl="1"/>
            <a:r>
              <a:rPr lang="en-US" sz="1800" kern="1200" dirty="0" smtClean="0">
                <a:latin typeface="Times New Roman" pitchFamily="-1" charset="0"/>
              </a:rPr>
              <a:t>The 2 bits are stored in the system</a:t>
            </a:r>
          </a:p>
          <a:p>
            <a:pPr lvl="1"/>
            <a:r>
              <a:rPr lang="en-US" sz="1800" kern="1200" dirty="0" smtClean="0">
                <a:latin typeface="Times New Roman" pitchFamily="-1" charset="0"/>
              </a:rPr>
              <a:t>If input is 0 then the 2 bits are unchanged</a:t>
            </a:r>
          </a:p>
          <a:p>
            <a:pPr lvl="1"/>
            <a:r>
              <a:rPr lang="en-US" sz="1800" kern="1200" dirty="0" smtClean="0">
                <a:latin typeface="Times New Roman" pitchFamily="-1" charset="0"/>
              </a:rPr>
              <a:t>If input is 1 then the 2 bits are counted up and if it reaches the maximum, then it resets to 0</a:t>
            </a:r>
          </a:p>
          <a:p>
            <a:pPr>
              <a:buFontTx/>
              <a:buNone/>
              <a:defRPr/>
            </a:pPr>
            <a:endParaRPr lang="en-US" sz="180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842010" y="5105400"/>
            <a:ext cx="7922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rgbClr val="FF0000"/>
                </a:solidFill>
              </a:rPr>
              <a:t>Can we make with combinational logic gates?</a:t>
            </a:r>
          </a:p>
          <a:p>
            <a:endParaRPr lang="en-US" sz="1800" dirty="0" smtClean="0">
              <a:solidFill>
                <a:srgbClr val="FF0000"/>
              </a:solidFill>
            </a:endParaRPr>
          </a:p>
          <a:p>
            <a:r>
              <a:rPr lang="en-US" sz="1800" dirty="0" smtClean="0">
                <a:solidFill>
                  <a:srgbClr val="FF0000"/>
                </a:solidFill>
              </a:rPr>
              <a:t>What is it that the combinational circuit does not have, to design this system?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81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98475" y="233363"/>
            <a:ext cx="7747000" cy="681037"/>
          </a:xfrm>
        </p:spPr>
        <p:txBody>
          <a:bodyPr/>
          <a:lstStyle/>
          <a:p>
            <a:r>
              <a:rPr lang="en-US" smtClean="0"/>
              <a:t>Combinational vs. Sequential circuit</a:t>
            </a:r>
          </a:p>
        </p:txBody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25438" y="1071563"/>
            <a:ext cx="8178800" cy="5208587"/>
          </a:xfrm>
        </p:spPr>
        <p:txBody>
          <a:bodyPr/>
          <a:lstStyle/>
          <a:p>
            <a:pPr>
              <a:defRPr/>
            </a:pPr>
            <a:r>
              <a:rPr lang="en-US" sz="2000" dirty="0" smtClean="0"/>
              <a:t>Combinational circuit</a:t>
            </a:r>
            <a:endParaRPr lang="en-US" sz="2000" dirty="0"/>
          </a:p>
          <a:p>
            <a:pPr lvl="1">
              <a:defRPr/>
            </a:pPr>
            <a:r>
              <a:rPr lang="en-US" sz="2000" dirty="0" smtClean="0"/>
              <a:t>The current output state depends only on the input states. It does not provide memory or state information, except ROM</a:t>
            </a:r>
          </a:p>
          <a:p>
            <a:pPr marL="457200" lvl="1" indent="0">
              <a:buFont typeface="Arial" pitchFamily="34" charset="0"/>
              <a:buNone/>
              <a:defRPr/>
            </a:pPr>
            <a:endParaRPr lang="en-US" sz="2000" dirty="0" smtClean="0"/>
          </a:p>
          <a:p>
            <a:pPr>
              <a:defRPr/>
            </a:pPr>
            <a:r>
              <a:rPr lang="en-US" sz="2000" dirty="0" smtClean="0"/>
              <a:t>Sequential circuits</a:t>
            </a:r>
          </a:p>
          <a:p>
            <a:pPr lvl="1">
              <a:defRPr/>
            </a:pPr>
            <a:r>
              <a:rPr lang="en-US" sz="2000" dirty="0" smtClean="0"/>
              <a:t>The current output depends on the current input, and on the past </a:t>
            </a:r>
            <a:r>
              <a:rPr lang="en-US" sz="2000" b="1" dirty="0" smtClean="0"/>
              <a:t>history</a:t>
            </a:r>
            <a:r>
              <a:rPr lang="en-US" sz="2000" dirty="0" smtClean="0"/>
              <a:t> of inputs</a:t>
            </a:r>
          </a:p>
          <a:p>
            <a:pPr lvl="1">
              <a:defRPr/>
            </a:pPr>
            <a:r>
              <a:rPr lang="en-US" sz="2000" dirty="0" smtClean="0"/>
              <a:t>The most common type of sequential circuit is the </a:t>
            </a:r>
            <a:r>
              <a:rPr lang="en-US" sz="2000" b="1" dirty="0" smtClean="0"/>
              <a:t>synchronous</a:t>
            </a:r>
            <a:r>
              <a:rPr lang="en-US" sz="2000" dirty="0" smtClean="0"/>
              <a:t> type</a:t>
            </a:r>
          </a:p>
          <a:p>
            <a:pPr lvl="1">
              <a:defRPr/>
            </a:pPr>
            <a:r>
              <a:rPr lang="en-US" sz="2000" dirty="0" smtClean="0"/>
              <a:t>Non-clocked Latch: asynchronous sequential circuit</a:t>
            </a:r>
          </a:p>
          <a:p>
            <a:pPr lvl="1">
              <a:defRPr/>
            </a:pPr>
            <a:r>
              <a:rPr lang="en-US" sz="2000" dirty="0" smtClean="0"/>
              <a:t>Edge-triggered flip-flop : synchronous sequential or clocked sequential circuit</a:t>
            </a:r>
          </a:p>
          <a:p>
            <a:pPr lvl="1">
              <a:defRPr/>
            </a:pPr>
            <a:r>
              <a:rPr lang="en-US" sz="2000" dirty="0" smtClean="0"/>
              <a:t>Interconnection of flip-flops and gates</a:t>
            </a:r>
          </a:p>
          <a:p>
            <a:pPr>
              <a:buFontTx/>
              <a:buNone/>
              <a:defRPr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341022212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98475" y="233363"/>
            <a:ext cx="7747000" cy="681037"/>
          </a:xfrm>
        </p:spPr>
        <p:txBody>
          <a:bodyPr/>
          <a:lstStyle/>
          <a:p>
            <a:r>
              <a:rPr lang="en-US" smtClean="0"/>
              <a:t>Asynchronous vs. synchronous</a:t>
            </a:r>
          </a:p>
        </p:txBody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25438" y="1071563"/>
            <a:ext cx="8178800" cy="5208587"/>
          </a:xfrm>
        </p:spPr>
        <p:txBody>
          <a:bodyPr/>
          <a:lstStyle/>
          <a:p>
            <a:pPr>
              <a:defRPr/>
            </a:pPr>
            <a:r>
              <a:rPr lang="en-US" sz="1800" dirty="0" smtClean="0"/>
              <a:t>Asynchronous logic</a:t>
            </a:r>
          </a:p>
          <a:p>
            <a:pPr lvl="1">
              <a:defRPr/>
            </a:pPr>
            <a:r>
              <a:rPr lang="en-US" sz="1800" dirty="0" smtClean="0"/>
              <a:t>So far, we have seen asynchronous logic circuits.</a:t>
            </a:r>
          </a:p>
          <a:p>
            <a:pPr lvl="1">
              <a:defRPr/>
            </a:pPr>
            <a:endParaRPr lang="en-US" sz="1800" dirty="0"/>
          </a:p>
          <a:p>
            <a:pPr lvl="1">
              <a:defRPr/>
            </a:pPr>
            <a:r>
              <a:rPr lang="en-US" sz="1800" dirty="0" smtClean="0"/>
              <a:t>The change in the state depends on the input variables.</a:t>
            </a:r>
          </a:p>
          <a:p>
            <a:pPr marL="457200" lvl="1" indent="0">
              <a:buFont typeface="Arial" pitchFamily="34" charset="0"/>
              <a:buNone/>
              <a:defRPr/>
            </a:pPr>
            <a:endParaRPr lang="en-US" sz="1800" dirty="0" smtClean="0"/>
          </a:p>
          <a:p>
            <a:pPr>
              <a:defRPr/>
            </a:pPr>
            <a:r>
              <a:rPr lang="en-US" sz="1800" dirty="0" smtClean="0"/>
              <a:t>Synchronous logic</a:t>
            </a:r>
          </a:p>
          <a:p>
            <a:pPr lvl="1">
              <a:defRPr/>
            </a:pPr>
            <a:r>
              <a:rPr lang="en-US" sz="1800" dirty="0" smtClean="0"/>
              <a:t>With millions of logic gates, we need to synchronize the change of logic state with some master signal (clock).</a:t>
            </a:r>
          </a:p>
          <a:p>
            <a:pPr lvl="1">
              <a:defRPr/>
            </a:pPr>
            <a:r>
              <a:rPr lang="en-US" sz="1800" dirty="0" smtClean="0"/>
              <a:t>Suppose we need to move a data from a memory to register to do arithmetic addition. How the computer will know the sequence of the work?</a:t>
            </a:r>
          </a:p>
          <a:p>
            <a:pPr lvl="1">
              <a:defRPr/>
            </a:pPr>
            <a:r>
              <a:rPr lang="en-US" sz="1800" dirty="0" smtClean="0"/>
              <a:t>We need a system that works according to the order of tasks as time goes</a:t>
            </a:r>
            <a:r>
              <a:rPr lang="en-US" sz="1800" dirty="0" smtClean="0">
                <a:sym typeface="Wingdings" pitchFamily="2" charset="2"/>
              </a:rPr>
              <a:t> synchronous sequential circuit design</a:t>
            </a:r>
            <a:endParaRPr lang="en-US" sz="1800" dirty="0" smtClean="0"/>
          </a:p>
          <a:p>
            <a:pPr>
              <a:buFontTx/>
              <a:buNone/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796065960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3" y="1082675"/>
            <a:ext cx="8178800" cy="5035550"/>
          </a:xfrm>
        </p:spPr>
        <p:txBody>
          <a:bodyPr/>
          <a:lstStyle/>
          <a:p>
            <a:r>
              <a:rPr lang="en-US" sz="1800" dirty="0" smtClean="0"/>
              <a:t>The </a:t>
            </a:r>
            <a:r>
              <a:rPr lang="en-US" sz="1800" b="1" i="1" dirty="0"/>
              <a:t>clock  </a:t>
            </a:r>
            <a:r>
              <a:rPr lang="en-US" sz="1800" dirty="0"/>
              <a:t>in a digital system is an electronic analog of the pendulum which synchronizes the circuits in a computer system</a:t>
            </a:r>
          </a:p>
          <a:p>
            <a:pPr lvl="1"/>
            <a:r>
              <a:rPr lang="en-US" sz="1800" dirty="0"/>
              <a:t>The master control signal</a:t>
            </a:r>
          </a:p>
          <a:p>
            <a:pPr lvl="1"/>
            <a:r>
              <a:rPr lang="en-US" sz="1800" dirty="0"/>
              <a:t> Changes occur on the rising or falling edges of a clock pulse</a:t>
            </a:r>
          </a:p>
          <a:p>
            <a:r>
              <a:rPr lang="en-US" sz="2000" dirty="0">
                <a:sym typeface="Symbol" pitchFamily="18" charset="2"/>
              </a:rPr>
              <a:t>Frequencies are the inverse of time (speed</a:t>
            </a:r>
            <a:r>
              <a:rPr lang="en-US" sz="2000" dirty="0" smtClean="0">
                <a:sym typeface="Symbol" pitchFamily="18" charset="2"/>
              </a:rPr>
              <a:t>)</a:t>
            </a:r>
          </a:p>
          <a:p>
            <a:pPr lvl="1"/>
            <a:r>
              <a:rPr lang="en-US" sz="1600" dirty="0" smtClean="0">
                <a:sym typeface="Symbol" pitchFamily="18" charset="2"/>
              </a:rPr>
              <a:t>Hz = the number of cycles per second: how to compute the time per each cycle?</a:t>
            </a:r>
            <a:endParaRPr lang="en-US" sz="1600" dirty="0">
              <a:sym typeface="Symbol" pitchFamily="18" charset="2"/>
            </a:endParaRPr>
          </a:p>
          <a:p>
            <a:pPr lvl="1"/>
            <a:r>
              <a:rPr lang="en-US" sz="2000" dirty="0">
                <a:sym typeface="Symbol" pitchFamily="18" charset="2"/>
              </a:rPr>
              <a:t>1 kilohertz ( KHz ) = </a:t>
            </a:r>
            <a:r>
              <a:rPr lang="en-US" sz="2000" dirty="0"/>
              <a:t>10</a:t>
            </a:r>
            <a:r>
              <a:rPr lang="en-US" sz="2000" b="1" baseline="30000" dirty="0"/>
              <a:t>3    </a:t>
            </a:r>
            <a:r>
              <a:rPr lang="en-US" sz="2000" dirty="0"/>
              <a:t>Hz ( cycle per second )</a:t>
            </a:r>
          </a:p>
          <a:p>
            <a:pPr lvl="1"/>
            <a:r>
              <a:rPr lang="en-US" sz="2000" dirty="0"/>
              <a:t>1 megahertz (MHz ) = 10</a:t>
            </a:r>
            <a:r>
              <a:rPr lang="en-US" sz="2000" b="1" baseline="30000" dirty="0"/>
              <a:t>6 </a:t>
            </a:r>
            <a:r>
              <a:rPr lang="en-US" sz="2000" dirty="0"/>
              <a:t>Hz</a:t>
            </a:r>
          </a:p>
          <a:p>
            <a:pPr lvl="1"/>
            <a:r>
              <a:rPr lang="en-US" sz="2000" dirty="0"/>
              <a:t>1 gigahertz (GHz) = </a:t>
            </a:r>
            <a:r>
              <a:rPr lang="en-US" sz="2000" dirty="0">
                <a:sym typeface="Symbol" pitchFamily="18" charset="2"/>
              </a:rPr>
              <a:t>10</a:t>
            </a:r>
            <a:r>
              <a:rPr lang="en-US" sz="2000" b="1" baseline="30000" dirty="0">
                <a:sym typeface="Symbol" pitchFamily="18" charset="2"/>
              </a:rPr>
              <a:t>9    </a:t>
            </a:r>
            <a:r>
              <a:rPr lang="en-US" sz="2000" dirty="0"/>
              <a:t>Hz</a:t>
            </a:r>
          </a:p>
          <a:p>
            <a:pPr lvl="1"/>
            <a:r>
              <a:rPr lang="en-US" sz="2000" dirty="0"/>
              <a:t>1 terahertz (THz ) = </a:t>
            </a:r>
            <a:r>
              <a:rPr lang="en-US" sz="2000" dirty="0">
                <a:sym typeface="Symbol" pitchFamily="18" charset="2"/>
              </a:rPr>
              <a:t>10</a:t>
            </a:r>
            <a:r>
              <a:rPr lang="en-US" sz="2000" b="1" baseline="30000" dirty="0">
                <a:sym typeface="Symbol" pitchFamily="18" charset="2"/>
              </a:rPr>
              <a:t>12    </a:t>
            </a:r>
            <a:r>
              <a:rPr lang="en-US" sz="2000" dirty="0"/>
              <a:t>Hz</a:t>
            </a:r>
            <a:endParaRPr lang="en-US" sz="2000" dirty="0">
              <a:sym typeface="Symbol" pitchFamily="18" charset="2"/>
            </a:endParaRPr>
          </a:p>
          <a:p>
            <a:r>
              <a:rPr lang="en-US" sz="2000" dirty="0">
                <a:sym typeface="Symbol" pitchFamily="18" charset="2"/>
              </a:rPr>
              <a:t>Today the maximum PC clock frequencies are around 3.7 GHz</a:t>
            </a:r>
          </a:p>
          <a:p>
            <a:pPr marL="457200" lvl="1" indent="0">
              <a:buNone/>
            </a:pPr>
            <a:endParaRPr lang="en-US" sz="1800" dirty="0" smtClean="0"/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Clocks and time</a:t>
            </a:r>
          </a:p>
        </p:txBody>
      </p:sp>
    </p:spTree>
    <p:extLst>
      <p:ext uri="{BB962C8B-B14F-4D97-AF65-F5344CB8AC3E}">
        <p14:creationId xmlns:p14="http://schemas.microsoft.com/office/powerpoint/2010/main" val="915268567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Clocks and pulses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34963" y="1000125"/>
            <a:ext cx="8250237" cy="5319713"/>
          </a:xfrm>
        </p:spPr>
        <p:txBody>
          <a:bodyPr/>
          <a:lstStyle/>
          <a:p>
            <a:r>
              <a:rPr lang="en-US" sz="1800" dirty="0" smtClean="0"/>
              <a:t>Clocks are continuous streams of pulses</a:t>
            </a:r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smtClean="0"/>
              <a:t>Duty cycle = </a:t>
            </a:r>
            <a:r>
              <a:rPr lang="en-US" sz="1800" dirty="0" err="1" smtClean="0"/>
              <a:t>t</a:t>
            </a:r>
            <a:r>
              <a:rPr lang="en-US" sz="1800" b="1" baseline="-25000" dirty="0" err="1" smtClean="0"/>
              <a:t>PH</a:t>
            </a:r>
            <a:r>
              <a:rPr lang="en-US" sz="1800" b="1" baseline="-25000" dirty="0" smtClean="0"/>
              <a:t> </a:t>
            </a:r>
            <a:r>
              <a:rPr lang="en-US" sz="1800" b="1" dirty="0" smtClean="0"/>
              <a:t>/ (</a:t>
            </a:r>
            <a:r>
              <a:rPr lang="en-US" sz="1800" dirty="0" err="1" smtClean="0"/>
              <a:t>t</a:t>
            </a:r>
            <a:r>
              <a:rPr lang="en-US" sz="1800" b="1" baseline="-25000" dirty="0" err="1" smtClean="0"/>
              <a:t>PH</a:t>
            </a:r>
            <a:r>
              <a:rPr lang="en-US" sz="1800" b="1" baseline="-25000" dirty="0" smtClean="0"/>
              <a:t> </a:t>
            </a:r>
            <a:r>
              <a:rPr lang="en-US" sz="1800" b="1" dirty="0" smtClean="0"/>
              <a:t>+ </a:t>
            </a:r>
            <a:r>
              <a:rPr lang="en-US" sz="1800" dirty="0" err="1" smtClean="0"/>
              <a:t>t</a:t>
            </a:r>
            <a:r>
              <a:rPr lang="en-US" sz="1800" b="1" baseline="-25000" dirty="0" err="1" smtClean="0"/>
              <a:t>PL</a:t>
            </a:r>
            <a:r>
              <a:rPr lang="en-US" sz="1800" dirty="0" smtClean="0"/>
              <a:t>) x 100%</a:t>
            </a:r>
            <a:endParaRPr lang="en-US" sz="1800" b="1" baseline="-25000" dirty="0" smtClean="0"/>
          </a:p>
          <a:p>
            <a:pPr lvl="1"/>
            <a:r>
              <a:rPr lang="en-US" sz="1800" dirty="0" smtClean="0"/>
              <a:t>The clock signal shown above has a 50% duty cycle</a:t>
            </a:r>
          </a:p>
          <a:p>
            <a:pPr lvl="1"/>
            <a:r>
              <a:rPr lang="en-US" sz="1800" dirty="0" smtClean="0"/>
              <a:t>The clock signal shown below has a 25% duty cycle</a:t>
            </a:r>
          </a:p>
          <a:p>
            <a:pPr lvl="1"/>
            <a:r>
              <a:rPr lang="en-US" sz="1800" dirty="0" smtClean="0"/>
              <a:t> </a:t>
            </a:r>
            <a:r>
              <a:rPr lang="en-US" sz="1800" b="1" i="1" dirty="0" smtClean="0"/>
              <a:t>Period:</a:t>
            </a:r>
            <a:r>
              <a:rPr lang="en-US" sz="1800" dirty="0" smtClean="0"/>
              <a:t> The time to complete one clock cycle</a:t>
            </a:r>
          </a:p>
          <a:p>
            <a:pPr lvl="2"/>
            <a:r>
              <a:rPr lang="en-US" sz="1800" dirty="0" smtClean="0"/>
              <a:t>Period = </a:t>
            </a:r>
            <a:r>
              <a:rPr lang="en-US" sz="1800" b="1" dirty="0" err="1" smtClean="0">
                <a:latin typeface="Arial" pitchFamily="34" charset="0"/>
              </a:rPr>
              <a:t>t</a:t>
            </a:r>
            <a:r>
              <a:rPr lang="en-US" sz="1800" b="1" baseline="-25000" dirty="0" err="1" smtClean="0">
                <a:latin typeface="Arial" pitchFamily="34" charset="0"/>
              </a:rPr>
              <a:t>cycle</a:t>
            </a:r>
            <a:r>
              <a:rPr lang="en-US" sz="1800" b="1" dirty="0" smtClean="0">
                <a:latin typeface="Arial" pitchFamily="34" charset="0"/>
              </a:rPr>
              <a:t>   </a:t>
            </a:r>
          </a:p>
          <a:p>
            <a:pPr lvl="1"/>
            <a:r>
              <a:rPr lang="en-US" sz="1800" b="1" i="1" dirty="0" smtClean="0">
                <a:latin typeface="Arial" pitchFamily="34" charset="0"/>
              </a:rPr>
              <a:t>Frequency:</a:t>
            </a:r>
            <a:r>
              <a:rPr lang="en-US" sz="1800" dirty="0" smtClean="0">
                <a:latin typeface="Arial" pitchFamily="34" charset="0"/>
              </a:rPr>
              <a:t> The inverse of the period, f =  1/period</a:t>
            </a:r>
            <a:endParaRPr lang="en-US" sz="1800" b="1" dirty="0" smtClean="0">
              <a:latin typeface="Arial" pitchFamily="34" charset="0"/>
            </a:endParaRPr>
          </a:p>
          <a:p>
            <a:pPr lvl="2"/>
            <a:endParaRPr lang="en-US" sz="1800" b="1" baseline="-25000" dirty="0" smtClean="0">
              <a:latin typeface="Arial" pitchFamily="34" charset="0"/>
            </a:endParaRPr>
          </a:p>
        </p:txBody>
      </p:sp>
      <p:grpSp>
        <p:nvGrpSpPr>
          <p:cNvPr id="62468" name="Group 1034"/>
          <p:cNvGrpSpPr>
            <a:grpSpLocks/>
          </p:cNvGrpSpPr>
          <p:nvPr/>
        </p:nvGrpSpPr>
        <p:grpSpPr bwMode="auto">
          <a:xfrm flipV="1">
            <a:off x="1098550" y="1565275"/>
            <a:ext cx="6267450" cy="630238"/>
            <a:chOff x="634" y="2099"/>
            <a:chExt cx="3948" cy="397"/>
          </a:xfrm>
        </p:grpSpPr>
        <p:sp>
          <p:nvSpPr>
            <p:cNvPr id="62486" name="Freeform 1028"/>
            <p:cNvSpPr>
              <a:spLocks/>
            </p:cNvSpPr>
            <p:nvPr/>
          </p:nvSpPr>
          <p:spPr bwMode="auto">
            <a:xfrm>
              <a:off x="634" y="2112"/>
              <a:ext cx="871" cy="384"/>
            </a:xfrm>
            <a:custGeom>
              <a:avLst/>
              <a:gdLst>
                <a:gd name="T0" fmla="*/ 0 w 877"/>
                <a:gd name="T1" fmla="*/ 0 h 384"/>
                <a:gd name="T2" fmla="*/ 402 w 877"/>
                <a:gd name="T3" fmla="*/ 0 h 384"/>
                <a:gd name="T4" fmla="*/ 402 w 877"/>
                <a:gd name="T5" fmla="*/ 384 h 384"/>
                <a:gd name="T6" fmla="*/ 799 w 877"/>
                <a:gd name="T7" fmla="*/ 384 h 384"/>
                <a:gd name="T8" fmla="*/ 799 w 877"/>
                <a:gd name="T9" fmla="*/ 0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7"/>
                <a:gd name="T16" fmla="*/ 0 h 384"/>
                <a:gd name="T17" fmla="*/ 877 w 877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7" h="384">
                  <a:moveTo>
                    <a:pt x="0" y="0"/>
                  </a:moveTo>
                  <a:lnTo>
                    <a:pt x="441" y="0"/>
                  </a:lnTo>
                  <a:lnTo>
                    <a:pt x="441" y="384"/>
                  </a:lnTo>
                  <a:lnTo>
                    <a:pt x="877" y="384"/>
                  </a:lnTo>
                  <a:lnTo>
                    <a:pt x="877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487" name="Freeform 1030"/>
            <p:cNvSpPr>
              <a:spLocks/>
            </p:cNvSpPr>
            <p:nvPr/>
          </p:nvSpPr>
          <p:spPr bwMode="auto">
            <a:xfrm>
              <a:off x="1505" y="2111"/>
              <a:ext cx="871" cy="384"/>
            </a:xfrm>
            <a:custGeom>
              <a:avLst/>
              <a:gdLst>
                <a:gd name="T0" fmla="*/ 0 w 877"/>
                <a:gd name="T1" fmla="*/ 0 h 384"/>
                <a:gd name="T2" fmla="*/ 402 w 877"/>
                <a:gd name="T3" fmla="*/ 0 h 384"/>
                <a:gd name="T4" fmla="*/ 402 w 877"/>
                <a:gd name="T5" fmla="*/ 384 h 384"/>
                <a:gd name="T6" fmla="*/ 799 w 877"/>
                <a:gd name="T7" fmla="*/ 384 h 384"/>
                <a:gd name="T8" fmla="*/ 799 w 877"/>
                <a:gd name="T9" fmla="*/ 0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7"/>
                <a:gd name="T16" fmla="*/ 0 h 384"/>
                <a:gd name="T17" fmla="*/ 877 w 877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7" h="384">
                  <a:moveTo>
                    <a:pt x="0" y="0"/>
                  </a:moveTo>
                  <a:lnTo>
                    <a:pt x="441" y="0"/>
                  </a:lnTo>
                  <a:lnTo>
                    <a:pt x="441" y="384"/>
                  </a:lnTo>
                  <a:lnTo>
                    <a:pt x="877" y="384"/>
                  </a:lnTo>
                  <a:lnTo>
                    <a:pt x="877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488" name="Freeform 1031"/>
            <p:cNvSpPr>
              <a:spLocks/>
            </p:cNvSpPr>
            <p:nvPr/>
          </p:nvSpPr>
          <p:spPr bwMode="auto">
            <a:xfrm>
              <a:off x="2374" y="2106"/>
              <a:ext cx="871" cy="384"/>
            </a:xfrm>
            <a:custGeom>
              <a:avLst/>
              <a:gdLst>
                <a:gd name="T0" fmla="*/ 0 w 877"/>
                <a:gd name="T1" fmla="*/ 0 h 384"/>
                <a:gd name="T2" fmla="*/ 402 w 877"/>
                <a:gd name="T3" fmla="*/ 0 h 384"/>
                <a:gd name="T4" fmla="*/ 402 w 877"/>
                <a:gd name="T5" fmla="*/ 384 h 384"/>
                <a:gd name="T6" fmla="*/ 799 w 877"/>
                <a:gd name="T7" fmla="*/ 384 h 384"/>
                <a:gd name="T8" fmla="*/ 799 w 877"/>
                <a:gd name="T9" fmla="*/ 0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7"/>
                <a:gd name="T16" fmla="*/ 0 h 384"/>
                <a:gd name="T17" fmla="*/ 877 w 877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7" h="384">
                  <a:moveTo>
                    <a:pt x="0" y="0"/>
                  </a:moveTo>
                  <a:lnTo>
                    <a:pt x="441" y="0"/>
                  </a:lnTo>
                  <a:lnTo>
                    <a:pt x="441" y="384"/>
                  </a:lnTo>
                  <a:lnTo>
                    <a:pt x="877" y="384"/>
                  </a:lnTo>
                  <a:lnTo>
                    <a:pt x="877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489" name="Freeform 1032"/>
            <p:cNvSpPr>
              <a:spLocks/>
            </p:cNvSpPr>
            <p:nvPr/>
          </p:nvSpPr>
          <p:spPr bwMode="auto">
            <a:xfrm>
              <a:off x="3245" y="2105"/>
              <a:ext cx="871" cy="384"/>
            </a:xfrm>
            <a:custGeom>
              <a:avLst/>
              <a:gdLst>
                <a:gd name="T0" fmla="*/ 0 w 877"/>
                <a:gd name="T1" fmla="*/ 0 h 384"/>
                <a:gd name="T2" fmla="*/ 402 w 877"/>
                <a:gd name="T3" fmla="*/ 0 h 384"/>
                <a:gd name="T4" fmla="*/ 402 w 877"/>
                <a:gd name="T5" fmla="*/ 384 h 384"/>
                <a:gd name="T6" fmla="*/ 799 w 877"/>
                <a:gd name="T7" fmla="*/ 384 h 384"/>
                <a:gd name="T8" fmla="*/ 799 w 877"/>
                <a:gd name="T9" fmla="*/ 0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7"/>
                <a:gd name="T16" fmla="*/ 0 h 384"/>
                <a:gd name="T17" fmla="*/ 877 w 877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7" h="384">
                  <a:moveTo>
                    <a:pt x="0" y="0"/>
                  </a:moveTo>
                  <a:lnTo>
                    <a:pt x="441" y="0"/>
                  </a:lnTo>
                  <a:lnTo>
                    <a:pt x="441" y="384"/>
                  </a:lnTo>
                  <a:lnTo>
                    <a:pt x="877" y="384"/>
                  </a:lnTo>
                  <a:lnTo>
                    <a:pt x="877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490" name="Line 1033"/>
            <p:cNvSpPr>
              <a:spLocks noChangeShapeType="1"/>
            </p:cNvSpPr>
            <p:nvPr/>
          </p:nvSpPr>
          <p:spPr bwMode="auto">
            <a:xfrm>
              <a:off x="4115" y="2099"/>
              <a:ext cx="46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2469" name="Line 1035"/>
          <p:cNvSpPr>
            <a:spLocks noChangeShapeType="1"/>
          </p:cNvSpPr>
          <p:nvPr/>
        </p:nvSpPr>
        <p:spPr bwMode="auto">
          <a:xfrm>
            <a:off x="1503363" y="1849438"/>
            <a:ext cx="2952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470" name="Line 1036"/>
          <p:cNvSpPr>
            <a:spLocks noChangeShapeType="1"/>
          </p:cNvSpPr>
          <p:nvPr/>
        </p:nvSpPr>
        <p:spPr bwMode="auto">
          <a:xfrm flipH="1">
            <a:off x="2468563" y="1849438"/>
            <a:ext cx="2952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471" name="Text Box 1037"/>
          <p:cNvSpPr txBox="1">
            <a:spLocks noChangeArrowheads="1"/>
          </p:cNvSpPr>
          <p:nvPr/>
        </p:nvSpPr>
        <p:spPr bwMode="auto">
          <a:xfrm>
            <a:off x="1069975" y="1676400"/>
            <a:ext cx="4016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t</a:t>
            </a:r>
            <a:r>
              <a:rPr lang="en-US" sz="1400" b="1" baseline="-25000"/>
              <a:t>PH</a:t>
            </a:r>
            <a:endParaRPr lang="en-US" sz="1400" b="1"/>
          </a:p>
        </p:txBody>
      </p:sp>
      <p:sp>
        <p:nvSpPr>
          <p:cNvPr id="62472" name="Line 1038"/>
          <p:cNvSpPr>
            <a:spLocks noChangeShapeType="1"/>
          </p:cNvSpPr>
          <p:nvPr/>
        </p:nvSpPr>
        <p:spPr bwMode="auto">
          <a:xfrm>
            <a:off x="4948238" y="2032000"/>
            <a:ext cx="2952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473" name="Line 1039"/>
          <p:cNvSpPr>
            <a:spLocks noChangeShapeType="1"/>
          </p:cNvSpPr>
          <p:nvPr/>
        </p:nvSpPr>
        <p:spPr bwMode="auto">
          <a:xfrm flipH="1">
            <a:off x="5972175" y="2052638"/>
            <a:ext cx="2952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474" name="Text Box 1040"/>
          <p:cNvSpPr txBox="1">
            <a:spLocks noChangeArrowheads="1"/>
          </p:cNvSpPr>
          <p:nvPr/>
        </p:nvSpPr>
        <p:spPr bwMode="auto">
          <a:xfrm>
            <a:off x="6184900" y="1847850"/>
            <a:ext cx="596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t</a:t>
            </a:r>
            <a:r>
              <a:rPr lang="en-US" sz="1400" b="1" baseline="-25000"/>
              <a:t>PL</a:t>
            </a:r>
            <a:endParaRPr lang="en-US" sz="1400" b="1"/>
          </a:p>
        </p:txBody>
      </p:sp>
      <p:grpSp>
        <p:nvGrpSpPr>
          <p:cNvPr id="62475" name="Group 1050"/>
          <p:cNvGrpSpPr>
            <a:grpSpLocks/>
          </p:cNvGrpSpPr>
          <p:nvPr/>
        </p:nvGrpSpPr>
        <p:grpSpPr bwMode="auto">
          <a:xfrm>
            <a:off x="1016000" y="4837113"/>
            <a:ext cx="6399213" cy="762000"/>
            <a:chOff x="442" y="2349"/>
            <a:chExt cx="4031" cy="480"/>
          </a:xfrm>
        </p:grpSpPr>
        <p:sp>
          <p:nvSpPr>
            <p:cNvPr id="62480" name="Freeform 1041"/>
            <p:cNvSpPr>
              <a:spLocks/>
            </p:cNvSpPr>
            <p:nvPr/>
          </p:nvSpPr>
          <p:spPr bwMode="auto">
            <a:xfrm>
              <a:off x="442" y="2400"/>
              <a:ext cx="710" cy="429"/>
            </a:xfrm>
            <a:custGeom>
              <a:avLst/>
              <a:gdLst>
                <a:gd name="T0" fmla="*/ 0 w 710"/>
                <a:gd name="T1" fmla="*/ 429 h 429"/>
                <a:gd name="T2" fmla="*/ 473 w 710"/>
                <a:gd name="T3" fmla="*/ 429 h 429"/>
                <a:gd name="T4" fmla="*/ 473 w 710"/>
                <a:gd name="T5" fmla="*/ 0 h 429"/>
                <a:gd name="T6" fmla="*/ 710 w 710"/>
                <a:gd name="T7" fmla="*/ 0 h 429"/>
                <a:gd name="T8" fmla="*/ 710 w 710"/>
                <a:gd name="T9" fmla="*/ 422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0"/>
                <a:gd name="T16" fmla="*/ 0 h 429"/>
                <a:gd name="T17" fmla="*/ 710 w 710"/>
                <a:gd name="T18" fmla="*/ 429 h 4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0" h="429">
                  <a:moveTo>
                    <a:pt x="0" y="429"/>
                  </a:moveTo>
                  <a:lnTo>
                    <a:pt x="473" y="429"/>
                  </a:lnTo>
                  <a:lnTo>
                    <a:pt x="473" y="0"/>
                  </a:lnTo>
                  <a:lnTo>
                    <a:pt x="710" y="0"/>
                  </a:lnTo>
                  <a:lnTo>
                    <a:pt x="710" y="422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481" name="Freeform 1042"/>
            <p:cNvSpPr>
              <a:spLocks/>
            </p:cNvSpPr>
            <p:nvPr/>
          </p:nvSpPr>
          <p:spPr bwMode="auto">
            <a:xfrm>
              <a:off x="1146" y="2388"/>
              <a:ext cx="710" cy="429"/>
            </a:xfrm>
            <a:custGeom>
              <a:avLst/>
              <a:gdLst>
                <a:gd name="T0" fmla="*/ 0 w 710"/>
                <a:gd name="T1" fmla="*/ 429 h 429"/>
                <a:gd name="T2" fmla="*/ 473 w 710"/>
                <a:gd name="T3" fmla="*/ 429 h 429"/>
                <a:gd name="T4" fmla="*/ 473 w 710"/>
                <a:gd name="T5" fmla="*/ 0 h 429"/>
                <a:gd name="T6" fmla="*/ 710 w 710"/>
                <a:gd name="T7" fmla="*/ 0 h 429"/>
                <a:gd name="T8" fmla="*/ 710 w 710"/>
                <a:gd name="T9" fmla="*/ 422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0"/>
                <a:gd name="T16" fmla="*/ 0 h 429"/>
                <a:gd name="T17" fmla="*/ 710 w 710"/>
                <a:gd name="T18" fmla="*/ 429 h 4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0" h="429">
                  <a:moveTo>
                    <a:pt x="0" y="429"/>
                  </a:moveTo>
                  <a:lnTo>
                    <a:pt x="473" y="429"/>
                  </a:lnTo>
                  <a:lnTo>
                    <a:pt x="473" y="0"/>
                  </a:lnTo>
                  <a:lnTo>
                    <a:pt x="710" y="0"/>
                  </a:lnTo>
                  <a:lnTo>
                    <a:pt x="710" y="422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482" name="Freeform 1043"/>
            <p:cNvSpPr>
              <a:spLocks/>
            </p:cNvSpPr>
            <p:nvPr/>
          </p:nvSpPr>
          <p:spPr bwMode="auto">
            <a:xfrm>
              <a:off x="1863" y="2375"/>
              <a:ext cx="710" cy="429"/>
            </a:xfrm>
            <a:custGeom>
              <a:avLst/>
              <a:gdLst>
                <a:gd name="T0" fmla="*/ 0 w 710"/>
                <a:gd name="T1" fmla="*/ 429 h 429"/>
                <a:gd name="T2" fmla="*/ 473 w 710"/>
                <a:gd name="T3" fmla="*/ 429 h 429"/>
                <a:gd name="T4" fmla="*/ 473 w 710"/>
                <a:gd name="T5" fmla="*/ 0 h 429"/>
                <a:gd name="T6" fmla="*/ 710 w 710"/>
                <a:gd name="T7" fmla="*/ 0 h 429"/>
                <a:gd name="T8" fmla="*/ 710 w 710"/>
                <a:gd name="T9" fmla="*/ 422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0"/>
                <a:gd name="T16" fmla="*/ 0 h 429"/>
                <a:gd name="T17" fmla="*/ 710 w 710"/>
                <a:gd name="T18" fmla="*/ 429 h 4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0" h="429">
                  <a:moveTo>
                    <a:pt x="0" y="429"/>
                  </a:moveTo>
                  <a:lnTo>
                    <a:pt x="473" y="429"/>
                  </a:lnTo>
                  <a:lnTo>
                    <a:pt x="473" y="0"/>
                  </a:lnTo>
                  <a:lnTo>
                    <a:pt x="710" y="0"/>
                  </a:lnTo>
                  <a:lnTo>
                    <a:pt x="710" y="422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483" name="Freeform 1044"/>
            <p:cNvSpPr>
              <a:spLocks/>
            </p:cNvSpPr>
            <p:nvPr/>
          </p:nvSpPr>
          <p:spPr bwMode="auto">
            <a:xfrm>
              <a:off x="2567" y="2363"/>
              <a:ext cx="710" cy="429"/>
            </a:xfrm>
            <a:custGeom>
              <a:avLst/>
              <a:gdLst>
                <a:gd name="T0" fmla="*/ 0 w 710"/>
                <a:gd name="T1" fmla="*/ 429 h 429"/>
                <a:gd name="T2" fmla="*/ 473 w 710"/>
                <a:gd name="T3" fmla="*/ 429 h 429"/>
                <a:gd name="T4" fmla="*/ 473 w 710"/>
                <a:gd name="T5" fmla="*/ 0 h 429"/>
                <a:gd name="T6" fmla="*/ 710 w 710"/>
                <a:gd name="T7" fmla="*/ 0 h 429"/>
                <a:gd name="T8" fmla="*/ 710 w 710"/>
                <a:gd name="T9" fmla="*/ 422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0"/>
                <a:gd name="T16" fmla="*/ 0 h 429"/>
                <a:gd name="T17" fmla="*/ 710 w 710"/>
                <a:gd name="T18" fmla="*/ 429 h 4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0" h="429">
                  <a:moveTo>
                    <a:pt x="0" y="429"/>
                  </a:moveTo>
                  <a:lnTo>
                    <a:pt x="473" y="429"/>
                  </a:lnTo>
                  <a:lnTo>
                    <a:pt x="473" y="0"/>
                  </a:lnTo>
                  <a:lnTo>
                    <a:pt x="710" y="0"/>
                  </a:lnTo>
                  <a:lnTo>
                    <a:pt x="710" y="422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484" name="Freeform 1046"/>
            <p:cNvSpPr>
              <a:spLocks/>
            </p:cNvSpPr>
            <p:nvPr/>
          </p:nvSpPr>
          <p:spPr bwMode="auto">
            <a:xfrm>
              <a:off x="3277" y="2349"/>
              <a:ext cx="710" cy="429"/>
            </a:xfrm>
            <a:custGeom>
              <a:avLst/>
              <a:gdLst>
                <a:gd name="T0" fmla="*/ 0 w 710"/>
                <a:gd name="T1" fmla="*/ 429 h 429"/>
                <a:gd name="T2" fmla="*/ 473 w 710"/>
                <a:gd name="T3" fmla="*/ 429 h 429"/>
                <a:gd name="T4" fmla="*/ 473 w 710"/>
                <a:gd name="T5" fmla="*/ 0 h 429"/>
                <a:gd name="T6" fmla="*/ 710 w 710"/>
                <a:gd name="T7" fmla="*/ 0 h 429"/>
                <a:gd name="T8" fmla="*/ 710 w 710"/>
                <a:gd name="T9" fmla="*/ 422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0"/>
                <a:gd name="T16" fmla="*/ 0 h 429"/>
                <a:gd name="T17" fmla="*/ 710 w 710"/>
                <a:gd name="T18" fmla="*/ 429 h 4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0" h="429">
                  <a:moveTo>
                    <a:pt x="0" y="429"/>
                  </a:moveTo>
                  <a:lnTo>
                    <a:pt x="473" y="429"/>
                  </a:lnTo>
                  <a:lnTo>
                    <a:pt x="473" y="0"/>
                  </a:lnTo>
                  <a:lnTo>
                    <a:pt x="710" y="0"/>
                  </a:lnTo>
                  <a:lnTo>
                    <a:pt x="710" y="422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485" name="Line 1049"/>
            <p:cNvSpPr>
              <a:spLocks noChangeShapeType="1"/>
            </p:cNvSpPr>
            <p:nvPr/>
          </p:nvSpPr>
          <p:spPr bwMode="auto">
            <a:xfrm>
              <a:off x="3993" y="2764"/>
              <a:ext cx="4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2476" name="Line 1051"/>
          <p:cNvSpPr>
            <a:spLocks noChangeShapeType="1"/>
          </p:cNvSpPr>
          <p:nvPr/>
        </p:nvSpPr>
        <p:spPr bwMode="auto">
          <a:xfrm>
            <a:off x="1758950" y="5710238"/>
            <a:ext cx="0" cy="3667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477" name="Line 1052"/>
          <p:cNvSpPr>
            <a:spLocks noChangeShapeType="1"/>
          </p:cNvSpPr>
          <p:nvPr/>
        </p:nvSpPr>
        <p:spPr bwMode="auto">
          <a:xfrm>
            <a:off x="2886075" y="5699125"/>
            <a:ext cx="0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478" name="Line 1053"/>
          <p:cNvSpPr>
            <a:spLocks noChangeShapeType="1"/>
          </p:cNvSpPr>
          <p:nvPr/>
        </p:nvSpPr>
        <p:spPr bwMode="auto">
          <a:xfrm>
            <a:off x="1768475" y="5943600"/>
            <a:ext cx="1106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479" name="Text Box 1054"/>
          <p:cNvSpPr txBox="1">
            <a:spLocks noChangeArrowheads="1"/>
          </p:cNvSpPr>
          <p:nvPr/>
        </p:nvSpPr>
        <p:spPr bwMode="auto">
          <a:xfrm>
            <a:off x="2093913" y="5932488"/>
            <a:ext cx="7254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t</a:t>
            </a:r>
            <a:r>
              <a:rPr lang="en-US" sz="1400" b="1" baseline="-25000"/>
              <a:t>cycle</a:t>
            </a: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2935608305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 real clock</a:t>
            </a:r>
          </a:p>
        </p:txBody>
      </p:sp>
      <p:pic>
        <p:nvPicPr>
          <p:cNvPr id="65539" name="Picture 1027" descr="lesson 2 figure 9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3" y="2246313"/>
            <a:ext cx="7877175" cy="389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0" name="Line 1028"/>
          <p:cNvSpPr>
            <a:spLocks noChangeShapeType="1"/>
          </p:cNvSpPr>
          <p:nvPr/>
        </p:nvSpPr>
        <p:spPr bwMode="auto">
          <a:xfrm>
            <a:off x="457200" y="3822700"/>
            <a:ext cx="4191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5541" name="Line 1029"/>
          <p:cNvSpPr>
            <a:spLocks noChangeShapeType="1"/>
          </p:cNvSpPr>
          <p:nvPr/>
        </p:nvSpPr>
        <p:spPr bwMode="auto">
          <a:xfrm>
            <a:off x="469900" y="4864100"/>
            <a:ext cx="4191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5542" name="Line 1030"/>
          <p:cNvSpPr>
            <a:spLocks noChangeShapeType="1"/>
          </p:cNvSpPr>
          <p:nvPr/>
        </p:nvSpPr>
        <p:spPr bwMode="auto">
          <a:xfrm>
            <a:off x="647700" y="4876800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5543" name="Text Box 1031"/>
          <p:cNvSpPr txBox="1">
            <a:spLocks noChangeArrowheads="1"/>
          </p:cNvSpPr>
          <p:nvPr/>
        </p:nvSpPr>
        <p:spPr bwMode="auto">
          <a:xfrm rot="-5400000">
            <a:off x="73025" y="5075238"/>
            <a:ext cx="7191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Logic 0</a:t>
            </a:r>
          </a:p>
        </p:txBody>
      </p:sp>
      <p:sp>
        <p:nvSpPr>
          <p:cNvPr id="65544" name="Line 1032"/>
          <p:cNvSpPr>
            <a:spLocks noChangeShapeType="1"/>
          </p:cNvSpPr>
          <p:nvPr/>
        </p:nvSpPr>
        <p:spPr bwMode="auto">
          <a:xfrm>
            <a:off x="660400" y="2552700"/>
            <a:ext cx="0" cy="1079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5545" name="Text Box 1033"/>
          <p:cNvSpPr txBox="1">
            <a:spLocks noChangeArrowheads="1"/>
          </p:cNvSpPr>
          <p:nvPr/>
        </p:nvSpPr>
        <p:spPr bwMode="auto">
          <a:xfrm rot="-5400000">
            <a:off x="85725" y="2686050"/>
            <a:ext cx="7191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Logic 1</a:t>
            </a:r>
          </a:p>
        </p:txBody>
      </p:sp>
      <p:sp>
        <p:nvSpPr>
          <p:cNvPr id="65546" name="Line 1034"/>
          <p:cNvSpPr>
            <a:spLocks noChangeShapeType="1"/>
          </p:cNvSpPr>
          <p:nvPr/>
        </p:nvSpPr>
        <p:spPr bwMode="auto">
          <a:xfrm>
            <a:off x="647700" y="3924300"/>
            <a:ext cx="0" cy="850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5547" name="Text Box 1035"/>
          <p:cNvSpPr txBox="1">
            <a:spLocks noChangeArrowheads="1"/>
          </p:cNvSpPr>
          <p:nvPr/>
        </p:nvSpPr>
        <p:spPr bwMode="auto">
          <a:xfrm rot="-5400000">
            <a:off x="-49213" y="4214813"/>
            <a:ext cx="10398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Not Defined</a:t>
            </a:r>
          </a:p>
        </p:txBody>
      </p:sp>
      <p:sp>
        <p:nvSpPr>
          <p:cNvPr id="65548" name="Rectangle 1036"/>
          <p:cNvSpPr>
            <a:spLocks noChangeArrowheads="1"/>
          </p:cNvSpPr>
          <p:nvPr/>
        </p:nvSpPr>
        <p:spPr bwMode="auto">
          <a:xfrm>
            <a:off x="393700" y="1084263"/>
            <a:ext cx="82169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kumimoji="1" lang="en-US" sz="1800">
                <a:latin typeface="Tahoma" pitchFamily="34" charset="0"/>
              </a:rPr>
              <a:t>Note that signal fidelity is not an issue. As long as the logic 1 is greater than 2.5 volts and logic 0 is less than 1 volt, the pulse will be properly interpreted</a:t>
            </a:r>
          </a:p>
        </p:txBody>
      </p:sp>
      <p:sp>
        <p:nvSpPr>
          <p:cNvPr id="65549" name="Line 1037"/>
          <p:cNvSpPr>
            <a:spLocks noChangeShapeType="1"/>
          </p:cNvSpPr>
          <p:nvPr/>
        </p:nvSpPr>
        <p:spPr bwMode="auto">
          <a:xfrm>
            <a:off x="4368800" y="2908300"/>
            <a:ext cx="0" cy="660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5550" name="Text Box 1038"/>
          <p:cNvSpPr txBox="1">
            <a:spLocks noChangeArrowheads="1"/>
          </p:cNvSpPr>
          <p:nvPr/>
        </p:nvSpPr>
        <p:spPr bwMode="auto">
          <a:xfrm>
            <a:off x="4416425" y="3094038"/>
            <a:ext cx="3698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>
                <a:solidFill>
                  <a:srgbClr val="FF3300"/>
                </a:solidFill>
              </a:rPr>
              <a:t>1V</a:t>
            </a:r>
          </a:p>
        </p:txBody>
      </p:sp>
    </p:spTree>
    <p:extLst>
      <p:ext uri="{BB962C8B-B14F-4D97-AF65-F5344CB8AC3E}">
        <p14:creationId xmlns:p14="http://schemas.microsoft.com/office/powerpoint/2010/main" val="3963212629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Pulse rise time measurement</a:t>
            </a:r>
          </a:p>
        </p:txBody>
      </p:sp>
      <p:pic>
        <p:nvPicPr>
          <p:cNvPr id="66563" name="Picture 1027" descr="rise ti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900" y="1143000"/>
            <a:ext cx="6503988" cy="507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809263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Propagation delay</a:t>
            </a:r>
          </a:p>
        </p:txBody>
      </p:sp>
      <p:sp>
        <p:nvSpPr>
          <p:cNvPr id="67587" name="Rectangle 1027"/>
          <p:cNvSpPr>
            <a:spLocks noChangeArrowheads="1"/>
          </p:cNvSpPr>
          <p:nvPr/>
        </p:nvSpPr>
        <p:spPr bwMode="auto">
          <a:xfrm>
            <a:off x="304800" y="969963"/>
            <a:ext cx="821690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kumimoji="1" lang="en-US" sz="1800" dirty="0">
                <a:latin typeface="Tahoma" pitchFamily="34" charset="0"/>
              </a:rPr>
              <a:t>Why can’t we simply rev-up the clock on your PC to 2 GHz, or higher?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kumimoji="1" lang="en-US" sz="1800" dirty="0">
                <a:latin typeface="Tahoma" pitchFamily="34" charset="0"/>
              </a:rPr>
              <a:t>Answer: Gates require a finite amount of time to switch state when their inputs change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kumimoji="1" lang="en-US" sz="1800" dirty="0">
                <a:latin typeface="Tahoma" pitchFamily="34" charset="0"/>
              </a:rPr>
              <a:t>Consider the inverter gate, below: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kumimoji="1" lang="en-US" sz="1800" dirty="0">
                <a:latin typeface="Tahoma" pitchFamily="34" charset="0"/>
                <a:sym typeface="Monotype Sorts"/>
              </a:rPr>
              <a:t>The propagation delay (time delay from input change to output change),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1" lang="el-GR" sz="1800" dirty="0">
                <a:latin typeface="Tahoma" pitchFamily="34" charset="0"/>
                <a:cs typeface="Tahoma" pitchFamily="34" charset="0"/>
                <a:sym typeface="Monotype Sorts"/>
              </a:rPr>
              <a:t>Δ</a:t>
            </a:r>
            <a:r>
              <a:rPr kumimoji="1" lang="en-US" sz="1800" dirty="0">
                <a:latin typeface="Tahoma" pitchFamily="34" charset="0"/>
                <a:cs typeface="Tahoma" pitchFamily="34" charset="0"/>
                <a:sym typeface="Monotype Sorts"/>
              </a:rPr>
              <a:t>t</a:t>
            </a:r>
            <a:r>
              <a:rPr kumimoji="1" lang="en-US" sz="1800" dirty="0">
                <a:latin typeface="Tahoma" pitchFamily="34" charset="0"/>
                <a:sym typeface="Monotype Sorts"/>
              </a:rPr>
              <a:t> = 12.60ns </a:t>
            </a:r>
            <a:endParaRPr kumimoji="1" lang="en-US" sz="1800" dirty="0">
              <a:latin typeface="Tahoma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endParaRPr kumimoji="1" lang="en-US" sz="1800" dirty="0">
              <a:latin typeface="Tahoma" pitchFamily="34" charset="0"/>
            </a:endParaRPr>
          </a:p>
        </p:txBody>
      </p:sp>
      <p:pic>
        <p:nvPicPr>
          <p:cNvPr id="67588" name="Picture 1028" descr="prop del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2533650"/>
            <a:ext cx="4860925" cy="383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7589" name="Group 1033"/>
          <p:cNvGrpSpPr>
            <a:grpSpLocks/>
          </p:cNvGrpSpPr>
          <p:nvPr/>
        </p:nvGrpSpPr>
        <p:grpSpPr bwMode="auto">
          <a:xfrm>
            <a:off x="825500" y="3797300"/>
            <a:ext cx="2247900" cy="850900"/>
            <a:chOff x="384" y="1984"/>
            <a:chExt cx="1416" cy="536"/>
          </a:xfrm>
        </p:grpSpPr>
        <p:sp>
          <p:nvSpPr>
            <p:cNvPr id="67594" name="AutoShape 1029"/>
            <p:cNvSpPr>
              <a:spLocks noChangeArrowheads="1"/>
            </p:cNvSpPr>
            <p:nvPr/>
          </p:nvSpPr>
          <p:spPr bwMode="auto">
            <a:xfrm rot="5400000">
              <a:off x="776" y="2016"/>
              <a:ext cx="536" cy="47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595" name="Oval 1030"/>
            <p:cNvSpPr>
              <a:spLocks noChangeArrowheads="1"/>
            </p:cNvSpPr>
            <p:nvPr/>
          </p:nvSpPr>
          <p:spPr bwMode="auto">
            <a:xfrm>
              <a:off x="1288" y="2200"/>
              <a:ext cx="96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596" name="Line 1031"/>
            <p:cNvSpPr>
              <a:spLocks noChangeShapeType="1"/>
            </p:cNvSpPr>
            <p:nvPr/>
          </p:nvSpPr>
          <p:spPr bwMode="auto">
            <a:xfrm flipH="1">
              <a:off x="384" y="2264"/>
              <a:ext cx="4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67597" name="Line 1032"/>
            <p:cNvSpPr>
              <a:spLocks noChangeShapeType="1"/>
            </p:cNvSpPr>
            <p:nvPr/>
          </p:nvSpPr>
          <p:spPr bwMode="auto">
            <a:xfrm flipH="1">
              <a:off x="1384" y="2248"/>
              <a:ext cx="4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67590" name="Freeform 1034"/>
          <p:cNvSpPr>
            <a:spLocks/>
          </p:cNvSpPr>
          <p:nvPr/>
        </p:nvSpPr>
        <p:spPr bwMode="auto">
          <a:xfrm>
            <a:off x="520700" y="3670300"/>
            <a:ext cx="889000" cy="368300"/>
          </a:xfrm>
          <a:custGeom>
            <a:avLst/>
            <a:gdLst>
              <a:gd name="T0" fmla="*/ 0 w 560"/>
              <a:gd name="T1" fmla="*/ 0 h 232"/>
              <a:gd name="T2" fmla="*/ 2147483647 w 560"/>
              <a:gd name="T3" fmla="*/ 0 h 232"/>
              <a:gd name="T4" fmla="*/ 2147483647 w 560"/>
              <a:gd name="T5" fmla="*/ 2147483647 h 232"/>
              <a:gd name="T6" fmla="*/ 2147483647 w 560"/>
              <a:gd name="T7" fmla="*/ 2147483647 h 232"/>
              <a:gd name="T8" fmla="*/ 0 60000 65536"/>
              <a:gd name="T9" fmla="*/ 0 60000 65536"/>
              <a:gd name="T10" fmla="*/ 0 60000 65536"/>
              <a:gd name="T11" fmla="*/ 0 60000 65536"/>
              <a:gd name="T12" fmla="*/ 0 w 560"/>
              <a:gd name="T13" fmla="*/ 0 h 232"/>
              <a:gd name="T14" fmla="*/ 560 w 560"/>
              <a:gd name="T15" fmla="*/ 232 h 2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0" h="232">
                <a:moveTo>
                  <a:pt x="0" y="0"/>
                </a:moveTo>
                <a:lnTo>
                  <a:pt x="320" y="0"/>
                </a:lnTo>
                <a:lnTo>
                  <a:pt x="320" y="232"/>
                </a:lnTo>
                <a:lnTo>
                  <a:pt x="560" y="232"/>
                </a:lnTo>
              </a:path>
            </a:pathLst>
          </a:cu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591" name="Freeform 1035"/>
          <p:cNvSpPr>
            <a:spLocks/>
          </p:cNvSpPr>
          <p:nvPr/>
        </p:nvSpPr>
        <p:spPr bwMode="auto">
          <a:xfrm flipV="1">
            <a:off x="2197100" y="4470400"/>
            <a:ext cx="889000" cy="368300"/>
          </a:xfrm>
          <a:custGeom>
            <a:avLst/>
            <a:gdLst>
              <a:gd name="T0" fmla="*/ 0 w 560"/>
              <a:gd name="T1" fmla="*/ 0 h 232"/>
              <a:gd name="T2" fmla="*/ 2147483647 w 560"/>
              <a:gd name="T3" fmla="*/ 0 h 232"/>
              <a:gd name="T4" fmla="*/ 2147483647 w 560"/>
              <a:gd name="T5" fmla="*/ 2147483647 h 232"/>
              <a:gd name="T6" fmla="*/ 2147483647 w 560"/>
              <a:gd name="T7" fmla="*/ 2147483647 h 232"/>
              <a:gd name="T8" fmla="*/ 0 60000 65536"/>
              <a:gd name="T9" fmla="*/ 0 60000 65536"/>
              <a:gd name="T10" fmla="*/ 0 60000 65536"/>
              <a:gd name="T11" fmla="*/ 0 60000 65536"/>
              <a:gd name="T12" fmla="*/ 0 w 560"/>
              <a:gd name="T13" fmla="*/ 0 h 232"/>
              <a:gd name="T14" fmla="*/ 560 w 560"/>
              <a:gd name="T15" fmla="*/ 232 h 2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0" h="232">
                <a:moveTo>
                  <a:pt x="0" y="0"/>
                </a:moveTo>
                <a:lnTo>
                  <a:pt x="320" y="0"/>
                </a:lnTo>
                <a:lnTo>
                  <a:pt x="320" y="232"/>
                </a:lnTo>
                <a:lnTo>
                  <a:pt x="560" y="232"/>
                </a:lnTo>
              </a:path>
            </a:pathLst>
          </a:cu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592" name="Line 1036"/>
          <p:cNvSpPr>
            <a:spLocks noChangeShapeType="1"/>
          </p:cNvSpPr>
          <p:nvPr/>
        </p:nvSpPr>
        <p:spPr bwMode="auto">
          <a:xfrm>
            <a:off x="1257300" y="3733800"/>
            <a:ext cx="4203700" cy="152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593" name="Line 1037"/>
          <p:cNvSpPr>
            <a:spLocks noChangeShapeType="1"/>
          </p:cNvSpPr>
          <p:nvPr/>
        </p:nvSpPr>
        <p:spPr bwMode="auto">
          <a:xfrm>
            <a:off x="2844800" y="4660900"/>
            <a:ext cx="3213100" cy="127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60732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units for sequential circuit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276600"/>
          </a:xfrm>
        </p:spPr>
        <p:txBody>
          <a:bodyPr/>
          <a:lstStyle/>
          <a:p>
            <a:r>
              <a:rPr lang="en-US" sz="1800" dirty="0" smtClean="0"/>
              <a:t>Like the logic gates are the building blocks of combinational circuit, flip-flops are the building blocks of sequential circuit.</a:t>
            </a:r>
          </a:p>
          <a:p>
            <a:r>
              <a:rPr lang="en-US" sz="1800" dirty="0" smtClean="0"/>
              <a:t>Flip-flops are built with logical gates</a:t>
            </a:r>
            <a:endParaRPr lang="en-US" sz="1800" dirty="0"/>
          </a:p>
          <a:p>
            <a:r>
              <a:rPr lang="en-US" sz="1800" dirty="0" smtClean="0"/>
              <a:t>Before we study flip-flops, let’s start with a latch</a:t>
            </a:r>
          </a:p>
          <a:p>
            <a:endParaRPr lang="en-US" sz="1800" dirty="0"/>
          </a:p>
          <a:p>
            <a:r>
              <a:rPr lang="en-US" sz="1800" dirty="0" smtClean="0"/>
              <a:t>Latch: Use feedback functionality </a:t>
            </a:r>
          </a:p>
          <a:p>
            <a:pPr lvl="1"/>
            <a:r>
              <a:rPr lang="en-US" sz="1800" b="1" i="1" dirty="0" smtClean="0"/>
              <a:t>Feedback</a:t>
            </a:r>
            <a:r>
              <a:rPr lang="en-US" sz="1800" dirty="0" smtClean="0"/>
              <a:t>: Bringing </a:t>
            </a:r>
            <a:r>
              <a:rPr lang="en-US" sz="1800" dirty="0"/>
              <a:t>the output back to an input </a:t>
            </a:r>
            <a:endParaRPr lang="en-US" sz="1800" b="1" i="1" dirty="0"/>
          </a:p>
          <a:p>
            <a:pPr lvl="1"/>
            <a:r>
              <a:rPr lang="en-US" sz="1800" dirty="0"/>
              <a:t>Locks the gate pair into a new state </a:t>
            </a:r>
          </a:p>
          <a:p>
            <a:pPr lvl="1"/>
            <a:r>
              <a:rPr lang="en-US" sz="1800" dirty="0"/>
              <a:t>Transition is triggered by the application of the input pulse</a:t>
            </a:r>
          </a:p>
          <a:p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7576116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Latches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1752600"/>
          </a:xfrm>
        </p:spPr>
        <p:txBody>
          <a:bodyPr/>
          <a:lstStyle/>
          <a:p>
            <a:r>
              <a:rPr lang="en-US" sz="1800" dirty="0" smtClean="0"/>
              <a:t>Need a circuit that remembers previous input values (states)</a:t>
            </a:r>
          </a:p>
          <a:p>
            <a:r>
              <a:rPr lang="en-US" sz="1800" dirty="0" smtClean="0"/>
              <a:t>S-R Latch : has two stable states. (set/reset)</a:t>
            </a:r>
          </a:p>
          <a:p>
            <a:r>
              <a:rPr lang="en-US" sz="1800" dirty="0" smtClean="0"/>
              <a:t>Regardless of previous states, </a:t>
            </a:r>
          </a:p>
          <a:p>
            <a:pPr lvl="1"/>
            <a:r>
              <a:rPr lang="en-US" sz="1800" dirty="0" smtClean="0"/>
              <a:t>When S is 1, Q becomes 1.</a:t>
            </a:r>
          </a:p>
          <a:p>
            <a:pPr lvl="1"/>
            <a:r>
              <a:rPr lang="en-US" sz="1800" dirty="0" smtClean="0"/>
              <a:t>When R is 1, Q becomes 0</a:t>
            </a:r>
          </a:p>
          <a:p>
            <a:pPr lvl="1"/>
            <a:r>
              <a:rPr lang="en-US" sz="1800" dirty="0" smtClean="0"/>
              <a:t>What if R=S=1, simultaneously? (race condition)</a:t>
            </a:r>
          </a:p>
        </p:txBody>
      </p:sp>
      <p:pic>
        <p:nvPicPr>
          <p:cNvPr id="6963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3581400"/>
            <a:ext cx="8169275" cy="316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78374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exercise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1752600"/>
          </a:xfrm>
        </p:spPr>
        <p:txBody>
          <a:bodyPr/>
          <a:lstStyle/>
          <a:p>
            <a:r>
              <a:rPr lang="en-US" sz="1800" dirty="0" smtClean="0"/>
              <a:t>Can you make a state table with the circuit diagram?</a:t>
            </a:r>
          </a:p>
          <a:p>
            <a:r>
              <a:rPr lang="en-US" sz="1800" dirty="0" smtClean="0"/>
              <a:t>What is the characteristic table?</a:t>
            </a:r>
          </a:p>
          <a:p>
            <a:r>
              <a:rPr lang="en-US" sz="1800" dirty="0" smtClean="0"/>
              <a:t>State table: </a:t>
            </a:r>
            <a:r>
              <a:rPr lang="en-US" sz="1800" dirty="0" smtClean="0"/>
              <a:t>truth table containing inputs </a:t>
            </a:r>
            <a:r>
              <a:rPr lang="en-US" sz="1800" i="1" dirty="0" smtClean="0"/>
              <a:t>and </a:t>
            </a:r>
            <a:r>
              <a:rPr lang="en-US" sz="1800" dirty="0" smtClean="0"/>
              <a:t>current state </a:t>
            </a:r>
          </a:p>
          <a:p>
            <a:pPr lvl="1"/>
            <a:r>
              <a:rPr lang="en-US" sz="1400" dirty="0" smtClean="0"/>
              <a:t>“Outputs” are the next state</a:t>
            </a:r>
            <a:endParaRPr lang="en-US" sz="1400" dirty="0" smtClean="0"/>
          </a:p>
          <a:p>
            <a:r>
              <a:rPr lang="en-US" sz="1800" dirty="0" smtClean="0"/>
              <a:t>Characteristic (state) </a:t>
            </a:r>
            <a:r>
              <a:rPr lang="en-US" sz="1800" dirty="0" smtClean="0"/>
              <a:t>table: </a:t>
            </a:r>
            <a:r>
              <a:rPr lang="en-US" sz="1800" dirty="0" smtClean="0"/>
              <a:t>Given the input lines and current state, determine next state (</a:t>
            </a:r>
            <a:r>
              <a:rPr lang="en-US" sz="1800" dirty="0" err="1" smtClean="0"/>
              <a:t>ie</a:t>
            </a:r>
            <a:r>
              <a:rPr lang="en-US" sz="1800" dirty="0" smtClean="0"/>
              <a:t>, next state is “output”)</a:t>
            </a:r>
          </a:p>
          <a:p>
            <a:pPr lvl="1"/>
            <a:r>
              <a:rPr lang="en-US" sz="1400" dirty="0" smtClean="0"/>
              <a:t>Excitation table: Start and end states are fixed; determine the signals required for the control lines to facilitate that transition (i.e. output is R,S signals)</a:t>
            </a:r>
            <a:endParaRPr lang="en-US" sz="1400" dirty="0" smtClean="0"/>
          </a:p>
        </p:txBody>
      </p:sp>
      <p:pic>
        <p:nvPicPr>
          <p:cNvPr id="696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3581400"/>
            <a:ext cx="8169275" cy="316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70759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3400" y="1219200"/>
            <a:ext cx="10261158" cy="508635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304800" y="228600"/>
            <a:ext cx="8229600" cy="8382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457200"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914400"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1371600"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1828800"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r>
              <a:rPr lang="en-US" sz="3200" kern="0" dirty="0" smtClean="0"/>
              <a:t>SR Latch</a:t>
            </a:r>
          </a:p>
        </p:txBody>
      </p:sp>
    </p:spTree>
    <p:extLst>
      <p:ext uri="{BB962C8B-B14F-4D97-AF65-F5344CB8AC3E}">
        <p14:creationId xmlns:p14="http://schemas.microsoft.com/office/powerpoint/2010/main" val="271303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Clocked SR Latches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1600200"/>
          </a:xfrm>
        </p:spPr>
        <p:txBody>
          <a:bodyPr/>
          <a:lstStyle/>
          <a:p>
            <a:pPr marL="0" indent="0"/>
            <a:r>
              <a:rPr lang="en-US" sz="1800" dirty="0" smtClean="0"/>
              <a:t> SR Latch is an asynchronous operation, yet</a:t>
            </a:r>
          </a:p>
          <a:p>
            <a:pPr marL="0" indent="0"/>
            <a:r>
              <a:rPr lang="en-US" sz="1800" dirty="0" smtClean="0"/>
              <a:t> Preventing the latch from changing state except at certain specific time.</a:t>
            </a:r>
          </a:p>
          <a:p>
            <a:pPr marL="400050" lvl="1" indent="0"/>
            <a:r>
              <a:rPr lang="en-US" sz="1800" dirty="0" smtClean="0"/>
              <a:t>Only when Clock is 1, the latch is sensitive to S or R.</a:t>
            </a:r>
          </a:p>
          <a:p>
            <a:pPr marL="400050" lvl="1" indent="0"/>
            <a:r>
              <a:rPr lang="en-US" sz="1800" dirty="0"/>
              <a:t> </a:t>
            </a:r>
            <a:r>
              <a:rPr lang="en-US" sz="1800" dirty="0" smtClean="0"/>
              <a:t>How to resolve the </a:t>
            </a:r>
            <a:r>
              <a:rPr lang="en-US" sz="1800" smtClean="0"/>
              <a:t>undefined race condition </a:t>
            </a:r>
            <a:r>
              <a:rPr lang="en-US" sz="1800" dirty="0" smtClean="0"/>
              <a:t>for S=R=1?</a:t>
            </a:r>
          </a:p>
        </p:txBody>
      </p:sp>
      <p:pic>
        <p:nvPicPr>
          <p:cNvPr id="706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3505200"/>
            <a:ext cx="6208712" cy="27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31464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295400"/>
            <a:ext cx="8229600" cy="16002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/>
            <a:r>
              <a:rPr lang="en-US" sz="1800" kern="0" dirty="0" smtClean="0">
                <a:latin typeface="+mj-lt"/>
              </a:rPr>
              <a:t>  </a:t>
            </a:r>
            <a:r>
              <a:rPr lang="en-US" sz="1800" dirty="0"/>
              <a:t>Avoid the SR latch’s instability by </a:t>
            </a:r>
            <a:r>
              <a:rPr lang="en-US" sz="1800" dirty="0" smtClean="0"/>
              <a:t>preventing the inputs being 1 at the same time.</a:t>
            </a:r>
            <a:endParaRPr lang="en-US" sz="1800" dirty="0"/>
          </a:p>
          <a:p>
            <a:pPr marL="0" indent="0"/>
            <a:r>
              <a:rPr lang="en-US" sz="1800" dirty="0" smtClean="0">
                <a:latin typeface="+mj-lt"/>
              </a:rPr>
              <a:t>  In </a:t>
            </a:r>
            <a:r>
              <a:rPr lang="en-US" sz="1800" dirty="0">
                <a:latin typeface="+mj-lt"/>
              </a:rPr>
              <a:t>this case all possible combinations of input values are valid</a:t>
            </a:r>
            <a:r>
              <a:rPr lang="en-US" sz="1800" dirty="0" smtClean="0">
                <a:latin typeface="+mj-lt"/>
              </a:rPr>
              <a:t> </a:t>
            </a:r>
            <a:endParaRPr lang="en-US" sz="1800" kern="0" dirty="0" smtClean="0">
              <a:latin typeface="+mj-lt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228600"/>
            <a:ext cx="8229600" cy="8382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457200"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914400"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1371600"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1828800"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r>
              <a:rPr lang="en-US" sz="3200" kern="0" dirty="0" smtClean="0"/>
              <a:t>Clocked JK Latch</a:t>
            </a:r>
          </a:p>
        </p:txBody>
      </p:sp>
      <p:pic>
        <p:nvPicPr>
          <p:cNvPr id="1026" name="Picture 2" descr="http://sub.allaboutcircuits.com/images/0419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75" y="2895600"/>
            <a:ext cx="8641077" cy="308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88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Clocked D Latches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1752600"/>
          </a:xfrm>
        </p:spPr>
        <p:txBody>
          <a:bodyPr/>
          <a:lstStyle/>
          <a:p>
            <a:pPr marL="0" indent="0"/>
            <a:r>
              <a:rPr lang="en-US" sz="1800" dirty="0" smtClean="0"/>
              <a:t> Avoid the SR latch’s instability by giving R as the inverse of S.</a:t>
            </a:r>
          </a:p>
          <a:p>
            <a:pPr marL="0" indent="0"/>
            <a:r>
              <a:rPr lang="en-US" sz="1800" dirty="0" smtClean="0"/>
              <a:t> Stored value is available at Q</a:t>
            </a:r>
          </a:p>
          <a:p>
            <a:pPr marL="0" indent="0"/>
            <a:r>
              <a:rPr lang="en-US" sz="1800" dirty="0" smtClean="0"/>
              <a:t> To load the current value of D, just give a positive pulse on the clock line.</a:t>
            </a:r>
          </a:p>
          <a:p>
            <a:pPr marL="0" indent="0"/>
            <a:r>
              <a:rPr lang="en-US" sz="1800" dirty="0"/>
              <a:t> </a:t>
            </a:r>
            <a:r>
              <a:rPr lang="en-US" sz="1800" dirty="0" smtClean="0"/>
              <a:t>What if D changes while the clock stays in HIGH (active)?</a:t>
            </a:r>
          </a:p>
        </p:txBody>
      </p:sp>
      <p:pic>
        <p:nvPicPr>
          <p:cNvPr id="7168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276600"/>
            <a:ext cx="6557963" cy="313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56289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Flip-Flops</a:t>
            </a:r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76800"/>
          </a:xfrm>
        </p:spPr>
        <p:txBody>
          <a:bodyPr/>
          <a:lstStyle/>
          <a:p>
            <a:pPr marL="0" indent="0"/>
            <a:r>
              <a:rPr lang="en-US" sz="1800" dirty="0" smtClean="0"/>
              <a:t> Sometimes </a:t>
            </a:r>
            <a:r>
              <a:rPr lang="en-US" sz="1800" dirty="0"/>
              <a:t>FF and latches are </a:t>
            </a:r>
            <a:r>
              <a:rPr lang="en-US" sz="1800" dirty="0" smtClean="0"/>
              <a:t>used as same in </a:t>
            </a:r>
            <a:r>
              <a:rPr lang="en-US" sz="1800" dirty="0"/>
              <a:t>many books. 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/>
            <a:r>
              <a:rPr lang="en-US" sz="1800" dirty="0" smtClean="0"/>
              <a:t> Flip-Flop: State transition occurs when the clock transition from 0 to 1 or from 1 to 0</a:t>
            </a:r>
          </a:p>
          <a:p>
            <a:pPr marL="0" indent="0"/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/>
              <a:t>Called a Flip-flop because the output Q is flip back and forth </a:t>
            </a:r>
            <a:endParaRPr lang="en-US" sz="1800" dirty="0" smtClean="0"/>
          </a:p>
          <a:p>
            <a:pPr marL="0" indent="0"/>
            <a:endParaRPr lang="en-US" sz="1800" dirty="0" smtClean="0"/>
          </a:p>
          <a:p>
            <a:pPr marL="0" indent="0"/>
            <a:r>
              <a:rPr lang="en-US" sz="1800" dirty="0" smtClean="0"/>
              <a:t> Latch lacks a mechanism to shift control to the clock edge. The states change when the clock is active: called level-triggered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/>
            <a:r>
              <a:rPr lang="en-US" sz="1800" dirty="0"/>
              <a:t> </a:t>
            </a:r>
            <a:r>
              <a:rPr lang="en-US" sz="1800" dirty="0" smtClean="0"/>
              <a:t>Take the JK clocked latch as an example. If J=K=1, and the clock is enabled, then it will flip continuously, and it is not we can control easily.</a:t>
            </a:r>
          </a:p>
          <a:p>
            <a:pPr marL="0" indent="0"/>
            <a:endParaRPr lang="en-US" sz="1800" dirty="0" smtClean="0"/>
          </a:p>
          <a:p>
            <a:pPr marL="0" indent="0"/>
            <a:r>
              <a:rPr lang="en-US" sz="1800" dirty="0"/>
              <a:t> </a:t>
            </a:r>
            <a:r>
              <a:rPr lang="en-US" sz="1800" dirty="0" smtClean="0"/>
              <a:t>So, make the states change at the moment that the clock changes: called edge-triggered</a:t>
            </a:r>
          </a:p>
          <a:p>
            <a:pPr marL="0" indent="0"/>
            <a:endParaRPr lang="en-US" sz="1800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53147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Latches and flip-flops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648200"/>
          </a:xfrm>
        </p:spPr>
        <p:txBody>
          <a:bodyPr/>
          <a:lstStyle/>
          <a:p>
            <a:pPr marL="0" indent="0"/>
            <a:r>
              <a:rPr lang="en-US" sz="2000" dirty="0" smtClean="0"/>
              <a:t> Basic components for sequential circuit design </a:t>
            </a:r>
          </a:p>
          <a:p>
            <a:pPr marL="0" indent="0"/>
            <a:endParaRPr lang="en-US" sz="2000" dirty="0" smtClean="0"/>
          </a:p>
          <a:p>
            <a:pPr marL="0" indent="0"/>
            <a:r>
              <a:rPr lang="en-US" sz="2000" dirty="0" smtClean="0"/>
              <a:t> They are bi-stable devices. It is in one of two states.</a:t>
            </a:r>
          </a:p>
          <a:p>
            <a:pPr marL="0" indent="0"/>
            <a:endParaRPr lang="en-US" sz="2000" dirty="0" smtClean="0"/>
          </a:p>
          <a:p>
            <a:pPr marL="0" indent="0"/>
            <a:r>
              <a:rPr lang="en-US" sz="2000" dirty="0" smtClean="0"/>
              <a:t> Without inputs, they remain in that state.</a:t>
            </a:r>
          </a:p>
          <a:p>
            <a:pPr marL="0" indent="0"/>
            <a:endParaRPr lang="en-US" sz="2000" dirty="0" smtClean="0"/>
          </a:p>
          <a:p>
            <a:pPr marL="0" indent="0"/>
            <a:r>
              <a:rPr lang="en-US" sz="2000" dirty="0" smtClean="0"/>
              <a:t> They have two outputs which are always the complements of each other.</a:t>
            </a:r>
          </a:p>
          <a:p>
            <a:pPr marL="0" indent="0"/>
            <a:endParaRPr lang="en-US" sz="2000" dirty="0" smtClean="0"/>
          </a:p>
          <a:p>
            <a:pPr marL="0" indent="0"/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3333CC"/>
                </a:solidFill>
              </a:rPr>
              <a:t>Latch is level triggered while FF is edge triggered.</a:t>
            </a:r>
          </a:p>
          <a:p>
            <a:pPr marL="0" indent="0"/>
            <a:endParaRPr lang="en-US" sz="2000" dirty="0">
              <a:solidFill>
                <a:srgbClr val="3333CC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How to design the functionality of edge-trigger?</a:t>
            </a:r>
          </a:p>
          <a:p>
            <a:pPr marL="0" indent="0"/>
            <a:endParaRPr lang="en-US" sz="2000" dirty="0" smtClean="0">
              <a:solidFill>
                <a:srgbClr val="3333CC"/>
              </a:solidFill>
            </a:endParaRPr>
          </a:p>
          <a:p>
            <a:pPr marL="0" indent="0"/>
            <a:endParaRPr lang="en-US" sz="2000" dirty="0" smtClean="0"/>
          </a:p>
          <a:p>
            <a:pPr marL="0" indent="0"/>
            <a:endParaRPr lang="en-US" sz="20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Flip-Flops – cont’d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057400"/>
          </a:xfrm>
        </p:spPr>
        <p:txBody>
          <a:bodyPr/>
          <a:lstStyle/>
          <a:p>
            <a:pPr marL="0" indent="0"/>
            <a:r>
              <a:rPr lang="en-US" sz="1800" smtClean="0"/>
              <a:t>  Delay in the inverter makes the circuit work.</a:t>
            </a:r>
          </a:p>
          <a:p>
            <a:pPr marL="0" indent="0"/>
            <a:endParaRPr lang="en-US" smtClean="0"/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336800"/>
            <a:ext cx="7500938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51698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990600"/>
          </a:xfrm>
        </p:spPr>
        <p:txBody>
          <a:bodyPr/>
          <a:lstStyle/>
          <a:p>
            <a:pPr marL="0" indent="0"/>
            <a:r>
              <a:rPr lang="en-US" sz="1800" dirty="0" smtClean="0"/>
              <a:t> Standard D </a:t>
            </a:r>
            <a:r>
              <a:rPr lang="en-US" sz="1800" smtClean="0"/>
              <a:t>flip-flop.</a:t>
            </a:r>
            <a:endParaRPr lang="en-US" sz="1800" dirty="0" smtClean="0"/>
          </a:p>
        </p:txBody>
      </p:sp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352800"/>
            <a:ext cx="8229600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748" name="Title 1"/>
          <p:cNvSpPr txBox="1">
            <a:spLocks/>
          </p:cNvSpPr>
          <p:nvPr/>
        </p:nvSpPr>
        <p:spPr bwMode="auto"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3200"/>
              <a:t>Flip-Flops – cont’d</a:t>
            </a:r>
          </a:p>
        </p:txBody>
      </p:sp>
    </p:spTree>
    <p:extLst>
      <p:ext uri="{BB962C8B-B14F-4D97-AF65-F5344CB8AC3E}">
        <p14:creationId xmlns:p14="http://schemas.microsoft.com/office/powerpoint/2010/main" val="30594347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dirty="0" smtClean="0"/>
              <a:t>Sequential circuit design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 marL="0" indent="0">
              <a:buFont typeface="Arial" charset="0"/>
              <a:buChar char="•"/>
              <a:defRPr/>
            </a:pPr>
            <a:r>
              <a:rPr lang="en-US" sz="1800" dirty="0" smtClean="0"/>
              <a:t> A sequential circuit can be a combination of combinational circuit and flip-flops</a:t>
            </a:r>
          </a:p>
          <a:p>
            <a:pPr marL="0" indent="0">
              <a:buFont typeface="Arial" charset="0"/>
              <a:buChar char="•"/>
              <a:defRPr/>
            </a:pPr>
            <a:endParaRPr lang="en-US" sz="1800" dirty="0"/>
          </a:p>
          <a:p>
            <a:pPr marL="0" indent="0">
              <a:buFont typeface="Arial" charset="0"/>
              <a:buChar char="•"/>
              <a:defRPr/>
            </a:pPr>
            <a:endParaRPr lang="en-US" sz="1800" dirty="0" smtClean="0"/>
          </a:p>
          <a:p>
            <a:pPr marL="0" indent="0">
              <a:buFont typeface="Arial" charset="0"/>
              <a:buChar char="•"/>
              <a:defRPr/>
            </a:pPr>
            <a:endParaRPr lang="en-US" sz="1800" dirty="0"/>
          </a:p>
          <a:p>
            <a:pPr marL="0" indent="0">
              <a:buFont typeface="Arial" charset="0"/>
              <a:buChar char="•"/>
              <a:defRPr/>
            </a:pPr>
            <a:endParaRPr lang="en-US" sz="1800" dirty="0" smtClean="0"/>
          </a:p>
          <a:p>
            <a:pPr marL="0" indent="0">
              <a:buFont typeface="Arial" charset="0"/>
              <a:buChar char="•"/>
              <a:defRPr/>
            </a:pPr>
            <a:endParaRPr lang="en-US" sz="1800" dirty="0"/>
          </a:p>
          <a:p>
            <a:pPr marL="0" indent="0">
              <a:buFont typeface="Arial" charset="0"/>
              <a:buChar char="•"/>
              <a:defRPr/>
            </a:pPr>
            <a:endParaRPr lang="en-US" sz="1800" dirty="0" smtClean="0"/>
          </a:p>
          <a:p>
            <a:pPr marL="0" indent="0">
              <a:buFont typeface="Arial" charset="0"/>
              <a:buChar char="•"/>
              <a:defRPr/>
            </a:pPr>
            <a:endParaRPr lang="en-US" sz="1800" dirty="0"/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 smtClean="0"/>
              <a:t>  Because the sequential circuit involves state transition, we have different types of tables for this circuit</a:t>
            </a:r>
          </a:p>
          <a:p>
            <a:pPr>
              <a:buFontTx/>
              <a:buChar char="-"/>
              <a:defRPr/>
            </a:pPr>
            <a:r>
              <a:rPr lang="en-US" sz="1800" dirty="0" smtClean="0"/>
              <a:t>State table: Based on the input and current state, give the next state information (like truth table)</a:t>
            </a:r>
          </a:p>
          <a:p>
            <a:pPr>
              <a:buFontTx/>
              <a:buChar char="-"/>
              <a:defRPr/>
            </a:pPr>
            <a:r>
              <a:rPr lang="en-US" sz="1800" dirty="0" smtClean="0"/>
              <a:t>Characterization table: Give the state transition information based on inputs</a:t>
            </a:r>
          </a:p>
          <a:p>
            <a:pPr>
              <a:buFontTx/>
              <a:buChar char="-"/>
              <a:defRPr/>
            </a:pPr>
            <a:r>
              <a:rPr lang="en-US" sz="1800" dirty="0" smtClean="0"/>
              <a:t>Excitation table: Inputs are current and next state, and outputs are signals (S, R, J, K)</a:t>
            </a:r>
            <a:r>
              <a:rPr lang="en-US" sz="1800" dirty="0" smtClean="0">
                <a:sym typeface="Wingdings" pitchFamily="2" charset="2"/>
              </a:rPr>
              <a:t> </a:t>
            </a: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why do we need this table?</a:t>
            </a:r>
            <a:endParaRPr lang="en-US" sz="1800" dirty="0" smtClean="0">
              <a:solidFill>
                <a:srgbClr val="FF0000"/>
              </a:solidFill>
            </a:endParaRPr>
          </a:p>
          <a:p>
            <a:pPr marL="0" indent="0">
              <a:buFont typeface="Arial" charset="0"/>
              <a:buChar char="•"/>
              <a:defRPr/>
            </a:pPr>
            <a:endParaRPr lang="en-US" sz="1800" dirty="0" smtClean="0"/>
          </a:p>
          <a:p>
            <a:pPr marL="457200" indent="-457200">
              <a:buFont typeface="Arial" charset="0"/>
              <a:buAutoNum type="arabicPeriod"/>
              <a:defRPr/>
            </a:pPr>
            <a:endParaRPr lang="en-US" sz="2200" dirty="0" smtClean="0"/>
          </a:p>
        </p:txBody>
      </p:sp>
      <p:grpSp>
        <p:nvGrpSpPr>
          <p:cNvPr id="2" name="Group 1"/>
          <p:cNvGrpSpPr/>
          <p:nvPr/>
        </p:nvGrpSpPr>
        <p:grpSpPr>
          <a:xfrm>
            <a:off x="586368" y="1676400"/>
            <a:ext cx="7109832" cy="2218106"/>
            <a:chOff x="498475" y="1744294"/>
            <a:chExt cx="7747000" cy="2819400"/>
          </a:xfrm>
        </p:grpSpPr>
        <p:pic>
          <p:nvPicPr>
            <p:cNvPr id="4" name="Picture 1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441726">
              <a:off x="662754" y="1744294"/>
              <a:ext cx="7048500" cy="2819400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21540000"/>
              </a:camera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Rectangle 1026"/>
            <p:cNvSpPr txBox="1">
              <a:spLocks noChangeArrowheads="1"/>
            </p:cNvSpPr>
            <p:nvPr/>
          </p:nvSpPr>
          <p:spPr bwMode="auto">
            <a:xfrm>
              <a:off x="498475" y="3688944"/>
              <a:ext cx="7747000" cy="681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 defTabSz="4572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defTabSz="4572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defTabSz="4572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defTabSz="4572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defTabSz="4572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000" b="1" dirty="0"/>
                <a:t>Block diagram of sequential circuit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832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3" descr="f2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7272" r="10588" b="14545"/>
          <a:stretch>
            <a:fillRect/>
          </a:stretch>
        </p:blipFill>
        <p:spPr bwMode="auto">
          <a:xfrm>
            <a:off x="1676400" y="914400"/>
            <a:ext cx="5257800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1371600" y="6096000"/>
            <a:ext cx="6172200" cy="581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457200"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914400"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1371600"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1828800"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>
              <a:defRPr/>
            </a:pPr>
            <a:r>
              <a:rPr lang="en-US" dirty="0" smtClean="0"/>
              <a:t>Basic Flip-Flops and the characteristic table </a:t>
            </a:r>
            <a:endParaRPr lang="en-US" dirty="0"/>
          </a:p>
        </p:txBody>
      </p:sp>
      <p:sp>
        <p:nvSpPr>
          <p:cNvPr id="3789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smtClean="0"/>
              <a:t>Characteristic table for FF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8200" y="1143000"/>
            <a:ext cx="18288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Characteristic Table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smtClean="0"/>
              <a:t>Excitation table for FF</a:t>
            </a:r>
          </a:p>
        </p:txBody>
      </p:sp>
      <p:pic>
        <p:nvPicPr>
          <p:cNvPr id="3993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7924800" cy="547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smtClean="0"/>
              <a:t>Excitation table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2860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 smtClean="0"/>
              <a:t>Excitation table (inverted characteristic table)</a:t>
            </a:r>
          </a:p>
          <a:p>
            <a:pPr marL="400050" lvl="1" indent="0"/>
            <a:r>
              <a:rPr lang="en-US" sz="1800" dirty="0" smtClean="0"/>
              <a:t> input : a current state and next state</a:t>
            </a:r>
          </a:p>
          <a:p>
            <a:pPr marL="400050" lvl="1" indent="0"/>
            <a:r>
              <a:rPr lang="en-US" sz="1800" dirty="0" smtClean="0"/>
              <a:t> output : S R or J K or D</a:t>
            </a:r>
          </a:p>
          <a:p>
            <a:pPr marL="400050" lvl="1" indent="0"/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Why we need this table? 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FF is a feedback system. The transition information goes back to the 	states for inputs (S,R, 	</a:t>
            </a:r>
            <a:r>
              <a:rPr lang="en-US" sz="1800" dirty="0" err="1" smtClean="0"/>
              <a:t>etc</a:t>
            </a:r>
            <a:r>
              <a:rPr lang="en-US" sz="1800" dirty="0" smtClean="0"/>
              <a:t>)</a:t>
            </a:r>
            <a:endParaRPr lang="en-US" sz="1800" dirty="0"/>
          </a:p>
          <a:p>
            <a:pPr marL="400050" lvl="1" indent="0"/>
            <a:endParaRPr lang="en-US" sz="1800" dirty="0" smtClean="0"/>
          </a:p>
        </p:txBody>
      </p:sp>
      <p:grpSp>
        <p:nvGrpSpPr>
          <p:cNvPr id="2" name="Group 1"/>
          <p:cNvGrpSpPr/>
          <p:nvPr/>
        </p:nvGrpSpPr>
        <p:grpSpPr>
          <a:xfrm>
            <a:off x="762000" y="3810000"/>
            <a:ext cx="7502525" cy="2430094"/>
            <a:chOff x="498475" y="3420694"/>
            <a:chExt cx="7747000" cy="2819400"/>
          </a:xfrm>
        </p:grpSpPr>
        <p:pic>
          <p:nvPicPr>
            <p:cNvPr id="5" name="Picture 1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441726">
              <a:off x="662754" y="3420694"/>
              <a:ext cx="7048500" cy="2819400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21540000"/>
              </a:camera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8917" name="Rectangle 1026"/>
            <p:cNvSpPr txBox="1">
              <a:spLocks noChangeArrowheads="1"/>
            </p:cNvSpPr>
            <p:nvPr/>
          </p:nvSpPr>
          <p:spPr bwMode="auto">
            <a:xfrm>
              <a:off x="498475" y="5414963"/>
              <a:ext cx="7747000" cy="681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 defTabSz="4572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defTabSz="4572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defTabSz="4572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defTabSz="4572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defTabSz="4572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000" b="1"/>
                <a:t>Block diagram of sequential circuit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98475" y="233363"/>
            <a:ext cx="7747000" cy="681037"/>
          </a:xfrm>
        </p:spPr>
        <p:txBody>
          <a:bodyPr/>
          <a:lstStyle/>
          <a:p>
            <a:r>
              <a:rPr lang="en-US" smtClean="0"/>
              <a:t>Example of sequential circuit</a:t>
            </a:r>
          </a:p>
        </p:txBody>
      </p:sp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762000"/>
            <a:ext cx="6000750" cy="556120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21564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PChart" descr="E9C1DA8A5D7D4A92BB12D5038E654F26Chart20141006191213864.png"/>
          <p:cNvPicPr>
            <a:picLocks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1600200"/>
            <a:ext cx="4572000" cy="5143500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0"/>
            <a:ext cx="4572000" cy="4237109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21564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0" name="TPQuestion"/>
          <p:cNvSpPr>
            <a:spLocks noGrp="1"/>
          </p:cNvSpPr>
          <p:nvPr>
            <p:ph type="title"/>
          </p:nvPr>
        </p:nvSpPr>
        <p:spPr>
          <a:xfrm>
            <a:off x="-1447800" y="-76200"/>
            <a:ext cx="9525000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  <a:ea typeface="MS PGothic" charset="0"/>
              </a:rPr>
              <a:t>When x is Low What Happens?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2051" name="TPAnswers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52400" y="655637"/>
            <a:ext cx="8229600" cy="4525963"/>
          </a:xfrm>
        </p:spPr>
        <p:txBody>
          <a:bodyPr/>
          <a:lstStyle/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2400" dirty="0" smtClean="0">
                <a:latin typeface="Calibri" charset="0"/>
                <a:ea typeface="MS PGothic" charset="0"/>
              </a:rPr>
              <a:t>We ADD A and B and output this to y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2400" dirty="0" smtClean="0">
                <a:latin typeface="Calibri" charset="0"/>
                <a:ea typeface="MS PGothic" charset="0"/>
              </a:rPr>
              <a:t>We OR A and B and store this in D-FF(A)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2400" dirty="0" smtClean="0">
                <a:latin typeface="Calibri" charset="0"/>
                <a:ea typeface="MS PGothic" charset="0"/>
              </a:rPr>
              <a:t>We OR A and B and output this to y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2400" dirty="0" smtClean="0">
                <a:latin typeface="Calibri" charset="0"/>
                <a:ea typeface="MS PGothic" charset="0"/>
              </a:rPr>
              <a:t>We OR A and B and store this in D-FF(B)</a:t>
            </a:r>
            <a:endParaRPr lang="en-US" sz="2400" dirty="0">
              <a:latin typeface="Calibri" charset="0"/>
              <a:ea typeface="MS PGothic" charset="0"/>
            </a:endParaRPr>
          </a:p>
        </p:txBody>
      </p:sp>
      <p:pic>
        <p:nvPicPr>
          <p:cNvPr id="2" name="TPGrid" descr="pp_respons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00" y="4419600"/>
            <a:ext cx="927100" cy="1168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PChart" descr="ADCB66A0AEB149FBBEE55CF18B97330CChart20141006191213867.png"/>
          <p:cNvPicPr>
            <a:picLocks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1600200"/>
            <a:ext cx="4572000" cy="5143500"/>
          </a:xfrm>
          <a:prstGeom prst="rect">
            <a:avLst/>
          </a:prstGeom>
        </p:spPr>
      </p:pic>
      <p:sp>
        <p:nvSpPr>
          <p:cNvPr id="2050" name="TPQuestion"/>
          <p:cNvSpPr>
            <a:spLocks noGrp="1"/>
          </p:cNvSpPr>
          <p:nvPr>
            <p:ph type="title"/>
          </p:nvPr>
        </p:nvSpPr>
        <p:spPr>
          <a:xfrm>
            <a:off x="-381000" y="76200"/>
            <a:ext cx="8229600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  <a:ea typeface="MS PGothic" charset="0"/>
              </a:rPr>
              <a:t>When x is High What Happens?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2051" name="TPAnswers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28600" y="838200"/>
            <a:ext cx="7543800" cy="4525963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sz="1600" dirty="0" smtClean="0"/>
              <a:t>We </a:t>
            </a:r>
            <a:r>
              <a:rPr lang="en-US" sz="1600" dirty="0"/>
              <a:t>OR A and B and store this in </a:t>
            </a:r>
            <a:r>
              <a:rPr lang="en-US" sz="1600" dirty="0" smtClean="0"/>
              <a:t>D-FF(B) </a:t>
            </a:r>
            <a:r>
              <a:rPr lang="en-US" sz="1600" dirty="0"/>
              <a:t>and store ~A in </a:t>
            </a:r>
            <a:r>
              <a:rPr lang="en-US" sz="1600" dirty="0" smtClean="0"/>
              <a:t>D-FF(A)</a:t>
            </a:r>
            <a:endParaRPr lang="en-US" sz="1600" dirty="0"/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dirty="0" smtClean="0">
                <a:latin typeface="Calibri" charset="0"/>
                <a:ea typeface="MS PGothic" charset="0"/>
              </a:rPr>
              <a:t>We OR A and B and output this to y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dirty="0" smtClean="0">
                <a:latin typeface="Calibri" charset="0"/>
                <a:ea typeface="MS PGothic" charset="0"/>
              </a:rPr>
              <a:t>We ADD A and B and store this in D-FF(A)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sz="1600" dirty="0" smtClean="0">
                <a:latin typeface="Calibri" charset="0"/>
                <a:ea typeface="MS PGothic" charset="0"/>
              </a:rPr>
              <a:t>We OR A and B and store this in D-FF(A) and store ~A in D-FF(B)</a:t>
            </a:r>
            <a:endParaRPr lang="en-US" dirty="0">
              <a:latin typeface="Calibri" charset="0"/>
              <a:ea typeface="MS PGothic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4438519" cy="411340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21564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TPGrid" descr="pp_respons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00" y="4419600"/>
            <a:ext cx="927100" cy="1168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smtClean="0"/>
              <a:t>State Table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"/>
          </a:xfrm>
        </p:spPr>
        <p:txBody>
          <a:bodyPr/>
          <a:lstStyle/>
          <a:p>
            <a:pPr marL="0" indent="0"/>
            <a:r>
              <a:rPr lang="en-US" sz="1800" smtClean="0"/>
              <a:t> From the sequential circuit, can we build a state table?</a:t>
            </a:r>
            <a:endParaRPr lang="en-US" sz="2200" smtClean="0"/>
          </a:p>
        </p:txBody>
      </p:sp>
      <p:sp>
        <p:nvSpPr>
          <p:cNvPr id="4" name="TextBox 3"/>
          <p:cNvSpPr txBox="1"/>
          <p:nvPr/>
        </p:nvSpPr>
        <p:spPr>
          <a:xfrm>
            <a:off x="6248400" y="1981200"/>
            <a:ext cx="228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rgbClr val="FF0000"/>
                </a:solidFill>
              </a:rPr>
              <a:t>When you get output?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dirty="0" smtClean="0">
                <a:solidFill>
                  <a:srgbClr val="FF0000"/>
                </a:solidFill>
              </a:rPr>
              <a:t>In present? or in the next state?</a:t>
            </a:r>
            <a:endParaRPr lang="en-US" sz="1800" dirty="0">
              <a:solidFill>
                <a:srgbClr val="FF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423756"/>
              </p:ext>
            </p:extLst>
          </p:nvPr>
        </p:nvGraphicFramePr>
        <p:xfrm>
          <a:off x="533400" y="1882140"/>
          <a:ext cx="5638800" cy="354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1045029"/>
                <a:gridCol w="914400"/>
                <a:gridCol w="10668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 smtClean="0"/>
                    </a:p>
                    <a:p>
                      <a:pPr algn="ctr"/>
                      <a:r>
                        <a:rPr lang="en-US" sz="1600" dirty="0" smtClean="0"/>
                        <a:t>A(t)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 smtClean="0"/>
                    </a:p>
                    <a:p>
                      <a:pPr algn="ctr"/>
                      <a:r>
                        <a:rPr lang="en-US" sz="1600" dirty="0" smtClean="0"/>
                        <a:t>B(t)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(input)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(output)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 smtClean="0"/>
                    </a:p>
                    <a:p>
                      <a:pPr algn="ctr"/>
                      <a:r>
                        <a:rPr lang="en-US" sz="1600" dirty="0" smtClean="0"/>
                        <a:t>A(t+1)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 smtClean="0"/>
                    </a:p>
                    <a:p>
                      <a:pPr algn="ctr"/>
                      <a:r>
                        <a:rPr lang="en-US" sz="1600" dirty="0" smtClean="0"/>
                        <a:t>B(t+1)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124200" y="1802130"/>
            <a:ext cx="1075373" cy="376047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1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smtClean="0"/>
              <a:t>State Machine/Diagram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8229600" cy="2590800"/>
          </a:xfrm>
        </p:spPr>
        <p:txBody>
          <a:bodyPr/>
          <a:lstStyle/>
          <a:p>
            <a:pPr marL="0" indent="0"/>
            <a:r>
              <a:rPr lang="en-US" sz="1800" dirty="0" smtClean="0"/>
              <a:t> From the state table, can we build a state machine</a:t>
            </a:r>
            <a:r>
              <a:rPr lang="en-US" sz="1800" dirty="0" smtClean="0"/>
              <a:t>?</a:t>
            </a:r>
          </a:p>
          <a:p>
            <a:pPr marL="400050" lvl="1" indent="0"/>
            <a:r>
              <a:rPr lang="en-US" sz="1800" dirty="0" smtClean="0"/>
              <a:t>States will be AB pairs</a:t>
            </a:r>
          </a:p>
          <a:p>
            <a:pPr marL="400050" lvl="1" indent="0"/>
            <a:r>
              <a:rPr lang="en-US" sz="1800" dirty="0" smtClean="0"/>
              <a:t>Edges will be transitions based on input and describe I/O pairs</a:t>
            </a:r>
            <a:endParaRPr lang="en-US" sz="1800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989992"/>
              </p:ext>
            </p:extLst>
          </p:nvPr>
        </p:nvGraphicFramePr>
        <p:xfrm>
          <a:off x="579121" y="2057400"/>
          <a:ext cx="4600574" cy="3489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13"/>
                <a:gridCol w="615366"/>
                <a:gridCol w="805660"/>
                <a:gridCol w="852617"/>
                <a:gridCol w="746039"/>
                <a:gridCol w="870379"/>
              </a:tblGrid>
              <a:tr h="457878">
                <a:tc>
                  <a:txBody>
                    <a:bodyPr/>
                    <a:lstStyle/>
                    <a:p>
                      <a:pPr algn="ctr"/>
                      <a:endParaRPr lang="en-US" sz="1400" b="1" dirty="0" smtClean="0"/>
                    </a:p>
                    <a:p>
                      <a:pPr algn="ctr"/>
                      <a:r>
                        <a:rPr lang="en-US" sz="1400" b="1" dirty="0" smtClean="0"/>
                        <a:t>A(t)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 smtClean="0"/>
                    </a:p>
                    <a:p>
                      <a:pPr algn="ctr"/>
                      <a:r>
                        <a:rPr lang="en-US" sz="1400" b="1" dirty="0" smtClean="0"/>
                        <a:t>B(t)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(input)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(output)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 smtClean="0"/>
                    </a:p>
                    <a:p>
                      <a:pPr algn="ctr"/>
                      <a:r>
                        <a:rPr lang="en-US" sz="1400" b="1" dirty="0" smtClean="0"/>
                        <a:t>A(t+1)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 smtClean="0"/>
                    </a:p>
                    <a:p>
                      <a:pPr algn="ctr"/>
                      <a:r>
                        <a:rPr lang="en-US" sz="1400" b="1" dirty="0" smtClean="0"/>
                        <a:t>B(t+1)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smtClean="0"/>
              <a:t>State Machine/Diagram</a:t>
            </a:r>
          </a:p>
        </p:txBody>
      </p:sp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057400"/>
            <a:ext cx="3933825" cy="323850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21432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78441"/>
              </p:ext>
            </p:extLst>
          </p:nvPr>
        </p:nvGraphicFramePr>
        <p:xfrm>
          <a:off x="579121" y="2057400"/>
          <a:ext cx="4600574" cy="3489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13"/>
                <a:gridCol w="615366"/>
                <a:gridCol w="805660"/>
                <a:gridCol w="852617"/>
                <a:gridCol w="746039"/>
                <a:gridCol w="870379"/>
              </a:tblGrid>
              <a:tr h="457878">
                <a:tc>
                  <a:txBody>
                    <a:bodyPr/>
                    <a:lstStyle/>
                    <a:p>
                      <a:pPr algn="ctr"/>
                      <a:endParaRPr lang="en-US" sz="1400" b="1" dirty="0" smtClean="0"/>
                    </a:p>
                    <a:p>
                      <a:pPr algn="ctr"/>
                      <a:r>
                        <a:rPr lang="en-US" sz="1400" b="1" dirty="0" smtClean="0"/>
                        <a:t>A(t)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 smtClean="0"/>
                    </a:p>
                    <a:p>
                      <a:pPr algn="ctr"/>
                      <a:r>
                        <a:rPr lang="en-US" sz="1400" b="1" dirty="0" smtClean="0"/>
                        <a:t>B(t)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(input)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(output)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 smtClean="0"/>
                    </a:p>
                    <a:p>
                      <a:pPr algn="ctr"/>
                      <a:r>
                        <a:rPr lang="en-US" sz="1400" b="1" dirty="0" smtClean="0"/>
                        <a:t>A(t+1)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 smtClean="0"/>
                    </a:p>
                    <a:p>
                      <a:pPr algn="ctr"/>
                      <a:r>
                        <a:rPr lang="en-US" sz="1400" b="1" dirty="0" smtClean="0"/>
                        <a:t>B(t+1)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</a:tr>
              <a:tr h="3713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1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0</a:t>
                      </a:r>
                      <a:endParaRPr lang="en-US" sz="14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09600" y="990600"/>
            <a:ext cx="82296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/>
            <a:r>
              <a:rPr lang="en-US" sz="1800" dirty="0" smtClean="0"/>
              <a:t> From the state table, can we build a state machine?</a:t>
            </a:r>
          </a:p>
          <a:p>
            <a:pPr marL="400050" lvl="1" indent="0"/>
            <a:r>
              <a:rPr lang="en-US" sz="1800" dirty="0" smtClean="0"/>
              <a:t>States will be AB pairs</a:t>
            </a:r>
          </a:p>
          <a:p>
            <a:pPr marL="400050" lvl="1" indent="0"/>
            <a:r>
              <a:rPr lang="en-US" sz="1800" dirty="0" smtClean="0"/>
              <a:t>Edges will be transitions based on input and describe I/O pairs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88487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smtClean="0"/>
              <a:t>Design a sequential circuit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 marL="0" indent="0">
              <a:buFont typeface="Arial" charset="0"/>
              <a:buChar char="•"/>
              <a:defRPr/>
            </a:pPr>
            <a:r>
              <a:rPr lang="en-US" sz="1800" dirty="0" smtClean="0"/>
              <a:t>  Design a sequential circuit</a:t>
            </a:r>
          </a:p>
          <a:p>
            <a:pPr marL="0" indent="0">
              <a:buFont typeface="Arial" charset="0"/>
              <a:buChar char="•"/>
              <a:defRPr/>
            </a:pPr>
            <a:endParaRPr lang="en-US" sz="1800" dirty="0"/>
          </a:p>
          <a:p>
            <a:pPr>
              <a:buFont typeface="Arial" charset="0"/>
              <a:buAutoNum type="arabicPeriod"/>
              <a:defRPr/>
            </a:pPr>
            <a:r>
              <a:rPr lang="en-US" sz="1800" dirty="0" smtClean="0"/>
              <a:t>Draw a state diagram (state machine)</a:t>
            </a:r>
          </a:p>
          <a:p>
            <a:pPr>
              <a:buFont typeface="Arial" charset="0"/>
              <a:buAutoNum type="arabicPeriod"/>
              <a:defRPr/>
            </a:pPr>
            <a:r>
              <a:rPr lang="en-US" sz="1800" dirty="0" smtClean="0"/>
              <a:t>Figure out the input and outputs</a:t>
            </a:r>
          </a:p>
          <a:p>
            <a:pPr>
              <a:buFont typeface="Arial" charset="0"/>
              <a:buAutoNum type="arabicPeriod"/>
              <a:defRPr/>
            </a:pPr>
            <a:r>
              <a:rPr lang="en-US" sz="1800" dirty="0" smtClean="0"/>
              <a:t>Build a state table and derive an excitation table</a:t>
            </a:r>
          </a:p>
          <a:p>
            <a:pPr>
              <a:buFont typeface="Arial" charset="0"/>
              <a:buAutoNum type="arabicPeriod"/>
              <a:defRPr/>
            </a:pPr>
            <a:r>
              <a:rPr lang="en-US" sz="1800" dirty="0" smtClean="0"/>
              <a:t>Boolean function equation using K-map</a:t>
            </a:r>
          </a:p>
          <a:p>
            <a:pPr>
              <a:buFont typeface="Arial" charset="0"/>
              <a:buAutoNum type="arabicPeriod"/>
              <a:defRPr/>
            </a:pPr>
            <a:r>
              <a:rPr lang="en-US" sz="1800" dirty="0" smtClean="0"/>
              <a:t>A sequential circuit</a:t>
            </a:r>
          </a:p>
          <a:p>
            <a:pPr marL="457200" indent="-457200">
              <a:buFont typeface="Arial" charset="0"/>
              <a:buAutoNum type="arabicPeriod"/>
              <a:defRPr/>
            </a:pPr>
            <a:endParaRPr lang="en-US" sz="22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200" dirty="0" smtClean="0"/>
              <a:t>Let’s design a 2-bit binary counter.</a:t>
            </a:r>
          </a:p>
          <a:p>
            <a:pPr>
              <a:buFont typeface="Arial" charset="0"/>
              <a:buChar char="•"/>
              <a:defRPr/>
            </a:pPr>
            <a:r>
              <a:rPr lang="en-US" sz="2200" dirty="0" smtClean="0"/>
              <a:t>A sequence of repeated binary states 00, 01, 10, 11 whenever the input is 1.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3400" y="152400"/>
            <a:ext cx="838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  <a:defRPr/>
            </a:pPr>
            <a:r>
              <a:rPr lang="en-US" sz="2400" dirty="0"/>
              <a:t>Let’s design a 2-bit binary counter.</a:t>
            </a:r>
          </a:p>
          <a:p>
            <a:pPr>
              <a:buFont typeface="Arial" charset="0"/>
              <a:buChar char="•"/>
              <a:defRPr/>
            </a:pPr>
            <a:r>
              <a:rPr lang="en-US" sz="2400" dirty="0" smtClean="0"/>
              <a:t> A </a:t>
            </a:r>
            <a:r>
              <a:rPr lang="en-US" sz="2400" dirty="0"/>
              <a:t>sequence of repeated binary states 00, 01, 10, 11 whenever the input is 1</a:t>
            </a:r>
            <a:r>
              <a:rPr lang="en-US" sz="2400" dirty="0" smtClean="0"/>
              <a:t>.</a:t>
            </a:r>
          </a:p>
          <a:p>
            <a:pPr>
              <a:buFont typeface="Arial" charset="0"/>
              <a:buChar char="•"/>
              <a:defRPr/>
            </a:pPr>
            <a:r>
              <a:rPr lang="en-US" sz="2400" dirty="0" smtClean="0"/>
              <a:t> Notice how the output is embedded in the  current state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2400" dirty="0" smtClean="0"/>
              <a:t>A Moore Machine </a:t>
            </a:r>
          </a:p>
          <a:p>
            <a:pPr>
              <a:buFont typeface="Arial" charset="0"/>
              <a:buChar char="•"/>
              <a:defRPr/>
            </a:pPr>
            <a:r>
              <a:rPr lang="en-US" sz="2400" dirty="0" smtClean="0"/>
              <a:t> We could encode output on edge transitions, too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2400" dirty="0" smtClean="0"/>
              <a:t>A Mealy Machine</a:t>
            </a:r>
            <a:endParaRPr lang="en-US" sz="2400" dirty="0"/>
          </a:p>
          <a:p>
            <a:pPr marL="171450" indent="-171450">
              <a:buFont typeface="Arial"/>
              <a:buChar char="•"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886200" y="2438400"/>
            <a:ext cx="1371600" cy="1219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00</a:t>
            </a:r>
            <a:endParaRPr lang="en-US" sz="1600" dirty="0"/>
          </a:p>
        </p:txBody>
      </p:sp>
      <p:sp>
        <p:nvSpPr>
          <p:cNvPr id="7" name="Oval 6"/>
          <p:cNvSpPr/>
          <p:nvPr/>
        </p:nvSpPr>
        <p:spPr>
          <a:xfrm>
            <a:off x="5105400" y="3581400"/>
            <a:ext cx="1371600" cy="1219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11</a:t>
            </a:r>
            <a:endParaRPr lang="en-US" sz="1600" dirty="0"/>
          </a:p>
        </p:txBody>
      </p:sp>
      <p:sp>
        <p:nvSpPr>
          <p:cNvPr id="8" name="Oval 7"/>
          <p:cNvSpPr/>
          <p:nvPr/>
        </p:nvSpPr>
        <p:spPr>
          <a:xfrm>
            <a:off x="2590800" y="3581400"/>
            <a:ext cx="1371600" cy="1219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01</a:t>
            </a:r>
            <a:endParaRPr lang="en-US" sz="1600" dirty="0"/>
          </a:p>
        </p:txBody>
      </p:sp>
      <p:sp>
        <p:nvSpPr>
          <p:cNvPr id="9" name="Oval 8"/>
          <p:cNvSpPr/>
          <p:nvPr/>
        </p:nvSpPr>
        <p:spPr>
          <a:xfrm>
            <a:off x="3886200" y="4724400"/>
            <a:ext cx="1371600" cy="1219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997122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smtClean="0"/>
              <a:t>2- bit binary counter - state diagram</a:t>
            </a:r>
          </a:p>
        </p:txBody>
      </p:sp>
      <p:pic>
        <p:nvPicPr>
          <p:cNvPr id="4505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1314450"/>
            <a:ext cx="6219825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dirty="0" smtClean="0"/>
              <a:t>2- bit binary counter – input/output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4114800" cy="5257800"/>
          </a:xfrm>
        </p:spPr>
        <p:txBody>
          <a:bodyPr/>
          <a:lstStyle/>
          <a:p>
            <a:pPr marL="0" indent="0">
              <a:buFont typeface="Arial" charset="0"/>
              <a:buChar char="•"/>
              <a:defRPr/>
            </a:pPr>
            <a:r>
              <a:rPr lang="en-US" sz="1800" dirty="0" smtClean="0"/>
              <a:t>  Input (control signal): x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/>
              <a:t> </a:t>
            </a:r>
            <a:r>
              <a:rPr lang="en-US" sz="1800" dirty="0" smtClean="0"/>
              <a:t># of FF: 2 (2 bits)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/>
              <a:t> </a:t>
            </a:r>
            <a:r>
              <a:rPr lang="en-US" sz="1800" dirty="0" smtClean="0"/>
              <a:t>Suppose we are using JK FFs.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/>
              <a:t> </a:t>
            </a:r>
            <a:r>
              <a:rPr lang="en-US" sz="1800" dirty="0" smtClean="0"/>
              <a:t>Then we need two J’s and two K’s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/>
              <a:t> </a:t>
            </a:r>
            <a:r>
              <a:rPr lang="en-US" sz="1800" dirty="0" smtClean="0"/>
              <a:t>In the state machine, you can build a state table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/>
              <a:t> </a:t>
            </a:r>
            <a:r>
              <a:rPr lang="en-US" sz="1800" dirty="0" smtClean="0"/>
              <a:t>The next states connected to JK’s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/>
              <a:t> </a:t>
            </a:r>
            <a:r>
              <a:rPr lang="en-US" sz="1800" dirty="0" smtClean="0"/>
              <a:t>So, we need extended table</a:t>
            </a:r>
            <a:r>
              <a:rPr lang="en-US" sz="1800" dirty="0" smtClean="0">
                <a:sym typeface="Wingdings" pitchFamily="2" charset="2"/>
              </a:rPr>
              <a:t> excitation table</a:t>
            </a:r>
            <a:endParaRPr lang="en-US" sz="1800" dirty="0" smtClean="0"/>
          </a:p>
          <a:p>
            <a:pPr marL="0" indent="0">
              <a:buNone/>
              <a:defRPr/>
            </a:pPr>
            <a:endParaRPr lang="en-US" sz="2200" dirty="0" smtClean="0"/>
          </a:p>
        </p:txBody>
      </p:sp>
      <p:pic>
        <p:nvPicPr>
          <p:cNvPr id="7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41726">
            <a:off x="545110" y="4641742"/>
            <a:ext cx="4122217" cy="143949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2154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598121"/>
              </p:ext>
            </p:extLst>
          </p:nvPr>
        </p:nvGraphicFramePr>
        <p:xfrm>
          <a:off x="4572001" y="1143000"/>
          <a:ext cx="4191000" cy="47523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0348"/>
                <a:gridCol w="817756"/>
                <a:gridCol w="848517"/>
                <a:gridCol w="846150"/>
                <a:gridCol w="818229"/>
              </a:tblGrid>
              <a:tr h="45720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Present state (t)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Input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Next state (t+1)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B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0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0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1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1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0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0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1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1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119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dirty="0" smtClean="0"/>
              <a:t>2- bit binary counter – input/output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4114800" cy="5257800"/>
          </a:xfrm>
        </p:spPr>
        <p:txBody>
          <a:bodyPr/>
          <a:lstStyle/>
          <a:p>
            <a:pPr marL="0" indent="0">
              <a:buFont typeface="Arial" charset="0"/>
              <a:buChar char="•"/>
              <a:defRPr/>
            </a:pPr>
            <a:r>
              <a:rPr lang="en-US" sz="1800" dirty="0" smtClean="0"/>
              <a:t>  Input (control signal): x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/>
              <a:t> </a:t>
            </a:r>
            <a:r>
              <a:rPr lang="en-US" sz="1800" dirty="0" smtClean="0"/>
              <a:t># of FF: 2 (2 bits)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/>
              <a:t> </a:t>
            </a:r>
            <a:r>
              <a:rPr lang="en-US" sz="1800" dirty="0" smtClean="0"/>
              <a:t>Suppose we are using JK FFs.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/>
              <a:t> </a:t>
            </a:r>
            <a:r>
              <a:rPr lang="en-US" sz="1800" dirty="0" smtClean="0"/>
              <a:t>Then </a:t>
            </a:r>
            <a:r>
              <a:rPr lang="en-US" sz="1800" b="1" dirty="0" smtClean="0"/>
              <a:t>we need two J’s and two K’s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/>
              <a:t> </a:t>
            </a:r>
            <a:r>
              <a:rPr lang="en-US" sz="1800" dirty="0" smtClean="0"/>
              <a:t>In the state machine, you can build a state table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/>
              <a:t> </a:t>
            </a:r>
            <a:r>
              <a:rPr lang="en-US" sz="1800" dirty="0" smtClean="0"/>
              <a:t>The next states connected to JK’s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US" sz="1800" dirty="0"/>
              <a:t> </a:t>
            </a:r>
            <a:r>
              <a:rPr lang="en-US" sz="1800" dirty="0" smtClean="0"/>
              <a:t>So, we need extended table</a:t>
            </a:r>
            <a:r>
              <a:rPr lang="en-US" sz="1800" dirty="0" smtClean="0">
                <a:sym typeface="Wingdings" pitchFamily="2" charset="2"/>
              </a:rPr>
              <a:t> excitation table</a:t>
            </a:r>
            <a:endParaRPr lang="en-US" sz="1800" dirty="0" smtClean="0"/>
          </a:p>
          <a:p>
            <a:pPr marL="0" indent="0">
              <a:buNone/>
              <a:defRPr/>
            </a:pPr>
            <a:endParaRPr lang="en-US" sz="2200" dirty="0" smtClean="0"/>
          </a:p>
        </p:txBody>
      </p:sp>
      <p:pic>
        <p:nvPicPr>
          <p:cNvPr id="7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41726">
            <a:off x="545110" y="4641742"/>
            <a:ext cx="4122217" cy="143949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2154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912215"/>
              </p:ext>
            </p:extLst>
          </p:nvPr>
        </p:nvGraphicFramePr>
        <p:xfrm>
          <a:off x="4572001" y="1143000"/>
          <a:ext cx="4191000" cy="47523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0348"/>
                <a:gridCol w="817756"/>
                <a:gridCol w="848517"/>
                <a:gridCol w="846150"/>
                <a:gridCol w="818229"/>
              </a:tblGrid>
              <a:tr h="45720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Present state (t)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Input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Next state (t+1)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B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A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B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0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0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1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1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0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0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1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670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1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55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dirty="0" smtClean="0"/>
              <a:t>2- bit binary counter – excitation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29896"/>
              </p:ext>
            </p:extLst>
          </p:nvPr>
        </p:nvGraphicFramePr>
        <p:xfrm>
          <a:off x="3124200" y="1447797"/>
          <a:ext cx="5791199" cy="48006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5208"/>
                <a:gridCol w="691203"/>
                <a:gridCol w="818065"/>
                <a:gridCol w="676163"/>
                <a:gridCol w="653275"/>
                <a:gridCol w="539492"/>
                <a:gridCol w="574150"/>
                <a:gridCol w="598346"/>
                <a:gridCol w="515297"/>
              </a:tblGrid>
              <a:tr h="856966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Present state (t)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Input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Next state (t+1)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Flip-flop inputs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J</a:t>
                      </a:r>
                      <a:r>
                        <a:rPr lang="en-US" sz="1800" baseline="-250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K</a:t>
                      </a:r>
                      <a:r>
                        <a:rPr lang="en-US" sz="1800" baseline="-250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J</a:t>
                      </a:r>
                      <a:r>
                        <a:rPr lang="en-US" sz="1800" baseline="-250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K</a:t>
                      </a:r>
                      <a:r>
                        <a:rPr lang="en-US" sz="1800" baseline="-250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5157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126500"/>
              </p:ext>
            </p:extLst>
          </p:nvPr>
        </p:nvGraphicFramePr>
        <p:xfrm>
          <a:off x="304802" y="1524000"/>
          <a:ext cx="2743200" cy="167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5800"/>
                <a:gridCol w="685800"/>
                <a:gridCol w="685800"/>
                <a:gridCol w="685800"/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Q(t)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Q(t+1)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J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8200" y="914400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dirty="0" smtClean="0"/>
              <a:t>Given our present state, input, and all possible next states, what wires do I need to assert to accomplish this?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 smtClean="0"/>
              <a:t>Note our FSM/ASM defines the set of next states for a given state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37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dirty="0" smtClean="0"/>
              <a:t>2- bit binary counter – excitation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858684"/>
              </p:ext>
            </p:extLst>
          </p:nvPr>
        </p:nvGraphicFramePr>
        <p:xfrm>
          <a:off x="3124200" y="1447797"/>
          <a:ext cx="5791199" cy="48006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5208"/>
                <a:gridCol w="691203"/>
                <a:gridCol w="818065"/>
                <a:gridCol w="676163"/>
                <a:gridCol w="653275"/>
                <a:gridCol w="539492"/>
                <a:gridCol w="574150"/>
                <a:gridCol w="598346"/>
                <a:gridCol w="515297"/>
              </a:tblGrid>
              <a:tr h="856966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Present state (t)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Input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Next state (t+1)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Flip-flop inputs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J</a:t>
                      </a:r>
                      <a:r>
                        <a:rPr lang="en-US" sz="1800" baseline="-250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K</a:t>
                      </a:r>
                      <a:r>
                        <a:rPr lang="en-US" sz="1800" baseline="-250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J</a:t>
                      </a:r>
                      <a:r>
                        <a:rPr lang="en-US" sz="1800" baseline="-250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K</a:t>
                      </a:r>
                      <a:r>
                        <a:rPr lang="en-US" sz="1800" baseline="-250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4284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5157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4802" y="1524000"/>
          <a:ext cx="2743200" cy="167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5800"/>
                <a:gridCol w="685800"/>
                <a:gridCol w="685800"/>
                <a:gridCol w="685800"/>
              </a:tblGrid>
              <a:tr h="558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Q(t)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Q(t+1)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J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x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34000" y="1402556"/>
            <a:ext cx="1371600" cy="4814888"/>
          </a:xfrm>
          <a:prstGeom prst="rect">
            <a:avLst/>
          </a:prstGeom>
          <a:solidFill>
            <a:schemeClr val="bg2">
              <a:lumMod val="75000"/>
              <a:alpha val="84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3810000"/>
            <a:ext cx="220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rgbClr val="FF0000"/>
                </a:solidFill>
              </a:rPr>
              <a:t>You cannot control the next state: So, not an input nor an output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68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68665"/>
              </p:ext>
            </p:extLst>
          </p:nvPr>
        </p:nvGraphicFramePr>
        <p:xfrm>
          <a:off x="685800" y="1141100"/>
          <a:ext cx="3962400" cy="136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"/>
                <a:gridCol w="792480"/>
                <a:gridCol w="792480"/>
                <a:gridCol w="792480"/>
                <a:gridCol w="792480"/>
              </a:tblGrid>
              <a:tr h="6369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</a:t>
                      </a:r>
                      <a:r>
                        <a:rPr lang="en-US" baseline="-25000" dirty="0" err="1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64810">
                <a:tc>
                  <a:txBody>
                    <a:bodyPr/>
                    <a:lstStyle/>
                    <a:p>
                      <a:r>
                        <a:rPr lang="en-US" dirty="0" smtClean="0"/>
                        <a:t>~x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</a:tr>
              <a:tr h="36481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372373"/>
              </p:ext>
            </p:extLst>
          </p:nvPr>
        </p:nvGraphicFramePr>
        <p:xfrm>
          <a:off x="685800" y="3432180"/>
          <a:ext cx="3962400" cy="136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"/>
                <a:gridCol w="792480"/>
                <a:gridCol w="792480"/>
                <a:gridCol w="792480"/>
                <a:gridCol w="792480"/>
              </a:tblGrid>
              <a:tr h="636900">
                <a:tc>
                  <a:txBody>
                    <a:bodyPr/>
                    <a:lstStyle/>
                    <a:p>
                      <a:r>
                        <a:rPr lang="en-US" baseline="0" dirty="0" err="1" smtClean="0"/>
                        <a:t>K</a:t>
                      </a:r>
                      <a:r>
                        <a:rPr lang="en-US" baseline="-25000" dirty="0" err="1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64810">
                <a:tc>
                  <a:txBody>
                    <a:bodyPr/>
                    <a:lstStyle/>
                    <a:p>
                      <a:r>
                        <a:rPr lang="en-US" dirty="0" smtClean="0"/>
                        <a:t>~x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481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174335"/>
              </p:ext>
            </p:extLst>
          </p:nvPr>
        </p:nvGraphicFramePr>
        <p:xfrm>
          <a:off x="4953000" y="1143000"/>
          <a:ext cx="3962400" cy="136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"/>
                <a:gridCol w="792480"/>
                <a:gridCol w="792480"/>
                <a:gridCol w="792480"/>
                <a:gridCol w="792480"/>
              </a:tblGrid>
              <a:tr h="6369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</a:t>
                      </a:r>
                      <a:r>
                        <a:rPr lang="en-US" baseline="-25000" dirty="0" err="1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64810">
                <a:tc>
                  <a:txBody>
                    <a:bodyPr/>
                    <a:lstStyle/>
                    <a:p>
                      <a:r>
                        <a:rPr lang="en-US" dirty="0" smtClean="0"/>
                        <a:t>~x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481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765144"/>
              </p:ext>
            </p:extLst>
          </p:nvPr>
        </p:nvGraphicFramePr>
        <p:xfrm>
          <a:off x="5029200" y="3429000"/>
          <a:ext cx="3962400" cy="136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"/>
                <a:gridCol w="792480"/>
                <a:gridCol w="792480"/>
                <a:gridCol w="792480"/>
                <a:gridCol w="792480"/>
              </a:tblGrid>
              <a:tr h="63690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K</a:t>
                      </a:r>
                      <a:r>
                        <a:rPr lang="en-US" baseline="-25000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64810">
                <a:tc>
                  <a:txBody>
                    <a:bodyPr/>
                    <a:lstStyle/>
                    <a:p>
                      <a:r>
                        <a:rPr lang="en-US" dirty="0" smtClean="0"/>
                        <a:t>~x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481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347671"/>
              </p:ext>
            </p:extLst>
          </p:nvPr>
        </p:nvGraphicFramePr>
        <p:xfrm>
          <a:off x="5410200" y="609600"/>
          <a:ext cx="3276600" cy="59435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0315"/>
                <a:gridCol w="391075"/>
                <a:gridCol w="462853"/>
                <a:gridCol w="382566"/>
                <a:gridCol w="369616"/>
                <a:gridCol w="305239"/>
                <a:gridCol w="324848"/>
                <a:gridCol w="338538"/>
                <a:gridCol w="291550"/>
              </a:tblGrid>
              <a:tr h="612118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Present state (t)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Input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Next state (t+1)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Flip-flop inputs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J</a:t>
                      </a:r>
                      <a:r>
                        <a:rPr lang="en-US" sz="1800" baseline="-250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K</a:t>
                      </a:r>
                      <a:r>
                        <a:rPr lang="en-US" sz="1800" baseline="-250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J</a:t>
                      </a:r>
                      <a:r>
                        <a:rPr lang="en-US" sz="1800" baseline="-250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K</a:t>
                      </a:r>
                      <a:r>
                        <a:rPr lang="en-US" sz="1800" baseline="-250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684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752600" y="381000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J</a:t>
            </a:r>
            <a:r>
              <a:rPr lang="en-US" sz="1600" baseline="-25000" dirty="0" err="1" smtClean="0"/>
              <a:t>a</a:t>
            </a:r>
            <a:r>
              <a:rPr lang="en-US" sz="1600" dirty="0" smtClean="0"/>
              <a:t>=</a:t>
            </a:r>
            <a:r>
              <a:rPr lang="en-US" sz="1600" dirty="0" err="1" smtClean="0"/>
              <a:t>Bx</a:t>
            </a:r>
            <a:endParaRPr lang="en-US" sz="1600" dirty="0"/>
          </a:p>
        </p:txBody>
      </p:sp>
      <p:sp>
        <p:nvSpPr>
          <p:cNvPr id="13" name="Rounded Rectangle 12"/>
          <p:cNvSpPr/>
          <p:nvPr/>
        </p:nvSpPr>
        <p:spPr>
          <a:xfrm>
            <a:off x="2057400" y="2133600"/>
            <a:ext cx="1524000" cy="381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50000"/>
                  <a:satMod val="300000"/>
                  <a:alpha val="34000"/>
                </a:schemeClr>
              </a:gs>
              <a:gs pos="35000">
                <a:schemeClr val="accent6">
                  <a:tint val="37000"/>
                  <a:satMod val="300000"/>
                  <a:alpha val="34000"/>
                </a:schemeClr>
              </a:gs>
              <a:gs pos="100000">
                <a:schemeClr val="accent6">
                  <a:tint val="15000"/>
                  <a:satMod val="350000"/>
                  <a:alpha val="34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752600" y="2971800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K</a:t>
            </a:r>
            <a:r>
              <a:rPr lang="en-US" sz="1600" baseline="-25000" dirty="0" err="1" smtClean="0"/>
              <a:t>a</a:t>
            </a:r>
            <a:r>
              <a:rPr lang="en-US" sz="1600" dirty="0" smtClean="0"/>
              <a:t>=</a:t>
            </a:r>
            <a:r>
              <a:rPr lang="en-US" sz="1600" dirty="0" err="1" smtClean="0"/>
              <a:t>Bx</a:t>
            </a:r>
            <a:endParaRPr lang="en-US" sz="1600" dirty="0"/>
          </a:p>
        </p:txBody>
      </p:sp>
      <p:sp>
        <p:nvSpPr>
          <p:cNvPr id="15" name="Rounded Rectangle 14"/>
          <p:cNvSpPr/>
          <p:nvPr/>
        </p:nvSpPr>
        <p:spPr>
          <a:xfrm>
            <a:off x="2209800" y="4419600"/>
            <a:ext cx="1524000" cy="381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50000"/>
                  <a:satMod val="300000"/>
                  <a:alpha val="34000"/>
                </a:schemeClr>
              </a:gs>
              <a:gs pos="35000">
                <a:schemeClr val="accent6">
                  <a:tint val="37000"/>
                  <a:satMod val="300000"/>
                  <a:alpha val="34000"/>
                </a:schemeClr>
              </a:gs>
              <a:gs pos="100000">
                <a:schemeClr val="accent6">
                  <a:tint val="15000"/>
                  <a:satMod val="350000"/>
                  <a:alpha val="34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918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851366"/>
              </p:ext>
            </p:extLst>
          </p:nvPr>
        </p:nvGraphicFramePr>
        <p:xfrm>
          <a:off x="4953000" y="1143000"/>
          <a:ext cx="3962400" cy="136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"/>
                <a:gridCol w="792480"/>
                <a:gridCol w="792480"/>
                <a:gridCol w="792480"/>
                <a:gridCol w="792480"/>
              </a:tblGrid>
              <a:tr h="6369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</a:t>
                      </a:r>
                      <a:r>
                        <a:rPr lang="en-US" baseline="-25000" dirty="0" err="1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64810">
                <a:tc>
                  <a:txBody>
                    <a:bodyPr/>
                    <a:lstStyle/>
                    <a:p>
                      <a:r>
                        <a:rPr lang="en-US" dirty="0" smtClean="0"/>
                        <a:t>~x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481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319019"/>
              </p:ext>
            </p:extLst>
          </p:nvPr>
        </p:nvGraphicFramePr>
        <p:xfrm>
          <a:off x="5029200" y="3429000"/>
          <a:ext cx="3962400" cy="136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"/>
                <a:gridCol w="792480"/>
                <a:gridCol w="792480"/>
                <a:gridCol w="792480"/>
                <a:gridCol w="792480"/>
              </a:tblGrid>
              <a:tr h="63690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K</a:t>
                      </a:r>
                      <a:r>
                        <a:rPr lang="en-US" baseline="-25000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A~B</a:t>
                      </a:r>
                      <a:endParaRPr lang="en-US" dirty="0"/>
                    </a:p>
                  </a:txBody>
                  <a:tcPr/>
                </a:tc>
              </a:tr>
              <a:tr h="364810">
                <a:tc>
                  <a:txBody>
                    <a:bodyPr/>
                    <a:lstStyle/>
                    <a:p>
                      <a:r>
                        <a:rPr lang="en-US" dirty="0" smtClean="0"/>
                        <a:t>~x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</a:tr>
              <a:tr h="36481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131685"/>
              </p:ext>
            </p:extLst>
          </p:nvPr>
        </p:nvGraphicFramePr>
        <p:xfrm>
          <a:off x="990600" y="685800"/>
          <a:ext cx="3276600" cy="59435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0315"/>
                <a:gridCol w="391075"/>
                <a:gridCol w="462853"/>
                <a:gridCol w="382566"/>
                <a:gridCol w="369616"/>
                <a:gridCol w="305239"/>
                <a:gridCol w="324848"/>
                <a:gridCol w="338538"/>
                <a:gridCol w="291550"/>
              </a:tblGrid>
              <a:tr h="612118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Present state (t)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Input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Next state (t+1)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Flip-flop inputs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J</a:t>
                      </a:r>
                      <a:r>
                        <a:rPr lang="en-US" sz="1800" baseline="-250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K</a:t>
                      </a:r>
                      <a:r>
                        <a:rPr lang="en-US" sz="1800" baseline="-25000">
                          <a:effectLst/>
                        </a:rPr>
                        <a:t>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J</a:t>
                      </a:r>
                      <a:r>
                        <a:rPr lang="en-US" sz="1800" baseline="-250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K</a:t>
                      </a:r>
                      <a:r>
                        <a:rPr lang="en-US" sz="1800" baseline="-25000">
                          <a:effectLst/>
                        </a:rPr>
                        <a:t>B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060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  <a:tr h="3684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Batang" panose="02030600000101010101" pitchFamily="18" charset="-127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629400" y="381000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J</a:t>
            </a:r>
            <a:r>
              <a:rPr lang="en-US" sz="1600" baseline="-25000" dirty="0" err="1" smtClean="0"/>
              <a:t>a</a:t>
            </a:r>
            <a:r>
              <a:rPr lang="en-US" sz="1600" dirty="0" smtClean="0"/>
              <a:t>=x</a:t>
            </a:r>
            <a:endParaRPr lang="en-US" sz="1600" dirty="0"/>
          </a:p>
        </p:txBody>
      </p:sp>
      <p:sp>
        <p:nvSpPr>
          <p:cNvPr id="13" name="Rounded Rectangle 12"/>
          <p:cNvSpPr/>
          <p:nvPr/>
        </p:nvSpPr>
        <p:spPr>
          <a:xfrm>
            <a:off x="5638800" y="2209800"/>
            <a:ext cx="3200400" cy="3048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50000"/>
                  <a:satMod val="300000"/>
                  <a:alpha val="34000"/>
                </a:schemeClr>
              </a:gs>
              <a:gs pos="35000">
                <a:schemeClr val="accent6">
                  <a:tint val="37000"/>
                  <a:satMod val="300000"/>
                  <a:alpha val="34000"/>
                </a:schemeClr>
              </a:gs>
              <a:gs pos="100000">
                <a:schemeClr val="accent6">
                  <a:tint val="15000"/>
                  <a:satMod val="350000"/>
                  <a:alpha val="34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K</a:t>
            </a:r>
            <a:r>
              <a:rPr lang="en-US" sz="1600" baseline="-25000" dirty="0" err="1" smtClean="0"/>
              <a:t>a</a:t>
            </a:r>
            <a:r>
              <a:rPr lang="en-US" sz="1600" dirty="0" smtClean="0"/>
              <a:t>=x</a:t>
            </a:r>
            <a:endParaRPr lang="en-US" sz="1600" dirty="0"/>
          </a:p>
        </p:txBody>
      </p:sp>
      <p:sp>
        <p:nvSpPr>
          <p:cNvPr id="15" name="Rounded Rectangle 14"/>
          <p:cNvSpPr/>
          <p:nvPr/>
        </p:nvSpPr>
        <p:spPr>
          <a:xfrm>
            <a:off x="5715000" y="4419600"/>
            <a:ext cx="3200400" cy="381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50000"/>
                  <a:satMod val="300000"/>
                  <a:alpha val="34000"/>
                </a:schemeClr>
              </a:gs>
              <a:gs pos="35000">
                <a:schemeClr val="accent6">
                  <a:tint val="37000"/>
                  <a:satMod val="300000"/>
                  <a:alpha val="34000"/>
                </a:schemeClr>
              </a:gs>
              <a:gs pos="100000">
                <a:schemeClr val="accent6">
                  <a:tint val="15000"/>
                  <a:satMod val="350000"/>
                  <a:alpha val="34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836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pPr algn="ctr"/>
            <a:r>
              <a:rPr lang="en-US" sz="3200" b="0" smtClean="0"/>
              <a:t>2- bit binary counter-sequential circuit</a:t>
            </a:r>
          </a:p>
        </p:txBody>
      </p:sp>
      <p:pic>
        <p:nvPicPr>
          <p:cNvPr id="4813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933450"/>
            <a:ext cx="6305550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609600" y="2438400"/>
            <a:ext cx="8229600" cy="838200"/>
          </a:xfrm>
        </p:spPr>
        <p:txBody>
          <a:bodyPr/>
          <a:lstStyle/>
          <a:p>
            <a:pPr algn="ctr"/>
            <a:r>
              <a:rPr lang="en-US" sz="3200" b="0" dirty="0" smtClean="0"/>
              <a:t>Examples of sequential circuit</a:t>
            </a:r>
          </a:p>
        </p:txBody>
      </p:sp>
    </p:spTree>
    <p:extLst>
      <p:ext uri="{BB962C8B-B14F-4D97-AF65-F5344CB8AC3E}">
        <p14:creationId xmlns:p14="http://schemas.microsoft.com/office/powerpoint/2010/main" val="235891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“D” FF as a counting element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533400" y="903288"/>
            <a:ext cx="824071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buClr>
                <a:srgbClr val="0033CC"/>
              </a:buClr>
              <a:buFontTx/>
              <a:buChar char="•"/>
            </a:pPr>
            <a:r>
              <a:rPr lang="en-US" sz="1400" b="1"/>
              <a:t> A 16-bit binary </a:t>
            </a:r>
            <a:r>
              <a:rPr lang="en-US" sz="1400" b="1" i="1"/>
              <a:t>ripple counter</a:t>
            </a:r>
            <a:endParaRPr lang="en-US" sz="1400" b="1"/>
          </a:p>
          <a:p>
            <a:pPr lvl="1" eaLnBrk="1" hangingPunct="1">
              <a:buClr>
                <a:srgbClr val="0033CC"/>
              </a:buClr>
              <a:buFontTx/>
              <a:buChar char="•"/>
            </a:pPr>
            <a:r>
              <a:rPr lang="en-US" sz="1400" b="1"/>
              <a:t> Given the name because the pulses “ripple” through the circuit </a:t>
            </a:r>
          </a:p>
        </p:txBody>
      </p:sp>
      <p:sp>
        <p:nvSpPr>
          <p:cNvPr id="49156" name="Freeform 33"/>
          <p:cNvSpPr>
            <a:spLocks/>
          </p:cNvSpPr>
          <p:nvPr/>
        </p:nvSpPr>
        <p:spPr bwMode="auto">
          <a:xfrm>
            <a:off x="1554163" y="2808288"/>
            <a:ext cx="1493837" cy="1219200"/>
          </a:xfrm>
          <a:custGeom>
            <a:avLst/>
            <a:gdLst>
              <a:gd name="T0" fmla="*/ 2147483647 w 912"/>
              <a:gd name="T1" fmla="*/ 2147483647 h 768"/>
              <a:gd name="T2" fmla="*/ 2147483647 w 912"/>
              <a:gd name="T3" fmla="*/ 2147483647 h 768"/>
              <a:gd name="T4" fmla="*/ 2147483647 w 912"/>
              <a:gd name="T5" fmla="*/ 2147483647 h 768"/>
              <a:gd name="T6" fmla="*/ 0 w 912"/>
              <a:gd name="T7" fmla="*/ 2147483647 h 768"/>
              <a:gd name="T8" fmla="*/ 0 w 912"/>
              <a:gd name="T9" fmla="*/ 0 h 768"/>
              <a:gd name="T10" fmla="*/ 2147483647 w 912"/>
              <a:gd name="T11" fmla="*/ 0 h 7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2"/>
              <a:gd name="T19" fmla="*/ 0 h 768"/>
              <a:gd name="T20" fmla="*/ 912 w 912"/>
              <a:gd name="T21" fmla="*/ 768 h 76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2" h="768">
                <a:moveTo>
                  <a:pt x="768" y="240"/>
                </a:moveTo>
                <a:lnTo>
                  <a:pt x="912" y="240"/>
                </a:lnTo>
                <a:lnTo>
                  <a:pt x="912" y="768"/>
                </a:lnTo>
                <a:lnTo>
                  <a:pt x="0" y="768"/>
                </a:lnTo>
                <a:lnTo>
                  <a:pt x="0" y="0"/>
                </a:lnTo>
                <a:lnTo>
                  <a:pt x="24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57" name="Line 35"/>
          <p:cNvSpPr>
            <a:spLocks noChangeShapeType="1"/>
          </p:cNvSpPr>
          <p:nvPr/>
        </p:nvSpPr>
        <p:spPr bwMode="auto">
          <a:xfrm flipH="1">
            <a:off x="1177925" y="3190875"/>
            <a:ext cx="7921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58" name="Text Box 36"/>
          <p:cNvSpPr txBox="1">
            <a:spLocks noChangeArrowheads="1"/>
          </p:cNvSpPr>
          <p:nvPr/>
        </p:nvSpPr>
        <p:spPr bwMode="auto">
          <a:xfrm>
            <a:off x="384175" y="3054350"/>
            <a:ext cx="6762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Clock in</a:t>
            </a:r>
          </a:p>
        </p:txBody>
      </p:sp>
      <p:sp>
        <p:nvSpPr>
          <p:cNvPr id="49159" name="Line 37"/>
          <p:cNvSpPr>
            <a:spLocks noChangeShapeType="1"/>
          </p:cNvSpPr>
          <p:nvPr/>
        </p:nvSpPr>
        <p:spPr bwMode="auto">
          <a:xfrm>
            <a:off x="1065213" y="3182938"/>
            <a:ext cx="2746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0" name="Freeform 38"/>
          <p:cNvSpPr>
            <a:spLocks/>
          </p:cNvSpPr>
          <p:nvPr/>
        </p:nvSpPr>
        <p:spPr bwMode="auto">
          <a:xfrm>
            <a:off x="639763" y="2687638"/>
            <a:ext cx="609600" cy="381000"/>
          </a:xfrm>
          <a:custGeom>
            <a:avLst/>
            <a:gdLst>
              <a:gd name="T0" fmla="*/ 0 w 384"/>
              <a:gd name="T1" fmla="*/ 2147483647 h 240"/>
              <a:gd name="T2" fmla="*/ 2147483647 w 384"/>
              <a:gd name="T3" fmla="*/ 2147483647 h 240"/>
              <a:gd name="T4" fmla="*/ 2147483647 w 384"/>
              <a:gd name="T5" fmla="*/ 0 h 240"/>
              <a:gd name="T6" fmla="*/ 2147483647 w 384"/>
              <a:gd name="T7" fmla="*/ 0 h 240"/>
              <a:gd name="T8" fmla="*/ 2147483647 w 384"/>
              <a:gd name="T9" fmla="*/ 2147483647 h 240"/>
              <a:gd name="T10" fmla="*/ 2147483647 w 384"/>
              <a:gd name="T11" fmla="*/ 2147483647 h 2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84"/>
              <a:gd name="T19" fmla="*/ 0 h 240"/>
              <a:gd name="T20" fmla="*/ 384 w 384"/>
              <a:gd name="T21" fmla="*/ 240 h 2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84" h="240">
                <a:moveTo>
                  <a:pt x="0" y="240"/>
                </a:moveTo>
                <a:lnTo>
                  <a:pt x="96" y="240"/>
                </a:lnTo>
                <a:lnTo>
                  <a:pt x="96" y="0"/>
                </a:lnTo>
                <a:lnTo>
                  <a:pt x="240" y="0"/>
                </a:lnTo>
                <a:lnTo>
                  <a:pt x="240" y="240"/>
                </a:lnTo>
                <a:lnTo>
                  <a:pt x="384" y="24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1" name="Line 39"/>
          <p:cNvSpPr>
            <a:spLocks noChangeShapeType="1"/>
          </p:cNvSpPr>
          <p:nvPr/>
        </p:nvSpPr>
        <p:spPr bwMode="auto">
          <a:xfrm flipV="1">
            <a:off x="792163" y="2808288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162" name="Group 80"/>
          <p:cNvGrpSpPr>
            <a:grpSpLocks/>
          </p:cNvGrpSpPr>
          <p:nvPr/>
        </p:nvGrpSpPr>
        <p:grpSpPr bwMode="auto">
          <a:xfrm>
            <a:off x="3459163" y="2579688"/>
            <a:ext cx="1493837" cy="1447800"/>
            <a:chOff x="2736" y="1632"/>
            <a:chExt cx="941" cy="912"/>
          </a:xfrm>
        </p:grpSpPr>
        <p:sp>
          <p:nvSpPr>
            <p:cNvPr id="49245" name="Rectangle 61"/>
            <p:cNvSpPr>
              <a:spLocks noChangeAspect="1" noChangeArrowheads="1"/>
            </p:cNvSpPr>
            <p:nvPr/>
          </p:nvSpPr>
          <p:spPr bwMode="auto">
            <a:xfrm>
              <a:off x="3120" y="1680"/>
              <a:ext cx="409" cy="52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400" b="1"/>
            </a:p>
          </p:txBody>
        </p:sp>
        <p:sp>
          <p:nvSpPr>
            <p:cNvPr id="49246" name="Line 62"/>
            <p:cNvSpPr>
              <a:spLocks noChangeAspect="1" noChangeShapeType="1"/>
            </p:cNvSpPr>
            <p:nvPr/>
          </p:nvSpPr>
          <p:spPr bwMode="auto">
            <a:xfrm flipH="1">
              <a:off x="2976" y="177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7" name="Line 63"/>
            <p:cNvSpPr>
              <a:spLocks noChangeAspect="1" noChangeShapeType="1"/>
            </p:cNvSpPr>
            <p:nvPr/>
          </p:nvSpPr>
          <p:spPr bwMode="auto">
            <a:xfrm>
              <a:off x="3123" y="1994"/>
              <a:ext cx="9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8" name="Line 64"/>
            <p:cNvSpPr>
              <a:spLocks noChangeAspect="1" noChangeShapeType="1"/>
            </p:cNvSpPr>
            <p:nvPr/>
          </p:nvSpPr>
          <p:spPr bwMode="auto">
            <a:xfrm flipV="1">
              <a:off x="3123" y="2018"/>
              <a:ext cx="9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9" name="Line 65"/>
            <p:cNvSpPr>
              <a:spLocks noChangeAspect="1" noChangeShapeType="1"/>
            </p:cNvSpPr>
            <p:nvPr/>
          </p:nvSpPr>
          <p:spPr bwMode="auto">
            <a:xfrm flipH="1">
              <a:off x="2976" y="20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50" name="Oval 66"/>
            <p:cNvSpPr>
              <a:spLocks noChangeAspect="1" noChangeArrowheads="1"/>
            </p:cNvSpPr>
            <p:nvPr/>
          </p:nvSpPr>
          <p:spPr bwMode="auto">
            <a:xfrm>
              <a:off x="3289" y="1632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9251" name="Oval 67"/>
            <p:cNvSpPr>
              <a:spLocks noChangeAspect="1" noChangeArrowheads="1"/>
            </p:cNvSpPr>
            <p:nvPr/>
          </p:nvSpPr>
          <p:spPr bwMode="auto">
            <a:xfrm>
              <a:off x="3289" y="2209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9252" name="Text Box 68"/>
            <p:cNvSpPr txBox="1">
              <a:spLocks noChangeArrowheads="1"/>
            </p:cNvSpPr>
            <p:nvPr/>
          </p:nvSpPr>
          <p:spPr bwMode="auto">
            <a:xfrm>
              <a:off x="3232" y="1659"/>
              <a:ext cx="15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S</a:t>
              </a:r>
            </a:p>
          </p:txBody>
        </p:sp>
        <p:sp>
          <p:nvSpPr>
            <p:cNvPr id="49253" name="Text Box 69"/>
            <p:cNvSpPr txBox="1">
              <a:spLocks noChangeArrowheads="1"/>
            </p:cNvSpPr>
            <p:nvPr/>
          </p:nvSpPr>
          <p:spPr bwMode="auto">
            <a:xfrm>
              <a:off x="3231" y="2097"/>
              <a:ext cx="16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R</a:t>
              </a:r>
            </a:p>
          </p:txBody>
        </p:sp>
        <p:sp>
          <p:nvSpPr>
            <p:cNvPr id="49254" name="Text Box 70"/>
            <p:cNvSpPr txBox="1">
              <a:spLocks noChangeArrowheads="1"/>
            </p:cNvSpPr>
            <p:nvPr/>
          </p:nvSpPr>
          <p:spPr bwMode="auto">
            <a:xfrm>
              <a:off x="3092" y="1710"/>
              <a:ext cx="16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</a:t>
              </a:r>
            </a:p>
          </p:txBody>
        </p:sp>
        <p:sp>
          <p:nvSpPr>
            <p:cNvPr id="49255" name="Text Box 71"/>
            <p:cNvSpPr txBox="1">
              <a:spLocks noChangeArrowheads="1"/>
            </p:cNvSpPr>
            <p:nvPr/>
          </p:nvSpPr>
          <p:spPr bwMode="auto">
            <a:xfrm>
              <a:off x="3166" y="1976"/>
              <a:ext cx="24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800" b="1"/>
                <a:t>CLK</a:t>
              </a:r>
            </a:p>
          </p:txBody>
        </p:sp>
        <p:sp>
          <p:nvSpPr>
            <p:cNvPr id="49256" name="Text Box 72"/>
            <p:cNvSpPr txBox="1">
              <a:spLocks noChangeArrowheads="1"/>
            </p:cNvSpPr>
            <p:nvPr/>
          </p:nvSpPr>
          <p:spPr bwMode="auto">
            <a:xfrm>
              <a:off x="3388" y="1749"/>
              <a:ext cx="16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Q</a:t>
              </a:r>
            </a:p>
          </p:txBody>
        </p:sp>
        <p:sp>
          <p:nvSpPr>
            <p:cNvPr id="49257" name="Text Box 74"/>
            <p:cNvSpPr txBox="1">
              <a:spLocks noChangeArrowheads="1"/>
            </p:cNvSpPr>
            <p:nvPr/>
          </p:nvSpPr>
          <p:spPr bwMode="auto">
            <a:xfrm>
              <a:off x="3386" y="1985"/>
              <a:ext cx="16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Q</a:t>
              </a:r>
            </a:p>
          </p:txBody>
        </p:sp>
        <p:sp>
          <p:nvSpPr>
            <p:cNvPr id="49258" name="Line 75"/>
            <p:cNvSpPr>
              <a:spLocks noChangeShapeType="1"/>
            </p:cNvSpPr>
            <p:nvPr/>
          </p:nvSpPr>
          <p:spPr bwMode="auto">
            <a:xfrm>
              <a:off x="3436" y="2013"/>
              <a:ext cx="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59" name="Freeform 76"/>
            <p:cNvSpPr>
              <a:spLocks/>
            </p:cNvSpPr>
            <p:nvPr/>
          </p:nvSpPr>
          <p:spPr bwMode="auto">
            <a:xfrm>
              <a:off x="2736" y="1776"/>
              <a:ext cx="941" cy="768"/>
            </a:xfrm>
            <a:custGeom>
              <a:avLst/>
              <a:gdLst>
                <a:gd name="T0" fmla="*/ 1346 w 912"/>
                <a:gd name="T1" fmla="*/ 240 h 768"/>
                <a:gd name="T2" fmla="*/ 1602 w 912"/>
                <a:gd name="T3" fmla="*/ 240 h 768"/>
                <a:gd name="T4" fmla="*/ 1602 w 912"/>
                <a:gd name="T5" fmla="*/ 768 h 768"/>
                <a:gd name="T6" fmla="*/ 0 w 912"/>
                <a:gd name="T7" fmla="*/ 768 h 768"/>
                <a:gd name="T8" fmla="*/ 0 w 912"/>
                <a:gd name="T9" fmla="*/ 0 h 768"/>
                <a:gd name="T10" fmla="*/ 422 w 912"/>
                <a:gd name="T11" fmla="*/ 0 h 7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2"/>
                <a:gd name="T19" fmla="*/ 0 h 768"/>
                <a:gd name="T20" fmla="*/ 912 w 912"/>
                <a:gd name="T21" fmla="*/ 768 h 7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2" h="768">
                  <a:moveTo>
                    <a:pt x="768" y="240"/>
                  </a:moveTo>
                  <a:lnTo>
                    <a:pt x="912" y="240"/>
                  </a:lnTo>
                  <a:lnTo>
                    <a:pt x="912" y="768"/>
                  </a:lnTo>
                  <a:lnTo>
                    <a:pt x="0" y="768"/>
                  </a:ln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163" name="Line 78"/>
          <p:cNvSpPr>
            <a:spLocks noChangeShapeType="1"/>
          </p:cNvSpPr>
          <p:nvPr/>
        </p:nvSpPr>
        <p:spPr bwMode="auto">
          <a:xfrm flipH="1">
            <a:off x="3036888" y="3189288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4" name="Freeform 83"/>
          <p:cNvSpPr>
            <a:spLocks/>
          </p:cNvSpPr>
          <p:nvPr/>
        </p:nvSpPr>
        <p:spPr bwMode="auto">
          <a:xfrm>
            <a:off x="4729163" y="2106613"/>
            <a:ext cx="228600" cy="762000"/>
          </a:xfrm>
          <a:custGeom>
            <a:avLst/>
            <a:gdLst>
              <a:gd name="T0" fmla="*/ 0 w 144"/>
              <a:gd name="T1" fmla="*/ 2147483647 h 480"/>
              <a:gd name="T2" fmla="*/ 2147483647 w 144"/>
              <a:gd name="T3" fmla="*/ 2147483647 h 480"/>
              <a:gd name="T4" fmla="*/ 2147483647 w 144"/>
              <a:gd name="T5" fmla="*/ 0 h 480"/>
              <a:gd name="T6" fmla="*/ 0 60000 65536"/>
              <a:gd name="T7" fmla="*/ 0 60000 65536"/>
              <a:gd name="T8" fmla="*/ 0 60000 65536"/>
              <a:gd name="T9" fmla="*/ 0 w 144"/>
              <a:gd name="T10" fmla="*/ 0 h 480"/>
              <a:gd name="T11" fmla="*/ 144 w 144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480">
                <a:moveTo>
                  <a:pt x="0" y="480"/>
                </a:moveTo>
                <a:lnTo>
                  <a:pt x="144" y="480"/>
                </a:lnTo>
                <a:lnTo>
                  <a:pt x="144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165" name="Group 84"/>
          <p:cNvGrpSpPr>
            <a:grpSpLocks/>
          </p:cNvGrpSpPr>
          <p:nvPr/>
        </p:nvGrpSpPr>
        <p:grpSpPr bwMode="auto">
          <a:xfrm>
            <a:off x="5237163" y="2574925"/>
            <a:ext cx="1493837" cy="1447800"/>
            <a:chOff x="2736" y="1632"/>
            <a:chExt cx="941" cy="912"/>
          </a:xfrm>
        </p:grpSpPr>
        <p:sp>
          <p:nvSpPr>
            <p:cNvPr id="49230" name="Rectangle 85"/>
            <p:cNvSpPr>
              <a:spLocks noChangeAspect="1" noChangeArrowheads="1"/>
            </p:cNvSpPr>
            <p:nvPr/>
          </p:nvSpPr>
          <p:spPr bwMode="auto">
            <a:xfrm>
              <a:off x="3120" y="1680"/>
              <a:ext cx="409" cy="52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400" b="1"/>
            </a:p>
          </p:txBody>
        </p:sp>
        <p:sp>
          <p:nvSpPr>
            <p:cNvPr id="49231" name="Line 86"/>
            <p:cNvSpPr>
              <a:spLocks noChangeAspect="1" noChangeShapeType="1"/>
            </p:cNvSpPr>
            <p:nvPr/>
          </p:nvSpPr>
          <p:spPr bwMode="auto">
            <a:xfrm flipH="1">
              <a:off x="2976" y="177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32" name="Line 87"/>
            <p:cNvSpPr>
              <a:spLocks noChangeAspect="1" noChangeShapeType="1"/>
            </p:cNvSpPr>
            <p:nvPr/>
          </p:nvSpPr>
          <p:spPr bwMode="auto">
            <a:xfrm>
              <a:off x="3123" y="1994"/>
              <a:ext cx="9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33" name="Line 88"/>
            <p:cNvSpPr>
              <a:spLocks noChangeAspect="1" noChangeShapeType="1"/>
            </p:cNvSpPr>
            <p:nvPr/>
          </p:nvSpPr>
          <p:spPr bwMode="auto">
            <a:xfrm flipV="1">
              <a:off x="3123" y="2018"/>
              <a:ext cx="9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34" name="Line 89"/>
            <p:cNvSpPr>
              <a:spLocks noChangeAspect="1" noChangeShapeType="1"/>
            </p:cNvSpPr>
            <p:nvPr/>
          </p:nvSpPr>
          <p:spPr bwMode="auto">
            <a:xfrm flipH="1">
              <a:off x="2976" y="20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35" name="Oval 90"/>
            <p:cNvSpPr>
              <a:spLocks noChangeAspect="1" noChangeArrowheads="1"/>
            </p:cNvSpPr>
            <p:nvPr/>
          </p:nvSpPr>
          <p:spPr bwMode="auto">
            <a:xfrm>
              <a:off x="3289" y="1632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9236" name="Oval 91"/>
            <p:cNvSpPr>
              <a:spLocks noChangeAspect="1" noChangeArrowheads="1"/>
            </p:cNvSpPr>
            <p:nvPr/>
          </p:nvSpPr>
          <p:spPr bwMode="auto">
            <a:xfrm>
              <a:off x="3289" y="2209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9237" name="Text Box 92"/>
            <p:cNvSpPr txBox="1">
              <a:spLocks noChangeArrowheads="1"/>
            </p:cNvSpPr>
            <p:nvPr/>
          </p:nvSpPr>
          <p:spPr bwMode="auto">
            <a:xfrm>
              <a:off x="3232" y="1659"/>
              <a:ext cx="15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S</a:t>
              </a:r>
            </a:p>
          </p:txBody>
        </p:sp>
        <p:sp>
          <p:nvSpPr>
            <p:cNvPr id="49238" name="Text Box 93"/>
            <p:cNvSpPr txBox="1">
              <a:spLocks noChangeArrowheads="1"/>
            </p:cNvSpPr>
            <p:nvPr/>
          </p:nvSpPr>
          <p:spPr bwMode="auto">
            <a:xfrm>
              <a:off x="3231" y="2097"/>
              <a:ext cx="16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R</a:t>
              </a:r>
            </a:p>
          </p:txBody>
        </p:sp>
        <p:sp>
          <p:nvSpPr>
            <p:cNvPr id="49239" name="Text Box 94"/>
            <p:cNvSpPr txBox="1">
              <a:spLocks noChangeArrowheads="1"/>
            </p:cNvSpPr>
            <p:nvPr/>
          </p:nvSpPr>
          <p:spPr bwMode="auto">
            <a:xfrm>
              <a:off x="3092" y="1710"/>
              <a:ext cx="16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</a:t>
              </a:r>
            </a:p>
          </p:txBody>
        </p:sp>
        <p:sp>
          <p:nvSpPr>
            <p:cNvPr id="49240" name="Text Box 95"/>
            <p:cNvSpPr txBox="1">
              <a:spLocks noChangeArrowheads="1"/>
            </p:cNvSpPr>
            <p:nvPr/>
          </p:nvSpPr>
          <p:spPr bwMode="auto">
            <a:xfrm>
              <a:off x="3166" y="1976"/>
              <a:ext cx="24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800" b="1"/>
                <a:t>CLK</a:t>
              </a:r>
            </a:p>
          </p:txBody>
        </p:sp>
        <p:sp>
          <p:nvSpPr>
            <p:cNvPr id="49241" name="Text Box 96"/>
            <p:cNvSpPr txBox="1">
              <a:spLocks noChangeArrowheads="1"/>
            </p:cNvSpPr>
            <p:nvPr/>
          </p:nvSpPr>
          <p:spPr bwMode="auto">
            <a:xfrm>
              <a:off x="3388" y="1749"/>
              <a:ext cx="16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Q</a:t>
              </a:r>
            </a:p>
          </p:txBody>
        </p:sp>
        <p:sp>
          <p:nvSpPr>
            <p:cNvPr id="49242" name="Text Box 97"/>
            <p:cNvSpPr txBox="1">
              <a:spLocks noChangeArrowheads="1"/>
            </p:cNvSpPr>
            <p:nvPr/>
          </p:nvSpPr>
          <p:spPr bwMode="auto">
            <a:xfrm>
              <a:off x="3386" y="1985"/>
              <a:ext cx="16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Q</a:t>
              </a:r>
            </a:p>
          </p:txBody>
        </p:sp>
        <p:sp>
          <p:nvSpPr>
            <p:cNvPr id="49243" name="Line 98"/>
            <p:cNvSpPr>
              <a:spLocks noChangeShapeType="1"/>
            </p:cNvSpPr>
            <p:nvPr/>
          </p:nvSpPr>
          <p:spPr bwMode="auto">
            <a:xfrm>
              <a:off x="3436" y="2013"/>
              <a:ext cx="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4" name="Freeform 99"/>
            <p:cNvSpPr>
              <a:spLocks/>
            </p:cNvSpPr>
            <p:nvPr/>
          </p:nvSpPr>
          <p:spPr bwMode="auto">
            <a:xfrm>
              <a:off x="2736" y="1776"/>
              <a:ext cx="941" cy="768"/>
            </a:xfrm>
            <a:custGeom>
              <a:avLst/>
              <a:gdLst>
                <a:gd name="T0" fmla="*/ 1346 w 912"/>
                <a:gd name="T1" fmla="*/ 240 h 768"/>
                <a:gd name="T2" fmla="*/ 1602 w 912"/>
                <a:gd name="T3" fmla="*/ 240 h 768"/>
                <a:gd name="T4" fmla="*/ 1602 w 912"/>
                <a:gd name="T5" fmla="*/ 768 h 768"/>
                <a:gd name="T6" fmla="*/ 0 w 912"/>
                <a:gd name="T7" fmla="*/ 768 h 768"/>
                <a:gd name="T8" fmla="*/ 0 w 912"/>
                <a:gd name="T9" fmla="*/ 0 h 768"/>
                <a:gd name="T10" fmla="*/ 422 w 912"/>
                <a:gd name="T11" fmla="*/ 0 h 7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2"/>
                <a:gd name="T19" fmla="*/ 0 h 768"/>
                <a:gd name="T20" fmla="*/ 912 w 912"/>
                <a:gd name="T21" fmla="*/ 768 h 7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2" h="768">
                  <a:moveTo>
                    <a:pt x="768" y="240"/>
                  </a:moveTo>
                  <a:lnTo>
                    <a:pt x="912" y="240"/>
                  </a:lnTo>
                  <a:lnTo>
                    <a:pt x="912" y="768"/>
                  </a:lnTo>
                  <a:lnTo>
                    <a:pt x="0" y="768"/>
                  </a:ln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166" name="Freeform 100"/>
          <p:cNvSpPr>
            <a:spLocks/>
          </p:cNvSpPr>
          <p:nvPr/>
        </p:nvSpPr>
        <p:spPr bwMode="auto">
          <a:xfrm>
            <a:off x="6507163" y="2101850"/>
            <a:ext cx="228600" cy="762000"/>
          </a:xfrm>
          <a:custGeom>
            <a:avLst/>
            <a:gdLst>
              <a:gd name="T0" fmla="*/ 0 w 144"/>
              <a:gd name="T1" fmla="*/ 2147483647 h 480"/>
              <a:gd name="T2" fmla="*/ 2147483647 w 144"/>
              <a:gd name="T3" fmla="*/ 2147483647 h 480"/>
              <a:gd name="T4" fmla="*/ 2147483647 w 144"/>
              <a:gd name="T5" fmla="*/ 0 h 480"/>
              <a:gd name="T6" fmla="*/ 0 60000 65536"/>
              <a:gd name="T7" fmla="*/ 0 60000 65536"/>
              <a:gd name="T8" fmla="*/ 0 60000 65536"/>
              <a:gd name="T9" fmla="*/ 0 w 144"/>
              <a:gd name="T10" fmla="*/ 0 h 480"/>
              <a:gd name="T11" fmla="*/ 144 w 144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480">
                <a:moveTo>
                  <a:pt x="0" y="480"/>
                </a:moveTo>
                <a:lnTo>
                  <a:pt x="144" y="480"/>
                </a:lnTo>
                <a:lnTo>
                  <a:pt x="144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7" name="Oval 101"/>
          <p:cNvSpPr>
            <a:spLocks noChangeArrowheads="1"/>
          </p:cNvSpPr>
          <p:nvPr/>
        </p:nvSpPr>
        <p:spPr bwMode="auto">
          <a:xfrm>
            <a:off x="4913313" y="3148013"/>
            <a:ext cx="74612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49168" name="Line 102"/>
          <p:cNvSpPr>
            <a:spLocks noChangeShapeType="1"/>
          </p:cNvSpPr>
          <p:nvPr/>
        </p:nvSpPr>
        <p:spPr bwMode="auto">
          <a:xfrm flipH="1">
            <a:off x="4987925" y="3182938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169" name="Group 103"/>
          <p:cNvGrpSpPr>
            <a:grpSpLocks/>
          </p:cNvGrpSpPr>
          <p:nvPr/>
        </p:nvGrpSpPr>
        <p:grpSpPr bwMode="auto">
          <a:xfrm>
            <a:off x="7075488" y="2574925"/>
            <a:ext cx="1493837" cy="1447800"/>
            <a:chOff x="2736" y="1632"/>
            <a:chExt cx="941" cy="912"/>
          </a:xfrm>
        </p:grpSpPr>
        <p:sp>
          <p:nvSpPr>
            <p:cNvPr id="49215" name="Rectangle 104"/>
            <p:cNvSpPr>
              <a:spLocks noChangeAspect="1" noChangeArrowheads="1"/>
            </p:cNvSpPr>
            <p:nvPr/>
          </p:nvSpPr>
          <p:spPr bwMode="auto">
            <a:xfrm>
              <a:off x="3120" y="1680"/>
              <a:ext cx="409" cy="52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400" b="1"/>
            </a:p>
          </p:txBody>
        </p:sp>
        <p:sp>
          <p:nvSpPr>
            <p:cNvPr id="49216" name="Line 105"/>
            <p:cNvSpPr>
              <a:spLocks noChangeAspect="1" noChangeShapeType="1"/>
            </p:cNvSpPr>
            <p:nvPr/>
          </p:nvSpPr>
          <p:spPr bwMode="auto">
            <a:xfrm flipH="1">
              <a:off x="2976" y="177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7" name="Line 106"/>
            <p:cNvSpPr>
              <a:spLocks noChangeAspect="1" noChangeShapeType="1"/>
            </p:cNvSpPr>
            <p:nvPr/>
          </p:nvSpPr>
          <p:spPr bwMode="auto">
            <a:xfrm>
              <a:off x="3123" y="1994"/>
              <a:ext cx="9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8" name="Line 107"/>
            <p:cNvSpPr>
              <a:spLocks noChangeAspect="1" noChangeShapeType="1"/>
            </p:cNvSpPr>
            <p:nvPr/>
          </p:nvSpPr>
          <p:spPr bwMode="auto">
            <a:xfrm flipV="1">
              <a:off x="3123" y="2018"/>
              <a:ext cx="9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9" name="Line 108"/>
            <p:cNvSpPr>
              <a:spLocks noChangeAspect="1" noChangeShapeType="1"/>
            </p:cNvSpPr>
            <p:nvPr/>
          </p:nvSpPr>
          <p:spPr bwMode="auto">
            <a:xfrm flipH="1">
              <a:off x="2976" y="201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20" name="Oval 109"/>
            <p:cNvSpPr>
              <a:spLocks noChangeAspect="1" noChangeArrowheads="1"/>
            </p:cNvSpPr>
            <p:nvPr/>
          </p:nvSpPr>
          <p:spPr bwMode="auto">
            <a:xfrm>
              <a:off x="3289" y="1632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9221" name="Oval 110"/>
            <p:cNvSpPr>
              <a:spLocks noChangeAspect="1" noChangeArrowheads="1"/>
            </p:cNvSpPr>
            <p:nvPr/>
          </p:nvSpPr>
          <p:spPr bwMode="auto">
            <a:xfrm>
              <a:off x="3289" y="2209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9222" name="Text Box 111"/>
            <p:cNvSpPr txBox="1">
              <a:spLocks noChangeArrowheads="1"/>
            </p:cNvSpPr>
            <p:nvPr/>
          </p:nvSpPr>
          <p:spPr bwMode="auto">
            <a:xfrm>
              <a:off x="3232" y="1659"/>
              <a:ext cx="15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S</a:t>
              </a:r>
            </a:p>
          </p:txBody>
        </p:sp>
        <p:sp>
          <p:nvSpPr>
            <p:cNvPr id="49223" name="Text Box 112"/>
            <p:cNvSpPr txBox="1">
              <a:spLocks noChangeArrowheads="1"/>
            </p:cNvSpPr>
            <p:nvPr/>
          </p:nvSpPr>
          <p:spPr bwMode="auto">
            <a:xfrm>
              <a:off x="3231" y="2097"/>
              <a:ext cx="16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R</a:t>
              </a:r>
            </a:p>
          </p:txBody>
        </p:sp>
        <p:sp>
          <p:nvSpPr>
            <p:cNvPr id="49224" name="Text Box 113"/>
            <p:cNvSpPr txBox="1">
              <a:spLocks noChangeArrowheads="1"/>
            </p:cNvSpPr>
            <p:nvPr/>
          </p:nvSpPr>
          <p:spPr bwMode="auto">
            <a:xfrm>
              <a:off x="3092" y="1710"/>
              <a:ext cx="16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</a:t>
              </a:r>
            </a:p>
          </p:txBody>
        </p:sp>
        <p:sp>
          <p:nvSpPr>
            <p:cNvPr id="49225" name="Text Box 114"/>
            <p:cNvSpPr txBox="1">
              <a:spLocks noChangeArrowheads="1"/>
            </p:cNvSpPr>
            <p:nvPr/>
          </p:nvSpPr>
          <p:spPr bwMode="auto">
            <a:xfrm>
              <a:off x="3166" y="1976"/>
              <a:ext cx="24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800" b="1"/>
                <a:t>CLK</a:t>
              </a:r>
            </a:p>
          </p:txBody>
        </p:sp>
        <p:sp>
          <p:nvSpPr>
            <p:cNvPr id="49226" name="Text Box 115"/>
            <p:cNvSpPr txBox="1">
              <a:spLocks noChangeArrowheads="1"/>
            </p:cNvSpPr>
            <p:nvPr/>
          </p:nvSpPr>
          <p:spPr bwMode="auto">
            <a:xfrm>
              <a:off x="3388" y="1749"/>
              <a:ext cx="16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Q</a:t>
              </a:r>
            </a:p>
          </p:txBody>
        </p:sp>
        <p:sp>
          <p:nvSpPr>
            <p:cNvPr id="49227" name="Text Box 116"/>
            <p:cNvSpPr txBox="1">
              <a:spLocks noChangeArrowheads="1"/>
            </p:cNvSpPr>
            <p:nvPr/>
          </p:nvSpPr>
          <p:spPr bwMode="auto">
            <a:xfrm>
              <a:off x="3386" y="1985"/>
              <a:ext cx="16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Q</a:t>
              </a:r>
            </a:p>
          </p:txBody>
        </p:sp>
        <p:sp>
          <p:nvSpPr>
            <p:cNvPr id="49228" name="Line 117"/>
            <p:cNvSpPr>
              <a:spLocks noChangeShapeType="1"/>
            </p:cNvSpPr>
            <p:nvPr/>
          </p:nvSpPr>
          <p:spPr bwMode="auto">
            <a:xfrm>
              <a:off x="3436" y="2013"/>
              <a:ext cx="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29" name="Freeform 118"/>
            <p:cNvSpPr>
              <a:spLocks/>
            </p:cNvSpPr>
            <p:nvPr/>
          </p:nvSpPr>
          <p:spPr bwMode="auto">
            <a:xfrm>
              <a:off x="2736" y="1776"/>
              <a:ext cx="941" cy="768"/>
            </a:xfrm>
            <a:custGeom>
              <a:avLst/>
              <a:gdLst>
                <a:gd name="T0" fmla="*/ 1346 w 912"/>
                <a:gd name="T1" fmla="*/ 240 h 768"/>
                <a:gd name="T2" fmla="*/ 1602 w 912"/>
                <a:gd name="T3" fmla="*/ 240 h 768"/>
                <a:gd name="T4" fmla="*/ 1602 w 912"/>
                <a:gd name="T5" fmla="*/ 768 h 768"/>
                <a:gd name="T6" fmla="*/ 0 w 912"/>
                <a:gd name="T7" fmla="*/ 768 h 768"/>
                <a:gd name="T8" fmla="*/ 0 w 912"/>
                <a:gd name="T9" fmla="*/ 0 h 768"/>
                <a:gd name="T10" fmla="*/ 422 w 912"/>
                <a:gd name="T11" fmla="*/ 0 h 7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2"/>
                <a:gd name="T19" fmla="*/ 0 h 768"/>
                <a:gd name="T20" fmla="*/ 912 w 912"/>
                <a:gd name="T21" fmla="*/ 768 h 7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2" h="768">
                  <a:moveTo>
                    <a:pt x="768" y="240"/>
                  </a:moveTo>
                  <a:lnTo>
                    <a:pt x="912" y="240"/>
                  </a:lnTo>
                  <a:lnTo>
                    <a:pt x="912" y="768"/>
                  </a:lnTo>
                  <a:lnTo>
                    <a:pt x="0" y="768"/>
                  </a:ln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170" name="Freeform 119"/>
          <p:cNvSpPr>
            <a:spLocks/>
          </p:cNvSpPr>
          <p:nvPr/>
        </p:nvSpPr>
        <p:spPr bwMode="auto">
          <a:xfrm>
            <a:off x="8345488" y="2122488"/>
            <a:ext cx="228600" cy="762000"/>
          </a:xfrm>
          <a:custGeom>
            <a:avLst/>
            <a:gdLst>
              <a:gd name="T0" fmla="*/ 0 w 144"/>
              <a:gd name="T1" fmla="*/ 2147483647 h 480"/>
              <a:gd name="T2" fmla="*/ 2147483647 w 144"/>
              <a:gd name="T3" fmla="*/ 2147483647 h 480"/>
              <a:gd name="T4" fmla="*/ 2147483647 w 144"/>
              <a:gd name="T5" fmla="*/ 0 h 480"/>
              <a:gd name="T6" fmla="*/ 0 60000 65536"/>
              <a:gd name="T7" fmla="*/ 0 60000 65536"/>
              <a:gd name="T8" fmla="*/ 0 60000 65536"/>
              <a:gd name="T9" fmla="*/ 0 w 144"/>
              <a:gd name="T10" fmla="*/ 0 h 480"/>
              <a:gd name="T11" fmla="*/ 144 w 144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480">
                <a:moveTo>
                  <a:pt x="0" y="480"/>
                </a:moveTo>
                <a:lnTo>
                  <a:pt x="144" y="480"/>
                </a:lnTo>
                <a:lnTo>
                  <a:pt x="144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1" name="Line 120"/>
          <p:cNvSpPr>
            <a:spLocks noChangeShapeType="1"/>
          </p:cNvSpPr>
          <p:nvPr/>
        </p:nvSpPr>
        <p:spPr bwMode="auto">
          <a:xfrm flipH="1">
            <a:off x="6673850" y="3182938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2" name="Oval 121"/>
          <p:cNvSpPr>
            <a:spLocks noChangeArrowheads="1"/>
          </p:cNvSpPr>
          <p:nvPr/>
        </p:nvSpPr>
        <p:spPr bwMode="auto">
          <a:xfrm>
            <a:off x="6670675" y="3148013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49173" name="Text Box 123"/>
          <p:cNvSpPr txBox="1">
            <a:spLocks noChangeArrowheads="1"/>
          </p:cNvSpPr>
          <p:nvPr/>
        </p:nvSpPr>
        <p:spPr bwMode="auto">
          <a:xfrm>
            <a:off x="4714875" y="1706563"/>
            <a:ext cx="385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Q</a:t>
            </a:r>
            <a:r>
              <a:rPr lang="en-US" sz="1400" b="1" baseline="-25000"/>
              <a:t>1</a:t>
            </a:r>
            <a:endParaRPr lang="en-US" sz="1400" b="1"/>
          </a:p>
        </p:txBody>
      </p:sp>
      <p:sp>
        <p:nvSpPr>
          <p:cNvPr id="49174" name="Text Box 124"/>
          <p:cNvSpPr txBox="1">
            <a:spLocks noChangeArrowheads="1"/>
          </p:cNvSpPr>
          <p:nvPr/>
        </p:nvSpPr>
        <p:spPr bwMode="auto">
          <a:xfrm>
            <a:off x="6524625" y="1706563"/>
            <a:ext cx="385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Q</a:t>
            </a:r>
            <a:r>
              <a:rPr lang="en-US" sz="1400" b="1" baseline="-25000"/>
              <a:t>2</a:t>
            </a:r>
            <a:endParaRPr lang="en-US" sz="1400" b="1"/>
          </a:p>
        </p:txBody>
      </p:sp>
      <p:sp>
        <p:nvSpPr>
          <p:cNvPr id="49175" name="Text Box 125"/>
          <p:cNvSpPr txBox="1">
            <a:spLocks noChangeArrowheads="1"/>
          </p:cNvSpPr>
          <p:nvPr/>
        </p:nvSpPr>
        <p:spPr bwMode="auto">
          <a:xfrm>
            <a:off x="8342313" y="1727200"/>
            <a:ext cx="3857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Q</a:t>
            </a:r>
            <a:r>
              <a:rPr lang="en-US" sz="1400" b="1" baseline="-25000"/>
              <a:t>3</a:t>
            </a:r>
            <a:endParaRPr lang="en-US" sz="1400" b="1"/>
          </a:p>
        </p:txBody>
      </p:sp>
      <p:sp>
        <p:nvSpPr>
          <p:cNvPr id="49176" name="Freeform 126"/>
          <p:cNvSpPr>
            <a:spLocks/>
          </p:cNvSpPr>
          <p:nvPr/>
        </p:nvSpPr>
        <p:spPr bwMode="auto">
          <a:xfrm>
            <a:off x="1422400" y="2327275"/>
            <a:ext cx="6573838" cy="233363"/>
          </a:xfrm>
          <a:custGeom>
            <a:avLst/>
            <a:gdLst>
              <a:gd name="T0" fmla="*/ 2147483647 w 4141"/>
              <a:gd name="T1" fmla="*/ 2147483647 h 147"/>
              <a:gd name="T2" fmla="*/ 2147483647 w 4141"/>
              <a:gd name="T3" fmla="*/ 2147483647 h 147"/>
              <a:gd name="T4" fmla="*/ 0 w 4141"/>
              <a:gd name="T5" fmla="*/ 0 h 147"/>
              <a:gd name="T6" fmla="*/ 0 60000 65536"/>
              <a:gd name="T7" fmla="*/ 0 60000 65536"/>
              <a:gd name="T8" fmla="*/ 0 60000 65536"/>
              <a:gd name="T9" fmla="*/ 0 w 4141"/>
              <a:gd name="T10" fmla="*/ 0 h 147"/>
              <a:gd name="T11" fmla="*/ 4141 w 4141"/>
              <a:gd name="T12" fmla="*/ 147 h 1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41" h="147">
                <a:moveTo>
                  <a:pt x="4141" y="147"/>
                </a:moveTo>
                <a:lnTo>
                  <a:pt x="4141" y="6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7" name="Line 128"/>
          <p:cNvSpPr>
            <a:spLocks noChangeShapeType="1"/>
          </p:cNvSpPr>
          <p:nvPr/>
        </p:nvSpPr>
        <p:spPr bwMode="auto">
          <a:xfrm flipV="1">
            <a:off x="4359275" y="2336800"/>
            <a:ext cx="0" cy="233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8" name="Line 129"/>
          <p:cNvSpPr>
            <a:spLocks noChangeShapeType="1"/>
          </p:cNvSpPr>
          <p:nvPr/>
        </p:nvSpPr>
        <p:spPr bwMode="auto">
          <a:xfrm flipV="1">
            <a:off x="6157913" y="2336800"/>
            <a:ext cx="0" cy="233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9" name="Oval 130"/>
          <p:cNvSpPr>
            <a:spLocks noChangeArrowheads="1"/>
          </p:cNvSpPr>
          <p:nvPr/>
        </p:nvSpPr>
        <p:spPr bwMode="auto">
          <a:xfrm>
            <a:off x="6110288" y="2314575"/>
            <a:ext cx="74612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49180" name="Oval 131"/>
          <p:cNvSpPr>
            <a:spLocks noChangeArrowheads="1"/>
          </p:cNvSpPr>
          <p:nvPr/>
        </p:nvSpPr>
        <p:spPr bwMode="auto">
          <a:xfrm>
            <a:off x="4321175" y="229393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49181" name="Text Box 133"/>
          <p:cNvSpPr txBox="1">
            <a:spLocks noChangeArrowheads="1"/>
          </p:cNvSpPr>
          <p:nvPr/>
        </p:nvSpPr>
        <p:spPr bwMode="auto">
          <a:xfrm>
            <a:off x="1168400" y="216376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1</a:t>
            </a:r>
          </a:p>
        </p:txBody>
      </p:sp>
      <p:sp>
        <p:nvSpPr>
          <p:cNvPr id="49182" name="Freeform 134"/>
          <p:cNvSpPr>
            <a:spLocks/>
          </p:cNvSpPr>
          <p:nvPr/>
        </p:nvSpPr>
        <p:spPr bwMode="auto">
          <a:xfrm flipV="1">
            <a:off x="1196975" y="3567113"/>
            <a:ext cx="6788150" cy="233362"/>
          </a:xfrm>
          <a:custGeom>
            <a:avLst/>
            <a:gdLst>
              <a:gd name="T0" fmla="*/ 2147483647 w 4141"/>
              <a:gd name="T1" fmla="*/ 2147483647 h 147"/>
              <a:gd name="T2" fmla="*/ 2147483647 w 4141"/>
              <a:gd name="T3" fmla="*/ 2147483647 h 147"/>
              <a:gd name="T4" fmla="*/ 0 w 4141"/>
              <a:gd name="T5" fmla="*/ 0 h 147"/>
              <a:gd name="T6" fmla="*/ 0 60000 65536"/>
              <a:gd name="T7" fmla="*/ 0 60000 65536"/>
              <a:gd name="T8" fmla="*/ 0 60000 65536"/>
              <a:gd name="T9" fmla="*/ 0 w 4141"/>
              <a:gd name="T10" fmla="*/ 0 h 147"/>
              <a:gd name="T11" fmla="*/ 4141 w 4141"/>
              <a:gd name="T12" fmla="*/ 147 h 1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41" h="147">
                <a:moveTo>
                  <a:pt x="4141" y="147"/>
                </a:moveTo>
                <a:lnTo>
                  <a:pt x="4141" y="6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83" name="Freeform 135"/>
          <p:cNvSpPr>
            <a:spLocks/>
          </p:cNvSpPr>
          <p:nvPr/>
        </p:nvSpPr>
        <p:spPr bwMode="auto">
          <a:xfrm flipV="1">
            <a:off x="549275" y="3622675"/>
            <a:ext cx="609600" cy="381000"/>
          </a:xfrm>
          <a:custGeom>
            <a:avLst/>
            <a:gdLst>
              <a:gd name="T0" fmla="*/ 0 w 384"/>
              <a:gd name="T1" fmla="*/ 2147483647 h 240"/>
              <a:gd name="T2" fmla="*/ 2147483647 w 384"/>
              <a:gd name="T3" fmla="*/ 2147483647 h 240"/>
              <a:gd name="T4" fmla="*/ 2147483647 w 384"/>
              <a:gd name="T5" fmla="*/ 0 h 240"/>
              <a:gd name="T6" fmla="*/ 2147483647 w 384"/>
              <a:gd name="T7" fmla="*/ 0 h 240"/>
              <a:gd name="T8" fmla="*/ 2147483647 w 384"/>
              <a:gd name="T9" fmla="*/ 2147483647 h 240"/>
              <a:gd name="T10" fmla="*/ 2147483647 w 384"/>
              <a:gd name="T11" fmla="*/ 2147483647 h 2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84"/>
              <a:gd name="T19" fmla="*/ 0 h 240"/>
              <a:gd name="T20" fmla="*/ 384 w 384"/>
              <a:gd name="T21" fmla="*/ 240 h 2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84" h="240">
                <a:moveTo>
                  <a:pt x="0" y="240"/>
                </a:moveTo>
                <a:lnTo>
                  <a:pt x="96" y="240"/>
                </a:lnTo>
                <a:lnTo>
                  <a:pt x="96" y="0"/>
                </a:lnTo>
                <a:lnTo>
                  <a:pt x="240" y="0"/>
                </a:lnTo>
                <a:lnTo>
                  <a:pt x="240" y="240"/>
                </a:lnTo>
                <a:lnTo>
                  <a:pt x="384" y="24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84" name="Text Box 137"/>
          <p:cNvSpPr txBox="1">
            <a:spLocks noChangeArrowheads="1"/>
          </p:cNvSpPr>
          <p:nvPr/>
        </p:nvSpPr>
        <p:spPr bwMode="auto">
          <a:xfrm>
            <a:off x="450850" y="4052888"/>
            <a:ext cx="777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RESET</a:t>
            </a:r>
          </a:p>
        </p:txBody>
      </p:sp>
      <p:sp>
        <p:nvSpPr>
          <p:cNvPr id="49185" name="Line 138"/>
          <p:cNvSpPr>
            <a:spLocks noChangeShapeType="1"/>
          </p:cNvSpPr>
          <p:nvPr/>
        </p:nvSpPr>
        <p:spPr bwMode="auto">
          <a:xfrm flipV="1">
            <a:off x="530225" y="4079875"/>
            <a:ext cx="642938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186" name="Group 143"/>
          <p:cNvGrpSpPr>
            <a:grpSpLocks/>
          </p:cNvGrpSpPr>
          <p:nvPr/>
        </p:nvGrpSpPr>
        <p:grpSpPr bwMode="auto">
          <a:xfrm>
            <a:off x="1933575" y="1725613"/>
            <a:ext cx="1277938" cy="2074862"/>
            <a:chOff x="1218" y="1087"/>
            <a:chExt cx="805" cy="1307"/>
          </a:xfrm>
        </p:grpSpPr>
        <p:sp>
          <p:nvSpPr>
            <p:cNvPr id="49193" name="Rectangle 6"/>
            <p:cNvSpPr>
              <a:spLocks noChangeAspect="1" noChangeArrowheads="1"/>
            </p:cNvSpPr>
            <p:nvPr/>
          </p:nvSpPr>
          <p:spPr bwMode="auto">
            <a:xfrm>
              <a:off x="1363" y="1673"/>
              <a:ext cx="409" cy="52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400" b="1"/>
            </a:p>
          </p:txBody>
        </p:sp>
        <p:sp>
          <p:nvSpPr>
            <p:cNvPr id="49194" name="Line 8"/>
            <p:cNvSpPr>
              <a:spLocks noChangeAspect="1" noChangeShapeType="1"/>
            </p:cNvSpPr>
            <p:nvPr/>
          </p:nvSpPr>
          <p:spPr bwMode="auto">
            <a:xfrm flipH="1">
              <a:off x="1219" y="1769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5" name="Line 9"/>
            <p:cNvSpPr>
              <a:spLocks noChangeAspect="1" noChangeShapeType="1"/>
            </p:cNvSpPr>
            <p:nvPr/>
          </p:nvSpPr>
          <p:spPr bwMode="auto">
            <a:xfrm>
              <a:off x="1363" y="1987"/>
              <a:ext cx="9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6" name="Line 10"/>
            <p:cNvSpPr>
              <a:spLocks noChangeAspect="1" noChangeShapeType="1"/>
            </p:cNvSpPr>
            <p:nvPr/>
          </p:nvSpPr>
          <p:spPr bwMode="auto">
            <a:xfrm flipV="1">
              <a:off x="1363" y="2011"/>
              <a:ext cx="9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7" name="Line 11"/>
            <p:cNvSpPr>
              <a:spLocks noChangeAspect="1" noChangeShapeType="1"/>
            </p:cNvSpPr>
            <p:nvPr/>
          </p:nvSpPr>
          <p:spPr bwMode="auto">
            <a:xfrm flipH="1">
              <a:off x="1218" y="2009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8" name="Oval 13"/>
            <p:cNvSpPr>
              <a:spLocks noChangeAspect="1" noChangeArrowheads="1"/>
            </p:cNvSpPr>
            <p:nvPr/>
          </p:nvSpPr>
          <p:spPr bwMode="auto">
            <a:xfrm>
              <a:off x="1532" y="1625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9199" name="Oval 14"/>
            <p:cNvSpPr>
              <a:spLocks noChangeAspect="1" noChangeArrowheads="1"/>
            </p:cNvSpPr>
            <p:nvPr/>
          </p:nvSpPr>
          <p:spPr bwMode="auto">
            <a:xfrm>
              <a:off x="1532" y="2202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9200" name="Text Box 23"/>
            <p:cNvSpPr txBox="1">
              <a:spLocks noChangeArrowheads="1"/>
            </p:cNvSpPr>
            <p:nvPr/>
          </p:nvSpPr>
          <p:spPr bwMode="auto">
            <a:xfrm>
              <a:off x="1475" y="1652"/>
              <a:ext cx="15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S</a:t>
              </a:r>
            </a:p>
          </p:txBody>
        </p:sp>
        <p:sp>
          <p:nvSpPr>
            <p:cNvPr id="49201" name="Text Box 24"/>
            <p:cNvSpPr txBox="1">
              <a:spLocks noChangeArrowheads="1"/>
            </p:cNvSpPr>
            <p:nvPr/>
          </p:nvSpPr>
          <p:spPr bwMode="auto">
            <a:xfrm>
              <a:off x="1474" y="2090"/>
              <a:ext cx="16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R</a:t>
              </a:r>
            </a:p>
          </p:txBody>
        </p:sp>
        <p:sp>
          <p:nvSpPr>
            <p:cNvPr id="49202" name="Text Box 25"/>
            <p:cNvSpPr txBox="1">
              <a:spLocks noChangeArrowheads="1"/>
            </p:cNvSpPr>
            <p:nvPr/>
          </p:nvSpPr>
          <p:spPr bwMode="auto">
            <a:xfrm>
              <a:off x="1335" y="1703"/>
              <a:ext cx="16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</a:t>
              </a:r>
            </a:p>
          </p:txBody>
        </p:sp>
        <p:sp>
          <p:nvSpPr>
            <p:cNvPr id="49203" name="Text Box 26"/>
            <p:cNvSpPr txBox="1">
              <a:spLocks noChangeArrowheads="1"/>
            </p:cNvSpPr>
            <p:nvPr/>
          </p:nvSpPr>
          <p:spPr bwMode="auto">
            <a:xfrm>
              <a:off x="1409" y="1969"/>
              <a:ext cx="24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800" b="1"/>
                <a:t>CLK</a:t>
              </a:r>
            </a:p>
          </p:txBody>
        </p:sp>
        <p:sp>
          <p:nvSpPr>
            <p:cNvPr id="49204" name="Text Box 27"/>
            <p:cNvSpPr txBox="1">
              <a:spLocks noChangeArrowheads="1"/>
            </p:cNvSpPr>
            <p:nvPr/>
          </p:nvSpPr>
          <p:spPr bwMode="auto">
            <a:xfrm>
              <a:off x="1631" y="1742"/>
              <a:ext cx="16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Q</a:t>
              </a:r>
            </a:p>
          </p:txBody>
        </p:sp>
        <p:grpSp>
          <p:nvGrpSpPr>
            <p:cNvPr id="49205" name="Group 30"/>
            <p:cNvGrpSpPr>
              <a:grpSpLocks/>
            </p:cNvGrpSpPr>
            <p:nvPr/>
          </p:nvGrpSpPr>
          <p:grpSpPr bwMode="auto">
            <a:xfrm>
              <a:off x="1629" y="1978"/>
              <a:ext cx="166" cy="135"/>
              <a:chOff x="2164" y="1975"/>
              <a:chExt cx="166" cy="135"/>
            </a:xfrm>
          </p:grpSpPr>
          <p:sp>
            <p:nvSpPr>
              <p:cNvPr id="49213" name="Text Box 28"/>
              <p:cNvSpPr txBox="1">
                <a:spLocks noChangeArrowheads="1"/>
              </p:cNvSpPr>
              <p:nvPr/>
            </p:nvSpPr>
            <p:spPr bwMode="auto">
              <a:xfrm>
                <a:off x="2164" y="1975"/>
                <a:ext cx="16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Q</a:t>
                </a:r>
              </a:p>
            </p:txBody>
          </p:sp>
          <p:sp>
            <p:nvSpPr>
              <p:cNvPr id="49214" name="Line 29"/>
              <p:cNvSpPr>
                <a:spLocks noChangeShapeType="1"/>
              </p:cNvSpPr>
              <p:nvPr/>
            </p:nvSpPr>
            <p:spPr bwMode="auto">
              <a:xfrm>
                <a:off x="2214" y="2003"/>
                <a:ext cx="5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9206" name="Line 34"/>
            <p:cNvSpPr>
              <a:spLocks noChangeShapeType="1"/>
            </p:cNvSpPr>
            <p:nvPr/>
          </p:nvSpPr>
          <p:spPr bwMode="auto">
            <a:xfrm>
              <a:off x="1229" y="2031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7" name="Oval 79"/>
            <p:cNvSpPr>
              <a:spLocks noChangeArrowheads="1"/>
            </p:cNvSpPr>
            <p:nvPr/>
          </p:nvSpPr>
          <p:spPr bwMode="auto">
            <a:xfrm>
              <a:off x="1891" y="198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9208" name="Freeform 82"/>
            <p:cNvSpPr>
              <a:spLocks/>
            </p:cNvSpPr>
            <p:nvPr/>
          </p:nvSpPr>
          <p:spPr bwMode="auto">
            <a:xfrm>
              <a:off x="1769" y="1337"/>
              <a:ext cx="144" cy="480"/>
            </a:xfrm>
            <a:custGeom>
              <a:avLst/>
              <a:gdLst>
                <a:gd name="T0" fmla="*/ 0 w 144"/>
                <a:gd name="T1" fmla="*/ 480 h 480"/>
                <a:gd name="T2" fmla="*/ 144 w 144"/>
                <a:gd name="T3" fmla="*/ 480 h 480"/>
                <a:gd name="T4" fmla="*/ 144 w 144"/>
                <a:gd name="T5" fmla="*/ 0 h 480"/>
                <a:gd name="T6" fmla="*/ 0 60000 65536"/>
                <a:gd name="T7" fmla="*/ 0 60000 65536"/>
                <a:gd name="T8" fmla="*/ 0 60000 65536"/>
                <a:gd name="T9" fmla="*/ 0 w 144"/>
                <a:gd name="T10" fmla="*/ 0 h 480"/>
                <a:gd name="T11" fmla="*/ 144 w 144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9" name="Text Box 122"/>
            <p:cNvSpPr txBox="1">
              <a:spLocks noChangeArrowheads="1"/>
            </p:cNvSpPr>
            <p:nvPr/>
          </p:nvSpPr>
          <p:spPr bwMode="auto">
            <a:xfrm>
              <a:off x="1780" y="1087"/>
              <a:ext cx="24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400" b="1"/>
                <a:t>Q</a:t>
              </a:r>
              <a:r>
                <a:rPr lang="en-US" sz="1400" b="1" baseline="-25000"/>
                <a:t>0</a:t>
              </a:r>
              <a:endParaRPr lang="en-US" sz="1400" b="1"/>
            </a:p>
          </p:txBody>
        </p:sp>
        <p:sp>
          <p:nvSpPr>
            <p:cNvPr id="49210" name="Line 127"/>
            <p:cNvSpPr>
              <a:spLocks noChangeShapeType="1"/>
            </p:cNvSpPr>
            <p:nvPr/>
          </p:nvSpPr>
          <p:spPr bwMode="auto">
            <a:xfrm flipV="1">
              <a:off x="1556" y="1479"/>
              <a:ext cx="0" cy="1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1" name="Oval 132"/>
            <p:cNvSpPr>
              <a:spLocks noChangeArrowheads="1"/>
            </p:cNvSpPr>
            <p:nvPr/>
          </p:nvSpPr>
          <p:spPr bwMode="auto">
            <a:xfrm>
              <a:off x="1533" y="144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49212" name="Line 139"/>
            <p:cNvSpPr>
              <a:spLocks noChangeShapeType="1"/>
            </p:cNvSpPr>
            <p:nvPr/>
          </p:nvSpPr>
          <p:spPr bwMode="auto">
            <a:xfrm>
              <a:off x="1555" y="2259"/>
              <a:ext cx="0" cy="1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187" name="Line 140"/>
          <p:cNvSpPr>
            <a:spLocks noChangeShapeType="1"/>
          </p:cNvSpPr>
          <p:nvPr/>
        </p:nvSpPr>
        <p:spPr bwMode="auto">
          <a:xfrm>
            <a:off x="4378325" y="3586163"/>
            <a:ext cx="0" cy="214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88" name="Line 141"/>
          <p:cNvSpPr>
            <a:spLocks noChangeShapeType="1"/>
          </p:cNvSpPr>
          <p:nvPr/>
        </p:nvSpPr>
        <p:spPr bwMode="auto">
          <a:xfrm>
            <a:off x="6145213" y="3567113"/>
            <a:ext cx="0" cy="2349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89" name="Text Box 142"/>
          <p:cNvSpPr txBox="1">
            <a:spLocks noChangeArrowheads="1"/>
          </p:cNvSpPr>
          <p:nvPr/>
        </p:nvSpPr>
        <p:spPr bwMode="auto">
          <a:xfrm>
            <a:off x="1131888" y="4510088"/>
            <a:ext cx="7288212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buClr>
                <a:srgbClr val="0033CC"/>
              </a:buClr>
              <a:buFontTx/>
              <a:buChar char="•"/>
            </a:pPr>
            <a:r>
              <a:rPr lang="en-US" sz="1600" b="1"/>
              <a:t> Each “D” FF divides the incoming clock frequency by 2X</a:t>
            </a:r>
          </a:p>
          <a:p>
            <a:pPr eaLnBrk="1" hangingPunct="1">
              <a:buClr>
                <a:srgbClr val="0033CC"/>
              </a:buClr>
              <a:buFontTx/>
              <a:buChar char="•"/>
            </a:pPr>
            <a:r>
              <a:rPr lang="en-US" sz="1600" b="1"/>
              <a:t> RESET sets all Q output to 0 without a clock signal (asynchronous)</a:t>
            </a:r>
          </a:p>
          <a:p>
            <a:pPr eaLnBrk="1" hangingPunct="1">
              <a:buClr>
                <a:srgbClr val="0033CC"/>
              </a:buClr>
              <a:buFontTx/>
              <a:buChar char="•"/>
            </a:pPr>
            <a:r>
              <a:rPr lang="en-US" sz="1600" b="1"/>
              <a:t> Counts as fast as the first stage can toggle, but cannot be read until the count has rippled through to the last stage  </a:t>
            </a:r>
          </a:p>
          <a:p>
            <a:pPr eaLnBrk="1" hangingPunct="1">
              <a:buClr>
                <a:srgbClr val="0033CC"/>
              </a:buClr>
              <a:buFontTx/>
              <a:buChar char="•"/>
            </a:pPr>
            <a:r>
              <a:rPr lang="en-US" sz="1600" b="1"/>
              <a:t> Can build counter/dividers of any length, any binary divisor</a:t>
            </a:r>
          </a:p>
          <a:p>
            <a:pPr lvl="1" eaLnBrk="1" hangingPunct="1">
              <a:buClr>
                <a:srgbClr val="0033CC"/>
              </a:buClr>
              <a:buFontTx/>
              <a:buChar char="•"/>
            </a:pPr>
            <a:r>
              <a:rPr lang="en-US" sz="1600" b="1"/>
              <a:t> Clock frequency at output Q</a:t>
            </a:r>
            <a:r>
              <a:rPr lang="en-US" sz="1600" b="1" baseline="-25000"/>
              <a:t>3 </a:t>
            </a:r>
            <a:r>
              <a:rPr lang="en-US" sz="1600" b="1"/>
              <a:t>equals f</a:t>
            </a:r>
            <a:r>
              <a:rPr lang="en-US" sz="1600" b="1" baseline="-25000"/>
              <a:t>Clock in </a:t>
            </a:r>
            <a:r>
              <a:rPr lang="en-US" sz="1600" b="1"/>
              <a:t>÷  16</a:t>
            </a:r>
          </a:p>
        </p:txBody>
      </p:sp>
      <p:sp>
        <p:nvSpPr>
          <p:cNvPr id="49190" name="Oval 27"/>
          <p:cNvSpPr>
            <a:spLocks noChangeArrowheads="1"/>
          </p:cNvSpPr>
          <p:nvPr/>
        </p:nvSpPr>
        <p:spPr bwMode="auto">
          <a:xfrm>
            <a:off x="2441575" y="376713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49191" name="Oval 28"/>
          <p:cNvSpPr>
            <a:spLocks noChangeArrowheads="1"/>
          </p:cNvSpPr>
          <p:nvPr/>
        </p:nvSpPr>
        <p:spPr bwMode="auto">
          <a:xfrm>
            <a:off x="4321175" y="375443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49192" name="Oval 29"/>
          <p:cNvSpPr>
            <a:spLocks noChangeArrowheads="1"/>
          </p:cNvSpPr>
          <p:nvPr/>
        </p:nvSpPr>
        <p:spPr bwMode="auto">
          <a:xfrm>
            <a:off x="6111875" y="374173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</p:spTree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reeform 91"/>
          <p:cNvSpPr>
            <a:spLocks/>
          </p:cNvSpPr>
          <p:nvPr/>
        </p:nvSpPr>
        <p:spPr bwMode="auto">
          <a:xfrm>
            <a:off x="7288213" y="2039938"/>
            <a:ext cx="228600" cy="762000"/>
          </a:xfrm>
          <a:custGeom>
            <a:avLst/>
            <a:gdLst>
              <a:gd name="T0" fmla="*/ 0 w 144"/>
              <a:gd name="T1" fmla="*/ 2147483647 h 480"/>
              <a:gd name="T2" fmla="*/ 2147483647 w 144"/>
              <a:gd name="T3" fmla="*/ 2147483647 h 480"/>
              <a:gd name="T4" fmla="*/ 2147483647 w 144"/>
              <a:gd name="T5" fmla="*/ 0 h 480"/>
              <a:gd name="T6" fmla="*/ 0 60000 65536"/>
              <a:gd name="T7" fmla="*/ 0 60000 65536"/>
              <a:gd name="T8" fmla="*/ 0 60000 65536"/>
              <a:gd name="T9" fmla="*/ 0 w 144"/>
              <a:gd name="T10" fmla="*/ 0 h 480"/>
              <a:gd name="T11" fmla="*/ 144 w 144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480">
                <a:moveTo>
                  <a:pt x="0" y="480"/>
                </a:moveTo>
                <a:lnTo>
                  <a:pt x="144" y="480"/>
                </a:lnTo>
                <a:lnTo>
                  <a:pt x="144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3" name="Line 105"/>
          <p:cNvSpPr>
            <a:spLocks noChangeShapeType="1"/>
          </p:cNvSpPr>
          <p:nvPr/>
        </p:nvSpPr>
        <p:spPr bwMode="auto">
          <a:xfrm flipH="1">
            <a:off x="1989138" y="2241550"/>
            <a:ext cx="4945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“D” FF as a shift register</a:t>
            </a:r>
          </a:p>
        </p:txBody>
      </p:sp>
      <p:sp>
        <p:nvSpPr>
          <p:cNvPr id="51205" name="Rectangle 4"/>
          <p:cNvSpPr>
            <a:spLocks noChangeAspect="1" noChangeArrowheads="1"/>
          </p:cNvSpPr>
          <p:nvPr/>
        </p:nvSpPr>
        <p:spPr bwMode="auto">
          <a:xfrm>
            <a:off x="3316288" y="2565400"/>
            <a:ext cx="649287" cy="839788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400" b="1"/>
          </a:p>
        </p:txBody>
      </p:sp>
      <p:sp>
        <p:nvSpPr>
          <p:cNvPr id="51206" name="Line 5"/>
          <p:cNvSpPr>
            <a:spLocks noChangeAspect="1" noChangeShapeType="1"/>
          </p:cNvSpPr>
          <p:nvPr/>
        </p:nvSpPr>
        <p:spPr bwMode="auto">
          <a:xfrm flipH="1">
            <a:off x="3097213" y="2798763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7" name="Line 6"/>
          <p:cNvSpPr>
            <a:spLocks noChangeAspect="1" noChangeShapeType="1"/>
          </p:cNvSpPr>
          <p:nvPr/>
        </p:nvSpPr>
        <p:spPr bwMode="auto">
          <a:xfrm>
            <a:off x="3316288" y="3063875"/>
            <a:ext cx="152400" cy="38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8" name="Line 7"/>
          <p:cNvSpPr>
            <a:spLocks noChangeAspect="1" noChangeShapeType="1"/>
          </p:cNvSpPr>
          <p:nvPr/>
        </p:nvSpPr>
        <p:spPr bwMode="auto">
          <a:xfrm flipV="1">
            <a:off x="3316288" y="3101975"/>
            <a:ext cx="152400" cy="38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9" name="Line 8"/>
          <p:cNvSpPr>
            <a:spLocks noChangeAspect="1" noChangeShapeType="1"/>
          </p:cNvSpPr>
          <p:nvPr/>
        </p:nvSpPr>
        <p:spPr bwMode="auto">
          <a:xfrm flipH="1">
            <a:off x="3086100" y="30988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0" name="Oval 9"/>
          <p:cNvSpPr>
            <a:spLocks noChangeAspect="1" noChangeArrowheads="1"/>
          </p:cNvSpPr>
          <p:nvPr/>
        </p:nvSpPr>
        <p:spPr bwMode="auto">
          <a:xfrm>
            <a:off x="3584575" y="2489200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1211" name="Oval 10"/>
          <p:cNvSpPr>
            <a:spLocks noChangeAspect="1" noChangeArrowheads="1"/>
          </p:cNvSpPr>
          <p:nvPr/>
        </p:nvSpPr>
        <p:spPr bwMode="auto">
          <a:xfrm>
            <a:off x="3584575" y="3405188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1212" name="Text Box 11"/>
          <p:cNvSpPr txBox="1">
            <a:spLocks noChangeArrowheads="1"/>
          </p:cNvSpPr>
          <p:nvPr/>
        </p:nvSpPr>
        <p:spPr bwMode="auto">
          <a:xfrm>
            <a:off x="3494088" y="2532063"/>
            <a:ext cx="252412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800" b="1"/>
              <a:t>S</a:t>
            </a:r>
          </a:p>
        </p:txBody>
      </p:sp>
      <p:sp>
        <p:nvSpPr>
          <p:cNvPr id="51213" name="Text Box 12"/>
          <p:cNvSpPr txBox="1">
            <a:spLocks noChangeArrowheads="1"/>
          </p:cNvSpPr>
          <p:nvPr/>
        </p:nvSpPr>
        <p:spPr bwMode="auto">
          <a:xfrm>
            <a:off x="3492500" y="3227388"/>
            <a:ext cx="25717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800" b="1"/>
              <a:t>R</a:t>
            </a:r>
          </a:p>
        </p:txBody>
      </p:sp>
      <p:sp>
        <p:nvSpPr>
          <p:cNvPr id="51214" name="Text Box 13"/>
          <p:cNvSpPr txBox="1">
            <a:spLocks noChangeArrowheads="1"/>
          </p:cNvSpPr>
          <p:nvPr/>
        </p:nvSpPr>
        <p:spPr bwMode="auto">
          <a:xfrm>
            <a:off x="3282950" y="2684463"/>
            <a:ext cx="25717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800" b="1"/>
              <a:t>D</a:t>
            </a:r>
          </a:p>
        </p:txBody>
      </p:sp>
      <p:sp>
        <p:nvSpPr>
          <p:cNvPr id="51215" name="Text Box 14"/>
          <p:cNvSpPr txBox="1">
            <a:spLocks noChangeArrowheads="1"/>
          </p:cNvSpPr>
          <p:nvPr/>
        </p:nvSpPr>
        <p:spPr bwMode="auto">
          <a:xfrm>
            <a:off x="3389313" y="3035300"/>
            <a:ext cx="392112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800" b="1"/>
              <a:t>CLK</a:t>
            </a:r>
          </a:p>
        </p:txBody>
      </p:sp>
      <p:sp>
        <p:nvSpPr>
          <p:cNvPr id="51216" name="Text Box 15"/>
          <p:cNvSpPr txBox="1">
            <a:spLocks noChangeArrowheads="1"/>
          </p:cNvSpPr>
          <p:nvPr/>
        </p:nvSpPr>
        <p:spPr bwMode="auto">
          <a:xfrm>
            <a:off x="3741738" y="2674938"/>
            <a:ext cx="2635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800" b="1"/>
              <a:t>Q</a:t>
            </a:r>
          </a:p>
        </p:txBody>
      </p:sp>
      <p:grpSp>
        <p:nvGrpSpPr>
          <p:cNvPr id="51217" name="Group 16"/>
          <p:cNvGrpSpPr>
            <a:grpSpLocks/>
          </p:cNvGrpSpPr>
          <p:nvPr/>
        </p:nvGrpSpPr>
        <p:grpSpPr bwMode="auto">
          <a:xfrm>
            <a:off x="3738563" y="3049588"/>
            <a:ext cx="263525" cy="214312"/>
            <a:chOff x="2164" y="1975"/>
            <a:chExt cx="166" cy="135"/>
          </a:xfrm>
        </p:grpSpPr>
        <p:sp>
          <p:nvSpPr>
            <p:cNvPr id="51313" name="Text Box 17"/>
            <p:cNvSpPr txBox="1">
              <a:spLocks noChangeArrowheads="1"/>
            </p:cNvSpPr>
            <p:nvPr/>
          </p:nvSpPr>
          <p:spPr bwMode="auto">
            <a:xfrm>
              <a:off x="2164" y="1975"/>
              <a:ext cx="16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Q</a:t>
              </a:r>
            </a:p>
          </p:txBody>
        </p:sp>
        <p:sp>
          <p:nvSpPr>
            <p:cNvPr id="51314" name="Line 18"/>
            <p:cNvSpPr>
              <a:spLocks noChangeShapeType="1"/>
            </p:cNvSpPr>
            <p:nvPr/>
          </p:nvSpPr>
          <p:spPr bwMode="auto">
            <a:xfrm>
              <a:off x="2214" y="2003"/>
              <a:ext cx="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18" name="Line 19"/>
          <p:cNvSpPr>
            <a:spLocks noChangeShapeType="1"/>
          </p:cNvSpPr>
          <p:nvPr/>
        </p:nvSpPr>
        <p:spPr bwMode="auto">
          <a:xfrm>
            <a:off x="3103563" y="3133725"/>
            <a:ext cx="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9" name="Oval 20"/>
          <p:cNvSpPr>
            <a:spLocks noChangeArrowheads="1"/>
          </p:cNvSpPr>
          <p:nvPr/>
        </p:nvSpPr>
        <p:spPr bwMode="auto">
          <a:xfrm>
            <a:off x="4146550" y="27527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1220" name="Freeform 21"/>
          <p:cNvSpPr>
            <a:spLocks/>
          </p:cNvSpPr>
          <p:nvPr/>
        </p:nvSpPr>
        <p:spPr bwMode="auto">
          <a:xfrm>
            <a:off x="3970338" y="2032000"/>
            <a:ext cx="228600" cy="762000"/>
          </a:xfrm>
          <a:custGeom>
            <a:avLst/>
            <a:gdLst>
              <a:gd name="T0" fmla="*/ 0 w 144"/>
              <a:gd name="T1" fmla="*/ 2147483647 h 480"/>
              <a:gd name="T2" fmla="*/ 2147483647 w 144"/>
              <a:gd name="T3" fmla="*/ 2147483647 h 480"/>
              <a:gd name="T4" fmla="*/ 2147483647 w 144"/>
              <a:gd name="T5" fmla="*/ 0 h 480"/>
              <a:gd name="T6" fmla="*/ 0 60000 65536"/>
              <a:gd name="T7" fmla="*/ 0 60000 65536"/>
              <a:gd name="T8" fmla="*/ 0 60000 65536"/>
              <a:gd name="T9" fmla="*/ 0 w 144"/>
              <a:gd name="T10" fmla="*/ 0 h 480"/>
              <a:gd name="T11" fmla="*/ 144 w 144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480">
                <a:moveTo>
                  <a:pt x="0" y="480"/>
                </a:moveTo>
                <a:lnTo>
                  <a:pt x="144" y="480"/>
                </a:lnTo>
                <a:lnTo>
                  <a:pt x="144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1" name="Text Box 22"/>
          <p:cNvSpPr txBox="1">
            <a:spLocks noChangeArrowheads="1"/>
          </p:cNvSpPr>
          <p:nvPr/>
        </p:nvSpPr>
        <p:spPr bwMode="auto">
          <a:xfrm>
            <a:off x="3978275" y="1635125"/>
            <a:ext cx="385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Q</a:t>
            </a:r>
            <a:r>
              <a:rPr lang="en-US" sz="1400" b="1" baseline="-25000"/>
              <a:t>0</a:t>
            </a:r>
            <a:endParaRPr lang="en-US" sz="1400" b="1"/>
          </a:p>
        </p:txBody>
      </p:sp>
      <p:sp>
        <p:nvSpPr>
          <p:cNvPr id="51222" name="Line 23"/>
          <p:cNvSpPr>
            <a:spLocks noChangeShapeType="1"/>
          </p:cNvSpPr>
          <p:nvPr/>
        </p:nvSpPr>
        <p:spPr bwMode="auto">
          <a:xfrm flipV="1">
            <a:off x="3622675" y="2249488"/>
            <a:ext cx="0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3" name="Oval 24"/>
          <p:cNvSpPr>
            <a:spLocks noChangeArrowheads="1"/>
          </p:cNvSpPr>
          <p:nvPr/>
        </p:nvSpPr>
        <p:spPr bwMode="auto">
          <a:xfrm>
            <a:off x="3586163" y="2205038"/>
            <a:ext cx="74612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1224" name="Line 25"/>
          <p:cNvSpPr>
            <a:spLocks noChangeShapeType="1"/>
          </p:cNvSpPr>
          <p:nvPr/>
        </p:nvSpPr>
        <p:spPr bwMode="auto">
          <a:xfrm>
            <a:off x="3621088" y="3495675"/>
            <a:ext cx="0" cy="2143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1225" name="Group 27"/>
          <p:cNvGrpSpPr>
            <a:grpSpLocks/>
          </p:cNvGrpSpPr>
          <p:nvPr/>
        </p:nvGrpSpPr>
        <p:grpSpPr bwMode="auto">
          <a:xfrm>
            <a:off x="4179888" y="1644650"/>
            <a:ext cx="1277937" cy="2074863"/>
            <a:chOff x="1218" y="1087"/>
            <a:chExt cx="805" cy="1307"/>
          </a:xfrm>
        </p:grpSpPr>
        <p:sp>
          <p:nvSpPr>
            <p:cNvPr id="51291" name="Rectangle 28"/>
            <p:cNvSpPr>
              <a:spLocks noChangeAspect="1" noChangeArrowheads="1"/>
            </p:cNvSpPr>
            <p:nvPr/>
          </p:nvSpPr>
          <p:spPr bwMode="auto">
            <a:xfrm>
              <a:off x="1363" y="1673"/>
              <a:ext cx="409" cy="52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400" b="1"/>
            </a:p>
          </p:txBody>
        </p:sp>
        <p:sp>
          <p:nvSpPr>
            <p:cNvPr id="51292" name="Line 29"/>
            <p:cNvSpPr>
              <a:spLocks noChangeAspect="1" noChangeShapeType="1"/>
            </p:cNvSpPr>
            <p:nvPr/>
          </p:nvSpPr>
          <p:spPr bwMode="auto">
            <a:xfrm flipH="1">
              <a:off x="1225" y="182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93" name="Line 30"/>
            <p:cNvSpPr>
              <a:spLocks noChangeAspect="1" noChangeShapeType="1"/>
            </p:cNvSpPr>
            <p:nvPr/>
          </p:nvSpPr>
          <p:spPr bwMode="auto">
            <a:xfrm>
              <a:off x="1363" y="1987"/>
              <a:ext cx="9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94" name="Line 31"/>
            <p:cNvSpPr>
              <a:spLocks noChangeAspect="1" noChangeShapeType="1"/>
            </p:cNvSpPr>
            <p:nvPr/>
          </p:nvSpPr>
          <p:spPr bwMode="auto">
            <a:xfrm flipV="1">
              <a:off x="1363" y="2011"/>
              <a:ext cx="9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95" name="Line 32"/>
            <p:cNvSpPr>
              <a:spLocks noChangeAspect="1" noChangeShapeType="1"/>
            </p:cNvSpPr>
            <p:nvPr/>
          </p:nvSpPr>
          <p:spPr bwMode="auto">
            <a:xfrm flipH="1">
              <a:off x="1218" y="2009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96" name="Oval 33"/>
            <p:cNvSpPr>
              <a:spLocks noChangeAspect="1" noChangeArrowheads="1"/>
            </p:cNvSpPr>
            <p:nvPr/>
          </p:nvSpPr>
          <p:spPr bwMode="auto">
            <a:xfrm>
              <a:off x="1532" y="1625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1297" name="Oval 34"/>
            <p:cNvSpPr>
              <a:spLocks noChangeAspect="1" noChangeArrowheads="1"/>
            </p:cNvSpPr>
            <p:nvPr/>
          </p:nvSpPr>
          <p:spPr bwMode="auto">
            <a:xfrm>
              <a:off x="1532" y="2202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1298" name="Text Box 35"/>
            <p:cNvSpPr txBox="1">
              <a:spLocks noChangeArrowheads="1"/>
            </p:cNvSpPr>
            <p:nvPr/>
          </p:nvSpPr>
          <p:spPr bwMode="auto">
            <a:xfrm>
              <a:off x="1475" y="1652"/>
              <a:ext cx="15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S</a:t>
              </a:r>
            </a:p>
          </p:txBody>
        </p:sp>
        <p:sp>
          <p:nvSpPr>
            <p:cNvPr id="51299" name="Text Box 36"/>
            <p:cNvSpPr txBox="1">
              <a:spLocks noChangeArrowheads="1"/>
            </p:cNvSpPr>
            <p:nvPr/>
          </p:nvSpPr>
          <p:spPr bwMode="auto">
            <a:xfrm>
              <a:off x="1474" y="2090"/>
              <a:ext cx="16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R</a:t>
              </a:r>
            </a:p>
          </p:txBody>
        </p:sp>
        <p:sp>
          <p:nvSpPr>
            <p:cNvPr id="51300" name="Text Box 37"/>
            <p:cNvSpPr txBox="1">
              <a:spLocks noChangeArrowheads="1"/>
            </p:cNvSpPr>
            <p:nvPr/>
          </p:nvSpPr>
          <p:spPr bwMode="auto">
            <a:xfrm>
              <a:off x="1342" y="1748"/>
              <a:ext cx="16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</a:t>
              </a:r>
            </a:p>
          </p:txBody>
        </p:sp>
        <p:sp>
          <p:nvSpPr>
            <p:cNvPr id="51301" name="Text Box 38"/>
            <p:cNvSpPr txBox="1">
              <a:spLocks noChangeArrowheads="1"/>
            </p:cNvSpPr>
            <p:nvPr/>
          </p:nvSpPr>
          <p:spPr bwMode="auto">
            <a:xfrm>
              <a:off x="1409" y="1969"/>
              <a:ext cx="24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800" b="1"/>
                <a:t>CLK</a:t>
              </a:r>
            </a:p>
          </p:txBody>
        </p:sp>
        <p:sp>
          <p:nvSpPr>
            <p:cNvPr id="51302" name="Text Box 39"/>
            <p:cNvSpPr txBox="1">
              <a:spLocks noChangeArrowheads="1"/>
            </p:cNvSpPr>
            <p:nvPr/>
          </p:nvSpPr>
          <p:spPr bwMode="auto">
            <a:xfrm>
              <a:off x="1631" y="1742"/>
              <a:ext cx="16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Q</a:t>
              </a:r>
            </a:p>
          </p:txBody>
        </p:sp>
        <p:grpSp>
          <p:nvGrpSpPr>
            <p:cNvPr id="51303" name="Group 40"/>
            <p:cNvGrpSpPr>
              <a:grpSpLocks/>
            </p:cNvGrpSpPr>
            <p:nvPr/>
          </p:nvGrpSpPr>
          <p:grpSpPr bwMode="auto">
            <a:xfrm>
              <a:off x="1629" y="1978"/>
              <a:ext cx="166" cy="135"/>
              <a:chOff x="2164" y="1975"/>
              <a:chExt cx="166" cy="135"/>
            </a:xfrm>
          </p:grpSpPr>
          <p:sp>
            <p:nvSpPr>
              <p:cNvPr id="51311" name="Text Box 41"/>
              <p:cNvSpPr txBox="1">
                <a:spLocks noChangeArrowheads="1"/>
              </p:cNvSpPr>
              <p:nvPr/>
            </p:nvSpPr>
            <p:spPr bwMode="auto">
              <a:xfrm>
                <a:off x="2164" y="1975"/>
                <a:ext cx="16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Q</a:t>
                </a:r>
              </a:p>
            </p:txBody>
          </p:sp>
          <p:sp>
            <p:nvSpPr>
              <p:cNvPr id="51312" name="Line 42"/>
              <p:cNvSpPr>
                <a:spLocks noChangeShapeType="1"/>
              </p:cNvSpPr>
              <p:nvPr/>
            </p:nvSpPr>
            <p:spPr bwMode="auto">
              <a:xfrm>
                <a:off x="2214" y="2003"/>
                <a:ext cx="5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1304" name="Line 43"/>
            <p:cNvSpPr>
              <a:spLocks noChangeShapeType="1"/>
            </p:cNvSpPr>
            <p:nvPr/>
          </p:nvSpPr>
          <p:spPr bwMode="auto">
            <a:xfrm>
              <a:off x="1229" y="2031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05" name="Oval 44"/>
            <p:cNvSpPr>
              <a:spLocks noChangeArrowheads="1"/>
            </p:cNvSpPr>
            <p:nvPr/>
          </p:nvSpPr>
          <p:spPr bwMode="auto">
            <a:xfrm>
              <a:off x="1886" y="1791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1306" name="Freeform 45"/>
            <p:cNvSpPr>
              <a:spLocks/>
            </p:cNvSpPr>
            <p:nvPr/>
          </p:nvSpPr>
          <p:spPr bwMode="auto">
            <a:xfrm>
              <a:off x="1775" y="1337"/>
              <a:ext cx="144" cy="480"/>
            </a:xfrm>
            <a:custGeom>
              <a:avLst/>
              <a:gdLst>
                <a:gd name="T0" fmla="*/ 0 w 144"/>
                <a:gd name="T1" fmla="*/ 480 h 480"/>
                <a:gd name="T2" fmla="*/ 144 w 144"/>
                <a:gd name="T3" fmla="*/ 480 h 480"/>
                <a:gd name="T4" fmla="*/ 144 w 144"/>
                <a:gd name="T5" fmla="*/ 0 h 480"/>
                <a:gd name="T6" fmla="*/ 0 60000 65536"/>
                <a:gd name="T7" fmla="*/ 0 60000 65536"/>
                <a:gd name="T8" fmla="*/ 0 60000 65536"/>
                <a:gd name="T9" fmla="*/ 0 w 144"/>
                <a:gd name="T10" fmla="*/ 0 h 480"/>
                <a:gd name="T11" fmla="*/ 144 w 144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07" name="Text Box 46"/>
            <p:cNvSpPr txBox="1">
              <a:spLocks noChangeArrowheads="1"/>
            </p:cNvSpPr>
            <p:nvPr/>
          </p:nvSpPr>
          <p:spPr bwMode="auto">
            <a:xfrm>
              <a:off x="1780" y="1087"/>
              <a:ext cx="24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400" b="1"/>
                <a:t>Q</a:t>
              </a:r>
              <a:r>
                <a:rPr lang="en-US" sz="1400" b="1" baseline="-25000"/>
                <a:t>1</a:t>
              </a:r>
              <a:endParaRPr lang="en-US" sz="1400" b="1"/>
            </a:p>
          </p:txBody>
        </p:sp>
        <p:sp>
          <p:nvSpPr>
            <p:cNvPr id="51308" name="Line 47"/>
            <p:cNvSpPr>
              <a:spLocks noChangeShapeType="1"/>
            </p:cNvSpPr>
            <p:nvPr/>
          </p:nvSpPr>
          <p:spPr bwMode="auto">
            <a:xfrm flipV="1">
              <a:off x="1556" y="1479"/>
              <a:ext cx="0" cy="1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09" name="Oval 48"/>
            <p:cNvSpPr>
              <a:spLocks noChangeArrowheads="1"/>
            </p:cNvSpPr>
            <p:nvPr/>
          </p:nvSpPr>
          <p:spPr bwMode="auto">
            <a:xfrm>
              <a:off x="1533" y="144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1310" name="Line 49"/>
            <p:cNvSpPr>
              <a:spLocks noChangeShapeType="1"/>
            </p:cNvSpPr>
            <p:nvPr/>
          </p:nvSpPr>
          <p:spPr bwMode="auto">
            <a:xfrm>
              <a:off x="1555" y="2259"/>
              <a:ext cx="0" cy="1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26" name="Group 50"/>
          <p:cNvGrpSpPr>
            <a:grpSpLocks/>
          </p:cNvGrpSpPr>
          <p:nvPr/>
        </p:nvGrpSpPr>
        <p:grpSpPr bwMode="auto">
          <a:xfrm>
            <a:off x="5295900" y="1643063"/>
            <a:ext cx="1277938" cy="2074862"/>
            <a:chOff x="1218" y="1087"/>
            <a:chExt cx="805" cy="1307"/>
          </a:xfrm>
        </p:grpSpPr>
        <p:sp>
          <p:nvSpPr>
            <p:cNvPr id="51269" name="Rectangle 51"/>
            <p:cNvSpPr>
              <a:spLocks noChangeAspect="1" noChangeArrowheads="1"/>
            </p:cNvSpPr>
            <p:nvPr/>
          </p:nvSpPr>
          <p:spPr bwMode="auto">
            <a:xfrm>
              <a:off x="1363" y="1673"/>
              <a:ext cx="409" cy="52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400" b="1"/>
            </a:p>
          </p:txBody>
        </p:sp>
        <p:sp>
          <p:nvSpPr>
            <p:cNvPr id="51270" name="Line 52"/>
            <p:cNvSpPr>
              <a:spLocks noChangeAspect="1" noChangeShapeType="1"/>
            </p:cNvSpPr>
            <p:nvPr/>
          </p:nvSpPr>
          <p:spPr bwMode="auto">
            <a:xfrm flipH="1">
              <a:off x="1225" y="182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1" name="Line 53"/>
            <p:cNvSpPr>
              <a:spLocks noChangeAspect="1" noChangeShapeType="1"/>
            </p:cNvSpPr>
            <p:nvPr/>
          </p:nvSpPr>
          <p:spPr bwMode="auto">
            <a:xfrm>
              <a:off x="1363" y="1987"/>
              <a:ext cx="9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2" name="Line 54"/>
            <p:cNvSpPr>
              <a:spLocks noChangeAspect="1" noChangeShapeType="1"/>
            </p:cNvSpPr>
            <p:nvPr/>
          </p:nvSpPr>
          <p:spPr bwMode="auto">
            <a:xfrm flipV="1">
              <a:off x="1363" y="2011"/>
              <a:ext cx="9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3" name="Line 55"/>
            <p:cNvSpPr>
              <a:spLocks noChangeAspect="1" noChangeShapeType="1"/>
            </p:cNvSpPr>
            <p:nvPr/>
          </p:nvSpPr>
          <p:spPr bwMode="auto">
            <a:xfrm flipH="1">
              <a:off x="1218" y="2009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4" name="Oval 56"/>
            <p:cNvSpPr>
              <a:spLocks noChangeAspect="1" noChangeArrowheads="1"/>
            </p:cNvSpPr>
            <p:nvPr/>
          </p:nvSpPr>
          <p:spPr bwMode="auto">
            <a:xfrm>
              <a:off x="1532" y="1625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1275" name="Oval 57"/>
            <p:cNvSpPr>
              <a:spLocks noChangeAspect="1" noChangeArrowheads="1"/>
            </p:cNvSpPr>
            <p:nvPr/>
          </p:nvSpPr>
          <p:spPr bwMode="auto">
            <a:xfrm>
              <a:off x="1532" y="2202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1276" name="Text Box 58"/>
            <p:cNvSpPr txBox="1">
              <a:spLocks noChangeArrowheads="1"/>
            </p:cNvSpPr>
            <p:nvPr/>
          </p:nvSpPr>
          <p:spPr bwMode="auto">
            <a:xfrm>
              <a:off x="1475" y="1652"/>
              <a:ext cx="15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S</a:t>
              </a:r>
            </a:p>
          </p:txBody>
        </p:sp>
        <p:sp>
          <p:nvSpPr>
            <p:cNvPr id="51277" name="Text Box 59"/>
            <p:cNvSpPr txBox="1">
              <a:spLocks noChangeArrowheads="1"/>
            </p:cNvSpPr>
            <p:nvPr/>
          </p:nvSpPr>
          <p:spPr bwMode="auto">
            <a:xfrm>
              <a:off x="1474" y="2090"/>
              <a:ext cx="16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R</a:t>
              </a:r>
            </a:p>
          </p:txBody>
        </p:sp>
        <p:sp>
          <p:nvSpPr>
            <p:cNvPr id="51278" name="Text Box 60"/>
            <p:cNvSpPr txBox="1">
              <a:spLocks noChangeArrowheads="1"/>
            </p:cNvSpPr>
            <p:nvPr/>
          </p:nvSpPr>
          <p:spPr bwMode="auto">
            <a:xfrm>
              <a:off x="1342" y="1748"/>
              <a:ext cx="16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</a:t>
              </a:r>
            </a:p>
          </p:txBody>
        </p:sp>
        <p:sp>
          <p:nvSpPr>
            <p:cNvPr id="51279" name="Text Box 61"/>
            <p:cNvSpPr txBox="1">
              <a:spLocks noChangeArrowheads="1"/>
            </p:cNvSpPr>
            <p:nvPr/>
          </p:nvSpPr>
          <p:spPr bwMode="auto">
            <a:xfrm>
              <a:off x="1409" y="1969"/>
              <a:ext cx="24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800" b="1"/>
                <a:t>CLK</a:t>
              </a:r>
            </a:p>
          </p:txBody>
        </p:sp>
        <p:sp>
          <p:nvSpPr>
            <p:cNvPr id="51280" name="Text Box 62"/>
            <p:cNvSpPr txBox="1">
              <a:spLocks noChangeArrowheads="1"/>
            </p:cNvSpPr>
            <p:nvPr/>
          </p:nvSpPr>
          <p:spPr bwMode="auto">
            <a:xfrm>
              <a:off x="1631" y="1742"/>
              <a:ext cx="16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Q</a:t>
              </a:r>
            </a:p>
          </p:txBody>
        </p:sp>
        <p:grpSp>
          <p:nvGrpSpPr>
            <p:cNvPr id="51281" name="Group 63"/>
            <p:cNvGrpSpPr>
              <a:grpSpLocks/>
            </p:cNvGrpSpPr>
            <p:nvPr/>
          </p:nvGrpSpPr>
          <p:grpSpPr bwMode="auto">
            <a:xfrm>
              <a:off x="1629" y="1978"/>
              <a:ext cx="166" cy="135"/>
              <a:chOff x="2164" y="1975"/>
              <a:chExt cx="166" cy="135"/>
            </a:xfrm>
          </p:grpSpPr>
          <p:sp>
            <p:nvSpPr>
              <p:cNvPr id="51289" name="Text Box 64"/>
              <p:cNvSpPr txBox="1">
                <a:spLocks noChangeArrowheads="1"/>
              </p:cNvSpPr>
              <p:nvPr/>
            </p:nvSpPr>
            <p:spPr bwMode="auto">
              <a:xfrm>
                <a:off x="2164" y="1975"/>
                <a:ext cx="16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Q</a:t>
                </a:r>
              </a:p>
            </p:txBody>
          </p:sp>
          <p:sp>
            <p:nvSpPr>
              <p:cNvPr id="51290" name="Line 65"/>
              <p:cNvSpPr>
                <a:spLocks noChangeShapeType="1"/>
              </p:cNvSpPr>
              <p:nvPr/>
            </p:nvSpPr>
            <p:spPr bwMode="auto">
              <a:xfrm>
                <a:off x="2214" y="2003"/>
                <a:ext cx="5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1282" name="Line 66"/>
            <p:cNvSpPr>
              <a:spLocks noChangeShapeType="1"/>
            </p:cNvSpPr>
            <p:nvPr/>
          </p:nvSpPr>
          <p:spPr bwMode="auto">
            <a:xfrm>
              <a:off x="1229" y="2031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83" name="Oval 67"/>
            <p:cNvSpPr>
              <a:spLocks noChangeArrowheads="1"/>
            </p:cNvSpPr>
            <p:nvPr/>
          </p:nvSpPr>
          <p:spPr bwMode="auto">
            <a:xfrm>
              <a:off x="1886" y="1791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1284" name="Freeform 68"/>
            <p:cNvSpPr>
              <a:spLocks/>
            </p:cNvSpPr>
            <p:nvPr/>
          </p:nvSpPr>
          <p:spPr bwMode="auto">
            <a:xfrm>
              <a:off x="1775" y="1337"/>
              <a:ext cx="144" cy="480"/>
            </a:xfrm>
            <a:custGeom>
              <a:avLst/>
              <a:gdLst>
                <a:gd name="T0" fmla="*/ 0 w 144"/>
                <a:gd name="T1" fmla="*/ 480 h 480"/>
                <a:gd name="T2" fmla="*/ 144 w 144"/>
                <a:gd name="T3" fmla="*/ 480 h 480"/>
                <a:gd name="T4" fmla="*/ 144 w 144"/>
                <a:gd name="T5" fmla="*/ 0 h 480"/>
                <a:gd name="T6" fmla="*/ 0 60000 65536"/>
                <a:gd name="T7" fmla="*/ 0 60000 65536"/>
                <a:gd name="T8" fmla="*/ 0 60000 65536"/>
                <a:gd name="T9" fmla="*/ 0 w 144"/>
                <a:gd name="T10" fmla="*/ 0 h 480"/>
                <a:gd name="T11" fmla="*/ 144 w 144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85" name="Text Box 69"/>
            <p:cNvSpPr txBox="1">
              <a:spLocks noChangeArrowheads="1"/>
            </p:cNvSpPr>
            <p:nvPr/>
          </p:nvSpPr>
          <p:spPr bwMode="auto">
            <a:xfrm>
              <a:off x="1780" y="1087"/>
              <a:ext cx="24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400" b="1"/>
                <a:t>Q</a:t>
              </a:r>
              <a:r>
                <a:rPr lang="en-US" sz="1400" b="1" baseline="-25000"/>
                <a:t>2</a:t>
              </a:r>
              <a:endParaRPr lang="en-US" sz="1400" b="1"/>
            </a:p>
          </p:txBody>
        </p:sp>
        <p:sp>
          <p:nvSpPr>
            <p:cNvPr id="51286" name="Line 70"/>
            <p:cNvSpPr>
              <a:spLocks noChangeShapeType="1"/>
            </p:cNvSpPr>
            <p:nvPr/>
          </p:nvSpPr>
          <p:spPr bwMode="auto">
            <a:xfrm flipV="1">
              <a:off x="1556" y="1479"/>
              <a:ext cx="0" cy="1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87" name="Oval 71"/>
            <p:cNvSpPr>
              <a:spLocks noChangeArrowheads="1"/>
            </p:cNvSpPr>
            <p:nvPr/>
          </p:nvSpPr>
          <p:spPr bwMode="auto">
            <a:xfrm>
              <a:off x="1533" y="144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/>
            </a:p>
          </p:txBody>
        </p:sp>
        <p:sp>
          <p:nvSpPr>
            <p:cNvPr id="51288" name="Line 72"/>
            <p:cNvSpPr>
              <a:spLocks noChangeShapeType="1"/>
            </p:cNvSpPr>
            <p:nvPr/>
          </p:nvSpPr>
          <p:spPr bwMode="auto">
            <a:xfrm>
              <a:off x="1555" y="2259"/>
              <a:ext cx="0" cy="1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27" name="Rectangle 74"/>
          <p:cNvSpPr>
            <a:spLocks noChangeAspect="1" noChangeArrowheads="1"/>
          </p:cNvSpPr>
          <p:nvPr/>
        </p:nvSpPr>
        <p:spPr bwMode="auto">
          <a:xfrm>
            <a:off x="6634163" y="2573338"/>
            <a:ext cx="649287" cy="839787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400" b="1"/>
          </a:p>
        </p:txBody>
      </p:sp>
      <p:sp>
        <p:nvSpPr>
          <p:cNvPr id="51228" name="Line 75"/>
          <p:cNvSpPr>
            <a:spLocks noChangeAspect="1" noChangeShapeType="1"/>
          </p:cNvSpPr>
          <p:nvPr/>
        </p:nvSpPr>
        <p:spPr bwMode="auto">
          <a:xfrm flipH="1">
            <a:off x="6415088" y="28067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9" name="Line 76"/>
          <p:cNvSpPr>
            <a:spLocks noChangeAspect="1" noChangeShapeType="1"/>
          </p:cNvSpPr>
          <p:nvPr/>
        </p:nvSpPr>
        <p:spPr bwMode="auto">
          <a:xfrm>
            <a:off x="6634163" y="3071813"/>
            <a:ext cx="152400" cy="38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0" name="Line 77"/>
          <p:cNvSpPr>
            <a:spLocks noChangeAspect="1" noChangeShapeType="1"/>
          </p:cNvSpPr>
          <p:nvPr/>
        </p:nvSpPr>
        <p:spPr bwMode="auto">
          <a:xfrm flipV="1">
            <a:off x="6634163" y="3109913"/>
            <a:ext cx="152400" cy="38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1" name="Line 78"/>
          <p:cNvSpPr>
            <a:spLocks noChangeAspect="1" noChangeShapeType="1"/>
          </p:cNvSpPr>
          <p:nvPr/>
        </p:nvSpPr>
        <p:spPr bwMode="auto">
          <a:xfrm flipH="1">
            <a:off x="6403975" y="3106738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2" name="Oval 79"/>
          <p:cNvSpPr>
            <a:spLocks noChangeAspect="1" noChangeArrowheads="1"/>
          </p:cNvSpPr>
          <p:nvPr/>
        </p:nvSpPr>
        <p:spPr bwMode="auto">
          <a:xfrm>
            <a:off x="6902450" y="2497138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1233" name="Oval 80"/>
          <p:cNvSpPr>
            <a:spLocks noChangeAspect="1" noChangeArrowheads="1"/>
          </p:cNvSpPr>
          <p:nvPr/>
        </p:nvSpPr>
        <p:spPr bwMode="auto">
          <a:xfrm>
            <a:off x="6902450" y="3413125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1234" name="Text Box 81"/>
          <p:cNvSpPr txBox="1">
            <a:spLocks noChangeArrowheads="1"/>
          </p:cNvSpPr>
          <p:nvPr/>
        </p:nvSpPr>
        <p:spPr bwMode="auto">
          <a:xfrm>
            <a:off x="6811963" y="2540000"/>
            <a:ext cx="252412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800" b="1"/>
              <a:t>S</a:t>
            </a:r>
          </a:p>
        </p:txBody>
      </p:sp>
      <p:sp>
        <p:nvSpPr>
          <p:cNvPr id="51235" name="Text Box 82"/>
          <p:cNvSpPr txBox="1">
            <a:spLocks noChangeArrowheads="1"/>
          </p:cNvSpPr>
          <p:nvPr/>
        </p:nvSpPr>
        <p:spPr bwMode="auto">
          <a:xfrm>
            <a:off x="6810375" y="3235325"/>
            <a:ext cx="25717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800" b="1"/>
              <a:t>R</a:t>
            </a:r>
          </a:p>
        </p:txBody>
      </p:sp>
      <p:sp>
        <p:nvSpPr>
          <p:cNvPr id="51236" name="Text Box 83"/>
          <p:cNvSpPr txBox="1">
            <a:spLocks noChangeArrowheads="1"/>
          </p:cNvSpPr>
          <p:nvPr/>
        </p:nvSpPr>
        <p:spPr bwMode="auto">
          <a:xfrm>
            <a:off x="6600825" y="2692400"/>
            <a:ext cx="25717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800" b="1"/>
              <a:t>D</a:t>
            </a:r>
          </a:p>
        </p:txBody>
      </p:sp>
      <p:sp>
        <p:nvSpPr>
          <p:cNvPr id="51237" name="Text Box 84"/>
          <p:cNvSpPr txBox="1">
            <a:spLocks noChangeArrowheads="1"/>
          </p:cNvSpPr>
          <p:nvPr/>
        </p:nvSpPr>
        <p:spPr bwMode="auto">
          <a:xfrm>
            <a:off x="6707188" y="3043238"/>
            <a:ext cx="392112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800" b="1"/>
              <a:t>CLK</a:t>
            </a:r>
          </a:p>
        </p:txBody>
      </p:sp>
      <p:sp>
        <p:nvSpPr>
          <p:cNvPr id="51238" name="Text Box 85"/>
          <p:cNvSpPr txBox="1">
            <a:spLocks noChangeArrowheads="1"/>
          </p:cNvSpPr>
          <p:nvPr/>
        </p:nvSpPr>
        <p:spPr bwMode="auto">
          <a:xfrm>
            <a:off x="7059613" y="2682875"/>
            <a:ext cx="2635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800" b="1"/>
              <a:t>Q</a:t>
            </a:r>
          </a:p>
        </p:txBody>
      </p:sp>
      <p:grpSp>
        <p:nvGrpSpPr>
          <p:cNvPr id="51239" name="Group 86"/>
          <p:cNvGrpSpPr>
            <a:grpSpLocks/>
          </p:cNvGrpSpPr>
          <p:nvPr/>
        </p:nvGrpSpPr>
        <p:grpSpPr bwMode="auto">
          <a:xfrm>
            <a:off x="7056438" y="3057525"/>
            <a:ext cx="263525" cy="214313"/>
            <a:chOff x="2164" y="1975"/>
            <a:chExt cx="166" cy="135"/>
          </a:xfrm>
        </p:grpSpPr>
        <p:sp>
          <p:nvSpPr>
            <p:cNvPr id="51267" name="Text Box 87"/>
            <p:cNvSpPr txBox="1">
              <a:spLocks noChangeArrowheads="1"/>
            </p:cNvSpPr>
            <p:nvPr/>
          </p:nvSpPr>
          <p:spPr bwMode="auto">
            <a:xfrm>
              <a:off x="2164" y="1975"/>
              <a:ext cx="16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Q</a:t>
              </a:r>
            </a:p>
          </p:txBody>
        </p:sp>
        <p:sp>
          <p:nvSpPr>
            <p:cNvPr id="51268" name="Line 88"/>
            <p:cNvSpPr>
              <a:spLocks noChangeShapeType="1"/>
            </p:cNvSpPr>
            <p:nvPr/>
          </p:nvSpPr>
          <p:spPr bwMode="auto">
            <a:xfrm>
              <a:off x="2214" y="2003"/>
              <a:ext cx="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40" name="Line 89"/>
          <p:cNvSpPr>
            <a:spLocks noChangeShapeType="1"/>
          </p:cNvSpPr>
          <p:nvPr/>
        </p:nvSpPr>
        <p:spPr bwMode="auto">
          <a:xfrm>
            <a:off x="6421438" y="3141663"/>
            <a:ext cx="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1" name="Oval 90"/>
          <p:cNvSpPr>
            <a:spLocks noChangeArrowheads="1"/>
          </p:cNvSpPr>
          <p:nvPr/>
        </p:nvSpPr>
        <p:spPr bwMode="auto">
          <a:xfrm>
            <a:off x="7472363" y="2768600"/>
            <a:ext cx="74612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1242" name="Text Box 92"/>
          <p:cNvSpPr txBox="1">
            <a:spLocks noChangeArrowheads="1"/>
          </p:cNvSpPr>
          <p:nvPr/>
        </p:nvSpPr>
        <p:spPr bwMode="auto">
          <a:xfrm>
            <a:off x="7296150" y="1643063"/>
            <a:ext cx="385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Q</a:t>
            </a:r>
            <a:r>
              <a:rPr lang="en-US" sz="1400" b="1" baseline="-25000"/>
              <a:t>3</a:t>
            </a:r>
            <a:endParaRPr lang="en-US" sz="1400" b="1"/>
          </a:p>
        </p:txBody>
      </p:sp>
      <p:sp>
        <p:nvSpPr>
          <p:cNvPr id="51243" name="Line 93"/>
          <p:cNvSpPr>
            <a:spLocks noChangeShapeType="1"/>
          </p:cNvSpPr>
          <p:nvPr/>
        </p:nvSpPr>
        <p:spPr bwMode="auto">
          <a:xfrm flipV="1">
            <a:off x="6940550" y="2241550"/>
            <a:ext cx="0" cy="257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4" name="Line 95"/>
          <p:cNvSpPr>
            <a:spLocks noChangeShapeType="1"/>
          </p:cNvSpPr>
          <p:nvPr/>
        </p:nvSpPr>
        <p:spPr bwMode="auto">
          <a:xfrm>
            <a:off x="6938963" y="3503613"/>
            <a:ext cx="0" cy="214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5" name="Line 96"/>
          <p:cNvSpPr>
            <a:spLocks noChangeShapeType="1"/>
          </p:cNvSpPr>
          <p:nvPr/>
        </p:nvSpPr>
        <p:spPr bwMode="auto">
          <a:xfrm>
            <a:off x="6411913" y="3098800"/>
            <a:ext cx="0" cy="1401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6" name="Line 97"/>
          <p:cNvSpPr>
            <a:spLocks noChangeShapeType="1"/>
          </p:cNvSpPr>
          <p:nvPr/>
        </p:nvSpPr>
        <p:spPr bwMode="auto">
          <a:xfrm>
            <a:off x="5294313" y="3109913"/>
            <a:ext cx="0" cy="1401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7" name="Line 98"/>
          <p:cNvSpPr>
            <a:spLocks noChangeShapeType="1"/>
          </p:cNvSpPr>
          <p:nvPr/>
        </p:nvSpPr>
        <p:spPr bwMode="auto">
          <a:xfrm>
            <a:off x="4167188" y="3109913"/>
            <a:ext cx="0" cy="1401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8" name="Line 99"/>
          <p:cNvSpPr>
            <a:spLocks noChangeShapeType="1"/>
          </p:cNvSpPr>
          <p:nvPr/>
        </p:nvSpPr>
        <p:spPr bwMode="auto">
          <a:xfrm>
            <a:off x="3078163" y="3098800"/>
            <a:ext cx="0" cy="1401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9" name="Line 100"/>
          <p:cNvSpPr>
            <a:spLocks noChangeShapeType="1"/>
          </p:cNvSpPr>
          <p:nvPr/>
        </p:nvSpPr>
        <p:spPr bwMode="auto">
          <a:xfrm flipH="1">
            <a:off x="1997075" y="3711575"/>
            <a:ext cx="4945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0" name="Line 102"/>
          <p:cNvSpPr>
            <a:spLocks noChangeShapeType="1"/>
          </p:cNvSpPr>
          <p:nvPr/>
        </p:nvSpPr>
        <p:spPr bwMode="auto">
          <a:xfrm>
            <a:off x="2803525" y="2789238"/>
            <a:ext cx="312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1" name="Text Box 103"/>
          <p:cNvSpPr txBox="1">
            <a:spLocks noChangeArrowheads="1"/>
          </p:cNvSpPr>
          <p:nvPr/>
        </p:nvSpPr>
        <p:spPr bwMode="auto">
          <a:xfrm>
            <a:off x="1517650" y="2620963"/>
            <a:ext cx="1246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 Shift data in</a:t>
            </a:r>
          </a:p>
        </p:txBody>
      </p:sp>
      <p:sp>
        <p:nvSpPr>
          <p:cNvPr id="51252" name="Line 104"/>
          <p:cNvSpPr>
            <a:spLocks noChangeShapeType="1"/>
          </p:cNvSpPr>
          <p:nvPr/>
        </p:nvSpPr>
        <p:spPr bwMode="auto">
          <a:xfrm flipH="1">
            <a:off x="1447800" y="4495800"/>
            <a:ext cx="4945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3" name="Text Box 106"/>
          <p:cNvSpPr txBox="1">
            <a:spLocks noChangeArrowheads="1"/>
          </p:cNvSpPr>
          <p:nvPr/>
        </p:nvSpPr>
        <p:spPr bwMode="auto">
          <a:xfrm>
            <a:off x="1687513" y="20732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1</a:t>
            </a:r>
          </a:p>
        </p:txBody>
      </p:sp>
      <p:sp>
        <p:nvSpPr>
          <p:cNvPr id="51254" name="Oval 107"/>
          <p:cNvSpPr>
            <a:spLocks noChangeArrowheads="1"/>
          </p:cNvSpPr>
          <p:nvPr/>
        </p:nvSpPr>
        <p:spPr bwMode="auto">
          <a:xfrm>
            <a:off x="3036888" y="4460875"/>
            <a:ext cx="74612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1255" name="Oval 108"/>
          <p:cNvSpPr>
            <a:spLocks noChangeArrowheads="1"/>
          </p:cNvSpPr>
          <p:nvPr/>
        </p:nvSpPr>
        <p:spPr bwMode="auto">
          <a:xfrm>
            <a:off x="4121150" y="4443413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1256" name="Oval 109"/>
          <p:cNvSpPr>
            <a:spLocks noChangeArrowheads="1"/>
          </p:cNvSpPr>
          <p:nvPr/>
        </p:nvSpPr>
        <p:spPr bwMode="auto">
          <a:xfrm>
            <a:off x="5262563" y="4452938"/>
            <a:ext cx="74612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1257" name="Text Box 110"/>
          <p:cNvSpPr txBox="1">
            <a:spLocks noChangeArrowheads="1"/>
          </p:cNvSpPr>
          <p:nvPr/>
        </p:nvSpPr>
        <p:spPr bwMode="auto">
          <a:xfrm>
            <a:off x="7615238" y="2659063"/>
            <a:ext cx="13636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 Shift data out</a:t>
            </a:r>
          </a:p>
        </p:txBody>
      </p:sp>
      <p:sp>
        <p:nvSpPr>
          <p:cNvPr id="51258" name="Text Box 111"/>
          <p:cNvSpPr txBox="1">
            <a:spLocks noChangeArrowheads="1"/>
          </p:cNvSpPr>
          <p:nvPr/>
        </p:nvSpPr>
        <p:spPr bwMode="auto">
          <a:xfrm>
            <a:off x="633413" y="4098925"/>
            <a:ext cx="6762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Clock in</a:t>
            </a:r>
          </a:p>
        </p:txBody>
      </p:sp>
      <p:sp>
        <p:nvSpPr>
          <p:cNvPr id="51259" name="Freeform 112"/>
          <p:cNvSpPr>
            <a:spLocks/>
          </p:cNvSpPr>
          <p:nvPr/>
        </p:nvSpPr>
        <p:spPr bwMode="auto">
          <a:xfrm>
            <a:off x="1295400" y="4043363"/>
            <a:ext cx="609600" cy="381000"/>
          </a:xfrm>
          <a:custGeom>
            <a:avLst/>
            <a:gdLst>
              <a:gd name="T0" fmla="*/ 0 w 384"/>
              <a:gd name="T1" fmla="*/ 2147483647 h 240"/>
              <a:gd name="T2" fmla="*/ 2147483647 w 384"/>
              <a:gd name="T3" fmla="*/ 2147483647 h 240"/>
              <a:gd name="T4" fmla="*/ 2147483647 w 384"/>
              <a:gd name="T5" fmla="*/ 0 h 240"/>
              <a:gd name="T6" fmla="*/ 2147483647 w 384"/>
              <a:gd name="T7" fmla="*/ 0 h 240"/>
              <a:gd name="T8" fmla="*/ 2147483647 w 384"/>
              <a:gd name="T9" fmla="*/ 2147483647 h 240"/>
              <a:gd name="T10" fmla="*/ 2147483647 w 384"/>
              <a:gd name="T11" fmla="*/ 2147483647 h 2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84"/>
              <a:gd name="T19" fmla="*/ 0 h 240"/>
              <a:gd name="T20" fmla="*/ 384 w 384"/>
              <a:gd name="T21" fmla="*/ 240 h 2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84" h="240">
                <a:moveTo>
                  <a:pt x="0" y="240"/>
                </a:moveTo>
                <a:lnTo>
                  <a:pt x="96" y="240"/>
                </a:lnTo>
                <a:lnTo>
                  <a:pt x="96" y="0"/>
                </a:lnTo>
                <a:lnTo>
                  <a:pt x="240" y="0"/>
                </a:lnTo>
                <a:lnTo>
                  <a:pt x="240" y="240"/>
                </a:lnTo>
                <a:lnTo>
                  <a:pt x="384" y="24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0" name="Freeform 113"/>
          <p:cNvSpPr>
            <a:spLocks/>
          </p:cNvSpPr>
          <p:nvPr/>
        </p:nvSpPr>
        <p:spPr bwMode="auto">
          <a:xfrm flipV="1">
            <a:off x="1463675" y="3440113"/>
            <a:ext cx="609600" cy="381000"/>
          </a:xfrm>
          <a:custGeom>
            <a:avLst/>
            <a:gdLst>
              <a:gd name="T0" fmla="*/ 0 w 384"/>
              <a:gd name="T1" fmla="*/ 2147483647 h 240"/>
              <a:gd name="T2" fmla="*/ 2147483647 w 384"/>
              <a:gd name="T3" fmla="*/ 2147483647 h 240"/>
              <a:gd name="T4" fmla="*/ 2147483647 w 384"/>
              <a:gd name="T5" fmla="*/ 0 h 240"/>
              <a:gd name="T6" fmla="*/ 2147483647 w 384"/>
              <a:gd name="T7" fmla="*/ 0 h 240"/>
              <a:gd name="T8" fmla="*/ 2147483647 w 384"/>
              <a:gd name="T9" fmla="*/ 2147483647 h 240"/>
              <a:gd name="T10" fmla="*/ 2147483647 w 384"/>
              <a:gd name="T11" fmla="*/ 2147483647 h 2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84"/>
              <a:gd name="T19" fmla="*/ 0 h 240"/>
              <a:gd name="T20" fmla="*/ 384 w 384"/>
              <a:gd name="T21" fmla="*/ 240 h 2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84" h="240">
                <a:moveTo>
                  <a:pt x="0" y="240"/>
                </a:moveTo>
                <a:lnTo>
                  <a:pt x="96" y="240"/>
                </a:lnTo>
                <a:lnTo>
                  <a:pt x="96" y="0"/>
                </a:lnTo>
                <a:lnTo>
                  <a:pt x="240" y="0"/>
                </a:lnTo>
                <a:lnTo>
                  <a:pt x="240" y="240"/>
                </a:lnTo>
                <a:lnTo>
                  <a:pt x="384" y="24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1" name="Text Box 114"/>
          <p:cNvSpPr txBox="1">
            <a:spLocks noChangeArrowheads="1"/>
          </p:cNvSpPr>
          <p:nvPr/>
        </p:nvSpPr>
        <p:spPr bwMode="auto">
          <a:xfrm>
            <a:off x="692150" y="3509963"/>
            <a:ext cx="777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RESET</a:t>
            </a:r>
          </a:p>
        </p:txBody>
      </p:sp>
      <p:sp>
        <p:nvSpPr>
          <p:cNvPr id="51262" name="Line 115"/>
          <p:cNvSpPr>
            <a:spLocks noChangeShapeType="1"/>
          </p:cNvSpPr>
          <p:nvPr/>
        </p:nvSpPr>
        <p:spPr bwMode="auto">
          <a:xfrm flipV="1">
            <a:off x="1447800" y="4125913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3" name="Text Box 116"/>
          <p:cNvSpPr txBox="1">
            <a:spLocks noChangeArrowheads="1"/>
          </p:cNvSpPr>
          <p:nvPr/>
        </p:nvSpPr>
        <p:spPr bwMode="auto">
          <a:xfrm>
            <a:off x="557213" y="4632325"/>
            <a:ext cx="789622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buClr>
                <a:schemeClr val="accent2"/>
              </a:buClr>
              <a:buFontTx/>
              <a:buChar char="•"/>
            </a:pPr>
            <a:r>
              <a:rPr lang="en-US" sz="1400" b="1"/>
              <a:t> Shift register moves data through successive stages on each clock pulse</a:t>
            </a:r>
          </a:p>
          <a:p>
            <a:pPr eaLnBrk="1" hangingPunct="1">
              <a:buClr>
                <a:schemeClr val="accent2"/>
              </a:buClr>
              <a:buFontTx/>
              <a:buChar char="•"/>
            </a:pPr>
            <a:r>
              <a:rPr lang="en-US" sz="1400" b="1"/>
              <a:t> Used for serial data communications, multiplication ( why ?), image processing</a:t>
            </a:r>
          </a:p>
          <a:p>
            <a:pPr eaLnBrk="1" hangingPunct="1">
              <a:buClr>
                <a:schemeClr val="accent2"/>
              </a:buClr>
              <a:buFontTx/>
              <a:buChar char="•"/>
            </a:pPr>
            <a:r>
              <a:rPr lang="en-US" sz="1400" b="1"/>
              <a:t> Basis for UART ( </a:t>
            </a:r>
            <a:r>
              <a:rPr lang="en-US" sz="1400" b="1" i="1"/>
              <a:t>Universal Asynchronous Receiver/Transmitter </a:t>
            </a:r>
            <a:r>
              <a:rPr lang="en-US" sz="1400" b="1"/>
              <a:t>)</a:t>
            </a:r>
          </a:p>
          <a:p>
            <a:pPr eaLnBrk="1" hangingPunct="1">
              <a:buClr>
                <a:schemeClr val="accent2"/>
              </a:buClr>
              <a:buFontTx/>
              <a:buChar char="•"/>
            </a:pPr>
            <a:r>
              <a:rPr lang="en-US" sz="1400" b="1"/>
              <a:t> Data can be read in serially and then read out in parallel</a:t>
            </a:r>
          </a:p>
          <a:p>
            <a:pPr eaLnBrk="1" hangingPunct="1">
              <a:buClr>
                <a:schemeClr val="accent2"/>
              </a:buClr>
              <a:buFontTx/>
              <a:buChar char="•"/>
            </a:pPr>
            <a:r>
              <a:rPr lang="en-US" sz="1400" b="1"/>
              <a:t> Serial data communications limits the number of signal wires needed to transmit bytewide</a:t>
            </a:r>
          </a:p>
          <a:p>
            <a:pPr eaLnBrk="1" hangingPunct="1">
              <a:buClr>
                <a:schemeClr val="accent2"/>
              </a:buClr>
              <a:buFontTx/>
              <a:buChar char="•"/>
            </a:pPr>
            <a:r>
              <a:rPr lang="en-US" sz="1400" b="1"/>
              <a:t>  data ( Example shown here is a </a:t>
            </a:r>
            <a:r>
              <a:rPr lang="en-US" sz="1400" b="1" i="1"/>
              <a:t>nibble </a:t>
            </a:r>
            <a:r>
              <a:rPr lang="en-US" sz="1400" b="1"/>
              <a:t>)</a:t>
            </a:r>
          </a:p>
        </p:txBody>
      </p:sp>
      <p:sp>
        <p:nvSpPr>
          <p:cNvPr id="51264" name="Oval 117"/>
          <p:cNvSpPr>
            <a:spLocks noChangeArrowheads="1"/>
          </p:cNvSpPr>
          <p:nvPr/>
        </p:nvSpPr>
        <p:spPr bwMode="auto">
          <a:xfrm>
            <a:off x="5789613" y="3671888"/>
            <a:ext cx="74612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1265" name="Oval 118"/>
          <p:cNvSpPr>
            <a:spLocks noChangeArrowheads="1"/>
          </p:cNvSpPr>
          <p:nvPr/>
        </p:nvSpPr>
        <p:spPr bwMode="auto">
          <a:xfrm>
            <a:off x="4673600" y="366077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1266" name="Oval 119"/>
          <p:cNvSpPr>
            <a:spLocks noChangeArrowheads="1"/>
          </p:cNvSpPr>
          <p:nvPr/>
        </p:nvSpPr>
        <p:spPr bwMode="auto">
          <a:xfrm>
            <a:off x="3586163" y="3670300"/>
            <a:ext cx="74612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</p:spTree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“D” flip-flop as a storage register</a:t>
            </a:r>
          </a:p>
        </p:txBody>
      </p:sp>
      <p:grpSp>
        <p:nvGrpSpPr>
          <p:cNvPr id="54275" name="Group 1027"/>
          <p:cNvGrpSpPr>
            <a:grpSpLocks/>
          </p:cNvGrpSpPr>
          <p:nvPr/>
        </p:nvGrpSpPr>
        <p:grpSpPr bwMode="auto">
          <a:xfrm>
            <a:off x="4837113" y="1552575"/>
            <a:ext cx="533400" cy="4497388"/>
            <a:chOff x="881" y="945"/>
            <a:chExt cx="356" cy="3098"/>
          </a:xfrm>
        </p:grpSpPr>
        <p:grpSp>
          <p:nvGrpSpPr>
            <p:cNvPr id="54363" name="Group 1028"/>
            <p:cNvGrpSpPr>
              <a:grpSpLocks noChangeAspect="1"/>
            </p:cNvGrpSpPr>
            <p:nvPr/>
          </p:nvGrpSpPr>
          <p:grpSpPr bwMode="auto">
            <a:xfrm>
              <a:off x="889" y="945"/>
              <a:ext cx="340" cy="273"/>
              <a:chOff x="2443" y="1615"/>
              <a:chExt cx="670" cy="537"/>
            </a:xfrm>
          </p:grpSpPr>
          <p:sp>
            <p:nvSpPr>
              <p:cNvPr id="54434" name="Rectangle 1029"/>
              <p:cNvSpPr>
                <a:spLocks noChangeAspect="1" noChangeArrowheads="1"/>
              </p:cNvSpPr>
              <p:nvPr/>
            </p:nvSpPr>
            <p:spPr bwMode="auto">
              <a:xfrm>
                <a:off x="2588" y="1623"/>
                <a:ext cx="409" cy="52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54435" name="Line 1030"/>
              <p:cNvSpPr>
                <a:spLocks noChangeAspect="1" noChangeShapeType="1"/>
              </p:cNvSpPr>
              <p:nvPr/>
            </p:nvSpPr>
            <p:spPr bwMode="auto">
              <a:xfrm flipH="1">
                <a:off x="2450" y="177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36" name="Line 1031"/>
              <p:cNvSpPr>
                <a:spLocks noChangeAspect="1" noChangeShapeType="1"/>
              </p:cNvSpPr>
              <p:nvPr/>
            </p:nvSpPr>
            <p:spPr bwMode="auto">
              <a:xfrm flipH="1">
                <a:off x="2443" y="1959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37" name="Text Box 1032"/>
              <p:cNvSpPr txBox="1">
                <a:spLocks noChangeAspect="1" noChangeArrowheads="1"/>
              </p:cNvSpPr>
              <p:nvPr/>
            </p:nvSpPr>
            <p:spPr bwMode="auto">
              <a:xfrm>
                <a:off x="2478" y="1621"/>
                <a:ext cx="3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D</a:t>
                </a:r>
              </a:p>
            </p:txBody>
          </p:sp>
          <p:sp>
            <p:nvSpPr>
              <p:cNvPr id="54438" name="Text Box 1033"/>
              <p:cNvSpPr txBox="1">
                <a:spLocks noChangeAspect="1" noChangeArrowheads="1"/>
              </p:cNvSpPr>
              <p:nvPr/>
            </p:nvSpPr>
            <p:spPr bwMode="auto">
              <a:xfrm>
                <a:off x="2766" y="1615"/>
                <a:ext cx="347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Q</a:t>
                </a:r>
              </a:p>
            </p:txBody>
          </p:sp>
          <p:sp>
            <p:nvSpPr>
              <p:cNvPr id="54439" name="Line 1034"/>
              <p:cNvSpPr>
                <a:spLocks noChangeAspect="1" noChangeShapeType="1"/>
              </p:cNvSpPr>
              <p:nvPr/>
            </p:nvSpPr>
            <p:spPr bwMode="auto">
              <a:xfrm>
                <a:off x="2454" y="1981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4440" name="Group 1035"/>
              <p:cNvGrpSpPr>
                <a:grpSpLocks noChangeAspect="1"/>
              </p:cNvGrpSpPr>
              <p:nvPr/>
            </p:nvGrpSpPr>
            <p:grpSpPr bwMode="auto">
              <a:xfrm>
                <a:off x="2592" y="1904"/>
                <a:ext cx="75" cy="101"/>
                <a:chOff x="1920" y="2486"/>
                <a:chExt cx="294" cy="394"/>
              </a:xfrm>
            </p:grpSpPr>
            <p:sp>
              <p:nvSpPr>
                <p:cNvPr id="54441" name="Line 103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920" y="2681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4442" name="Line 1037"/>
                <p:cNvSpPr>
                  <a:spLocks noChangeAspect="1" noChangeShapeType="1"/>
                </p:cNvSpPr>
                <p:nvPr/>
              </p:nvSpPr>
              <p:spPr bwMode="auto">
                <a:xfrm>
                  <a:off x="1923" y="2486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4364" name="Group 1038"/>
            <p:cNvGrpSpPr>
              <a:grpSpLocks noChangeAspect="1"/>
            </p:cNvGrpSpPr>
            <p:nvPr/>
          </p:nvGrpSpPr>
          <p:grpSpPr bwMode="auto">
            <a:xfrm>
              <a:off x="889" y="1355"/>
              <a:ext cx="340" cy="273"/>
              <a:chOff x="2443" y="1615"/>
              <a:chExt cx="670" cy="537"/>
            </a:xfrm>
          </p:grpSpPr>
          <p:sp>
            <p:nvSpPr>
              <p:cNvPr id="54425" name="Rectangle 1039"/>
              <p:cNvSpPr>
                <a:spLocks noChangeAspect="1" noChangeArrowheads="1"/>
              </p:cNvSpPr>
              <p:nvPr/>
            </p:nvSpPr>
            <p:spPr bwMode="auto">
              <a:xfrm>
                <a:off x="2588" y="1623"/>
                <a:ext cx="409" cy="52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54426" name="Line 1040"/>
              <p:cNvSpPr>
                <a:spLocks noChangeAspect="1" noChangeShapeType="1"/>
              </p:cNvSpPr>
              <p:nvPr/>
            </p:nvSpPr>
            <p:spPr bwMode="auto">
              <a:xfrm flipH="1">
                <a:off x="2450" y="177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27" name="Line 1041"/>
              <p:cNvSpPr>
                <a:spLocks noChangeAspect="1" noChangeShapeType="1"/>
              </p:cNvSpPr>
              <p:nvPr/>
            </p:nvSpPr>
            <p:spPr bwMode="auto">
              <a:xfrm flipH="1">
                <a:off x="2443" y="1959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28" name="Text Box 1042"/>
              <p:cNvSpPr txBox="1">
                <a:spLocks noChangeAspect="1" noChangeArrowheads="1"/>
              </p:cNvSpPr>
              <p:nvPr/>
            </p:nvSpPr>
            <p:spPr bwMode="auto">
              <a:xfrm>
                <a:off x="2478" y="1621"/>
                <a:ext cx="3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D</a:t>
                </a:r>
              </a:p>
            </p:txBody>
          </p:sp>
          <p:sp>
            <p:nvSpPr>
              <p:cNvPr id="54429" name="Text Box 1043"/>
              <p:cNvSpPr txBox="1">
                <a:spLocks noChangeAspect="1" noChangeArrowheads="1"/>
              </p:cNvSpPr>
              <p:nvPr/>
            </p:nvSpPr>
            <p:spPr bwMode="auto">
              <a:xfrm>
                <a:off x="2766" y="1615"/>
                <a:ext cx="3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Q</a:t>
                </a:r>
              </a:p>
            </p:txBody>
          </p:sp>
          <p:sp>
            <p:nvSpPr>
              <p:cNvPr id="54430" name="Line 1044"/>
              <p:cNvSpPr>
                <a:spLocks noChangeAspect="1" noChangeShapeType="1"/>
              </p:cNvSpPr>
              <p:nvPr/>
            </p:nvSpPr>
            <p:spPr bwMode="auto">
              <a:xfrm>
                <a:off x="2454" y="1981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4431" name="Group 1045"/>
              <p:cNvGrpSpPr>
                <a:grpSpLocks noChangeAspect="1"/>
              </p:cNvGrpSpPr>
              <p:nvPr/>
            </p:nvGrpSpPr>
            <p:grpSpPr bwMode="auto">
              <a:xfrm>
                <a:off x="2592" y="1904"/>
                <a:ext cx="75" cy="101"/>
                <a:chOff x="1920" y="2486"/>
                <a:chExt cx="294" cy="394"/>
              </a:xfrm>
            </p:grpSpPr>
            <p:sp>
              <p:nvSpPr>
                <p:cNvPr id="54432" name="Line 104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920" y="2681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4433" name="Line 1047"/>
                <p:cNvSpPr>
                  <a:spLocks noChangeAspect="1" noChangeShapeType="1"/>
                </p:cNvSpPr>
                <p:nvPr/>
              </p:nvSpPr>
              <p:spPr bwMode="auto">
                <a:xfrm>
                  <a:off x="1923" y="2486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4365" name="Group 1048"/>
            <p:cNvGrpSpPr>
              <a:grpSpLocks noChangeAspect="1"/>
            </p:cNvGrpSpPr>
            <p:nvPr/>
          </p:nvGrpSpPr>
          <p:grpSpPr bwMode="auto">
            <a:xfrm>
              <a:off x="896" y="1739"/>
              <a:ext cx="340" cy="273"/>
              <a:chOff x="2443" y="1615"/>
              <a:chExt cx="670" cy="537"/>
            </a:xfrm>
          </p:grpSpPr>
          <p:sp>
            <p:nvSpPr>
              <p:cNvPr id="54416" name="Rectangle 1049"/>
              <p:cNvSpPr>
                <a:spLocks noChangeAspect="1" noChangeArrowheads="1"/>
              </p:cNvSpPr>
              <p:nvPr/>
            </p:nvSpPr>
            <p:spPr bwMode="auto">
              <a:xfrm>
                <a:off x="2588" y="1623"/>
                <a:ext cx="409" cy="52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54417" name="Line 1050"/>
              <p:cNvSpPr>
                <a:spLocks noChangeAspect="1" noChangeShapeType="1"/>
              </p:cNvSpPr>
              <p:nvPr/>
            </p:nvSpPr>
            <p:spPr bwMode="auto">
              <a:xfrm flipH="1">
                <a:off x="2450" y="177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18" name="Line 1051"/>
              <p:cNvSpPr>
                <a:spLocks noChangeAspect="1" noChangeShapeType="1"/>
              </p:cNvSpPr>
              <p:nvPr/>
            </p:nvSpPr>
            <p:spPr bwMode="auto">
              <a:xfrm flipH="1">
                <a:off x="2443" y="1959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19" name="Text Box 1052"/>
              <p:cNvSpPr txBox="1">
                <a:spLocks noChangeAspect="1" noChangeArrowheads="1"/>
              </p:cNvSpPr>
              <p:nvPr/>
            </p:nvSpPr>
            <p:spPr bwMode="auto">
              <a:xfrm>
                <a:off x="2478" y="1621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D</a:t>
                </a:r>
              </a:p>
            </p:txBody>
          </p:sp>
          <p:sp>
            <p:nvSpPr>
              <p:cNvPr id="54420" name="Text Box 1053"/>
              <p:cNvSpPr txBox="1">
                <a:spLocks noChangeAspect="1" noChangeArrowheads="1"/>
              </p:cNvSpPr>
              <p:nvPr/>
            </p:nvSpPr>
            <p:spPr bwMode="auto">
              <a:xfrm>
                <a:off x="2766" y="1615"/>
                <a:ext cx="347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Q</a:t>
                </a:r>
              </a:p>
            </p:txBody>
          </p:sp>
          <p:sp>
            <p:nvSpPr>
              <p:cNvPr id="54421" name="Line 1054"/>
              <p:cNvSpPr>
                <a:spLocks noChangeAspect="1" noChangeShapeType="1"/>
              </p:cNvSpPr>
              <p:nvPr/>
            </p:nvSpPr>
            <p:spPr bwMode="auto">
              <a:xfrm>
                <a:off x="2454" y="1981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4422" name="Group 1055"/>
              <p:cNvGrpSpPr>
                <a:grpSpLocks noChangeAspect="1"/>
              </p:cNvGrpSpPr>
              <p:nvPr/>
            </p:nvGrpSpPr>
            <p:grpSpPr bwMode="auto">
              <a:xfrm>
                <a:off x="2592" y="1904"/>
                <a:ext cx="75" cy="101"/>
                <a:chOff x="1920" y="2486"/>
                <a:chExt cx="294" cy="394"/>
              </a:xfrm>
            </p:grpSpPr>
            <p:sp>
              <p:nvSpPr>
                <p:cNvPr id="54423" name="Line 105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920" y="2681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4424" name="Line 1057"/>
                <p:cNvSpPr>
                  <a:spLocks noChangeAspect="1" noChangeShapeType="1"/>
                </p:cNvSpPr>
                <p:nvPr/>
              </p:nvSpPr>
              <p:spPr bwMode="auto">
                <a:xfrm>
                  <a:off x="1923" y="2486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4366" name="Group 1058"/>
            <p:cNvGrpSpPr>
              <a:grpSpLocks noChangeAspect="1"/>
            </p:cNvGrpSpPr>
            <p:nvPr/>
          </p:nvGrpSpPr>
          <p:grpSpPr bwMode="auto">
            <a:xfrm>
              <a:off x="896" y="2149"/>
              <a:ext cx="341" cy="273"/>
              <a:chOff x="2443" y="1615"/>
              <a:chExt cx="672" cy="537"/>
            </a:xfrm>
          </p:grpSpPr>
          <p:sp>
            <p:nvSpPr>
              <p:cNvPr id="54407" name="Rectangle 1059"/>
              <p:cNvSpPr>
                <a:spLocks noChangeAspect="1" noChangeArrowheads="1"/>
              </p:cNvSpPr>
              <p:nvPr/>
            </p:nvSpPr>
            <p:spPr bwMode="auto">
              <a:xfrm>
                <a:off x="2588" y="1623"/>
                <a:ext cx="409" cy="52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54408" name="Line 1060"/>
              <p:cNvSpPr>
                <a:spLocks noChangeAspect="1" noChangeShapeType="1"/>
              </p:cNvSpPr>
              <p:nvPr/>
            </p:nvSpPr>
            <p:spPr bwMode="auto">
              <a:xfrm flipH="1">
                <a:off x="2450" y="177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09" name="Line 1061"/>
              <p:cNvSpPr>
                <a:spLocks noChangeAspect="1" noChangeShapeType="1"/>
              </p:cNvSpPr>
              <p:nvPr/>
            </p:nvSpPr>
            <p:spPr bwMode="auto">
              <a:xfrm flipH="1">
                <a:off x="2443" y="1959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10" name="Text Box 1062"/>
              <p:cNvSpPr txBox="1">
                <a:spLocks noChangeAspect="1" noChangeArrowheads="1"/>
              </p:cNvSpPr>
              <p:nvPr/>
            </p:nvSpPr>
            <p:spPr bwMode="auto">
              <a:xfrm>
                <a:off x="2478" y="1621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D</a:t>
                </a:r>
              </a:p>
            </p:txBody>
          </p:sp>
          <p:sp>
            <p:nvSpPr>
              <p:cNvPr id="54411" name="Text Box 1063"/>
              <p:cNvSpPr txBox="1">
                <a:spLocks noChangeAspect="1" noChangeArrowheads="1"/>
              </p:cNvSpPr>
              <p:nvPr/>
            </p:nvSpPr>
            <p:spPr bwMode="auto">
              <a:xfrm>
                <a:off x="2768" y="1615"/>
                <a:ext cx="3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Q</a:t>
                </a:r>
              </a:p>
            </p:txBody>
          </p:sp>
          <p:sp>
            <p:nvSpPr>
              <p:cNvPr id="54412" name="Line 1064"/>
              <p:cNvSpPr>
                <a:spLocks noChangeAspect="1" noChangeShapeType="1"/>
              </p:cNvSpPr>
              <p:nvPr/>
            </p:nvSpPr>
            <p:spPr bwMode="auto">
              <a:xfrm>
                <a:off x="2454" y="1981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4413" name="Group 1065"/>
              <p:cNvGrpSpPr>
                <a:grpSpLocks noChangeAspect="1"/>
              </p:cNvGrpSpPr>
              <p:nvPr/>
            </p:nvGrpSpPr>
            <p:grpSpPr bwMode="auto">
              <a:xfrm>
                <a:off x="2592" y="1904"/>
                <a:ext cx="75" cy="101"/>
                <a:chOff x="1920" y="2486"/>
                <a:chExt cx="294" cy="394"/>
              </a:xfrm>
            </p:grpSpPr>
            <p:sp>
              <p:nvSpPr>
                <p:cNvPr id="54414" name="Line 106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920" y="2681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4415" name="Line 1067"/>
                <p:cNvSpPr>
                  <a:spLocks noChangeAspect="1" noChangeShapeType="1"/>
                </p:cNvSpPr>
                <p:nvPr/>
              </p:nvSpPr>
              <p:spPr bwMode="auto">
                <a:xfrm>
                  <a:off x="1923" y="2486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4367" name="Group 1068"/>
            <p:cNvGrpSpPr>
              <a:grpSpLocks noChangeAspect="1"/>
            </p:cNvGrpSpPr>
            <p:nvPr/>
          </p:nvGrpSpPr>
          <p:grpSpPr bwMode="auto">
            <a:xfrm>
              <a:off x="881" y="2566"/>
              <a:ext cx="341" cy="273"/>
              <a:chOff x="2443" y="1615"/>
              <a:chExt cx="672" cy="537"/>
            </a:xfrm>
          </p:grpSpPr>
          <p:sp>
            <p:nvSpPr>
              <p:cNvPr id="54398" name="Rectangle 1069"/>
              <p:cNvSpPr>
                <a:spLocks noChangeAspect="1" noChangeArrowheads="1"/>
              </p:cNvSpPr>
              <p:nvPr/>
            </p:nvSpPr>
            <p:spPr bwMode="auto">
              <a:xfrm>
                <a:off x="2588" y="1623"/>
                <a:ext cx="409" cy="52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54399" name="Line 1070"/>
              <p:cNvSpPr>
                <a:spLocks noChangeAspect="1" noChangeShapeType="1"/>
              </p:cNvSpPr>
              <p:nvPr/>
            </p:nvSpPr>
            <p:spPr bwMode="auto">
              <a:xfrm flipH="1">
                <a:off x="2450" y="177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00" name="Line 1071"/>
              <p:cNvSpPr>
                <a:spLocks noChangeAspect="1" noChangeShapeType="1"/>
              </p:cNvSpPr>
              <p:nvPr/>
            </p:nvSpPr>
            <p:spPr bwMode="auto">
              <a:xfrm flipH="1">
                <a:off x="2443" y="1959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01" name="Text Box 1072"/>
              <p:cNvSpPr txBox="1">
                <a:spLocks noChangeAspect="1" noChangeArrowheads="1"/>
              </p:cNvSpPr>
              <p:nvPr/>
            </p:nvSpPr>
            <p:spPr bwMode="auto">
              <a:xfrm>
                <a:off x="2478" y="1621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D</a:t>
                </a:r>
              </a:p>
            </p:txBody>
          </p:sp>
          <p:sp>
            <p:nvSpPr>
              <p:cNvPr id="54402" name="Text Box 1073"/>
              <p:cNvSpPr txBox="1">
                <a:spLocks noChangeAspect="1" noChangeArrowheads="1"/>
              </p:cNvSpPr>
              <p:nvPr/>
            </p:nvSpPr>
            <p:spPr bwMode="auto">
              <a:xfrm>
                <a:off x="2768" y="1615"/>
                <a:ext cx="347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Q</a:t>
                </a:r>
              </a:p>
            </p:txBody>
          </p:sp>
          <p:sp>
            <p:nvSpPr>
              <p:cNvPr id="54403" name="Line 1074"/>
              <p:cNvSpPr>
                <a:spLocks noChangeAspect="1" noChangeShapeType="1"/>
              </p:cNvSpPr>
              <p:nvPr/>
            </p:nvSpPr>
            <p:spPr bwMode="auto">
              <a:xfrm>
                <a:off x="2454" y="1981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4404" name="Group 1075"/>
              <p:cNvGrpSpPr>
                <a:grpSpLocks noChangeAspect="1"/>
              </p:cNvGrpSpPr>
              <p:nvPr/>
            </p:nvGrpSpPr>
            <p:grpSpPr bwMode="auto">
              <a:xfrm>
                <a:off x="2592" y="1904"/>
                <a:ext cx="75" cy="101"/>
                <a:chOff x="1920" y="2486"/>
                <a:chExt cx="294" cy="394"/>
              </a:xfrm>
            </p:grpSpPr>
            <p:sp>
              <p:nvSpPr>
                <p:cNvPr id="54405" name="Line 107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920" y="2681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4406" name="Line 1077"/>
                <p:cNvSpPr>
                  <a:spLocks noChangeAspect="1" noChangeShapeType="1"/>
                </p:cNvSpPr>
                <p:nvPr/>
              </p:nvSpPr>
              <p:spPr bwMode="auto">
                <a:xfrm>
                  <a:off x="1923" y="2486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4368" name="Group 1078"/>
            <p:cNvGrpSpPr>
              <a:grpSpLocks noChangeAspect="1"/>
            </p:cNvGrpSpPr>
            <p:nvPr/>
          </p:nvGrpSpPr>
          <p:grpSpPr bwMode="auto">
            <a:xfrm>
              <a:off x="881" y="2976"/>
              <a:ext cx="341" cy="273"/>
              <a:chOff x="2443" y="1615"/>
              <a:chExt cx="672" cy="537"/>
            </a:xfrm>
          </p:grpSpPr>
          <p:sp>
            <p:nvSpPr>
              <p:cNvPr id="54389" name="Rectangle 1079"/>
              <p:cNvSpPr>
                <a:spLocks noChangeAspect="1" noChangeArrowheads="1"/>
              </p:cNvSpPr>
              <p:nvPr/>
            </p:nvSpPr>
            <p:spPr bwMode="auto">
              <a:xfrm>
                <a:off x="2588" y="1623"/>
                <a:ext cx="409" cy="52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54390" name="Line 1080"/>
              <p:cNvSpPr>
                <a:spLocks noChangeAspect="1" noChangeShapeType="1"/>
              </p:cNvSpPr>
              <p:nvPr/>
            </p:nvSpPr>
            <p:spPr bwMode="auto">
              <a:xfrm flipH="1">
                <a:off x="2450" y="177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91" name="Line 1081"/>
              <p:cNvSpPr>
                <a:spLocks noChangeAspect="1" noChangeShapeType="1"/>
              </p:cNvSpPr>
              <p:nvPr/>
            </p:nvSpPr>
            <p:spPr bwMode="auto">
              <a:xfrm flipH="1">
                <a:off x="2443" y="1959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92" name="Text Box 1082"/>
              <p:cNvSpPr txBox="1">
                <a:spLocks noChangeAspect="1" noChangeArrowheads="1"/>
              </p:cNvSpPr>
              <p:nvPr/>
            </p:nvSpPr>
            <p:spPr bwMode="auto">
              <a:xfrm>
                <a:off x="2478" y="1621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D</a:t>
                </a:r>
              </a:p>
            </p:txBody>
          </p:sp>
          <p:sp>
            <p:nvSpPr>
              <p:cNvPr id="54393" name="Text Box 1083"/>
              <p:cNvSpPr txBox="1">
                <a:spLocks noChangeAspect="1" noChangeArrowheads="1"/>
              </p:cNvSpPr>
              <p:nvPr/>
            </p:nvSpPr>
            <p:spPr bwMode="auto">
              <a:xfrm>
                <a:off x="2768" y="1615"/>
                <a:ext cx="347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Q</a:t>
                </a:r>
              </a:p>
            </p:txBody>
          </p:sp>
          <p:sp>
            <p:nvSpPr>
              <p:cNvPr id="54394" name="Line 1084"/>
              <p:cNvSpPr>
                <a:spLocks noChangeAspect="1" noChangeShapeType="1"/>
              </p:cNvSpPr>
              <p:nvPr/>
            </p:nvSpPr>
            <p:spPr bwMode="auto">
              <a:xfrm>
                <a:off x="2454" y="1981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4395" name="Group 1085"/>
              <p:cNvGrpSpPr>
                <a:grpSpLocks noChangeAspect="1"/>
              </p:cNvGrpSpPr>
              <p:nvPr/>
            </p:nvGrpSpPr>
            <p:grpSpPr bwMode="auto">
              <a:xfrm>
                <a:off x="2592" y="1904"/>
                <a:ext cx="75" cy="101"/>
                <a:chOff x="1920" y="2486"/>
                <a:chExt cx="294" cy="394"/>
              </a:xfrm>
            </p:grpSpPr>
            <p:sp>
              <p:nvSpPr>
                <p:cNvPr id="54396" name="Line 108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920" y="2681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4397" name="Line 1087"/>
                <p:cNvSpPr>
                  <a:spLocks noChangeAspect="1" noChangeShapeType="1"/>
                </p:cNvSpPr>
                <p:nvPr/>
              </p:nvSpPr>
              <p:spPr bwMode="auto">
                <a:xfrm>
                  <a:off x="1923" y="2486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4369" name="Group 1088"/>
            <p:cNvGrpSpPr>
              <a:grpSpLocks noChangeAspect="1"/>
            </p:cNvGrpSpPr>
            <p:nvPr/>
          </p:nvGrpSpPr>
          <p:grpSpPr bwMode="auto">
            <a:xfrm>
              <a:off x="888" y="3360"/>
              <a:ext cx="340" cy="273"/>
              <a:chOff x="2443" y="1615"/>
              <a:chExt cx="670" cy="537"/>
            </a:xfrm>
          </p:grpSpPr>
          <p:sp>
            <p:nvSpPr>
              <p:cNvPr id="54380" name="Rectangle 1089"/>
              <p:cNvSpPr>
                <a:spLocks noChangeAspect="1" noChangeArrowheads="1"/>
              </p:cNvSpPr>
              <p:nvPr/>
            </p:nvSpPr>
            <p:spPr bwMode="auto">
              <a:xfrm>
                <a:off x="2588" y="1623"/>
                <a:ext cx="409" cy="52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54381" name="Line 1090"/>
              <p:cNvSpPr>
                <a:spLocks noChangeAspect="1" noChangeShapeType="1"/>
              </p:cNvSpPr>
              <p:nvPr/>
            </p:nvSpPr>
            <p:spPr bwMode="auto">
              <a:xfrm flipH="1">
                <a:off x="2450" y="177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82" name="Line 1091"/>
              <p:cNvSpPr>
                <a:spLocks noChangeAspect="1" noChangeShapeType="1"/>
              </p:cNvSpPr>
              <p:nvPr/>
            </p:nvSpPr>
            <p:spPr bwMode="auto">
              <a:xfrm flipH="1">
                <a:off x="2443" y="1959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83" name="Text Box 1092"/>
              <p:cNvSpPr txBox="1">
                <a:spLocks noChangeAspect="1" noChangeArrowheads="1"/>
              </p:cNvSpPr>
              <p:nvPr/>
            </p:nvSpPr>
            <p:spPr bwMode="auto">
              <a:xfrm>
                <a:off x="2478" y="1621"/>
                <a:ext cx="3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D</a:t>
                </a:r>
              </a:p>
            </p:txBody>
          </p:sp>
          <p:sp>
            <p:nvSpPr>
              <p:cNvPr id="54384" name="Text Box 1093"/>
              <p:cNvSpPr txBox="1">
                <a:spLocks noChangeAspect="1" noChangeArrowheads="1"/>
              </p:cNvSpPr>
              <p:nvPr/>
            </p:nvSpPr>
            <p:spPr bwMode="auto">
              <a:xfrm>
                <a:off x="2766" y="1615"/>
                <a:ext cx="347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Q</a:t>
                </a:r>
              </a:p>
            </p:txBody>
          </p:sp>
          <p:sp>
            <p:nvSpPr>
              <p:cNvPr id="54385" name="Line 1094"/>
              <p:cNvSpPr>
                <a:spLocks noChangeAspect="1" noChangeShapeType="1"/>
              </p:cNvSpPr>
              <p:nvPr/>
            </p:nvSpPr>
            <p:spPr bwMode="auto">
              <a:xfrm>
                <a:off x="2454" y="1981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4386" name="Group 1095"/>
              <p:cNvGrpSpPr>
                <a:grpSpLocks noChangeAspect="1"/>
              </p:cNvGrpSpPr>
              <p:nvPr/>
            </p:nvGrpSpPr>
            <p:grpSpPr bwMode="auto">
              <a:xfrm>
                <a:off x="2592" y="1904"/>
                <a:ext cx="75" cy="101"/>
                <a:chOff x="1920" y="2486"/>
                <a:chExt cx="294" cy="394"/>
              </a:xfrm>
            </p:grpSpPr>
            <p:sp>
              <p:nvSpPr>
                <p:cNvPr id="54387" name="Line 109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920" y="2681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4388" name="Line 1097"/>
                <p:cNvSpPr>
                  <a:spLocks noChangeAspect="1" noChangeShapeType="1"/>
                </p:cNvSpPr>
                <p:nvPr/>
              </p:nvSpPr>
              <p:spPr bwMode="auto">
                <a:xfrm>
                  <a:off x="1923" y="2486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4370" name="Group 1098"/>
            <p:cNvGrpSpPr>
              <a:grpSpLocks noChangeAspect="1"/>
            </p:cNvGrpSpPr>
            <p:nvPr/>
          </p:nvGrpSpPr>
          <p:grpSpPr bwMode="auto">
            <a:xfrm>
              <a:off x="888" y="3770"/>
              <a:ext cx="340" cy="273"/>
              <a:chOff x="2443" y="1615"/>
              <a:chExt cx="670" cy="537"/>
            </a:xfrm>
          </p:grpSpPr>
          <p:sp>
            <p:nvSpPr>
              <p:cNvPr id="54371" name="Rectangle 1099"/>
              <p:cNvSpPr>
                <a:spLocks noChangeAspect="1" noChangeArrowheads="1"/>
              </p:cNvSpPr>
              <p:nvPr/>
            </p:nvSpPr>
            <p:spPr bwMode="auto">
              <a:xfrm>
                <a:off x="2588" y="1623"/>
                <a:ext cx="409" cy="52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54372" name="Line 1100"/>
              <p:cNvSpPr>
                <a:spLocks noChangeAspect="1" noChangeShapeType="1"/>
              </p:cNvSpPr>
              <p:nvPr/>
            </p:nvSpPr>
            <p:spPr bwMode="auto">
              <a:xfrm flipH="1">
                <a:off x="2450" y="177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73" name="Line 1101"/>
              <p:cNvSpPr>
                <a:spLocks noChangeAspect="1" noChangeShapeType="1"/>
              </p:cNvSpPr>
              <p:nvPr/>
            </p:nvSpPr>
            <p:spPr bwMode="auto">
              <a:xfrm flipH="1">
                <a:off x="2443" y="1959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74" name="Text Box 1102"/>
              <p:cNvSpPr txBox="1">
                <a:spLocks noChangeAspect="1" noChangeArrowheads="1"/>
              </p:cNvSpPr>
              <p:nvPr/>
            </p:nvSpPr>
            <p:spPr bwMode="auto">
              <a:xfrm>
                <a:off x="2478" y="1621"/>
                <a:ext cx="3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D</a:t>
                </a:r>
              </a:p>
            </p:txBody>
          </p:sp>
          <p:sp>
            <p:nvSpPr>
              <p:cNvPr id="54375" name="Text Box 1103"/>
              <p:cNvSpPr txBox="1">
                <a:spLocks noChangeAspect="1" noChangeArrowheads="1"/>
              </p:cNvSpPr>
              <p:nvPr/>
            </p:nvSpPr>
            <p:spPr bwMode="auto">
              <a:xfrm>
                <a:off x="2766" y="1615"/>
                <a:ext cx="3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sz="800" b="1"/>
                  <a:t>Q</a:t>
                </a:r>
              </a:p>
            </p:txBody>
          </p:sp>
          <p:sp>
            <p:nvSpPr>
              <p:cNvPr id="54376" name="Line 1104"/>
              <p:cNvSpPr>
                <a:spLocks noChangeAspect="1" noChangeShapeType="1"/>
              </p:cNvSpPr>
              <p:nvPr/>
            </p:nvSpPr>
            <p:spPr bwMode="auto">
              <a:xfrm>
                <a:off x="2454" y="1981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4377" name="Group 1105"/>
              <p:cNvGrpSpPr>
                <a:grpSpLocks noChangeAspect="1"/>
              </p:cNvGrpSpPr>
              <p:nvPr/>
            </p:nvGrpSpPr>
            <p:grpSpPr bwMode="auto">
              <a:xfrm>
                <a:off x="2592" y="1904"/>
                <a:ext cx="75" cy="101"/>
                <a:chOff x="1920" y="2486"/>
                <a:chExt cx="294" cy="394"/>
              </a:xfrm>
            </p:grpSpPr>
            <p:sp>
              <p:nvSpPr>
                <p:cNvPr id="54378" name="Line 110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1920" y="2681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4379" name="Line 1107"/>
                <p:cNvSpPr>
                  <a:spLocks noChangeAspect="1" noChangeShapeType="1"/>
                </p:cNvSpPr>
                <p:nvPr/>
              </p:nvSpPr>
              <p:spPr bwMode="auto">
                <a:xfrm>
                  <a:off x="1923" y="2486"/>
                  <a:ext cx="291" cy="1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54276" name="Freeform 1108"/>
          <p:cNvSpPr>
            <a:spLocks/>
          </p:cNvSpPr>
          <p:nvPr/>
        </p:nvSpPr>
        <p:spPr bwMode="auto">
          <a:xfrm>
            <a:off x="2462213" y="1806575"/>
            <a:ext cx="2420937" cy="4389438"/>
          </a:xfrm>
          <a:custGeom>
            <a:avLst/>
            <a:gdLst>
              <a:gd name="T0" fmla="*/ 2147483647 w 1639"/>
              <a:gd name="T1" fmla="*/ 0 h 2996"/>
              <a:gd name="T2" fmla="*/ 2147483647 w 1639"/>
              <a:gd name="T3" fmla="*/ 0 h 2996"/>
              <a:gd name="T4" fmla="*/ 2147483647 w 1639"/>
              <a:gd name="T5" fmla="*/ 2147483647 h 2996"/>
              <a:gd name="T6" fmla="*/ 0 w 1639"/>
              <a:gd name="T7" fmla="*/ 2147483647 h 2996"/>
              <a:gd name="T8" fmla="*/ 0 60000 65536"/>
              <a:gd name="T9" fmla="*/ 0 60000 65536"/>
              <a:gd name="T10" fmla="*/ 0 60000 65536"/>
              <a:gd name="T11" fmla="*/ 0 60000 65536"/>
              <a:gd name="T12" fmla="*/ 0 w 1639"/>
              <a:gd name="T13" fmla="*/ 0 h 2996"/>
              <a:gd name="T14" fmla="*/ 1639 w 1639"/>
              <a:gd name="T15" fmla="*/ 2996 h 29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39" h="2996">
                <a:moveTo>
                  <a:pt x="1639" y="0"/>
                </a:moveTo>
                <a:lnTo>
                  <a:pt x="1223" y="0"/>
                </a:lnTo>
                <a:lnTo>
                  <a:pt x="1223" y="2996"/>
                </a:lnTo>
                <a:lnTo>
                  <a:pt x="0" y="299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77" name="Line 1109"/>
          <p:cNvSpPr>
            <a:spLocks noChangeShapeType="1"/>
          </p:cNvSpPr>
          <p:nvPr/>
        </p:nvSpPr>
        <p:spPr bwMode="auto">
          <a:xfrm flipH="1">
            <a:off x="4264025" y="2393950"/>
            <a:ext cx="587375" cy="79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278" name="Line 1110"/>
          <p:cNvSpPr>
            <a:spLocks noChangeShapeType="1"/>
          </p:cNvSpPr>
          <p:nvPr/>
        </p:nvSpPr>
        <p:spPr bwMode="auto">
          <a:xfrm flipH="1" flipV="1">
            <a:off x="749300" y="1666875"/>
            <a:ext cx="41767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79" name="Line 1111"/>
          <p:cNvSpPr>
            <a:spLocks noChangeShapeType="1"/>
          </p:cNvSpPr>
          <p:nvPr/>
        </p:nvSpPr>
        <p:spPr bwMode="auto">
          <a:xfrm flipH="1" flipV="1">
            <a:off x="2492375" y="5167313"/>
            <a:ext cx="2376488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0" name="Line 1112"/>
          <p:cNvSpPr>
            <a:spLocks noChangeShapeType="1"/>
          </p:cNvSpPr>
          <p:nvPr/>
        </p:nvSpPr>
        <p:spPr bwMode="auto">
          <a:xfrm flipH="1" flipV="1">
            <a:off x="2227263" y="4610100"/>
            <a:ext cx="2624137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1" name="Line 1113"/>
          <p:cNvSpPr>
            <a:spLocks noChangeShapeType="1"/>
          </p:cNvSpPr>
          <p:nvPr/>
        </p:nvSpPr>
        <p:spPr bwMode="auto">
          <a:xfrm flipH="1" flipV="1">
            <a:off x="1914525" y="4030663"/>
            <a:ext cx="2935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2" name="Line 1114"/>
          <p:cNvSpPr>
            <a:spLocks noChangeShapeType="1"/>
          </p:cNvSpPr>
          <p:nvPr/>
        </p:nvSpPr>
        <p:spPr bwMode="auto">
          <a:xfrm flipH="1" flipV="1">
            <a:off x="1611313" y="3413125"/>
            <a:ext cx="326707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3" name="Line 1115"/>
          <p:cNvSpPr>
            <a:spLocks noChangeShapeType="1"/>
          </p:cNvSpPr>
          <p:nvPr/>
        </p:nvSpPr>
        <p:spPr bwMode="auto">
          <a:xfrm flipH="1" flipV="1">
            <a:off x="1303338" y="2819400"/>
            <a:ext cx="35956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4" name="Line 1116"/>
          <p:cNvSpPr>
            <a:spLocks noChangeShapeType="1"/>
          </p:cNvSpPr>
          <p:nvPr/>
        </p:nvSpPr>
        <p:spPr bwMode="auto">
          <a:xfrm flipH="1">
            <a:off x="2770188" y="5764213"/>
            <a:ext cx="208915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5" name="Line 1117"/>
          <p:cNvSpPr>
            <a:spLocks noChangeShapeType="1"/>
          </p:cNvSpPr>
          <p:nvPr/>
        </p:nvSpPr>
        <p:spPr bwMode="auto">
          <a:xfrm flipH="1" flipV="1">
            <a:off x="4249738" y="4751388"/>
            <a:ext cx="609600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6" name="Line 1118"/>
          <p:cNvSpPr>
            <a:spLocks noChangeShapeType="1"/>
          </p:cNvSpPr>
          <p:nvPr/>
        </p:nvSpPr>
        <p:spPr bwMode="auto">
          <a:xfrm flipH="1">
            <a:off x="4252913" y="4160838"/>
            <a:ext cx="5873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287" name="Line 1119"/>
          <p:cNvSpPr>
            <a:spLocks noChangeShapeType="1"/>
          </p:cNvSpPr>
          <p:nvPr/>
        </p:nvSpPr>
        <p:spPr bwMode="auto">
          <a:xfrm flipH="1" flipV="1">
            <a:off x="4276725" y="3552825"/>
            <a:ext cx="574675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8" name="Line 1120"/>
          <p:cNvSpPr>
            <a:spLocks noChangeShapeType="1"/>
          </p:cNvSpPr>
          <p:nvPr/>
        </p:nvSpPr>
        <p:spPr bwMode="auto">
          <a:xfrm flipH="1">
            <a:off x="4294188" y="2952750"/>
            <a:ext cx="585787" cy="79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289" name="Line 1121"/>
          <p:cNvSpPr>
            <a:spLocks noChangeShapeType="1"/>
          </p:cNvSpPr>
          <p:nvPr/>
        </p:nvSpPr>
        <p:spPr bwMode="auto">
          <a:xfrm flipH="1" flipV="1">
            <a:off x="4273550" y="5311775"/>
            <a:ext cx="585788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90" name="Line 1122"/>
          <p:cNvSpPr>
            <a:spLocks noChangeShapeType="1"/>
          </p:cNvSpPr>
          <p:nvPr/>
        </p:nvSpPr>
        <p:spPr bwMode="auto">
          <a:xfrm flipH="1" flipV="1">
            <a:off x="4254500" y="5903913"/>
            <a:ext cx="58737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91" name="Line 1123"/>
          <p:cNvSpPr>
            <a:spLocks noChangeShapeType="1"/>
          </p:cNvSpPr>
          <p:nvPr/>
        </p:nvSpPr>
        <p:spPr bwMode="auto">
          <a:xfrm flipH="1">
            <a:off x="1038225" y="2260600"/>
            <a:ext cx="3833813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92" name="Oval 1124"/>
          <p:cNvSpPr>
            <a:spLocks noChangeArrowheads="1"/>
          </p:cNvSpPr>
          <p:nvPr/>
        </p:nvSpPr>
        <p:spPr bwMode="auto">
          <a:xfrm>
            <a:off x="4222750" y="2378075"/>
            <a:ext cx="69850" cy="6826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293" name="Oval 1125"/>
          <p:cNvSpPr>
            <a:spLocks noChangeArrowheads="1"/>
          </p:cNvSpPr>
          <p:nvPr/>
        </p:nvSpPr>
        <p:spPr bwMode="auto">
          <a:xfrm>
            <a:off x="4230688" y="2916238"/>
            <a:ext cx="71437" cy="6826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294" name="Oval 1126"/>
          <p:cNvSpPr>
            <a:spLocks noChangeArrowheads="1"/>
          </p:cNvSpPr>
          <p:nvPr/>
        </p:nvSpPr>
        <p:spPr bwMode="auto">
          <a:xfrm>
            <a:off x="4241800" y="3519488"/>
            <a:ext cx="69850" cy="6826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295" name="Oval 1127"/>
          <p:cNvSpPr>
            <a:spLocks noChangeArrowheads="1"/>
          </p:cNvSpPr>
          <p:nvPr/>
        </p:nvSpPr>
        <p:spPr bwMode="auto">
          <a:xfrm>
            <a:off x="4229100" y="4124325"/>
            <a:ext cx="71438" cy="6826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296" name="Oval 1128"/>
          <p:cNvSpPr>
            <a:spLocks noChangeArrowheads="1"/>
          </p:cNvSpPr>
          <p:nvPr/>
        </p:nvSpPr>
        <p:spPr bwMode="auto">
          <a:xfrm>
            <a:off x="4232275" y="4718050"/>
            <a:ext cx="71438" cy="6826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297" name="Oval 1129"/>
          <p:cNvSpPr>
            <a:spLocks noChangeArrowheads="1"/>
          </p:cNvSpPr>
          <p:nvPr/>
        </p:nvSpPr>
        <p:spPr bwMode="auto">
          <a:xfrm>
            <a:off x="4230688" y="5286375"/>
            <a:ext cx="71437" cy="6826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298" name="Oval 1130"/>
          <p:cNvSpPr>
            <a:spLocks noChangeArrowheads="1"/>
          </p:cNvSpPr>
          <p:nvPr/>
        </p:nvSpPr>
        <p:spPr bwMode="auto">
          <a:xfrm>
            <a:off x="4230688" y="5881688"/>
            <a:ext cx="71437" cy="6826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299" name="Line 1131"/>
          <p:cNvSpPr>
            <a:spLocks noChangeShapeType="1"/>
          </p:cNvSpPr>
          <p:nvPr/>
        </p:nvSpPr>
        <p:spPr bwMode="auto">
          <a:xfrm flipH="1" flipV="1">
            <a:off x="5272088" y="1658938"/>
            <a:ext cx="828675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300" name="Line 1132"/>
          <p:cNvSpPr>
            <a:spLocks noChangeShapeType="1"/>
          </p:cNvSpPr>
          <p:nvPr/>
        </p:nvSpPr>
        <p:spPr bwMode="auto">
          <a:xfrm flipH="1">
            <a:off x="5260975" y="2244725"/>
            <a:ext cx="1136650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301" name="Line 1133"/>
          <p:cNvSpPr>
            <a:spLocks noChangeShapeType="1"/>
          </p:cNvSpPr>
          <p:nvPr/>
        </p:nvSpPr>
        <p:spPr bwMode="auto">
          <a:xfrm flipH="1">
            <a:off x="5281613" y="2801938"/>
            <a:ext cx="1406525" cy="7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302" name="Line 1134"/>
          <p:cNvSpPr>
            <a:spLocks noChangeShapeType="1"/>
          </p:cNvSpPr>
          <p:nvPr/>
        </p:nvSpPr>
        <p:spPr bwMode="auto">
          <a:xfrm flipH="1" flipV="1">
            <a:off x="5272088" y="3395663"/>
            <a:ext cx="1746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303" name="Line 1135"/>
          <p:cNvSpPr>
            <a:spLocks noChangeShapeType="1"/>
          </p:cNvSpPr>
          <p:nvPr/>
        </p:nvSpPr>
        <p:spPr bwMode="auto">
          <a:xfrm flipH="1" flipV="1">
            <a:off x="5262563" y="4008438"/>
            <a:ext cx="2000250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304" name="Line 1136"/>
          <p:cNvSpPr>
            <a:spLocks noChangeShapeType="1"/>
          </p:cNvSpPr>
          <p:nvPr/>
        </p:nvSpPr>
        <p:spPr bwMode="auto">
          <a:xfrm flipH="1">
            <a:off x="5260975" y="4613275"/>
            <a:ext cx="23161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305" name="Line 1137"/>
          <p:cNvSpPr>
            <a:spLocks noChangeShapeType="1"/>
          </p:cNvSpPr>
          <p:nvPr/>
        </p:nvSpPr>
        <p:spPr bwMode="auto">
          <a:xfrm flipH="1" flipV="1">
            <a:off x="5272088" y="5170488"/>
            <a:ext cx="255587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306" name="Line 1138"/>
          <p:cNvSpPr>
            <a:spLocks noChangeShapeType="1"/>
          </p:cNvSpPr>
          <p:nvPr/>
        </p:nvSpPr>
        <p:spPr bwMode="auto">
          <a:xfrm flipH="1">
            <a:off x="5272088" y="5738813"/>
            <a:ext cx="2909887" cy="7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307" name="Text Box 1139"/>
          <p:cNvSpPr txBox="1">
            <a:spLocks noChangeArrowheads="1"/>
          </p:cNvSpPr>
          <p:nvPr/>
        </p:nvSpPr>
        <p:spPr bwMode="auto">
          <a:xfrm>
            <a:off x="4532313" y="1463675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D0</a:t>
            </a:r>
          </a:p>
        </p:txBody>
      </p:sp>
      <p:sp>
        <p:nvSpPr>
          <p:cNvPr id="54308" name="Text Box 1140"/>
          <p:cNvSpPr txBox="1">
            <a:spLocks noChangeArrowheads="1"/>
          </p:cNvSpPr>
          <p:nvPr/>
        </p:nvSpPr>
        <p:spPr bwMode="auto">
          <a:xfrm>
            <a:off x="4522788" y="5522913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D7</a:t>
            </a:r>
          </a:p>
        </p:txBody>
      </p:sp>
      <p:sp>
        <p:nvSpPr>
          <p:cNvPr id="54309" name="Text Box 1141"/>
          <p:cNvSpPr txBox="1">
            <a:spLocks noChangeArrowheads="1"/>
          </p:cNvSpPr>
          <p:nvPr/>
        </p:nvSpPr>
        <p:spPr bwMode="auto">
          <a:xfrm>
            <a:off x="4532313" y="2028825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D1</a:t>
            </a:r>
          </a:p>
        </p:txBody>
      </p:sp>
      <p:sp>
        <p:nvSpPr>
          <p:cNvPr id="54310" name="Text Box 1142"/>
          <p:cNvSpPr txBox="1">
            <a:spLocks noChangeArrowheads="1"/>
          </p:cNvSpPr>
          <p:nvPr/>
        </p:nvSpPr>
        <p:spPr bwMode="auto">
          <a:xfrm>
            <a:off x="4532313" y="3135313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D3</a:t>
            </a:r>
          </a:p>
        </p:txBody>
      </p:sp>
      <p:sp>
        <p:nvSpPr>
          <p:cNvPr id="54311" name="Text Box 1143"/>
          <p:cNvSpPr txBox="1">
            <a:spLocks noChangeArrowheads="1"/>
          </p:cNvSpPr>
          <p:nvPr/>
        </p:nvSpPr>
        <p:spPr bwMode="auto">
          <a:xfrm>
            <a:off x="4551363" y="2541588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D2</a:t>
            </a:r>
          </a:p>
        </p:txBody>
      </p:sp>
      <p:sp>
        <p:nvSpPr>
          <p:cNvPr id="54312" name="Text Box 1144"/>
          <p:cNvSpPr txBox="1">
            <a:spLocks noChangeArrowheads="1"/>
          </p:cNvSpPr>
          <p:nvPr/>
        </p:nvSpPr>
        <p:spPr bwMode="auto">
          <a:xfrm>
            <a:off x="4484688" y="3748088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D4</a:t>
            </a:r>
          </a:p>
        </p:txBody>
      </p:sp>
      <p:sp>
        <p:nvSpPr>
          <p:cNvPr id="54313" name="Text Box 1145"/>
          <p:cNvSpPr txBox="1">
            <a:spLocks noChangeArrowheads="1"/>
          </p:cNvSpPr>
          <p:nvPr/>
        </p:nvSpPr>
        <p:spPr bwMode="auto">
          <a:xfrm>
            <a:off x="4484688" y="4370388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D5</a:t>
            </a:r>
          </a:p>
        </p:txBody>
      </p:sp>
      <p:sp>
        <p:nvSpPr>
          <p:cNvPr id="54314" name="Text Box 1146"/>
          <p:cNvSpPr txBox="1">
            <a:spLocks noChangeArrowheads="1"/>
          </p:cNvSpPr>
          <p:nvPr/>
        </p:nvSpPr>
        <p:spPr bwMode="auto">
          <a:xfrm>
            <a:off x="4494213" y="4900613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D6</a:t>
            </a:r>
          </a:p>
        </p:txBody>
      </p:sp>
      <p:sp>
        <p:nvSpPr>
          <p:cNvPr id="54315" name="Text Box 1147"/>
          <p:cNvSpPr txBox="1">
            <a:spLocks noChangeArrowheads="1"/>
          </p:cNvSpPr>
          <p:nvPr/>
        </p:nvSpPr>
        <p:spPr bwMode="auto">
          <a:xfrm>
            <a:off x="5402263" y="1770063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Q0</a:t>
            </a:r>
          </a:p>
        </p:txBody>
      </p:sp>
      <p:sp>
        <p:nvSpPr>
          <p:cNvPr id="54316" name="Text Box 1148"/>
          <p:cNvSpPr txBox="1">
            <a:spLocks noChangeArrowheads="1"/>
          </p:cNvSpPr>
          <p:nvPr/>
        </p:nvSpPr>
        <p:spPr bwMode="auto">
          <a:xfrm>
            <a:off x="5392738" y="5829300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Q7</a:t>
            </a:r>
          </a:p>
        </p:txBody>
      </p:sp>
      <p:sp>
        <p:nvSpPr>
          <p:cNvPr id="54317" name="Text Box 1149"/>
          <p:cNvSpPr txBox="1">
            <a:spLocks noChangeArrowheads="1"/>
          </p:cNvSpPr>
          <p:nvPr/>
        </p:nvSpPr>
        <p:spPr bwMode="auto">
          <a:xfrm>
            <a:off x="5402263" y="2335213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Q1</a:t>
            </a:r>
          </a:p>
        </p:txBody>
      </p:sp>
      <p:sp>
        <p:nvSpPr>
          <p:cNvPr id="54318" name="Text Box 1150"/>
          <p:cNvSpPr txBox="1">
            <a:spLocks noChangeArrowheads="1"/>
          </p:cNvSpPr>
          <p:nvPr/>
        </p:nvSpPr>
        <p:spPr bwMode="auto">
          <a:xfrm>
            <a:off x="5402263" y="3441700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Q3</a:t>
            </a:r>
          </a:p>
        </p:txBody>
      </p:sp>
      <p:sp>
        <p:nvSpPr>
          <p:cNvPr id="54319" name="Text Box 1151"/>
          <p:cNvSpPr txBox="1">
            <a:spLocks noChangeArrowheads="1"/>
          </p:cNvSpPr>
          <p:nvPr/>
        </p:nvSpPr>
        <p:spPr bwMode="auto">
          <a:xfrm>
            <a:off x="5421313" y="2847975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Q2</a:t>
            </a:r>
          </a:p>
        </p:txBody>
      </p:sp>
      <p:sp>
        <p:nvSpPr>
          <p:cNvPr id="54320" name="Text Box 1152"/>
          <p:cNvSpPr txBox="1">
            <a:spLocks noChangeArrowheads="1"/>
          </p:cNvSpPr>
          <p:nvPr/>
        </p:nvSpPr>
        <p:spPr bwMode="auto">
          <a:xfrm>
            <a:off x="5354638" y="4054475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Q4</a:t>
            </a:r>
          </a:p>
        </p:txBody>
      </p:sp>
      <p:sp>
        <p:nvSpPr>
          <p:cNvPr id="54321" name="Text Box 1153"/>
          <p:cNvSpPr txBox="1">
            <a:spLocks noChangeArrowheads="1"/>
          </p:cNvSpPr>
          <p:nvPr/>
        </p:nvSpPr>
        <p:spPr bwMode="auto">
          <a:xfrm>
            <a:off x="5354638" y="4676775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Q5</a:t>
            </a:r>
          </a:p>
        </p:txBody>
      </p:sp>
      <p:sp>
        <p:nvSpPr>
          <p:cNvPr id="54322" name="Text Box 1154"/>
          <p:cNvSpPr txBox="1">
            <a:spLocks noChangeArrowheads="1"/>
          </p:cNvSpPr>
          <p:nvPr/>
        </p:nvSpPr>
        <p:spPr bwMode="auto">
          <a:xfrm>
            <a:off x="5364163" y="5207000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Q6</a:t>
            </a:r>
          </a:p>
        </p:txBody>
      </p:sp>
      <p:sp>
        <p:nvSpPr>
          <p:cNvPr id="54323" name="Line 1155"/>
          <p:cNvSpPr>
            <a:spLocks noChangeShapeType="1"/>
          </p:cNvSpPr>
          <p:nvPr/>
        </p:nvSpPr>
        <p:spPr bwMode="auto">
          <a:xfrm>
            <a:off x="2333625" y="6196013"/>
            <a:ext cx="1584325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4324" name="Text Box 1156"/>
          <p:cNvSpPr txBox="1">
            <a:spLocks noChangeArrowheads="1"/>
          </p:cNvSpPr>
          <p:nvPr/>
        </p:nvSpPr>
        <p:spPr bwMode="auto">
          <a:xfrm>
            <a:off x="3028950" y="6043613"/>
            <a:ext cx="873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Clock in</a:t>
            </a:r>
          </a:p>
        </p:txBody>
      </p:sp>
      <p:grpSp>
        <p:nvGrpSpPr>
          <p:cNvPr id="54325" name="Group 1157"/>
          <p:cNvGrpSpPr>
            <a:grpSpLocks/>
          </p:cNvGrpSpPr>
          <p:nvPr/>
        </p:nvGrpSpPr>
        <p:grpSpPr bwMode="auto">
          <a:xfrm>
            <a:off x="749300" y="1528763"/>
            <a:ext cx="2016125" cy="4613275"/>
            <a:chOff x="480" y="672"/>
            <a:chExt cx="1344" cy="3312"/>
          </a:xfrm>
        </p:grpSpPr>
        <p:sp>
          <p:nvSpPr>
            <p:cNvPr id="54355" name="Line 1158"/>
            <p:cNvSpPr>
              <a:spLocks noChangeShapeType="1"/>
            </p:cNvSpPr>
            <p:nvPr/>
          </p:nvSpPr>
          <p:spPr bwMode="auto">
            <a:xfrm>
              <a:off x="480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56" name="Line 1159"/>
            <p:cNvSpPr>
              <a:spLocks noChangeShapeType="1"/>
            </p:cNvSpPr>
            <p:nvPr/>
          </p:nvSpPr>
          <p:spPr bwMode="auto">
            <a:xfrm>
              <a:off x="672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57" name="Line 1160"/>
            <p:cNvSpPr>
              <a:spLocks noChangeShapeType="1"/>
            </p:cNvSpPr>
            <p:nvPr/>
          </p:nvSpPr>
          <p:spPr bwMode="auto">
            <a:xfrm>
              <a:off x="864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58" name="Line 1161"/>
            <p:cNvSpPr>
              <a:spLocks noChangeShapeType="1"/>
            </p:cNvSpPr>
            <p:nvPr/>
          </p:nvSpPr>
          <p:spPr bwMode="auto">
            <a:xfrm>
              <a:off x="1056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59" name="Line 1162"/>
            <p:cNvSpPr>
              <a:spLocks noChangeShapeType="1"/>
            </p:cNvSpPr>
            <p:nvPr/>
          </p:nvSpPr>
          <p:spPr bwMode="auto">
            <a:xfrm>
              <a:off x="1248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60" name="Line 1163"/>
            <p:cNvSpPr>
              <a:spLocks noChangeShapeType="1"/>
            </p:cNvSpPr>
            <p:nvPr/>
          </p:nvSpPr>
          <p:spPr bwMode="auto">
            <a:xfrm>
              <a:off x="1440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61" name="Line 1164"/>
            <p:cNvSpPr>
              <a:spLocks noChangeShapeType="1"/>
            </p:cNvSpPr>
            <p:nvPr/>
          </p:nvSpPr>
          <p:spPr bwMode="auto">
            <a:xfrm>
              <a:off x="1632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62" name="Line 1165"/>
            <p:cNvSpPr>
              <a:spLocks noChangeShapeType="1"/>
            </p:cNvSpPr>
            <p:nvPr/>
          </p:nvSpPr>
          <p:spPr bwMode="auto">
            <a:xfrm>
              <a:off x="1824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54326" name="Oval 1166"/>
          <p:cNvSpPr>
            <a:spLocks noChangeArrowheads="1"/>
          </p:cNvSpPr>
          <p:nvPr/>
        </p:nvSpPr>
        <p:spPr bwMode="auto">
          <a:xfrm>
            <a:off x="1000125" y="2239963"/>
            <a:ext cx="69850" cy="68262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27" name="Oval 1167"/>
          <p:cNvSpPr>
            <a:spLocks noChangeArrowheads="1"/>
          </p:cNvSpPr>
          <p:nvPr/>
        </p:nvSpPr>
        <p:spPr bwMode="auto">
          <a:xfrm>
            <a:off x="714375" y="1633538"/>
            <a:ext cx="71438" cy="68262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28" name="Oval 1168"/>
          <p:cNvSpPr>
            <a:spLocks noChangeArrowheads="1"/>
          </p:cNvSpPr>
          <p:nvPr/>
        </p:nvSpPr>
        <p:spPr bwMode="auto">
          <a:xfrm>
            <a:off x="1290638" y="2779713"/>
            <a:ext cx="71437" cy="68262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29" name="Oval 1169"/>
          <p:cNvSpPr>
            <a:spLocks noChangeArrowheads="1"/>
          </p:cNvSpPr>
          <p:nvPr/>
        </p:nvSpPr>
        <p:spPr bwMode="auto">
          <a:xfrm>
            <a:off x="1592263" y="3378200"/>
            <a:ext cx="71437" cy="68263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30" name="Oval 1170"/>
          <p:cNvSpPr>
            <a:spLocks noChangeArrowheads="1"/>
          </p:cNvSpPr>
          <p:nvPr/>
        </p:nvSpPr>
        <p:spPr bwMode="auto">
          <a:xfrm>
            <a:off x="1873250" y="3976688"/>
            <a:ext cx="69850" cy="68262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31" name="Oval 1171"/>
          <p:cNvSpPr>
            <a:spLocks noChangeArrowheads="1"/>
          </p:cNvSpPr>
          <p:nvPr/>
        </p:nvSpPr>
        <p:spPr bwMode="auto">
          <a:xfrm>
            <a:off x="2165350" y="4575175"/>
            <a:ext cx="71438" cy="68263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32" name="Oval 1172"/>
          <p:cNvSpPr>
            <a:spLocks noChangeArrowheads="1"/>
          </p:cNvSpPr>
          <p:nvPr/>
        </p:nvSpPr>
        <p:spPr bwMode="auto">
          <a:xfrm>
            <a:off x="2446338" y="5132388"/>
            <a:ext cx="69850" cy="68262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33" name="Oval 1173"/>
          <p:cNvSpPr>
            <a:spLocks noChangeArrowheads="1"/>
          </p:cNvSpPr>
          <p:nvPr/>
        </p:nvSpPr>
        <p:spPr bwMode="auto">
          <a:xfrm>
            <a:off x="2747963" y="5730875"/>
            <a:ext cx="69850" cy="68263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34" name="Text Box 1174"/>
          <p:cNvSpPr txBox="1">
            <a:spLocks noChangeArrowheads="1"/>
          </p:cNvSpPr>
          <p:nvPr/>
        </p:nvSpPr>
        <p:spPr bwMode="auto">
          <a:xfrm>
            <a:off x="533400" y="1303338"/>
            <a:ext cx="26336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D0    D1   D2  D3   D4   D5  D6   D7 </a:t>
            </a:r>
          </a:p>
        </p:txBody>
      </p:sp>
      <p:sp>
        <p:nvSpPr>
          <p:cNvPr id="54335" name="Text Box 1175"/>
          <p:cNvSpPr txBox="1">
            <a:spLocks noChangeArrowheads="1"/>
          </p:cNvSpPr>
          <p:nvPr/>
        </p:nvSpPr>
        <p:spPr bwMode="auto">
          <a:xfrm>
            <a:off x="1439863" y="6175375"/>
            <a:ext cx="11064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INPUT DATA</a:t>
            </a:r>
          </a:p>
        </p:txBody>
      </p:sp>
      <p:grpSp>
        <p:nvGrpSpPr>
          <p:cNvPr id="54336" name="Group 1176"/>
          <p:cNvGrpSpPr>
            <a:grpSpLocks/>
          </p:cNvGrpSpPr>
          <p:nvPr/>
        </p:nvGrpSpPr>
        <p:grpSpPr bwMode="auto">
          <a:xfrm>
            <a:off x="6119813" y="1554163"/>
            <a:ext cx="2016125" cy="4614862"/>
            <a:chOff x="480" y="672"/>
            <a:chExt cx="1344" cy="3312"/>
          </a:xfrm>
        </p:grpSpPr>
        <p:sp>
          <p:nvSpPr>
            <p:cNvPr id="54347" name="Line 1177"/>
            <p:cNvSpPr>
              <a:spLocks noChangeShapeType="1"/>
            </p:cNvSpPr>
            <p:nvPr/>
          </p:nvSpPr>
          <p:spPr bwMode="auto">
            <a:xfrm>
              <a:off x="480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48" name="Line 1178"/>
            <p:cNvSpPr>
              <a:spLocks noChangeShapeType="1"/>
            </p:cNvSpPr>
            <p:nvPr/>
          </p:nvSpPr>
          <p:spPr bwMode="auto">
            <a:xfrm>
              <a:off x="672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49" name="Line 1179"/>
            <p:cNvSpPr>
              <a:spLocks noChangeShapeType="1"/>
            </p:cNvSpPr>
            <p:nvPr/>
          </p:nvSpPr>
          <p:spPr bwMode="auto">
            <a:xfrm>
              <a:off x="864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50" name="Line 1180"/>
            <p:cNvSpPr>
              <a:spLocks noChangeShapeType="1"/>
            </p:cNvSpPr>
            <p:nvPr/>
          </p:nvSpPr>
          <p:spPr bwMode="auto">
            <a:xfrm>
              <a:off x="1056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51" name="Line 1181"/>
            <p:cNvSpPr>
              <a:spLocks noChangeShapeType="1"/>
            </p:cNvSpPr>
            <p:nvPr/>
          </p:nvSpPr>
          <p:spPr bwMode="auto">
            <a:xfrm>
              <a:off x="1248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52" name="Line 1182"/>
            <p:cNvSpPr>
              <a:spLocks noChangeShapeType="1"/>
            </p:cNvSpPr>
            <p:nvPr/>
          </p:nvSpPr>
          <p:spPr bwMode="auto">
            <a:xfrm>
              <a:off x="1440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53" name="Line 1183"/>
            <p:cNvSpPr>
              <a:spLocks noChangeShapeType="1"/>
            </p:cNvSpPr>
            <p:nvPr/>
          </p:nvSpPr>
          <p:spPr bwMode="auto">
            <a:xfrm>
              <a:off x="1632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54" name="Line 1184"/>
            <p:cNvSpPr>
              <a:spLocks noChangeShapeType="1"/>
            </p:cNvSpPr>
            <p:nvPr/>
          </p:nvSpPr>
          <p:spPr bwMode="auto">
            <a:xfrm>
              <a:off x="1824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54337" name="Text Box 1185"/>
          <p:cNvSpPr txBox="1">
            <a:spLocks noChangeArrowheads="1"/>
          </p:cNvSpPr>
          <p:nvPr/>
        </p:nvSpPr>
        <p:spPr bwMode="auto">
          <a:xfrm>
            <a:off x="6694488" y="6192838"/>
            <a:ext cx="1276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OUTPUT DATA</a:t>
            </a:r>
          </a:p>
        </p:txBody>
      </p:sp>
      <p:sp>
        <p:nvSpPr>
          <p:cNvPr id="54338" name="Oval 1186"/>
          <p:cNvSpPr>
            <a:spLocks noChangeArrowheads="1"/>
          </p:cNvSpPr>
          <p:nvPr/>
        </p:nvSpPr>
        <p:spPr bwMode="auto">
          <a:xfrm>
            <a:off x="8107363" y="5715000"/>
            <a:ext cx="69850" cy="6826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39" name="Oval 1187"/>
          <p:cNvSpPr>
            <a:spLocks noChangeArrowheads="1"/>
          </p:cNvSpPr>
          <p:nvPr/>
        </p:nvSpPr>
        <p:spPr bwMode="auto">
          <a:xfrm>
            <a:off x="7219950" y="3968750"/>
            <a:ext cx="69850" cy="6826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40" name="Oval 1188"/>
          <p:cNvSpPr>
            <a:spLocks noChangeArrowheads="1"/>
          </p:cNvSpPr>
          <p:nvPr/>
        </p:nvSpPr>
        <p:spPr bwMode="auto">
          <a:xfrm>
            <a:off x="6951663" y="3384550"/>
            <a:ext cx="71437" cy="6826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41" name="Oval 1189"/>
          <p:cNvSpPr>
            <a:spLocks noChangeArrowheads="1"/>
          </p:cNvSpPr>
          <p:nvPr/>
        </p:nvSpPr>
        <p:spPr bwMode="auto">
          <a:xfrm>
            <a:off x="6651625" y="2768600"/>
            <a:ext cx="71438" cy="6826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42" name="Oval 1190"/>
          <p:cNvSpPr>
            <a:spLocks noChangeArrowheads="1"/>
          </p:cNvSpPr>
          <p:nvPr/>
        </p:nvSpPr>
        <p:spPr bwMode="auto">
          <a:xfrm>
            <a:off x="6354763" y="2214563"/>
            <a:ext cx="71437" cy="68262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43" name="Oval 1191"/>
          <p:cNvSpPr>
            <a:spLocks noChangeArrowheads="1"/>
          </p:cNvSpPr>
          <p:nvPr/>
        </p:nvSpPr>
        <p:spPr bwMode="auto">
          <a:xfrm>
            <a:off x="6076950" y="1620838"/>
            <a:ext cx="71438" cy="68262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44" name="Oval 1192"/>
          <p:cNvSpPr>
            <a:spLocks noChangeArrowheads="1"/>
          </p:cNvSpPr>
          <p:nvPr/>
        </p:nvSpPr>
        <p:spPr bwMode="auto">
          <a:xfrm>
            <a:off x="7808913" y="5141913"/>
            <a:ext cx="69850" cy="68262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45" name="Oval 1193"/>
          <p:cNvSpPr>
            <a:spLocks noChangeArrowheads="1"/>
          </p:cNvSpPr>
          <p:nvPr/>
        </p:nvSpPr>
        <p:spPr bwMode="auto">
          <a:xfrm>
            <a:off x="7510463" y="4578350"/>
            <a:ext cx="69850" cy="6826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4346" name="Text Box 1194"/>
          <p:cNvSpPr txBox="1">
            <a:spLocks noChangeArrowheads="1"/>
          </p:cNvSpPr>
          <p:nvPr/>
        </p:nvSpPr>
        <p:spPr bwMode="auto">
          <a:xfrm>
            <a:off x="5883275" y="1339850"/>
            <a:ext cx="26320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D0    D1   D2  D3   D4   D5  D6   D7 </a:t>
            </a:r>
          </a:p>
        </p:txBody>
      </p:sp>
    </p:spTree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58813" y="0"/>
            <a:ext cx="7747000" cy="762000"/>
          </a:xfrm>
        </p:spPr>
        <p:txBody>
          <a:bodyPr/>
          <a:lstStyle/>
          <a:p>
            <a:r>
              <a:rPr lang="en-US" smtClean="0"/>
              <a:t>An 8-bit storage register</a:t>
            </a:r>
          </a:p>
        </p:txBody>
      </p:sp>
      <p:sp>
        <p:nvSpPr>
          <p:cNvPr id="55299" name="Line 1027"/>
          <p:cNvSpPr>
            <a:spLocks noChangeShapeType="1"/>
          </p:cNvSpPr>
          <p:nvPr/>
        </p:nvSpPr>
        <p:spPr bwMode="auto">
          <a:xfrm flipH="1" flipV="1">
            <a:off x="762000" y="1219200"/>
            <a:ext cx="3505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0" name="Line 1028"/>
          <p:cNvSpPr>
            <a:spLocks noChangeShapeType="1"/>
          </p:cNvSpPr>
          <p:nvPr/>
        </p:nvSpPr>
        <p:spPr bwMode="auto">
          <a:xfrm flipH="1">
            <a:off x="2552700" y="5051425"/>
            <a:ext cx="17430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1" name="Line 1029"/>
          <p:cNvSpPr>
            <a:spLocks noChangeShapeType="1"/>
          </p:cNvSpPr>
          <p:nvPr/>
        </p:nvSpPr>
        <p:spPr bwMode="auto">
          <a:xfrm flipH="1">
            <a:off x="2298700" y="4441825"/>
            <a:ext cx="19589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2" name="Line 1030"/>
          <p:cNvSpPr>
            <a:spLocks noChangeShapeType="1"/>
          </p:cNvSpPr>
          <p:nvPr/>
        </p:nvSpPr>
        <p:spPr bwMode="auto">
          <a:xfrm flipH="1">
            <a:off x="1995488" y="3797300"/>
            <a:ext cx="226695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3" name="Line 1031"/>
          <p:cNvSpPr>
            <a:spLocks noChangeShapeType="1"/>
          </p:cNvSpPr>
          <p:nvPr/>
        </p:nvSpPr>
        <p:spPr bwMode="auto">
          <a:xfrm flipH="1">
            <a:off x="1647825" y="3138488"/>
            <a:ext cx="262572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4" name="Line 1032"/>
          <p:cNvSpPr>
            <a:spLocks noChangeShapeType="1"/>
          </p:cNvSpPr>
          <p:nvPr/>
        </p:nvSpPr>
        <p:spPr bwMode="auto">
          <a:xfrm flipH="1">
            <a:off x="1347788" y="2473325"/>
            <a:ext cx="2916237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5" name="Line 1033"/>
          <p:cNvSpPr>
            <a:spLocks noChangeShapeType="1"/>
          </p:cNvSpPr>
          <p:nvPr/>
        </p:nvSpPr>
        <p:spPr bwMode="auto">
          <a:xfrm flipH="1" flipV="1">
            <a:off x="2900363" y="5702300"/>
            <a:ext cx="1366837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6" name="Line 1034"/>
          <p:cNvSpPr>
            <a:spLocks noChangeShapeType="1"/>
          </p:cNvSpPr>
          <p:nvPr/>
        </p:nvSpPr>
        <p:spPr bwMode="auto">
          <a:xfrm flipH="1" flipV="1">
            <a:off x="1068388" y="1870075"/>
            <a:ext cx="3192462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7" name="Line 1035"/>
          <p:cNvSpPr>
            <a:spLocks noChangeShapeType="1"/>
          </p:cNvSpPr>
          <p:nvPr/>
        </p:nvSpPr>
        <p:spPr bwMode="auto">
          <a:xfrm flipH="1">
            <a:off x="5548313" y="1200150"/>
            <a:ext cx="876300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8" name="Line 1036"/>
          <p:cNvSpPr>
            <a:spLocks noChangeShapeType="1"/>
          </p:cNvSpPr>
          <p:nvPr/>
        </p:nvSpPr>
        <p:spPr bwMode="auto">
          <a:xfrm flipH="1">
            <a:off x="5537200" y="1851025"/>
            <a:ext cx="1201738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9" name="Line 1037"/>
          <p:cNvSpPr>
            <a:spLocks noChangeShapeType="1"/>
          </p:cNvSpPr>
          <p:nvPr/>
        </p:nvSpPr>
        <p:spPr bwMode="auto">
          <a:xfrm flipH="1">
            <a:off x="5564188" y="2459038"/>
            <a:ext cx="148272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10" name="Line 1038"/>
          <p:cNvSpPr>
            <a:spLocks noChangeShapeType="1"/>
          </p:cNvSpPr>
          <p:nvPr/>
        </p:nvSpPr>
        <p:spPr bwMode="auto">
          <a:xfrm flipH="1" flipV="1">
            <a:off x="5548313" y="3109913"/>
            <a:ext cx="1847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11" name="Line 1039"/>
          <p:cNvSpPr>
            <a:spLocks noChangeShapeType="1"/>
          </p:cNvSpPr>
          <p:nvPr/>
        </p:nvSpPr>
        <p:spPr bwMode="auto">
          <a:xfrm flipH="1" flipV="1">
            <a:off x="5538788" y="3779838"/>
            <a:ext cx="2116137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12" name="Line 1040"/>
          <p:cNvSpPr>
            <a:spLocks noChangeShapeType="1"/>
          </p:cNvSpPr>
          <p:nvPr/>
        </p:nvSpPr>
        <p:spPr bwMode="auto">
          <a:xfrm flipH="1">
            <a:off x="5537200" y="4440238"/>
            <a:ext cx="2451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13" name="Line 1041"/>
          <p:cNvSpPr>
            <a:spLocks noChangeShapeType="1"/>
          </p:cNvSpPr>
          <p:nvPr/>
        </p:nvSpPr>
        <p:spPr bwMode="auto">
          <a:xfrm flipH="1" flipV="1">
            <a:off x="5548313" y="5049838"/>
            <a:ext cx="2705100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14" name="Line 1042"/>
          <p:cNvSpPr>
            <a:spLocks noChangeShapeType="1"/>
          </p:cNvSpPr>
          <p:nvPr/>
        </p:nvSpPr>
        <p:spPr bwMode="auto">
          <a:xfrm flipH="1">
            <a:off x="5548313" y="5672138"/>
            <a:ext cx="3079750" cy="7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15" name="Text Box 1043"/>
          <p:cNvSpPr txBox="1">
            <a:spLocks noChangeArrowheads="1"/>
          </p:cNvSpPr>
          <p:nvPr/>
        </p:nvSpPr>
        <p:spPr bwMode="auto">
          <a:xfrm>
            <a:off x="3848100" y="1019175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D0</a:t>
            </a:r>
          </a:p>
        </p:txBody>
      </p:sp>
      <p:sp>
        <p:nvSpPr>
          <p:cNvPr id="55316" name="Text Box 1044"/>
          <p:cNvSpPr txBox="1">
            <a:spLocks noChangeArrowheads="1"/>
          </p:cNvSpPr>
          <p:nvPr/>
        </p:nvSpPr>
        <p:spPr bwMode="auto">
          <a:xfrm>
            <a:off x="3838575" y="5459413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D7</a:t>
            </a:r>
          </a:p>
        </p:txBody>
      </p:sp>
      <p:sp>
        <p:nvSpPr>
          <p:cNvPr id="55317" name="Text Box 1045"/>
          <p:cNvSpPr txBox="1">
            <a:spLocks noChangeArrowheads="1"/>
          </p:cNvSpPr>
          <p:nvPr/>
        </p:nvSpPr>
        <p:spPr bwMode="auto">
          <a:xfrm>
            <a:off x="3848100" y="1638300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D1</a:t>
            </a:r>
          </a:p>
        </p:txBody>
      </p:sp>
      <p:sp>
        <p:nvSpPr>
          <p:cNvPr id="55318" name="Text Box 1046"/>
          <p:cNvSpPr txBox="1">
            <a:spLocks noChangeArrowheads="1"/>
          </p:cNvSpPr>
          <p:nvPr/>
        </p:nvSpPr>
        <p:spPr bwMode="auto">
          <a:xfrm>
            <a:off x="3848100" y="2847975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D3</a:t>
            </a:r>
          </a:p>
        </p:txBody>
      </p:sp>
      <p:sp>
        <p:nvSpPr>
          <p:cNvPr id="55319" name="Text Box 1047"/>
          <p:cNvSpPr txBox="1">
            <a:spLocks noChangeArrowheads="1"/>
          </p:cNvSpPr>
          <p:nvPr/>
        </p:nvSpPr>
        <p:spPr bwMode="auto">
          <a:xfrm>
            <a:off x="3868738" y="2198688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D2</a:t>
            </a:r>
          </a:p>
        </p:txBody>
      </p:sp>
      <p:sp>
        <p:nvSpPr>
          <p:cNvPr id="55320" name="Text Box 1048"/>
          <p:cNvSpPr txBox="1">
            <a:spLocks noChangeArrowheads="1"/>
          </p:cNvSpPr>
          <p:nvPr/>
        </p:nvSpPr>
        <p:spPr bwMode="auto">
          <a:xfrm>
            <a:off x="3797300" y="3517900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D4</a:t>
            </a:r>
          </a:p>
        </p:txBody>
      </p:sp>
      <p:sp>
        <p:nvSpPr>
          <p:cNvPr id="55321" name="Text Box 1049"/>
          <p:cNvSpPr txBox="1">
            <a:spLocks noChangeArrowheads="1"/>
          </p:cNvSpPr>
          <p:nvPr/>
        </p:nvSpPr>
        <p:spPr bwMode="auto">
          <a:xfrm>
            <a:off x="3797300" y="4198938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D5</a:t>
            </a:r>
          </a:p>
        </p:txBody>
      </p:sp>
      <p:sp>
        <p:nvSpPr>
          <p:cNvPr id="55322" name="Text Box 1050"/>
          <p:cNvSpPr txBox="1">
            <a:spLocks noChangeArrowheads="1"/>
          </p:cNvSpPr>
          <p:nvPr/>
        </p:nvSpPr>
        <p:spPr bwMode="auto">
          <a:xfrm>
            <a:off x="3808413" y="4778375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D6</a:t>
            </a:r>
          </a:p>
        </p:txBody>
      </p:sp>
      <p:sp>
        <p:nvSpPr>
          <p:cNvPr id="55323" name="Text Box 1051"/>
          <p:cNvSpPr txBox="1">
            <a:spLocks noChangeArrowheads="1"/>
          </p:cNvSpPr>
          <p:nvPr/>
        </p:nvSpPr>
        <p:spPr bwMode="auto">
          <a:xfrm>
            <a:off x="5695950" y="1341438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Q0</a:t>
            </a:r>
          </a:p>
        </p:txBody>
      </p:sp>
      <p:sp>
        <p:nvSpPr>
          <p:cNvPr id="55324" name="Text Box 1052"/>
          <p:cNvSpPr txBox="1">
            <a:spLocks noChangeArrowheads="1"/>
          </p:cNvSpPr>
          <p:nvPr/>
        </p:nvSpPr>
        <p:spPr bwMode="auto">
          <a:xfrm>
            <a:off x="5686425" y="5781675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Q7</a:t>
            </a:r>
          </a:p>
        </p:txBody>
      </p:sp>
      <p:sp>
        <p:nvSpPr>
          <p:cNvPr id="55325" name="Text Box 1053"/>
          <p:cNvSpPr txBox="1">
            <a:spLocks noChangeArrowheads="1"/>
          </p:cNvSpPr>
          <p:nvPr/>
        </p:nvSpPr>
        <p:spPr bwMode="auto">
          <a:xfrm>
            <a:off x="5695950" y="1960563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Q1</a:t>
            </a:r>
          </a:p>
        </p:txBody>
      </p:sp>
      <p:sp>
        <p:nvSpPr>
          <p:cNvPr id="55326" name="Text Box 1054"/>
          <p:cNvSpPr txBox="1">
            <a:spLocks noChangeArrowheads="1"/>
          </p:cNvSpPr>
          <p:nvPr/>
        </p:nvSpPr>
        <p:spPr bwMode="auto">
          <a:xfrm>
            <a:off x="5695950" y="3170238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Q3</a:t>
            </a:r>
          </a:p>
        </p:txBody>
      </p:sp>
      <p:sp>
        <p:nvSpPr>
          <p:cNvPr id="55327" name="Text Box 1055"/>
          <p:cNvSpPr txBox="1">
            <a:spLocks noChangeArrowheads="1"/>
          </p:cNvSpPr>
          <p:nvPr/>
        </p:nvSpPr>
        <p:spPr bwMode="auto">
          <a:xfrm>
            <a:off x="5716588" y="2520950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Q2</a:t>
            </a:r>
          </a:p>
        </p:txBody>
      </p:sp>
      <p:sp>
        <p:nvSpPr>
          <p:cNvPr id="55328" name="Text Box 1056"/>
          <p:cNvSpPr txBox="1">
            <a:spLocks noChangeArrowheads="1"/>
          </p:cNvSpPr>
          <p:nvPr/>
        </p:nvSpPr>
        <p:spPr bwMode="auto">
          <a:xfrm>
            <a:off x="5645150" y="3840163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Q4</a:t>
            </a:r>
          </a:p>
        </p:txBody>
      </p:sp>
      <p:sp>
        <p:nvSpPr>
          <p:cNvPr id="55329" name="Text Box 1057"/>
          <p:cNvSpPr txBox="1">
            <a:spLocks noChangeArrowheads="1"/>
          </p:cNvSpPr>
          <p:nvPr/>
        </p:nvSpPr>
        <p:spPr bwMode="auto">
          <a:xfrm>
            <a:off x="5645150" y="4521200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Q5</a:t>
            </a:r>
          </a:p>
        </p:txBody>
      </p:sp>
      <p:sp>
        <p:nvSpPr>
          <p:cNvPr id="55330" name="Text Box 1058"/>
          <p:cNvSpPr txBox="1">
            <a:spLocks noChangeArrowheads="1"/>
          </p:cNvSpPr>
          <p:nvPr/>
        </p:nvSpPr>
        <p:spPr bwMode="auto">
          <a:xfrm>
            <a:off x="5656263" y="5100638"/>
            <a:ext cx="35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Q6</a:t>
            </a:r>
          </a:p>
        </p:txBody>
      </p:sp>
      <p:sp>
        <p:nvSpPr>
          <p:cNvPr id="55331" name="Line 1059"/>
          <p:cNvSpPr>
            <a:spLocks noChangeShapeType="1"/>
          </p:cNvSpPr>
          <p:nvPr/>
        </p:nvSpPr>
        <p:spPr bwMode="auto">
          <a:xfrm>
            <a:off x="2438400" y="6172200"/>
            <a:ext cx="1676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5332" name="Text Box 1060"/>
          <p:cNvSpPr txBox="1">
            <a:spLocks noChangeArrowheads="1"/>
          </p:cNvSpPr>
          <p:nvPr/>
        </p:nvSpPr>
        <p:spPr bwMode="auto">
          <a:xfrm>
            <a:off x="3200400" y="5930900"/>
            <a:ext cx="873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Clock in</a:t>
            </a:r>
          </a:p>
        </p:txBody>
      </p:sp>
      <p:grpSp>
        <p:nvGrpSpPr>
          <p:cNvPr id="55333" name="Group 1061"/>
          <p:cNvGrpSpPr>
            <a:grpSpLocks/>
          </p:cNvGrpSpPr>
          <p:nvPr/>
        </p:nvGrpSpPr>
        <p:grpSpPr bwMode="auto">
          <a:xfrm>
            <a:off x="762000" y="1066800"/>
            <a:ext cx="2133600" cy="5046663"/>
            <a:chOff x="480" y="672"/>
            <a:chExt cx="1344" cy="3312"/>
          </a:xfrm>
        </p:grpSpPr>
        <p:sp>
          <p:nvSpPr>
            <p:cNvPr id="55367" name="Line 1062"/>
            <p:cNvSpPr>
              <a:spLocks noChangeShapeType="1"/>
            </p:cNvSpPr>
            <p:nvPr/>
          </p:nvSpPr>
          <p:spPr bwMode="auto">
            <a:xfrm>
              <a:off x="480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68" name="Line 1063"/>
            <p:cNvSpPr>
              <a:spLocks noChangeShapeType="1"/>
            </p:cNvSpPr>
            <p:nvPr/>
          </p:nvSpPr>
          <p:spPr bwMode="auto">
            <a:xfrm>
              <a:off x="672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69" name="Line 1064"/>
            <p:cNvSpPr>
              <a:spLocks noChangeShapeType="1"/>
            </p:cNvSpPr>
            <p:nvPr/>
          </p:nvSpPr>
          <p:spPr bwMode="auto">
            <a:xfrm>
              <a:off x="864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70" name="Line 1065"/>
            <p:cNvSpPr>
              <a:spLocks noChangeShapeType="1"/>
            </p:cNvSpPr>
            <p:nvPr/>
          </p:nvSpPr>
          <p:spPr bwMode="auto">
            <a:xfrm>
              <a:off x="1056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71" name="Line 1066"/>
            <p:cNvSpPr>
              <a:spLocks noChangeShapeType="1"/>
            </p:cNvSpPr>
            <p:nvPr/>
          </p:nvSpPr>
          <p:spPr bwMode="auto">
            <a:xfrm>
              <a:off x="1248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72" name="Line 1067"/>
            <p:cNvSpPr>
              <a:spLocks noChangeShapeType="1"/>
            </p:cNvSpPr>
            <p:nvPr/>
          </p:nvSpPr>
          <p:spPr bwMode="auto">
            <a:xfrm>
              <a:off x="1440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73" name="Line 1068"/>
            <p:cNvSpPr>
              <a:spLocks noChangeShapeType="1"/>
            </p:cNvSpPr>
            <p:nvPr/>
          </p:nvSpPr>
          <p:spPr bwMode="auto">
            <a:xfrm>
              <a:off x="1632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74" name="Line 1069"/>
            <p:cNvSpPr>
              <a:spLocks noChangeShapeType="1"/>
            </p:cNvSpPr>
            <p:nvPr/>
          </p:nvSpPr>
          <p:spPr bwMode="auto">
            <a:xfrm>
              <a:off x="1824" y="672"/>
              <a:ext cx="0" cy="3312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55334" name="Oval 1070"/>
          <p:cNvSpPr>
            <a:spLocks noChangeArrowheads="1"/>
          </p:cNvSpPr>
          <p:nvPr/>
        </p:nvSpPr>
        <p:spPr bwMode="auto">
          <a:xfrm>
            <a:off x="1027113" y="1844675"/>
            <a:ext cx="74612" cy="74613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35" name="Oval 1071"/>
          <p:cNvSpPr>
            <a:spLocks noChangeArrowheads="1"/>
          </p:cNvSpPr>
          <p:nvPr/>
        </p:nvSpPr>
        <p:spPr bwMode="auto">
          <a:xfrm>
            <a:off x="725488" y="1181100"/>
            <a:ext cx="74612" cy="74613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36" name="Oval 1072"/>
          <p:cNvSpPr>
            <a:spLocks noChangeArrowheads="1"/>
          </p:cNvSpPr>
          <p:nvPr/>
        </p:nvSpPr>
        <p:spPr bwMode="auto">
          <a:xfrm>
            <a:off x="1335088" y="2435225"/>
            <a:ext cx="74612" cy="74613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37" name="Oval 1073"/>
          <p:cNvSpPr>
            <a:spLocks noChangeArrowheads="1"/>
          </p:cNvSpPr>
          <p:nvPr/>
        </p:nvSpPr>
        <p:spPr bwMode="auto">
          <a:xfrm>
            <a:off x="1654175" y="3090863"/>
            <a:ext cx="74613" cy="74612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38" name="Oval 1074"/>
          <p:cNvSpPr>
            <a:spLocks noChangeArrowheads="1"/>
          </p:cNvSpPr>
          <p:nvPr/>
        </p:nvSpPr>
        <p:spPr bwMode="auto">
          <a:xfrm>
            <a:off x="1951038" y="3744913"/>
            <a:ext cx="74612" cy="74612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39" name="Oval 1075"/>
          <p:cNvSpPr>
            <a:spLocks noChangeArrowheads="1"/>
          </p:cNvSpPr>
          <p:nvPr/>
        </p:nvSpPr>
        <p:spPr bwMode="auto">
          <a:xfrm>
            <a:off x="2260600" y="4398963"/>
            <a:ext cx="74613" cy="74612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40" name="Oval 1076"/>
          <p:cNvSpPr>
            <a:spLocks noChangeArrowheads="1"/>
          </p:cNvSpPr>
          <p:nvPr/>
        </p:nvSpPr>
        <p:spPr bwMode="auto">
          <a:xfrm>
            <a:off x="2557463" y="5008563"/>
            <a:ext cx="74612" cy="74612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41" name="Oval 1077"/>
          <p:cNvSpPr>
            <a:spLocks noChangeArrowheads="1"/>
          </p:cNvSpPr>
          <p:nvPr/>
        </p:nvSpPr>
        <p:spPr bwMode="auto">
          <a:xfrm>
            <a:off x="2876550" y="5662613"/>
            <a:ext cx="74613" cy="74612"/>
          </a:xfrm>
          <a:prstGeom prst="ellipse">
            <a:avLst/>
          </a:prstGeom>
          <a:solidFill>
            <a:srgbClr val="0033CC"/>
          </a:solidFill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42" name="Text Box 1078"/>
          <p:cNvSpPr txBox="1">
            <a:spLocks noChangeArrowheads="1"/>
          </p:cNvSpPr>
          <p:nvPr/>
        </p:nvSpPr>
        <p:spPr bwMode="auto">
          <a:xfrm>
            <a:off x="533400" y="820738"/>
            <a:ext cx="26336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D0    D1   D2  D3   D4   D5  D6   D7 </a:t>
            </a:r>
          </a:p>
        </p:txBody>
      </p:sp>
      <p:sp>
        <p:nvSpPr>
          <p:cNvPr id="55343" name="Text Box 1079"/>
          <p:cNvSpPr txBox="1">
            <a:spLocks noChangeArrowheads="1"/>
          </p:cNvSpPr>
          <p:nvPr/>
        </p:nvSpPr>
        <p:spPr bwMode="auto">
          <a:xfrm>
            <a:off x="1492250" y="6149975"/>
            <a:ext cx="11064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INPUT DATA</a:t>
            </a:r>
          </a:p>
        </p:txBody>
      </p:sp>
      <p:grpSp>
        <p:nvGrpSpPr>
          <p:cNvPr id="55344" name="Group 1080"/>
          <p:cNvGrpSpPr>
            <a:grpSpLocks/>
          </p:cNvGrpSpPr>
          <p:nvPr/>
        </p:nvGrpSpPr>
        <p:grpSpPr bwMode="auto">
          <a:xfrm>
            <a:off x="6445250" y="1095375"/>
            <a:ext cx="2133600" cy="5046663"/>
            <a:chOff x="480" y="672"/>
            <a:chExt cx="1344" cy="3312"/>
          </a:xfrm>
        </p:grpSpPr>
        <p:sp>
          <p:nvSpPr>
            <p:cNvPr id="55359" name="Line 1081"/>
            <p:cNvSpPr>
              <a:spLocks noChangeShapeType="1"/>
            </p:cNvSpPr>
            <p:nvPr/>
          </p:nvSpPr>
          <p:spPr bwMode="auto">
            <a:xfrm>
              <a:off x="480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60" name="Line 1082"/>
            <p:cNvSpPr>
              <a:spLocks noChangeShapeType="1"/>
            </p:cNvSpPr>
            <p:nvPr/>
          </p:nvSpPr>
          <p:spPr bwMode="auto">
            <a:xfrm>
              <a:off x="672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61" name="Line 1083"/>
            <p:cNvSpPr>
              <a:spLocks noChangeShapeType="1"/>
            </p:cNvSpPr>
            <p:nvPr/>
          </p:nvSpPr>
          <p:spPr bwMode="auto">
            <a:xfrm>
              <a:off x="864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62" name="Line 1084"/>
            <p:cNvSpPr>
              <a:spLocks noChangeShapeType="1"/>
            </p:cNvSpPr>
            <p:nvPr/>
          </p:nvSpPr>
          <p:spPr bwMode="auto">
            <a:xfrm>
              <a:off x="1056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63" name="Line 1085"/>
            <p:cNvSpPr>
              <a:spLocks noChangeShapeType="1"/>
            </p:cNvSpPr>
            <p:nvPr/>
          </p:nvSpPr>
          <p:spPr bwMode="auto">
            <a:xfrm>
              <a:off x="1248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64" name="Line 1086"/>
            <p:cNvSpPr>
              <a:spLocks noChangeShapeType="1"/>
            </p:cNvSpPr>
            <p:nvPr/>
          </p:nvSpPr>
          <p:spPr bwMode="auto">
            <a:xfrm>
              <a:off x="1440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65" name="Line 1087"/>
            <p:cNvSpPr>
              <a:spLocks noChangeShapeType="1"/>
            </p:cNvSpPr>
            <p:nvPr/>
          </p:nvSpPr>
          <p:spPr bwMode="auto">
            <a:xfrm>
              <a:off x="1632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366" name="Line 1088"/>
            <p:cNvSpPr>
              <a:spLocks noChangeShapeType="1"/>
            </p:cNvSpPr>
            <p:nvPr/>
          </p:nvSpPr>
          <p:spPr bwMode="auto">
            <a:xfrm>
              <a:off x="1824" y="672"/>
              <a:ext cx="0" cy="3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55345" name="Text Box 1089"/>
          <p:cNvSpPr txBox="1">
            <a:spLocks noChangeArrowheads="1"/>
          </p:cNvSpPr>
          <p:nvPr/>
        </p:nvSpPr>
        <p:spPr bwMode="auto">
          <a:xfrm>
            <a:off x="7053263" y="6169025"/>
            <a:ext cx="1276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OUTPUT DATA</a:t>
            </a:r>
          </a:p>
        </p:txBody>
      </p:sp>
      <p:sp>
        <p:nvSpPr>
          <p:cNvPr id="55346" name="Oval 1090"/>
          <p:cNvSpPr>
            <a:spLocks noChangeArrowheads="1"/>
          </p:cNvSpPr>
          <p:nvPr/>
        </p:nvSpPr>
        <p:spPr bwMode="auto">
          <a:xfrm>
            <a:off x="8548688" y="5646738"/>
            <a:ext cx="74612" cy="74612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47" name="Oval 1091"/>
          <p:cNvSpPr>
            <a:spLocks noChangeArrowheads="1"/>
          </p:cNvSpPr>
          <p:nvPr/>
        </p:nvSpPr>
        <p:spPr bwMode="auto">
          <a:xfrm>
            <a:off x="7608888" y="3735388"/>
            <a:ext cx="74612" cy="74612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48" name="Oval 1092"/>
          <p:cNvSpPr>
            <a:spLocks noChangeArrowheads="1"/>
          </p:cNvSpPr>
          <p:nvPr/>
        </p:nvSpPr>
        <p:spPr bwMode="auto">
          <a:xfrm>
            <a:off x="7326313" y="3097213"/>
            <a:ext cx="74612" cy="74612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49" name="Oval 1093"/>
          <p:cNvSpPr>
            <a:spLocks noChangeArrowheads="1"/>
          </p:cNvSpPr>
          <p:nvPr/>
        </p:nvSpPr>
        <p:spPr bwMode="auto">
          <a:xfrm>
            <a:off x="7008813" y="2424113"/>
            <a:ext cx="74612" cy="74612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50" name="Oval 1094"/>
          <p:cNvSpPr>
            <a:spLocks noChangeArrowheads="1"/>
          </p:cNvSpPr>
          <p:nvPr/>
        </p:nvSpPr>
        <p:spPr bwMode="auto">
          <a:xfrm>
            <a:off x="6694488" y="1817688"/>
            <a:ext cx="74612" cy="74612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51" name="Oval 1095"/>
          <p:cNvSpPr>
            <a:spLocks noChangeArrowheads="1"/>
          </p:cNvSpPr>
          <p:nvPr/>
        </p:nvSpPr>
        <p:spPr bwMode="auto">
          <a:xfrm>
            <a:off x="6400800" y="1168400"/>
            <a:ext cx="74613" cy="7461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52" name="Oval 1096"/>
          <p:cNvSpPr>
            <a:spLocks noChangeArrowheads="1"/>
          </p:cNvSpPr>
          <p:nvPr/>
        </p:nvSpPr>
        <p:spPr bwMode="auto">
          <a:xfrm>
            <a:off x="8232775" y="5019675"/>
            <a:ext cx="74613" cy="7461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53" name="Oval 1097"/>
          <p:cNvSpPr>
            <a:spLocks noChangeArrowheads="1"/>
          </p:cNvSpPr>
          <p:nvPr/>
        </p:nvSpPr>
        <p:spPr bwMode="auto">
          <a:xfrm>
            <a:off x="7916863" y="4402138"/>
            <a:ext cx="74612" cy="74612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54" name="Text Box 1098"/>
          <p:cNvSpPr txBox="1">
            <a:spLocks noChangeArrowheads="1"/>
          </p:cNvSpPr>
          <p:nvPr/>
        </p:nvSpPr>
        <p:spPr bwMode="auto">
          <a:xfrm>
            <a:off x="6219825" y="822325"/>
            <a:ext cx="2633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D0    D1   D2  D3   D4   D5  D6   D7 </a:t>
            </a:r>
          </a:p>
        </p:txBody>
      </p:sp>
      <p:sp>
        <p:nvSpPr>
          <p:cNvPr id="55355" name="Rectangle 1099"/>
          <p:cNvSpPr>
            <a:spLocks noChangeArrowheads="1"/>
          </p:cNvSpPr>
          <p:nvPr/>
        </p:nvSpPr>
        <p:spPr bwMode="auto">
          <a:xfrm>
            <a:off x="4267200" y="914400"/>
            <a:ext cx="1295400" cy="5473700"/>
          </a:xfrm>
          <a:prstGeom prst="rect">
            <a:avLst/>
          </a:prstGeom>
          <a:solidFill>
            <a:srgbClr val="DDDDDD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56" name="Line 1100"/>
          <p:cNvSpPr>
            <a:spLocks noChangeShapeType="1"/>
          </p:cNvSpPr>
          <p:nvPr/>
        </p:nvSpPr>
        <p:spPr bwMode="auto">
          <a:xfrm>
            <a:off x="3136900" y="6184900"/>
            <a:ext cx="111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57" name="AutoShape 1101"/>
          <p:cNvSpPr>
            <a:spLocks noChangeArrowheads="1"/>
          </p:cNvSpPr>
          <p:nvPr/>
        </p:nvSpPr>
        <p:spPr bwMode="auto">
          <a:xfrm rot="5400000">
            <a:off x="4305300" y="6083300"/>
            <a:ext cx="139700" cy="203200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5358" name="Text Box 1102"/>
          <p:cNvSpPr txBox="1">
            <a:spLocks noChangeArrowheads="1"/>
          </p:cNvSpPr>
          <p:nvPr/>
        </p:nvSpPr>
        <p:spPr bwMode="auto">
          <a:xfrm>
            <a:off x="4522788" y="3246438"/>
            <a:ext cx="79375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8-bit</a:t>
            </a:r>
          </a:p>
          <a:p>
            <a:pPr algn="ctr" eaLnBrk="1" hangingPunct="1"/>
            <a:r>
              <a:rPr lang="en-US" b="1"/>
              <a:t>Storage </a:t>
            </a:r>
          </a:p>
          <a:p>
            <a:pPr algn="ctr" eaLnBrk="1" hangingPunct="1"/>
            <a:r>
              <a:rPr lang="en-US" b="1"/>
              <a:t>Register</a:t>
            </a:r>
          </a:p>
        </p:txBody>
      </p:sp>
    </p:spTree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storage register with busses</a:t>
            </a:r>
          </a:p>
        </p:txBody>
      </p:sp>
      <p:sp>
        <p:nvSpPr>
          <p:cNvPr id="56323" name="Freeform 143"/>
          <p:cNvSpPr>
            <a:spLocks/>
          </p:cNvSpPr>
          <p:nvPr/>
        </p:nvSpPr>
        <p:spPr bwMode="auto">
          <a:xfrm>
            <a:off x="508000" y="1371600"/>
            <a:ext cx="1993900" cy="3189288"/>
          </a:xfrm>
          <a:custGeom>
            <a:avLst/>
            <a:gdLst>
              <a:gd name="T0" fmla="*/ 2147483647 w 1248"/>
              <a:gd name="T1" fmla="*/ 2147483647 h 2873"/>
              <a:gd name="T2" fmla="*/ 2147483647 w 1248"/>
              <a:gd name="T3" fmla="*/ 0 h 2873"/>
              <a:gd name="T4" fmla="*/ 0 w 1248"/>
              <a:gd name="T5" fmla="*/ 0 h 2873"/>
              <a:gd name="T6" fmla="*/ 0 60000 65536"/>
              <a:gd name="T7" fmla="*/ 0 60000 65536"/>
              <a:gd name="T8" fmla="*/ 0 60000 65536"/>
              <a:gd name="T9" fmla="*/ 0 w 1248"/>
              <a:gd name="T10" fmla="*/ 0 h 2873"/>
              <a:gd name="T11" fmla="*/ 1248 w 1248"/>
              <a:gd name="T12" fmla="*/ 2873 h 28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48" h="2873">
                <a:moveTo>
                  <a:pt x="1248" y="2873"/>
                </a:moveTo>
                <a:lnTo>
                  <a:pt x="1248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324" name="Text Box 144"/>
          <p:cNvSpPr txBox="1">
            <a:spLocks noChangeArrowheads="1"/>
          </p:cNvSpPr>
          <p:nvPr/>
        </p:nvSpPr>
        <p:spPr bwMode="auto">
          <a:xfrm>
            <a:off x="365125" y="1454150"/>
            <a:ext cx="736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D0..D7</a:t>
            </a:r>
          </a:p>
        </p:txBody>
      </p:sp>
      <p:sp>
        <p:nvSpPr>
          <p:cNvPr id="56325" name="Line 145"/>
          <p:cNvSpPr>
            <a:spLocks noChangeShapeType="1"/>
          </p:cNvSpPr>
          <p:nvPr/>
        </p:nvSpPr>
        <p:spPr bwMode="auto">
          <a:xfrm flipH="1">
            <a:off x="1879600" y="1249363"/>
            <a:ext cx="233363" cy="244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326" name="Text Box 146"/>
          <p:cNvSpPr txBox="1">
            <a:spLocks noChangeArrowheads="1"/>
          </p:cNvSpPr>
          <p:nvPr/>
        </p:nvSpPr>
        <p:spPr bwMode="auto">
          <a:xfrm>
            <a:off x="1738313" y="15017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8</a:t>
            </a:r>
          </a:p>
        </p:txBody>
      </p:sp>
      <p:sp>
        <p:nvSpPr>
          <p:cNvPr id="56327" name="Text Box 155"/>
          <p:cNvSpPr txBox="1">
            <a:spLocks noChangeArrowheads="1"/>
          </p:cNvSpPr>
          <p:nvPr/>
        </p:nvSpPr>
        <p:spPr bwMode="auto">
          <a:xfrm>
            <a:off x="5140325" y="2433638"/>
            <a:ext cx="3544888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buClr>
                <a:schemeClr val="accent2"/>
              </a:buClr>
              <a:buFontTx/>
              <a:buChar char="•"/>
            </a:pPr>
            <a:r>
              <a:rPr lang="en-US" sz="1400" b="1"/>
              <a:t> </a:t>
            </a:r>
            <a:r>
              <a:rPr lang="en-US" sz="1400" b="1" i="1"/>
              <a:t>BUS</a:t>
            </a:r>
            <a:r>
              <a:rPr lang="en-US" sz="1400" b="1"/>
              <a:t>: A grouping of “like” signals</a:t>
            </a:r>
          </a:p>
          <a:p>
            <a:pPr eaLnBrk="1" hangingPunct="1">
              <a:buClr>
                <a:schemeClr val="accent2"/>
              </a:buClr>
              <a:buFontTx/>
              <a:buChar char="•"/>
            </a:pPr>
            <a:r>
              <a:rPr lang="en-US" sz="1400" b="1"/>
              <a:t> Here we have Data In bus  ( D0..D7)</a:t>
            </a:r>
          </a:p>
          <a:p>
            <a:pPr eaLnBrk="1" hangingPunct="1">
              <a:buClr>
                <a:schemeClr val="accent2"/>
              </a:buClr>
              <a:buFontTx/>
              <a:buChar char="•"/>
            </a:pPr>
            <a:r>
              <a:rPr lang="en-US" sz="1400" b="1"/>
              <a:t>   and Data out bus ( Q0..Q7)</a:t>
            </a:r>
          </a:p>
          <a:p>
            <a:pPr eaLnBrk="1" hangingPunct="1">
              <a:buClr>
                <a:schemeClr val="accent2"/>
              </a:buClr>
              <a:buFontTx/>
              <a:buChar char="•"/>
            </a:pPr>
            <a:r>
              <a:rPr lang="en-US" sz="1400" b="1"/>
              <a:t> Busses are usually drawn with heavier</a:t>
            </a:r>
          </a:p>
          <a:p>
            <a:pPr eaLnBrk="1" hangingPunct="1">
              <a:buClr>
                <a:schemeClr val="accent2"/>
              </a:buClr>
              <a:buFontTx/>
              <a:buChar char="•"/>
            </a:pPr>
            <a:r>
              <a:rPr lang="en-US" sz="1400" b="1"/>
              <a:t>   lines to differentiate them from </a:t>
            </a:r>
          </a:p>
          <a:p>
            <a:pPr eaLnBrk="1" hangingPunct="1">
              <a:buClr>
                <a:schemeClr val="accent2"/>
              </a:buClr>
              <a:buFontTx/>
              <a:buChar char="•"/>
            </a:pPr>
            <a:r>
              <a:rPr lang="en-US" sz="1400" b="1"/>
              <a:t>   individual signal wires</a:t>
            </a:r>
          </a:p>
        </p:txBody>
      </p:sp>
      <p:sp>
        <p:nvSpPr>
          <p:cNvPr id="56328" name="Freeform 174"/>
          <p:cNvSpPr>
            <a:spLocks/>
          </p:cNvSpPr>
          <p:nvPr/>
        </p:nvSpPr>
        <p:spPr bwMode="auto">
          <a:xfrm flipH="1" flipV="1">
            <a:off x="4900613" y="2074863"/>
            <a:ext cx="1981200" cy="3913187"/>
          </a:xfrm>
          <a:custGeom>
            <a:avLst/>
            <a:gdLst>
              <a:gd name="T0" fmla="*/ 2147483647 w 1248"/>
              <a:gd name="T1" fmla="*/ 2147483647 h 2873"/>
              <a:gd name="T2" fmla="*/ 2147483647 w 1248"/>
              <a:gd name="T3" fmla="*/ 0 h 2873"/>
              <a:gd name="T4" fmla="*/ 0 w 1248"/>
              <a:gd name="T5" fmla="*/ 0 h 2873"/>
              <a:gd name="T6" fmla="*/ 0 60000 65536"/>
              <a:gd name="T7" fmla="*/ 0 60000 65536"/>
              <a:gd name="T8" fmla="*/ 0 60000 65536"/>
              <a:gd name="T9" fmla="*/ 0 w 1248"/>
              <a:gd name="T10" fmla="*/ 0 h 2873"/>
              <a:gd name="T11" fmla="*/ 1248 w 1248"/>
              <a:gd name="T12" fmla="*/ 2873 h 28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48" h="2873">
                <a:moveTo>
                  <a:pt x="1248" y="2873"/>
                </a:moveTo>
                <a:lnTo>
                  <a:pt x="1248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329" name="Line 175"/>
          <p:cNvSpPr>
            <a:spLocks noChangeShapeType="1"/>
          </p:cNvSpPr>
          <p:nvPr/>
        </p:nvSpPr>
        <p:spPr bwMode="auto">
          <a:xfrm flipV="1">
            <a:off x="5884863" y="5861050"/>
            <a:ext cx="233362" cy="244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330" name="Text Box 176"/>
          <p:cNvSpPr txBox="1">
            <a:spLocks noChangeArrowheads="1"/>
          </p:cNvSpPr>
          <p:nvPr/>
        </p:nvSpPr>
        <p:spPr bwMode="auto">
          <a:xfrm>
            <a:off x="5965825" y="5494338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8</a:t>
            </a:r>
          </a:p>
        </p:txBody>
      </p:sp>
      <p:sp>
        <p:nvSpPr>
          <p:cNvPr id="56331" name="Text Box 177"/>
          <p:cNvSpPr txBox="1">
            <a:spLocks noChangeArrowheads="1"/>
          </p:cNvSpPr>
          <p:nvPr/>
        </p:nvSpPr>
        <p:spPr bwMode="auto">
          <a:xfrm>
            <a:off x="6210300" y="6064250"/>
            <a:ext cx="755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Q0..Q7</a:t>
            </a:r>
          </a:p>
        </p:txBody>
      </p:sp>
      <p:sp>
        <p:nvSpPr>
          <p:cNvPr id="56332" name="Rectangle 186"/>
          <p:cNvSpPr>
            <a:spLocks noChangeArrowheads="1"/>
          </p:cNvSpPr>
          <p:nvPr/>
        </p:nvSpPr>
        <p:spPr bwMode="auto">
          <a:xfrm>
            <a:off x="2984500" y="1651000"/>
            <a:ext cx="1384300" cy="4610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56333" name="Line 187"/>
          <p:cNvSpPr>
            <a:spLocks noChangeShapeType="1"/>
          </p:cNvSpPr>
          <p:nvPr/>
        </p:nvSpPr>
        <p:spPr bwMode="auto">
          <a:xfrm flipH="1">
            <a:off x="2476500" y="20574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34" name="Text Box 188"/>
          <p:cNvSpPr txBox="1">
            <a:spLocks noChangeArrowheads="1"/>
          </p:cNvSpPr>
          <p:nvPr/>
        </p:nvSpPr>
        <p:spPr bwMode="auto">
          <a:xfrm>
            <a:off x="3019425" y="1912938"/>
            <a:ext cx="377825" cy="283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D0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D1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D2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D3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D4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D5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D6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D7</a:t>
            </a:r>
          </a:p>
        </p:txBody>
      </p:sp>
      <p:sp>
        <p:nvSpPr>
          <p:cNvPr id="56335" name="Line 189"/>
          <p:cNvSpPr>
            <a:spLocks noChangeShapeType="1"/>
          </p:cNvSpPr>
          <p:nvPr/>
        </p:nvSpPr>
        <p:spPr bwMode="auto">
          <a:xfrm flipH="1">
            <a:off x="2476500" y="24003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36" name="Line 190"/>
          <p:cNvSpPr>
            <a:spLocks noChangeShapeType="1"/>
          </p:cNvSpPr>
          <p:nvPr/>
        </p:nvSpPr>
        <p:spPr bwMode="auto">
          <a:xfrm flipH="1">
            <a:off x="2476500" y="27686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37" name="Line 191"/>
          <p:cNvSpPr>
            <a:spLocks noChangeShapeType="1"/>
          </p:cNvSpPr>
          <p:nvPr/>
        </p:nvSpPr>
        <p:spPr bwMode="auto">
          <a:xfrm flipH="1">
            <a:off x="2476500" y="31115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38" name="Line 192"/>
          <p:cNvSpPr>
            <a:spLocks noChangeShapeType="1"/>
          </p:cNvSpPr>
          <p:nvPr/>
        </p:nvSpPr>
        <p:spPr bwMode="auto">
          <a:xfrm flipH="1">
            <a:off x="2489200" y="35052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39" name="Line 193"/>
          <p:cNvSpPr>
            <a:spLocks noChangeShapeType="1"/>
          </p:cNvSpPr>
          <p:nvPr/>
        </p:nvSpPr>
        <p:spPr bwMode="auto">
          <a:xfrm flipH="1">
            <a:off x="2489200" y="38481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40" name="Line 194"/>
          <p:cNvSpPr>
            <a:spLocks noChangeShapeType="1"/>
          </p:cNvSpPr>
          <p:nvPr/>
        </p:nvSpPr>
        <p:spPr bwMode="auto">
          <a:xfrm flipH="1">
            <a:off x="2489200" y="42164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41" name="Line 195"/>
          <p:cNvSpPr>
            <a:spLocks noChangeShapeType="1"/>
          </p:cNvSpPr>
          <p:nvPr/>
        </p:nvSpPr>
        <p:spPr bwMode="auto">
          <a:xfrm flipH="1">
            <a:off x="2489200" y="45466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42" name="Text Box 196"/>
          <p:cNvSpPr txBox="1">
            <a:spLocks noChangeArrowheads="1"/>
          </p:cNvSpPr>
          <p:nvPr/>
        </p:nvSpPr>
        <p:spPr bwMode="auto">
          <a:xfrm>
            <a:off x="3971925" y="1925638"/>
            <a:ext cx="387350" cy="283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Q0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Q1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Q2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Q3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Q4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Q5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Q6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Q7</a:t>
            </a:r>
          </a:p>
        </p:txBody>
      </p:sp>
      <p:sp>
        <p:nvSpPr>
          <p:cNvPr id="56343" name="Line 197"/>
          <p:cNvSpPr>
            <a:spLocks noChangeShapeType="1"/>
          </p:cNvSpPr>
          <p:nvPr/>
        </p:nvSpPr>
        <p:spPr bwMode="auto">
          <a:xfrm flipH="1">
            <a:off x="4368800" y="20828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44" name="Line 198"/>
          <p:cNvSpPr>
            <a:spLocks noChangeShapeType="1"/>
          </p:cNvSpPr>
          <p:nvPr/>
        </p:nvSpPr>
        <p:spPr bwMode="auto">
          <a:xfrm flipH="1">
            <a:off x="4368800" y="24257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45" name="Line 199"/>
          <p:cNvSpPr>
            <a:spLocks noChangeShapeType="1"/>
          </p:cNvSpPr>
          <p:nvPr/>
        </p:nvSpPr>
        <p:spPr bwMode="auto">
          <a:xfrm flipH="1">
            <a:off x="4368800" y="27940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46" name="Line 200"/>
          <p:cNvSpPr>
            <a:spLocks noChangeShapeType="1"/>
          </p:cNvSpPr>
          <p:nvPr/>
        </p:nvSpPr>
        <p:spPr bwMode="auto">
          <a:xfrm flipH="1">
            <a:off x="4368800" y="31369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47" name="Line 201"/>
          <p:cNvSpPr>
            <a:spLocks noChangeShapeType="1"/>
          </p:cNvSpPr>
          <p:nvPr/>
        </p:nvSpPr>
        <p:spPr bwMode="auto">
          <a:xfrm flipH="1">
            <a:off x="4381500" y="35306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48" name="Line 202"/>
          <p:cNvSpPr>
            <a:spLocks noChangeShapeType="1"/>
          </p:cNvSpPr>
          <p:nvPr/>
        </p:nvSpPr>
        <p:spPr bwMode="auto">
          <a:xfrm flipH="1">
            <a:off x="4381500" y="38735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49" name="Line 203"/>
          <p:cNvSpPr>
            <a:spLocks noChangeShapeType="1"/>
          </p:cNvSpPr>
          <p:nvPr/>
        </p:nvSpPr>
        <p:spPr bwMode="auto">
          <a:xfrm flipH="1">
            <a:off x="4381500" y="42418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50" name="Line 204"/>
          <p:cNvSpPr>
            <a:spLocks noChangeShapeType="1"/>
          </p:cNvSpPr>
          <p:nvPr/>
        </p:nvSpPr>
        <p:spPr bwMode="auto">
          <a:xfrm flipH="1">
            <a:off x="4381500" y="45720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51" name="Text Box 205"/>
          <p:cNvSpPr txBox="1">
            <a:spLocks noChangeArrowheads="1"/>
          </p:cNvSpPr>
          <p:nvPr/>
        </p:nvSpPr>
        <p:spPr bwMode="auto">
          <a:xfrm>
            <a:off x="1905000" y="5168900"/>
            <a:ext cx="873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Clock in</a:t>
            </a:r>
          </a:p>
        </p:txBody>
      </p:sp>
      <p:sp>
        <p:nvSpPr>
          <p:cNvPr id="56352" name="Line 206"/>
          <p:cNvSpPr>
            <a:spLocks noChangeShapeType="1"/>
          </p:cNvSpPr>
          <p:nvPr/>
        </p:nvSpPr>
        <p:spPr bwMode="auto">
          <a:xfrm>
            <a:off x="1854200" y="5422900"/>
            <a:ext cx="111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53" name="AutoShape 207"/>
          <p:cNvSpPr>
            <a:spLocks noChangeArrowheads="1"/>
          </p:cNvSpPr>
          <p:nvPr/>
        </p:nvSpPr>
        <p:spPr bwMode="auto">
          <a:xfrm rot="5400000">
            <a:off x="3022600" y="5321300"/>
            <a:ext cx="139700" cy="203200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56354" name="Text Box 208"/>
          <p:cNvSpPr txBox="1">
            <a:spLocks noChangeArrowheads="1"/>
          </p:cNvSpPr>
          <p:nvPr/>
        </p:nvSpPr>
        <p:spPr bwMode="auto">
          <a:xfrm>
            <a:off x="3375025" y="5151438"/>
            <a:ext cx="776288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8-bit</a:t>
            </a:r>
          </a:p>
          <a:p>
            <a:pPr algn="ctr" eaLnBrk="1" hangingPunct="1"/>
            <a:r>
              <a:rPr lang="en-US" b="1"/>
              <a:t>storage </a:t>
            </a:r>
          </a:p>
          <a:p>
            <a:pPr algn="ctr" eaLnBrk="1" hangingPunct="1"/>
            <a:r>
              <a:rPr lang="en-US" b="1"/>
              <a:t>register</a:t>
            </a:r>
          </a:p>
        </p:txBody>
      </p:sp>
    </p:spTree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More on storage registers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189038"/>
            <a:ext cx="8178800" cy="4171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smtClean="0"/>
              <a:t>The storage register provides a stable location to store data moving along busses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Data on busses are transitory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Storage register width typically matches the width of the data path</a:t>
            </a:r>
          </a:p>
          <a:p>
            <a:pPr lvl="2">
              <a:lnSpc>
                <a:spcPct val="90000"/>
              </a:lnSpc>
            </a:pPr>
            <a:r>
              <a:rPr lang="en-US" sz="2000" smtClean="0"/>
              <a:t>May be 4, 8, 16, 32, 64 or 128 bits wide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Registers interface data between a computer and the outside world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Registers are the key data holders in computers and microprocessors</a:t>
            </a:r>
          </a:p>
          <a:p>
            <a:pPr lvl="2">
              <a:lnSpc>
                <a:spcPct val="90000"/>
              </a:lnSpc>
            </a:pPr>
            <a:r>
              <a:rPr lang="en-US" sz="2000" smtClean="0"/>
              <a:t>A computer’s architecture is often defined by organization of the storage registers</a:t>
            </a:r>
          </a:p>
          <a:p>
            <a:pPr>
              <a:lnSpc>
                <a:spcPct val="90000"/>
              </a:lnSpc>
            </a:pPr>
            <a:r>
              <a:rPr lang="en-US" sz="2000" smtClean="0"/>
              <a:t>Two variety of storage registers: “D” type and Latch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Latch is level sensitive, output follows input when control is 0, output is latched ( locked ) when control is 1 ( or vice versa )</a:t>
            </a:r>
          </a:p>
        </p:txBody>
      </p:sp>
    </p:spTree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39763" y="142875"/>
            <a:ext cx="8021637" cy="649288"/>
          </a:xfrm>
        </p:spPr>
        <p:txBody>
          <a:bodyPr/>
          <a:lstStyle/>
          <a:p>
            <a:r>
              <a:rPr lang="en-US" sz="2800" smtClean="0"/>
              <a:t>First in-first out ( FIFO ) data storage</a:t>
            </a:r>
          </a:p>
        </p:txBody>
      </p:sp>
      <p:sp>
        <p:nvSpPr>
          <p:cNvPr id="59395" name="Line 2052"/>
          <p:cNvSpPr>
            <a:spLocks noChangeShapeType="1"/>
          </p:cNvSpPr>
          <p:nvPr/>
        </p:nvSpPr>
        <p:spPr bwMode="auto">
          <a:xfrm flipH="1">
            <a:off x="884238" y="1827213"/>
            <a:ext cx="842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396" name="Line 2053"/>
          <p:cNvSpPr>
            <a:spLocks noChangeShapeType="1"/>
          </p:cNvSpPr>
          <p:nvPr/>
        </p:nvSpPr>
        <p:spPr bwMode="auto">
          <a:xfrm flipH="1">
            <a:off x="882650" y="1979613"/>
            <a:ext cx="8429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397" name="Line 2054"/>
          <p:cNvSpPr>
            <a:spLocks noChangeShapeType="1"/>
          </p:cNvSpPr>
          <p:nvPr/>
        </p:nvSpPr>
        <p:spPr bwMode="auto">
          <a:xfrm flipH="1">
            <a:off x="884238" y="2141538"/>
            <a:ext cx="842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398" name="Line 2055"/>
          <p:cNvSpPr>
            <a:spLocks noChangeShapeType="1"/>
          </p:cNvSpPr>
          <p:nvPr/>
        </p:nvSpPr>
        <p:spPr bwMode="auto">
          <a:xfrm flipH="1">
            <a:off x="882650" y="2293938"/>
            <a:ext cx="8429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399" name="Line 2056"/>
          <p:cNvSpPr>
            <a:spLocks noChangeShapeType="1"/>
          </p:cNvSpPr>
          <p:nvPr/>
        </p:nvSpPr>
        <p:spPr bwMode="auto">
          <a:xfrm flipH="1">
            <a:off x="893763" y="2457450"/>
            <a:ext cx="842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00" name="Line 2057"/>
          <p:cNvSpPr>
            <a:spLocks noChangeShapeType="1"/>
          </p:cNvSpPr>
          <p:nvPr/>
        </p:nvSpPr>
        <p:spPr bwMode="auto">
          <a:xfrm flipH="1">
            <a:off x="892175" y="2609850"/>
            <a:ext cx="8429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01" name="Line 2058"/>
          <p:cNvSpPr>
            <a:spLocks noChangeShapeType="1"/>
          </p:cNvSpPr>
          <p:nvPr/>
        </p:nvSpPr>
        <p:spPr bwMode="auto">
          <a:xfrm flipH="1">
            <a:off x="893763" y="2771775"/>
            <a:ext cx="842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02" name="Line 2059"/>
          <p:cNvSpPr>
            <a:spLocks noChangeShapeType="1"/>
          </p:cNvSpPr>
          <p:nvPr/>
        </p:nvSpPr>
        <p:spPr bwMode="auto">
          <a:xfrm flipH="1">
            <a:off x="892175" y="2924175"/>
            <a:ext cx="8429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03" name="Line 2060"/>
          <p:cNvSpPr>
            <a:spLocks noChangeShapeType="1"/>
          </p:cNvSpPr>
          <p:nvPr/>
        </p:nvSpPr>
        <p:spPr bwMode="auto">
          <a:xfrm flipH="1">
            <a:off x="874713" y="3076575"/>
            <a:ext cx="842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04" name="Line 2061"/>
          <p:cNvSpPr>
            <a:spLocks noChangeShapeType="1"/>
          </p:cNvSpPr>
          <p:nvPr/>
        </p:nvSpPr>
        <p:spPr bwMode="auto">
          <a:xfrm flipH="1">
            <a:off x="873125" y="3228975"/>
            <a:ext cx="8429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05" name="Line 2062"/>
          <p:cNvSpPr>
            <a:spLocks noChangeShapeType="1"/>
          </p:cNvSpPr>
          <p:nvPr/>
        </p:nvSpPr>
        <p:spPr bwMode="auto">
          <a:xfrm flipH="1">
            <a:off x="874713" y="3390900"/>
            <a:ext cx="842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06" name="Line 2063"/>
          <p:cNvSpPr>
            <a:spLocks noChangeShapeType="1"/>
          </p:cNvSpPr>
          <p:nvPr/>
        </p:nvSpPr>
        <p:spPr bwMode="auto">
          <a:xfrm flipH="1">
            <a:off x="873125" y="3543300"/>
            <a:ext cx="8429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07" name="Line 2064"/>
          <p:cNvSpPr>
            <a:spLocks noChangeShapeType="1"/>
          </p:cNvSpPr>
          <p:nvPr/>
        </p:nvSpPr>
        <p:spPr bwMode="auto">
          <a:xfrm flipH="1">
            <a:off x="884238" y="3706813"/>
            <a:ext cx="842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08" name="Line 2065"/>
          <p:cNvSpPr>
            <a:spLocks noChangeShapeType="1"/>
          </p:cNvSpPr>
          <p:nvPr/>
        </p:nvSpPr>
        <p:spPr bwMode="auto">
          <a:xfrm flipH="1">
            <a:off x="882650" y="3859213"/>
            <a:ext cx="8429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09" name="Line 2066"/>
          <p:cNvSpPr>
            <a:spLocks noChangeShapeType="1"/>
          </p:cNvSpPr>
          <p:nvPr/>
        </p:nvSpPr>
        <p:spPr bwMode="auto">
          <a:xfrm flipH="1">
            <a:off x="884238" y="4021138"/>
            <a:ext cx="842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10" name="Line 2067"/>
          <p:cNvSpPr>
            <a:spLocks noChangeShapeType="1"/>
          </p:cNvSpPr>
          <p:nvPr/>
        </p:nvSpPr>
        <p:spPr bwMode="auto">
          <a:xfrm flipH="1">
            <a:off x="882650" y="4173538"/>
            <a:ext cx="8429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11" name="Text Box 2068"/>
          <p:cNvSpPr txBox="1">
            <a:spLocks noChangeArrowheads="1"/>
          </p:cNvSpPr>
          <p:nvPr/>
        </p:nvSpPr>
        <p:spPr bwMode="auto">
          <a:xfrm>
            <a:off x="1077913" y="1582738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D0</a:t>
            </a:r>
          </a:p>
        </p:txBody>
      </p:sp>
      <p:sp>
        <p:nvSpPr>
          <p:cNvPr id="59412" name="Text Box 2069"/>
          <p:cNvSpPr txBox="1">
            <a:spLocks noChangeArrowheads="1"/>
          </p:cNvSpPr>
          <p:nvPr/>
        </p:nvSpPr>
        <p:spPr bwMode="auto">
          <a:xfrm>
            <a:off x="1081088" y="4224338"/>
            <a:ext cx="4159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D15</a:t>
            </a:r>
          </a:p>
        </p:txBody>
      </p:sp>
      <p:sp>
        <p:nvSpPr>
          <p:cNvPr id="59413" name="Text Box 2070"/>
          <p:cNvSpPr txBox="1">
            <a:spLocks noChangeArrowheads="1"/>
          </p:cNvSpPr>
          <p:nvPr/>
        </p:nvSpPr>
        <p:spPr bwMode="auto">
          <a:xfrm>
            <a:off x="1727200" y="2544763"/>
            <a:ext cx="5572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16-bit </a:t>
            </a:r>
          </a:p>
          <a:p>
            <a:pPr algn="ctr" eaLnBrk="1" hangingPunct="1"/>
            <a:r>
              <a:rPr lang="en-US" sz="1000" b="1"/>
              <a:t>Latch</a:t>
            </a:r>
          </a:p>
          <a:p>
            <a:pPr algn="ctr" eaLnBrk="1" hangingPunct="1"/>
            <a:r>
              <a:rPr lang="en-US" sz="1000" b="1"/>
              <a:t>Stage</a:t>
            </a:r>
          </a:p>
          <a:p>
            <a:pPr algn="ctr" eaLnBrk="1" hangingPunct="1"/>
            <a:r>
              <a:rPr lang="en-US" sz="1000" b="1"/>
              <a:t>1</a:t>
            </a:r>
          </a:p>
        </p:txBody>
      </p:sp>
      <p:sp>
        <p:nvSpPr>
          <p:cNvPr id="59414" name="Rectangle 2051"/>
          <p:cNvSpPr>
            <a:spLocks noChangeArrowheads="1"/>
          </p:cNvSpPr>
          <p:nvPr/>
        </p:nvSpPr>
        <p:spPr bwMode="auto">
          <a:xfrm>
            <a:off x="1727200" y="1706563"/>
            <a:ext cx="533400" cy="2590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grpSp>
        <p:nvGrpSpPr>
          <p:cNvPr id="59415" name="Group 2090"/>
          <p:cNvGrpSpPr>
            <a:grpSpLocks/>
          </p:cNvGrpSpPr>
          <p:nvPr/>
        </p:nvGrpSpPr>
        <p:grpSpPr bwMode="auto">
          <a:xfrm>
            <a:off x="2262188" y="1827213"/>
            <a:ext cx="293687" cy="2346325"/>
            <a:chOff x="1681" y="1132"/>
            <a:chExt cx="544" cy="1478"/>
          </a:xfrm>
        </p:grpSpPr>
        <p:sp>
          <p:nvSpPr>
            <p:cNvPr id="59543" name="Line 2071"/>
            <p:cNvSpPr>
              <a:spLocks noChangeShapeType="1"/>
            </p:cNvSpPr>
            <p:nvPr/>
          </p:nvSpPr>
          <p:spPr bwMode="auto">
            <a:xfrm flipH="1">
              <a:off x="1688" y="1132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44" name="Line 2072"/>
            <p:cNvSpPr>
              <a:spLocks noChangeShapeType="1"/>
            </p:cNvSpPr>
            <p:nvPr/>
          </p:nvSpPr>
          <p:spPr bwMode="auto">
            <a:xfrm flipH="1">
              <a:off x="1687" y="1228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45" name="Line 2073"/>
            <p:cNvSpPr>
              <a:spLocks noChangeShapeType="1"/>
            </p:cNvSpPr>
            <p:nvPr/>
          </p:nvSpPr>
          <p:spPr bwMode="auto">
            <a:xfrm flipH="1">
              <a:off x="1688" y="1330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46" name="Line 2074"/>
            <p:cNvSpPr>
              <a:spLocks noChangeShapeType="1"/>
            </p:cNvSpPr>
            <p:nvPr/>
          </p:nvSpPr>
          <p:spPr bwMode="auto">
            <a:xfrm flipH="1">
              <a:off x="1687" y="1426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47" name="Line 2075"/>
            <p:cNvSpPr>
              <a:spLocks noChangeShapeType="1"/>
            </p:cNvSpPr>
            <p:nvPr/>
          </p:nvSpPr>
          <p:spPr bwMode="auto">
            <a:xfrm flipH="1">
              <a:off x="1687" y="1529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48" name="Line 2076"/>
            <p:cNvSpPr>
              <a:spLocks noChangeShapeType="1"/>
            </p:cNvSpPr>
            <p:nvPr/>
          </p:nvSpPr>
          <p:spPr bwMode="auto">
            <a:xfrm flipH="1">
              <a:off x="1687" y="1631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49" name="Line 2077"/>
            <p:cNvSpPr>
              <a:spLocks noChangeShapeType="1"/>
            </p:cNvSpPr>
            <p:nvPr/>
          </p:nvSpPr>
          <p:spPr bwMode="auto">
            <a:xfrm flipH="1">
              <a:off x="1689" y="1727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50" name="Line 2078"/>
            <p:cNvSpPr>
              <a:spLocks noChangeShapeType="1"/>
            </p:cNvSpPr>
            <p:nvPr/>
          </p:nvSpPr>
          <p:spPr bwMode="auto">
            <a:xfrm flipH="1">
              <a:off x="1681" y="1823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51" name="Line 2079"/>
            <p:cNvSpPr>
              <a:spLocks noChangeShapeType="1"/>
            </p:cNvSpPr>
            <p:nvPr/>
          </p:nvSpPr>
          <p:spPr bwMode="auto">
            <a:xfrm flipH="1">
              <a:off x="1682" y="1919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52" name="Line 2080"/>
            <p:cNvSpPr>
              <a:spLocks noChangeShapeType="1"/>
            </p:cNvSpPr>
            <p:nvPr/>
          </p:nvSpPr>
          <p:spPr bwMode="auto">
            <a:xfrm flipH="1">
              <a:off x="1681" y="2015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53" name="Line 2081"/>
            <p:cNvSpPr>
              <a:spLocks noChangeShapeType="1"/>
            </p:cNvSpPr>
            <p:nvPr/>
          </p:nvSpPr>
          <p:spPr bwMode="auto">
            <a:xfrm flipH="1">
              <a:off x="1682" y="2117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54" name="Line 2082"/>
            <p:cNvSpPr>
              <a:spLocks noChangeShapeType="1"/>
            </p:cNvSpPr>
            <p:nvPr/>
          </p:nvSpPr>
          <p:spPr bwMode="auto">
            <a:xfrm flipH="1">
              <a:off x="1681" y="2213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55" name="Line 2083"/>
            <p:cNvSpPr>
              <a:spLocks noChangeShapeType="1"/>
            </p:cNvSpPr>
            <p:nvPr/>
          </p:nvSpPr>
          <p:spPr bwMode="auto">
            <a:xfrm flipH="1">
              <a:off x="1688" y="2316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56" name="Line 2084"/>
            <p:cNvSpPr>
              <a:spLocks noChangeShapeType="1"/>
            </p:cNvSpPr>
            <p:nvPr/>
          </p:nvSpPr>
          <p:spPr bwMode="auto">
            <a:xfrm flipH="1">
              <a:off x="1687" y="2412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57" name="Line 2085"/>
            <p:cNvSpPr>
              <a:spLocks noChangeShapeType="1"/>
            </p:cNvSpPr>
            <p:nvPr/>
          </p:nvSpPr>
          <p:spPr bwMode="auto">
            <a:xfrm flipH="1">
              <a:off x="1688" y="2514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58" name="Line 2086"/>
            <p:cNvSpPr>
              <a:spLocks noChangeShapeType="1"/>
            </p:cNvSpPr>
            <p:nvPr/>
          </p:nvSpPr>
          <p:spPr bwMode="auto">
            <a:xfrm flipH="1">
              <a:off x="1687" y="2610"/>
              <a:ext cx="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9416" name="Rectangle 2093"/>
          <p:cNvSpPr>
            <a:spLocks noChangeArrowheads="1"/>
          </p:cNvSpPr>
          <p:nvPr/>
        </p:nvSpPr>
        <p:spPr bwMode="auto">
          <a:xfrm>
            <a:off x="2571750" y="1706563"/>
            <a:ext cx="533400" cy="2590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grpSp>
        <p:nvGrpSpPr>
          <p:cNvPr id="59417" name="Group 2094"/>
          <p:cNvGrpSpPr>
            <a:grpSpLocks/>
          </p:cNvGrpSpPr>
          <p:nvPr/>
        </p:nvGrpSpPr>
        <p:grpSpPr bwMode="auto">
          <a:xfrm>
            <a:off x="3106738" y="1827213"/>
            <a:ext cx="293687" cy="2346325"/>
            <a:chOff x="1681" y="1132"/>
            <a:chExt cx="544" cy="1478"/>
          </a:xfrm>
        </p:grpSpPr>
        <p:sp>
          <p:nvSpPr>
            <p:cNvPr id="59527" name="Line 2095"/>
            <p:cNvSpPr>
              <a:spLocks noChangeShapeType="1"/>
            </p:cNvSpPr>
            <p:nvPr/>
          </p:nvSpPr>
          <p:spPr bwMode="auto">
            <a:xfrm flipH="1">
              <a:off x="1688" y="1132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28" name="Line 2096"/>
            <p:cNvSpPr>
              <a:spLocks noChangeShapeType="1"/>
            </p:cNvSpPr>
            <p:nvPr/>
          </p:nvSpPr>
          <p:spPr bwMode="auto">
            <a:xfrm flipH="1">
              <a:off x="1687" y="1228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29" name="Line 2097"/>
            <p:cNvSpPr>
              <a:spLocks noChangeShapeType="1"/>
            </p:cNvSpPr>
            <p:nvPr/>
          </p:nvSpPr>
          <p:spPr bwMode="auto">
            <a:xfrm flipH="1">
              <a:off x="1688" y="1330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30" name="Line 2098"/>
            <p:cNvSpPr>
              <a:spLocks noChangeShapeType="1"/>
            </p:cNvSpPr>
            <p:nvPr/>
          </p:nvSpPr>
          <p:spPr bwMode="auto">
            <a:xfrm flipH="1">
              <a:off x="1687" y="1426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31" name="Line 2099"/>
            <p:cNvSpPr>
              <a:spLocks noChangeShapeType="1"/>
            </p:cNvSpPr>
            <p:nvPr/>
          </p:nvSpPr>
          <p:spPr bwMode="auto">
            <a:xfrm flipH="1">
              <a:off x="1687" y="1529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32" name="Line 2100"/>
            <p:cNvSpPr>
              <a:spLocks noChangeShapeType="1"/>
            </p:cNvSpPr>
            <p:nvPr/>
          </p:nvSpPr>
          <p:spPr bwMode="auto">
            <a:xfrm flipH="1">
              <a:off x="1687" y="1631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33" name="Line 2101"/>
            <p:cNvSpPr>
              <a:spLocks noChangeShapeType="1"/>
            </p:cNvSpPr>
            <p:nvPr/>
          </p:nvSpPr>
          <p:spPr bwMode="auto">
            <a:xfrm flipH="1">
              <a:off x="1689" y="1727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34" name="Line 2102"/>
            <p:cNvSpPr>
              <a:spLocks noChangeShapeType="1"/>
            </p:cNvSpPr>
            <p:nvPr/>
          </p:nvSpPr>
          <p:spPr bwMode="auto">
            <a:xfrm flipH="1">
              <a:off x="1681" y="1823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35" name="Line 2103"/>
            <p:cNvSpPr>
              <a:spLocks noChangeShapeType="1"/>
            </p:cNvSpPr>
            <p:nvPr/>
          </p:nvSpPr>
          <p:spPr bwMode="auto">
            <a:xfrm flipH="1">
              <a:off x="1682" y="1919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36" name="Line 2104"/>
            <p:cNvSpPr>
              <a:spLocks noChangeShapeType="1"/>
            </p:cNvSpPr>
            <p:nvPr/>
          </p:nvSpPr>
          <p:spPr bwMode="auto">
            <a:xfrm flipH="1">
              <a:off x="1681" y="2015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37" name="Line 2105"/>
            <p:cNvSpPr>
              <a:spLocks noChangeShapeType="1"/>
            </p:cNvSpPr>
            <p:nvPr/>
          </p:nvSpPr>
          <p:spPr bwMode="auto">
            <a:xfrm flipH="1">
              <a:off x="1682" y="2117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38" name="Line 2106"/>
            <p:cNvSpPr>
              <a:spLocks noChangeShapeType="1"/>
            </p:cNvSpPr>
            <p:nvPr/>
          </p:nvSpPr>
          <p:spPr bwMode="auto">
            <a:xfrm flipH="1">
              <a:off x="1681" y="2213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39" name="Line 2107"/>
            <p:cNvSpPr>
              <a:spLocks noChangeShapeType="1"/>
            </p:cNvSpPr>
            <p:nvPr/>
          </p:nvSpPr>
          <p:spPr bwMode="auto">
            <a:xfrm flipH="1">
              <a:off x="1688" y="2316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40" name="Line 2108"/>
            <p:cNvSpPr>
              <a:spLocks noChangeShapeType="1"/>
            </p:cNvSpPr>
            <p:nvPr/>
          </p:nvSpPr>
          <p:spPr bwMode="auto">
            <a:xfrm flipH="1">
              <a:off x="1687" y="2412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41" name="Line 2109"/>
            <p:cNvSpPr>
              <a:spLocks noChangeShapeType="1"/>
            </p:cNvSpPr>
            <p:nvPr/>
          </p:nvSpPr>
          <p:spPr bwMode="auto">
            <a:xfrm flipH="1">
              <a:off x="1688" y="2514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42" name="Line 2110"/>
            <p:cNvSpPr>
              <a:spLocks noChangeShapeType="1"/>
            </p:cNvSpPr>
            <p:nvPr/>
          </p:nvSpPr>
          <p:spPr bwMode="auto">
            <a:xfrm flipH="1">
              <a:off x="1687" y="2610"/>
              <a:ext cx="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9418" name="Rectangle 2112"/>
          <p:cNvSpPr>
            <a:spLocks noChangeArrowheads="1"/>
          </p:cNvSpPr>
          <p:nvPr/>
        </p:nvSpPr>
        <p:spPr bwMode="auto">
          <a:xfrm>
            <a:off x="3403600" y="1706563"/>
            <a:ext cx="533400" cy="2590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grpSp>
        <p:nvGrpSpPr>
          <p:cNvPr id="59419" name="Group 2113"/>
          <p:cNvGrpSpPr>
            <a:grpSpLocks/>
          </p:cNvGrpSpPr>
          <p:nvPr/>
        </p:nvGrpSpPr>
        <p:grpSpPr bwMode="auto">
          <a:xfrm>
            <a:off x="3938588" y="1827213"/>
            <a:ext cx="293687" cy="2346325"/>
            <a:chOff x="1681" y="1132"/>
            <a:chExt cx="544" cy="1478"/>
          </a:xfrm>
        </p:grpSpPr>
        <p:sp>
          <p:nvSpPr>
            <p:cNvPr id="59511" name="Line 2114"/>
            <p:cNvSpPr>
              <a:spLocks noChangeShapeType="1"/>
            </p:cNvSpPr>
            <p:nvPr/>
          </p:nvSpPr>
          <p:spPr bwMode="auto">
            <a:xfrm flipH="1">
              <a:off x="1688" y="1132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12" name="Line 2115"/>
            <p:cNvSpPr>
              <a:spLocks noChangeShapeType="1"/>
            </p:cNvSpPr>
            <p:nvPr/>
          </p:nvSpPr>
          <p:spPr bwMode="auto">
            <a:xfrm flipH="1">
              <a:off x="1687" y="1228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13" name="Line 2116"/>
            <p:cNvSpPr>
              <a:spLocks noChangeShapeType="1"/>
            </p:cNvSpPr>
            <p:nvPr/>
          </p:nvSpPr>
          <p:spPr bwMode="auto">
            <a:xfrm flipH="1">
              <a:off x="1688" y="1330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14" name="Line 2117"/>
            <p:cNvSpPr>
              <a:spLocks noChangeShapeType="1"/>
            </p:cNvSpPr>
            <p:nvPr/>
          </p:nvSpPr>
          <p:spPr bwMode="auto">
            <a:xfrm flipH="1">
              <a:off x="1687" y="1426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15" name="Line 2118"/>
            <p:cNvSpPr>
              <a:spLocks noChangeShapeType="1"/>
            </p:cNvSpPr>
            <p:nvPr/>
          </p:nvSpPr>
          <p:spPr bwMode="auto">
            <a:xfrm flipH="1">
              <a:off x="1687" y="1529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16" name="Line 2119"/>
            <p:cNvSpPr>
              <a:spLocks noChangeShapeType="1"/>
            </p:cNvSpPr>
            <p:nvPr/>
          </p:nvSpPr>
          <p:spPr bwMode="auto">
            <a:xfrm flipH="1">
              <a:off x="1687" y="1631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17" name="Line 2120"/>
            <p:cNvSpPr>
              <a:spLocks noChangeShapeType="1"/>
            </p:cNvSpPr>
            <p:nvPr/>
          </p:nvSpPr>
          <p:spPr bwMode="auto">
            <a:xfrm flipH="1">
              <a:off x="1689" y="1727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18" name="Line 2121"/>
            <p:cNvSpPr>
              <a:spLocks noChangeShapeType="1"/>
            </p:cNvSpPr>
            <p:nvPr/>
          </p:nvSpPr>
          <p:spPr bwMode="auto">
            <a:xfrm flipH="1">
              <a:off x="1681" y="1823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19" name="Line 2122"/>
            <p:cNvSpPr>
              <a:spLocks noChangeShapeType="1"/>
            </p:cNvSpPr>
            <p:nvPr/>
          </p:nvSpPr>
          <p:spPr bwMode="auto">
            <a:xfrm flipH="1">
              <a:off x="1682" y="1919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20" name="Line 2123"/>
            <p:cNvSpPr>
              <a:spLocks noChangeShapeType="1"/>
            </p:cNvSpPr>
            <p:nvPr/>
          </p:nvSpPr>
          <p:spPr bwMode="auto">
            <a:xfrm flipH="1">
              <a:off x="1681" y="2015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21" name="Line 2124"/>
            <p:cNvSpPr>
              <a:spLocks noChangeShapeType="1"/>
            </p:cNvSpPr>
            <p:nvPr/>
          </p:nvSpPr>
          <p:spPr bwMode="auto">
            <a:xfrm flipH="1">
              <a:off x="1682" y="2117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22" name="Line 2125"/>
            <p:cNvSpPr>
              <a:spLocks noChangeShapeType="1"/>
            </p:cNvSpPr>
            <p:nvPr/>
          </p:nvSpPr>
          <p:spPr bwMode="auto">
            <a:xfrm flipH="1">
              <a:off x="1681" y="2213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23" name="Line 2126"/>
            <p:cNvSpPr>
              <a:spLocks noChangeShapeType="1"/>
            </p:cNvSpPr>
            <p:nvPr/>
          </p:nvSpPr>
          <p:spPr bwMode="auto">
            <a:xfrm flipH="1">
              <a:off x="1688" y="2316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24" name="Line 2127"/>
            <p:cNvSpPr>
              <a:spLocks noChangeShapeType="1"/>
            </p:cNvSpPr>
            <p:nvPr/>
          </p:nvSpPr>
          <p:spPr bwMode="auto">
            <a:xfrm flipH="1">
              <a:off x="1687" y="2412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25" name="Line 2128"/>
            <p:cNvSpPr>
              <a:spLocks noChangeShapeType="1"/>
            </p:cNvSpPr>
            <p:nvPr/>
          </p:nvSpPr>
          <p:spPr bwMode="auto">
            <a:xfrm flipH="1">
              <a:off x="1688" y="2514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26" name="Line 2129"/>
            <p:cNvSpPr>
              <a:spLocks noChangeShapeType="1"/>
            </p:cNvSpPr>
            <p:nvPr/>
          </p:nvSpPr>
          <p:spPr bwMode="auto">
            <a:xfrm flipH="1">
              <a:off x="1687" y="2610"/>
              <a:ext cx="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9420" name="Text Box 2130"/>
          <p:cNvSpPr txBox="1">
            <a:spLocks noChangeArrowheads="1"/>
          </p:cNvSpPr>
          <p:nvPr/>
        </p:nvSpPr>
        <p:spPr bwMode="auto">
          <a:xfrm>
            <a:off x="2579688" y="2533650"/>
            <a:ext cx="5572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16-bit </a:t>
            </a:r>
          </a:p>
          <a:p>
            <a:pPr algn="ctr" eaLnBrk="1" hangingPunct="1"/>
            <a:r>
              <a:rPr lang="en-US" sz="1000" b="1"/>
              <a:t>Latch</a:t>
            </a:r>
          </a:p>
          <a:p>
            <a:pPr algn="ctr" eaLnBrk="1" hangingPunct="1"/>
            <a:r>
              <a:rPr lang="en-US" sz="1000" b="1"/>
              <a:t>Stage</a:t>
            </a:r>
          </a:p>
          <a:p>
            <a:pPr algn="ctr" eaLnBrk="1" hangingPunct="1"/>
            <a:r>
              <a:rPr lang="en-US" sz="1000" b="1"/>
              <a:t>2</a:t>
            </a:r>
          </a:p>
        </p:txBody>
      </p:sp>
      <p:sp>
        <p:nvSpPr>
          <p:cNvPr id="59421" name="Text Box 2131"/>
          <p:cNvSpPr txBox="1">
            <a:spLocks noChangeArrowheads="1"/>
          </p:cNvSpPr>
          <p:nvPr/>
        </p:nvSpPr>
        <p:spPr bwMode="auto">
          <a:xfrm>
            <a:off x="3394075" y="2554288"/>
            <a:ext cx="5572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16-bit </a:t>
            </a:r>
          </a:p>
          <a:p>
            <a:pPr algn="ctr" eaLnBrk="1" hangingPunct="1"/>
            <a:r>
              <a:rPr lang="en-US" sz="1000" b="1"/>
              <a:t>Latch</a:t>
            </a:r>
          </a:p>
          <a:p>
            <a:pPr algn="ctr" eaLnBrk="1" hangingPunct="1"/>
            <a:r>
              <a:rPr lang="en-US" sz="1000" b="1"/>
              <a:t>Stage</a:t>
            </a:r>
          </a:p>
          <a:p>
            <a:pPr algn="ctr" eaLnBrk="1" hangingPunct="1"/>
            <a:r>
              <a:rPr lang="en-US" sz="1000" b="1"/>
              <a:t>3</a:t>
            </a:r>
          </a:p>
        </p:txBody>
      </p:sp>
      <p:sp>
        <p:nvSpPr>
          <p:cNvPr id="59422" name="Line 2132"/>
          <p:cNvSpPr>
            <a:spLocks noChangeShapeType="1"/>
          </p:cNvSpPr>
          <p:nvPr/>
        </p:nvSpPr>
        <p:spPr bwMode="auto">
          <a:xfrm>
            <a:off x="893763" y="1817688"/>
            <a:ext cx="1587" cy="2581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23" name="Oval 2133"/>
          <p:cNvSpPr>
            <a:spLocks noChangeArrowheads="1"/>
          </p:cNvSpPr>
          <p:nvPr/>
        </p:nvSpPr>
        <p:spPr bwMode="auto">
          <a:xfrm>
            <a:off x="4441825" y="2944813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59424" name="Oval 2134"/>
          <p:cNvSpPr>
            <a:spLocks noChangeArrowheads="1"/>
          </p:cNvSpPr>
          <p:nvPr/>
        </p:nvSpPr>
        <p:spPr bwMode="auto">
          <a:xfrm>
            <a:off x="4665663" y="2944813"/>
            <a:ext cx="74612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59425" name="Oval 2136"/>
          <p:cNvSpPr>
            <a:spLocks noChangeArrowheads="1"/>
          </p:cNvSpPr>
          <p:nvPr/>
        </p:nvSpPr>
        <p:spPr bwMode="auto">
          <a:xfrm>
            <a:off x="4848225" y="2944813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59426" name="Oval 2137"/>
          <p:cNvSpPr>
            <a:spLocks noChangeArrowheads="1"/>
          </p:cNvSpPr>
          <p:nvPr/>
        </p:nvSpPr>
        <p:spPr bwMode="auto">
          <a:xfrm>
            <a:off x="5072063" y="2944813"/>
            <a:ext cx="74612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59427" name="Oval 2138"/>
          <p:cNvSpPr>
            <a:spLocks noChangeArrowheads="1"/>
          </p:cNvSpPr>
          <p:nvPr/>
        </p:nvSpPr>
        <p:spPr bwMode="auto">
          <a:xfrm>
            <a:off x="5264150" y="29432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59428" name="Oval 2139"/>
          <p:cNvSpPr>
            <a:spLocks noChangeArrowheads="1"/>
          </p:cNvSpPr>
          <p:nvPr/>
        </p:nvSpPr>
        <p:spPr bwMode="auto">
          <a:xfrm>
            <a:off x="5487988" y="2943225"/>
            <a:ext cx="74612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59429" name="Oval 2140"/>
          <p:cNvSpPr>
            <a:spLocks noChangeArrowheads="1"/>
          </p:cNvSpPr>
          <p:nvPr/>
        </p:nvSpPr>
        <p:spPr bwMode="auto">
          <a:xfrm>
            <a:off x="5670550" y="29432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59430" name="Rectangle 2145"/>
          <p:cNvSpPr>
            <a:spLocks noChangeArrowheads="1"/>
          </p:cNvSpPr>
          <p:nvPr/>
        </p:nvSpPr>
        <p:spPr bwMode="auto">
          <a:xfrm>
            <a:off x="6199188" y="1717675"/>
            <a:ext cx="533400" cy="2590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grpSp>
        <p:nvGrpSpPr>
          <p:cNvPr id="59431" name="Group 2146"/>
          <p:cNvGrpSpPr>
            <a:grpSpLocks/>
          </p:cNvGrpSpPr>
          <p:nvPr/>
        </p:nvGrpSpPr>
        <p:grpSpPr bwMode="auto">
          <a:xfrm>
            <a:off x="6734175" y="1838325"/>
            <a:ext cx="293688" cy="2346325"/>
            <a:chOff x="1681" y="1132"/>
            <a:chExt cx="544" cy="1478"/>
          </a:xfrm>
        </p:grpSpPr>
        <p:sp>
          <p:nvSpPr>
            <p:cNvPr id="59495" name="Line 2147"/>
            <p:cNvSpPr>
              <a:spLocks noChangeShapeType="1"/>
            </p:cNvSpPr>
            <p:nvPr/>
          </p:nvSpPr>
          <p:spPr bwMode="auto">
            <a:xfrm flipH="1">
              <a:off x="1688" y="1132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6" name="Line 2148"/>
            <p:cNvSpPr>
              <a:spLocks noChangeShapeType="1"/>
            </p:cNvSpPr>
            <p:nvPr/>
          </p:nvSpPr>
          <p:spPr bwMode="auto">
            <a:xfrm flipH="1">
              <a:off x="1687" y="1228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7" name="Line 2149"/>
            <p:cNvSpPr>
              <a:spLocks noChangeShapeType="1"/>
            </p:cNvSpPr>
            <p:nvPr/>
          </p:nvSpPr>
          <p:spPr bwMode="auto">
            <a:xfrm flipH="1">
              <a:off x="1688" y="1330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8" name="Line 2150"/>
            <p:cNvSpPr>
              <a:spLocks noChangeShapeType="1"/>
            </p:cNvSpPr>
            <p:nvPr/>
          </p:nvSpPr>
          <p:spPr bwMode="auto">
            <a:xfrm flipH="1">
              <a:off x="1687" y="1426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9" name="Line 2151"/>
            <p:cNvSpPr>
              <a:spLocks noChangeShapeType="1"/>
            </p:cNvSpPr>
            <p:nvPr/>
          </p:nvSpPr>
          <p:spPr bwMode="auto">
            <a:xfrm flipH="1">
              <a:off x="1687" y="1529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00" name="Line 2152"/>
            <p:cNvSpPr>
              <a:spLocks noChangeShapeType="1"/>
            </p:cNvSpPr>
            <p:nvPr/>
          </p:nvSpPr>
          <p:spPr bwMode="auto">
            <a:xfrm flipH="1">
              <a:off x="1687" y="1631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01" name="Line 2153"/>
            <p:cNvSpPr>
              <a:spLocks noChangeShapeType="1"/>
            </p:cNvSpPr>
            <p:nvPr/>
          </p:nvSpPr>
          <p:spPr bwMode="auto">
            <a:xfrm flipH="1">
              <a:off x="1689" y="1727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02" name="Line 2154"/>
            <p:cNvSpPr>
              <a:spLocks noChangeShapeType="1"/>
            </p:cNvSpPr>
            <p:nvPr/>
          </p:nvSpPr>
          <p:spPr bwMode="auto">
            <a:xfrm flipH="1">
              <a:off x="1681" y="1823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03" name="Line 2155"/>
            <p:cNvSpPr>
              <a:spLocks noChangeShapeType="1"/>
            </p:cNvSpPr>
            <p:nvPr/>
          </p:nvSpPr>
          <p:spPr bwMode="auto">
            <a:xfrm flipH="1">
              <a:off x="1682" y="1919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04" name="Line 2156"/>
            <p:cNvSpPr>
              <a:spLocks noChangeShapeType="1"/>
            </p:cNvSpPr>
            <p:nvPr/>
          </p:nvSpPr>
          <p:spPr bwMode="auto">
            <a:xfrm flipH="1">
              <a:off x="1681" y="2015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05" name="Line 2157"/>
            <p:cNvSpPr>
              <a:spLocks noChangeShapeType="1"/>
            </p:cNvSpPr>
            <p:nvPr/>
          </p:nvSpPr>
          <p:spPr bwMode="auto">
            <a:xfrm flipH="1">
              <a:off x="1682" y="2117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06" name="Line 2158"/>
            <p:cNvSpPr>
              <a:spLocks noChangeShapeType="1"/>
            </p:cNvSpPr>
            <p:nvPr/>
          </p:nvSpPr>
          <p:spPr bwMode="auto">
            <a:xfrm flipH="1">
              <a:off x="1681" y="2213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07" name="Line 2159"/>
            <p:cNvSpPr>
              <a:spLocks noChangeShapeType="1"/>
            </p:cNvSpPr>
            <p:nvPr/>
          </p:nvSpPr>
          <p:spPr bwMode="auto">
            <a:xfrm flipH="1">
              <a:off x="1688" y="2316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08" name="Line 2160"/>
            <p:cNvSpPr>
              <a:spLocks noChangeShapeType="1"/>
            </p:cNvSpPr>
            <p:nvPr/>
          </p:nvSpPr>
          <p:spPr bwMode="auto">
            <a:xfrm flipH="1">
              <a:off x="1687" y="2412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09" name="Line 2161"/>
            <p:cNvSpPr>
              <a:spLocks noChangeShapeType="1"/>
            </p:cNvSpPr>
            <p:nvPr/>
          </p:nvSpPr>
          <p:spPr bwMode="auto">
            <a:xfrm flipH="1">
              <a:off x="1688" y="2514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510" name="Line 2162"/>
            <p:cNvSpPr>
              <a:spLocks noChangeShapeType="1"/>
            </p:cNvSpPr>
            <p:nvPr/>
          </p:nvSpPr>
          <p:spPr bwMode="auto">
            <a:xfrm flipH="1">
              <a:off x="1687" y="2610"/>
              <a:ext cx="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9432" name="Rectangle 2164"/>
          <p:cNvSpPr>
            <a:spLocks noChangeArrowheads="1"/>
          </p:cNvSpPr>
          <p:nvPr/>
        </p:nvSpPr>
        <p:spPr bwMode="auto">
          <a:xfrm>
            <a:off x="7031038" y="1717675"/>
            <a:ext cx="533400" cy="2590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grpSp>
        <p:nvGrpSpPr>
          <p:cNvPr id="59433" name="Group 2165"/>
          <p:cNvGrpSpPr>
            <a:grpSpLocks/>
          </p:cNvGrpSpPr>
          <p:nvPr/>
        </p:nvGrpSpPr>
        <p:grpSpPr bwMode="auto">
          <a:xfrm>
            <a:off x="7566025" y="1838325"/>
            <a:ext cx="477838" cy="2346325"/>
            <a:chOff x="1681" y="1132"/>
            <a:chExt cx="544" cy="1478"/>
          </a:xfrm>
        </p:grpSpPr>
        <p:sp>
          <p:nvSpPr>
            <p:cNvPr id="59479" name="Line 2166"/>
            <p:cNvSpPr>
              <a:spLocks noChangeShapeType="1"/>
            </p:cNvSpPr>
            <p:nvPr/>
          </p:nvSpPr>
          <p:spPr bwMode="auto">
            <a:xfrm flipH="1">
              <a:off x="1688" y="1132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80" name="Line 2167"/>
            <p:cNvSpPr>
              <a:spLocks noChangeShapeType="1"/>
            </p:cNvSpPr>
            <p:nvPr/>
          </p:nvSpPr>
          <p:spPr bwMode="auto">
            <a:xfrm flipH="1">
              <a:off x="1687" y="1228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81" name="Line 2168"/>
            <p:cNvSpPr>
              <a:spLocks noChangeShapeType="1"/>
            </p:cNvSpPr>
            <p:nvPr/>
          </p:nvSpPr>
          <p:spPr bwMode="auto">
            <a:xfrm flipH="1">
              <a:off x="1688" y="1330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82" name="Line 2169"/>
            <p:cNvSpPr>
              <a:spLocks noChangeShapeType="1"/>
            </p:cNvSpPr>
            <p:nvPr/>
          </p:nvSpPr>
          <p:spPr bwMode="auto">
            <a:xfrm flipH="1">
              <a:off x="1687" y="1426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83" name="Line 2170"/>
            <p:cNvSpPr>
              <a:spLocks noChangeShapeType="1"/>
            </p:cNvSpPr>
            <p:nvPr/>
          </p:nvSpPr>
          <p:spPr bwMode="auto">
            <a:xfrm flipH="1">
              <a:off x="1687" y="1529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84" name="Line 2171"/>
            <p:cNvSpPr>
              <a:spLocks noChangeShapeType="1"/>
            </p:cNvSpPr>
            <p:nvPr/>
          </p:nvSpPr>
          <p:spPr bwMode="auto">
            <a:xfrm flipH="1">
              <a:off x="1687" y="1631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85" name="Line 2172"/>
            <p:cNvSpPr>
              <a:spLocks noChangeShapeType="1"/>
            </p:cNvSpPr>
            <p:nvPr/>
          </p:nvSpPr>
          <p:spPr bwMode="auto">
            <a:xfrm flipH="1">
              <a:off x="1689" y="1727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86" name="Line 2173"/>
            <p:cNvSpPr>
              <a:spLocks noChangeShapeType="1"/>
            </p:cNvSpPr>
            <p:nvPr/>
          </p:nvSpPr>
          <p:spPr bwMode="auto">
            <a:xfrm flipH="1">
              <a:off x="1681" y="1823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87" name="Line 2174"/>
            <p:cNvSpPr>
              <a:spLocks noChangeShapeType="1"/>
            </p:cNvSpPr>
            <p:nvPr/>
          </p:nvSpPr>
          <p:spPr bwMode="auto">
            <a:xfrm flipH="1">
              <a:off x="1682" y="1919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88" name="Line 2175"/>
            <p:cNvSpPr>
              <a:spLocks noChangeShapeType="1"/>
            </p:cNvSpPr>
            <p:nvPr/>
          </p:nvSpPr>
          <p:spPr bwMode="auto">
            <a:xfrm flipH="1">
              <a:off x="1681" y="2015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89" name="Line 2176"/>
            <p:cNvSpPr>
              <a:spLocks noChangeShapeType="1"/>
            </p:cNvSpPr>
            <p:nvPr/>
          </p:nvSpPr>
          <p:spPr bwMode="auto">
            <a:xfrm flipH="1">
              <a:off x="1682" y="2117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0" name="Line 2177"/>
            <p:cNvSpPr>
              <a:spLocks noChangeShapeType="1"/>
            </p:cNvSpPr>
            <p:nvPr/>
          </p:nvSpPr>
          <p:spPr bwMode="auto">
            <a:xfrm flipH="1">
              <a:off x="1681" y="2213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1" name="Line 2178"/>
            <p:cNvSpPr>
              <a:spLocks noChangeShapeType="1"/>
            </p:cNvSpPr>
            <p:nvPr/>
          </p:nvSpPr>
          <p:spPr bwMode="auto">
            <a:xfrm flipH="1">
              <a:off x="1688" y="2316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2" name="Line 2179"/>
            <p:cNvSpPr>
              <a:spLocks noChangeShapeType="1"/>
            </p:cNvSpPr>
            <p:nvPr/>
          </p:nvSpPr>
          <p:spPr bwMode="auto">
            <a:xfrm flipH="1">
              <a:off x="1687" y="2412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3" name="Line 2180"/>
            <p:cNvSpPr>
              <a:spLocks noChangeShapeType="1"/>
            </p:cNvSpPr>
            <p:nvPr/>
          </p:nvSpPr>
          <p:spPr bwMode="auto">
            <a:xfrm flipH="1">
              <a:off x="1688" y="2514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4" name="Line 2181"/>
            <p:cNvSpPr>
              <a:spLocks noChangeShapeType="1"/>
            </p:cNvSpPr>
            <p:nvPr/>
          </p:nvSpPr>
          <p:spPr bwMode="auto">
            <a:xfrm flipH="1">
              <a:off x="1687" y="2610"/>
              <a:ext cx="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9434" name="Text Box 2182"/>
          <p:cNvSpPr txBox="1">
            <a:spLocks noChangeArrowheads="1"/>
          </p:cNvSpPr>
          <p:nvPr/>
        </p:nvSpPr>
        <p:spPr bwMode="auto">
          <a:xfrm>
            <a:off x="6207125" y="2544763"/>
            <a:ext cx="5572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16-bit </a:t>
            </a:r>
          </a:p>
          <a:p>
            <a:pPr algn="ctr" eaLnBrk="1" hangingPunct="1"/>
            <a:r>
              <a:rPr lang="en-US" sz="1000" b="1"/>
              <a:t>Latch</a:t>
            </a:r>
          </a:p>
          <a:p>
            <a:pPr algn="ctr" eaLnBrk="1" hangingPunct="1"/>
            <a:r>
              <a:rPr lang="en-US" sz="1000" b="1"/>
              <a:t>Stage</a:t>
            </a:r>
          </a:p>
          <a:p>
            <a:pPr algn="ctr" eaLnBrk="1" hangingPunct="1"/>
            <a:r>
              <a:rPr lang="en-US" sz="1000" b="1"/>
              <a:t>N-1</a:t>
            </a:r>
          </a:p>
        </p:txBody>
      </p:sp>
      <p:sp>
        <p:nvSpPr>
          <p:cNvPr id="59435" name="Text Box 2183"/>
          <p:cNvSpPr txBox="1">
            <a:spLocks noChangeArrowheads="1"/>
          </p:cNvSpPr>
          <p:nvPr/>
        </p:nvSpPr>
        <p:spPr bwMode="auto">
          <a:xfrm>
            <a:off x="7021513" y="2565400"/>
            <a:ext cx="5572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16-bit </a:t>
            </a:r>
          </a:p>
          <a:p>
            <a:pPr algn="ctr" eaLnBrk="1" hangingPunct="1"/>
            <a:r>
              <a:rPr lang="en-US" sz="1000" b="1"/>
              <a:t>Latch</a:t>
            </a:r>
          </a:p>
          <a:p>
            <a:pPr algn="ctr" eaLnBrk="1" hangingPunct="1"/>
            <a:r>
              <a:rPr lang="en-US" sz="1000" b="1"/>
              <a:t>Stage</a:t>
            </a:r>
          </a:p>
          <a:p>
            <a:pPr algn="ctr" eaLnBrk="1" hangingPunct="1"/>
            <a:r>
              <a:rPr lang="en-US" sz="1000" b="1"/>
              <a:t>N</a:t>
            </a:r>
          </a:p>
        </p:txBody>
      </p:sp>
      <p:sp>
        <p:nvSpPr>
          <p:cNvPr id="59436" name="Line 2202"/>
          <p:cNvSpPr>
            <a:spLocks noChangeShapeType="1"/>
          </p:cNvSpPr>
          <p:nvPr/>
        </p:nvSpPr>
        <p:spPr bwMode="auto">
          <a:xfrm flipH="1">
            <a:off x="5892800" y="1827213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37" name="Line 2203"/>
          <p:cNvSpPr>
            <a:spLocks noChangeShapeType="1"/>
          </p:cNvSpPr>
          <p:nvPr/>
        </p:nvSpPr>
        <p:spPr bwMode="auto">
          <a:xfrm flipH="1">
            <a:off x="5892800" y="1979613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38" name="Line 2204"/>
          <p:cNvSpPr>
            <a:spLocks noChangeShapeType="1"/>
          </p:cNvSpPr>
          <p:nvPr/>
        </p:nvSpPr>
        <p:spPr bwMode="auto">
          <a:xfrm flipH="1">
            <a:off x="5892800" y="2141538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39" name="Line 2205"/>
          <p:cNvSpPr>
            <a:spLocks noChangeShapeType="1"/>
          </p:cNvSpPr>
          <p:nvPr/>
        </p:nvSpPr>
        <p:spPr bwMode="auto">
          <a:xfrm flipH="1">
            <a:off x="5892800" y="2293938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40" name="Line 2206"/>
          <p:cNvSpPr>
            <a:spLocks noChangeShapeType="1"/>
          </p:cNvSpPr>
          <p:nvPr/>
        </p:nvSpPr>
        <p:spPr bwMode="auto">
          <a:xfrm flipH="1">
            <a:off x="5892800" y="2457450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41" name="Line 2207"/>
          <p:cNvSpPr>
            <a:spLocks noChangeShapeType="1"/>
          </p:cNvSpPr>
          <p:nvPr/>
        </p:nvSpPr>
        <p:spPr bwMode="auto">
          <a:xfrm flipH="1">
            <a:off x="5892800" y="2619375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42" name="Line 2208"/>
          <p:cNvSpPr>
            <a:spLocks noChangeShapeType="1"/>
          </p:cNvSpPr>
          <p:nvPr/>
        </p:nvSpPr>
        <p:spPr bwMode="auto">
          <a:xfrm flipH="1">
            <a:off x="5894388" y="2771775"/>
            <a:ext cx="285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43" name="Line 2209"/>
          <p:cNvSpPr>
            <a:spLocks noChangeShapeType="1"/>
          </p:cNvSpPr>
          <p:nvPr/>
        </p:nvSpPr>
        <p:spPr bwMode="auto">
          <a:xfrm flipH="1">
            <a:off x="5889625" y="2924175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44" name="Line 2210"/>
          <p:cNvSpPr>
            <a:spLocks noChangeShapeType="1"/>
          </p:cNvSpPr>
          <p:nvPr/>
        </p:nvSpPr>
        <p:spPr bwMode="auto">
          <a:xfrm flipH="1">
            <a:off x="5889625" y="3076575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45" name="Line 2211"/>
          <p:cNvSpPr>
            <a:spLocks noChangeShapeType="1"/>
          </p:cNvSpPr>
          <p:nvPr/>
        </p:nvSpPr>
        <p:spPr bwMode="auto">
          <a:xfrm flipH="1">
            <a:off x="5889625" y="3228975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46" name="Line 2212"/>
          <p:cNvSpPr>
            <a:spLocks noChangeShapeType="1"/>
          </p:cNvSpPr>
          <p:nvPr/>
        </p:nvSpPr>
        <p:spPr bwMode="auto">
          <a:xfrm flipH="1">
            <a:off x="5889625" y="3390900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47" name="Line 2213"/>
          <p:cNvSpPr>
            <a:spLocks noChangeShapeType="1"/>
          </p:cNvSpPr>
          <p:nvPr/>
        </p:nvSpPr>
        <p:spPr bwMode="auto">
          <a:xfrm flipH="1">
            <a:off x="5889625" y="3543300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48" name="Line 2214"/>
          <p:cNvSpPr>
            <a:spLocks noChangeShapeType="1"/>
          </p:cNvSpPr>
          <p:nvPr/>
        </p:nvSpPr>
        <p:spPr bwMode="auto">
          <a:xfrm flipH="1">
            <a:off x="5892800" y="3706813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49" name="Line 2215"/>
          <p:cNvSpPr>
            <a:spLocks noChangeShapeType="1"/>
          </p:cNvSpPr>
          <p:nvPr/>
        </p:nvSpPr>
        <p:spPr bwMode="auto">
          <a:xfrm flipH="1">
            <a:off x="5892800" y="3859213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50" name="Line 2216"/>
          <p:cNvSpPr>
            <a:spLocks noChangeShapeType="1"/>
          </p:cNvSpPr>
          <p:nvPr/>
        </p:nvSpPr>
        <p:spPr bwMode="auto">
          <a:xfrm flipH="1">
            <a:off x="5892800" y="4021138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51" name="Line 2217"/>
          <p:cNvSpPr>
            <a:spLocks noChangeShapeType="1"/>
          </p:cNvSpPr>
          <p:nvPr/>
        </p:nvSpPr>
        <p:spPr bwMode="auto">
          <a:xfrm flipH="1">
            <a:off x="5892800" y="4173538"/>
            <a:ext cx="2905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52" name="Line 2218"/>
          <p:cNvSpPr>
            <a:spLocks noChangeShapeType="1"/>
          </p:cNvSpPr>
          <p:nvPr/>
        </p:nvSpPr>
        <p:spPr bwMode="auto">
          <a:xfrm>
            <a:off x="8026400" y="1827213"/>
            <a:ext cx="1588" cy="2581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53" name="Rectangle 2219"/>
          <p:cNvSpPr>
            <a:spLocks noChangeArrowheads="1"/>
          </p:cNvSpPr>
          <p:nvPr/>
        </p:nvSpPr>
        <p:spPr bwMode="auto">
          <a:xfrm>
            <a:off x="1657350" y="4775200"/>
            <a:ext cx="6015038" cy="6794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59454" name="Line 2220"/>
          <p:cNvSpPr>
            <a:spLocks noChangeShapeType="1"/>
          </p:cNvSpPr>
          <p:nvPr/>
        </p:nvSpPr>
        <p:spPr bwMode="auto">
          <a:xfrm>
            <a:off x="2001838" y="4287838"/>
            <a:ext cx="0" cy="477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55" name="Line 2221"/>
          <p:cNvSpPr>
            <a:spLocks noChangeShapeType="1"/>
          </p:cNvSpPr>
          <p:nvPr/>
        </p:nvSpPr>
        <p:spPr bwMode="auto">
          <a:xfrm>
            <a:off x="2835275" y="4308475"/>
            <a:ext cx="0" cy="4778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56" name="Line 2222"/>
          <p:cNvSpPr>
            <a:spLocks noChangeShapeType="1"/>
          </p:cNvSpPr>
          <p:nvPr/>
        </p:nvSpPr>
        <p:spPr bwMode="auto">
          <a:xfrm>
            <a:off x="3648075" y="4306888"/>
            <a:ext cx="0" cy="477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57" name="Line 2224"/>
          <p:cNvSpPr>
            <a:spLocks noChangeShapeType="1"/>
          </p:cNvSpPr>
          <p:nvPr/>
        </p:nvSpPr>
        <p:spPr bwMode="auto">
          <a:xfrm>
            <a:off x="6483350" y="4308475"/>
            <a:ext cx="0" cy="4778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58" name="Line 2225"/>
          <p:cNvSpPr>
            <a:spLocks noChangeShapeType="1"/>
          </p:cNvSpPr>
          <p:nvPr/>
        </p:nvSpPr>
        <p:spPr bwMode="auto">
          <a:xfrm>
            <a:off x="7307263" y="4306888"/>
            <a:ext cx="0" cy="477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59" name="Text Box 2226"/>
          <p:cNvSpPr txBox="1">
            <a:spLocks noChangeArrowheads="1"/>
          </p:cNvSpPr>
          <p:nvPr/>
        </p:nvSpPr>
        <p:spPr bwMode="auto">
          <a:xfrm>
            <a:off x="4192588" y="4987925"/>
            <a:ext cx="1276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Control logic</a:t>
            </a:r>
          </a:p>
        </p:txBody>
      </p:sp>
      <p:sp>
        <p:nvSpPr>
          <p:cNvPr id="59460" name="Text Box 2227"/>
          <p:cNvSpPr txBox="1">
            <a:spLocks noChangeArrowheads="1"/>
          </p:cNvSpPr>
          <p:nvPr/>
        </p:nvSpPr>
        <p:spPr bwMode="auto">
          <a:xfrm>
            <a:off x="417513" y="1270000"/>
            <a:ext cx="9794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Input bus</a:t>
            </a:r>
          </a:p>
        </p:txBody>
      </p:sp>
      <p:sp>
        <p:nvSpPr>
          <p:cNvPr id="59461" name="Text Box 2231"/>
          <p:cNvSpPr txBox="1">
            <a:spLocks noChangeArrowheads="1"/>
          </p:cNvSpPr>
          <p:nvPr/>
        </p:nvSpPr>
        <p:spPr bwMode="auto">
          <a:xfrm>
            <a:off x="7610475" y="1614488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D0</a:t>
            </a:r>
          </a:p>
        </p:txBody>
      </p:sp>
      <p:sp>
        <p:nvSpPr>
          <p:cNvPr id="59462" name="Text Box 2232"/>
          <p:cNvSpPr txBox="1">
            <a:spLocks noChangeArrowheads="1"/>
          </p:cNvSpPr>
          <p:nvPr/>
        </p:nvSpPr>
        <p:spPr bwMode="auto">
          <a:xfrm>
            <a:off x="7562850" y="4213225"/>
            <a:ext cx="4159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D15</a:t>
            </a:r>
          </a:p>
        </p:txBody>
      </p:sp>
      <p:sp>
        <p:nvSpPr>
          <p:cNvPr id="59463" name="Text Box 2233"/>
          <p:cNvSpPr txBox="1">
            <a:spLocks noChangeArrowheads="1"/>
          </p:cNvSpPr>
          <p:nvPr/>
        </p:nvSpPr>
        <p:spPr bwMode="auto">
          <a:xfrm>
            <a:off x="7229475" y="1331913"/>
            <a:ext cx="1220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Output Bus</a:t>
            </a:r>
          </a:p>
        </p:txBody>
      </p:sp>
      <p:sp>
        <p:nvSpPr>
          <p:cNvPr id="59464" name="Line 2234"/>
          <p:cNvSpPr>
            <a:spLocks noChangeShapeType="1"/>
          </p:cNvSpPr>
          <p:nvPr/>
        </p:nvSpPr>
        <p:spPr bwMode="auto">
          <a:xfrm flipH="1">
            <a:off x="782638" y="5110163"/>
            <a:ext cx="8937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65" name="Text Box 2235"/>
          <p:cNvSpPr txBox="1">
            <a:spLocks noChangeArrowheads="1"/>
          </p:cNvSpPr>
          <p:nvPr/>
        </p:nvSpPr>
        <p:spPr bwMode="auto">
          <a:xfrm>
            <a:off x="563563" y="5202238"/>
            <a:ext cx="873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Clock in</a:t>
            </a:r>
          </a:p>
        </p:txBody>
      </p:sp>
      <p:sp>
        <p:nvSpPr>
          <p:cNvPr id="59466" name="Line 2236"/>
          <p:cNvSpPr>
            <a:spLocks noChangeShapeType="1"/>
          </p:cNvSpPr>
          <p:nvPr/>
        </p:nvSpPr>
        <p:spPr bwMode="auto">
          <a:xfrm flipH="1">
            <a:off x="7670800" y="5121275"/>
            <a:ext cx="8937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67" name="Text Box 2237"/>
          <p:cNvSpPr txBox="1">
            <a:spLocks noChangeArrowheads="1"/>
          </p:cNvSpPr>
          <p:nvPr/>
        </p:nvSpPr>
        <p:spPr bwMode="auto">
          <a:xfrm>
            <a:off x="7767638" y="51816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Clock out</a:t>
            </a:r>
          </a:p>
        </p:txBody>
      </p:sp>
      <p:sp>
        <p:nvSpPr>
          <p:cNvPr id="59468" name="Line 2238"/>
          <p:cNvSpPr>
            <a:spLocks noChangeShapeType="1"/>
          </p:cNvSpPr>
          <p:nvPr/>
        </p:nvSpPr>
        <p:spPr bwMode="auto">
          <a:xfrm>
            <a:off x="3597275" y="5456238"/>
            <a:ext cx="0" cy="5794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69" name="Line 2239"/>
          <p:cNvSpPr>
            <a:spLocks noChangeShapeType="1"/>
          </p:cNvSpPr>
          <p:nvPr/>
        </p:nvSpPr>
        <p:spPr bwMode="auto">
          <a:xfrm>
            <a:off x="4827588" y="5467350"/>
            <a:ext cx="0" cy="5794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70" name="Text Box 2240"/>
          <p:cNvSpPr txBox="1">
            <a:spLocks noChangeArrowheads="1"/>
          </p:cNvSpPr>
          <p:nvPr/>
        </p:nvSpPr>
        <p:spPr bwMode="auto">
          <a:xfrm>
            <a:off x="2333625" y="5670550"/>
            <a:ext cx="1089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FIFO FULL</a:t>
            </a:r>
          </a:p>
        </p:txBody>
      </p:sp>
      <p:sp>
        <p:nvSpPr>
          <p:cNvPr id="59471" name="Text Box 2241"/>
          <p:cNvSpPr txBox="1">
            <a:spLocks noChangeArrowheads="1"/>
          </p:cNvSpPr>
          <p:nvPr/>
        </p:nvSpPr>
        <p:spPr bwMode="auto">
          <a:xfrm>
            <a:off x="5029200" y="5680075"/>
            <a:ext cx="12493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FIFO EMPTY</a:t>
            </a:r>
          </a:p>
        </p:txBody>
      </p:sp>
      <p:sp>
        <p:nvSpPr>
          <p:cNvPr id="59472" name="Line 2242"/>
          <p:cNvSpPr>
            <a:spLocks noChangeShapeType="1"/>
          </p:cNvSpPr>
          <p:nvPr/>
        </p:nvSpPr>
        <p:spPr bwMode="auto">
          <a:xfrm>
            <a:off x="1219200" y="5100638"/>
            <a:ext cx="41592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73" name="Line 2243"/>
          <p:cNvSpPr>
            <a:spLocks noChangeShapeType="1"/>
          </p:cNvSpPr>
          <p:nvPr/>
        </p:nvSpPr>
        <p:spPr bwMode="auto">
          <a:xfrm flipH="1">
            <a:off x="7670800" y="5110163"/>
            <a:ext cx="41592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74" name="Text Box 2244"/>
          <p:cNvSpPr txBox="1">
            <a:spLocks noChangeArrowheads="1"/>
          </p:cNvSpPr>
          <p:nvPr/>
        </p:nvSpPr>
        <p:spPr bwMode="auto">
          <a:xfrm>
            <a:off x="4229100" y="4398963"/>
            <a:ext cx="1403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Latch controls</a:t>
            </a:r>
          </a:p>
        </p:txBody>
      </p:sp>
      <p:sp>
        <p:nvSpPr>
          <p:cNvPr id="59475" name="Line 2245"/>
          <p:cNvSpPr>
            <a:spLocks noChangeShapeType="1"/>
          </p:cNvSpPr>
          <p:nvPr/>
        </p:nvSpPr>
        <p:spPr bwMode="auto">
          <a:xfrm>
            <a:off x="5770563" y="4551363"/>
            <a:ext cx="6207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76" name="Line 2246"/>
          <p:cNvSpPr>
            <a:spLocks noChangeShapeType="1"/>
          </p:cNvSpPr>
          <p:nvPr/>
        </p:nvSpPr>
        <p:spPr bwMode="auto">
          <a:xfrm flipH="1">
            <a:off x="3717925" y="4551363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477" name="Text Box 2247"/>
          <p:cNvSpPr txBox="1">
            <a:spLocks noChangeArrowheads="1"/>
          </p:cNvSpPr>
          <p:nvPr/>
        </p:nvSpPr>
        <p:spPr bwMode="auto">
          <a:xfrm>
            <a:off x="4092575" y="1239838"/>
            <a:ext cx="12493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DATA FLOW</a:t>
            </a:r>
          </a:p>
        </p:txBody>
      </p:sp>
      <p:sp>
        <p:nvSpPr>
          <p:cNvPr id="59478" name="Line 2248"/>
          <p:cNvSpPr>
            <a:spLocks noChangeShapeType="1"/>
          </p:cNvSpPr>
          <p:nvPr/>
        </p:nvSpPr>
        <p:spPr bwMode="auto">
          <a:xfrm>
            <a:off x="5405438" y="1392238"/>
            <a:ext cx="10366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Summary</a:t>
            </a:r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419600"/>
          </a:xfrm>
        </p:spPr>
        <p:txBody>
          <a:bodyPr/>
          <a:lstStyle/>
          <a:p>
            <a:r>
              <a:rPr lang="en-US" altLang="ko-KR" sz="1800" dirty="0" smtClean="0"/>
              <a:t>Gate is a fundamental building block of all digital systems</a:t>
            </a:r>
          </a:p>
          <a:p>
            <a:r>
              <a:rPr lang="en-US" altLang="ko-KR" sz="1800" smtClean="0"/>
              <a:t>Flip-flop </a:t>
            </a:r>
            <a:r>
              <a:rPr lang="en-US" altLang="ko-KR" sz="1800" dirty="0" smtClean="0"/>
              <a:t>is a basic unit for sequential circuit, which are built using gates and a clock</a:t>
            </a:r>
          </a:p>
          <a:p>
            <a:r>
              <a:rPr lang="en-US" altLang="ko-KR" sz="1800" dirty="0" smtClean="0"/>
              <a:t>Design a sequential circuit system</a:t>
            </a:r>
          </a:p>
          <a:p>
            <a:pPr lvl="1"/>
            <a:r>
              <a:rPr lang="en-US" altLang="ko-KR" sz="1800" dirty="0" smtClean="0"/>
              <a:t>Draw a state diagram </a:t>
            </a:r>
          </a:p>
          <a:p>
            <a:pPr lvl="1"/>
            <a:r>
              <a:rPr lang="en-US" altLang="ko-KR" sz="1800" dirty="0"/>
              <a:t>Draw a state table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Build K-maps to derive Boolean equations</a:t>
            </a:r>
          </a:p>
          <a:p>
            <a:pPr lvl="1"/>
            <a:r>
              <a:rPr lang="en-US" altLang="ko-KR" sz="1800" dirty="0" smtClean="0"/>
              <a:t>Draw a circuit diagram based on the equations</a:t>
            </a:r>
          </a:p>
          <a:p>
            <a:endParaRPr lang="en-US" altLang="ko-KR" sz="1800" dirty="0" smtClean="0"/>
          </a:p>
          <a:p>
            <a:pPr marL="0" indent="0">
              <a:buNone/>
            </a:pPr>
            <a:endParaRPr lang="en-US" altLang="ko-KR" sz="1800" dirty="0" smtClean="0"/>
          </a:p>
        </p:txBody>
      </p:sp>
    </p:spTree>
    <p:extLst>
      <p:ext uri="{BB962C8B-B14F-4D97-AF65-F5344CB8AC3E}">
        <p14:creationId xmlns:p14="http://schemas.microsoft.com/office/powerpoint/2010/main" val="1926999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Next lecture</a:t>
            </a:r>
          </a:p>
        </p:txBody>
      </p:sp>
      <p:sp>
        <p:nvSpPr>
          <p:cNvPr id="5" name="Rectangle 3"/>
          <p:cNvSpPr txBox="1">
            <a:spLocks/>
          </p:cNvSpPr>
          <p:nvPr/>
        </p:nvSpPr>
        <p:spPr bwMode="auto">
          <a:xfrm>
            <a:off x="457200" y="1295400"/>
            <a:ext cx="822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1800" kern="0" smtClean="0"/>
              <a:t>Bus organization and memory design</a:t>
            </a:r>
          </a:p>
          <a:p>
            <a:pPr>
              <a:lnSpc>
                <a:spcPct val="80000"/>
              </a:lnSpc>
            </a:pPr>
            <a:endParaRPr lang="en-US" altLang="ko-KR" sz="1800" kern="0" smtClean="0"/>
          </a:p>
          <a:p>
            <a:pPr lvl="1">
              <a:lnSpc>
                <a:spcPct val="80000"/>
              </a:lnSpc>
            </a:pPr>
            <a:r>
              <a:rPr lang="en-US" altLang="ko-KR" sz="1800" kern="0" smtClean="0"/>
              <a:t>Chapter 6 by Berger	</a:t>
            </a:r>
          </a:p>
          <a:p>
            <a:pPr lvl="1">
              <a:lnSpc>
                <a:spcPct val="80000"/>
              </a:lnSpc>
            </a:pPr>
            <a:r>
              <a:rPr lang="en-US" altLang="ko-KR" sz="1800" kern="0" smtClean="0"/>
              <a:t>Chapter 3.4 by Stallings</a:t>
            </a:r>
          </a:p>
          <a:p>
            <a:pPr marL="0" indent="0">
              <a:lnSpc>
                <a:spcPct val="80000"/>
              </a:lnSpc>
              <a:buFont typeface="Arial" pitchFamily="34" charset="0"/>
              <a:buNone/>
            </a:pPr>
            <a:endParaRPr lang="en-US" altLang="ko-KR" sz="1800" kern="0" smtClean="0"/>
          </a:p>
          <a:p>
            <a:pPr marL="0" indent="0">
              <a:lnSpc>
                <a:spcPct val="80000"/>
              </a:lnSpc>
              <a:buFont typeface="Arial" pitchFamily="34" charset="0"/>
              <a:buNone/>
            </a:pPr>
            <a:endParaRPr lang="en-US" altLang="ko-KR" sz="1800" kern="0" smtClean="0"/>
          </a:p>
          <a:p>
            <a:pPr>
              <a:lnSpc>
                <a:spcPct val="80000"/>
              </a:lnSpc>
            </a:pPr>
            <a:endParaRPr lang="en-US" altLang="ko-KR" sz="1800" kern="0" smtClean="0"/>
          </a:p>
          <a:p>
            <a:pPr>
              <a:lnSpc>
                <a:spcPct val="80000"/>
              </a:lnSpc>
            </a:pPr>
            <a:endParaRPr lang="en-US" altLang="ko-KR" sz="1800" kern="0" smtClean="0"/>
          </a:p>
          <a:p>
            <a:pPr>
              <a:lnSpc>
                <a:spcPct val="80000"/>
              </a:lnSpc>
            </a:pPr>
            <a:endParaRPr lang="en-US" altLang="ko-KR" sz="1800" kern="0" smtClean="0"/>
          </a:p>
          <a:p>
            <a:pPr>
              <a:lnSpc>
                <a:spcPct val="80000"/>
              </a:lnSpc>
            </a:pPr>
            <a:endParaRPr lang="en-US" altLang="ko-KR" sz="1800" kern="0" smtClean="0"/>
          </a:p>
          <a:p>
            <a:pPr>
              <a:lnSpc>
                <a:spcPct val="80000"/>
              </a:lnSpc>
              <a:buFont typeface="Arial" charset="0"/>
              <a:buNone/>
            </a:pPr>
            <a:endParaRPr lang="en-US" altLang="ko-KR" sz="1800" kern="0" dirty="0" smtClean="0"/>
          </a:p>
        </p:txBody>
      </p:sp>
    </p:spTree>
    <p:extLst>
      <p:ext uri="{BB962C8B-B14F-4D97-AF65-F5344CB8AC3E}">
        <p14:creationId xmlns:p14="http://schemas.microsoft.com/office/powerpoint/2010/main" val="27675811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05030.17.01"/>
  <p:tag name="PPTVERSION" val="14"/>
  <p:tag name="TPOS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E9C1DA8A5D7D4A92BB12D5038E654F26"/>
  <p:tag name="AUTOOPENPOLL" val="False"/>
  <p:tag name="TYPE" val="MultiChoiceSlide"/>
  <p:tag name="TPSLIDEBULLETSTYLE" val="2"/>
  <p:tag name="TPQUESTIONXML" val="&lt;?xml version=&quot;1.0&quot; encoding=&quot;UTF-8&quot; standalone=&quot;yes&quot;?&gt;&lt;questionlist&gt;&lt;properties&gt;&lt;guid&gt;0F09F14DAA1B4D44843EBAB2A167931B&lt;/guid&gt;&lt;date&gt;10/6/2014 07:12:13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E9C1DA8A5D7D4A92BB12D5038E654F26&lt;/guid&gt;&lt;repollguid&gt;B34D3270C5A848BE8E2B1469C4A11BE2&lt;/repollguid&gt;&lt;sourceid&gt;9F37E050B2684CD99AF75584E8A2CE75&lt;/sourceid&gt;&lt;questiontext&gt;When x is Low, What Happens?&lt;/questiontext&gt;&lt;showresults&gt;True&lt;/showresults&gt;&lt;responsegrid&gt;2&lt;/responsegrid&gt;&lt;countdowntime&gt;30&lt;/countdowntime&gt;&lt;correctvalue&gt;1&lt;/correctvalue&gt;&lt;incorrectvalue&gt;0&lt;/incorrectvalue&gt;&lt;responselimit&gt;1&lt;/responselimit&gt;&lt;bulletstyle&gt;2&lt;/bulletstyle&gt;&lt;answers&gt;&lt;answer&gt;&lt;guid&gt;E6CEF351751545B581750FD73884EC19&lt;/guid&gt;&lt;answertext&gt;We ADD A and B and output this to y&lt;/answertext&gt;&lt;valuetype&gt;0&lt;/valuetype&gt;&lt;/answer&gt;&lt;answer&gt;&lt;guid&gt;3B65A158F14F49648406BE6E5D96C895&lt;/guid&gt;&lt;answertext&gt;We OR A and B and store this in D-FF(A)&lt;/answertext&gt;&lt;valuetype&gt;0&lt;/valuetype&gt;&lt;/answer&gt;&lt;answer&gt;&lt;guid&gt;AE7F248167E94738A3770825734C5655&lt;/guid&gt;&lt;answertext&gt;We OR A and B and output this to y&lt;/answertext&gt;&lt;valuetype&gt;0&lt;/valuetype&gt;&lt;/answer&gt;&lt;answer&gt;&lt;guid&gt;FE740455142F4E5484E65ADCF2AC7644&lt;/guid&gt;&lt;answertext&gt;We OR A and B and store this in D-FF(B)&lt;/answertext&gt;&lt;valuetype&gt;0&lt;/valuetype&gt;&lt;/answer&gt;&lt;/answers&gt;&lt;/multichoice&gt;&lt;/questions&gt;&lt;/questionlist&gt;"/>
  <p:tag name="LIVECHARTING" val="False"/>
  <p:tag name="CHARTTYPE" val="0"/>
  <p:tag name="CHARTDEFINEDCOLORS" val="3,6,10,45,32,50,13,4,9,55,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DEFINEDCOLORS" val="3,6,10,45,32,50,13,4,9,55,1"/>
  <p:tag name="COLORTYPE" val="SCHEME"/>
  <p:tag name="NUMBERFORMAT" val="0"/>
  <p:tag name="LABELFORMAT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ADCB66A0AEB149FBBEE55CF18B97330C"/>
  <p:tag name="AUTOOPENPOLL" val="False"/>
  <p:tag name="TYPE" val="MultiChoiceSlide"/>
  <p:tag name="TPSLIDEBULLETSTYLE" val="2"/>
  <p:tag name="TPQUESTIONXML" val="&lt;?xml version=&quot;1.0&quot; encoding=&quot;UTF-8&quot; standalone=&quot;yes&quot;?&gt;&lt;questionlist&gt;&lt;properties&gt;&lt;guid&gt;00CDD678B97B481AAF0E1BFE33863DCF&lt;/guid&gt;&lt;date&gt;10/6/2014 07:12:13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ADCB66A0AEB149FBBEE55CF18B97330C&lt;/guid&gt;&lt;repollguid&gt;FC2D2169286B4460AFEDB313F18B03E1&lt;/repollguid&gt;&lt;sourceid&gt;07FCD4C5D27F421AB9A2849F9965F329&lt;/sourceid&gt;&lt;questiontext&gt;When x is High What Happens?&lt;/questiontext&gt;&lt;showresults&gt;True&lt;/showresults&gt;&lt;responsegrid&gt;2&lt;/responsegrid&gt;&lt;countdowntime&gt;30&lt;/countdowntime&gt;&lt;correctvalue&gt;1&lt;/correctvalue&gt;&lt;incorrectvalue&gt;0&lt;/incorrectvalue&gt;&lt;responselimit&gt;1&lt;/responselimit&gt;&lt;bulletstyle&gt;2&lt;/bulletstyle&gt;&lt;answers&gt;&lt;answer&gt;&lt;guid&gt;F3DD184C1C8B458F8756DBAA1BE3458A&lt;/guid&gt;&lt;answertext&gt;We OR A and B and store this in D-FF(B) and store ~A in D-FF(A)&lt;/answertext&gt;&lt;valuetype&gt;0&lt;/valuetype&gt;&lt;/answer&gt;&lt;answer&gt;&lt;guid&gt;DC83D8F9175E420B836A5EFA0E1FB9CF&lt;/guid&gt;&lt;answertext&gt;We OR A and B and output this to y&lt;/answertext&gt;&lt;valuetype&gt;0&lt;/valuetype&gt;&lt;/answer&gt;&lt;answer&gt;&lt;guid&gt;C2BC75C815F941EC83D4481A66070621&lt;/guid&gt;&lt;answertext&gt;We ADD A and B and store this in D-FF(A)&lt;/answertext&gt;&lt;valuetype&gt;0&lt;/valuetype&gt;&lt;/answer&gt;&lt;answer&gt;&lt;guid&gt;236A0C41C81E49A993E4E7DC3454FC09&lt;/guid&gt;&lt;answertext&gt;We OR A and B and store this in D-FF(A) and store ~A in D-FF(B)&lt;/answertext&gt;&lt;valuetype&gt;0&lt;/valuetype&gt;&lt;/answer&gt;&lt;/answers&gt;&lt;/multichoice&gt;&lt;/questions&gt;&lt;/questionlist&gt;"/>
  <p:tag name="LIVECHARTING" val="False"/>
  <p:tag name="CHARTTYPE" val="0"/>
  <p:tag name="CHARTDEFINEDCOLORS" val="3,6,10,45,32,50,13,4,9,55,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DEFINEDCOLORS" val="3,6,10,45,32,50,13,4,9,55,1"/>
  <p:tag name="COLORTYPE" val="SCHEME"/>
  <p:tag name="NUMBERFORMAT" val="0"/>
  <p:tag name="LABELFORMAT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</p:tagLst>
</file>

<file path=ppt/theme/theme1.xml><?xml version="1.0" encoding="utf-8"?>
<a:theme xmlns:a="http://schemas.openxmlformats.org/drawingml/2006/main" name="1_Office Theme">
  <a:themeElements>
    <a:clrScheme name="1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Theme">
      <a:majorFont>
        <a:latin typeface="Frutiger 55 Roman"/>
        <a:ea typeface="ＭＳ Ｐゴシック"/>
        <a:cs typeface=""/>
      </a:majorFont>
      <a:minorFont>
        <a:latin typeface="Frutiger 55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Frutiger 55 Roman"/>
        <a:ea typeface="ＭＳ Ｐゴシック"/>
        <a:cs typeface=""/>
      </a:majorFont>
      <a:minorFont>
        <a:latin typeface="Frutiger 55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Theme">
  <a:themeElements>
    <a:clrScheme name="2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Theme">
      <a:majorFont>
        <a:latin typeface="Frutiger 55 Roman"/>
        <a:ea typeface="ＭＳ Ｐゴシック"/>
        <a:cs typeface=""/>
      </a:majorFont>
      <a:minorFont>
        <a:latin typeface="Frutiger 55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Office Theme">
  <a:themeElements>
    <a:clrScheme name="3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Office Theme">
      <a:majorFont>
        <a:latin typeface="Frutiger 55 Roman"/>
        <a:ea typeface="ＭＳ Ｐゴシック"/>
        <a:cs typeface=""/>
      </a:majorFont>
      <a:minorFont>
        <a:latin typeface="Frutiger 55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Office Theme">
  <a:themeElements>
    <a:clrScheme name="4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4_Office Theme">
      <a:majorFont>
        <a:latin typeface="Frutiger 55 Roman"/>
        <a:ea typeface="ＭＳ Ｐゴシック"/>
        <a:cs typeface=""/>
      </a:majorFont>
      <a:minorFont>
        <a:latin typeface="Frutiger 55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SigBrnd</Template>
  <TotalTime>7204</TotalTime>
  <Words>3820</Words>
  <Application>Microsoft Macintosh PowerPoint</Application>
  <PresentationFormat>On-screen Show (4:3)</PresentationFormat>
  <Paragraphs>1257</Paragraphs>
  <Slides>52</Slides>
  <Notes>24</Notes>
  <HiddenSlides>0</HiddenSlides>
  <MMClips>0</MMClips>
  <ScaleCrop>false</ScaleCrop>
  <HeadingPairs>
    <vt:vector size="6" baseType="variant">
      <vt:variant>
        <vt:lpstr>Theme</vt:lpstr>
      </vt:variant>
      <vt:variant>
        <vt:i4>5</vt:i4>
      </vt:variant>
      <vt:variant>
        <vt:lpstr>Slide Titles</vt:lpstr>
      </vt:variant>
      <vt:variant>
        <vt:i4>52</vt:i4>
      </vt:variant>
      <vt:variant>
        <vt:lpstr>Custom Shows</vt:lpstr>
      </vt:variant>
      <vt:variant>
        <vt:i4>1</vt:i4>
      </vt:variant>
    </vt:vector>
  </HeadingPairs>
  <TitlesOfParts>
    <vt:vector size="58" baseType="lpstr">
      <vt:lpstr>1_Office Theme</vt:lpstr>
      <vt:lpstr>Office Theme</vt:lpstr>
      <vt:lpstr>2_Office Theme</vt:lpstr>
      <vt:lpstr>3_Office Theme</vt:lpstr>
      <vt:lpstr>4_Office Theme</vt:lpstr>
      <vt:lpstr>CSS 422 Hardware and Computer Organization </vt:lpstr>
      <vt:lpstr>Before we start</vt:lpstr>
      <vt:lpstr>Topic</vt:lpstr>
      <vt:lpstr>Ex) 2-binary counter </vt:lpstr>
      <vt:lpstr>Combinational vs. Sequential circuit</vt:lpstr>
      <vt:lpstr>Asynchronous vs. synchronous</vt:lpstr>
      <vt:lpstr>Clocks and time</vt:lpstr>
      <vt:lpstr>Clocks and pulses</vt:lpstr>
      <vt:lpstr>A real clock</vt:lpstr>
      <vt:lpstr>Pulse rise time measurement</vt:lpstr>
      <vt:lpstr>Propagation delay</vt:lpstr>
      <vt:lpstr>Basic units for sequential circuit</vt:lpstr>
      <vt:lpstr>Latches</vt:lpstr>
      <vt:lpstr>Class exercise</vt:lpstr>
      <vt:lpstr>PowerPoint Presentation</vt:lpstr>
      <vt:lpstr>Clocked SR Latches</vt:lpstr>
      <vt:lpstr>PowerPoint Presentation</vt:lpstr>
      <vt:lpstr>Clocked D Latches</vt:lpstr>
      <vt:lpstr>Flip-Flops</vt:lpstr>
      <vt:lpstr>Latches and flip-flops</vt:lpstr>
      <vt:lpstr>Flip-Flops – cont’d</vt:lpstr>
      <vt:lpstr>PowerPoint Presentation</vt:lpstr>
      <vt:lpstr>Sequential circuit design</vt:lpstr>
      <vt:lpstr>Characteristic table for FF</vt:lpstr>
      <vt:lpstr>Excitation table for FF</vt:lpstr>
      <vt:lpstr>Excitation table</vt:lpstr>
      <vt:lpstr>Example of sequential circuit</vt:lpstr>
      <vt:lpstr>When x is Low What Happens?</vt:lpstr>
      <vt:lpstr>When x is High What Happens?</vt:lpstr>
      <vt:lpstr>State Table</vt:lpstr>
      <vt:lpstr>State Machine/Diagram</vt:lpstr>
      <vt:lpstr>State Machine/Diagram</vt:lpstr>
      <vt:lpstr>Design a sequential circuit</vt:lpstr>
      <vt:lpstr>PowerPoint Presentation</vt:lpstr>
      <vt:lpstr>2- bit binary counter - state diagram</vt:lpstr>
      <vt:lpstr>2- bit binary counter – input/output</vt:lpstr>
      <vt:lpstr>2- bit binary counter – input/output</vt:lpstr>
      <vt:lpstr>2- bit binary counter – excitation table</vt:lpstr>
      <vt:lpstr>2- bit binary counter – excitation table</vt:lpstr>
      <vt:lpstr>PowerPoint Presentation</vt:lpstr>
      <vt:lpstr>PowerPoint Presentation</vt:lpstr>
      <vt:lpstr>2- bit binary counter-sequential circuit</vt:lpstr>
      <vt:lpstr>Examples of sequential circuit</vt:lpstr>
      <vt:lpstr>The “D” FF as a counting element</vt:lpstr>
      <vt:lpstr>“D” FF as a shift register</vt:lpstr>
      <vt:lpstr>“D” flip-flop as a storage register</vt:lpstr>
      <vt:lpstr>An 8-bit storage register</vt:lpstr>
      <vt:lpstr>The storage register with busses</vt:lpstr>
      <vt:lpstr>More on storage registers</vt:lpstr>
      <vt:lpstr>First in-first out ( FIFO ) data storage</vt:lpstr>
      <vt:lpstr>Summary</vt:lpstr>
      <vt:lpstr>Next lecture</vt:lpstr>
      <vt:lpstr>Custom Show 1</vt:lpstr>
    </vt:vector>
  </TitlesOfParts>
  <Company>Pluto Sound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CSc3360 Windowing Systems Programming</dc:title>
  <dc:creator>Stephen J. Pellicer</dc:creator>
  <cp:lastModifiedBy>Rob Nash</cp:lastModifiedBy>
  <cp:revision>768</cp:revision>
  <cp:lastPrinted>2013-04-08T23:29:36Z</cp:lastPrinted>
  <dcterms:created xsi:type="dcterms:W3CDTF">2006-01-05T18:10:09Z</dcterms:created>
  <dcterms:modified xsi:type="dcterms:W3CDTF">2014-10-07T03:32:58Z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6</vt:i4>
  </property>
</Properties>
</file>