
<file path=[Content_Types].xml><?xml version="1.0" encoding="utf-8"?>
<Types xmlns="http://schemas.openxmlformats.org/package/2006/content-types">
  <Default Extension="xml" ContentType="application/xml"/>
  <Default Extension="wmf" ContentType="image/x-wmf"/>
  <Default Extension="jpeg" ContentType="image/jpeg"/>
  <Default Extension="rels" ContentType="application/vnd.openxmlformats-package.relationships+xml"/>
  <Default Extension="vml" ContentType="application/vnd.openxmlformats-officedocument.vmlDrawing"/>
  <Default Extension="bin" ContentType="application/vnd.openxmlformats-officedocument.oleObject"/>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9" r:id="rId1"/>
  </p:sldMasterIdLst>
  <p:sldIdLst>
    <p:sldId id="257" r:id="rId2"/>
    <p:sldId id="400" r:id="rId3"/>
    <p:sldId id="354" r:id="rId4"/>
    <p:sldId id="258" r:id="rId5"/>
    <p:sldId id="259" r:id="rId6"/>
    <p:sldId id="260" r:id="rId7"/>
    <p:sldId id="261" r:id="rId8"/>
    <p:sldId id="262" r:id="rId9"/>
    <p:sldId id="263" r:id="rId10"/>
    <p:sldId id="264" r:id="rId11"/>
    <p:sldId id="265" r:id="rId12"/>
    <p:sldId id="266" r:id="rId13"/>
    <p:sldId id="267" r:id="rId14"/>
    <p:sldId id="268" r:id="rId15"/>
    <p:sldId id="269" r:id="rId16"/>
    <p:sldId id="359" r:id="rId17"/>
    <p:sldId id="270" r:id="rId18"/>
    <p:sldId id="271" r:id="rId19"/>
    <p:sldId id="272" r:id="rId20"/>
    <p:sldId id="273" r:id="rId21"/>
    <p:sldId id="274" r:id="rId22"/>
    <p:sldId id="275" r:id="rId23"/>
    <p:sldId id="276" r:id="rId24"/>
    <p:sldId id="277" r:id="rId25"/>
    <p:sldId id="360" r:id="rId26"/>
    <p:sldId id="361" r:id="rId27"/>
    <p:sldId id="280" r:id="rId28"/>
    <p:sldId id="281" r:id="rId29"/>
    <p:sldId id="282" r:id="rId30"/>
    <p:sldId id="283" r:id="rId31"/>
    <p:sldId id="284" r:id="rId32"/>
    <p:sldId id="285" r:id="rId33"/>
    <p:sldId id="286" r:id="rId34"/>
    <p:sldId id="287" r:id="rId35"/>
    <p:sldId id="366" r:id="rId36"/>
    <p:sldId id="397" r:id="rId37"/>
    <p:sldId id="293" r:id="rId38"/>
    <p:sldId id="294" r:id="rId39"/>
    <p:sldId id="295" r:id="rId40"/>
    <p:sldId id="296" r:id="rId41"/>
    <p:sldId id="367" r:id="rId42"/>
    <p:sldId id="298" r:id="rId43"/>
    <p:sldId id="368" r:id="rId44"/>
    <p:sldId id="300" r:id="rId45"/>
    <p:sldId id="373" r:id="rId46"/>
    <p:sldId id="398" r:id="rId47"/>
    <p:sldId id="313" r:id="rId48"/>
    <p:sldId id="314" r:id="rId49"/>
    <p:sldId id="315" r:id="rId50"/>
    <p:sldId id="376" r:id="rId51"/>
    <p:sldId id="317" r:id="rId52"/>
    <p:sldId id="377" r:id="rId53"/>
    <p:sldId id="319" r:id="rId54"/>
    <p:sldId id="320" r:id="rId55"/>
    <p:sldId id="321" r:id="rId56"/>
    <p:sldId id="322" r:id="rId57"/>
    <p:sldId id="323" r:id="rId58"/>
    <p:sldId id="324" r:id="rId59"/>
    <p:sldId id="325" r:id="rId60"/>
    <p:sldId id="396" r:id="rId61"/>
    <p:sldId id="327" r:id="rId62"/>
    <p:sldId id="329" r:id="rId63"/>
    <p:sldId id="328" r:id="rId64"/>
    <p:sldId id="330" r:id="rId65"/>
    <p:sldId id="332" r:id="rId66"/>
    <p:sldId id="331" r:id="rId67"/>
    <p:sldId id="333" r:id="rId68"/>
    <p:sldId id="334" r:id="rId69"/>
    <p:sldId id="335" r:id="rId70"/>
    <p:sldId id="336" r:id="rId71"/>
    <p:sldId id="337" r:id="rId72"/>
    <p:sldId id="338" r:id="rId73"/>
    <p:sldId id="339" r:id="rId74"/>
    <p:sldId id="340" r:id="rId75"/>
    <p:sldId id="341" r:id="rId76"/>
    <p:sldId id="342" r:id="rId77"/>
    <p:sldId id="343" r:id="rId78"/>
    <p:sldId id="344" r:id="rId79"/>
    <p:sldId id="345" r:id="rId80"/>
    <p:sldId id="346" r:id="rId81"/>
    <p:sldId id="347" r:id="rId82"/>
    <p:sldId id="348" r:id="rId83"/>
    <p:sldId id="349" r:id="rId84"/>
    <p:sldId id="350" r:id="rId85"/>
    <p:sldId id="351" r:id="rId86"/>
    <p:sldId id="352" r:id="rId87"/>
    <p:sldId id="353" r:id="rId88"/>
    <p:sldId id="380" r:id="rId89"/>
    <p:sldId id="399" r:id="rId90"/>
    <p:sldId id="381" r:id="rId91"/>
    <p:sldId id="383" r:id="rId92"/>
    <p:sldId id="384" r:id="rId93"/>
    <p:sldId id="382" r:id="rId94"/>
    <p:sldId id="385" r:id="rId95"/>
    <p:sldId id="387" r:id="rId96"/>
    <p:sldId id="388" r:id="rId97"/>
    <p:sldId id="389" r:id="rId98"/>
    <p:sldId id="395" r:id="rId99"/>
    <p:sldId id="390" r:id="rId100"/>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Verdana" charset="0"/>
        <a:ea typeface="ＭＳ Ｐゴシック" charset="-128"/>
        <a:cs typeface="+mn-cs"/>
      </a:defRPr>
    </a:lvl1pPr>
    <a:lvl2pPr marL="457200" algn="l" rtl="0" eaLnBrk="0" fontAlgn="base" hangingPunct="0">
      <a:spcBef>
        <a:spcPct val="0"/>
      </a:spcBef>
      <a:spcAft>
        <a:spcPct val="0"/>
      </a:spcAft>
      <a:defRPr kern="1200">
        <a:solidFill>
          <a:schemeClr val="tx1"/>
        </a:solidFill>
        <a:latin typeface="Verdana" charset="0"/>
        <a:ea typeface="ＭＳ Ｐゴシック" charset="-128"/>
        <a:cs typeface="+mn-cs"/>
      </a:defRPr>
    </a:lvl2pPr>
    <a:lvl3pPr marL="914400" algn="l" rtl="0" eaLnBrk="0" fontAlgn="base" hangingPunct="0">
      <a:spcBef>
        <a:spcPct val="0"/>
      </a:spcBef>
      <a:spcAft>
        <a:spcPct val="0"/>
      </a:spcAft>
      <a:defRPr kern="1200">
        <a:solidFill>
          <a:schemeClr val="tx1"/>
        </a:solidFill>
        <a:latin typeface="Verdana" charset="0"/>
        <a:ea typeface="ＭＳ Ｐゴシック" charset="-128"/>
        <a:cs typeface="+mn-cs"/>
      </a:defRPr>
    </a:lvl3pPr>
    <a:lvl4pPr marL="1371600" algn="l" rtl="0" eaLnBrk="0" fontAlgn="base" hangingPunct="0">
      <a:spcBef>
        <a:spcPct val="0"/>
      </a:spcBef>
      <a:spcAft>
        <a:spcPct val="0"/>
      </a:spcAft>
      <a:defRPr kern="1200">
        <a:solidFill>
          <a:schemeClr val="tx1"/>
        </a:solidFill>
        <a:latin typeface="Verdana" charset="0"/>
        <a:ea typeface="ＭＳ Ｐゴシック" charset="-128"/>
        <a:cs typeface="+mn-cs"/>
      </a:defRPr>
    </a:lvl4pPr>
    <a:lvl5pPr marL="1828800" algn="l" rtl="0" eaLnBrk="0" fontAlgn="base" hangingPunct="0">
      <a:spcBef>
        <a:spcPct val="0"/>
      </a:spcBef>
      <a:spcAft>
        <a:spcPct val="0"/>
      </a:spcAft>
      <a:defRPr kern="1200">
        <a:solidFill>
          <a:schemeClr val="tx1"/>
        </a:solidFill>
        <a:latin typeface="Verdana" charset="0"/>
        <a:ea typeface="ＭＳ Ｐゴシック" charset="-128"/>
        <a:cs typeface="+mn-cs"/>
      </a:defRPr>
    </a:lvl5pPr>
    <a:lvl6pPr marL="2286000" algn="l" defTabSz="914400" rtl="0" eaLnBrk="1" latinLnBrk="0" hangingPunct="1">
      <a:defRPr kern="1200">
        <a:solidFill>
          <a:schemeClr val="tx1"/>
        </a:solidFill>
        <a:latin typeface="Verdana" charset="0"/>
        <a:ea typeface="ＭＳ Ｐゴシック" charset="-128"/>
        <a:cs typeface="+mn-cs"/>
      </a:defRPr>
    </a:lvl6pPr>
    <a:lvl7pPr marL="2743200" algn="l" defTabSz="914400" rtl="0" eaLnBrk="1" latinLnBrk="0" hangingPunct="1">
      <a:defRPr kern="1200">
        <a:solidFill>
          <a:schemeClr val="tx1"/>
        </a:solidFill>
        <a:latin typeface="Verdana" charset="0"/>
        <a:ea typeface="ＭＳ Ｐゴシック" charset="-128"/>
        <a:cs typeface="+mn-cs"/>
      </a:defRPr>
    </a:lvl7pPr>
    <a:lvl8pPr marL="3200400" algn="l" defTabSz="914400" rtl="0" eaLnBrk="1" latinLnBrk="0" hangingPunct="1">
      <a:defRPr kern="1200">
        <a:solidFill>
          <a:schemeClr val="tx1"/>
        </a:solidFill>
        <a:latin typeface="Verdana" charset="0"/>
        <a:ea typeface="ＭＳ Ｐゴシック" charset="-128"/>
        <a:cs typeface="+mn-cs"/>
      </a:defRPr>
    </a:lvl8pPr>
    <a:lvl9pPr marL="3657600" algn="l" defTabSz="914400" rtl="0" eaLnBrk="1" latinLnBrk="0" hangingPunct="1">
      <a:defRPr kern="1200">
        <a:solidFill>
          <a:schemeClr val="tx1"/>
        </a:solidFill>
        <a:latin typeface="Verdana" charset="0"/>
        <a:ea typeface="ＭＳ Ｐゴシック"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74"/>
  </p:normalViewPr>
  <p:slideViewPr>
    <p:cSldViewPr>
      <p:cViewPr varScale="1">
        <p:scale>
          <a:sx n="124" d="100"/>
          <a:sy n="124" d="100"/>
        </p:scale>
        <p:origin x="1824" y="16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01" Type="http://schemas.openxmlformats.org/officeDocument/2006/relationships/presProps" Target="presProps.xml"/><Relationship Id="rId102" Type="http://schemas.openxmlformats.org/officeDocument/2006/relationships/viewProps" Target="viewProps.xml"/><Relationship Id="rId103" Type="http://schemas.openxmlformats.org/officeDocument/2006/relationships/theme" Target="theme/theme1.xml"/><Relationship Id="rId104"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100" Type="http://schemas.openxmlformats.org/officeDocument/2006/relationships/slide" Target="slides/slide99.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6.wmf"/><Relationship Id="rId2" Type="http://schemas.openxmlformats.org/officeDocument/2006/relationships/image" Target="../media/image17.wmf"/><Relationship Id="rId3" Type="http://schemas.openxmlformats.org/officeDocument/2006/relationships/image" Target="../media/image18.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6.wmf"/><Relationship Id="rId2" Type="http://schemas.openxmlformats.org/officeDocument/2006/relationships/image" Target="../media/image20.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6.wmf"/><Relationship Id="rId2" Type="http://schemas.openxmlformats.org/officeDocument/2006/relationships/image" Target="../media/image21.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22.wmf"/><Relationship Id="rId4" Type="http://schemas.openxmlformats.org/officeDocument/2006/relationships/image" Target="../media/image23.wmf"/><Relationship Id="rId1" Type="http://schemas.openxmlformats.org/officeDocument/2006/relationships/image" Target="../media/image6.wmf"/><Relationship Id="rId2" Type="http://schemas.openxmlformats.org/officeDocument/2006/relationships/image" Target="../media/image18.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6.wmf"/><Relationship Id="rId2" Type="http://schemas.openxmlformats.org/officeDocument/2006/relationships/image" Target="../media/image24.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25.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26.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27.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29.wmf"/><Relationship Id="rId2" Type="http://schemas.openxmlformats.org/officeDocument/2006/relationships/image" Target="../media/image6.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32.w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34.w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36.w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38.wmf"/><Relationship Id="rId2" Type="http://schemas.openxmlformats.org/officeDocument/2006/relationships/image" Target="../media/image6.w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42.w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44.w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46.wmf"/></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33.vml.rels><?xml version="1.0" encoding="UTF-8" standalone="yes"?>
<Relationships xmlns="http://schemas.openxmlformats.org/package/2006/relationships"><Relationship Id="rId1" Type="http://schemas.openxmlformats.org/officeDocument/2006/relationships/image" Target="../media/image48.wmf"/></Relationships>
</file>

<file path=ppt/drawings/_rels/vmlDrawing34.vml.rels><?xml version="1.0" encoding="UTF-8" standalone="yes"?>
<Relationships xmlns="http://schemas.openxmlformats.org/package/2006/relationships"><Relationship Id="rId1" Type="http://schemas.openxmlformats.org/officeDocument/2006/relationships/image" Target="../media/image6.wmf"/><Relationship Id="rId2" Type="http://schemas.openxmlformats.org/officeDocument/2006/relationships/image" Target="../media/image49.wmf"/></Relationships>
</file>

<file path=ppt/drawings/_rels/vmlDrawing35.vml.rels><?xml version="1.0" encoding="UTF-8" standalone="yes"?>
<Relationships xmlns="http://schemas.openxmlformats.org/package/2006/relationships"><Relationship Id="rId1" Type="http://schemas.openxmlformats.org/officeDocument/2006/relationships/image" Target="../media/image50.wmf"/><Relationship Id="rId2" Type="http://schemas.openxmlformats.org/officeDocument/2006/relationships/image" Target="../media/image51.wmf"/><Relationship Id="rId3" Type="http://schemas.openxmlformats.org/officeDocument/2006/relationships/image" Target="../media/image6.wmf"/></Relationships>
</file>

<file path=ppt/drawings/_rels/vmlDrawing36.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37.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38.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39.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40.vml.rels><?xml version="1.0" encoding="UTF-8" standalone="yes"?>
<Relationships xmlns="http://schemas.openxmlformats.org/package/2006/relationships"><Relationship Id="rId1" Type="http://schemas.openxmlformats.org/officeDocument/2006/relationships/image" Target="../media/image55.wmf"/><Relationship Id="rId2" Type="http://schemas.openxmlformats.org/officeDocument/2006/relationships/image" Target="../media/image56.wmf"/></Relationships>
</file>

<file path=ppt/drawings/_rels/vmlDrawing41.vml.rels><?xml version="1.0" encoding="UTF-8" standalone="yes"?>
<Relationships xmlns="http://schemas.openxmlformats.org/package/2006/relationships"><Relationship Id="rId1" Type="http://schemas.openxmlformats.org/officeDocument/2006/relationships/image" Target="../media/image60.wmf"/></Relationships>
</file>

<file path=ppt/drawings/_rels/vmlDrawing42.vml.rels><?xml version="1.0" encoding="UTF-8" standalone="yes"?>
<Relationships xmlns="http://schemas.openxmlformats.org/package/2006/relationships"><Relationship Id="rId1" Type="http://schemas.openxmlformats.org/officeDocument/2006/relationships/image" Target="../media/image61.wmf"/></Relationships>
</file>

<file path=ppt/drawings/_rels/vmlDrawing43.vml.rels><?xml version="1.0" encoding="UTF-8" standalone="yes"?>
<Relationships xmlns="http://schemas.openxmlformats.org/package/2006/relationships"><Relationship Id="rId1" Type="http://schemas.openxmlformats.org/officeDocument/2006/relationships/image" Target="../media/image61.wmf"/></Relationships>
</file>

<file path=ppt/drawings/_rels/vmlDrawing44.vml.rels><?xml version="1.0" encoding="UTF-8" standalone="yes"?>
<Relationships xmlns="http://schemas.openxmlformats.org/package/2006/relationships"><Relationship Id="rId1" Type="http://schemas.openxmlformats.org/officeDocument/2006/relationships/image" Target="../media/image63.wmf"/></Relationships>
</file>

<file path=ppt/drawings/_rels/vmlDrawing45.vml.rels><?xml version="1.0" encoding="UTF-8" standalone="yes"?>
<Relationships xmlns="http://schemas.openxmlformats.org/package/2006/relationships"><Relationship Id="rId1" Type="http://schemas.openxmlformats.org/officeDocument/2006/relationships/image" Target="../media/image61.wmf"/></Relationships>
</file>

<file path=ppt/drawings/_rels/vmlDrawing46.vml.rels><?xml version="1.0" encoding="UTF-8" standalone="yes"?>
<Relationships xmlns="http://schemas.openxmlformats.org/package/2006/relationships"><Relationship Id="rId1" Type="http://schemas.openxmlformats.org/officeDocument/2006/relationships/image" Target="../media/image61.wmf"/></Relationships>
</file>

<file path=ppt/drawings/_rels/vmlDrawing47.vml.rels><?xml version="1.0" encoding="UTF-8" standalone="yes"?>
<Relationships xmlns="http://schemas.openxmlformats.org/package/2006/relationships"><Relationship Id="rId1" Type="http://schemas.openxmlformats.org/officeDocument/2006/relationships/image" Target="../media/image61.wmf"/></Relationships>
</file>

<file path=ppt/drawings/_rels/vmlDrawing48.vml.rels><?xml version="1.0" encoding="UTF-8" standalone="yes"?>
<Relationships xmlns="http://schemas.openxmlformats.org/package/2006/relationships"><Relationship Id="rId1" Type="http://schemas.openxmlformats.org/officeDocument/2006/relationships/image" Target="../media/image61.wmf"/><Relationship Id="rId2" Type="http://schemas.openxmlformats.org/officeDocument/2006/relationships/image" Target="../media/image67.wmf"/><Relationship Id="rId3" Type="http://schemas.openxmlformats.org/officeDocument/2006/relationships/image" Target="../media/image68.wmf"/></Relationships>
</file>

<file path=ppt/drawings/_rels/vmlDrawing49.vml.rels><?xml version="1.0" encoding="UTF-8" standalone="yes"?>
<Relationships xmlns="http://schemas.openxmlformats.org/package/2006/relationships"><Relationship Id="rId1" Type="http://schemas.openxmlformats.org/officeDocument/2006/relationships/image" Target="../media/image61.wmf"/><Relationship Id="rId2" Type="http://schemas.openxmlformats.org/officeDocument/2006/relationships/image" Target="../media/image69.wmf"/><Relationship Id="rId3" Type="http://schemas.openxmlformats.org/officeDocument/2006/relationships/image" Target="../media/image70.wmf"/></Relationships>
</file>

<file path=ppt/drawings/_rels/vmlDrawing50.vml.rels><?xml version="1.0" encoding="UTF-8" standalone="yes"?>
<Relationships xmlns="http://schemas.openxmlformats.org/package/2006/relationships"><Relationship Id="rId3" Type="http://schemas.openxmlformats.org/officeDocument/2006/relationships/image" Target="../media/image71.wmf"/><Relationship Id="rId4" Type="http://schemas.openxmlformats.org/officeDocument/2006/relationships/image" Target="../media/image23.wmf"/><Relationship Id="rId1" Type="http://schemas.openxmlformats.org/officeDocument/2006/relationships/image" Target="../media/image61.wmf"/><Relationship Id="rId2" Type="http://schemas.openxmlformats.org/officeDocument/2006/relationships/image" Target="../media/image70.wmf"/></Relationships>
</file>

<file path=ppt/drawings/_rels/vmlDrawing51.vml.rels><?xml version="1.0" encoding="UTF-8" standalone="yes"?>
<Relationships xmlns="http://schemas.openxmlformats.org/package/2006/relationships"><Relationship Id="rId1" Type="http://schemas.openxmlformats.org/officeDocument/2006/relationships/image" Target="../media/image61.wmf"/></Relationships>
</file>

<file path=ppt/drawings/_rels/vmlDrawing52.vml.rels><?xml version="1.0" encoding="UTF-8" standalone="yes"?>
<Relationships xmlns="http://schemas.openxmlformats.org/package/2006/relationships"><Relationship Id="rId1" Type="http://schemas.openxmlformats.org/officeDocument/2006/relationships/image" Target="../media/image61.wmf"/></Relationships>
</file>

<file path=ppt/drawings/_rels/vmlDrawing53.vml.rels><?xml version="1.0" encoding="UTF-8" standalone="yes"?>
<Relationships xmlns="http://schemas.openxmlformats.org/package/2006/relationships"><Relationship Id="rId1" Type="http://schemas.openxmlformats.org/officeDocument/2006/relationships/image" Target="../media/image61.wmf"/></Relationships>
</file>

<file path=ppt/drawings/_rels/vmlDrawing54.vml.rels><?xml version="1.0" encoding="UTF-8" standalone="yes"?>
<Relationships xmlns="http://schemas.openxmlformats.org/package/2006/relationships"><Relationship Id="rId1" Type="http://schemas.openxmlformats.org/officeDocument/2006/relationships/image" Target="../media/image61.wmf"/></Relationships>
</file>

<file path=ppt/drawings/_rels/vmlDrawing55.vml.rels><?xml version="1.0" encoding="UTF-8" standalone="yes"?>
<Relationships xmlns="http://schemas.openxmlformats.org/package/2006/relationships"><Relationship Id="rId1" Type="http://schemas.openxmlformats.org/officeDocument/2006/relationships/image" Target="../media/image61.wmf"/></Relationships>
</file>

<file path=ppt/drawings/_rels/vmlDrawing56.vml.rels><?xml version="1.0" encoding="UTF-8" standalone="yes"?>
<Relationships xmlns="http://schemas.openxmlformats.org/package/2006/relationships"><Relationship Id="rId1" Type="http://schemas.openxmlformats.org/officeDocument/2006/relationships/image" Target="../media/image61.wmf"/></Relationships>
</file>

<file path=ppt/drawings/_rels/vmlDrawing57.vml.rels><?xml version="1.0" encoding="UTF-8" standalone="yes"?>
<Relationships xmlns="http://schemas.openxmlformats.org/package/2006/relationships"><Relationship Id="rId1" Type="http://schemas.openxmlformats.org/officeDocument/2006/relationships/image" Target="../media/image75.wmf"/><Relationship Id="rId2" Type="http://schemas.openxmlformats.org/officeDocument/2006/relationships/image" Target="../media/image61.wmf"/></Relationships>
</file>

<file path=ppt/drawings/_rels/vmlDrawing58.vml.rels><?xml version="1.0" encoding="UTF-8" standalone="yes"?>
<Relationships xmlns="http://schemas.openxmlformats.org/package/2006/relationships"><Relationship Id="rId1" Type="http://schemas.openxmlformats.org/officeDocument/2006/relationships/image" Target="../media/image61.wmf"/></Relationships>
</file>

<file path=ppt/drawings/_rels/vmlDrawing59.vml.rels><?xml version="1.0" encoding="UTF-8" standalone="yes"?>
<Relationships xmlns="http://schemas.openxmlformats.org/package/2006/relationships"><Relationship Id="rId1" Type="http://schemas.openxmlformats.org/officeDocument/2006/relationships/image" Target="../media/image61.wmf"/></Relationships>
</file>

<file path=ppt/drawings/_rels/vmlDrawing60.vml.rels><?xml version="1.0" encoding="UTF-8" standalone="yes"?>
<Relationships xmlns="http://schemas.openxmlformats.org/package/2006/relationships"><Relationship Id="rId1" Type="http://schemas.openxmlformats.org/officeDocument/2006/relationships/image" Target="../media/image77.wmf"/></Relationships>
</file>

<file path=ppt/drawings/_rels/vmlDrawing61.vml.rels><?xml version="1.0" encoding="UTF-8" standalone="yes"?>
<Relationships xmlns="http://schemas.openxmlformats.org/package/2006/relationships"><Relationship Id="rId1" Type="http://schemas.openxmlformats.org/officeDocument/2006/relationships/image" Target="../media/image61.wmf"/><Relationship Id="rId2" Type="http://schemas.openxmlformats.org/officeDocument/2006/relationships/image" Target="../media/image78.wmf"/></Relationships>
</file>

<file path=ppt/drawings/_rels/vmlDrawing62.vml.rels><?xml version="1.0" encoding="UTF-8" standalone="yes"?>
<Relationships xmlns="http://schemas.openxmlformats.org/package/2006/relationships"><Relationship Id="rId1" Type="http://schemas.openxmlformats.org/officeDocument/2006/relationships/image" Target="../media/image79.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7"/>
          <p:cNvGrpSpPr>
            <a:grpSpLocks/>
          </p:cNvGrpSpPr>
          <p:nvPr/>
        </p:nvGrpSpPr>
        <p:grpSpPr bwMode="auto">
          <a:xfrm>
            <a:off x="228600" y="2889250"/>
            <a:ext cx="8610600" cy="201613"/>
            <a:chOff x="144" y="1680"/>
            <a:chExt cx="5424" cy="144"/>
          </a:xfrm>
        </p:grpSpPr>
        <p:sp>
          <p:nvSpPr>
            <p:cNvPr id="5" name="Rectangle 8"/>
            <p:cNvSpPr>
              <a:spLocks noChangeArrowheads="1"/>
            </p:cNvSpPr>
            <p:nvPr userDrawn="1"/>
          </p:nvSpPr>
          <p:spPr bwMode="auto">
            <a:xfrm>
              <a:off x="144" y="1680"/>
              <a:ext cx="1808" cy="144"/>
            </a:xfrm>
            <a:prstGeom prst="rect">
              <a:avLst/>
            </a:prstGeom>
            <a:solidFill>
              <a:schemeClr val="bg2"/>
            </a:solidFill>
            <a:ln w="9525">
              <a:noFill/>
              <a:miter lim="800000"/>
              <a:headEnd/>
              <a:tailEnd/>
            </a:ln>
            <a:effectLst/>
          </p:spPr>
          <p:txBody>
            <a:bodyPr wrap="none" anchor="ctr"/>
            <a:lstStyle/>
            <a:p>
              <a:pPr>
                <a:defRPr/>
              </a:pPr>
              <a:endParaRPr lang="en-US"/>
            </a:p>
          </p:txBody>
        </p:sp>
        <p:sp>
          <p:nvSpPr>
            <p:cNvPr id="6" name="Rectangle 9"/>
            <p:cNvSpPr>
              <a:spLocks noChangeArrowheads="1"/>
            </p:cNvSpPr>
            <p:nvPr userDrawn="1"/>
          </p:nvSpPr>
          <p:spPr bwMode="auto">
            <a:xfrm>
              <a:off x="1952" y="1680"/>
              <a:ext cx="1808" cy="144"/>
            </a:xfrm>
            <a:prstGeom prst="rect">
              <a:avLst/>
            </a:prstGeom>
            <a:solidFill>
              <a:schemeClr val="accent1"/>
            </a:solidFill>
            <a:ln w="9525">
              <a:noFill/>
              <a:miter lim="800000"/>
              <a:headEnd/>
              <a:tailEnd/>
            </a:ln>
            <a:effectLst/>
          </p:spPr>
          <p:txBody>
            <a:bodyPr wrap="none" anchor="ctr"/>
            <a:lstStyle/>
            <a:p>
              <a:pPr>
                <a:defRPr/>
              </a:pPr>
              <a:endParaRPr lang="en-US"/>
            </a:p>
          </p:txBody>
        </p:sp>
        <p:sp>
          <p:nvSpPr>
            <p:cNvPr id="7" name="Rectangle 10"/>
            <p:cNvSpPr>
              <a:spLocks noChangeArrowheads="1"/>
            </p:cNvSpPr>
            <p:nvPr userDrawn="1"/>
          </p:nvSpPr>
          <p:spPr bwMode="auto">
            <a:xfrm>
              <a:off x="3760" y="1680"/>
              <a:ext cx="1808" cy="144"/>
            </a:xfrm>
            <a:prstGeom prst="rect">
              <a:avLst/>
            </a:prstGeom>
            <a:solidFill>
              <a:schemeClr val="tx2"/>
            </a:solidFill>
            <a:ln w="9525">
              <a:noFill/>
              <a:miter lim="800000"/>
              <a:headEnd/>
              <a:tailEnd/>
            </a:ln>
            <a:effectLst/>
          </p:spPr>
          <p:txBody>
            <a:bodyPr wrap="none" anchor="ctr"/>
            <a:lstStyle/>
            <a:p>
              <a:pPr>
                <a:defRPr/>
              </a:pPr>
              <a:endParaRPr lang="en-US"/>
            </a:p>
          </p:txBody>
        </p:sp>
      </p:grpSp>
      <p:sp>
        <p:nvSpPr>
          <p:cNvPr id="104450" name="Rectangle 2"/>
          <p:cNvSpPr>
            <a:spLocks noGrp="1" noChangeArrowheads="1"/>
          </p:cNvSpPr>
          <p:nvPr>
            <p:ph type="ctrTitle"/>
          </p:nvPr>
        </p:nvSpPr>
        <p:spPr>
          <a:xfrm>
            <a:off x="685800" y="685800"/>
            <a:ext cx="7772400" cy="2127250"/>
          </a:xfrm>
        </p:spPr>
        <p:txBody>
          <a:bodyPr/>
          <a:lstStyle>
            <a:lvl1pPr algn="ctr">
              <a:defRPr sz="5800"/>
            </a:lvl1pPr>
          </a:lstStyle>
          <a:p>
            <a:r>
              <a:rPr lang="en-US"/>
              <a:t>Click to edit Master title style</a:t>
            </a:r>
          </a:p>
        </p:txBody>
      </p:sp>
      <p:sp>
        <p:nvSpPr>
          <p:cNvPr id="104451" name="Rectangle 3"/>
          <p:cNvSpPr>
            <a:spLocks noGrp="1" noChangeArrowheads="1"/>
          </p:cNvSpPr>
          <p:nvPr>
            <p:ph type="subTitle" idx="1"/>
          </p:nvPr>
        </p:nvSpPr>
        <p:spPr>
          <a:xfrm>
            <a:off x="1371600" y="3270250"/>
            <a:ext cx="6400800" cy="2209800"/>
          </a:xfrm>
        </p:spPr>
        <p:txBody>
          <a:bodyPr/>
          <a:lstStyle>
            <a:lvl1pPr marL="0" indent="0" algn="ctr">
              <a:buFont typeface="Wingdings" charset="2"/>
              <a:buNone/>
              <a:defRPr sz="3000"/>
            </a:lvl1pPr>
          </a:lstStyle>
          <a:p>
            <a:r>
              <a:rPr lang="en-US"/>
              <a:t>Click to edit Master subtitle style</a:t>
            </a:r>
          </a:p>
        </p:txBody>
      </p:sp>
      <p:sp>
        <p:nvSpPr>
          <p:cNvPr id="8" name="Rectangle 4"/>
          <p:cNvSpPr>
            <a:spLocks noGrp="1" noChangeArrowheads="1"/>
          </p:cNvSpPr>
          <p:nvPr>
            <p:ph type="dt" sz="half" idx="10"/>
          </p:nvPr>
        </p:nvSpPr>
        <p:spPr/>
        <p:txBody>
          <a:bodyPr/>
          <a:lstStyle>
            <a:lvl1pPr>
              <a:defRPr/>
            </a:lvl1pPr>
          </a:lstStyle>
          <a:p>
            <a:pPr>
              <a:defRPr/>
            </a:pPr>
            <a:endParaRPr lang="en-US"/>
          </a:p>
        </p:txBody>
      </p:sp>
      <p:sp>
        <p:nvSpPr>
          <p:cNvPr id="9" name="Rectangle 5"/>
          <p:cNvSpPr>
            <a:spLocks noGrp="1" noChangeArrowheads="1"/>
          </p:cNvSpPr>
          <p:nvPr>
            <p:ph type="ftr" sz="quarter" idx="11"/>
          </p:nvPr>
        </p:nvSpPr>
        <p:spPr/>
        <p:txBody>
          <a:bodyPr/>
          <a:lstStyle>
            <a:lvl1pPr>
              <a:defRPr/>
            </a:lvl1pPr>
          </a:lstStyle>
          <a:p>
            <a:pPr>
              <a:defRPr/>
            </a:pPr>
            <a:endParaRPr lang="en-US"/>
          </a:p>
        </p:txBody>
      </p:sp>
      <p:sp>
        <p:nvSpPr>
          <p:cNvPr id="10" name="Rectangle 6"/>
          <p:cNvSpPr>
            <a:spLocks noGrp="1" noChangeArrowheads="1"/>
          </p:cNvSpPr>
          <p:nvPr>
            <p:ph type="sldNum" sz="quarter" idx="12"/>
          </p:nvPr>
        </p:nvSpPr>
        <p:spPr/>
        <p:txBody>
          <a:bodyPr/>
          <a:lstStyle>
            <a:lvl1pPr>
              <a:defRPr/>
            </a:lvl1pPr>
          </a:lstStyle>
          <a:p>
            <a:pPr>
              <a:defRPr/>
            </a:pPr>
            <a:fld id="{3E3150B9-0C2C-402B-A03D-FEC1E12686F3}" type="slidenum">
              <a:rPr lang="en-US"/>
              <a:pPr>
                <a:defRPr/>
              </a:pPr>
              <a:t>‹#›</a:t>
            </a:fld>
            <a:endParaRPr lang="en-US"/>
          </a:p>
        </p:txBody>
      </p:sp>
    </p:spTree>
    <p:extLst>
      <p:ext uri="{BB962C8B-B14F-4D97-AF65-F5344CB8AC3E}">
        <p14:creationId xmlns:p14="http://schemas.microsoft.com/office/powerpoint/2010/main" val="12252109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BC74235C-F851-439D-8E91-9F05D58A82F8}" type="slidenum">
              <a:rPr lang="en-US"/>
              <a:pPr>
                <a:defRPr/>
              </a:pPr>
              <a:t>‹#›</a:t>
            </a:fld>
            <a:endParaRPr lang="en-US"/>
          </a:p>
        </p:txBody>
      </p:sp>
    </p:spTree>
    <p:extLst>
      <p:ext uri="{BB962C8B-B14F-4D97-AF65-F5344CB8AC3E}">
        <p14:creationId xmlns:p14="http://schemas.microsoft.com/office/powerpoint/2010/main" val="4315985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EEB1A38B-8C3B-466B-92BB-6A7EA46149CC}" type="slidenum">
              <a:rPr lang="en-US"/>
              <a:pPr>
                <a:defRPr/>
              </a:pPr>
              <a:t>‹#›</a:t>
            </a:fld>
            <a:endParaRPr lang="en-US"/>
          </a:p>
        </p:txBody>
      </p:sp>
    </p:spTree>
    <p:extLst>
      <p:ext uri="{BB962C8B-B14F-4D97-AF65-F5344CB8AC3E}">
        <p14:creationId xmlns:p14="http://schemas.microsoft.com/office/powerpoint/2010/main" val="2784255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1145B6CF-BC26-4481-AE73-5CBF8B19FC83}" type="slidenum">
              <a:rPr lang="en-US"/>
              <a:pPr>
                <a:defRPr/>
              </a:pPr>
              <a:t>‹#›</a:t>
            </a:fld>
            <a:endParaRPr lang="en-US"/>
          </a:p>
        </p:txBody>
      </p:sp>
    </p:spTree>
    <p:extLst>
      <p:ext uri="{BB962C8B-B14F-4D97-AF65-F5344CB8AC3E}">
        <p14:creationId xmlns:p14="http://schemas.microsoft.com/office/powerpoint/2010/main" val="5812404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B2C8B4F7-5F44-4D4D-8E7E-134F64F57C7E}" type="slidenum">
              <a:rPr lang="en-US"/>
              <a:pPr>
                <a:defRPr/>
              </a:pPr>
              <a:t>‹#›</a:t>
            </a:fld>
            <a:endParaRPr lang="en-US"/>
          </a:p>
        </p:txBody>
      </p:sp>
    </p:spTree>
    <p:extLst>
      <p:ext uri="{BB962C8B-B14F-4D97-AF65-F5344CB8AC3E}">
        <p14:creationId xmlns:p14="http://schemas.microsoft.com/office/powerpoint/2010/main" val="15694355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7794E797-45AE-47C2-9012-8B7D82F08387}" type="slidenum">
              <a:rPr lang="en-US"/>
              <a:pPr>
                <a:defRPr/>
              </a:pPr>
              <a:t>‹#›</a:t>
            </a:fld>
            <a:endParaRPr lang="en-US"/>
          </a:p>
        </p:txBody>
      </p:sp>
    </p:spTree>
    <p:extLst>
      <p:ext uri="{BB962C8B-B14F-4D97-AF65-F5344CB8AC3E}">
        <p14:creationId xmlns:p14="http://schemas.microsoft.com/office/powerpoint/2010/main" val="27858708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76558F93-5466-4587-A93B-F58D31740EF3}" type="slidenum">
              <a:rPr lang="en-US"/>
              <a:pPr>
                <a:defRPr/>
              </a:pPr>
              <a:t>‹#›</a:t>
            </a:fld>
            <a:endParaRPr lang="en-US"/>
          </a:p>
        </p:txBody>
      </p:sp>
    </p:spTree>
    <p:extLst>
      <p:ext uri="{BB962C8B-B14F-4D97-AF65-F5344CB8AC3E}">
        <p14:creationId xmlns:p14="http://schemas.microsoft.com/office/powerpoint/2010/main" val="27391456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8AFF5046-7366-47E3-98E7-657E0B4AE328}" type="slidenum">
              <a:rPr lang="en-US"/>
              <a:pPr>
                <a:defRPr/>
              </a:pPr>
              <a:t>‹#›</a:t>
            </a:fld>
            <a:endParaRPr lang="en-US"/>
          </a:p>
        </p:txBody>
      </p:sp>
    </p:spTree>
    <p:extLst>
      <p:ext uri="{BB962C8B-B14F-4D97-AF65-F5344CB8AC3E}">
        <p14:creationId xmlns:p14="http://schemas.microsoft.com/office/powerpoint/2010/main" val="18529919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A8AA5145-0E07-4B20-B470-FAF17FD8DAD2}" type="slidenum">
              <a:rPr lang="en-US"/>
              <a:pPr>
                <a:defRPr/>
              </a:pPr>
              <a:t>‹#›</a:t>
            </a:fld>
            <a:endParaRPr lang="en-US"/>
          </a:p>
        </p:txBody>
      </p:sp>
    </p:spTree>
    <p:extLst>
      <p:ext uri="{BB962C8B-B14F-4D97-AF65-F5344CB8AC3E}">
        <p14:creationId xmlns:p14="http://schemas.microsoft.com/office/powerpoint/2010/main" val="37843952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6FF4B643-BF26-4A17-9C5A-6C061A51568E}" type="slidenum">
              <a:rPr lang="en-US"/>
              <a:pPr>
                <a:defRPr/>
              </a:pPr>
              <a:t>‹#›</a:t>
            </a:fld>
            <a:endParaRPr lang="en-US"/>
          </a:p>
        </p:txBody>
      </p:sp>
    </p:spTree>
    <p:extLst>
      <p:ext uri="{BB962C8B-B14F-4D97-AF65-F5344CB8AC3E}">
        <p14:creationId xmlns:p14="http://schemas.microsoft.com/office/powerpoint/2010/main" val="25639217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7813"/>
            <a:ext cx="2057400" cy="5853112"/>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7813"/>
            <a:ext cx="6019800" cy="5853112"/>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6C2C7733-CFF6-47B8-AF9B-511C6538BFB4}" type="slidenum">
              <a:rPr lang="en-US"/>
              <a:pPr>
                <a:defRPr/>
              </a:pPr>
              <a:t>‹#›</a:t>
            </a:fld>
            <a:endParaRPr lang="en-US"/>
          </a:p>
        </p:txBody>
      </p:sp>
    </p:spTree>
    <p:extLst>
      <p:ext uri="{BB962C8B-B14F-4D97-AF65-F5344CB8AC3E}">
        <p14:creationId xmlns:p14="http://schemas.microsoft.com/office/powerpoint/2010/main" val="9514699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600200"/>
            <a:ext cx="4038600" cy="45307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307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DCF44650-4A06-4B2F-8015-2F9D3EE2F66C}" type="slidenum">
              <a:rPr lang="en-US"/>
              <a:pPr>
                <a:defRPr/>
              </a:pPr>
              <a:t>‹#›</a:t>
            </a:fld>
            <a:endParaRPr lang="en-US"/>
          </a:p>
        </p:txBody>
      </p:sp>
    </p:spTree>
    <p:extLst>
      <p:ext uri="{BB962C8B-B14F-4D97-AF65-F5344CB8AC3E}">
        <p14:creationId xmlns:p14="http://schemas.microsoft.com/office/powerpoint/2010/main" val="33268572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600200"/>
            <a:ext cx="4038600" cy="45307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48200" y="1600200"/>
            <a:ext cx="4038600" cy="21891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648200" y="3941763"/>
            <a:ext cx="4038600" cy="218916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Rectangle 4"/>
          <p:cNvSpPr>
            <a:spLocks noGrp="1" noChangeArrowheads="1"/>
          </p:cNvSpPr>
          <p:nvPr>
            <p:ph type="dt" sz="half" idx="10"/>
          </p:nvPr>
        </p:nvSpPr>
        <p:spPr>
          <a:ln/>
        </p:spPr>
        <p:txBody>
          <a:bodyPr/>
          <a:lstStyle>
            <a:lvl1pPr>
              <a:defRPr/>
            </a:lvl1pPr>
          </a:lstStyle>
          <a:p>
            <a:pPr>
              <a:defRPr/>
            </a:pPr>
            <a:endParaRPr lang="en-US"/>
          </a:p>
        </p:txBody>
      </p:sp>
      <p:sp>
        <p:nvSpPr>
          <p:cNvPr id="7" name="Rectangle 5"/>
          <p:cNvSpPr>
            <a:spLocks noGrp="1" noChangeArrowheads="1"/>
          </p:cNvSpPr>
          <p:nvPr>
            <p:ph type="ftr" sz="quarter" idx="11"/>
          </p:nvPr>
        </p:nvSpPr>
        <p:spPr>
          <a:ln/>
        </p:spPr>
        <p:txBody>
          <a:bodyPr/>
          <a:lstStyle>
            <a:lvl1pPr>
              <a:defRPr/>
            </a:lvl1pPr>
          </a:lstStyle>
          <a:p>
            <a:pPr>
              <a:defRPr/>
            </a:pPr>
            <a:endParaRPr lang="en-US"/>
          </a:p>
        </p:txBody>
      </p:sp>
      <p:sp>
        <p:nvSpPr>
          <p:cNvPr id="8" name="Rectangle 6"/>
          <p:cNvSpPr>
            <a:spLocks noGrp="1" noChangeArrowheads="1"/>
          </p:cNvSpPr>
          <p:nvPr>
            <p:ph type="sldNum" sz="quarter" idx="12"/>
          </p:nvPr>
        </p:nvSpPr>
        <p:spPr>
          <a:ln/>
        </p:spPr>
        <p:txBody>
          <a:bodyPr/>
          <a:lstStyle>
            <a:lvl1pPr>
              <a:defRPr/>
            </a:lvl1pPr>
          </a:lstStyle>
          <a:p>
            <a:pPr>
              <a:defRPr/>
            </a:pPr>
            <a:fld id="{D657A92B-1157-4698-9CBE-0CBD40731E72}" type="slidenum">
              <a:rPr lang="en-US"/>
              <a:pPr>
                <a:defRPr/>
              </a:pPr>
              <a:t>‹#›</a:t>
            </a:fld>
            <a:endParaRPr lang="en-US"/>
          </a:p>
        </p:txBody>
      </p:sp>
    </p:spTree>
    <p:extLst>
      <p:ext uri="{BB962C8B-B14F-4D97-AF65-F5344CB8AC3E}">
        <p14:creationId xmlns:p14="http://schemas.microsoft.com/office/powerpoint/2010/main" val="3429502260"/>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bwMode="auto">
          <a:xfrm>
            <a:off x="457200" y="277813"/>
            <a:ext cx="8229600" cy="113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smtClean="0"/>
              <a:t>Click to edit Master title style</a:t>
            </a:r>
          </a:p>
        </p:txBody>
      </p:sp>
      <p:sp>
        <p:nvSpPr>
          <p:cNvPr id="67587" name="Rectangle 3"/>
          <p:cNvSpPr>
            <a:spLocks noGrp="1" noChangeArrowheads="1"/>
          </p:cNvSpPr>
          <p:nvPr>
            <p:ph type="body" idx="1"/>
          </p:nvPr>
        </p:nvSpPr>
        <p:spPr bwMode="auto">
          <a:xfrm>
            <a:off x="457200" y="1600200"/>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3428" name="Rectangle 4"/>
          <p:cNvSpPr>
            <a:spLocks noGrp="1" noChangeArrowheads="1"/>
          </p:cNvSpPr>
          <p:nvPr>
            <p:ph type="dt" sz="half" idx="2"/>
          </p:nvPr>
        </p:nvSpPr>
        <p:spPr bwMode="auto">
          <a:xfrm>
            <a:off x="457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000"/>
            </a:lvl1pPr>
          </a:lstStyle>
          <a:p>
            <a:pPr>
              <a:defRPr/>
            </a:pPr>
            <a:endParaRPr lang="en-US"/>
          </a:p>
        </p:txBody>
      </p:sp>
      <p:sp>
        <p:nvSpPr>
          <p:cNvPr id="1034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000"/>
            </a:lvl1pPr>
          </a:lstStyle>
          <a:p>
            <a:pPr>
              <a:defRPr/>
            </a:pPr>
            <a:endParaRPr lang="en-US"/>
          </a:p>
        </p:txBody>
      </p:sp>
      <p:sp>
        <p:nvSpPr>
          <p:cNvPr id="103430" name="Rectangle 6"/>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000"/>
            </a:lvl1pPr>
          </a:lstStyle>
          <a:p>
            <a:pPr>
              <a:defRPr/>
            </a:pPr>
            <a:fld id="{18BC059A-F38F-4F73-8C0E-A82CFEFB7C80}" type="slidenum">
              <a:rPr lang="en-US"/>
              <a:pPr>
                <a:defRPr/>
              </a:pPr>
              <a:t>‹#›</a:t>
            </a:fld>
            <a:endParaRPr lang="en-US"/>
          </a:p>
        </p:txBody>
      </p:sp>
      <p:sp>
        <p:nvSpPr>
          <p:cNvPr id="103431" name="Rectangle 7"/>
          <p:cNvSpPr>
            <a:spLocks noChangeArrowheads="1"/>
          </p:cNvSpPr>
          <p:nvPr/>
        </p:nvSpPr>
        <p:spPr bwMode="auto">
          <a:xfrm>
            <a:off x="0" y="0"/>
            <a:ext cx="228600" cy="2286000"/>
          </a:xfrm>
          <a:prstGeom prst="rect">
            <a:avLst/>
          </a:prstGeom>
          <a:solidFill>
            <a:schemeClr val="bg2"/>
          </a:solidFill>
          <a:ln w="9525">
            <a:noFill/>
            <a:miter lim="800000"/>
            <a:headEnd/>
            <a:tailEnd/>
          </a:ln>
          <a:effectLst/>
        </p:spPr>
        <p:txBody>
          <a:bodyPr wrap="none" anchor="ctr"/>
          <a:lstStyle/>
          <a:p>
            <a:pPr algn="ctr" eaLnBrk="1" hangingPunct="1">
              <a:defRPr/>
            </a:pPr>
            <a:endParaRPr lang="en-US" sz="2400">
              <a:latin typeface="Times New Roman" charset="0"/>
            </a:endParaRPr>
          </a:p>
        </p:txBody>
      </p:sp>
      <p:sp>
        <p:nvSpPr>
          <p:cNvPr id="103432" name="Line 8"/>
          <p:cNvSpPr>
            <a:spLocks noChangeShapeType="1"/>
          </p:cNvSpPr>
          <p:nvPr/>
        </p:nvSpPr>
        <p:spPr bwMode="auto">
          <a:xfrm>
            <a:off x="457200" y="1447800"/>
            <a:ext cx="8077200" cy="0"/>
          </a:xfrm>
          <a:prstGeom prst="line">
            <a:avLst/>
          </a:prstGeom>
          <a:noFill/>
          <a:ln w="19050">
            <a:solidFill>
              <a:schemeClr val="tx2"/>
            </a:solidFill>
            <a:round/>
            <a:headEnd/>
            <a:tailEnd/>
          </a:ln>
          <a:effectLst/>
        </p:spPr>
        <p:txBody>
          <a:bodyPr/>
          <a:lstStyle/>
          <a:p>
            <a:pPr>
              <a:defRPr/>
            </a:pPr>
            <a:endParaRPr lang="en-US">
              <a:ea typeface="+mn-ea"/>
            </a:endParaRPr>
          </a:p>
        </p:txBody>
      </p:sp>
      <p:sp>
        <p:nvSpPr>
          <p:cNvPr id="103433" name="Rectangle 9"/>
          <p:cNvSpPr>
            <a:spLocks noChangeArrowheads="1"/>
          </p:cNvSpPr>
          <p:nvPr/>
        </p:nvSpPr>
        <p:spPr bwMode="auto">
          <a:xfrm>
            <a:off x="0" y="2286000"/>
            <a:ext cx="228600" cy="2286000"/>
          </a:xfrm>
          <a:prstGeom prst="rect">
            <a:avLst/>
          </a:prstGeom>
          <a:solidFill>
            <a:schemeClr val="accent2"/>
          </a:solidFill>
          <a:ln w="9525">
            <a:noFill/>
            <a:miter lim="800000"/>
            <a:headEnd/>
            <a:tailEnd/>
          </a:ln>
          <a:effectLst/>
        </p:spPr>
        <p:txBody>
          <a:bodyPr wrap="none" anchor="ctr"/>
          <a:lstStyle/>
          <a:p>
            <a:pPr algn="ctr" eaLnBrk="1" hangingPunct="1">
              <a:defRPr/>
            </a:pPr>
            <a:endParaRPr lang="en-US" sz="2400">
              <a:latin typeface="Times New Roman" charset="0"/>
            </a:endParaRPr>
          </a:p>
        </p:txBody>
      </p:sp>
      <p:sp>
        <p:nvSpPr>
          <p:cNvPr id="103434" name="Rectangle 10"/>
          <p:cNvSpPr>
            <a:spLocks noChangeArrowheads="1"/>
          </p:cNvSpPr>
          <p:nvPr/>
        </p:nvSpPr>
        <p:spPr bwMode="auto">
          <a:xfrm>
            <a:off x="0" y="4572000"/>
            <a:ext cx="228600" cy="2286000"/>
          </a:xfrm>
          <a:prstGeom prst="rect">
            <a:avLst/>
          </a:prstGeom>
          <a:solidFill>
            <a:schemeClr val="tx2"/>
          </a:solidFill>
          <a:ln w="9525">
            <a:noFill/>
            <a:miter lim="800000"/>
            <a:headEnd/>
            <a:tailEnd/>
          </a:ln>
          <a:effectLst/>
        </p:spPr>
        <p:txBody>
          <a:bodyPr wrap="none" anchor="ctr"/>
          <a:lstStyle/>
          <a:p>
            <a:pPr algn="ctr" eaLnBrk="1" hangingPunct="1">
              <a:defRPr/>
            </a:pPr>
            <a:endParaRPr lang="en-US" sz="2400">
              <a:latin typeface="Times New Roman" charset="0"/>
            </a:endParaRPr>
          </a:p>
        </p:txBody>
      </p:sp>
    </p:spTree>
  </p:cSld>
  <p:clrMap bg1="lt1" tx1="dk1" bg2="lt2" tx2="dk2" accent1="accent1" accent2="accent2" accent3="accent3" accent4="accent4" accent5="accent5" accent6="accent6" hlink="hlink" folHlink="folHlink"/>
  <p:sldLayoutIdLst>
    <p:sldLayoutId id="2147483732"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 id="2147483730" r:id="rId12"/>
    <p:sldLayoutId id="2147483731" r:id="rId13"/>
  </p:sldLayoutIdLst>
  <p:timing>
    <p:tnLst>
      <p:par>
        <p:cTn id="1" dur="indefinite" restart="never" nodeType="tmRoot"/>
      </p:par>
    </p:tnLst>
  </p:timing>
  <p:txStyles>
    <p:titleStyle>
      <a:lvl1pPr algn="l" rtl="0" eaLnBrk="0" fontAlgn="base" hangingPunct="0">
        <a:spcBef>
          <a:spcPct val="0"/>
        </a:spcBef>
        <a:spcAft>
          <a:spcPct val="0"/>
        </a:spcAft>
        <a:defRPr sz="4400">
          <a:solidFill>
            <a:schemeClr val="tx2"/>
          </a:solidFill>
          <a:latin typeface="+mj-lt"/>
          <a:ea typeface="ＭＳ Ｐゴシック" charset="-128"/>
          <a:cs typeface="+mj-cs"/>
        </a:defRPr>
      </a:lvl1pPr>
      <a:lvl2pPr algn="l" rtl="0" eaLnBrk="0" fontAlgn="base" hangingPunct="0">
        <a:spcBef>
          <a:spcPct val="0"/>
        </a:spcBef>
        <a:spcAft>
          <a:spcPct val="0"/>
        </a:spcAft>
        <a:defRPr sz="4400">
          <a:solidFill>
            <a:schemeClr val="tx2"/>
          </a:solidFill>
          <a:latin typeface="Garamond" charset="0"/>
          <a:ea typeface="ＭＳ Ｐゴシック" charset="-128"/>
        </a:defRPr>
      </a:lvl2pPr>
      <a:lvl3pPr algn="l" rtl="0" eaLnBrk="0" fontAlgn="base" hangingPunct="0">
        <a:spcBef>
          <a:spcPct val="0"/>
        </a:spcBef>
        <a:spcAft>
          <a:spcPct val="0"/>
        </a:spcAft>
        <a:defRPr sz="4400">
          <a:solidFill>
            <a:schemeClr val="tx2"/>
          </a:solidFill>
          <a:latin typeface="Garamond" charset="0"/>
          <a:ea typeface="ＭＳ Ｐゴシック" charset="-128"/>
        </a:defRPr>
      </a:lvl3pPr>
      <a:lvl4pPr algn="l" rtl="0" eaLnBrk="0" fontAlgn="base" hangingPunct="0">
        <a:spcBef>
          <a:spcPct val="0"/>
        </a:spcBef>
        <a:spcAft>
          <a:spcPct val="0"/>
        </a:spcAft>
        <a:defRPr sz="4400">
          <a:solidFill>
            <a:schemeClr val="tx2"/>
          </a:solidFill>
          <a:latin typeface="Garamond" charset="0"/>
          <a:ea typeface="ＭＳ Ｐゴシック" charset="-128"/>
        </a:defRPr>
      </a:lvl4pPr>
      <a:lvl5pPr algn="l" rtl="0" eaLnBrk="0" fontAlgn="base" hangingPunct="0">
        <a:spcBef>
          <a:spcPct val="0"/>
        </a:spcBef>
        <a:spcAft>
          <a:spcPct val="0"/>
        </a:spcAft>
        <a:defRPr sz="4400">
          <a:solidFill>
            <a:schemeClr val="tx2"/>
          </a:solidFill>
          <a:latin typeface="Garamond" charset="0"/>
          <a:ea typeface="ＭＳ Ｐゴシック" charset="-128"/>
        </a:defRPr>
      </a:lvl5pPr>
      <a:lvl6pPr marL="457200" algn="l" rtl="0" fontAlgn="base">
        <a:spcBef>
          <a:spcPct val="0"/>
        </a:spcBef>
        <a:spcAft>
          <a:spcPct val="0"/>
        </a:spcAft>
        <a:defRPr sz="4400">
          <a:solidFill>
            <a:schemeClr val="tx2"/>
          </a:solidFill>
          <a:latin typeface="Garamond" charset="0"/>
        </a:defRPr>
      </a:lvl6pPr>
      <a:lvl7pPr marL="914400" algn="l" rtl="0" fontAlgn="base">
        <a:spcBef>
          <a:spcPct val="0"/>
        </a:spcBef>
        <a:spcAft>
          <a:spcPct val="0"/>
        </a:spcAft>
        <a:defRPr sz="4400">
          <a:solidFill>
            <a:schemeClr val="tx2"/>
          </a:solidFill>
          <a:latin typeface="Garamond" charset="0"/>
        </a:defRPr>
      </a:lvl7pPr>
      <a:lvl8pPr marL="1371600" algn="l" rtl="0" fontAlgn="base">
        <a:spcBef>
          <a:spcPct val="0"/>
        </a:spcBef>
        <a:spcAft>
          <a:spcPct val="0"/>
        </a:spcAft>
        <a:defRPr sz="4400">
          <a:solidFill>
            <a:schemeClr val="tx2"/>
          </a:solidFill>
          <a:latin typeface="Garamond" charset="0"/>
        </a:defRPr>
      </a:lvl8pPr>
      <a:lvl9pPr marL="1828800" algn="l" rtl="0" fontAlgn="base">
        <a:spcBef>
          <a:spcPct val="0"/>
        </a:spcBef>
        <a:spcAft>
          <a:spcPct val="0"/>
        </a:spcAft>
        <a:defRPr sz="4400">
          <a:solidFill>
            <a:schemeClr val="tx2"/>
          </a:solidFill>
          <a:latin typeface="Garamond" charset="0"/>
        </a:defRPr>
      </a:lvl9pPr>
    </p:titleStyle>
    <p:bodyStyle>
      <a:lvl1pPr marL="342900" indent="-342900" algn="l" rtl="0" eaLnBrk="0" fontAlgn="base" hangingPunct="0">
        <a:spcBef>
          <a:spcPct val="20000"/>
        </a:spcBef>
        <a:spcAft>
          <a:spcPct val="0"/>
        </a:spcAft>
        <a:buClr>
          <a:schemeClr val="bg2"/>
        </a:buClr>
        <a:buSzPct val="75000"/>
        <a:buFont typeface="Wingdings" charset="2"/>
        <a:buChar char="p"/>
        <a:defRPr sz="2800">
          <a:solidFill>
            <a:schemeClr val="tx1"/>
          </a:solidFill>
          <a:latin typeface="+mn-lt"/>
          <a:ea typeface="ＭＳ Ｐゴシック" charset="-128"/>
          <a:cs typeface="+mn-cs"/>
        </a:defRPr>
      </a:lvl1pPr>
      <a:lvl2pPr marL="742950" indent="-285750" algn="l" rtl="0" eaLnBrk="0" fontAlgn="base" hangingPunct="0">
        <a:spcBef>
          <a:spcPct val="20000"/>
        </a:spcBef>
        <a:spcAft>
          <a:spcPct val="0"/>
        </a:spcAft>
        <a:buClr>
          <a:schemeClr val="tx2"/>
        </a:buClr>
        <a:buSzPct val="75000"/>
        <a:buFont typeface="Wingdings" charset="2"/>
        <a:buChar char="n"/>
        <a:defRPr sz="2400">
          <a:solidFill>
            <a:schemeClr val="tx1"/>
          </a:solidFill>
          <a:latin typeface="+mn-lt"/>
          <a:ea typeface="ＭＳ Ｐゴシック" charset="-128"/>
        </a:defRPr>
      </a:lvl2pPr>
      <a:lvl3pPr marL="1143000" indent="-228600" algn="l" rtl="0" eaLnBrk="0" fontAlgn="base" hangingPunct="0">
        <a:spcBef>
          <a:spcPct val="20000"/>
        </a:spcBef>
        <a:spcAft>
          <a:spcPct val="0"/>
        </a:spcAft>
        <a:buClr>
          <a:schemeClr val="accent1"/>
        </a:buClr>
        <a:buSzPct val="65000"/>
        <a:buFont typeface="Wingdings" charset="2"/>
        <a:buChar char="p"/>
        <a:defRPr sz="2000">
          <a:solidFill>
            <a:schemeClr val="tx1"/>
          </a:solidFill>
          <a:latin typeface="+mn-lt"/>
          <a:ea typeface="ＭＳ Ｐゴシック" charset="-128"/>
        </a:defRPr>
      </a:lvl3pPr>
      <a:lvl4pPr marL="1600200" indent="-228600" algn="l" rtl="0" eaLnBrk="0" fontAlgn="base" hangingPunct="0">
        <a:spcBef>
          <a:spcPct val="20000"/>
        </a:spcBef>
        <a:spcAft>
          <a:spcPct val="0"/>
        </a:spcAft>
        <a:buClr>
          <a:schemeClr val="bg2"/>
        </a:buClr>
        <a:buFont typeface="Wingdings" charset="2"/>
        <a:buChar char="§"/>
        <a:defRPr>
          <a:solidFill>
            <a:schemeClr val="tx1"/>
          </a:solidFill>
          <a:latin typeface="+mn-lt"/>
          <a:ea typeface="ＭＳ Ｐゴシック" charset="-128"/>
        </a:defRPr>
      </a:lvl4pPr>
      <a:lvl5pPr marL="2057400" indent="-228600" algn="l" rtl="0" eaLnBrk="0" fontAlgn="base" hangingPunct="0">
        <a:spcBef>
          <a:spcPct val="20000"/>
        </a:spcBef>
        <a:spcAft>
          <a:spcPct val="0"/>
        </a:spcAft>
        <a:buClr>
          <a:schemeClr val="tx2"/>
        </a:buClr>
        <a:buSzPct val="80000"/>
        <a:buFont typeface="Wingdings" charset="2"/>
        <a:buChar char="§"/>
        <a:defRPr>
          <a:solidFill>
            <a:schemeClr val="tx1"/>
          </a:solidFill>
          <a:latin typeface="+mn-lt"/>
          <a:ea typeface="ＭＳ Ｐゴシック" charset="-128"/>
        </a:defRPr>
      </a:lvl5pPr>
      <a:lvl6pPr marL="2514600" indent="-228600" algn="l" rtl="0" fontAlgn="base">
        <a:spcBef>
          <a:spcPct val="20000"/>
        </a:spcBef>
        <a:spcAft>
          <a:spcPct val="0"/>
        </a:spcAft>
        <a:buClr>
          <a:schemeClr val="tx2"/>
        </a:buClr>
        <a:buSzPct val="80000"/>
        <a:buFont typeface="Wingdings" charset="2"/>
        <a:buChar char="§"/>
        <a:defRPr>
          <a:solidFill>
            <a:schemeClr val="tx1"/>
          </a:solidFill>
          <a:latin typeface="+mn-lt"/>
          <a:ea typeface="ＭＳ Ｐゴシック" charset="-128"/>
        </a:defRPr>
      </a:lvl6pPr>
      <a:lvl7pPr marL="2971800" indent="-228600" algn="l" rtl="0" fontAlgn="base">
        <a:spcBef>
          <a:spcPct val="20000"/>
        </a:spcBef>
        <a:spcAft>
          <a:spcPct val="0"/>
        </a:spcAft>
        <a:buClr>
          <a:schemeClr val="tx2"/>
        </a:buClr>
        <a:buSzPct val="80000"/>
        <a:buFont typeface="Wingdings" charset="2"/>
        <a:buChar char="§"/>
        <a:defRPr>
          <a:solidFill>
            <a:schemeClr val="tx1"/>
          </a:solidFill>
          <a:latin typeface="+mn-lt"/>
          <a:ea typeface="ＭＳ Ｐゴシック" charset="-128"/>
        </a:defRPr>
      </a:lvl7pPr>
      <a:lvl8pPr marL="3429000" indent="-228600" algn="l" rtl="0" fontAlgn="base">
        <a:spcBef>
          <a:spcPct val="20000"/>
        </a:spcBef>
        <a:spcAft>
          <a:spcPct val="0"/>
        </a:spcAft>
        <a:buClr>
          <a:schemeClr val="tx2"/>
        </a:buClr>
        <a:buSzPct val="80000"/>
        <a:buFont typeface="Wingdings" charset="2"/>
        <a:buChar char="§"/>
        <a:defRPr>
          <a:solidFill>
            <a:schemeClr val="tx1"/>
          </a:solidFill>
          <a:latin typeface="+mn-lt"/>
          <a:ea typeface="ＭＳ Ｐゴシック" charset="-128"/>
        </a:defRPr>
      </a:lvl8pPr>
      <a:lvl9pPr marL="3886200" indent="-228600" algn="l" rtl="0" fontAlgn="base">
        <a:spcBef>
          <a:spcPct val="20000"/>
        </a:spcBef>
        <a:spcAft>
          <a:spcPct val="0"/>
        </a:spcAft>
        <a:buClr>
          <a:schemeClr val="tx2"/>
        </a:buClr>
        <a:buSzPct val="80000"/>
        <a:buFont typeface="Wingdings" charset="2"/>
        <a:buChar char="§"/>
        <a:defRPr>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bin"/><Relationship Id="rId4" Type="http://schemas.openxmlformats.org/officeDocument/2006/relationships/image" Target="../media/image6.wmf"/><Relationship Id="rId5" Type="http://schemas.openxmlformats.org/officeDocument/2006/relationships/oleObject" Target="../embeddings/oleObject2.bin"/><Relationship Id="rId6" Type="http://schemas.openxmlformats.org/officeDocument/2006/relationships/oleObject" Target="../embeddings/oleObject3.bin"/><Relationship Id="rId1" Type="http://schemas.openxmlformats.org/officeDocument/2006/relationships/vmlDrawing" Target="../drawings/vmlDrawing1.vml"/><Relationship Id="rId2"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4.bin"/><Relationship Id="rId4" Type="http://schemas.openxmlformats.org/officeDocument/2006/relationships/image" Target="../media/image7.wmf"/><Relationship Id="rId1" Type="http://schemas.openxmlformats.org/officeDocument/2006/relationships/vmlDrawing" Target="../drawings/vmlDrawing2.vml"/><Relationship Id="rId2"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5.bin"/><Relationship Id="rId4" Type="http://schemas.openxmlformats.org/officeDocument/2006/relationships/image" Target="../media/image6.wmf"/><Relationship Id="rId5" Type="http://schemas.openxmlformats.org/officeDocument/2006/relationships/image" Target="../media/image9.png"/><Relationship Id="rId1" Type="http://schemas.openxmlformats.org/officeDocument/2006/relationships/vmlDrawing" Target="../drawings/vmlDrawing3.vml"/><Relationship Id="rId2"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6.bin"/><Relationship Id="rId4" Type="http://schemas.openxmlformats.org/officeDocument/2006/relationships/image" Target="../media/image6.wmf"/><Relationship Id="rId5" Type="http://schemas.openxmlformats.org/officeDocument/2006/relationships/image" Target="../media/image10.png"/><Relationship Id="rId1" Type="http://schemas.openxmlformats.org/officeDocument/2006/relationships/vmlDrawing" Target="../drawings/vmlDrawing4.vml"/><Relationship Id="rId2"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7.bin"/><Relationship Id="rId4" Type="http://schemas.openxmlformats.org/officeDocument/2006/relationships/image" Target="../media/image11.wmf"/><Relationship Id="rId1" Type="http://schemas.openxmlformats.org/officeDocument/2006/relationships/vmlDrawing" Target="../drawings/vmlDrawing5.vml"/><Relationship Id="rId2"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8.bin"/><Relationship Id="rId4" Type="http://schemas.openxmlformats.org/officeDocument/2006/relationships/image" Target="../media/image12.wmf"/><Relationship Id="rId1" Type="http://schemas.openxmlformats.org/officeDocument/2006/relationships/vmlDrawing" Target="../drawings/vmlDrawing6.vml"/><Relationship Id="rId2"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9.bin"/><Relationship Id="rId4" Type="http://schemas.openxmlformats.org/officeDocument/2006/relationships/image" Target="../media/image13.wmf"/><Relationship Id="rId1" Type="http://schemas.openxmlformats.org/officeDocument/2006/relationships/vmlDrawing" Target="../drawings/vmlDrawing7.vml"/><Relationship Id="rId2"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10.bin"/><Relationship Id="rId4" Type="http://schemas.openxmlformats.org/officeDocument/2006/relationships/image" Target="../media/image14.wmf"/><Relationship Id="rId1" Type="http://schemas.openxmlformats.org/officeDocument/2006/relationships/vmlDrawing" Target="../drawings/vmlDrawing8.vml"/><Relationship Id="rId2"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11.bin"/><Relationship Id="rId4" Type="http://schemas.openxmlformats.org/officeDocument/2006/relationships/image" Target="../media/image15.wmf"/><Relationship Id="rId1" Type="http://schemas.openxmlformats.org/officeDocument/2006/relationships/vmlDrawing" Target="../drawings/vmlDrawing9.vml"/><Relationship Id="rId2"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12.bin"/><Relationship Id="rId4" Type="http://schemas.openxmlformats.org/officeDocument/2006/relationships/image" Target="../media/image6.wmf"/><Relationship Id="rId5" Type="http://schemas.openxmlformats.org/officeDocument/2006/relationships/oleObject" Target="../embeddings/oleObject13.bin"/><Relationship Id="rId6" Type="http://schemas.openxmlformats.org/officeDocument/2006/relationships/oleObject" Target="../embeddings/oleObject14.bin"/><Relationship Id="rId7" Type="http://schemas.openxmlformats.org/officeDocument/2006/relationships/image" Target="../media/image17.wmf"/><Relationship Id="rId8" Type="http://schemas.openxmlformats.org/officeDocument/2006/relationships/oleObject" Target="../embeddings/oleObject15.bin"/><Relationship Id="rId9" Type="http://schemas.openxmlformats.org/officeDocument/2006/relationships/image" Target="../media/image18.wmf"/><Relationship Id="rId10" Type="http://schemas.openxmlformats.org/officeDocument/2006/relationships/image" Target="../media/image19.png"/><Relationship Id="rId1" Type="http://schemas.openxmlformats.org/officeDocument/2006/relationships/vmlDrawing" Target="../drawings/vmlDrawing10.vml"/><Relationship Id="rId2"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16.bin"/><Relationship Id="rId4" Type="http://schemas.openxmlformats.org/officeDocument/2006/relationships/image" Target="../media/image6.wmf"/><Relationship Id="rId5" Type="http://schemas.openxmlformats.org/officeDocument/2006/relationships/oleObject" Target="../embeddings/oleObject17.bin"/><Relationship Id="rId6" Type="http://schemas.openxmlformats.org/officeDocument/2006/relationships/oleObject" Target="../embeddings/oleObject18.bin"/><Relationship Id="rId7" Type="http://schemas.openxmlformats.org/officeDocument/2006/relationships/image" Target="../media/image20.wmf"/><Relationship Id="rId1" Type="http://schemas.openxmlformats.org/officeDocument/2006/relationships/vmlDrawing" Target="../drawings/vmlDrawing11.vml"/><Relationship Id="rId2"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19.bin"/><Relationship Id="rId4" Type="http://schemas.openxmlformats.org/officeDocument/2006/relationships/image" Target="../media/image6.wmf"/><Relationship Id="rId5" Type="http://schemas.openxmlformats.org/officeDocument/2006/relationships/oleObject" Target="../embeddings/oleObject20.bin"/><Relationship Id="rId6" Type="http://schemas.openxmlformats.org/officeDocument/2006/relationships/oleObject" Target="../embeddings/oleObject21.bin"/><Relationship Id="rId7" Type="http://schemas.openxmlformats.org/officeDocument/2006/relationships/image" Target="../media/image21.wmf"/><Relationship Id="rId1" Type="http://schemas.openxmlformats.org/officeDocument/2006/relationships/vmlDrawing" Target="../drawings/vmlDrawing12.vml"/><Relationship Id="rId2"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22.bin"/><Relationship Id="rId4" Type="http://schemas.openxmlformats.org/officeDocument/2006/relationships/image" Target="../media/image6.wmf"/><Relationship Id="rId5" Type="http://schemas.openxmlformats.org/officeDocument/2006/relationships/oleObject" Target="../embeddings/oleObject23.bin"/><Relationship Id="rId6" Type="http://schemas.openxmlformats.org/officeDocument/2006/relationships/image" Target="../media/image18.wmf"/><Relationship Id="rId7" Type="http://schemas.openxmlformats.org/officeDocument/2006/relationships/oleObject" Target="../embeddings/oleObject24.bin"/><Relationship Id="rId8" Type="http://schemas.openxmlformats.org/officeDocument/2006/relationships/image" Target="../media/image22.wmf"/><Relationship Id="rId9" Type="http://schemas.openxmlformats.org/officeDocument/2006/relationships/oleObject" Target="../embeddings/oleObject25.bin"/><Relationship Id="rId10" Type="http://schemas.openxmlformats.org/officeDocument/2006/relationships/image" Target="../media/image23.wmf"/><Relationship Id="rId1" Type="http://schemas.openxmlformats.org/officeDocument/2006/relationships/vmlDrawing" Target="../drawings/vmlDrawing13.vml"/><Relationship Id="rId2"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26.bin"/><Relationship Id="rId4" Type="http://schemas.openxmlformats.org/officeDocument/2006/relationships/image" Target="../media/image6.wmf"/><Relationship Id="rId5" Type="http://schemas.openxmlformats.org/officeDocument/2006/relationships/oleObject" Target="../embeddings/oleObject27.bin"/><Relationship Id="rId6" Type="http://schemas.openxmlformats.org/officeDocument/2006/relationships/oleObject" Target="../embeddings/oleObject28.bin"/><Relationship Id="rId7" Type="http://schemas.openxmlformats.org/officeDocument/2006/relationships/image" Target="../media/image24.wmf"/><Relationship Id="rId1" Type="http://schemas.openxmlformats.org/officeDocument/2006/relationships/vmlDrawing" Target="../drawings/vmlDrawing14.vml"/><Relationship Id="rId2"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29.bin"/><Relationship Id="rId4" Type="http://schemas.openxmlformats.org/officeDocument/2006/relationships/image" Target="../media/image6.wmf"/><Relationship Id="rId5" Type="http://schemas.openxmlformats.org/officeDocument/2006/relationships/oleObject" Target="../embeddings/oleObject30.bin"/><Relationship Id="rId1" Type="http://schemas.openxmlformats.org/officeDocument/2006/relationships/vmlDrawing" Target="../drawings/vmlDrawing15.vml"/><Relationship Id="rId2"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31.bin"/><Relationship Id="rId4" Type="http://schemas.openxmlformats.org/officeDocument/2006/relationships/image" Target="../media/image25.wmf"/><Relationship Id="rId1" Type="http://schemas.openxmlformats.org/officeDocument/2006/relationships/vmlDrawing" Target="../drawings/vmlDrawing16.vml"/><Relationship Id="rId2"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32.bin"/><Relationship Id="rId4" Type="http://schemas.openxmlformats.org/officeDocument/2006/relationships/image" Target="../media/image26.wmf"/><Relationship Id="rId1" Type="http://schemas.openxmlformats.org/officeDocument/2006/relationships/vmlDrawing" Target="../drawings/vmlDrawing17.vml"/><Relationship Id="rId2"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33.bin"/><Relationship Id="rId4" Type="http://schemas.openxmlformats.org/officeDocument/2006/relationships/image" Target="../media/image27.wmf"/><Relationship Id="rId1" Type="http://schemas.openxmlformats.org/officeDocument/2006/relationships/vmlDrawing" Target="../drawings/vmlDrawing18.vml"/><Relationship Id="rId2"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8.png"/></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34.bin"/><Relationship Id="rId4" Type="http://schemas.openxmlformats.org/officeDocument/2006/relationships/image" Target="../media/image29.wmf"/><Relationship Id="rId5" Type="http://schemas.openxmlformats.org/officeDocument/2006/relationships/oleObject" Target="../embeddings/oleObject35.bin"/><Relationship Id="rId6" Type="http://schemas.openxmlformats.org/officeDocument/2006/relationships/image" Target="../media/image6.wmf"/><Relationship Id="rId1" Type="http://schemas.openxmlformats.org/officeDocument/2006/relationships/vmlDrawing" Target="../drawings/vmlDrawing19.vml"/><Relationship Id="rId2"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36.bin"/><Relationship Id="rId4" Type="http://schemas.openxmlformats.org/officeDocument/2006/relationships/image" Target="../media/image6.wmf"/><Relationship Id="rId5" Type="http://schemas.openxmlformats.org/officeDocument/2006/relationships/image" Target="../media/image30.png"/><Relationship Id="rId1" Type="http://schemas.openxmlformats.org/officeDocument/2006/relationships/vmlDrawing" Target="../drawings/vmlDrawing20.vml"/><Relationship Id="rId2"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37.bin"/><Relationship Id="rId4" Type="http://schemas.openxmlformats.org/officeDocument/2006/relationships/image" Target="../media/image6.wmf"/><Relationship Id="rId5" Type="http://schemas.openxmlformats.org/officeDocument/2006/relationships/image" Target="../media/image31.png"/><Relationship Id="rId1" Type="http://schemas.openxmlformats.org/officeDocument/2006/relationships/vmlDrawing" Target="../drawings/vmlDrawing21.vml"/><Relationship Id="rId2"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38.bin"/><Relationship Id="rId4" Type="http://schemas.openxmlformats.org/officeDocument/2006/relationships/image" Target="../media/image6.wmf"/><Relationship Id="rId5" Type="http://schemas.openxmlformats.org/officeDocument/2006/relationships/oleObject" Target="../embeddings/oleObject39.bin"/><Relationship Id="rId1" Type="http://schemas.openxmlformats.org/officeDocument/2006/relationships/vmlDrawing" Target="../drawings/vmlDrawing22.vml"/><Relationship Id="rId2"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40.bin"/><Relationship Id="rId4" Type="http://schemas.openxmlformats.org/officeDocument/2006/relationships/image" Target="../media/image32.wmf"/><Relationship Id="rId1" Type="http://schemas.openxmlformats.org/officeDocument/2006/relationships/vmlDrawing" Target="../drawings/vmlDrawing23.vml"/><Relationship Id="rId2"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3.png"/></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41.bin"/><Relationship Id="rId4" Type="http://schemas.openxmlformats.org/officeDocument/2006/relationships/image" Target="../media/image34.wmf"/><Relationship Id="rId1" Type="http://schemas.openxmlformats.org/officeDocument/2006/relationships/vmlDrawing" Target="../drawings/vmlDrawing24.vml"/><Relationship Id="rId2"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5.png"/></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42.bin"/><Relationship Id="rId4" Type="http://schemas.openxmlformats.org/officeDocument/2006/relationships/image" Target="../media/image36.wmf"/><Relationship Id="rId1" Type="http://schemas.openxmlformats.org/officeDocument/2006/relationships/vmlDrawing" Target="../drawings/vmlDrawing25.vml"/><Relationship Id="rId2"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7.png"/></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43.bin"/><Relationship Id="rId4" Type="http://schemas.openxmlformats.org/officeDocument/2006/relationships/image" Target="../media/image38.wmf"/><Relationship Id="rId5" Type="http://schemas.openxmlformats.org/officeDocument/2006/relationships/oleObject" Target="../embeddings/oleObject44.bin"/><Relationship Id="rId6" Type="http://schemas.openxmlformats.org/officeDocument/2006/relationships/image" Target="../media/image6.wmf"/><Relationship Id="rId7" Type="http://schemas.openxmlformats.org/officeDocument/2006/relationships/oleObject" Target="../embeddings/oleObject45.bin"/><Relationship Id="rId1" Type="http://schemas.openxmlformats.org/officeDocument/2006/relationships/vmlDrawing" Target="../drawings/vmlDrawing26.vml"/><Relationship Id="rId2"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46.bin"/><Relationship Id="rId4" Type="http://schemas.openxmlformats.org/officeDocument/2006/relationships/image" Target="../media/image6.wmf"/><Relationship Id="rId5" Type="http://schemas.openxmlformats.org/officeDocument/2006/relationships/image" Target="../media/image39.png"/><Relationship Id="rId1" Type="http://schemas.openxmlformats.org/officeDocument/2006/relationships/vmlDrawing" Target="../drawings/vmlDrawing27.vml"/><Relationship Id="rId2"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47.bin"/><Relationship Id="rId4" Type="http://schemas.openxmlformats.org/officeDocument/2006/relationships/image" Target="../media/image6.wmf"/><Relationship Id="rId5" Type="http://schemas.openxmlformats.org/officeDocument/2006/relationships/image" Target="../media/image40.png"/><Relationship Id="rId1" Type="http://schemas.openxmlformats.org/officeDocument/2006/relationships/vmlDrawing" Target="../drawings/vmlDrawing28.vml"/><Relationship Id="rId2"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1.png"/></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48.bin"/><Relationship Id="rId4" Type="http://schemas.openxmlformats.org/officeDocument/2006/relationships/image" Target="../media/image42.wmf"/><Relationship Id="rId5" Type="http://schemas.openxmlformats.org/officeDocument/2006/relationships/image" Target="../media/image43.png"/><Relationship Id="rId1" Type="http://schemas.openxmlformats.org/officeDocument/2006/relationships/vmlDrawing" Target="../drawings/vmlDrawing29.vml"/><Relationship Id="rId2"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49.bin"/><Relationship Id="rId4" Type="http://schemas.openxmlformats.org/officeDocument/2006/relationships/image" Target="../media/image44.wmf"/><Relationship Id="rId5" Type="http://schemas.openxmlformats.org/officeDocument/2006/relationships/image" Target="../media/image45.png"/><Relationship Id="rId1" Type="http://schemas.openxmlformats.org/officeDocument/2006/relationships/vmlDrawing" Target="../drawings/vmlDrawing30.vml"/><Relationship Id="rId2"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50.bin"/><Relationship Id="rId4" Type="http://schemas.openxmlformats.org/officeDocument/2006/relationships/image" Target="../media/image46.wmf"/><Relationship Id="rId5" Type="http://schemas.openxmlformats.org/officeDocument/2006/relationships/image" Target="../media/image47.png"/><Relationship Id="rId1" Type="http://schemas.openxmlformats.org/officeDocument/2006/relationships/vmlDrawing" Target="../drawings/vmlDrawing31.vml"/><Relationship Id="rId2"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51.bin"/><Relationship Id="rId4" Type="http://schemas.openxmlformats.org/officeDocument/2006/relationships/image" Target="../media/image6.wmf"/><Relationship Id="rId1" Type="http://schemas.openxmlformats.org/officeDocument/2006/relationships/vmlDrawing" Target="../drawings/vmlDrawing32.vml"/><Relationship Id="rId2"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52.bin"/><Relationship Id="rId4" Type="http://schemas.openxmlformats.org/officeDocument/2006/relationships/image" Target="../media/image48.wmf"/><Relationship Id="rId1" Type="http://schemas.openxmlformats.org/officeDocument/2006/relationships/vmlDrawing" Target="../drawings/vmlDrawing33.vml"/><Relationship Id="rId2"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oleObject" Target="../embeddings/oleObject53.bin"/><Relationship Id="rId4" Type="http://schemas.openxmlformats.org/officeDocument/2006/relationships/image" Target="../media/image6.wmf"/><Relationship Id="rId5" Type="http://schemas.openxmlformats.org/officeDocument/2006/relationships/oleObject" Target="../embeddings/oleObject54.bin"/><Relationship Id="rId6" Type="http://schemas.openxmlformats.org/officeDocument/2006/relationships/image" Target="../media/image49.wmf"/><Relationship Id="rId1" Type="http://schemas.openxmlformats.org/officeDocument/2006/relationships/vmlDrawing" Target="../drawings/vmlDrawing34.vml"/><Relationship Id="rId2"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55.bin"/><Relationship Id="rId4" Type="http://schemas.openxmlformats.org/officeDocument/2006/relationships/image" Target="../media/image50.wmf"/><Relationship Id="rId5" Type="http://schemas.openxmlformats.org/officeDocument/2006/relationships/oleObject" Target="../embeddings/oleObject56.bin"/><Relationship Id="rId6" Type="http://schemas.openxmlformats.org/officeDocument/2006/relationships/image" Target="../media/image51.wmf"/><Relationship Id="rId7" Type="http://schemas.openxmlformats.org/officeDocument/2006/relationships/oleObject" Target="../embeddings/oleObject57.bin"/><Relationship Id="rId8" Type="http://schemas.openxmlformats.org/officeDocument/2006/relationships/image" Target="../media/image6.wmf"/><Relationship Id="rId9" Type="http://schemas.openxmlformats.org/officeDocument/2006/relationships/oleObject" Target="../embeddings/oleObject58.bin"/><Relationship Id="rId10" Type="http://schemas.openxmlformats.org/officeDocument/2006/relationships/oleObject" Target="../embeddings/oleObject59.bin"/><Relationship Id="rId1" Type="http://schemas.openxmlformats.org/officeDocument/2006/relationships/vmlDrawing" Target="../drawings/vmlDrawing35.vml"/><Relationship Id="rId2"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2.png"/></Relationships>
</file>

<file path=ppt/slides/_rels/slide58.xml.rels><?xml version="1.0" encoding="UTF-8" standalone="yes"?>
<Relationships xmlns="http://schemas.openxmlformats.org/package/2006/relationships"><Relationship Id="rId3" Type="http://schemas.openxmlformats.org/officeDocument/2006/relationships/oleObject" Target="../embeddings/oleObject60.bin"/><Relationship Id="rId4" Type="http://schemas.openxmlformats.org/officeDocument/2006/relationships/image" Target="../media/image6.wmf"/><Relationship Id="rId1" Type="http://schemas.openxmlformats.org/officeDocument/2006/relationships/vmlDrawing" Target="../drawings/vmlDrawing36.vml"/><Relationship Id="rId2"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oleObject" Target="../embeddings/oleObject61.bin"/><Relationship Id="rId4" Type="http://schemas.openxmlformats.org/officeDocument/2006/relationships/image" Target="../media/image6.wmf"/><Relationship Id="rId5" Type="http://schemas.openxmlformats.org/officeDocument/2006/relationships/image" Target="../media/image56.png"/><Relationship Id="rId1" Type="http://schemas.openxmlformats.org/officeDocument/2006/relationships/vmlDrawing" Target="../drawings/vmlDrawing37.vml"/><Relationship Id="rId2"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oleObject" Target="../embeddings/oleObject62.bin"/><Relationship Id="rId4" Type="http://schemas.openxmlformats.org/officeDocument/2006/relationships/image" Target="../media/image6.wmf"/><Relationship Id="rId5" Type="http://schemas.openxmlformats.org/officeDocument/2006/relationships/image" Target="../media/image57.png"/><Relationship Id="rId1" Type="http://schemas.openxmlformats.org/officeDocument/2006/relationships/vmlDrawing" Target="../drawings/vmlDrawing38.vml"/><Relationship Id="rId2"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8.png"/><Relationship Id="rId3" Type="http://schemas.openxmlformats.org/officeDocument/2006/relationships/image" Target="../media/image53.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oleObject" Target="../embeddings/oleObject63.bin"/><Relationship Id="rId4" Type="http://schemas.openxmlformats.org/officeDocument/2006/relationships/image" Target="../media/image6.wmf"/><Relationship Id="rId5" Type="http://schemas.openxmlformats.org/officeDocument/2006/relationships/image" Target="../media/image60.png"/><Relationship Id="rId1" Type="http://schemas.openxmlformats.org/officeDocument/2006/relationships/vmlDrawing" Target="../drawings/vmlDrawing39.vml"/><Relationship Id="rId2"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1.png"/><Relationship Id="rId3" Type="http://schemas.openxmlformats.org/officeDocument/2006/relationships/image" Target="../media/image54.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oleObject" Target="../embeddings/oleObject64.bin"/><Relationship Id="rId4" Type="http://schemas.openxmlformats.org/officeDocument/2006/relationships/image" Target="../media/image55.wmf"/><Relationship Id="rId5" Type="http://schemas.openxmlformats.org/officeDocument/2006/relationships/oleObject" Target="../embeddings/oleObject65.bin"/><Relationship Id="rId6" Type="http://schemas.openxmlformats.org/officeDocument/2006/relationships/image" Target="../media/image56.wmf"/><Relationship Id="rId7" Type="http://schemas.openxmlformats.org/officeDocument/2006/relationships/image" Target="../media/image59.png"/><Relationship Id="rId1" Type="http://schemas.openxmlformats.org/officeDocument/2006/relationships/vmlDrawing" Target="../drawings/vmlDrawing40.vml"/><Relationship Id="rId2"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oleObject" Target="../embeddings/oleObject66.bin"/><Relationship Id="rId4" Type="http://schemas.openxmlformats.org/officeDocument/2006/relationships/image" Target="../media/image60.wmf"/><Relationship Id="rId1" Type="http://schemas.openxmlformats.org/officeDocument/2006/relationships/vmlDrawing" Target="../drawings/vmlDrawing41.vml"/><Relationship Id="rId2"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oleObject" Target="../embeddings/oleObject67.bin"/><Relationship Id="rId4" Type="http://schemas.openxmlformats.org/officeDocument/2006/relationships/image" Target="../media/image61.wmf"/><Relationship Id="rId5" Type="http://schemas.openxmlformats.org/officeDocument/2006/relationships/oleObject" Target="../embeddings/oleObject68.bin"/><Relationship Id="rId6" Type="http://schemas.openxmlformats.org/officeDocument/2006/relationships/oleObject" Target="../embeddings/oleObject69.bin"/><Relationship Id="rId7" Type="http://schemas.openxmlformats.org/officeDocument/2006/relationships/oleObject" Target="../embeddings/oleObject70.bin"/><Relationship Id="rId1" Type="http://schemas.openxmlformats.org/officeDocument/2006/relationships/vmlDrawing" Target="../drawings/vmlDrawing42.vml"/><Relationship Id="rId2"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oleObject" Target="../embeddings/oleObject71.bin"/><Relationship Id="rId4" Type="http://schemas.openxmlformats.org/officeDocument/2006/relationships/image" Target="../media/image61.wmf"/><Relationship Id="rId5" Type="http://schemas.openxmlformats.org/officeDocument/2006/relationships/oleObject" Target="../embeddings/oleObject72.bin"/><Relationship Id="rId6" Type="http://schemas.openxmlformats.org/officeDocument/2006/relationships/oleObject" Target="../embeddings/oleObject73.bin"/><Relationship Id="rId1" Type="http://schemas.openxmlformats.org/officeDocument/2006/relationships/vmlDrawing" Target="../drawings/vmlDrawing43.vml"/><Relationship Id="rId2"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2.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oleObject" Target="../embeddings/oleObject74.bin"/><Relationship Id="rId4" Type="http://schemas.openxmlformats.org/officeDocument/2006/relationships/image" Target="../media/image63.wmf"/><Relationship Id="rId1" Type="http://schemas.openxmlformats.org/officeDocument/2006/relationships/vmlDrawing" Target="../drawings/vmlDrawing44.vml"/><Relationship Id="rId2"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oleObject" Target="../embeddings/oleObject75.bin"/><Relationship Id="rId4" Type="http://schemas.openxmlformats.org/officeDocument/2006/relationships/image" Target="../media/image61.wmf"/><Relationship Id="rId5" Type="http://schemas.openxmlformats.org/officeDocument/2006/relationships/image" Target="../media/image64.png"/><Relationship Id="rId1" Type="http://schemas.openxmlformats.org/officeDocument/2006/relationships/vmlDrawing" Target="../drawings/vmlDrawing45.vml"/><Relationship Id="rId2"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oleObject" Target="../embeddings/oleObject76.bin"/><Relationship Id="rId4" Type="http://schemas.openxmlformats.org/officeDocument/2006/relationships/image" Target="../media/image61.wmf"/><Relationship Id="rId5" Type="http://schemas.openxmlformats.org/officeDocument/2006/relationships/image" Target="../media/image65.png"/><Relationship Id="rId1" Type="http://schemas.openxmlformats.org/officeDocument/2006/relationships/vmlDrawing" Target="../drawings/vmlDrawing46.vml"/><Relationship Id="rId2"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oleObject" Target="../embeddings/oleObject77.bin"/><Relationship Id="rId4" Type="http://schemas.openxmlformats.org/officeDocument/2006/relationships/image" Target="../media/image61.wmf"/><Relationship Id="rId5" Type="http://schemas.openxmlformats.org/officeDocument/2006/relationships/image" Target="../media/image66.png"/><Relationship Id="rId1" Type="http://schemas.openxmlformats.org/officeDocument/2006/relationships/vmlDrawing" Target="../drawings/vmlDrawing47.vml"/><Relationship Id="rId2"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oleObject" Target="../embeddings/oleObject78.bin"/><Relationship Id="rId4" Type="http://schemas.openxmlformats.org/officeDocument/2006/relationships/image" Target="../media/image61.wmf"/><Relationship Id="rId5" Type="http://schemas.openxmlformats.org/officeDocument/2006/relationships/oleObject" Target="../embeddings/oleObject79.bin"/><Relationship Id="rId6" Type="http://schemas.openxmlformats.org/officeDocument/2006/relationships/image" Target="../media/image67.wmf"/><Relationship Id="rId7" Type="http://schemas.openxmlformats.org/officeDocument/2006/relationships/oleObject" Target="../embeddings/oleObject80.bin"/><Relationship Id="rId8" Type="http://schemas.openxmlformats.org/officeDocument/2006/relationships/image" Target="../media/image68.wmf"/><Relationship Id="rId9" Type="http://schemas.openxmlformats.org/officeDocument/2006/relationships/oleObject" Target="../embeddings/oleObject81.bin"/><Relationship Id="rId1" Type="http://schemas.openxmlformats.org/officeDocument/2006/relationships/vmlDrawing" Target="../drawings/vmlDrawing48.vml"/><Relationship Id="rId2"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oleObject" Target="../embeddings/oleObject82.bin"/><Relationship Id="rId4" Type="http://schemas.openxmlformats.org/officeDocument/2006/relationships/image" Target="../media/image61.wmf"/><Relationship Id="rId5" Type="http://schemas.openxmlformats.org/officeDocument/2006/relationships/oleObject" Target="../embeddings/oleObject83.bin"/><Relationship Id="rId6" Type="http://schemas.openxmlformats.org/officeDocument/2006/relationships/image" Target="../media/image69.wmf"/><Relationship Id="rId7" Type="http://schemas.openxmlformats.org/officeDocument/2006/relationships/oleObject" Target="../embeddings/oleObject84.bin"/><Relationship Id="rId8" Type="http://schemas.openxmlformats.org/officeDocument/2006/relationships/image" Target="../media/image70.wmf"/><Relationship Id="rId9" Type="http://schemas.openxmlformats.org/officeDocument/2006/relationships/oleObject" Target="../embeddings/oleObject85.bin"/><Relationship Id="rId1" Type="http://schemas.openxmlformats.org/officeDocument/2006/relationships/vmlDrawing" Target="../drawings/vmlDrawing49.vml"/><Relationship Id="rId2"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oleObject" Target="../embeddings/oleObject86.bin"/><Relationship Id="rId4" Type="http://schemas.openxmlformats.org/officeDocument/2006/relationships/image" Target="../media/image61.wmf"/><Relationship Id="rId5" Type="http://schemas.openxmlformats.org/officeDocument/2006/relationships/oleObject" Target="../embeddings/oleObject87.bin"/><Relationship Id="rId6" Type="http://schemas.openxmlformats.org/officeDocument/2006/relationships/image" Target="../media/image70.wmf"/><Relationship Id="rId7" Type="http://schemas.openxmlformats.org/officeDocument/2006/relationships/oleObject" Target="../embeddings/oleObject88.bin"/><Relationship Id="rId8" Type="http://schemas.openxmlformats.org/officeDocument/2006/relationships/image" Target="../media/image71.wmf"/><Relationship Id="rId9" Type="http://schemas.openxmlformats.org/officeDocument/2006/relationships/oleObject" Target="../embeddings/oleObject89.bin"/><Relationship Id="rId10" Type="http://schemas.openxmlformats.org/officeDocument/2006/relationships/image" Target="../media/image23.wmf"/><Relationship Id="rId1" Type="http://schemas.openxmlformats.org/officeDocument/2006/relationships/vmlDrawing" Target="../drawings/vmlDrawing50.vml"/><Relationship Id="rId2"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oleObject" Target="../embeddings/oleObject90.bin"/><Relationship Id="rId4" Type="http://schemas.openxmlformats.org/officeDocument/2006/relationships/image" Target="../media/image61.wmf"/><Relationship Id="rId5" Type="http://schemas.openxmlformats.org/officeDocument/2006/relationships/oleObject" Target="../embeddings/oleObject91.bin"/><Relationship Id="rId1" Type="http://schemas.openxmlformats.org/officeDocument/2006/relationships/vmlDrawing" Target="../drawings/vmlDrawing51.vml"/><Relationship Id="rId2"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oleObject" Target="../embeddings/oleObject92.bin"/><Relationship Id="rId4" Type="http://schemas.openxmlformats.org/officeDocument/2006/relationships/image" Target="../media/image61.wmf"/><Relationship Id="rId5" Type="http://schemas.openxmlformats.org/officeDocument/2006/relationships/oleObject" Target="../embeddings/oleObject93.bin"/><Relationship Id="rId1" Type="http://schemas.openxmlformats.org/officeDocument/2006/relationships/vmlDrawing" Target="../drawings/vmlDrawing52.vml"/><Relationship Id="rId2"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8.png"/></Relationships>
</file>

<file path=ppt/slides/_rels/slide86.xml.rels><?xml version="1.0" encoding="UTF-8" standalone="yes"?>
<Relationships xmlns="http://schemas.openxmlformats.org/package/2006/relationships"><Relationship Id="rId3" Type="http://schemas.openxmlformats.org/officeDocument/2006/relationships/oleObject" Target="../embeddings/oleObject94.bin"/><Relationship Id="rId4" Type="http://schemas.openxmlformats.org/officeDocument/2006/relationships/image" Target="../media/image61.wmf"/><Relationship Id="rId1" Type="http://schemas.openxmlformats.org/officeDocument/2006/relationships/vmlDrawing" Target="../drawings/vmlDrawing53.vml"/><Relationship Id="rId2"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2.png"/></Relationships>
</file>

<file path=ppt/slides/_rels/slide88.xml.rels><?xml version="1.0" encoding="UTF-8" standalone="yes"?>
<Relationships xmlns="http://schemas.openxmlformats.org/package/2006/relationships"><Relationship Id="rId3" Type="http://schemas.openxmlformats.org/officeDocument/2006/relationships/oleObject" Target="../embeddings/oleObject95.bin"/><Relationship Id="rId4" Type="http://schemas.openxmlformats.org/officeDocument/2006/relationships/image" Target="../media/image61.wmf"/><Relationship Id="rId5" Type="http://schemas.openxmlformats.org/officeDocument/2006/relationships/oleObject" Target="../embeddings/oleObject96.bin"/><Relationship Id="rId6" Type="http://schemas.openxmlformats.org/officeDocument/2006/relationships/oleObject" Target="../embeddings/oleObject97.bin"/><Relationship Id="rId7" Type="http://schemas.openxmlformats.org/officeDocument/2006/relationships/image" Target="../media/image73.png"/><Relationship Id="rId1" Type="http://schemas.openxmlformats.org/officeDocument/2006/relationships/vmlDrawing" Target="../drawings/vmlDrawing54.vml"/><Relationship Id="rId2" Type="http://schemas.openxmlformats.org/officeDocument/2006/relationships/slideLayout" Target="../slideLayouts/slideLayout13.xml"/></Relationships>
</file>

<file path=ppt/slides/_rels/slide89.xml.rels><?xml version="1.0" encoding="UTF-8" standalone="yes"?>
<Relationships xmlns="http://schemas.openxmlformats.org/package/2006/relationships"><Relationship Id="rId3" Type="http://schemas.openxmlformats.org/officeDocument/2006/relationships/oleObject" Target="../embeddings/oleObject98.bin"/><Relationship Id="rId4" Type="http://schemas.openxmlformats.org/officeDocument/2006/relationships/image" Target="../media/image61.wmf"/><Relationship Id="rId1" Type="http://schemas.openxmlformats.org/officeDocument/2006/relationships/vmlDrawing" Target="../drawings/vmlDrawing55.vml"/><Relationship Id="rId2" Type="http://schemas.openxmlformats.org/officeDocument/2006/relationships/slideLayout" Target="../slideLayouts/slideLayout13.xml"/></Relationships>
</file>

<file path=ppt/slides/_rels/slide90.xml.rels><?xml version="1.0" encoding="UTF-8" standalone="yes"?>
<Relationships xmlns="http://schemas.openxmlformats.org/package/2006/relationships"><Relationship Id="rId3" Type="http://schemas.openxmlformats.org/officeDocument/2006/relationships/oleObject" Target="../embeddings/oleObject99.bin"/><Relationship Id="rId4" Type="http://schemas.openxmlformats.org/officeDocument/2006/relationships/image" Target="../media/image61.wmf"/><Relationship Id="rId5" Type="http://schemas.openxmlformats.org/officeDocument/2006/relationships/image" Target="../media/image81.png"/><Relationship Id="rId1" Type="http://schemas.openxmlformats.org/officeDocument/2006/relationships/vmlDrawing" Target="../drawings/vmlDrawing56.vml"/><Relationship Id="rId2"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2.png"/><Relationship Id="rId3" Type="http://schemas.openxmlformats.org/officeDocument/2006/relationships/image" Target="../media/image74.png"/></Relationships>
</file>

<file path=ppt/slides/_rels/slide92.xml.rels><?xml version="1.0" encoding="UTF-8" standalone="yes"?>
<Relationships xmlns="http://schemas.openxmlformats.org/package/2006/relationships"><Relationship Id="rId3" Type="http://schemas.openxmlformats.org/officeDocument/2006/relationships/oleObject" Target="../embeddings/oleObject100.bin"/><Relationship Id="rId4" Type="http://schemas.openxmlformats.org/officeDocument/2006/relationships/image" Target="../media/image75.wmf"/><Relationship Id="rId5" Type="http://schemas.openxmlformats.org/officeDocument/2006/relationships/oleObject" Target="../embeddings/oleObject101.bin"/><Relationship Id="rId6" Type="http://schemas.openxmlformats.org/officeDocument/2006/relationships/image" Target="../media/image61.wmf"/><Relationship Id="rId7" Type="http://schemas.openxmlformats.org/officeDocument/2006/relationships/oleObject" Target="../embeddings/oleObject102.bin"/><Relationship Id="rId1" Type="http://schemas.openxmlformats.org/officeDocument/2006/relationships/vmlDrawing" Target="../drawings/vmlDrawing57.vml"/><Relationship Id="rId2" Type="http://schemas.openxmlformats.org/officeDocument/2006/relationships/slideLayout" Target="../slideLayouts/slideLayout12.xml"/></Relationships>
</file>

<file path=ppt/slides/_rels/slide93.xml.rels><?xml version="1.0" encoding="UTF-8" standalone="yes"?>
<Relationships xmlns="http://schemas.openxmlformats.org/package/2006/relationships"><Relationship Id="rId3" Type="http://schemas.openxmlformats.org/officeDocument/2006/relationships/oleObject" Target="../embeddings/oleObject103.bin"/><Relationship Id="rId4" Type="http://schemas.openxmlformats.org/officeDocument/2006/relationships/image" Target="../media/image61.wmf"/><Relationship Id="rId5" Type="http://schemas.openxmlformats.org/officeDocument/2006/relationships/oleObject" Target="../embeddings/oleObject104.bin"/><Relationship Id="rId6" Type="http://schemas.openxmlformats.org/officeDocument/2006/relationships/oleObject" Target="../embeddings/oleObject105.bin"/><Relationship Id="rId7" Type="http://schemas.openxmlformats.org/officeDocument/2006/relationships/image" Target="../media/image85.png"/><Relationship Id="rId8" Type="http://schemas.openxmlformats.org/officeDocument/2006/relationships/image" Target="../media/image86.png"/><Relationship Id="rId1" Type="http://schemas.openxmlformats.org/officeDocument/2006/relationships/vmlDrawing" Target="../drawings/vmlDrawing58.vml"/><Relationship Id="rId2" Type="http://schemas.openxmlformats.org/officeDocument/2006/relationships/slideLayout" Target="../slideLayouts/slideLayout13.xml"/></Relationships>
</file>

<file path=ppt/slides/_rels/slide94.xml.rels><?xml version="1.0" encoding="UTF-8" standalone="yes"?>
<Relationships xmlns="http://schemas.openxmlformats.org/package/2006/relationships"><Relationship Id="rId3" Type="http://schemas.openxmlformats.org/officeDocument/2006/relationships/oleObject" Target="../embeddings/oleObject106.bin"/><Relationship Id="rId4" Type="http://schemas.openxmlformats.org/officeDocument/2006/relationships/image" Target="../media/image61.wmf"/><Relationship Id="rId5" Type="http://schemas.openxmlformats.org/officeDocument/2006/relationships/oleObject" Target="../embeddings/oleObject107.bin"/><Relationship Id="rId1" Type="http://schemas.openxmlformats.org/officeDocument/2006/relationships/vmlDrawing" Target="../drawings/vmlDrawing59.vml"/><Relationship Id="rId2" Type="http://schemas.openxmlformats.org/officeDocument/2006/relationships/slideLayout" Target="../slideLayouts/slideLayout1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2.png"/><Relationship Id="rId3" Type="http://schemas.openxmlformats.org/officeDocument/2006/relationships/image" Target="../media/image76.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7.xml.rels><?xml version="1.0" encoding="UTF-8" standalone="yes"?>
<Relationships xmlns="http://schemas.openxmlformats.org/package/2006/relationships"><Relationship Id="rId3" Type="http://schemas.openxmlformats.org/officeDocument/2006/relationships/oleObject" Target="../embeddings/oleObject108.bin"/><Relationship Id="rId4" Type="http://schemas.openxmlformats.org/officeDocument/2006/relationships/image" Target="../media/image77.wmf"/><Relationship Id="rId1" Type="http://schemas.openxmlformats.org/officeDocument/2006/relationships/vmlDrawing" Target="../drawings/vmlDrawing60.vml"/><Relationship Id="rId2"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oleObject" Target="../embeddings/oleObject109.bin"/><Relationship Id="rId4" Type="http://schemas.openxmlformats.org/officeDocument/2006/relationships/image" Target="../media/image61.wmf"/><Relationship Id="rId5" Type="http://schemas.openxmlformats.org/officeDocument/2006/relationships/oleObject" Target="../embeddings/oleObject110.bin"/><Relationship Id="rId6" Type="http://schemas.openxmlformats.org/officeDocument/2006/relationships/image" Target="../media/image78.wmf"/><Relationship Id="rId1" Type="http://schemas.openxmlformats.org/officeDocument/2006/relationships/vmlDrawing" Target="../drawings/vmlDrawing61.vml"/><Relationship Id="rId2" Type="http://schemas.openxmlformats.org/officeDocument/2006/relationships/slideLayout" Target="../slideLayouts/slideLayout13.xml"/></Relationships>
</file>

<file path=ppt/slides/_rels/slide99.xml.rels><?xml version="1.0" encoding="UTF-8" standalone="yes"?>
<Relationships xmlns="http://schemas.openxmlformats.org/package/2006/relationships"><Relationship Id="rId3" Type="http://schemas.openxmlformats.org/officeDocument/2006/relationships/oleObject" Target="../embeddings/oleObject111.bin"/><Relationship Id="rId4" Type="http://schemas.openxmlformats.org/officeDocument/2006/relationships/image" Target="../media/image79.wmf"/><Relationship Id="rId5" Type="http://schemas.openxmlformats.org/officeDocument/2006/relationships/image" Target="../media/image80.png"/><Relationship Id="rId1" Type="http://schemas.openxmlformats.org/officeDocument/2006/relationships/vmlDrawing" Target="../drawings/vmlDrawing62.vml"/><Relationship Id="rId2"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ctrTitle"/>
          </p:nvPr>
        </p:nvSpPr>
        <p:spPr/>
        <p:txBody>
          <a:bodyPr/>
          <a:lstStyle/>
          <a:p>
            <a:pPr eaLnBrk="1" hangingPunct="1"/>
            <a:r>
              <a:rPr lang="en-US" smtClean="0"/>
              <a:t>CHAPTER 7</a:t>
            </a:r>
          </a:p>
        </p:txBody>
      </p:sp>
      <p:sp>
        <p:nvSpPr>
          <p:cNvPr id="69635" name="Rectangle 3"/>
          <p:cNvSpPr>
            <a:spLocks noGrp="1" noChangeArrowheads="1"/>
          </p:cNvSpPr>
          <p:nvPr>
            <p:ph type="subTitle" idx="1"/>
          </p:nvPr>
        </p:nvSpPr>
        <p:spPr/>
        <p:txBody>
          <a:bodyPr/>
          <a:lstStyle/>
          <a:p>
            <a:pPr eaLnBrk="1" hangingPunct="1"/>
            <a:r>
              <a:rPr lang="en-US" sz="3600" b="1" smtClean="0"/>
              <a:t>SAMPLING DISTRIBUTIONS</a:t>
            </a:r>
          </a:p>
        </p:txBody>
      </p:sp>
      <p:sp>
        <p:nvSpPr>
          <p:cNvPr id="5"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 I Statistics</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28800" y="1600200"/>
            <a:ext cx="4868275" cy="5091463"/>
          </a:xfrm>
          <a:prstGeom prst="rect">
            <a:avLst/>
          </a:prstGeom>
        </p:spPr>
      </p:pic>
    </p:spTree>
    <p:extLst>
      <p:ext uri="{BB962C8B-B14F-4D97-AF65-F5344CB8AC3E}">
        <p14:creationId xmlns:p14="http://schemas.microsoft.com/office/powerpoint/2010/main" val="20089286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p:txBody>
          <a:bodyPr/>
          <a:lstStyle/>
          <a:p>
            <a:pPr eaLnBrk="1" hangingPunct="1"/>
            <a:r>
              <a:rPr lang="en-US" sz="2800" dirty="0" smtClean="0"/>
              <a:t>Opening Example</a:t>
            </a:r>
          </a:p>
        </p:txBody>
      </p:sp>
      <p:sp>
        <p:nvSpPr>
          <p:cNvPr id="6" name="Text Box 4"/>
          <p:cNvSpPr txBox="1">
            <a:spLocks noChangeArrowheads="1"/>
          </p:cNvSpPr>
          <p:nvPr/>
        </p:nvSpPr>
        <p:spPr bwMode="auto">
          <a:xfrm>
            <a:off x="4049486" y="6222547"/>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1600200"/>
            <a:ext cx="8831036" cy="118239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xfrm>
            <a:off x="457200" y="304800"/>
            <a:ext cx="8229600" cy="1139825"/>
          </a:xfrm>
        </p:spPr>
        <p:txBody>
          <a:bodyPr/>
          <a:lstStyle/>
          <a:p>
            <a:pPr eaLnBrk="1" hangingPunct="1"/>
            <a:r>
              <a:rPr lang="en-US" sz="3200" dirty="0" smtClean="0"/>
              <a:t>SAMPLING DISTRIBUTION, SAMPLING ERROR, AND NONSAMPLING ERRORS</a:t>
            </a:r>
          </a:p>
        </p:txBody>
      </p:sp>
      <p:sp>
        <p:nvSpPr>
          <p:cNvPr id="71683" name="Rectangle 3"/>
          <p:cNvSpPr>
            <a:spLocks noGrp="1" noChangeArrowheads="1"/>
          </p:cNvSpPr>
          <p:nvPr>
            <p:ph type="body" idx="1"/>
          </p:nvPr>
        </p:nvSpPr>
        <p:spPr>
          <a:xfrm>
            <a:off x="685800" y="1600200"/>
            <a:ext cx="7772400" cy="2747963"/>
          </a:xfrm>
        </p:spPr>
        <p:txBody>
          <a:bodyPr/>
          <a:lstStyle/>
          <a:p>
            <a:pPr eaLnBrk="1" hangingPunct="1"/>
            <a:r>
              <a:rPr lang="en-US" sz="2000" dirty="0" smtClean="0"/>
              <a:t>Population Distribution</a:t>
            </a:r>
          </a:p>
          <a:p>
            <a:pPr eaLnBrk="1" hangingPunct="1"/>
            <a:r>
              <a:rPr lang="en-US" sz="2000" dirty="0" smtClean="0"/>
              <a:t>Sampling Distribution</a:t>
            </a:r>
          </a:p>
        </p:txBody>
      </p:sp>
      <p:sp>
        <p:nvSpPr>
          <p:cNvPr id="7" name="Text Box 4"/>
          <p:cNvSpPr txBox="1">
            <a:spLocks noChangeArrowheads="1"/>
          </p:cNvSpPr>
          <p:nvPr/>
        </p:nvSpPr>
        <p:spPr bwMode="auto">
          <a:xfrm>
            <a:off x="4049486" y="6222547"/>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81000"/>
            <a:ext cx="9144000" cy="102019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txBody>
          <a:bodyPr/>
          <a:lstStyle/>
          <a:p>
            <a:pPr eaLnBrk="1" hangingPunct="1"/>
            <a:r>
              <a:rPr lang="en-US" sz="2800" dirty="0" smtClean="0"/>
              <a:t>Population Distribution</a:t>
            </a:r>
          </a:p>
        </p:txBody>
      </p:sp>
      <p:sp>
        <p:nvSpPr>
          <p:cNvPr id="72707" name="Rectangle 3"/>
          <p:cNvSpPr>
            <a:spLocks noGrp="1" noChangeArrowheads="1"/>
          </p:cNvSpPr>
          <p:nvPr>
            <p:ph type="body" idx="1"/>
          </p:nvPr>
        </p:nvSpPr>
        <p:spPr>
          <a:xfrm>
            <a:off x="76200" y="1524000"/>
            <a:ext cx="8421688" cy="4114800"/>
          </a:xfrm>
        </p:spPr>
        <p:txBody>
          <a:bodyPr/>
          <a:lstStyle/>
          <a:p>
            <a:pPr eaLnBrk="1" hangingPunct="1">
              <a:buFont typeface="Tahoma" charset="0"/>
              <a:buChar char=" "/>
            </a:pPr>
            <a:r>
              <a:rPr lang="en-US" sz="2000" dirty="0" smtClean="0">
                <a:solidFill>
                  <a:schemeClr val="folHlink"/>
                </a:solidFill>
              </a:rPr>
              <a:t>Definition</a:t>
            </a:r>
          </a:p>
          <a:p>
            <a:pPr eaLnBrk="1" hangingPunct="1">
              <a:buFont typeface="Tahoma" charset="0"/>
              <a:buChar char=" "/>
            </a:pPr>
            <a:r>
              <a:rPr lang="en-GB" sz="2000" dirty="0" smtClean="0"/>
              <a:t>The </a:t>
            </a:r>
            <a:r>
              <a:rPr lang="en-GB" sz="2000" b="1" i="1" u="sng" dirty="0" smtClean="0">
                <a:solidFill>
                  <a:schemeClr val="hlink"/>
                </a:solidFill>
              </a:rPr>
              <a:t>population distribution</a:t>
            </a:r>
            <a:r>
              <a:rPr lang="en-GB" sz="2000" dirty="0" smtClean="0"/>
              <a:t> is the probability distribution of the population data.</a:t>
            </a:r>
            <a:endParaRPr lang="en-US" sz="2000" dirty="0" smtClean="0"/>
          </a:p>
        </p:txBody>
      </p:sp>
      <p:sp>
        <p:nvSpPr>
          <p:cNvPr id="6" name="Text Box 4"/>
          <p:cNvSpPr txBox="1">
            <a:spLocks noChangeArrowheads="1"/>
          </p:cNvSpPr>
          <p:nvPr/>
        </p:nvSpPr>
        <p:spPr bwMode="auto">
          <a:xfrm>
            <a:off x="4049486" y="6222547"/>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p:txBody>
          <a:bodyPr/>
          <a:lstStyle/>
          <a:p>
            <a:pPr eaLnBrk="1" hangingPunct="1"/>
            <a:r>
              <a:rPr lang="en-US" sz="2800" dirty="0" smtClean="0"/>
              <a:t>Population Distribution</a:t>
            </a:r>
          </a:p>
        </p:txBody>
      </p:sp>
      <p:sp>
        <p:nvSpPr>
          <p:cNvPr id="73731" name="Rectangle 3"/>
          <p:cNvSpPr>
            <a:spLocks noGrp="1" noChangeArrowheads="1"/>
          </p:cNvSpPr>
          <p:nvPr>
            <p:ph type="body" idx="1"/>
          </p:nvPr>
        </p:nvSpPr>
        <p:spPr>
          <a:xfrm>
            <a:off x="493712" y="1524000"/>
            <a:ext cx="7964488" cy="4114800"/>
          </a:xfrm>
        </p:spPr>
        <p:txBody>
          <a:bodyPr/>
          <a:lstStyle/>
          <a:p>
            <a:pPr marL="0" indent="0" eaLnBrk="1" hangingPunct="1">
              <a:buNone/>
            </a:pPr>
            <a:r>
              <a:rPr lang="en-US" sz="2000" dirty="0" smtClean="0"/>
              <a:t>Suppose there are only five students in an advanced statistics class and the midterm scores of these five students are</a:t>
            </a:r>
          </a:p>
          <a:p>
            <a:pPr lvl="1" eaLnBrk="1" hangingPunct="1">
              <a:buFont typeface="Wingdings" charset="2"/>
              <a:buNone/>
            </a:pPr>
            <a:r>
              <a:rPr lang="en-US" sz="2000" dirty="0" smtClean="0"/>
              <a:t>          70        78        80        80        95</a:t>
            </a:r>
          </a:p>
          <a:p>
            <a:pPr marL="0" indent="0" eaLnBrk="1" hangingPunct="1">
              <a:buNone/>
            </a:pPr>
            <a:r>
              <a:rPr lang="en-US" sz="2000" dirty="0" smtClean="0"/>
              <a:t>Let </a:t>
            </a:r>
            <a:r>
              <a:rPr lang="en-US" sz="2000" i="1" dirty="0" smtClean="0">
                <a:latin typeface="Times New Roman" charset="0"/>
              </a:rPr>
              <a:t>x</a:t>
            </a:r>
            <a:r>
              <a:rPr lang="en-US" sz="2000" dirty="0" smtClean="0"/>
              <a:t> denote the score of a student</a:t>
            </a:r>
          </a:p>
        </p:txBody>
      </p:sp>
      <p:sp>
        <p:nvSpPr>
          <p:cNvPr id="6" name="Text Box 4"/>
          <p:cNvSpPr txBox="1">
            <a:spLocks noChangeArrowheads="1"/>
          </p:cNvSpPr>
          <p:nvPr/>
        </p:nvSpPr>
        <p:spPr bwMode="auto">
          <a:xfrm>
            <a:off x="4049486" y="6222547"/>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pPr eaLnBrk="1" hangingPunct="1"/>
            <a:r>
              <a:rPr lang="en-US" sz="2800" dirty="0" smtClean="0">
                <a:solidFill>
                  <a:schemeClr val="accent2"/>
                </a:solidFill>
              </a:rPr>
              <a:t>Table 7.1 Population Frequency and Relative Frequency Distributions</a:t>
            </a:r>
          </a:p>
        </p:txBody>
      </p:sp>
      <p:sp>
        <p:nvSpPr>
          <p:cNvPr id="6" name="Text Box 4"/>
          <p:cNvSpPr txBox="1">
            <a:spLocks noChangeArrowheads="1"/>
          </p:cNvSpPr>
          <p:nvPr/>
        </p:nvSpPr>
        <p:spPr bwMode="auto">
          <a:xfrm>
            <a:off x="4049486" y="6222547"/>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09443" y="1790471"/>
            <a:ext cx="4925113" cy="327705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p:txBody>
          <a:bodyPr/>
          <a:lstStyle/>
          <a:p>
            <a:pPr eaLnBrk="1" hangingPunct="1"/>
            <a:r>
              <a:rPr lang="en-US" sz="2800" dirty="0" smtClean="0">
                <a:solidFill>
                  <a:schemeClr val="accent2"/>
                </a:solidFill>
              </a:rPr>
              <a:t>Table 7.2 Population Probability Distribution</a:t>
            </a:r>
          </a:p>
        </p:txBody>
      </p:sp>
      <p:sp>
        <p:nvSpPr>
          <p:cNvPr id="6" name="Text Box 4"/>
          <p:cNvSpPr txBox="1">
            <a:spLocks noChangeArrowheads="1"/>
          </p:cNvSpPr>
          <p:nvPr/>
        </p:nvSpPr>
        <p:spPr bwMode="auto">
          <a:xfrm>
            <a:off x="4049486" y="6222547"/>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38261" y="1976234"/>
            <a:ext cx="3464472" cy="328156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9" name="Rectangle 2"/>
          <p:cNvSpPr>
            <a:spLocks noGrp="1" noChangeArrowheads="1"/>
          </p:cNvSpPr>
          <p:nvPr>
            <p:ph type="title"/>
          </p:nvPr>
        </p:nvSpPr>
        <p:spPr/>
        <p:txBody>
          <a:bodyPr/>
          <a:lstStyle/>
          <a:p>
            <a:pPr eaLnBrk="1" hangingPunct="1"/>
            <a:r>
              <a:rPr lang="en-US" sz="2800" dirty="0" smtClean="0"/>
              <a:t>Sampling Distribution </a:t>
            </a:r>
          </a:p>
        </p:txBody>
      </p:sp>
      <p:sp>
        <p:nvSpPr>
          <p:cNvPr id="1030" name="Rectangle 3"/>
          <p:cNvSpPr>
            <a:spLocks noGrp="1" noChangeArrowheads="1"/>
          </p:cNvSpPr>
          <p:nvPr>
            <p:ph type="body" idx="1"/>
          </p:nvPr>
        </p:nvSpPr>
        <p:spPr>
          <a:xfrm>
            <a:off x="112712" y="1600200"/>
            <a:ext cx="8650288" cy="4114800"/>
          </a:xfrm>
        </p:spPr>
        <p:txBody>
          <a:bodyPr/>
          <a:lstStyle/>
          <a:p>
            <a:pPr eaLnBrk="1" hangingPunct="1">
              <a:lnSpc>
                <a:spcPct val="90000"/>
              </a:lnSpc>
              <a:buFont typeface="Tahoma" charset="0"/>
              <a:buChar char=" "/>
            </a:pPr>
            <a:r>
              <a:rPr lang="en-US" sz="2000" dirty="0" smtClean="0">
                <a:solidFill>
                  <a:schemeClr val="folHlink"/>
                </a:solidFill>
              </a:rPr>
              <a:t>Definition</a:t>
            </a:r>
          </a:p>
          <a:p>
            <a:pPr eaLnBrk="1" hangingPunct="1">
              <a:lnSpc>
                <a:spcPct val="90000"/>
              </a:lnSpc>
              <a:buFont typeface="Tahoma" charset="0"/>
              <a:buChar char=" "/>
            </a:pPr>
            <a:r>
              <a:rPr lang="en-GB" sz="2000" dirty="0" smtClean="0"/>
              <a:t>The probability distribution of      is called its sampling </a:t>
            </a:r>
          </a:p>
          <a:p>
            <a:pPr eaLnBrk="1" hangingPunct="1">
              <a:lnSpc>
                <a:spcPct val="90000"/>
              </a:lnSpc>
              <a:buFont typeface="Tahoma" charset="0"/>
              <a:buChar char=" "/>
            </a:pPr>
            <a:r>
              <a:rPr lang="en-GB" sz="2000" dirty="0" smtClean="0"/>
              <a:t>distribution. It lists the various values that     can assume </a:t>
            </a:r>
          </a:p>
          <a:p>
            <a:pPr eaLnBrk="1" hangingPunct="1">
              <a:lnSpc>
                <a:spcPct val="90000"/>
              </a:lnSpc>
              <a:buFont typeface="Tahoma" charset="0"/>
              <a:buChar char=" "/>
            </a:pPr>
            <a:r>
              <a:rPr lang="en-GB" sz="2000" dirty="0" smtClean="0"/>
              <a:t>and the probability of each value of     .</a:t>
            </a:r>
          </a:p>
          <a:p>
            <a:pPr eaLnBrk="1" hangingPunct="1">
              <a:lnSpc>
                <a:spcPct val="90000"/>
              </a:lnSpc>
              <a:buFont typeface="Tahoma" charset="0"/>
              <a:buChar char=" "/>
            </a:pPr>
            <a:endParaRPr lang="en-GB" sz="2000" dirty="0" smtClean="0"/>
          </a:p>
          <a:p>
            <a:pPr eaLnBrk="1" hangingPunct="1">
              <a:lnSpc>
                <a:spcPct val="90000"/>
              </a:lnSpc>
              <a:buFont typeface="Tahoma" charset="0"/>
              <a:buChar char=" "/>
            </a:pPr>
            <a:r>
              <a:rPr lang="en-GB" sz="2000" dirty="0" smtClean="0"/>
              <a:t>In general, the probability distribution of a sample statistic is </a:t>
            </a:r>
          </a:p>
          <a:p>
            <a:pPr eaLnBrk="1" hangingPunct="1">
              <a:lnSpc>
                <a:spcPct val="90000"/>
              </a:lnSpc>
              <a:buFont typeface="Tahoma" charset="0"/>
              <a:buChar char=" "/>
            </a:pPr>
            <a:r>
              <a:rPr lang="en-GB" sz="2000" dirty="0" smtClean="0"/>
              <a:t>called its </a:t>
            </a:r>
            <a:r>
              <a:rPr lang="en-GB" sz="2000" b="1" i="1" u="sng" dirty="0" smtClean="0">
                <a:solidFill>
                  <a:schemeClr val="hlink"/>
                </a:solidFill>
              </a:rPr>
              <a:t>sampling distribution</a:t>
            </a:r>
            <a:r>
              <a:rPr lang="en-GB" sz="2000" dirty="0" smtClean="0"/>
              <a:t>.</a:t>
            </a:r>
            <a:endParaRPr lang="en-US" sz="2000" dirty="0" smtClean="0"/>
          </a:p>
        </p:txBody>
      </p:sp>
      <p:graphicFrame>
        <p:nvGraphicFramePr>
          <p:cNvPr id="1028" name="Object 4"/>
          <p:cNvGraphicFramePr>
            <a:graphicFrameLocks noChangeAspect="1"/>
          </p:cNvGraphicFramePr>
          <p:nvPr>
            <p:extLst>
              <p:ext uri="{D42A27DB-BD31-4B8C-83A1-F6EECF244321}">
                <p14:modId xmlns:p14="http://schemas.microsoft.com/office/powerpoint/2010/main" val="1919259473"/>
              </p:ext>
            </p:extLst>
          </p:nvPr>
        </p:nvGraphicFramePr>
        <p:xfrm>
          <a:off x="5181600" y="2520045"/>
          <a:ext cx="382663" cy="451755"/>
        </p:xfrm>
        <a:graphic>
          <a:graphicData uri="http://schemas.openxmlformats.org/presentationml/2006/ole">
            <mc:AlternateContent xmlns:mc="http://schemas.openxmlformats.org/markup-compatibility/2006">
              <mc:Choice xmlns:v="urn:schemas-microsoft-com:vml" Requires="v">
                <p:oleObj spid="_x0000_s1111" name="Equation" r:id="rId3" imgW="139680" imgH="164880" progId="Equation.3">
                  <p:embed/>
                </p:oleObj>
              </mc:Choice>
              <mc:Fallback>
                <p:oleObj name="Equation" r:id="rId3" imgW="139680" imgH="164880" progId="Equation.3">
                  <p:embed/>
                  <p:pic>
                    <p:nvPicPr>
                      <p:cNvPr id="0" name="Picture 7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81600" y="2520045"/>
                        <a:ext cx="382663" cy="45175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Text Box 4"/>
          <p:cNvSpPr txBox="1">
            <a:spLocks noChangeArrowheads="1"/>
          </p:cNvSpPr>
          <p:nvPr/>
        </p:nvSpPr>
        <p:spPr bwMode="auto">
          <a:xfrm>
            <a:off x="4049486" y="6222547"/>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graphicFrame>
        <p:nvGraphicFramePr>
          <p:cNvPr id="2" name="Object 1"/>
          <p:cNvGraphicFramePr>
            <a:graphicFrameLocks noChangeAspect="1"/>
          </p:cNvGraphicFramePr>
          <p:nvPr>
            <p:extLst>
              <p:ext uri="{D42A27DB-BD31-4B8C-83A1-F6EECF244321}">
                <p14:modId xmlns:p14="http://schemas.microsoft.com/office/powerpoint/2010/main" val="1845267880"/>
              </p:ext>
            </p:extLst>
          </p:nvPr>
        </p:nvGraphicFramePr>
        <p:xfrm>
          <a:off x="6051986" y="2209800"/>
          <a:ext cx="382588" cy="452437"/>
        </p:xfrm>
        <a:graphic>
          <a:graphicData uri="http://schemas.openxmlformats.org/presentationml/2006/ole">
            <mc:AlternateContent xmlns:mc="http://schemas.openxmlformats.org/markup-compatibility/2006">
              <mc:Choice xmlns:v="urn:schemas-microsoft-com:vml" Requires="v">
                <p:oleObj spid="_x0000_s1112" name="Equation" r:id="rId5" imgW="139680" imgH="164880" progId="Equation.3">
                  <p:embed/>
                </p:oleObj>
              </mc:Choice>
              <mc:Fallback>
                <p:oleObj name="Equation" r:id="rId5" imgW="139680" imgH="164880" progId="Equation.3">
                  <p:embed/>
                  <p:pic>
                    <p:nvPicPr>
                      <p:cNvPr id="0" name="Picture 7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51986" y="2209800"/>
                        <a:ext cx="382588" cy="4524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Object 2"/>
          <p:cNvGraphicFramePr>
            <a:graphicFrameLocks noChangeAspect="1"/>
          </p:cNvGraphicFramePr>
          <p:nvPr>
            <p:extLst>
              <p:ext uri="{D42A27DB-BD31-4B8C-83A1-F6EECF244321}">
                <p14:modId xmlns:p14="http://schemas.microsoft.com/office/powerpoint/2010/main" val="3221903249"/>
              </p:ext>
            </p:extLst>
          </p:nvPr>
        </p:nvGraphicFramePr>
        <p:xfrm>
          <a:off x="4419600" y="1909763"/>
          <a:ext cx="382588" cy="452437"/>
        </p:xfrm>
        <a:graphic>
          <a:graphicData uri="http://schemas.openxmlformats.org/presentationml/2006/ole">
            <mc:AlternateContent xmlns:mc="http://schemas.openxmlformats.org/markup-compatibility/2006">
              <mc:Choice xmlns:v="urn:schemas-microsoft-com:vml" Requires="v">
                <p:oleObj spid="_x0000_s1113" name="Equation" r:id="rId6" imgW="139680" imgH="164880" progId="Equation.3">
                  <p:embed/>
                </p:oleObj>
              </mc:Choice>
              <mc:Fallback>
                <p:oleObj name="Equation" r:id="rId6" imgW="139680" imgH="164880" progId="Equation.3">
                  <p:embed/>
                  <p:pic>
                    <p:nvPicPr>
                      <p:cNvPr id="0" name="Picture 7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19600" y="1909763"/>
                        <a:ext cx="382588" cy="4524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2"/>
          <p:cNvSpPr>
            <a:spLocks noGrp="1" noChangeArrowheads="1"/>
          </p:cNvSpPr>
          <p:nvPr>
            <p:ph type="title"/>
          </p:nvPr>
        </p:nvSpPr>
        <p:spPr/>
        <p:txBody>
          <a:bodyPr/>
          <a:lstStyle/>
          <a:p>
            <a:pPr eaLnBrk="1" hangingPunct="1"/>
            <a:r>
              <a:rPr lang="en-US" sz="2800" dirty="0" smtClean="0"/>
              <a:t>Sampling Distribution</a:t>
            </a:r>
          </a:p>
        </p:txBody>
      </p:sp>
      <p:sp>
        <p:nvSpPr>
          <p:cNvPr id="2052" name="Rectangle 3"/>
          <p:cNvSpPr>
            <a:spLocks noGrp="1" noChangeArrowheads="1"/>
          </p:cNvSpPr>
          <p:nvPr>
            <p:ph type="body" idx="1"/>
          </p:nvPr>
        </p:nvSpPr>
        <p:spPr>
          <a:xfrm>
            <a:off x="457200" y="1524000"/>
            <a:ext cx="8001000" cy="3733800"/>
          </a:xfrm>
        </p:spPr>
        <p:txBody>
          <a:bodyPr/>
          <a:lstStyle/>
          <a:p>
            <a:pPr marL="0" indent="0" eaLnBrk="1" hangingPunct="1">
              <a:buNone/>
            </a:pPr>
            <a:r>
              <a:rPr lang="en-US" sz="2000" dirty="0" smtClean="0"/>
              <a:t>Reconsider the population of midterm scores of five students given in Table 7.1.</a:t>
            </a:r>
          </a:p>
          <a:p>
            <a:pPr marL="0" indent="0" eaLnBrk="1" hangingPunct="1">
              <a:buNone/>
            </a:pPr>
            <a:endParaRPr lang="en-US" sz="2000" dirty="0" smtClean="0"/>
          </a:p>
          <a:p>
            <a:pPr marL="0" indent="0" eaLnBrk="1" hangingPunct="1">
              <a:buNone/>
            </a:pPr>
            <a:r>
              <a:rPr lang="en-US" sz="2000" dirty="0" smtClean="0"/>
              <a:t>Consider all possible samples of three scores each that can be selected, without replacement, from that population. </a:t>
            </a:r>
          </a:p>
          <a:p>
            <a:pPr marL="0" indent="0" eaLnBrk="1" hangingPunct="1">
              <a:buNone/>
            </a:pPr>
            <a:endParaRPr lang="en-US" sz="2000" dirty="0" smtClean="0"/>
          </a:p>
          <a:p>
            <a:pPr marL="0" indent="0" eaLnBrk="1" hangingPunct="1">
              <a:buNone/>
            </a:pPr>
            <a:r>
              <a:rPr lang="en-US" sz="2000" dirty="0" smtClean="0"/>
              <a:t>The total number of possible samples is</a:t>
            </a:r>
          </a:p>
        </p:txBody>
      </p:sp>
      <p:graphicFrame>
        <p:nvGraphicFramePr>
          <p:cNvPr id="2050" name="Object 2"/>
          <p:cNvGraphicFramePr>
            <a:graphicFrameLocks noChangeAspect="1"/>
          </p:cNvGraphicFramePr>
          <p:nvPr>
            <p:extLst>
              <p:ext uri="{D42A27DB-BD31-4B8C-83A1-F6EECF244321}">
                <p14:modId xmlns:p14="http://schemas.microsoft.com/office/powerpoint/2010/main" val="600124267"/>
              </p:ext>
            </p:extLst>
          </p:nvPr>
        </p:nvGraphicFramePr>
        <p:xfrm>
          <a:off x="1905000" y="4191000"/>
          <a:ext cx="4191000" cy="898071"/>
        </p:xfrm>
        <a:graphic>
          <a:graphicData uri="http://schemas.openxmlformats.org/presentationml/2006/ole">
            <mc:AlternateContent xmlns:mc="http://schemas.openxmlformats.org/markup-compatibility/2006">
              <mc:Choice xmlns:v="urn:schemas-microsoft-com:vml" Requires="v">
                <p:oleObj spid="_x0000_s2080" name="Equation" r:id="rId3" imgW="2145960" imgH="419040" progId="Equation.3">
                  <p:embed/>
                </p:oleObj>
              </mc:Choice>
              <mc:Fallback>
                <p:oleObj name="Equation" r:id="rId3" imgW="2145960" imgH="419040" progId="Equation.3">
                  <p:embed/>
                  <p:pic>
                    <p:nvPicPr>
                      <p:cNvPr id="0" name="Picture 2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4191000"/>
                        <a:ext cx="4191000" cy="89807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 Box 4"/>
          <p:cNvSpPr txBox="1">
            <a:spLocks noChangeArrowheads="1"/>
          </p:cNvSpPr>
          <p:nvPr/>
        </p:nvSpPr>
        <p:spPr bwMode="auto">
          <a:xfrm>
            <a:off x="4049486" y="6222547"/>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a:lstStyle/>
          <a:p>
            <a:pPr eaLnBrk="1" hangingPunct="1"/>
            <a:r>
              <a:rPr lang="en-US" sz="2800" dirty="0" smtClean="0"/>
              <a:t>Sampling Distribution</a:t>
            </a:r>
          </a:p>
        </p:txBody>
      </p:sp>
      <p:sp>
        <p:nvSpPr>
          <p:cNvPr id="76803" name="Rectangle 3"/>
          <p:cNvSpPr>
            <a:spLocks noGrp="1" noChangeArrowheads="1"/>
          </p:cNvSpPr>
          <p:nvPr>
            <p:ph type="body" idx="1"/>
          </p:nvPr>
        </p:nvSpPr>
        <p:spPr>
          <a:xfrm>
            <a:off x="457200" y="1524000"/>
            <a:ext cx="8305800" cy="4191000"/>
          </a:xfrm>
        </p:spPr>
        <p:txBody>
          <a:bodyPr/>
          <a:lstStyle/>
          <a:p>
            <a:pPr marL="0" indent="0" eaLnBrk="1" hangingPunct="1">
              <a:buNone/>
            </a:pPr>
            <a:r>
              <a:rPr lang="en-US" sz="2000" dirty="0" smtClean="0"/>
              <a:t>Suppose we assign the letters A, B, C, D, and E to the scores of the five students so that </a:t>
            </a:r>
          </a:p>
          <a:p>
            <a:pPr marL="457200" lvl="1" indent="0" eaLnBrk="1" hangingPunct="1">
              <a:buNone/>
            </a:pPr>
            <a:r>
              <a:rPr lang="en-US" sz="2000" dirty="0" smtClean="0"/>
              <a:t>    A = 70,   B = 78,   C = 80,   D = 80,   E = 95</a:t>
            </a:r>
          </a:p>
          <a:p>
            <a:pPr marL="0" indent="0" eaLnBrk="1" hangingPunct="1">
              <a:buNone/>
            </a:pPr>
            <a:endParaRPr lang="en-US" sz="2000" dirty="0" smtClean="0"/>
          </a:p>
          <a:p>
            <a:pPr marL="0" indent="0" eaLnBrk="1" hangingPunct="1">
              <a:buNone/>
            </a:pPr>
            <a:r>
              <a:rPr lang="en-US" sz="2000" dirty="0" smtClean="0"/>
              <a:t>Then, the 10 possible samples of three scores each are</a:t>
            </a:r>
          </a:p>
          <a:p>
            <a:pPr marL="457200" lvl="1" indent="0" eaLnBrk="1" hangingPunct="1">
              <a:buNone/>
            </a:pPr>
            <a:r>
              <a:rPr lang="en-US" sz="2000" dirty="0" smtClean="0"/>
              <a:t>ABC, ABD, ABE, ACD, ACE, ADE, BCD, BCE, BDE, CDE</a:t>
            </a:r>
          </a:p>
        </p:txBody>
      </p:sp>
      <p:sp>
        <p:nvSpPr>
          <p:cNvPr id="6" name="Text Box 4"/>
          <p:cNvSpPr txBox="1">
            <a:spLocks noChangeArrowheads="1"/>
          </p:cNvSpPr>
          <p:nvPr/>
        </p:nvSpPr>
        <p:spPr bwMode="auto">
          <a:xfrm>
            <a:off x="4049486" y="6222547"/>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p:txBody>
          <a:bodyPr/>
          <a:lstStyle/>
          <a:p>
            <a:pPr eaLnBrk="1" hangingPunct="1"/>
            <a:r>
              <a:rPr lang="en-US" sz="2800" dirty="0" smtClean="0">
                <a:solidFill>
                  <a:schemeClr val="accent2"/>
                </a:solidFill>
              </a:rPr>
              <a:t>Table 7.3 All Possible Samples and Their Means When the Sample Size Is 3</a:t>
            </a:r>
          </a:p>
        </p:txBody>
      </p:sp>
      <p:sp>
        <p:nvSpPr>
          <p:cNvPr id="6" name="Text Box 4"/>
          <p:cNvSpPr txBox="1">
            <a:spLocks noChangeArrowheads="1"/>
          </p:cNvSpPr>
          <p:nvPr/>
        </p:nvSpPr>
        <p:spPr bwMode="auto">
          <a:xfrm>
            <a:off x="4049486" y="6222547"/>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95207" y="1513673"/>
            <a:ext cx="4145054" cy="473472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Grp="1" noChangeArrowheads="1"/>
          </p:cNvSpPr>
          <p:nvPr>
            <p:ph type="title"/>
          </p:nvPr>
        </p:nvSpPr>
        <p:spPr/>
        <p:txBody>
          <a:bodyPr/>
          <a:lstStyle/>
          <a:p>
            <a:pPr eaLnBrk="1" hangingPunct="1"/>
            <a:r>
              <a:rPr lang="en-US" sz="2800" dirty="0" smtClean="0">
                <a:solidFill>
                  <a:schemeClr val="accent2"/>
                </a:solidFill>
              </a:rPr>
              <a:t>Table 7.4 Frequency and Relative Frequency Distributions of       When the Sample Size Is 3</a:t>
            </a:r>
          </a:p>
        </p:txBody>
      </p:sp>
      <p:graphicFrame>
        <p:nvGraphicFramePr>
          <p:cNvPr id="3074" name="Object 2"/>
          <p:cNvGraphicFramePr>
            <a:graphicFrameLocks noChangeAspect="1"/>
          </p:cNvGraphicFramePr>
          <p:nvPr>
            <p:extLst>
              <p:ext uri="{D42A27DB-BD31-4B8C-83A1-F6EECF244321}">
                <p14:modId xmlns:p14="http://schemas.microsoft.com/office/powerpoint/2010/main" val="3384459478"/>
              </p:ext>
            </p:extLst>
          </p:nvPr>
        </p:nvGraphicFramePr>
        <p:xfrm>
          <a:off x="914400" y="914400"/>
          <a:ext cx="454025" cy="539750"/>
        </p:xfrm>
        <a:graphic>
          <a:graphicData uri="http://schemas.openxmlformats.org/presentationml/2006/ole">
            <mc:AlternateContent xmlns:mc="http://schemas.openxmlformats.org/markup-compatibility/2006">
              <mc:Choice xmlns:v="urn:schemas-microsoft-com:vml" Requires="v">
                <p:oleObj spid="_x0000_s3105" name="Equation" r:id="rId3" imgW="139680" imgH="164880" progId="Equation.3">
                  <p:embed/>
                </p:oleObj>
              </mc:Choice>
              <mc:Fallback>
                <p:oleObj name="Equation" r:id="rId3" imgW="139680" imgH="164880" progId="Equation.3">
                  <p:embed/>
                  <p:pic>
                    <p:nvPicPr>
                      <p:cNvPr id="0" name="Picture 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 y="914400"/>
                        <a:ext cx="454025" cy="539750"/>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rgbClr val="808080"/>
                              </a:outerShdw>
                            </a:effectLst>
                          </a14:hiddenEffects>
                        </a:ext>
                      </a:extLst>
                    </p:spPr>
                  </p:pic>
                </p:oleObj>
              </mc:Fallback>
            </mc:AlternateContent>
          </a:graphicData>
        </a:graphic>
      </p:graphicFrame>
      <p:sp>
        <p:nvSpPr>
          <p:cNvPr id="7" name="Text Box 4"/>
          <p:cNvSpPr txBox="1">
            <a:spLocks noChangeArrowheads="1"/>
          </p:cNvSpPr>
          <p:nvPr/>
        </p:nvSpPr>
        <p:spPr bwMode="auto">
          <a:xfrm>
            <a:off x="4049486" y="6222547"/>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09417" y="1599572"/>
            <a:ext cx="5125166" cy="449642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p:txBody>
          <a:bodyPr/>
          <a:lstStyle/>
          <a:p>
            <a:pPr eaLnBrk="1" hangingPunct="1"/>
            <a:r>
              <a:rPr lang="en-US" sz="2800" dirty="0" smtClean="0">
                <a:solidFill>
                  <a:schemeClr val="accent2"/>
                </a:solidFill>
              </a:rPr>
              <a:t>Table 7.5 Sampling Distribution of      When the Sample Size Is 3</a:t>
            </a:r>
          </a:p>
        </p:txBody>
      </p:sp>
      <p:graphicFrame>
        <p:nvGraphicFramePr>
          <p:cNvPr id="4098" name="Object 2"/>
          <p:cNvGraphicFramePr>
            <a:graphicFrameLocks noChangeAspect="1"/>
          </p:cNvGraphicFramePr>
          <p:nvPr>
            <p:extLst>
              <p:ext uri="{D42A27DB-BD31-4B8C-83A1-F6EECF244321}">
                <p14:modId xmlns:p14="http://schemas.microsoft.com/office/powerpoint/2010/main" val="1866632814"/>
              </p:ext>
            </p:extLst>
          </p:nvPr>
        </p:nvGraphicFramePr>
        <p:xfrm>
          <a:off x="5410200" y="457200"/>
          <a:ext cx="512763" cy="609600"/>
        </p:xfrm>
        <a:graphic>
          <a:graphicData uri="http://schemas.openxmlformats.org/presentationml/2006/ole">
            <mc:AlternateContent xmlns:mc="http://schemas.openxmlformats.org/markup-compatibility/2006">
              <mc:Choice xmlns:v="urn:schemas-microsoft-com:vml" Requires="v">
                <p:oleObj spid="_x0000_s4129" name="Equation" r:id="rId3" imgW="139680" imgH="164880" progId="Equation.3">
                  <p:embed/>
                </p:oleObj>
              </mc:Choice>
              <mc:Fallback>
                <p:oleObj name="Equation" r:id="rId3" imgW="139680" imgH="164880" progId="Equation.3">
                  <p:embed/>
                  <p:pic>
                    <p:nvPicPr>
                      <p:cNvPr id="0" name="Picture 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10200" y="457200"/>
                        <a:ext cx="512763" cy="609600"/>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rgbClr val="808080"/>
                              </a:outerShdw>
                            </a:effectLst>
                          </a14:hiddenEffects>
                        </a:ext>
                      </a:extLst>
                    </p:spPr>
                  </p:pic>
                </p:oleObj>
              </mc:Fallback>
            </mc:AlternateContent>
          </a:graphicData>
        </a:graphic>
      </p:graphicFrame>
      <p:sp>
        <p:nvSpPr>
          <p:cNvPr id="7" name="Text Box 4"/>
          <p:cNvSpPr txBox="1">
            <a:spLocks noChangeArrowheads="1"/>
          </p:cNvSpPr>
          <p:nvPr/>
        </p:nvSpPr>
        <p:spPr bwMode="auto">
          <a:xfrm>
            <a:off x="4049486" y="6222547"/>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909655" y="1618678"/>
            <a:ext cx="3324689" cy="409632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p:txBody>
          <a:bodyPr/>
          <a:lstStyle/>
          <a:p>
            <a:pPr eaLnBrk="1" hangingPunct="1"/>
            <a:r>
              <a:rPr lang="en-US" sz="2800" dirty="0" smtClean="0"/>
              <a:t>Sampling Error and </a:t>
            </a:r>
            <a:r>
              <a:rPr lang="en-US" sz="2800" dirty="0" err="1" smtClean="0"/>
              <a:t>Nonsampling</a:t>
            </a:r>
            <a:r>
              <a:rPr lang="en-US" sz="2800" dirty="0" smtClean="0"/>
              <a:t> Errors</a:t>
            </a:r>
          </a:p>
        </p:txBody>
      </p:sp>
      <p:sp>
        <p:nvSpPr>
          <p:cNvPr id="5124" name="Rectangle 3"/>
          <p:cNvSpPr>
            <a:spLocks noGrp="1" noChangeArrowheads="1"/>
          </p:cNvSpPr>
          <p:nvPr>
            <p:ph type="body" idx="1"/>
          </p:nvPr>
        </p:nvSpPr>
        <p:spPr>
          <a:xfrm>
            <a:off x="169862" y="1524000"/>
            <a:ext cx="8364538" cy="4114800"/>
          </a:xfrm>
        </p:spPr>
        <p:txBody>
          <a:bodyPr/>
          <a:lstStyle/>
          <a:p>
            <a:pPr eaLnBrk="1" hangingPunct="1">
              <a:lnSpc>
                <a:spcPct val="90000"/>
              </a:lnSpc>
              <a:buFont typeface="Tahoma" charset="0"/>
              <a:buChar char=" "/>
            </a:pPr>
            <a:r>
              <a:rPr lang="en-US" sz="2000" dirty="0" smtClean="0">
                <a:solidFill>
                  <a:schemeClr val="folHlink"/>
                </a:solidFill>
              </a:rPr>
              <a:t>Definition</a:t>
            </a:r>
          </a:p>
          <a:p>
            <a:pPr eaLnBrk="1" hangingPunct="1">
              <a:lnSpc>
                <a:spcPct val="90000"/>
              </a:lnSpc>
              <a:buFont typeface="Tahoma" charset="0"/>
              <a:buChar char=" "/>
            </a:pPr>
            <a:r>
              <a:rPr lang="en-GB" sz="2000" b="1" i="1" u="sng" dirty="0" smtClean="0">
                <a:solidFill>
                  <a:schemeClr val="hlink"/>
                </a:solidFill>
              </a:rPr>
              <a:t>Sampling error</a:t>
            </a:r>
            <a:r>
              <a:rPr lang="en-GB" sz="2000" dirty="0" smtClean="0"/>
              <a:t> is the difference between the value of a sample statistic and the value of the corresponding population parameter. In the case of the mean,</a:t>
            </a:r>
          </a:p>
          <a:p>
            <a:pPr eaLnBrk="1" hangingPunct="1">
              <a:lnSpc>
                <a:spcPct val="90000"/>
              </a:lnSpc>
              <a:buFont typeface="Tahoma" charset="0"/>
              <a:buChar char=" "/>
            </a:pPr>
            <a:endParaRPr lang="en-GB" sz="2000" dirty="0" smtClean="0"/>
          </a:p>
          <a:p>
            <a:pPr eaLnBrk="1" hangingPunct="1">
              <a:lnSpc>
                <a:spcPct val="90000"/>
              </a:lnSpc>
              <a:buFont typeface="Tahoma" charset="0"/>
              <a:buChar char=" "/>
            </a:pPr>
            <a:r>
              <a:rPr lang="en-GB" sz="2000" dirty="0" smtClean="0"/>
              <a:t>         Sampling error = </a:t>
            </a:r>
          </a:p>
          <a:p>
            <a:pPr eaLnBrk="1" hangingPunct="1">
              <a:lnSpc>
                <a:spcPct val="90000"/>
              </a:lnSpc>
              <a:buFont typeface="Tahoma" charset="0"/>
              <a:buChar char=" "/>
            </a:pPr>
            <a:endParaRPr lang="en-GB" sz="2000" dirty="0" smtClean="0"/>
          </a:p>
          <a:p>
            <a:pPr eaLnBrk="1" hangingPunct="1">
              <a:lnSpc>
                <a:spcPct val="90000"/>
              </a:lnSpc>
              <a:buFont typeface="Tahoma" charset="0"/>
              <a:buChar char=" "/>
            </a:pPr>
            <a:r>
              <a:rPr lang="en-GB" sz="2000" dirty="0" smtClean="0"/>
              <a:t>assuming that the sample is random and no </a:t>
            </a:r>
            <a:r>
              <a:rPr lang="en-GB" sz="2000" dirty="0" err="1" smtClean="0"/>
              <a:t>nonsampling</a:t>
            </a:r>
            <a:r>
              <a:rPr lang="en-GB" sz="2000" dirty="0" smtClean="0"/>
              <a:t> error has been made.</a:t>
            </a:r>
            <a:endParaRPr lang="en-US" sz="2000" dirty="0" smtClean="0"/>
          </a:p>
        </p:txBody>
      </p:sp>
      <p:graphicFrame>
        <p:nvGraphicFramePr>
          <p:cNvPr id="5122" name="Object 2"/>
          <p:cNvGraphicFramePr>
            <a:graphicFrameLocks noChangeAspect="1"/>
          </p:cNvGraphicFramePr>
          <p:nvPr>
            <p:extLst>
              <p:ext uri="{D42A27DB-BD31-4B8C-83A1-F6EECF244321}">
                <p14:modId xmlns:p14="http://schemas.microsoft.com/office/powerpoint/2010/main" val="941272423"/>
              </p:ext>
            </p:extLst>
          </p:nvPr>
        </p:nvGraphicFramePr>
        <p:xfrm>
          <a:off x="3810000" y="3048000"/>
          <a:ext cx="1258094" cy="509229"/>
        </p:xfrm>
        <a:graphic>
          <a:graphicData uri="http://schemas.openxmlformats.org/presentationml/2006/ole">
            <mc:AlternateContent xmlns:mc="http://schemas.openxmlformats.org/markup-compatibility/2006">
              <mc:Choice xmlns:v="urn:schemas-microsoft-com:vml" Requires="v">
                <p:oleObj spid="_x0000_s5154" name="Equation" r:id="rId3" imgW="380880" imgH="190440" progId="Equation.3">
                  <p:embed/>
                </p:oleObj>
              </mc:Choice>
              <mc:Fallback>
                <p:oleObj name="Equation" r:id="rId3" imgW="380880" imgH="190440" progId="Equation.3">
                  <p:embed/>
                  <p:pic>
                    <p:nvPicPr>
                      <p:cNvPr id="0" name="Picture 2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0" y="3048000"/>
                        <a:ext cx="1258094" cy="50922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Text Box 4"/>
          <p:cNvSpPr txBox="1">
            <a:spLocks noChangeArrowheads="1"/>
          </p:cNvSpPr>
          <p:nvPr/>
        </p:nvSpPr>
        <p:spPr bwMode="auto">
          <a:xfrm>
            <a:off x="4049486" y="6222547"/>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p:txBody>
          <a:bodyPr/>
          <a:lstStyle/>
          <a:p>
            <a:pPr eaLnBrk="1" hangingPunct="1"/>
            <a:r>
              <a:rPr lang="en-US" sz="2800" dirty="0" smtClean="0"/>
              <a:t>Sampling Error and </a:t>
            </a:r>
            <a:r>
              <a:rPr lang="en-US" sz="2800" dirty="0" err="1" smtClean="0"/>
              <a:t>Nonsampling</a:t>
            </a:r>
            <a:r>
              <a:rPr lang="en-US" sz="2800" dirty="0" smtClean="0"/>
              <a:t> Errors</a:t>
            </a:r>
          </a:p>
        </p:txBody>
      </p:sp>
      <p:sp>
        <p:nvSpPr>
          <p:cNvPr id="78851" name="Rectangle 3"/>
          <p:cNvSpPr>
            <a:spLocks noGrp="1" noChangeArrowheads="1"/>
          </p:cNvSpPr>
          <p:nvPr>
            <p:ph type="body" idx="1"/>
          </p:nvPr>
        </p:nvSpPr>
        <p:spPr>
          <a:xfrm>
            <a:off x="112712" y="1524000"/>
            <a:ext cx="8497888" cy="4114800"/>
          </a:xfrm>
        </p:spPr>
        <p:txBody>
          <a:bodyPr/>
          <a:lstStyle/>
          <a:p>
            <a:pPr eaLnBrk="1" hangingPunct="1">
              <a:buFont typeface="Wingdings" charset="2"/>
              <a:buChar char=" "/>
            </a:pPr>
            <a:r>
              <a:rPr lang="en-US" sz="2000" dirty="0" smtClean="0">
                <a:solidFill>
                  <a:schemeClr val="folHlink"/>
                </a:solidFill>
              </a:rPr>
              <a:t>Definition</a:t>
            </a:r>
          </a:p>
          <a:p>
            <a:pPr eaLnBrk="1" hangingPunct="1">
              <a:buFont typeface="Wingdings" charset="2"/>
              <a:buChar char=" "/>
            </a:pPr>
            <a:r>
              <a:rPr lang="en-US" sz="2000" dirty="0" smtClean="0"/>
              <a:t>The errors that occur in the collection, recording, and tabulation of data are called </a:t>
            </a:r>
            <a:r>
              <a:rPr lang="en-US" sz="2000" b="1" i="1" u="sng" dirty="0" err="1" smtClean="0">
                <a:solidFill>
                  <a:schemeClr val="hlink"/>
                </a:solidFill>
              </a:rPr>
              <a:t>nonsampling</a:t>
            </a:r>
            <a:r>
              <a:rPr lang="en-US" sz="2000" b="1" i="1" u="sng" dirty="0" smtClean="0">
                <a:solidFill>
                  <a:schemeClr val="hlink"/>
                </a:solidFill>
              </a:rPr>
              <a:t> errors</a:t>
            </a:r>
            <a:r>
              <a:rPr lang="en-US" sz="2000" dirty="0" smtClean="0"/>
              <a:t>.</a:t>
            </a:r>
          </a:p>
        </p:txBody>
      </p:sp>
      <p:sp>
        <p:nvSpPr>
          <p:cNvPr id="6" name="Text Box 4"/>
          <p:cNvSpPr txBox="1">
            <a:spLocks noChangeArrowheads="1"/>
          </p:cNvSpPr>
          <p:nvPr/>
        </p:nvSpPr>
        <p:spPr bwMode="auto">
          <a:xfrm>
            <a:off x="4049486" y="6222547"/>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p:txBody>
          <a:bodyPr/>
          <a:lstStyle/>
          <a:p>
            <a:pPr eaLnBrk="1" hangingPunct="1"/>
            <a:r>
              <a:rPr lang="en-US" sz="2800" dirty="0" smtClean="0"/>
              <a:t>Reasons for the Occurrence of </a:t>
            </a:r>
            <a:r>
              <a:rPr lang="en-US" sz="2800" dirty="0" err="1" smtClean="0"/>
              <a:t>Nonsampling</a:t>
            </a:r>
            <a:r>
              <a:rPr lang="en-US" sz="2800" dirty="0" smtClean="0"/>
              <a:t> Errors</a:t>
            </a:r>
          </a:p>
        </p:txBody>
      </p:sp>
      <p:sp>
        <p:nvSpPr>
          <p:cNvPr id="79875" name="Rectangle 3"/>
          <p:cNvSpPr>
            <a:spLocks noGrp="1" noChangeArrowheads="1"/>
          </p:cNvSpPr>
          <p:nvPr>
            <p:ph type="body" idx="1"/>
          </p:nvPr>
        </p:nvSpPr>
        <p:spPr>
          <a:xfrm>
            <a:off x="152400" y="1600200"/>
            <a:ext cx="8305800" cy="4572000"/>
          </a:xfrm>
        </p:spPr>
        <p:txBody>
          <a:bodyPr/>
          <a:lstStyle/>
          <a:p>
            <a:pPr eaLnBrk="1" hangingPunct="1">
              <a:lnSpc>
                <a:spcPct val="90000"/>
              </a:lnSpc>
              <a:buFont typeface="Wingdings" charset="2"/>
              <a:buChar char=" "/>
            </a:pPr>
            <a:r>
              <a:rPr lang="en-US" sz="2000" dirty="0" smtClean="0"/>
              <a:t>1. If a sample is nonrandom (and, hence, most likely </a:t>
            </a:r>
            <a:r>
              <a:rPr lang="en-US" sz="2000" dirty="0" err="1" smtClean="0"/>
              <a:t>nonrepresentative</a:t>
            </a:r>
            <a:r>
              <a:rPr lang="en-US" sz="2000" dirty="0" smtClean="0"/>
              <a:t>), the sample results may be too different from the census results.</a:t>
            </a:r>
          </a:p>
          <a:p>
            <a:pPr eaLnBrk="1" hangingPunct="1">
              <a:lnSpc>
                <a:spcPct val="90000"/>
              </a:lnSpc>
              <a:buFont typeface="Wingdings" charset="2"/>
              <a:buChar char=" "/>
            </a:pPr>
            <a:endParaRPr lang="en-US" sz="2000" dirty="0" smtClean="0"/>
          </a:p>
          <a:p>
            <a:pPr eaLnBrk="1" hangingPunct="1">
              <a:lnSpc>
                <a:spcPct val="90000"/>
              </a:lnSpc>
              <a:buFont typeface="Wingdings" charset="2"/>
              <a:buChar char=" "/>
            </a:pPr>
            <a:r>
              <a:rPr lang="en-US" sz="2000" dirty="0" smtClean="0"/>
              <a:t>2. The questions may be phrased in such a way that they are not fully understood by the members of the sample or population.</a:t>
            </a:r>
          </a:p>
          <a:p>
            <a:pPr eaLnBrk="1" hangingPunct="1">
              <a:lnSpc>
                <a:spcPct val="90000"/>
              </a:lnSpc>
              <a:buFont typeface="Wingdings" charset="2"/>
              <a:buChar char=" "/>
            </a:pPr>
            <a:endParaRPr lang="en-US" sz="2000" dirty="0" smtClean="0"/>
          </a:p>
          <a:p>
            <a:pPr eaLnBrk="1" hangingPunct="1">
              <a:lnSpc>
                <a:spcPct val="90000"/>
              </a:lnSpc>
              <a:buFont typeface="Wingdings" charset="2"/>
              <a:buChar char=" "/>
            </a:pPr>
            <a:r>
              <a:rPr lang="en-US" sz="2000" dirty="0" smtClean="0"/>
              <a:t>3. The respondents may intentionally give false information in response to some sensitive questions.</a:t>
            </a:r>
          </a:p>
          <a:p>
            <a:pPr eaLnBrk="1" hangingPunct="1">
              <a:lnSpc>
                <a:spcPct val="90000"/>
              </a:lnSpc>
              <a:buFont typeface="Wingdings" charset="2"/>
              <a:buChar char=" "/>
            </a:pPr>
            <a:endParaRPr lang="en-US" sz="2000" dirty="0" smtClean="0"/>
          </a:p>
          <a:p>
            <a:pPr eaLnBrk="1" hangingPunct="1">
              <a:lnSpc>
                <a:spcPct val="90000"/>
              </a:lnSpc>
              <a:buFont typeface="Wingdings" charset="2"/>
              <a:buChar char=" "/>
            </a:pPr>
            <a:r>
              <a:rPr lang="en-US" sz="2000" dirty="0" smtClean="0"/>
              <a:t>4. The poll taker may make a mistake and enter a wrong number in the records or make an error while entering the data on a computer.</a:t>
            </a:r>
          </a:p>
        </p:txBody>
      </p:sp>
      <p:sp>
        <p:nvSpPr>
          <p:cNvPr id="6" name="Text Box 4"/>
          <p:cNvSpPr txBox="1">
            <a:spLocks noChangeArrowheads="1"/>
          </p:cNvSpPr>
          <p:nvPr/>
        </p:nvSpPr>
        <p:spPr bwMode="auto">
          <a:xfrm>
            <a:off x="4049486" y="6222547"/>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p:txBody>
          <a:bodyPr/>
          <a:lstStyle/>
          <a:p>
            <a:pPr eaLnBrk="1" hangingPunct="1"/>
            <a:r>
              <a:rPr lang="en-US" sz="2800" dirty="0" smtClean="0"/>
              <a:t>Example 7-1</a:t>
            </a:r>
          </a:p>
        </p:txBody>
      </p:sp>
      <p:sp>
        <p:nvSpPr>
          <p:cNvPr id="80899" name="Rectangle 3"/>
          <p:cNvSpPr>
            <a:spLocks noGrp="1" noChangeArrowheads="1"/>
          </p:cNvSpPr>
          <p:nvPr>
            <p:ph type="body" idx="1"/>
          </p:nvPr>
        </p:nvSpPr>
        <p:spPr>
          <a:xfrm>
            <a:off x="152400" y="1524000"/>
            <a:ext cx="8574088" cy="4114800"/>
          </a:xfrm>
        </p:spPr>
        <p:txBody>
          <a:bodyPr/>
          <a:lstStyle/>
          <a:p>
            <a:pPr eaLnBrk="1" hangingPunct="1">
              <a:buFont typeface="Wingdings" charset="2"/>
              <a:buChar char=" "/>
            </a:pPr>
            <a:r>
              <a:rPr lang="en-US" sz="2000" dirty="0" smtClean="0"/>
              <a:t>Reconsider the population of five scores given in Table 7.1. Suppose one sample of three scores is selected from this population, and this sample includes the scores 70, 80, and 95. Find the sampling error.</a:t>
            </a:r>
          </a:p>
        </p:txBody>
      </p:sp>
      <p:sp>
        <p:nvSpPr>
          <p:cNvPr id="6" name="Text Box 4"/>
          <p:cNvSpPr txBox="1">
            <a:spLocks noChangeArrowheads="1"/>
          </p:cNvSpPr>
          <p:nvPr/>
        </p:nvSpPr>
        <p:spPr bwMode="auto">
          <a:xfrm>
            <a:off x="4049486" y="6222547"/>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p:txBody>
          <a:bodyPr/>
          <a:lstStyle/>
          <a:p>
            <a:pPr eaLnBrk="1" hangingPunct="1"/>
            <a:r>
              <a:rPr lang="en-US" sz="2800" dirty="0" smtClean="0"/>
              <a:t>Example 7-1: Solution</a:t>
            </a:r>
          </a:p>
        </p:txBody>
      </p:sp>
      <p:sp>
        <p:nvSpPr>
          <p:cNvPr id="6148" name="Rectangle 3"/>
          <p:cNvSpPr>
            <a:spLocks noGrp="1" noChangeArrowheads="1"/>
          </p:cNvSpPr>
          <p:nvPr>
            <p:ph type="body" idx="1"/>
          </p:nvPr>
        </p:nvSpPr>
        <p:spPr>
          <a:xfrm>
            <a:off x="474662" y="3810000"/>
            <a:ext cx="8345488" cy="1676400"/>
          </a:xfrm>
        </p:spPr>
        <p:txBody>
          <a:bodyPr/>
          <a:lstStyle/>
          <a:p>
            <a:pPr eaLnBrk="1" hangingPunct="1">
              <a:lnSpc>
                <a:spcPct val="90000"/>
              </a:lnSpc>
              <a:buFont typeface="Wingdings" charset="2"/>
              <a:buNone/>
            </a:pPr>
            <a:r>
              <a:rPr lang="en-US" sz="2000" dirty="0" smtClean="0"/>
              <a:t>That is, the mean score estimated from the sample is 1.07</a:t>
            </a:r>
          </a:p>
          <a:p>
            <a:pPr eaLnBrk="1" hangingPunct="1">
              <a:lnSpc>
                <a:spcPct val="90000"/>
              </a:lnSpc>
              <a:buFont typeface="Wingdings" charset="2"/>
              <a:buNone/>
            </a:pPr>
            <a:r>
              <a:rPr lang="en-US" sz="2000" dirty="0" smtClean="0"/>
              <a:t>higher than the mean score of the population.</a:t>
            </a:r>
          </a:p>
        </p:txBody>
      </p:sp>
      <p:graphicFrame>
        <p:nvGraphicFramePr>
          <p:cNvPr id="6146" name="Object 2"/>
          <p:cNvGraphicFramePr>
            <a:graphicFrameLocks noChangeAspect="1"/>
          </p:cNvGraphicFramePr>
          <p:nvPr>
            <p:extLst>
              <p:ext uri="{D42A27DB-BD31-4B8C-83A1-F6EECF244321}">
                <p14:modId xmlns:p14="http://schemas.microsoft.com/office/powerpoint/2010/main" val="840607558"/>
              </p:ext>
            </p:extLst>
          </p:nvPr>
        </p:nvGraphicFramePr>
        <p:xfrm>
          <a:off x="685801" y="1600201"/>
          <a:ext cx="5830093" cy="1868326"/>
        </p:xfrm>
        <a:graphic>
          <a:graphicData uri="http://schemas.openxmlformats.org/presentationml/2006/ole">
            <mc:AlternateContent xmlns:mc="http://schemas.openxmlformats.org/markup-compatibility/2006">
              <mc:Choice xmlns:v="urn:schemas-microsoft-com:vml" Requires="v">
                <p:oleObj spid="_x0000_s6177" name="Equation" r:id="rId3" imgW="3251160" imgH="1041120" progId="">
                  <p:embed/>
                </p:oleObj>
              </mc:Choice>
              <mc:Fallback>
                <p:oleObj name="Equation" r:id="rId3" imgW="3251160" imgH="1041120" progId="">
                  <p:embed/>
                  <p:pic>
                    <p:nvPicPr>
                      <p:cNvPr id="0" name="Picture 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1" y="1600201"/>
                        <a:ext cx="5830093" cy="186832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 Box 4"/>
          <p:cNvSpPr txBox="1">
            <a:spLocks noChangeArrowheads="1"/>
          </p:cNvSpPr>
          <p:nvPr/>
        </p:nvSpPr>
        <p:spPr bwMode="auto">
          <a:xfrm>
            <a:off x="4049486" y="6222547"/>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p:cNvSpPr>
            <a:spLocks noGrp="1" noChangeArrowheads="1"/>
          </p:cNvSpPr>
          <p:nvPr>
            <p:ph type="title"/>
          </p:nvPr>
        </p:nvSpPr>
        <p:spPr/>
        <p:txBody>
          <a:bodyPr/>
          <a:lstStyle/>
          <a:p>
            <a:pPr eaLnBrk="1" hangingPunct="1"/>
            <a:r>
              <a:rPr lang="en-US" sz="3200" dirty="0" smtClean="0"/>
              <a:t>Sampling Error and </a:t>
            </a:r>
            <a:r>
              <a:rPr lang="en-US" sz="3200" dirty="0" err="1" smtClean="0"/>
              <a:t>Nonsampling</a:t>
            </a:r>
            <a:r>
              <a:rPr lang="en-US" sz="3200" dirty="0" smtClean="0"/>
              <a:t> Errors</a:t>
            </a:r>
          </a:p>
        </p:txBody>
      </p:sp>
      <p:sp>
        <p:nvSpPr>
          <p:cNvPr id="7172" name="Rectangle 3"/>
          <p:cNvSpPr>
            <a:spLocks noGrp="1" noChangeArrowheads="1"/>
          </p:cNvSpPr>
          <p:nvPr>
            <p:ph type="body" idx="1"/>
          </p:nvPr>
        </p:nvSpPr>
        <p:spPr>
          <a:xfrm>
            <a:off x="569912" y="1524000"/>
            <a:ext cx="8421688" cy="4114800"/>
          </a:xfrm>
        </p:spPr>
        <p:txBody>
          <a:bodyPr/>
          <a:lstStyle/>
          <a:p>
            <a:pPr marL="0" indent="0" eaLnBrk="1" hangingPunct="1">
              <a:buNone/>
            </a:pPr>
            <a:r>
              <a:rPr lang="en-US" sz="2000" dirty="0" smtClean="0"/>
              <a:t>Now suppose, when we select the sample of three scores, we mistakenly record the second score as 82 instead of 80.</a:t>
            </a:r>
          </a:p>
          <a:p>
            <a:pPr marL="0" indent="0" eaLnBrk="1" hangingPunct="1">
              <a:buNone/>
            </a:pPr>
            <a:endParaRPr lang="en-US" sz="2000" dirty="0"/>
          </a:p>
          <a:p>
            <a:pPr marL="0" indent="0" eaLnBrk="1" hangingPunct="1">
              <a:buNone/>
            </a:pPr>
            <a:r>
              <a:rPr lang="en-US" sz="2000" dirty="0" smtClean="0"/>
              <a:t>As a result, we calculate the sample mean as</a:t>
            </a:r>
          </a:p>
          <a:p>
            <a:pPr eaLnBrk="1" hangingPunct="1"/>
            <a:endParaRPr lang="en-US" dirty="0" smtClean="0"/>
          </a:p>
        </p:txBody>
      </p:sp>
      <p:graphicFrame>
        <p:nvGraphicFramePr>
          <p:cNvPr id="7170" name="Object 2"/>
          <p:cNvGraphicFramePr>
            <a:graphicFrameLocks noChangeAspect="1"/>
          </p:cNvGraphicFramePr>
          <p:nvPr>
            <p:extLst>
              <p:ext uri="{D42A27DB-BD31-4B8C-83A1-F6EECF244321}">
                <p14:modId xmlns:p14="http://schemas.microsoft.com/office/powerpoint/2010/main" val="2301362344"/>
              </p:ext>
            </p:extLst>
          </p:nvPr>
        </p:nvGraphicFramePr>
        <p:xfrm>
          <a:off x="2676734" y="3200400"/>
          <a:ext cx="3069808" cy="779080"/>
        </p:xfrm>
        <a:graphic>
          <a:graphicData uri="http://schemas.openxmlformats.org/presentationml/2006/ole">
            <mc:AlternateContent xmlns:mc="http://schemas.openxmlformats.org/markup-compatibility/2006">
              <mc:Choice xmlns:v="urn:schemas-microsoft-com:vml" Requires="v">
                <p:oleObj spid="_x0000_s7201" name="Equation" r:id="rId3" imgW="1549080" imgH="393480" progId="">
                  <p:embed/>
                </p:oleObj>
              </mc:Choice>
              <mc:Fallback>
                <p:oleObj name="Equation" r:id="rId3" imgW="1549080" imgH="393480" progId="">
                  <p:embed/>
                  <p:pic>
                    <p:nvPicPr>
                      <p:cNvPr id="0" name="Picture 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76734" y="3200400"/>
                        <a:ext cx="3069808" cy="7790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 Box 4"/>
          <p:cNvSpPr txBox="1">
            <a:spLocks noChangeArrowheads="1"/>
          </p:cNvSpPr>
          <p:nvPr/>
        </p:nvSpPr>
        <p:spPr bwMode="auto">
          <a:xfrm>
            <a:off x="4049486" y="6222547"/>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p:txBody>
          <a:bodyPr/>
          <a:lstStyle/>
          <a:p>
            <a:pPr eaLnBrk="1" hangingPunct="1"/>
            <a:r>
              <a:rPr lang="en-US" sz="3200" dirty="0" smtClean="0"/>
              <a:t>Sampling Error and </a:t>
            </a:r>
            <a:r>
              <a:rPr lang="en-US" sz="3200" dirty="0" err="1" smtClean="0"/>
              <a:t>Nonsampling</a:t>
            </a:r>
            <a:r>
              <a:rPr lang="en-US" sz="3200" dirty="0" smtClean="0"/>
              <a:t> Errors</a:t>
            </a:r>
          </a:p>
        </p:txBody>
      </p:sp>
      <p:sp>
        <p:nvSpPr>
          <p:cNvPr id="8196" name="Rectangle 3"/>
          <p:cNvSpPr>
            <a:spLocks noGrp="1" noChangeArrowheads="1"/>
          </p:cNvSpPr>
          <p:nvPr>
            <p:ph type="body" idx="1"/>
          </p:nvPr>
        </p:nvSpPr>
        <p:spPr>
          <a:xfrm>
            <a:off x="533400" y="1524000"/>
            <a:ext cx="8269288" cy="4114800"/>
          </a:xfrm>
        </p:spPr>
        <p:txBody>
          <a:bodyPr/>
          <a:lstStyle/>
          <a:p>
            <a:pPr marL="0" indent="0" eaLnBrk="1" hangingPunct="1">
              <a:buNone/>
            </a:pPr>
            <a:r>
              <a:rPr lang="en-US" sz="2000" dirty="0" smtClean="0"/>
              <a:t>The difference between this sample mean and the population mean is</a:t>
            </a:r>
          </a:p>
          <a:p>
            <a:pPr eaLnBrk="1" hangingPunct="1"/>
            <a:endParaRPr lang="en-US" sz="2000" dirty="0" smtClean="0"/>
          </a:p>
          <a:p>
            <a:pPr eaLnBrk="1" hangingPunct="1"/>
            <a:endParaRPr lang="en-US" sz="2000" dirty="0" smtClean="0"/>
          </a:p>
          <a:p>
            <a:pPr marL="0" indent="0" eaLnBrk="1" hangingPunct="1">
              <a:buNone/>
            </a:pPr>
            <a:endParaRPr lang="en-US" sz="2000" dirty="0" smtClean="0"/>
          </a:p>
          <a:p>
            <a:pPr marL="0" indent="0" eaLnBrk="1" hangingPunct="1">
              <a:buNone/>
            </a:pPr>
            <a:r>
              <a:rPr lang="en-US" sz="2000" dirty="0" smtClean="0"/>
              <a:t>This difference does not represent the sampling error.</a:t>
            </a:r>
          </a:p>
          <a:p>
            <a:pPr marL="0" indent="0" eaLnBrk="1" hangingPunct="1">
              <a:buNone/>
            </a:pPr>
            <a:r>
              <a:rPr lang="en-US" sz="2000" dirty="0" smtClean="0"/>
              <a:t>Only 1.07 of this difference is due to the sampling error.</a:t>
            </a:r>
          </a:p>
        </p:txBody>
      </p:sp>
      <p:graphicFrame>
        <p:nvGraphicFramePr>
          <p:cNvPr id="8194" name="Object 2"/>
          <p:cNvGraphicFramePr>
            <a:graphicFrameLocks noChangeAspect="1"/>
          </p:cNvGraphicFramePr>
          <p:nvPr>
            <p:extLst>
              <p:ext uri="{D42A27DB-BD31-4B8C-83A1-F6EECF244321}">
                <p14:modId xmlns:p14="http://schemas.microsoft.com/office/powerpoint/2010/main" val="1457666547"/>
              </p:ext>
            </p:extLst>
          </p:nvPr>
        </p:nvGraphicFramePr>
        <p:xfrm>
          <a:off x="1981200" y="2362200"/>
          <a:ext cx="4108449" cy="433448"/>
        </p:xfrm>
        <a:graphic>
          <a:graphicData uri="http://schemas.openxmlformats.org/presentationml/2006/ole">
            <mc:AlternateContent xmlns:mc="http://schemas.openxmlformats.org/markup-compatibility/2006">
              <mc:Choice xmlns:v="urn:schemas-microsoft-com:vml" Requires="v">
                <p:oleObj spid="_x0000_s8225" name="Equation" r:id="rId3" imgW="1917360" imgH="203040" progId="">
                  <p:embed/>
                </p:oleObj>
              </mc:Choice>
              <mc:Fallback>
                <p:oleObj name="Equation" r:id="rId3" imgW="1917360" imgH="203040" progId="">
                  <p:embed/>
                  <p:pic>
                    <p:nvPicPr>
                      <p:cNvPr id="0" name="Picture 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1200" y="2362200"/>
                        <a:ext cx="4108449" cy="4334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Text Box 4"/>
          <p:cNvSpPr txBox="1">
            <a:spLocks noChangeArrowheads="1"/>
          </p:cNvSpPr>
          <p:nvPr/>
        </p:nvSpPr>
        <p:spPr bwMode="auto">
          <a:xfrm>
            <a:off x="4049486" y="6222547"/>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Grp="1" noChangeArrowheads="1"/>
          </p:cNvSpPr>
          <p:nvPr>
            <p:ph type="title"/>
          </p:nvPr>
        </p:nvSpPr>
        <p:spPr/>
        <p:txBody>
          <a:bodyPr/>
          <a:lstStyle/>
          <a:p>
            <a:pPr eaLnBrk="1" hangingPunct="1"/>
            <a:r>
              <a:rPr lang="en-US" sz="2800" dirty="0" smtClean="0"/>
              <a:t>Sampling Error and </a:t>
            </a:r>
            <a:r>
              <a:rPr lang="en-US" sz="2800" dirty="0" err="1" smtClean="0"/>
              <a:t>Nonsampling</a:t>
            </a:r>
            <a:r>
              <a:rPr lang="en-US" sz="2800" dirty="0" smtClean="0"/>
              <a:t> Errors</a:t>
            </a:r>
          </a:p>
        </p:txBody>
      </p:sp>
      <p:sp>
        <p:nvSpPr>
          <p:cNvPr id="9220" name="Rectangle 3"/>
          <p:cNvSpPr>
            <a:spLocks noGrp="1" noChangeArrowheads="1"/>
          </p:cNvSpPr>
          <p:nvPr>
            <p:ph type="body" idx="1"/>
          </p:nvPr>
        </p:nvSpPr>
        <p:spPr>
          <a:xfrm>
            <a:off x="550862" y="1600200"/>
            <a:ext cx="8269288" cy="2362200"/>
          </a:xfrm>
        </p:spPr>
        <p:txBody>
          <a:bodyPr/>
          <a:lstStyle/>
          <a:p>
            <a:pPr marL="0" indent="0" eaLnBrk="1" hangingPunct="1">
              <a:buNone/>
            </a:pPr>
            <a:r>
              <a:rPr lang="en-US" sz="2000" dirty="0" smtClean="0"/>
              <a:t>The remaining portion represents the </a:t>
            </a:r>
            <a:r>
              <a:rPr lang="en-US" sz="2000" dirty="0" err="1" smtClean="0"/>
              <a:t>nonsampling</a:t>
            </a:r>
            <a:r>
              <a:rPr lang="en-US" sz="2000" dirty="0" smtClean="0"/>
              <a:t> error.</a:t>
            </a:r>
          </a:p>
          <a:p>
            <a:pPr marL="457200" lvl="1" indent="0" eaLnBrk="1" hangingPunct="1">
              <a:buNone/>
            </a:pPr>
            <a:r>
              <a:rPr lang="en-US" sz="2000" dirty="0" smtClean="0"/>
              <a:t>It is equal to 1.73 – 1.07 = .66</a:t>
            </a:r>
          </a:p>
          <a:p>
            <a:pPr marL="457200" lvl="1" indent="0" eaLnBrk="1" hangingPunct="1">
              <a:buNone/>
            </a:pPr>
            <a:r>
              <a:rPr lang="en-US" sz="2000" dirty="0" smtClean="0"/>
              <a:t>It occurred due to the error we made in recording the second score in the sample</a:t>
            </a:r>
          </a:p>
          <a:p>
            <a:pPr marL="0" indent="0" eaLnBrk="1" hangingPunct="1">
              <a:buNone/>
            </a:pPr>
            <a:endParaRPr lang="en-US" sz="2000" dirty="0" smtClean="0"/>
          </a:p>
          <a:p>
            <a:pPr marL="0" indent="0" eaLnBrk="1" hangingPunct="1">
              <a:buNone/>
            </a:pPr>
            <a:r>
              <a:rPr lang="en-US" sz="2000" dirty="0" smtClean="0"/>
              <a:t>Also, </a:t>
            </a:r>
          </a:p>
        </p:txBody>
      </p:sp>
      <p:graphicFrame>
        <p:nvGraphicFramePr>
          <p:cNvPr id="9218" name="Object 2"/>
          <p:cNvGraphicFramePr>
            <a:graphicFrameLocks noChangeAspect="1"/>
          </p:cNvGraphicFramePr>
          <p:nvPr>
            <p:extLst>
              <p:ext uri="{D42A27DB-BD31-4B8C-83A1-F6EECF244321}">
                <p14:modId xmlns:p14="http://schemas.microsoft.com/office/powerpoint/2010/main" val="357053987"/>
              </p:ext>
            </p:extLst>
          </p:nvPr>
        </p:nvGraphicFramePr>
        <p:xfrm>
          <a:off x="1544637" y="3886200"/>
          <a:ext cx="5552573" cy="685800"/>
        </p:xfrm>
        <a:graphic>
          <a:graphicData uri="http://schemas.openxmlformats.org/presentationml/2006/ole">
            <mc:AlternateContent xmlns:mc="http://schemas.openxmlformats.org/markup-compatibility/2006">
              <mc:Choice xmlns:v="urn:schemas-microsoft-com:vml" Requires="v">
                <p:oleObj spid="_x0000_s9249" name="Equation" r:id="rId3" imgW="3288960" imgH="406080" progId="">
                  <p:embed/>
                </p:oleObj>
              </mc:Choice>
              <mc:Fallback>
                <p:oleObj name="Equation" r:id="rId3" imgW="3288960" imgH="406080" progId="">
                  <p:embed/>
                  <p:pic>
                    <p:nvPicPr>
                      <p:cNvPr id="0" name="Picture 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4637" y="3886200"/>
                        <a:ext cx="5552573" cy="685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 Box 4"/>
          <p:cNvSpPr txBox="1">
            <a:spLocks noChangeArrowheads="1"/>
          </p:cNvSpPr>
          <p:nvPr/>
        </p:nvSpPr>
        <p:spPr bwMode="auto">
          <a:xfrm>
            <a:off x="4049486" y="6222547"/>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lstStyle/>
          <a:p>
            <a:pPr eaLnBrk="1" hangingPunct="1"/>
            <a:r>
              <a:rPr lang="en-US" sz="2800" dirty="0" smtClean="0">
                <a:solidFill>
                  <a:schemeClr val="accent2"/>
                </a:solidFill>
              </a:rPr>
              <a:t>Figure 7.1 Sampling and </a:t>
            </a:r>
            <a:r>
              <a:rPr lang="en-US" sz="2800" dirty="0" err="1" smtClean="0">
                <a:solidFill>
                  <a:schemeClr val="accent2"/>
                </a:solidFill>
              </a:rPr>
              <a:t>nonsampling</a:t>
            </a:r>
            <a:r>
              <a:rPr lang="en-US" sz="2800" dirty="0" smtClean="0">
                <a:solidFill>
                  <a:schemeClr val="accent2"/>
                </a:solidFill>
              </a:rPr>
              <a:t> errors.</a:t>
            </a:r>
          </a:p>
        </p:txBody>
      </p:sp>
      <p:sp>
        <p:nvSpPr>
          <p:cNvPr id="6" name="Text Box 4"/>
          <p:cNvSpPr txBox="1">
            <a:spLocks noChangeArrowheads="1"/>
          </p:cNvSpPr>
          <p:nvPr/>
        </p:nvSpPr>
        <p:spPr bwMode="auto">
          <a:xfrm>
            <a:off x="4049486" y="6222547"/>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6000"/>
            <a:ext cx="8478434" cy="146705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6" name="Rectangle 2"/>
          <p:cNvSpPr>
            <a:spLocks noGrp="1" noChangeArrowheads="1"/>
          </p:cNvSpPr>
          <p:nvPr>
            <p:ph type="title"/>
          </p:nvPr>
        </p:nvSpPr>
        <p:spPr/>
        <p:txBody>
          <a:bodyPr/>
          <a:lstStyle/>
          <a:p>
            <a:pPr eaLnBrk="1" hangingPunct="1"/>
            <a:r>
              <a:rPr lang="en-US" sz="2800" dirty="0" smtClean="0"/>
              <a:t>MEAN AND STANDARD DEVIATION OF </a:t>
            </a:r>
            <a:r>
              <a:rPr lang="en-US" sz="2800" b="1" i="1" dirty="0" smtClean="0">
                <a:latin typeface="Times New Roman" charset="0"/>
              </a:rPr>
              <a:t>x</a:t>
            </a:r>
          </a:p>
        </p:txBody>
      </p:sp>
      <p:sp>
        <p:nvSpPr>
          <p:cNvPr id="10247" name="Rectangle 3"/>
          <p:cNvSpPr>
            <a:spLocks noGrp="1" noChangeArrowheads="1"/>
          </p:cNvSpPr>
          <p:nvPr>
            <p:ph type="body" idx="1"/>
          </p:nvPr>
        </p:nvSpPr>
        <p:spPr>
          <a:xfrm>
            <a:off x="36512" y="1600200"/>
            <a:ext cx="8574088" cy="3465513"/>
          </a:xfrm>
        </p:spPr>
        <p:txBody>
          <a:bodyPr/>
          <a:lstStyle/>
          <a:p>
            <a:pPr eaLnBrk="1" hangingPunct="1">
              <a:buFont typeface="Wingdings" charset="2"/>
              <a:buChar char=" "/>
            </a:pPr>
            <a:r>
              <a:rPr lang="en-US" sz="2000" dirty="0" smtClean="0">
                <a:solidFill>
                  <a:schemeClr val="folHlink"/>
                </a:solidFill>
              </a:rPr>
              <a:t>Definition</a:t>
            </a:r>
          </a:p>
          <a:p>
            <a:pPr eaLnBrk="1" hangingPunct="1">
              <a:buFont typeface="Wingdings" charset="2"/>
              <a:buChar char=" "/>
            </a:pPr>
            <a:r>
              <a:rPr lang="en-US" sz="2000" dirty="0" smtClean="0"/>
              <a:t>The mean and standard deviation of the sampling distribution </a:t>
            </a:r>
          </a:p>
          <a:p>
            <a:pPr eaLnBrk="1" hangingPunct="1">
              <a:buFont typeface="Wingdings" charset="2"/>
              <a:buChar char=" "/>
            </a:pPr>
            <a:r>
              <a:rPr lang="en-US" sz="2000" dirty="0" smtClean="0"/>
              <a:t>of      are called the </a:t>
            </a:r>
            <a:r>
              <a:rPr lang="en-US" sz="2000" b="1" i="1" u="sng" dirty="0" smtClean="0">
                <a:solidFill>
                  <a:schemeClr val="hlink"/>
                </a:solidFill>
              </a:rPr>
              <a:t>mean and standard deviation of</a:t>
            </a:r>
            <a:r>
              <a:rPr lang="en-US" sz="2000" dirty="0" smtClean="0"/>
              <a:t>      </a:t>
            </a:r>
          </a:p>
          <a:p>
            <a:pPr eaLnBrk="1" hangingPunct="1">
              <a:buFont typeface="Wingdings" charset="2"/>
              <a:buChar char=" "/>
            </a:pPr>
            <a:r>
              <a:rPr lang="en-US" sz="2000" dirty="0" smtClean="0"/>
              <a:t>and are denoted by        and       , respectively.</a:t>
            </a:r>
          </a:p>
        </p:txBody>
      </p:sp>
      <p:sp>
        <p:nvSpPr>
          <p:cNvPr id="10248" name="Line 4"/>
          <p:cNvSpPr>
            <a:spLocks noChangeShapeType="1"/>
          </p:cNvSpPr>
          <p:nvPr/>
        </p:nvSpPr>
        <p:spPr bwMode="auto">
          <a:xfrm>
            <a:off x="7239000" y="990600"/>
            <a:ext cx="228600"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graphicFrame>
        <p:nvGraphicFramePr>
          <p:cNvPr id="10242" name="Object 2"/>
          <p:cNvGraphicFramePr>
            <a:graphicFrameLocks noChangeAspect="1"/>
          </p:cNvGraphicFramePr>
          <p:nvPr>
            <p:extLst>
              <p:ext uri="{D42A27DB-BD31-4B8C-83A1-F6EECF244321}">
                <p14:modId xmlns:p14="http://schemas.microsoft.com/office/powerpoint/2010/main" val="457161250"/>
              </p:ext>
            </p:extLst>
          </p:nvPr>
        </p:nvGraphicFramePr>
        <p:xfrm>
          <a:off x="7772400" y="2286000"/>
          <a:ext cx="391886" cy="457200"/>
        </p:xfrm>
        <a:graphic>
          <a:graphicData uri="http://schemas.openxmlformats.org/presentationml/2006/ole">
            <mc:AlternateContent xmlns:mc="http://schemas.openxmlformats.org/markup-compatibility/2006">
              <mc:Choice xmlns:v="urn:schemas-microsoft-com:vml" Requires="v">
                <p:oleObj spid="_x0000_s10362" name="Equation" r:id="rId3" imgW="139680" imgH="164880" progId="Equation.3">
                  <p:embed/>
                </p:oleObj>
              </mc:Choice>
              <mc:Fallback>
                <p:oleObj name="Equation" r:id="rId3" imgW="139680" imgH="164880" progId="Equation.3">
                  <p:embed/>
                  <p:pic>
                    <p:nvPicPr>
                      <p:cNvPr id="0" name="Picture 10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72400" y="2286000"/>
                        <a:ext cx="391886"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43" name="Object 3"/>
          <p:cNvGraphicFramePr>
            <a:graphicFrameLocks noChangeAspect="1"/>
          </p:cNvGraphicFramePr>
          <p:nvPr>
            <p:extLst>
              <p:ext uri="{D42A27DB-BD31-4B8C-83A1-F6EECF244321}">
                <p14:modId xmlns:p14="http://schemas.microsoft.com/office/powerpoint/2010/main" val="3510122107"/>
              </p:ext>
            </p:extLst>
          </p:nvPr>
        </p:nvGraphicFramePr>
        <p:xfrm>
          <a:off x="838201" y="2286001"/>
          <a:ext cx="383720" cy="457199"/>
        </p:xfrm>
        <a:graphic>
          <a:graphicData uri="http://schemas.openxmlformats.org/presentationml/2006/ole">
            <mc:AlternateContent xmlns:mc="http://schemas.openxmlformats.org/markup-compatibility/2006">
              <mc:Choice xmlns:v="urn:schemas-microsoft-com:vml" Requires="v">
                <p:oleObj spid="_x0000_s10363" name="Equation" r:id="rId5" imgW="139680" imgH="164880" progId="Equation.3">
                  <p:embed/>
                </p:oleObj>
              </mc:Choice>
              <mc:Fallback>
                <p:oleObj name="Equation" r:id="rId5" imgW="139680" imgH="164880" progId="Equation.3">
                  <p:embed/>
                  <p:pic>
                    <p:nvPicPr>
                      <p:cNvPr id="0" name="Picture 10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1" y="2286001"/>
                        <a:ext cx="383720" cy="45719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44" name="Object 4"/>
          <p:cNvGraphicFramePr>
            <a:graphicFrameLocks noChangeAspect="1"/>
          </p:cNvGraphicFramePr>
          <p:nvPr>
            <p:extLst>
              <p:ext uri="{D42A27DB-BD31-4B8C-83A1-F6EECF244321}">
                <p14:modId xmlns:p14="http://schemas.microsoft.com/office/powerpoint/2010/main" val="586392567"/>
              </p:ext>
            </p:extLst>
          </p:nvPr>
        </p:nvGraphicFramePr>
        <p:xfrm>
          <a:off x="3048000" y="2667000"/>
          <a:ext cx="542925" cy="609600"/>
        </p:xfrm>
        <a:graphic>
          <a:graphicData uri="http://schemas.openxmlformats.org/presentationml/2006/ole">
            <mc:AlternateContent xmlns:mc="http://schemas.openxmlformats.org/markup-compatibility/2006">
              <mc:Choice xmlns:v="urn:schemas-microsoft-com:vml" Requires="v">
                <p:oleObj spid="_x0000_s10364" name="Equation" r:id="rId6" imgW="203040" imgH="228600" progId="Equation.3">
                  <p:embed/>
                </p:oleObj>
              </mc:Choice>
              <mc:Fallback>
                <p:oleObj name="Equation" r:id="rId6" imgW="203040" imgH="228600" progId="Equation.3">
                  <p:embed/>
                  <p:pic>
                    <p:nvPicPr>
                      <p:cNvPr id="0" name="Picture 1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48000" y="2667000"/>
                        <a:ext cx="542925" cy="609600"/>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rgbClr val="808080"/>
                              </a:outerShdw>
                            </a:effectLst>
                          </a14:hiddenEffects>
                        </a:ext>
                      </a:extLst>
                    </p:spPr>
                  </p:pic>
                </p:oleObj>
              </mc:Fallback>
            </mc:AlternateContent>
          </a:graphicData>
        </a:graphic>
      </p:graphicFrame>
      <p:graphicFrame>
        <p:nvGraphicFramePr>
          <p:cNvPr id="10245" name="Object 5"/>
          <p:cNvGraphicFramePr>
            <a:graphicFrameLocks noChangeAspect="1"/>
          </p:cNvGraphicFramePr>
          <p:nvPr>
            <p:extLst>
              <p:ext uri="{D42A27DB-BD31-4B8C-83A1-F6EECF244321}">
                <p14:modId xmlns:p14="http://schemas.microsoft.com/office/powerpoint/2010/main" val="432026944"/>
              </p:ext>
            </p:extLst>
          </p:nvPr>
        </p:nvGraphicFramePr>
        <p:xfrm>
          <a:off x="4233409" y="2667000"/>
          <a:ext cx="541338" cy="609600"/>
        </p:xfrm>
        <a:graphic>
          <a:graphicData uri="http://schemas.openxmlformats.org/presentationml/2006/ole">
            <mc:AlternateContent xmlns:mc="http://schemas.openxmlformats.org/markup-compatibility/2006">
              <mc:Choice xmlns:v="urn:schemas-microsoft-com:vml" Requires="v">
                <p:oleObj spid="_x0000_s10365" name="Equation" r:id="rId8" imgW="203040" imgH="228600" progId="Equation.3">
                  <p:embed/>
                </p:oleObj>
              </mc:Choice>
              <mc:Fallback>
                <p:oleObj name="Equation" r:id="rId8" imgW="203040" imgH="228600" progId="Equation.3">
                  <p:embed/>
                  <p:pic>
                    <p:nvPicPr>
                      <p:cNvPr id="0" name="Picture 1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233409" y="2667000"/>
                        <a:ext cx="541338" cy="609600"/>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rgbClr val="808080"/>
                              </a:outerShdw>
                            </a:effectLst>
                          </a14:hiddenEffects>
                        </a:ext>
                      </a:extLst>
                    </p:spPr>
                  </p:pic>
                </p:oleObj>
              </mc:Fallback>
            </mc:AlternateContent>
          </a:graphicData>
        </a:graphic>
      </p:graphicFrame>
      <p:sp>
        <p:nvSpPr>
          <p:cNvPr id="12" name="Text Box 4"/>
          <p:cNvSpPr txBox="1">
            <a:spLocks noChangeArrowheads="1"/>
          </p:cNvSpPr>
          <p:nvPr/>
        </p:nvSpPr>
        <p:spPr bwMode="auto">
          <a:xfrm>
            <a:off x="4049486" y="6222547"/>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pic>
        <p:nvPicPr>
          <p:cNvPr id="2" name="Picture 1"/>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0" y="762000"/>
            <a:ext cx="9144000" cy="642347"/>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9" name="Rectangle 2"/>
          <p:cNvSpPr>
            <a:spLocks noGrp="1" noChangeArrowheads="1"/>
          </p:cNvSpPr>
          <p:nvPr>
            <p:ph type="title"/>
          </p:nvPr>
        </p:nvSpPr>
        <p:spPr/>
        <p:txBody>
          <a:bodyPr/>
          <a:lstStyle/>
          <a:p>
            <a:pPr eaLnBrk="1" hangingPunct="1"/>
            <a:r>
              <a:rPr lang="en-US" sz="2800" dirty="0" smtClean="0"/>
              <a:t>MEAN AND STANDARD DEVIATION OF </a:t>
            </a:r>
            <a:r>
              <a:rPr lang="en-US" sz="2800" b="1" i="1" dirty="0" smtClean="0">
                <a:latin typeface="Times New Roman" charset="0"/>
              </a:rPr>
              <a:t>x</a:t>
            </a:r>
          </a:p>
        </p:txBody>
      </p:sp>
      <p:sp>
        <p:nvSpPr>
          <p:cNvPr id="11270" name="Rectangle 3"/>
          <p:cNvSpPr>
            <a:spLocks noGrp="1" noChangeArrowheads="1"/>
          </p:cNvSpPr>
          <p:nvPr>
            <p:ph type="body" sz="half" idx="1"/>
          </p:nvPr>
        </p:nvSpPr>
        <p:spPr>
          <a:xfrm>
            <a:off x="152400" y="1489075"/>
            <a:ext cx="8001000" cy="3387725"/>
          </a:xfrm>
        </p:spPr>
        <p:txBody>
          <a:bodyPr/>
          <a:lstStyle/>
          <a:p>
            <a:pPr eaLnBrk="1" hangingPunct="1">
              <a:buFont typeface="Wingdings" charset="2"/>
              <a:buChar char=" "/>
            </a:pPr>
            <a:r>
              <a:rPr lang="en-US" sz="2000" dirty="0" smtClean="0">
                <a:solidFill>
                  <a:schemeClr val="folHlink"/>
                </a:solidFill>
              </a:rPr>
              <a:t>Mean of the Sampling Distribution of</a:t>
            </a:r>
          </a:p>
          <a:p>
            <a:pPr eaLnBrk="1" hangingPunct="1">
              <a:buFont typeface="Wingdings" charset="2"/>
              <a:buChar char=" "/>
            </a:pPr>
            <a:endParaRPr lang="en-US" sz="2000" dirty="0" smtClean="0">
              <a:solidFill>
                <a:schemeClr val="folHlink"/>
              </a:solidFill>
            </a:endParaRPr>
          </a:p>
          <a:p>
            <a:pPr eaLnBrk="1" hangingPunct="1">
              <a:buFont typeface="Wingdings" charset="2"/>
              <a:buChar char=" "/>
            </a:pPr>
            <a:r>
              <a:rPr lang="en-US" sz="2000" dirty="0" smtClean="0"/>
              <a:t>The </a:t>
            </a:r>
            <a:r>
              <a:rPr lang="en-US" sz="2000" b="1" i="1" u="sng" dirty="0" smtClean="0">
                <a:solidFill>
                  <a:schemeClr val="hlink"/>
                </a:solidFill>
              </a:rPr>
              <a:t>mean of the sampling distribution of</a:t>
            </a:r>
            <a:r>
              <a:rPr lang="en-US" sz="2000" dirty="0" smtClean="0"/>
              <a:t>      is always equal to the mean of the population. Thus, </a:t>
            </a:r>
          </a:p>
        </p:txBody>
      </p:sp>
      <p:sp>
        <p:nvSpPr>
          <p:cNvPr id="11271" name="Line 4"/>
          <p:cNvSpPr>
            <a:spLocks noChangeShapeType="1"/>
          </p:cNvSpPr>
          <p:nvPr/>
        </p:nvSpPr>
        <p:spPr bwMode="auto">
          <a:xfrm>
            <a:off x="7239000" y="990600"/>
            <a:ext cx="228600"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graphicFrame>
        <p:nvGraphicFramePr>
          <p:cNvPr id="11266" name="Object 2"/>
          <p:cNvGraphicFramePr>
            <a:graphicFrameLocks noChangeAspect="1"/>
          </p:cNvGraphicFramePr>
          <p:nvPr>
            <p:extLst>
              <p:ext uri="{D42A27DB-BD31-4B8C-83A1-F6EECF244321}">
                <p14:modId xmlns:p14="http://schemas.microsoft.com/office/powerpoint/2010/main" val="2975850932"/>
              </p:ext>
            </p:extLst>
          </p:nvPr>
        </p:nvGraphicFramePr>
        <p:xfrm>
          <a:off x="6477000" y="2133600"/>
          <a:ext cx="383721" cy="457200"/>
        </p:xfrm>
        <a:graphic>
          <a:graphicData uri="http://schemas.openxmlformats.org/presentationml/2006/ole">
            <mc:AlternateContent xmlns:mc="http://schemas.openxmlformats.org/markup-compatibility/2006">
              <mc:Choice xmlns:v="urn:schemas-microsoft-com:vml" Requires="v">
                <p:oleObj spid="_x0000_s11353" name="Equation" r:id="rId3" imgW="139680" imgH="164880" progId="Equation.3">
                  <p:embed/>
                </p:oleObj>
              </mc:Choice>
              <mc:Fallback>
                <p:oleObj name="Equation" r:id="rId3" imgW="139680" imgH="164880" progId="Equation.3">
                  <p:embed/>
                  <p:pic>
                    <p:nvPicPr>
                      <p:cNvPr id="0" name="Picture 7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77000" y="2133600"/>
                        <a:ext cx="383721"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267" name="Object 3"/>
          <p:cNvGraphicFramePr>
            <a:graphicFrameLocks noChangeAspect="1"/>
          </p:cNvGraphicFramePr>
          <p:nvPr>
            <p:extLst>
              <p:ext uri="{D42A27DB-BD31-4B8C-83A1-F6EECF244321}">
                <p14:modId xmlns:p14="http://schemas.microsoft.com/office/powerpoint/2010/main" val="2989449949"/>
              </p:ext>
            </p:extLst>
          </p:nvPr>
        </p:nvGraphicFramePr>
        <p:xfrm>
          <a:off x="5410200" y="1447800"/>
          <a:ext cx="383721" cy="457200"/>
        </p:xfrm>
        <a:graphic>
          <a:graphicData uri="http://schemas.openxmlformats.org/presentationml/2006/ole">
            <mc:AlternateContent xmlns:mc="http://schemas.openxmlformats.org/markup-compatibility/2006">
              <mc:Choice xmlns:v="urn:schemas-microsoft-com:vml" Requires="v">
                <p:oleObj spid="_x0000_s11354" name="Equation" r:id="rId5" imgW="139680" imgH="164880" progId="Equation.3">
                  <p:embed/>
                </p:oleObj>
              </mc:Choice>
              <mc:Fallback>
                <p:oleObj name="Equation" r:id="rId5" imgW="139680" imgH="164880" progId="Equation.3">
                  <p:embed/>
                  <p:pic>
                    <p:nvPicPr>
                      <p:cNvPr id="0" name="Picture 7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10200" y="1447800"/>
                        <a:ext cx="383721"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268" name="Object 4"/>
          <p:cNvGraphicFramePr>
            <a:graphicFrameLocks noGrp="1" noChangeAspect="1"/>
          </p:cNvGraphicFramePr>
          <p:nvPr>
            <p:ph sz="half" idx="2"/>
            <p:extLst>
              <p:ext uri="{D42A27DB-BD31-4B8C-83A1-F6EECF244321}">
                <p14:modId xmlns:p14="http://schemas.microsoft.com/office/powerpoint/2010/main" val="2388944909"/>
              </p:ext>
            </p:extLst>
          </p:nvPr>
        </p:nvGraphicFramePr>
        <p:xfrm>
          <a:off x="3182938" y="3124200"/>
          <a:ext cx="1693862" cy="690092"/>
        </p:xfrm>
        <a:graphic>
          <a:graphicData uri="http://schemas.openxmlformats.org/presentationml/2006/ole">
            <mc:AlternateContent xmlns:mc="http://schemas.openxmlformats.org/markup-compatibility/2006">
              <mc:Choice xmlns:v="urn:schemas-microsoft-com:vml" Requires="v">
                <p:oleObj spid="_x0000_s11355" name="Equation" r:id="rId6" imgW="495000" imgH="228600" progId="Equation.3">
                  <p:embed/>
                </p:oleObj>
              </mc:Choice>
              <mc:Fallback>
                <p:oleObj name="Equation" r:id="rId6" imgW="495000" imgH="228600" progId="Equation.3">
                  <p:embed/>
                  <p:pic>
                    <p:nvPicPr>
                      <p:cNvPr id="0" name="Picture 80"/>
                      <p:cNvPicPr>
                        <a:picLocks noGrp="1"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82938" y="3124200"/>
                        <a:ext cx="1693862" cy="69009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Text Box 4"/>
          <p:cNvSpPr txBox="1">
            <a:spLocks noChangeArrowheads="1"/>
          </p:cNvSpPr>
          <p:nvPr/>
        </p:nvSpPr>
        <p:spPr bwMode="auto">
          <a:xfrm>
            <a:off x="4049486" y="6222547"/>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3" name="Rectangle 2"/>
          <p:cNvSpPr>
            <a:spLocks noGrp="1" noChangeArrowheads="1"/>
          </p:cNvSpPr>
          <p:nvPr>
            <p:ph type="title"/>
          </p:nvPr>
        </p:nvSpPr>
        <p:spPr/>
        <p:txBody>
          <a:bodyPr/>
          <a:lstStyle/>
          <a:p>
            <a:pPr eaLnBrk="1" hangingPunct="1"/>
            <a:r>
              <a:rPr lang="en-US" sz="2800" dirty="0" smtClean="0"/>
              <a:t>MEAN AND STANDARD DEVIATION OF </a:t>
            </a:r>
            <a:r>
              <a:rPr lang="en-US" sz="2800" b="1" i="1" dirty="0" smtClean="0">
                <a:latin typeface="Times New Roman" charset="0"/>
              </a:rPr>
              <a:t>x</a:t>
            </a:r>
          </a:p>
        </p:txBody>
      </p:sp>
      <p:sp>
        <p:nvSpPr>
          <p:cNvPr id="12294" name="Rectangle 3"/>
          <p:cNvSpPr>
            <a:spLocks noGrp="1" noChangeArrowheads="1"/>
          </p:cNvSpPr>
          <p:nvPr>
            <p:ph type="body" sz="half" idx="1"/>
          </p:nvPr>
        </p:nvSpPr>
        <p:spPr>
          <a:xfrm>
            <a:off x="152400" y="1600201"/>
            <a:ext cx="8229600" cy="3810000"/>
          </a:xfrm>
        </p:spPr>
        <p:txBody>
          <a:bodyPr/>
          <a:lstStyle/>
          <a:p>
            <a:pPr eaLnBrk="1" hangingPunct="1">
              <a:buFont typeface="Wingdings" charset="2"/>
              <a:buChar char=" "/>
            </a:pPr>
            <a:r>
              <a:rPr lang="en-US" sz="2000" dirty="0" smtClean="0">
                <a:solidFill>
                  <a:schemeClr val="folHlink"/>
                </a:solidFill>
              </a:rPr>
              <a:t>Standard Deviation of the Sampling Distribution of</a:t>
            </a:r>
          </a:p>
          <a:p>
            <a:pPr eaLnBrk="1" hangingPunct="1">
              <a:buFont typeface="Wingdings" charset="2"/>
              <a:buChar char=" "/>
            </a:pPr>
            <a:endParaRPr lang="en-US" sz="2000" dirty="0" smtClean="0">
              <a:solidFill>
                <a:schemeClr val="folHlink"/>
              </a:solidFill>
            </a:endParaRPr>
          </a:p>
          <a:p>
            <a:pPr eaLnBrk="1" hangingPunct="1">
              <a:buFont typeface="Wingdings" charset="2"/>
              <a:buChar char=" "/>
            </a:pPr>
            <a:r>
              <a:rPr lang="en-US" sz="2000" dirty="0" smtClean="0"/>
              <a:t>The </a:t>
            </a:r>
            <a:r>
              <a:rPr lang="en-US" sz="2000" b="1" i="1" u="sng" dirty="0" smtClean="0">
                <a:solidFill>
                  <a:schemeClr val="hlink"/>
                </a:solidFill>
              </a:rPr>
              <a:t>standard deviation of the sampling distribution of</a:t>
            </a:r>
            <a:r>
              <a:rPr lang="en-US" sz="2000" dirty="0" smtClean="0"/>
              <a:t>      is  </a:t>
            </a:r>
          </a:p>
          <a:p>
            <a:pPr eaLnBrk="1" hangingPunct="1">
              <a:buFont typeface="Wingdings" charset="2"/>
              <a:buChar char=" "/>
            </a:pPr>
            <a:endParaRPr lang="en-US" sz="2000" dirty="0" smtClean="0"/>
          </a:p>
          <a:p>
            <a:pPr eaLnBrk="1" hangingPunct="1">
              <a:buFont typeface="Wingdings" charset="2"/>
              <a:buChar char=" "/>
            </a:pPr>
            <a:endParaRPr lang="en-US" sz="2000" dirty="0" smtClean="0"/>
          </a:p>
          <a:p>
            <a:pPr eaLnBrk="1" hangingPunct="1">
              <a:buFont typeface="Wingdings" charset="2"/>
              <a:buChar char=" "/>
            </a:pPr>
            <a:endParaRPr lang="en-US" sz="2000" dirty="0" smtClean="0"/>
          </a:p>
          <a:p>
            <a:pPr eaLnBrk="1" hangingPunct="1">
              <a:buFont typeface="Wingdings" charset="2"/>
              <a:buChar char=" "/>
            </a:pPr>
            <a:r>
              <a:rPr lang="en-US" sz="2000" dirty="0" smtClean="0"/>
              <a:t>where </a:t>
            </a:r>
            <a:r>
              <a:rPr lang="el-GR" sz="2000" dirty="0" smtClean="0">
                <a:latin typeface="Times New Roman" charset="0"/>
                <a:cs typeface="Times New Roman" charset="0"/>
              </a:rPr>
              <a:t>σ</a:t>
            </a:r>
            <a:r>
              <a:rPr lang="en-GB" sz="2000" dirty="0" smtClean="0">
                <a:latin typeface="Times New Roman" charset="0"/>
                <a:cs typeface="Times New Roman" charset="0"/>
              </a:rPr>
              <a:t> </a:t>
            </a:r>
            <a:r>
              <a:rPr lang="en-US" sz="2000" dirty="0" smtClean="0"/>
              <a:t>is the standard deviation of the population and </a:t>
            </a:r>
            <a:r>
              <a:rPr lang="en-US" sz="2000" i="1" dirty="0" smtClean="0">
                <a:latin typeface="Times New Roman" charset="0"/>
              </a:rPr>
              <a:t>n</a:t>
            </a:r>
            <a:r>
              <a:rPr lang="en-US" sz="2000" dirty="0" smtClean="0"/>
              <a:t> is the sample size. This formula is used when </a:t>
            </a:r>
            <a:r>
              <a:rPr lang="en-US" sz="2000" i="1" dirty="0" smtClean="0">
                <a:latin typeface="Times New Roman" charset="0"/>
              </a:rPr>
              <a:t>n</a:t>
            </a:r>
            <a:r>
              <a:rPr lang="en-US" sz="2000" dirty="0" smtClean="0"/>
              <a:t> /</a:t>
            </a:r>
            <a:r>
              <a:rPr lang="en-US" sz="2000" i="1" dirty="0" smtClean="0">
                <a:latin typeface="Times New Roman" charset="0"/>
              </a:rPr>
              <a:t>N</a:t>
            </a:r>
            <a:r>
              <a:rPr lang="en-US" sz="2000" dirty="0" smtClean="0"/>
              <a:t> ≤ .05, where </a:t>
            </a:r>
            <a:r>
              <a:rPr lang="en-US" sz="2000" i="1" dirty="0" smtClean="0">
                <a:latin typeface="Times New Roman" charset="0"/>
              </a:rPr>
              <a:t>N</a:t>
            </a:r>
            <a:r>
              <a:rPr lang="en-US" sz="2000" dirty="0" smtClean="0"/>
              <a:t> is the population size.</a:t>
            </a:r>
          </a:p>
        </p:txBody>
      </p:sp>
      <p:sp>
        <p:nvSpPr>
          <p:cNvPr id="12295" name="Line 4"/>
          <p:cNvSpPr>
            <a:spLocks noChangeShapeType="1"/>
          </p:cNvSpPr>
          <p:nvPr/>
        </p:nvSpPr>
        <p:spPr bwMode="auto">
          <a:xfrm>
            <a:off x="7239000" y="990600"/>
            <a:ext cx="228600"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graphicFrame>
        <p:nvGraphicFramePr>
          <p:cNvPr id="12290" name="Object 2"/>
          <p:cNvGraphicFramePr>
            <a:graphicFrameLocks noChangeAspect="1"/>
          </p:cNvGraphicFramePr>
          <p:nvPr>
            <p:extLst>
              <p:ext uri="{D42A27DB-BD31-4B8C-83A1-F6EECF244321}">
                <p14:modId xmlns:p14="http://schemas.microsoft.com/office/powerpoint/2010/main" val="92511849"/>
              </p:ext>
            </p:extLst>
          </p:nvPr>
        </p:nvGraphicFramePr>
        <p:xfrm>
          <a:off x="8372475" y="2286000"/>
          <a:ext cx="383721" cy="457200"/>
        </p:xfrm>
        <a:graphic>
          <a:graphicData uri="http://schemas.openxmlformats.org/presentationml/2006/ole">
            <mc:AlternateContent xmlns:mc="http://schemas.openxmlformats.org/markup-compatibility/2006">
              <mc:Choice xmlns:v="urn:schemas-microsoft-com:vml" Requires="v">
                <p:oleObj spid="_x0000_s12377" name="Equation" r:id="rId3" imgW="139680" imgH="164880" progId="Equation.3">
                  <p:embed/>
                </p:oleObj>
              </mc:Choice>
              <mc:Fallback>
                <p:oleObj name="Equation" r:id="rId3" imgW="139680" imgH="164880" progId="Equation.3">
                  <p:embed/>
                  <p:pic>
                    <p:nvPicPr>
                      <p:cNvPr id="0" name="Picture 7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72475" y="2286000"/>
                        <a:ext cx="383721"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291" name="Object 3"/>
          <p:cNvGraphicFramePr>
            <a:graphicFrameLocks noChangeAspect="1"/>
          </p:cNvGraphicFramePr>
          <p:nvPr>
            <p:extLst>
              <p:ext uri="{D42A27DB-BD31-4B8C-83A1-F6EECF244321}">
                <p14:modId xmlns:p14="http://schemas.microsoft.com/office/powerpoint/2010/main" val="900502660"/>
              </p:ext>
            </p:extLst>
          </p:nvPr>
        </p:nvGraphicFramePr>
        <p:xfrm>
          <a:off x="7243763" y="1524000"/>
          <a:ext cx="376238" cy="448284"/>
        </p:xfrm>
        <a:graphic>
          <a:graphicData uri="http://schemas.openxmlformats.org/presentationml/2006/ole">
            <mc:AlternateContent xmlns:mc="http://schemas.openxmlformats.org/markup-compatibility/2006">
              <mc:Choice xmlns:v="urn:schemas-microsoft-com:vml" Requires="v">
                <p:oleObj spid="_x0000_s12378" name="Equation" r:id="rId5" imgW="139680" imgH="164880" progId="Equation.3">
                  <p:embed/>
                </p:oleObj>
              </mc:Choice>
              <mc:Fallback>
                <p:oleObj name="Equation" r:id="rId5" imgW="139680" imgH="164880" progId="Equation.3">
                  <p:embed/>
                  <p:pic>
                    <p:nvPicPr>
                      <p:cNvPr id="0" name="Picture 7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43763" y="1524000"/>
                        <a:ext cx="376238" cy="44828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292" name="Object 4"/>
          <p:cNvGraphicFramePr>
            <a:graphicFrameLocks noGrp="1" noChangeAspect="1"/>
          </p:cNvGraphicFramePr>
          <p:nvPr>
            <p:ph sz="half" idx="2"/>
            <p:extLst>
              <p:ext uri="{D42A27DB-BD31-4B8C-83A1-F6EECF244321}">
                <p14:modId xmlns:p14="http://schemas.microsoft.com/office/powerpoint/2010/main" val="1734527688"/>
              </p:ext>
            </p:extLst>
          </p:nvPr>
        </p:nvGraphicFramePr>
        <p:xfrm>
          <a:off x="3886200" y="2895600"/>
          <a:ext cx="1447800" cy="1034143"/>
        </p:xfrm>
        <a:graphic>
          <a:graphicData uri="http://schemas.openxmlformats.org/presentationml/2006/ole">
            <mc:AlternateContent xmlns:mc="http://schemas.openxmlformats.org/markup-compatibility/2006">
              <mc:Choice xmlns:v="urn:schemas-microsoft-com:vml" Requires="v">
                <p:oleObj spid="_x0000_s12379" name="Equation" r:id="rId6" imgW="583920" imgH="419040" progId="Equation.3">
                  <p:embed/>
                </p:oleObj>
              </mc:Choice>
              <mc:Fallback>
                <p:oleObj name="Equation" r:id="rId6" imgW="583920" imgH="419040" progId="Equation.3">
                  <p:embed/>
                  <p:pic>
                    <p:nvPicPr>
                      <p:cNvPr id="0" name="Picture 80"/>
                      <p:cNvPicPr>
                        <a:picLocks noGrp="1"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86200" y="2895600"/>
                        <a:ext cx="1447800" cy="103414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Text Box 4"/>
          <p:cNvSpPr txBox="1">
            <a:spLocks noChangeArrowheads="1"/>
          </p:cNvSpPr>
          <p:nvPr/>
        </p:nvSpPr>
        <p:spPr bwMode="auto">
          <a:xfrm>
            <a:off x="4049486" y="6222547"/>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8" name="Rectangle 2"/>
          <p:cNvSpPr>
            <a:spLocks noGrp="1" noChangeArrowheads="1"/>
          </p:cNvSpPr>
          <p:nvPr>
            <p:ph type="body" idx="1"/>
          </p:nvPr>
        </p:nvSpPr>
        <p:spPr>
          <a:xfrm>
            <a:off x="112712" y="1524000"/>
            <a:ext cx="8345488" cy="4114800"/>
          </a:xfrm>
        </p:spPr>
        <p:txBody>
          <a:bodyPr/>
          <a:lstStyle/>
          <a:p>
            <a:pPr eaLnBrk="1" hangingPunct="1">
              <a:lnSpc>
                <a:spcPct val="90000"/>
              </a:lnSpc>
              <a:buSzTx/>
              <a:buFont typeface="Tahoma" charset="0"/>
              <a:buChar char=" "/>
            </a:pPr>
            <a:r>
              <a:rPr lang="en-US" sz="2000" dirty="0" smtClean="0"/>
              <a:t>If the condition </a:t>
            </a:r>
            <a:r>
              <a:rPr lang="en-US" sz="2000" i="1" dirty="0" smtClean="0">
                <a:latin typeface="Times New Roman" charset="0"/>
              </a:rPr>
              <a:t>n</a:t>
            </a:r>
            <a:r>
              <a:rPr lang="en-US" sz="2000" dirty="0" smtClean="0"/>
              <a:t> /</a:t>
            </a:r>
            <a:r>
              <a:rPr lang="en-US" sz="2000" i="1" dirty="0" smtClean="0">
                <a:latin typeface="Times New Roman" charset="0"/>
              </a:rPr>
              <a:t>N</a:t>
            </a:r>
            <a:r>
              <a:rPr lang="en-US" sz="2000" dirty="0" smtClean="0"/>
              <a:t> ≤ .05 is not satisfied, we use the </a:t>
            </a:r>
          </a:p>
          <a:p>
            <a:pPr eaLnBrk="1" hangingPunct="1">
              <a:lnSpc>
                <a:spcPct val="90000"/>
              </a:lnSpc>
              <a:buSzTx/>
              <a:buFont typeface="Tahoma" charset="0"/>
              <a:buChar char=" "/>
            </a:pPr>
            <a:r>
              <a:rPr lang="en-US" sz="2000" dirty="0" smtClean="0"/>
              <a:t>following formula to calculate         : </a:t>
            </a:r>
          </a:p>
          <a:p>
            <a:pPr eaLnBrk="1" hangingPunct="1">
              <a:lnSpc>
                <a:spcPct val="90000"/>
              </a:lnSpc>
              <a:buSzTx/>
              <a:buFont typeface="Tahoma" charset="0"/>
              <a:buChar char=" "/>
            </a:pPr>
            <a:endParaRPr lang="en-US" sz="2000" dirty="0" smtClean="0"/>
          </a:p>
          <a:p>
            <a:pPr eaLnBrk="1" hangingPunct="1">
              <a:lnSpc>
                <a:spcPct val="90000"/>
              </a:lnSpc>
              <a:buSzTx/>
              <a:buFont typeface="Tahoma" charset="0"/>
              <a:buChar char=" "/>
            </a:pPr>
            <a:endParaRPr lang="en-US" sz="2000" dirty="0" smtClean="0"/>
          </a:p>
          <a:p>
            <a:pPr eaLnBrk="1" hangingPunct="1">
              <a:lnSpc>
                <a:spcPct val="90000"/>
              </a:lnSpc>
              <a:buSzTx/>
              <a:buFont typeface="Tahoma" charset="0"/>
              <a:buChar char=" "/>
            </a:pPr>
            <a:endParaRPr lang="en-US" sz="2000" dirty="0" smtClean="0"/>
          </a:p>
          <a:p>
            <a:pPr eaLnBrk="1" hangingPunct="1">
              <a:lnSpc>
                <a:spcPct val="90000"/>
              </a:lnSpc>
              <a:buSzTx/>
              <a:buFont typeface="Tahoma" charset="0"/>
              <a:buChar char=" "/>
            </a:pPr>
            <a:endParaRPr lang="en-US" sz="2000" dirty="0" smtClean="0"/>
          </a:p>
          <a:p>
            <a:pPr eaLnBrk="1" hangingPunct="1">
              <a:lnSpc>
                <a:spcPct val="90000"/>
              </a:lnSpc>
              <a:buSzTx/>
              <a:buFont typeface="Tahoma" charset="0"/>
              <a:buChar char=" "/>
            </a:pPr>
            <a:endParaRPr lang="en-US" sz="2000" dirty="0" smtClean="0"/>
          </a:p>
          <a:p>
            <a:pPr eaLnBrk="1" hangingPunct="1">
              <a:lnSpc>
                <a:spcPct val="90000"/>
              </a:lnSpc>
              <a:buSzTx/>
              <a:buFont typeface="Tahoma" charset="0"/>
              <a:buChar char=" "/>
            </a:pPr>
            <a:r>
              <a:rPr lang="en-US" sz="2000" dirty="0" smtClean="0"/>
              <a:t>where the factor            is called the finite population </a:t>
            </a:r>
          </a:p>
          <a:p>
            <a:pPr eaLnBrk="1" hangingPunct="1">
              <a:lnSpc>
                <a:spcPct val="90000"/>
              </a:lnSpc>
              <a:buSzTx/>
              <a:buFont typeface="Tahoma" charset="0"/>
              <a:buChar char=" "/>
            </a:pPr>
            <a:r>
              <a:rPr lang="en-US" sz="2000" dirty="0" smtClean="0"/>
              <a:t>correction factor.</a:t>
            </a:r>
          </a:p>
        </p:txBody>
      </p:sp>
      <p:graphicFrame>
        <p:nvGraphicFramePr>
          <p:cNvPr id="13314" name="Object 2"/>
          <p:cNvGraphicFramePr>
            <a:graphicFrameLocks noChangeAspect="1"/>
          </p:cNvGraphicFramePr>
          <p:nvPr>
            <p:extLst>
              <p:ext uri="{D42A27DB-BD31-4B8C-83A1-F6EECF244321}">
                <p14:modId xmlns:p14="http://schemas.microsoft.com/office/powerpoint/2010/main" val="3450088039"/>
              </p:ext>
            </p:extLst>
          </p:nvPr>
        </p:nvGraphicFramePr>
        <p:xfrm>
          <a:off x="7239000" y="914400"/>
          <a:ext cx="447278" cy="533400"/>
        </p:xfrm>
        <a:graphic>
          <a:graphicData uri="http://schemas.openxmlformats.org/presentationml/2006/ole">
            <mc:AlternateContent xmlns:mc="http://schemas.openxmlformats.org/markup-compatibility/2006">
              <mc:Choice xmlns:v="urn:schemas-microsoft-com:vml" Requires="v">
                <p:oleObj spid="_x0000_s13427" name="Equation" r:id="rId3" imgW="139680" imgH="164880" progId="Equation.3">
                  <p:embed/>
                </p:oleObj>
              </mc:Choice>
              <mc:Fallback>
                <p:oleObj name="Equation" r:id="rId3" imgW="139680" imgH="164880" progId="Equation.3">
                  <p:embed/>
                  <p:pic>
                    <p:nvPicPr>
                      <p:cNvPr id="0" name="Picture 10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39000" y="914400"/>
                        <a:ext cx="447278"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315" name="Object 3"/>
          <p:cNvGraphicFramePr>
            <a:graphicFrameLocks noChangeAspect="1"/>
          </p:cNvGraphicFramePr>
          <p:nvPr>
            <p:extLst>
              <p:ext uri="{D42A27DB-BD31-4B8C-83A1-F6EECF244321}">
                <p14:modId xmlns:p14="http://schemas.microsoft.com/office/powerpoint/2010/main" val="3210293762"/>
              </p:ext>
            </p:extLst>
          </p:nvPr>
        </p:nvGraphicFramePr>
        <p:xfrm>
          <a:off x="4464804" y="1752600"/>
          <a:ext cx="541338" cy="609600"/>
        </p:xfrm>
        <a:graphic>
          <a:graphicData uri="http://schemas.openxmlformats.org/presentationml/2006/ole">
            <mc:AlternateContent xmlns:mc="http://schemas.openxmlformats.org/markup-compatibility/2006">
              <mc:Choice xmlns:v="urn:schemas-microsoft-com:vml" Requires="v">
                <p:oleObj spid="_x0000_s13428" name="Equation" r:id="rId5" imgW="203040" imgH="228600" progId="Equation.3">
                  <p:embed/>
                </p:oleObj>
              </mc:Choice>
              <mc:Fallback>
                <p:oleObj name="Equation" r:id="rId5" imgW="203040" imgH="228600" progId="Equation.3">
                  <p:embed/>
                  <p:pic>
                    <p:nvPicPr>
                      <p:cNvPr id="0" name="Picture 10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64804" y="1752600"/>
                        <a:ext cx="541338" cy="609600"/>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rgbClr val="808080"/>
                              </a:outerShdw>
                            </a:effectLst>
                          </a14:hiddenEffects>
                        </a:ext>
                      </a:extLst>
                    </p:spPr>
                  </p:pic>
                </p:oleObj>
              </mc:Fallback>
            </mc:AlternateContent>
          </a:graphicData>
        </a:graphic>
      </p:graphicFrame>
      <p:graphicFrame>
        <p:nvGraphicFramePr>
          <p:cNvPr id="13316" name="Object 4"/>
          <p:cNvGraphicFramePr>
            <a:graphicFrameLocks noChangeAspect="1"/>
          </p:cNvGraphicFramePr>
          <p:nvPr>
            <p:extLst>
              <p:ext uri="{D42A27DB-BD31-4B8C-83A1-F6EECF244321}">
                <p14:modId xmlns:p14="http://schemas.microsoft.com/office/powerpoint/2010/main" val="1755198164"/>
              </p:ext>
            </p:extLst>
          </p:nvPr>
        </p:nvGraphicFramePr>
        <p:xfrm>
          <a:off x="2743200" y="2438400"/>
          <a:ext cx="2570162" cy="1051430"/>
        </p:xfrm>
        <a:graphic>
          <a:graphicData uri="http://schemas.openxmlformats.org/presentationml/2006/ole">
            <mc:AlternateContent xmlns:mc="http://schemas.openxmlformats.org/markup-compatibility/2006">
              <mc:Choice xmlns:v="urn:schemas-microsoft-com:vml" Requires="v">
                <p:oleObj spid="_x0000_s13429" name="Equation" r:id="rId7" imgW="1079280" imgH="457200" progId="Equation.3">
                  <p:embed/>
                </p:oleObj>
              </mc:Choice>
              <mc:Fallback>
                <p:oleObj name="Equation" r:id="rId7" imgW="1079280" imgH="457200" progId="Equation.3">
                  <p:embed/>
                  <p:pic>
                    <p:nvPicPr>
                      <p:cNvPr id="0" name="Picture 10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43200" y="2438400"/>
                        <a:ext cx="2570162" cy="105143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317" name="Object 5"/>
          <p:cNvGraphicFramePr>
            <a:graphicFrameLocks noChangeAspect="1"/>
          </p:cNvGraphicFramePr>
          <p:nvPr>
            <p:extLst>
              <p:ext uri="{D42A27DB-BD31-4B8C-83A1-F6EECF244321}">
                <p14:modId xmlns:p14="http://schemas.microsoft.com/office/powerpoint/2010/main" val="167044832"/>
              </p:ext>
            </p:extLst>
          </p:nvPr>
        </p:nvGraphicFramePr>
        <p:xfrm>
          <a:off x="2667000" y="3633900"/>
          <a:ext cx="990600" cy="785700"/>
        </p:xfrm>
        <a:graphic>
          <a:graphicData uri="http://schemas.openxmlformats.org/presentationml/2006/ole">
            <mc:AlternateContent xmlns:mc="http://schemas.openxmlformats.org/markup-compatibility/2006">
              <mc:Choice xmlns:v="urn:schemas-microsoft-com:vml" Requires="v">
                <p:oleObj spid="_x0000_s13430" name="Equation" r:id="rId9" imgW="520560" imgH="444240" progId="Equation.3">
                  <p:embed/>
                </p:oleObj>
              </mc:Choice>
              <mc:Fallback>
                <p:oleObj name="Equation" r:id="rId9" imgW="520560" imgH="444240" progId="Equation.3">
                  <p:embed/>
                  <p:pic>
                    <p:nvPicPr>
                      <p:cNvPr id="0" name="Picture 10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667000" y="3633900"/>
                        <a:ext cx="990600" cy="785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320" name="Rectangle 10"/>
          <p:cNvSpPr>
            <a:spLocks noGrp="1" noChangeArrowheads="1"/>
          </p:cNvSpPr>
          <p:nvPr>
            <p:ph type="title"/>
          </p:nvPr>
        </p:nvSpPr>
        <p:spPr>
          <a:noFill/>
        </p:spPr>
        <p:txBody>
          <a:bodyPr/>
          <a:lstStyle/>
          <a:p>
            <a:pPr eaLnBrk="1" hangingPunct="1"/>
            <a:r>
              <a:rPr lang="en-US" sz="2800" dirty="0" smtClean="0"/>
              <a:t>MEAN AND STANDARD DEVIATION OF</a:t>
            </a:r>
            <a:endParaRPr lang="en-US" sz="2800" b="1" i="1" dirty="0" smtClean="0">
              <a:latin typeface="Times New Roman" charset="0"/>
            </a:endParaRPr>
          </a:p>
        </p:txBody>
      </p:sp>
      <p:sp>
        <p:nvSpPr>
          <p:cNvPr id="10" name="Text Box 4"/>
          <p:cNvSpPr txBox="1">
            <a:spLocks noChangeArrowheads="1"/>
          </p:cNvSpPr>
          <p:nvPr/>
        </p:nvSpPr>
        <p:spPr bwMode="auto">
          <a:xfrm>
            <a:off x="4049486" y="6222547"/>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1" name="Rectangle 2"/>
          <p:cNvSpPr>
            <a:spLocks noGrp="1" noChangeArrowheads="1"/>
          </p:cNvSpPr>
          <p:nvPr>
            <p:ph type="title"/>
          </p:nvPr>
        </p:nvSpPr>
        <p:spPr/>
        <p:txBody>
          <a:bodyPr/>
          <a:lstStyle/>
          <a:p>
            <a:pPr eaLnBrk="1" hangingPunct="1"/>
            <a:r>
              <a:rPr lang="en-US" sz="2800" dirty="0" smtClean="0"/>
              <a:t>Two Important Observations</a:t>
            </a:r>
          </a:p>
        </p:txBody>
      </p:sp>
      <p:sp>
        <p:nvSpPr>
          <p:cNvPr id="14342" name="Rectangle 3"/>
          <p:cNvSpPr>
            <a:spLocks noGrp="1" noChangeArrowheads="1"/>
          </p:cNvSpPr>
          <p:nvPr>
            <p:ph type="body" idx="1"/>
          </p:nvPr>
        </p:nvSpPr>
        <p:spPr>
          <a:xfrm>
            <a:off x="457200" y="1524000"/>
            <a:ext cx="8269288" cy="4114800"/>
          </a:xfrm>
        </p:spPr>
        <p:txBody>
          <a:bodyPr/>
          <a:lstStyle/>
          <a:p>
            <a:pPr marL="609600" indent="-609600" eaLnBrk="1" hangingPunct="1">
              <a:buSzPct val="85000"/>
              <a:buFont typeface="Wingdings" charset="2"/>
              <a:buNone/>
            </a:pPr>
            <a:r>
              <a:rPr lang="en-US" sz="2000" dirty="0" smtClean="0"/>
              <a:t>1. The spread of the sampling distribution of       is smaller </a:t>
            </a:r>
          </a:p>
          <a:p>
            <a:pPr marL="609600" indent="-609600" eaLnBrk="1" hangingPunct="1">
              <a:buSzPct val="85000"/>
              <a:buFont typeface="Wingdings" charset="2"/>
              <a:buNone/>
            </a:pPr>
            <a:r>
              <a:rPr lang="en-US" sz="2000" dirty="0" smtClean="0"/>
              <a:t>    than the spread of the corresponding population </a:t>
            </a:r>
          </a:p>
          <a:p>
            <a:pPr marL="609600" indent="-609600" eaLnBrk="1" hangingPunct="1">
              <a:buSzPct val="85000"/>
              <a:buFont typeface="Wingdings" charset="2"/>
              <a:buNone/>
            </a:pPr>
            <a:r>
              <a:rPr lang="en-US" sz="2000" dirty="0"/>
              <a:t> </a:t>
            </a:r>
            <a:r>
              <a:rPr lang="en-US" sz="2000" dirty="0" smtClean="0"/>
              <a:t>   distribution, i.e. </a:t>
            </a:r>
          </a:p>
          <a:p>
            <a:pPr marL="609600" indent="-609600" eaLnBrk="1" hangingPunct="1">
              <a:buSzPct val="85000"/>
              <a:buFont typeface="Wingdings" charset="2"/>
              <a:buNone/>
            </a:pPr>
            <a:endParaRPr lang="en-US" sz="2000" dirty="0" smtClean="0"/>
          </a:p>
          <a:p>
            <a:pPr marL="609600" indent="-609600" eaLnBrk="1" hangingPunct="1">
              <a:buSzPct val="85000"/>
              <a:buFont typeface="Wingdings" charset="2"/>
              <a:buNone/>
            </a:pPr>
            <a:endParaRPr lang="en-US" sz="2000" dirty="0" smtClean="0"/>
          </a:p>
          <a:p>
            <a:pPr marL="609600" indent="-609600" eaLnBrk="1" hangingPunct="1">
              <a:buSzPct val="85000"/>
              <a:buFont typeface="Wingdings" charset="2"/>
              <a:buNone/>
            </a:pPr>
            <a:r>
              <a:rPr lang="en-US" sz="2000" dirty="0" smtClean="0"/>
              <a:t>2.  The standard deviation of the sampling distribution of     </a:t>
            </a:r>
          </a:p>
          <a:p>
            <a:pPr marL="609600" indent="-609600" eaLnBrk="1" hangingPunct="1">
              <a:buSzPct val="85000"/>
              <a:buFont typeface="Wingdings" charset="2"/>
              <a:buNone/>
            </a:pPr>
            <a:r>
              <a:rPr lang="en-US" sz="2000" dirty="0" smtClean="0"/>
              <a:t>     decreases as the sample size increases.</a:t>
            </a:r>
          </a:p>
        </p:txBody>
      </p:sp>
      <p:graphicFrame>
        <p:nvGraphicFramePr>
          <p:cNvPr id="14338" name="Object 2"/>
          <p:cNvGraphicFramePr>
            <a:graphicFrameLocks noChangeAspect="1"/>
          </p:cNvGraphicFramePr>
          <p:nvPr>
            <p:extLst>
              <p:ext uri="{D42A27DB-BD31-4B8C-83A1-F6EECF244321}">
                <p14:modId xmlns:p14="http://schemas.microsoft.com/office/powerpoint/2010/main" val="1922417719"/>
              </p:ext>
            </p:extLst>
          </p:nvPr>
        </p:nvGraphicFramePr>
        <p:xfrm>
          <a:off x="6410325" y="1462391"/>
          <a:ext cx="371475" cy="442609"/>
        </p:xfrm>
        <a:graphic>
          <a:graphicData uri="http://schemas.openxmlformats.org/presentationml/2006/ole">
            <mc:AlternateContent xmlns:mc="http://schemas.openxmlformats.org/markup-compatibility/2006">
              <mc:Choice xmlns:v="urn:schemas-microsoft-com:vml" Requires="v">
                <p:oleObj spid="_x0000_s14424" name="Equation" r:id="rId3" imgW="139680" imgH="164880" progId="Equation.3">
                  <p:embed/>
                </p:oleObj>
              </mc:Choice>
              <mc:Fallback>
                <p:oleObj name="Equation" r:id="rId3" imgW="139680" imgH="164880" progId="Equation.3">
                  <p:embed/>
                  <p:pic>
                    <p:nvPicPr>
                      <p:cNvPr id="0" name="Picture 7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0325" y="1462391"/>
                        <a:ext cx="371475" cy="44260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339" name="Object 3"/>
          <p:cNvGraphicFramePr>
            <a:graphicFrameLocks noChangeAspect="1"/>
          </p:cNvGraphicFramePr>
          <p:nvPr>
            <p:extLst>
              <p:ext uri="{D42A27DB-BD31-4B8C-83A1-F6EECF244321}">
                <p14:modId xmlns:p14="http://schemas.microsoft.com/office/powerpoint/2010/main" val="1017526241"/>
              </p:ext>
            </p:extLst>
          </p:nvPr>
        </p:nvGraphicFramePr>
        <p:xfrm>
          <a:off x="7924800" y="3276600"/>
          <a:ext cx="383721" cy="457200"/>
        </p:xfrm>
        <a:graphic>
          <a:graphicData uri="http://schemas.openxmlformats.org/presentationml/2006/ole">
            <mc:AlternateContent xmlns:mc="http://schemas.openxmlformats.org/markup-compatibility/2006">
              <mc:Choice xmlns:v="urn:schemas-microsoft-com:vml" Requires="v">
                <p:oleObj spid="_x0000_s14425" name="Equation" r:id="rId5" imgW="139680" imgH="164880" progId="Equation.3">
                  <p:embed/>
                </p:oleObj>
              </mc:Choice>
              <mc:Fallback>
                <p:oleObj name="Equation" r:id="rId5" imgW="139680" imgH="164880" progId="Equation.3">
                  <p:embed/>
                  <p:pic>
                    <p:nvPicPr>
                      <p:cNvPr id="0" name="Picture 7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24800" y="3276600"/>
                        <a:ext cx="383721"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340" name="Object 4"/>
          <p:cNvGraphicFramePr>
            <a:graphicFrameLocks noChangeAspect="1"/>
          </p:cNvGraphicFramePr>
          <p:nvPr>
            <p:extLst>
              <p:ext uri="{D42A27DB-BD31-4B8C-83A1-F6EECF244321}">
                <p14:modId xmlns:p14="http://schemas.microsoft.com/office/powerpoint/2010/main" val="91875373"/>
              </p:ext>
            </p:extLst>
          </p:nvPr>
        </p:nvGraphicFramePr>
        <p:xfrm>
          <a:off x="3124200" y="2667000"/>
          <a:ext cx="1600200" cy="686361"/>
        </p:xfrm>
        <a:graphic>
          <a:graphicData uri="http://schemas.openxmlformats.org/presentationml/2006/ole">
            <mc:AlternateContent xmlns:mc="http://schemas.openxmlformats.org/markup-compatibility/2006">
              <mc:Choice xmlns:v="urn:schemas-microsoft-com:vml" Requires="v">
                <p:oleObj spid="_x0000_s14426" name="Equation" r:id="rId6" imgW="533160" imgH="228600" progId="Equation.3">
                  <p:embed/>
                </p:oleObj>
              </mc:Choice>
              <mc:Fallback>
                <p:oleObj name="Equation" r:id="rId6" imgW="533160" imgH="228600" progId="Equation.3">
                  <p:embed/>
                  <p:pic>
                    <p:nvPicPr>
                      <p:cNvPr id="0" name="Picture 7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24200" y="2667000"/>
                        <a:ext cx="1600200" cy="68636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Text Box 4"/>
          <p:cNvSpPr txBox="1">
            <a:spLocks noChangeArrowheads="1"/>
          </p:cNvSpPr>
          <p:nvPr/>
        </p:nvSpPr>
        <p:spPr bwMode="auto">
          <a:xfrm>
            <a:off x="4049486" y="6222547"/>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2"/>
          <p:cNvSpPr>
            <a:spLocks noGrp="1" noChangeArrowheads="1"/>
          </p:cNvSpPr>
          <p:nvPr>
            <p:ph type="title"/>
          </p:nvPr>
        </p:nvSpPr>
        <p:spPr/>
        <p:txBody>
          <a:bodyPr/>
          <a:lstStyle/>
          <a:p>
            <a:pPr eaLnBrk="1" hangingPunct="1"/>
            <a:r>
              <a:rPr lang="en-US" sz="2800" dirty="0" smtClean="0"/>
              <a:t>Example 7-2</a:t>
            </a:r>
          </a:p>
        </p:txBody>
      </p:sp>
      <p:sp>
        <p:nvSpPr>
          <p:cNvPr id="15365" name="Rectangle 3"/>
          <p:cNvSpPr>
            <a:spLocks noGrp="1" noChangeArrowheads="1"/>
          </p:cNvSpPr>
          <p:nvPr>
            <p:ph type="body" idx="1"/>
          </p:nvPr>
        </p:nvSpPr>
        <p:spPr>
          <a:xfrm>
            <a:off x="-152400" y="1600200"/>
            <a:ext cx="8534400" cy="4114800"/>
          </a:xfrm>
        </p:spPr>
        <p:txBody>
          <a:bodyPr/>
          <a:lstStyle/>
          <a:p>
            <a:pPr marL="609600" indent="-609600" eaLnBrk="1" hangingPunct="1">
              <a:lnSpc>
                <a:spcPct val="90000"/>
              </a:lnSpc>
              <a:buFont typeface="Wingdings" charset="2"/>
              <a:buChar char=" "/>
            </a:pPr>
            <a:r>
              <a:rPr lang="en-GB" sz="2000" dirty="0" smtClean="0"/>
              <a:t>The mean wage for all 5000 employees who work at a large </a:t>
            </a:r>
          </a:p>
          <a:p>
            <a:pPr marL="609600" indent="-609600" eaLnBrk="1" hangingPunct="1">
              <a:lnSpc>
                <a:spcPct val="90000"/>
              </a:lnSpc>
              <a:buFont typeface="Wingdings" charset="2"/>
              <a:buChar char=" "/>
            </a:pPr>
            <a:r>
              <a:rPr lang="en-GB" sz="2000" dirty="0" smtClean="0"/>
              <a:t>company is $27.50 and the standard deviation is $3.70. </a:t>
            </a:r>
          </a:p>
          <a:p>
            <a:pPr marL="609600" indent="-609600" eaLnBrk="1" hangingPunct="1">
              <a:lnSpc>
                <a:spcPct val="90000"/>
              </a:lnSpc>
              <a:buFont typeface="Wingdings" charset="2"/>
              <a:buChar char=" "/>
            </a:pPr>
            <a:r>
              <a:rPr lang="en-GB" sz="2000" dirty="0" smtClean="0"/>
              <a:t>Let      be the mean wage per hour for a random sample of </a:t>
            </a:r>
          </a:p>
          <a:p>
            <a:pPr marL="609600" indent="-609600" eaLnBrk="1" hangingPunct="1">
              <a:lnSpc>
                <a:spcPct val="90000"/>
              </a:lnSpc>
              <a:buFont typeface="Wingdings" charset="2"/>
              <a:buChar char=" "/>
            </a:pPr>
            <a:r>
              <a:rPr lang="en-GB" sz="2000" dirty="0" smtClean="0"/>
              <a:t>certain employees selected from this company. Find the </a:t>
            </a:r>
          </a:p>
          <a:p>
            <a:pPr marL="609600" indent="-609600" eaLnBrk="1" hangingPunct="1">
              <a:lnSpc>
                <a:spcPct val="90000"/>
              </a:lnSpc>
              <a:buFont typeface="Wingdings" charset="2"/>
              <a:buChar char=" "/>
            </a:pPr>
            <a:r>
              <a:rPr lang="en-GB" sz="2000" dirty="0" smtClean="0"/>
              <a:t>mean and standard deviation of      for a sample size of</a:t>
            </a:r>
          </a:p>
          <a:p>
            <a:pPr marL="609600" indent="-609600" eaLnBrk="1" hangingPunct="1">
              <a:lnSpc>
                <a:spcPct val="90000"/>
              </a:lnSpc>
              <a:buFont typeface="Wingdings" charset="2"/>
              <a:buChar char=" "/>
            </a:pPr>
            <a:endParaRPr lang="en-GB" sz="2000" dirty="0" smtClean="0"/>
          </a:p>
          <a:p>
            <a:pPr marL="609600" indent="-609600" eaLnBrk="1" hangingPunct="1">
              <a:lnSpc>
                <a:spcPct val="90000"/>
              </a:lnSpc>
              <a:buFont typeface="Wingdings" charset="2"/>
              <a:buChar char=" "/>
            </a:pPr>
            <a:r>
              <a:rPr lang="en-GB" sz="2000" dirty="0" smtClean="0"/>
              <a:t>    (a) 30        (b) 75       (c) 200</a:t>
            </a:r>
            <a:r>
              <a:rPr lang="en-US" sz="2000" dirty="0" smtClean="0"/>
              <a:t>	</a:t>
            </a:r>
          </a:p>
        </p:txBody>
      </p:sp>
      <p:graphicFrame>
        <p:nvGraphicFramePr>
          <p:cNvPr id="15362" name="Object 2"/>
          <p:cNvGraphicFramePr>
            <a:graphicFrameLocks noChangeAspect="1"/>
          </p:cNvGraphicFramePr>
          <p:nvPr>
            <p:extLst>
              <p:ext uri="{D42A27DB-BD31-4B8C-83A1-F6EECF244321}">
                <p14:modId xmlns:p14="http://schemas.microsoft.com/office/powerpoint/2010/main" val="1568879131"/>
              </p:ext>
            </p:extLst>
          </p:nvPr>
        </p:nvGraphicFramePr>
        <p:xfrm>
          <a:off x="4718427" y="2849106"/>
          <a:ext cx="386973" cy="461074"/>
        </p:xfrm>
        <a:graphic>
          <a:graphicData uri="http://schemas.openxmlformats.org/presentationml/2006/ole">
            <mc:AlternateContent xmlns:mc="http://schemas.openxmlformats.org/markup-compatibility/2006">
              <mc:Choice xmlns:v="urn:schemas-microsoft-com:vml" Requires="v">
                <p:oleObj spid="_x0000_s15423" name="Equation" r:id="rId3" imgW="139680" imgH="164880" progId="Equation.3">
                  <p:embed/>
                </p:oleObj>
              </mc:Choice>
              <mc:Fallback>
                <p:oleObj name="Equation" r:id="rId3" imgW="139680" imgH="164880" progId="Equation.3">
                  <p:embed/>
                  <p:pic>
                    <p:nvPicPr>
                      <p:cNvPr id="0" name="Picture 5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18427" y="2849106"/>
                        <a:ext cx="386973" cy="46107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363" name="Object 3"/>
          <p:cNvGraphicFramePr>
            <a:graphicFrameLocks noChangeAspect="1"/>
          </p:cNvGraphicFramePr>
          <p:nvPr>
            <p:extLst>
              <p:ext uri="{D42A27DB-BD31-4B8C-83A1-F6EECF244321}">
                <p14:modId xmlns:p14="http://schemas.microsoft.com/office/powerpoint/2010/main" val="2137499731"/>
              </p:ext>
            </p:extLst>
          </p:nvPr>
        </p:nvGraphicFramePr>
        <p:xfrm>
          <a:off x="1066801" y="2209800"/>
          <a:ext cx="381000" cy="453957"/>
        </p:xfrm>
        <a:graphic>
          <a:graphicData uri="http://schemas.openxmlformats.org/presentationml/2006/ole">
            <mc:AlternateContent xmlns:mc="http://schemas.openxmlformats.org/markup-compatibility/2006">
              <mc:Choice xmlns:v="urn:schemas-microsoft-com:vml" Requires="v">
                <p:oleObj spid="_x0000_s15424" name="Equation" r:id="rId5" imgW="139680" imgH="164880" progId="Equation.3">
                  <p:embed/>
                </p:oleObj>
              </mc:Choice>
              <mc:Fallback>
                <p:oleObj name="Equation" r:id="rId5" imgW="139680" imgH="164880" progId="Equation.3">
                  <p:embed/>
                  <p:pic>
                    <p:nvPicPr>
                      <p:cNvPr id="0" name="Picture 5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6801" y="2209800"/>
                        <a:ext cx="381000" cy="45395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Text Box 4"/>
          <p:cNvSpPr txBox="1">
            <a:spLocks noChangeArrowheads="1"/>
          </p:cNvSpPr>
          <p:nvPr/>
        </p:nvSpPr>
        <p:spPr bwMode="auto">
          <a:xfrm>
            <a:off x="4049486" y="6222547"/>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p:txBody>
          <a:bodyPr/>
          <a:lstStyle/>
          <a:p>
            <a:pPr eaLnBrk="1" hangingPunct="1"/>
            <a:r>
              <a:rPr lang="en-US" sz="2800" dirty="0" smtClean="0"/>
              <a:t>Example 7-2: Solution</a:t>
            </a:r>
          </a:p>
        </p:txBody>
      </p:sp>
      <p:sp>
        <p:nvSpPr>
          <p:cNvPr id="16388" name="Rectangle 3"/>
          <p:cNvSpPr>
            <a:spLocks noGrp="1" noChangeArrowheads="1"/>
          </p:cNvSpPr>
          <p:nvPr>
            <p:ph type="body" idx="1"/>
          </p:nvPr>
        </p:nvSpPr>
        <p:spPr>
          <a:xfrm>
            <a:off x="550862" y="1600200"/>
            <a:ext cx="8269288" cy="1371600"/>
          </a:xfrm>
        </p:spPr>
        <p:txBody>
          <a:bodyPr/>
          <a:lstStyle/>
          <a:p>
            <a:pPr marL="609600" indent="-609600" eaLnBrk="1" hangingPunct="1">
              <a:buSzPct val="85000"/>
              <a:buFont typeface="Wingdings" charset="2"/>
              <a:buNone/>
            </a:pPr>
            <a:r>
              <a:rPr lang="en-US" sz="2000" dirty="0" smtClean="0"/>
              <a:t>(a) </a:t>
            </a:r>
            <a:r>
              <a:rPr lang="en-US" sz="2000" i="1" dirty="0" smtClean="0">
                <a:latin typeface="Times New Roman" charset="0"/>
              </a:rPr>
              <a:t>N</a:t>
            </a:r>
            <a:r>
              <a:rPr lang="en-US" sz="2000" dirty="0" smtClean="0"/>
              <a:t> = 5000,</a:t>
            </a:r>
            <a:r>
              <a:rPr lang="en-US" sz="2000" i="1" dirty="0" smtClean="0"/>
              <a:t> μ</a:t>
            </a:r>
            <a:r>
              <a:rPr lang="en-US" sz="2000" i="1" dirty="0" smtClean="0">
                <a:sym typeface="Mathematica1" pitchFamily="2" charset="2"/>
              </a:rPr>
              <a:t> </a:t>
            </a:r>
            <a:r>
              <a:rPr lang="en-US" sz="2000" dirty="0" smtClean="0">
                <a:sym typeface="Mathematica1" pitchFamily="2" charset="2"/>
              </a:rPr>
              <a:t>= $27.50, </a:t>
            </a:r>
            <a:r>
              <a:rPr lang="en-US" sz="2000" i="1" dirty="0" smtClean="0">
                <a:sym typeface="Mathematica1" pitchFamily="2" charset="2"/>
              </a:rPr>
              <a:t>σ</a:t>
            </a:r>
            <a:r>
              <a:rPr lang="en-US" sz="2000" dirty="0" smtClean="0"/>
              <a:t> = $3.70.  </a:t>
            </a:r>
          </a:p>
          <a:p>
            <a:pPr marL="609600" indent="-609600" eaLnBrk="1" hangingPunct="1">
              <a:buSzPct val="85000"/>
              <a:buFont typeface="Wingdings" charset="2"/>
              <a:buNone/>
            </a:pPr>
            <a:r>
              <a:rPr lang="en-US" sz="2000" dirty="0" smtClean="0"/>
              <a:t>     In this case, </a:t>
            </a:r>
            <a:r>
              <a:rPr lang="en-US" sz="2000" i="1" dirty="0" smtClean="0">
                <a:latin typeface="Times New Roman" charset="0"/>
              </a:rPr>
              <a:t>n</a:t>
            </a:r>
            <a:r>
              <a:rPr lang="en-US" sz="2000" dirty="0" smtClean="0"/>
              <a:t>/</a:t>
            </a:r>
            <a:r>
              <a:rPr lang="en-US" sz="2000" i="1" dirty="0" smtClean="0">
                <a:latin typeface="Times New Roman" charset="0"/>
              </a:rPr>
              <a:t>N </a:t>
            </a:r>
            <a:r>
              <a:rPr lang="en-US" sz="2000" dirty="0" smtClean="0"/>
              <a:t>= 30/5000 = .006 &lt; .05.</a:t>
            </a:r>
          </a:p>
          <a:p>
            <a:pPr marL="609600" indent="-609600" eaLnBrk="1" hangingPunct="1"/>
            <a:endParaRPr lang="en-US" dirty="0" smtClean="0"/>
          </a:p>
        </p:txBody>
      </p:sp>
      <p:graphicFrame>
        <p:nvGraphicFramePr>
          <p:cNvPr id="16386" name="Object 2"/>
          <p:cNvGraphicFramePr>
            <a:graphicFrameLocks noChangeAspect="1"/>
          </p:cNvGraphicFramePr>
          <p:nvPr>
            <p:extLst>
              <p:ext uri="{D42A27DB-BD31-4B8C-83A1-F6EECF244321}">
                <p14:modId xmlns:p14="http://schemas.microsoft.com/office/powerpoint/2010/main" val="1720615741"/>
              </p:ext>
            </p:extLst>
          </p:nvPr>
        </p:nvGraphicFramePr>
        <p:xfrm>
          <a:off x="1543844" y="2590800"/>
          <a:ext cx="3256756" cy="1302315"/>
        </p:xfrm>
        <a:graphic>
          <a:graphicData uri="http://schemas.openxmlformats.org/presentationml/2006/ole">
            <mc:AlternateContent xmlns:mc="http://schemas.openxmlformats.org/markup-compatibility/2006">
              <mc:Choice xmlns:v="urn:schemas-microsoft-com:vml" Requires="v">
                <p:oleObj spid="_x0000_s16417" name="Equation" r:id="rId3" imgW="1650960" imgH="660240" progId="">
                  <p:embed/>
                </p:oleObj>
              </mc:Choice>
              <mc:Fallback>
                <p:oleObj name="Equation" r:id="rId3" imgW="1650960" imgH="660240" progId="">
                  <p:embed/>
                  <p:pic>
                    <p:nvPicPr>
                      <p:cNvPr id="0" name="Picture 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3844" y="2590800"/>
                        <a:ext cx="3256756" cy="130231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 Box 4"/>
          <p:cNvSpPr txBox="1">
            <a:spLocks noChangeArrowheads="1"/>
          </p:cNvSpPr>
          <p:nvPr/>
        </p:nvSpPr>
        <p:spPr bwMode="auto">
          <a:xfrm>
            <a:off x="4049486" y="6222547"/>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p:txBody>
          <a:bodyPr/>
          <a:lstStyle/>
          <a:p>
            <a:pPr eaLnBrk="1" hangingPunct="1"/>
            <a:r>
              <a:rPr lang="en-US" sz="2800" dirty="0" smtClean="0"/>
              <a:t>Example 7-2: Solution</a:t>
            </a:r>
          </a:p>
        </p:txBody>
      </p:sp>
      <p:sp>
        <p:nvSpPr>
          <p:cNvPr id="17412" name="Rectangle 3"/>
          <p:cNvSpPr>
            <a:spLocks noGrp="1" noChangeArrowheads="1"/>
          </p:cNvSpPr>
          <p:nvPr>
            <p:ph type="body" idx="1"/>
          </p:nvPr>
        </p:nvSpPr>
        <p:spPr>
          <a:xfrm>
            <a:off x="569912" y="1524000"/>
            <a:ext cx="8269288" cy="1524000"/>
          </a:xfrm>
        </p:spPr>
        <p:txBody>
          <a:bodyPr/>
          <a:lstStyle/>
          <a:p>
            <a:pPr marL="609600" indent="-609600" eaLnBrk="1" hangingPunct="1">
              <a:buSzPct val="85000"/>
              <a:buFont typeface="Wingdings" charset="2"/>
              <a:buNone/>
            </a:pPr>
            <a:r>
              <a:rPr lang="en-US" sz="2000" dirty="0" smtClean="0"/>
              <a:t>(b) </a:t>
            </a:r>
            <a:r>
              <a:rPr lang="en-US" sz="2000" i="1" dirty="0" smtClean="0">
                <a:latin typeface="Times New Roman" charset="0"/>
              </a:rPr>
              <a:t>N</a:t>
            </a:r>
            <a:r>
              <a:rPr lang="en-US" sz="2000" dirty="0" smtClean="0"/>
              <a:t> = 5000, μ</a:t>
            </a:r>
            <a:r>
              <a:rPr lang="en-US" sz="2000" dirty="0" smtClean="0">
                <a:sym typeface="Mathematica1" pitchFamily="2" charset="2"/>
              </a:rPr>
              <a:t> = $27.50, σ</a:t>
            </a:r>
            <a:r>
              <a:rPr lang="en-US" sz="2000" dirty="0" smtClean="0"/>
              <a:t> = $3.70.  </a:t>
            </a:r>
          </a:p>
          <a:p>
            <a:pPr marL="609600" indent="-609600" eaLnBrk="1" hangingPunct="1">
              <a:buSzPct val="85000"/>
              <a:buFont typeface="Wingdings" charset="2"/>
              <a:buNone/>
            </a:pPr>
            <a:r>
              <a:rPr lang="en-US" sz="2000" dirty="0"/>
              <a:t> </a:t>
            </a:r>
            <a:r>
              <a:rPr lang="en-US" sz="2000" dirty="0" smtClean="0"/>
              <a:t>    In this case, </a:t>
            </a:r>
            <a:r>
              <a:rPr lang="en-US" sz="2000" i="1" dirty="0" smtClean="0">
                <a:latin typeface="Times New Roman" charset="0"/>
              </a:rPr>
              <a:t>n</a:t>
            </a:r>
            <a:r>
              <a:rPr lang="en-US" sz="2000" dirty="0" smtClean="0"/>
              <a:t>/</a:t>
            </a:r>
            <a:r>
              <a:rPr lang="en-US" sz="2000" i="1" dirty="0" smtClean="0">
                <a:latin typeface="Times New Roman" charset="0"/>
              </a:rPr>
              <a:t>N </a:t>
            </a:r>
            <a:r>
              <a:rPr lang="en-US" sz="2000" dirty="0" smtClean="0"/>
              <a:t>= 75/5000 = .015 &lt; .05. </a:t>
            </a:r>
          </a:p>
          <a:p>
            <a:pPr marL="609600" indent="-609600" eaLnBrk="1" hangingPunct="1"/>
            <a:endParaRPr lang="en-US" dirty="0" smtClean="0"/>
          </a:p>
        </p:txBody>
      </p:sp>
      <p:graphicFrame>
        <p:nvGraphicFramePr>
          <p:cNvPr id="17410" name="Object 2"/>
          <p:cNvGraphicFramePr>
            <a:graphicFrameLocks noChangeAspect="1"/>
          </p:cNvGraphicFramePr>
          <p:nvPr>
            <p:extLst>
              <p:ext uri="{D42A27DB-BD31-4B8C-83A1-F6EECF244321}">
                <p14:modId xmlns:p14="http://schemas.microsoft.com/office/powerpoint/2010/main" val="3554314182"/>
              </p:ext>
            </p:extLst>
          </p:nvPr>
        </p:nvGraphicFramePr>
        <p:xfrm>
          <a:off x="1752600" y="2514600"/>
          <a:ext cx="3581400" cy="1432134"/>
        </p:xfrm>
        <a:graphic>
          <a:graphicData uri="http://schemas.openxmlformats.org/presentationml/2006/ole">
            <mc:AlternateContent xmlns:mc="http://schemas.openxmlformats.org/markup-compatibility/2006">
              <mc:Choice xmlns:v="urn:schemas-microsoft-com:vml" Requires="v">
                <p:oleObj spid="_x0000_s17441" name="Equation" r:id="rId3" imgW="1650960" imgH="660240" progId="">
                  <p:embed/>
                </p:oleObj>
              </mc:Choice>
              <mc:Fallback>
                <p:oleObj name="Equation" r:id="rId3" imgW="1650960" imgH="660240" progId="">
                  <p:embed/>
                  <p:pic>
                    <p:nvPicPr>
                      <p:cNvPr id="0" name="Picture 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2600" y="2514600"/>
                        <a:ext cx="3581400" cy="143213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 Box 4"/>
          <p:cNvSpPr txBox="1">
            <a:spLocks noChangeArrowheads="1"/>
          </p:cNvSpPr>
          <p:nvPr/>
        </p:nvSpPr>
        <p:spPr bwMode="auto">
          <a:xfrm>
            <a:off x="4049486" y="6222547"/>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p:cNvSpPr>
            <a:spLocks noGrp="1" noChangeArrowheads="1"/>
          </p:cNvSpPr>
          <p:nvPr>
            <p:ph type="title"/>
          </p:nvPr>
        </p:nvSpPr>
        <p:spPr/>
        <p:txBody>
          <a:bodyPr/>
          <a:lstStyle/>
          <a:p>
            <a:pPr eaLnBrk="1" hangingPunct="1"/>
            <a:r>
              <a:rPr lang="en-US" sz="2800" dirty="0" smtClean="0"/>
              <a:t>Example 7-2: Solution</a:t>
            </a:r>
          </a:p>
        </p:txBody>
      </p:sp>
      <p:sp>
        <p:nvSpPr>
          <p:cNvPr id="18436" name="Rectangle 3"/>
          <p:cNvSpPr>
            <a:spLocks noGrp="1" noChangeArrowheads="1"/>
          </p:cNvSpPr>
          <p:nvPr>
            <p:ph type="body" idx="1"/>
          </p:nvPr>
        </p:nvSpPr>
        <p:spPr>
          <a:xfrm>
            <a:off x="417512" y="1524000"/>
            <a:ext cx="8269288" cy="1487487"/>
          </a:xfrm>
        </p:spPr>
        <p:txBody>
          <a:bodyPr/>
          <a:lstStyle/>
          <a:p>
            <a:pPr marL="609600" indent="-609600" eaLnBrk="1" hangingPunct="1">
              <a:buSzPct val="85000"/>
              <a:buFont typeface="Wingdings" charset="2"/>
              <a:buNone/>
            </a:pPr>
            <a:r>
              <a:rPr lang="en-US" sz="2000" dirty="0" smtClean="0"/>
              <a:t>(c) In this case, </a:t>
            </a:r>
            <a:r>
              <a:rPr lang="en-US" sz="2000" i="1" dirty="0" smtClean="0"/>
              <a:t>n</a:t>
            </a:r>
            <a:r>
              <a:rPr lang="en-US" sz="2000" dirty="0" smtClean="0"/>
              <a:t> = 200 and </a:t>
            </a:r>
          </a:p>
          <a:p>
            <a:pPr marL="609600" indent="-609600" eaLnBrk="1" hangingPunct="1">
              <a:buSzPct val="85000"/>
              <a:buFont typeface="Wingdings" charset="2"/>
              <a:buNone/>
            </a:pPr>
            <a:r>
              <a:rPr lang="en-US" sz="2000" i="1" dirty="0">
                <a:latin typeface="Times New Roman" charset="0"/>
              </a:rPr>
              <a:t> </a:t>
            </a:r>
            <a:r>
              <a:rPr lang="en-US" sz="2000" i="1" dirty="0" smtClean="0">
                <a:latin typeface="Times New Roman" charset="0"/>
              </a:rPr>
              <a:t>      n</a:t>
            </a:r>
            <a:r>
              <a:rPr lang="en-US" sz="2000" dirty="0" smtClean="0"/>
              <a:t>/</a:t>
            </a:r>
            <a:r>
              <a:rPr lang="en-US" sz="2000" i="1" dirty="0" smtClean="0">
                <a:latin typeface="Times New Roman" charset="0"/>
              </a:rPr>
              <a:t>N </a:t>
            </a:r>
            <a:r>
              <a:rPr lang="en-US" sz="2000" dirty="0" smtClean="0"/>
              <a:t>= 200/5000 = .04, which is less than.05. </a:t>
            </a:r>
          </a:p>
          <a:p>
            <a:pPr marL="609600" indent="-609600" eaLnBrk="1" hangingPunct="1">
              <a:buSzPct val="85000"/>
              <a:buFont typeface="Wingdings" charset="2"/>
              <a:buNone/>
            </a:pPr>
            <a:endParaRPr lang="en-US" dirty="0" smtClean="0"/>
          </a:p>
          <a:p>
            <a:pPr marL="609600" indent="-609600" eaLnBrk="1" hangingPunct="1">
              <a:buSzPct val="85000"/>
              <a:buFont typeface="Wingdings" charset="2"/>
              <a:buNone/>
            </a:pPr>
            <a:endParaRPr lang="en-US" dirty="0" smtClean="0"/>
          </a:p>
          <a:p>
            <a:pPr marL="609600" indent="-609600" eaLnBrk="1" hangingPunct="1"/>
            <a:endParaRPr lang="en-US" dirty="0" smtClean="0"/>
          </a:p>
        </p:txBody>
      </p:sp>
      <p:graphicFrame>
        <p:nvGraphicFramePr>
          <p:cNvPr id="18434" name="Object 2"/>
          <p:cNvGraphicFramePr>
            <a:graphicFrameLocks noChangeAspect="1"/>
          </p:cNvGraphicFramePr>
          <p:nvPr>
            <p:extLst>
              <p:ext uri="{D42A27DB-BD31-4B8C-83A1-F6EECF244321}">
                <p14:modId xmlns:p14="http://schemas.microsoft.com/office/powerpoint/2010/main" val="2527495460"/>
              </p:ext>
            </p:extLst>
          </p:nvPr>
        </p:nvGraphicFramePr>
        <p:xfrm>
          <a:off x="1905000" y="2438400"/>
          <a:ext cx="3363800" cy="1295400"/>
        </p:xfrm>
        <a:graphic>
          <a:graphicData uri="http://schemas.openxmlformats.org/presentationml/2006/ole">
            <mc:AlternateContent xmlns:mc="http://schemas.openxmlformats.org/markup-compatibility/2006">
              <mc:Choice xmlns:v="urn:schemas-microsoft-com:vml" Requires="v">
                <p:oleObj spid="_x0000_s18465" name="Equation" r:id="rId3" imgW="1714320" imgH="660240" progId="">
                  <p:embed/>
                </p:oleObj>
              </mc:Choice>
              <mc:Fallback>
                <p:oleObj name="Equation" r:id="rId3" imgW="1714320" imgH="660240" progId="">
                  <p:embed/>
                  <p:pic>
                    <p:nvPicPr>
                      <p:cNvPr id="0" name="Picture 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2438400"/>
                        <a:ext cx="3363800" cy="1295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 Box 4"/>
          <p:cNvSpPr txBox="1">
            <a:spLocks noChangeArrowheads="1"/>
          </p:cNvSpPr>
          <p:nvPr/>
        </p:nvSpPr>
        <p:spPr bwMode="auto">
          <a:xfrm>
            <a:off x="4049486" y="6222547"/>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a:xfrm>
            <a:off x="457200" y="381000"/>
            <a:ext cx="8229600" cy="1139825"/>
          </a:xfrm>
        </p:spPr>
        <p:txBody>
          <a:bodyPr/>
          <a:lstStyle/>
          <a:p>
            <a:pPr eaLnBrk="1" hangingPunct="1"/>
            <a:r>
              <a:rPr lang="en-US" sz="2800" dirty="0" smtClean="0"/>
              <a:t>SHAPE OF THE SAMPLING DISTRIBUTION OF </a:t>
            </a:r>
            <a:r>
              <a:rPr lang="en-US" sz="2800" i="1" dirty="0" smtClean="0">
                <a:latin typeface="Times New Roman" charset="0"/>
              </a:rPr>
              <a:t>x</a:t>
            </a:r>
            <a:r>
              <a:rPr lang="en-US" sz="2800" dirty="0" smtClean="0"/>
              <a:t> </a:t>
            </a:r>
          </a:p>
        </p:txBody>
      </p:sp>
      <p:sp>
        <p:nvSpPr>
          <p:cNvPr id="82947" name="Rectangle 3"/>
          <p:cNvSpPr>
            <a:spLocks noGrp="1" noChangeArrowheads="1"/>
          </p:cNvSpPr>
          <p:nvPr>
            <p:ph type="body" idx="1"/>
          </p:nvPr>
        </p:nvSpPr>
        <p:spPr>
          <a:xfrm>
            <a:off x="536643" y="1464013"/>
            <a:ext cx="7848600" cy="1752600"/>
          </a:xfrm>
        </p:spPr>
        <p:txBody>
          <a:bodyPr/>
          <a:lstStyle/>
          <a:p>
            <a:pPr eaLnBrk="1" hangingPunct="1"/>
            <a:r>
              <a:rPr lang="en-US" sz="2000" dirty="0" smtClean="0"/>
              <a:t>The population from which samples are drawn has a normal distribution.</a:t>
            </a:r>
          </a:p>
          <a:p>
            <a:pPr eaLnBrk="1" hangingPunct="1"/>
            <a:r>
              <a:rPr lang="en-US" sz="2000" dirty="0" smtClean="0"/>
              <a:t>The population from which samples are drawn does not have a normal distribution.</a:t>
            </a:r>
          </a:p>
        </p:txBody>
      </p:sp>
      <p:sp>
        <p:nvSpPr>
          <p:cNvPr id="82948" name="Line 4"/>
          <p:cNvSpPr>
            <a:spLocks noChangeShapeType="1"/>
          </p:cNvSpPr>
          <p:nvPr/>
        </p:nvSpPr>
        <p:spPr bwMode="auto">
          <a:xfrm>
            <a:off x="8153400" y="1143000"/>
            <a:ext cx="228600"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 name="Text Box 4"/>
          <p:cNvSpPr txBox="1">
            <a:spLocks noChangeArrowheads="1"/>
          </p:cNvSpPr>
          <p:nvPr/>
        </p:nvSpPr>
        <p:spPr bwMode="auto">
          <a:xfrm>
            <a:off x="4049486" y="6222547"/>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62000"/>
            <a:ext cx="9144000" cy="65098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2"/>
          <p:cNvSpPr>
            <a:spLocks noGrp="1" noChangeArrowheads="1"/>
          </p:cNvSpPr>
          <p:nvPr>
            <p:ph type="title"/>
          </p:nvPr>
        </p:nvSpPr>
        <p:spPr/>
        <p:txBody>
          <a:bodyPr/>
          <a:lstStyle/>
          <a:p>
            <a:pPr eaLnBrk="1" hangingPunct="1"/>
            <a:r>
              <a:rPr lang="en-US" sz="2800" dirty="0" smtClean="0"/>
              <a:t>Sampling From a Normally Distributed Population</a:t>
            </a:r>
          </a:p>
        </p:txBody>
      </p:sp>
      <p:sp>
        <p:nvSpPr>
          <p:cNvPr id="19461" name="Rectangle 3"/>
          <p:cNvSpPr>
            <a:spLocks noGrp="1" noChangeArrowheads="1"/>
          </p:cNvSpPr>
          <p:nvPr>
            <p:ph type="body" idx="1"/>
          </p:nvPr>
        </p:nvSpPr>
        <p:spPr>
          <a:xfrm>
            <a:off x="112712" y="1524000"/>
            <a:ext cx="8574088" cy="2057400"/>
          </a:xfrm>
        </p:spPr>
        <p:txBody>
          <a:bodyPr/>
          <a:lstStyle/>
          <a:p>
            <a:pPr eaLnBrk="1" hangingPunct="1">
              <a:buFont typeface="Wingdings" charset="2"/>
              <a:buChar char=" "/>
            </a:pPr>
            <a:r>
              <a:rPr lang="en-US" sz="2000" dirty="0" smtClean="0"/>
              <a:t>If the population from which the samples  are drawn is normally distributed with mean </a:t>
            </a:r>
            <a:r>
              <a:rPr lang="el-GR" sz="2000" dirty="0" smtClean="0">
                <a:latin typeface="Times New Roman" charset="0"/>
                <a:cs typeface="Times New Roman" charset="0"/>
              </a:rPr>
              <a:t>μ</a:t>
            </a:r>
            <a:r>
              <a:rPr lang="en-US" sz="2000" dirty="0" smtClean="0"/>
              <a:t> and standard deviation </a:t>
            </a:r>
            <a:r>
              <a:rPr lang="el-GR" sz="2000" dirty="0" smtClean="0">
                <a:latin typeface="Times New Roman" charset="0"/>
                <a:cs typeface="Times New Roman" charset="0"/>
              </a:rPr>
              <a:t>σ</a:t>
            </a:r>
            <a:r>
              <a:rPr lang="en-US" sz="2000" dirty="0" smtClean="0"/>
              <a:t>, then the sampling distribution of the sample mean,     , will also be normally distributed with the following mean and standard deviation, irrespective of the sample size:</a:t>
            </a:r>
          </a:p>
        </p:txBody>
      </p:sp>
      <p:graphicFrame>
        <p:nvGraphicFramePr>
          <p:cNvPr id="19458" name="Object 2"/>
          <p:cNvGraphicFramePr>
            <a:graphicFrameLocks noChangeAspect="1"/>
          </p:cNvGraphicFramePr>
          <p:nvPr>
            <p:extLst>
              <p:ext uri="{D42A27DB-BD31-4B8C-83A1-F6EECF244321}">
                <p14:modId xmlns:p14="http://schemas.microsoft.com/office/powerpoint/2010/main" val="2679609276"/>
              </p:ext>
            </p:extLst>
          </p:nvPr>
        </p:nvGraphicFramePr>
        <p:xfrm>
          <a:off x="2420938" y="3276600"/>
          <a:ext cx="3294062" cy="862586"/>
        </p:xfrm>
        <a:graphic>
          <a:graphicData uri="http://schemas.openxmlformats.org/presentationml/2006/ole">
            <mc:AlternateContent xmlns:mc="http://schemas.openxmlformats.org/markup-compatibility/2006">
              <mc:Choice xmlns:v="urn:schemas-microsoft-com:vml" Requires="v">
                <p:oleObj spid="_x0000_s19517" name="Equation" r:id="rId3" imgW="1600200" imgH="419040" progId="">
                  <p:embed/>
                </p:oleObj>
              </mc:Choice>
              <mc:Fallback>
                <p:oleObj name="Equation" r:id="rId3" imgW="1600200" imgH="419040" progId="">
                  <p:embed/>
                  <p:pic>
                    <p:nvPicPr>
                      <p:cNvPr id="0" name="Picture 5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20938" y="3276600"/>
                        <a:ext cx="3294062" cy="86258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459" name="Object 3"/>
          <p:cNvGraphicFramePr>
            <a:graphicFrameLocks noChangeAspect="1"/>
          </p:cNvGraphicFramePr>
          <p:nvPr>
            <p:extLst>
              <p:ext uri="{D42A27DB-BD31-4B8C-83A1-F6EECF244321}">
                <p14:modId xmlns:p14="http://schemas.microsoft.com/office/powerpoint/2010/main" val="210229036"/>
              </p:ext>
            </p:extLst>
          </p:nvPr>
        </p:nvGraphicFramePr>
        <p:xfrm>
          <a:off x="7199313" y="2072898"/>
          <a:ext cx="370714" cy="441702"/>
        </p:xfrm>
        <a:graphic>
          <a:graphicData uri="http://schemas.openxmlformats.org/presentationml/2006/ole">
            <mc:AlternateContent xmlns:mc="http://schemas.openxmlformats.org/markup-compatibility/2006">
              <mc:Choice xmlns:v="urn:schemas-microsoft-com:vml" Requires="v">
                <p:oleObj spid="_x0000_s19518" name="Equation" r:id="rId5" imgW="139680" imgH="164880" progId="Equation.3">
                  <p:embed/>
                </p:oleObj>
              </mc:Choice>
              <mc:Fallback>
                <p:oleObj name="Equation" r:id="rId5" imgW="139680" imgH="164880" progId="Equation.3">
                  <p:embed/>
                  <p:pic>
                    <p:nvPicPr>
                      <p:cNvPr id="0" name="Picture 5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99313" y="2072898"/>
                        <a:ext cx="370714" cy="44170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Text Box 4"/>
          <p:cNvSpPr txBox="1">
            <a:spLocks noChangeArrowheads="1"/>
          </p:cNvSpPr>
          <p:nvPr/>
        </p:nvSpPr>
        <p:spPr bwMode="auto">
          <a:xfrm>
            <a:off x="4049486" y="6222547"/>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a:spLocks noGrp="1" noChangeArrowheads="1"/>
          </p:cNvSpPr>
          <p:nvPr>
            <p:ph type="title"/>
          </p:nvPr>
        </p:nvSpPr>
        <p:spPr/>
        <p:txBody>
          <a:bodyPr/>
          <a:lstStyle/>
          <a:p>
            <a:pPr eaLnBrk="1" hangingPunct="1"/>
            <a:r>
              <a:rPr lang="en-US" sz="2800" dirty="0" smtClean="0">
                <a:solidFill>
                  <a:schemeClr val="accent2"/>
                </a:solidFill>
              </a:rPr>
              <a:t>Figure 7.2 Population distribution and sampling        distributions of     .</a:t>
            </a:r>
          </a:p>
        </p:txBody>
      </p:sp>
      <p:graphicFrame>
        <p:nvGraphicFramePr>
          <p:cNvPr id="20482" name="Object 2"/>
          <p:cNvGraphicFramePr>
            <a:graphicFrameLocks noChangeAspect="1"/>
          </p:cNvGraphicFramePr>
          <p:nvPr>
            <p:extLst>
              <p:ext uri="{D42A27DB-BD31-4B8C-83A1-F6EECF244321}">
                <p14:modId xmlns:p14="http://schemas.microsoft.com/office/powerpoint/2010/main" val="1265803370"/>
              </p:ext>
            </p:extLst>
          </p:nvPr>
        </p:nvGraphicFramePr>
        <p:xfrm>
          <a:off x="2749550" y="914400"/>
          <a:ext cx="383721" cy="457200"/>
        </p:xfrm>
        <a:graphic>
          <a:graphicData uri="http://schemas.openxmlformats.org/presentationml/2006/ole">
            <mc:AlternateContent xmlns:mc="http://schemas.openxmlformats.org/markup-compatibility/2006">
              <mc:Choice xmlns:v="urn:schemas-microsoft-com:vml" Requires="v">
                <p:oleObj spid="_x0000_s20515" name="Equation" r:id="rId3" imgW="139680" imgH="164880" progId="Equation.3">
                  <p:embed/>
                </p:oleObj>
              </mc:Choice>
              <mc:Fallback>
                <p:oleObj name="Equation" r:id="rId3" imgW="139680" imgH="164880" progId="Equation.3">
                  <p:embed/>
                  <p:pic>
                    <p:nvPicPr>
                      <p:cNvPr id="0" name="Picture 3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9550" y="914400"/>
                        <a:ext cx="383721"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 Box 4"/>
          <p:cNvSpPr txBox="1">
            <a:spLocks noChangeArrowheads="1"/>
          </p:cNvSpPr>
          <p:nvPr/>
        </p:nvSpPr>
        <p:spPr bwMode="auto">
          <a:xfrm>
            <a:off x="4049486" y="6222547"/>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1000" y="1529481"/>
            <a:ext cx="8534400" cy="4718919"/>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a:spLocks noGrp="1" noChangeArrowheads="1"/>
          </p:cNvSpPr>
          <p:nvPr>
            <p:ph type="title"/>
          </p:nvPr>
        </p:nvSpPr>
        <p:spPr/>
        <p:txBody>
          <a:bodyPr/>
          <a:lstStyle/>
          <a:p>
            <a:pPr eaLnBrk="1" hangingPunct="1"/>
            <a:r>
              <a:rPr lang="en-US" sz="2800" dirty="0" smtClean="0">
                <a:solidFill>
                  <a:schemeClr val="accent2"/>
                </a:solidFill>
              </a:rPr>
              <a:t>Figure 7.2 Population distribution and sampling        distributions of      .</a:t>
            </a:r>
          </a:p>
        </p:txBody>
      </p:sp>
      <p:graphicFrame>
        <p:nvGraphicFramePr>
          <p:cNvPr id="20482" name="Object 2"/>
          <p:cNvGraphicFramePr>
            <a:graphicFrameLocks noChangeAspect="1"/>
          </p:cNvGraphicFramePr>
          <p:nvPr>
            <p:extLst>
              <p:ext uri="{D42A27DB-BD31-4B8C-83A1-F6EECF244321}">
                <p14:modId xmlns:p14="http://schemas.microsoft.com/office/powerpoint/2010/main" val="678165008"/>
              </p:ext>
            </p:extLst>
          </p:nvPr>
        </p:nvGraphicFramePr>
        <p:xfrm>
          <a:off x="2749550" y="914400"/>
          <a:ext cx="383721" cy="457200"/>
        </p:xfrm>
        <a:graphic>
          <a:graphicData uri="http://schemas.openxmlformats.org/presentationml/2006/ole">
            <mc:AlternateContent xmlns:mc="http://schemas.openxmlformats.org/markup-compatibility/2006">
              <mc:Choice xmlns:v="urn:schemas-microsoft-com:vml" Requires="v">
                <p:oleObj spid="_x0000_s122907" name="Equation" r:id="rId3" imgW="139680" imgH="164880" progId="Equation.3">
                  <p:embed/>
                </p:oleObj>
              </mc:Choice>
              <mc:Fallback>
                <p:oleObj name="Equation" r:id="rId3" imgW="139680" imgH="164880" progId="Equation.3">
                  <p:embed/>
                  <p:pic>
                    <p:nvPicPr>
                      <p:cNvPr id="0" name="Picture 2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9550" y="914400"/>
                        <a:ext cx="383721"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 Box 4"/>
          <p:cNvSpPr txBox="1">
            <a:spLocks noChangeArrowheads="1"/>
          </p:cNvSpPr>
          <p:nvPr/>
        </p:nvSpPr>
        <p:spPr bwMode="auto">
          <a:xfrm>
            <a:off x="4049486" y="6222547"/>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7200" y="1722449"/>
            <a:ext cx="8382000" cy="4221151"/>
          </a:xfrm>
          <a:prstGeom prst="rect">
            <a:avLst/>
          </a:prstGeom>
        </p:spPr>
      </p:pic>
    </p:spTree>
    <p:extLst>
      <p:ext uri="{BB962C8B-B14F-4D97-AF65-F5344CB8AC3E}">
        <p14:creationId xmlns:p14="http://schemas.microsoft.com/office/powerpoint/2010/main" val="156166660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8" name="Rectangle 2"/>
          <p:cNvSpPr>
            <a:spLocks noGrp="1" noChangeArrowheads="1"/>
          </p:cNvSpPr>
          <p:nvPr>
            <p:ph type="title"/>
          </p:nvPr>
        </p:nvSpPr>
        <p:spPr/>
        <p:txBody>
          <a:bodyPr/>
          <a:lstStyle/>
          <a:p>
            <a:pPr eaLnBrk="1" hangingPunct="1"/>
            <a:r>
              <a:rPr lang="en-US" sz="2800" dirty="0" smtClean="0"/>
              <a:t>Example 7-3</a:t>
            </a:r>
          </a:p>
        </p:txBody>
      </p:sp>
      <p:sp>
        <p:nvSpPr>
          <p:cNvPr id="21509" name="Rectangle 3"/>
          <p:cNvSpPr>
            <a:spLocks noGrp="1" noChangeArrowheads="1"/>
          </p:cNvSpPr>
          <p:nvPr>
            <p:ph type="body" idx="1"/>
          </p:nvPr>
        </p:nvSpPr>
        <p:spPr>
          <a:xfrm>
            <a:off x="533400" y="1524000"/>
            <a:ext cx="7924800" cy="3886200"/>
          </a:xfrm>
        </p:spPr>
        <p:txBody>
          <a:bodyPr/>
          <a:lstStyle/>
          <a:p>
            <a:pPr marL="0" indent="0" eaLnBrk="1" hangingPunct="1">
              <a:lnSpc>
                <a:spcPct val="90000"/>
              </a:lnSpc>
              <a:buNone/>
            </a:pPr>
            <a:r>
              <a:rPr lang="en-GB" sz="2000" dirty="0" smtClean="0"/>
              <a:t>In a recent SAT, the mean score for all </a:t>
            </a:r>
            <a:r>
              <a:rPr lang="en-US" sz="2000" dirty="0" smtClean="0"/>
              <a:t>examinees</a:t>
            </a:r>
            <a:r>
              <a:rPr lang="en-GB" sz="2000" dirty="0" smtClean="0"/>
              <a:t> was </a:t>
            </a:r>
          </a:p>
          <a:p>
            <a:pPr marL="0" indent="0" eaLnBrk="1" hangingPunct="1">
              <a:lnSpc>
                <a:spcPct val="90000"/>
              </a:lnSpc>
              <a:buNone/>
            </a:pPr>
            <a:r>
              <a:rPr lang="en-GB" sz="2000" dirty="0" smtClean="0"/>
              <a:t>1020. Assume that the distribution of SAT scores of all </a:t>
            </a:r>
          </a:p>
          <a:p>
            <a:pPr marL="0" indent="0" eaLnBrk="1" hangingPunct="1">
              <a:lnSpc>
                <a:spcPct val="90000"/>
              </a:lnSpc>
              <a:buNone/>
            </a:pPr>
            <a:r>
              <a:rPr lang="en-GB" sz="2000" dirty="0" smtClean="0"/>
              <a:t>examinees is normal with the mean of 1020 and a standard </a:t>
            </a:r>
          </a:p>
          <a:p>
            <a:pPr marL="0" indent="0" eaLnBrk="1" hangingPunct="1">
              <a:lnSpc>
                <a:spcPct val="90000"/>
              </a:lnSpc>
              <a:buNone/>
            </a:pPr>
            <a:r>
              <a:rPr lang="en-GB" sz="2000" dirty="0" smtClean="0"/>
              <a:t>deviation of 153. Let     be the mean SAT score of a </a:t>
            </a:r>
          </a:p>
          <a:p>
            <a:pPr marL="0" indent="0" eaLnBrk="1" hangingPunct="1">
              <a:lnSpc>
                <a:spcPct val="90000"/>
              </a:lnSpc>
              <a:buNone/>
            </a:pPr>
            <a:r>
              <a:rPr lang="en-GB" sz="2000" dirty="0" smtClean="0"/>
              <a:t>random sample of certain examinees. Calculate the mean </a:t>
            </a:r>
          </a:p>
          <a:p>
            <a:pPr marL="0" indent="0" eaLnBrk="1" hangingPunct="1">
              <a:lnSpc>
                <a:spcPct val="90000"/>
              </a:lnSpc>
              <a:buNone/>
            </a:pPr>
            <a:r>
              <a:rPr lang="en-GB" sz="2000" dirty="0" smtClean="0"/>
              <a:t>and standard deviation of      and describe the shape of its </a:t>
            </a:r>
          </a:p>
          <a:p>
            <a:pPr marL="0" indent="0" eaLnBrk="1" hangingPunct="1">
              <a:lnSpc>
                <a:spcPct val="90000"/>
              </a:lnSpc>
              <a:buNone/>
            </a:pPr>
            <a:r>
              <a:rPr lang="en-GB" sz="2000" dirty="0" smtClean="0"/>
              <a:t>sampling distribution when the sample size is</a:t>
            </a:r>
          </a:p>
          <a:p>
            <a:pPr marL="577850" indent="-577850" eaLnBrk="1" hangingPunct="1">
              <a:lnSpc>
                <a:spcPct val="90000"/>
              </a:lnSpc>
              <a:buFont typeface="Wingdings" charset="2"/>
              <a:buChar char=" "/>
            </a:pPr>
            <a:r>
              <a:rPr lang="en-GB" sz="2000" dirty="0" smtClean="0"/>
              <a:t>     (a) 16        (b) 50         (c) 1000</a:t>
            </a:r>
            <a:endParaRPr lang="en-US" sz="2000" dirty="0" smtClean="0"/>
          </a:p>
        </p:txBody>
      </p:sp>
      <p:graphicFrame>
        <p:nvGraphicFramePr>
          <p:cNvPr id="21506" name="Object 2"/>
          <p:cNvGraphicFramePr>
            <a:graphicFrameLocks noChangeAspect="1"/>
          </p:cNvGraphicFramePr>
          <p:nvPr>
            <p:extLst>
              <p:ext uri="{D42A27DB-BD31-4B8C-83A1-F6EECF244321}">
                <p14:modId xmlns:p14="http://schemas.microsoft.com/office/powerpoint/2010/main" val="1604832803"/>
              </p:ext>
            </p:extLst>
          </p:nvPr>
        </p:nvGraphicFramePr>
        <p:xfrm>
          <a:off x="3349625" y="2438400"/>
          <a:ext cx="384175" cy="457200"/>
        </p:xfrm>
        <a:graphic>
          <a:graphicData uri="http://schemas.openxmlformats.org/presentationml/2006/ole">
            <mc:AlternateContent xmlns:mc="http://schemas.openxmlformats.org/markup-compatibility/2006">
              <mc:Choice xmlns:v="urn:schemas-microsoft-com:vml" Requires="v">
                <p:oleObj spid="_x0000_s21565" name="Equation" r:id="rId3" imgW="139680" imgH="164880" progId="Equation.3">
                  <p:embed/>
                </p:oleObj>
              </mc:Choice>
              <mc:Fallback>
                <p:oleObj name="Equation" r:id="rId3" imgW="139680" imgH="164880" progId="Equation.3">
                  <p:embed/>
                  <p:pic>
                    <p:nvPicPr>
                      <p:cNvPr id="0" name="Picture 5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49625" y="2438400"/>
                        <a:ext cx="384175" cy="457200"/>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rgbClr val="808080"/>
                              </a:outerShdw>
                            </a:effectLst>
                          </a14:hiddenEffects>
                        </a:ext>
                      </a:extLst>
                    </p:spPr>
                  </p:pic>
                </p:oleObj>
              </mc:Fallback>
            </mc:AlternateContent>
          </a:graphicData>
        </a:graphic>
      </p:graphicFrame>
      <p:graphicFrame>
        <p:nvGraphicFramePr>
          <p:cNvPr id="21507" name="Object 3"/>
          <p:cNvGraphicFramePr>
            <a:graphicFrameLocks noChangeAspect="1"/>
          </p:cNvGraphicFramePr>
          <p:nvPr>
            <p:extLst>
              <p:ext uri="{D42A27DB-BD31-4B8C-83A1-F6EECF244321}">
                <p14:modId xmlns:p14="http://schemas.microsoft.com/office/powerpoint/2010/main" val="79328029"/>
              </p:ext>
            </p:extLst>
          </p:nvPr>
        </p:nvGraphicFramePr>
        <p:xfrm>
          <a:off x="4019551" y="3155196"/>
          <a:ext cx="358130" cy="426204"/>
        </p:xfrm>
        <a:graphic>
          <a:graphicData uri="http://schemas.openxmlformats.org/presentationml/2006/ole">
            <mc:AlternateContent xmlns:mc="http://schemas.openxmlformats.org/markup-compatibility/2006">
              <mc:Choice xmlns:v="urn:schemas-microsoft-com:vml" Requires="v">
                <p:oleObj spid="_x0000_s21566" name="Equation" r:id="rId5" imgW="139680" imgH="164880" progId="Equation.3">
                  <p:embed/>
                </p:oleObj>
              </mc:Choice>
              <mc:Fallback>
                <p:oleObj name="Equation" r:id="rId5" imgW="139680" imgH="164880" progId="Equation.3">
                  <p:embed/>
                  <p:pic>
                    <p:nvPicPr>
                      <p:cNvPr id="0" name="Picture 5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19551" y="3155196"/>
                        <a:ext cx="358130" cy="4262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Text Box 4"/>
          <p:cNvSpPr txBox="1">
            <a:spLocks noChangeArrowheads="1"/>
          </p:cNvSpPr>
          <p:nvPr/>
        </p:nvSpPr>
        <p:spPr bwMode="auto">
          <a:xfrm>
            <a:off x="4049486" y="6222547"/>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2"/>
          <p:cNvSpPr>
            <a:spLocks noGrp="1" noChangeArrowheads="1"/>
          </p:cNvSpPr>
          <p:nvPr>
            <p:ph type="title"/>
          </p:nvPr>
        </p:nvSpPr>
        <p:spPr/>
        <p:txBody>
          <a:bodyPr/>
          <a:lstStyle/>
          <a:p>
            <a:pPr eaLnBrk="1" hangingPunct="1"/>
            <a:r>
              <a:rPr lang="en-US" sz="2800" dirty="0" smtClean="0"/>
              <a:t>Example 7-3: Solution</a:t>
            </a:r>
          </a:p>
        </p:txBody>
      </p:sp>
      <p:sp>
        <p:nvSpPr>
          <p:cNvPr id="22532" name="Rectangle 3"/>
          <p:cNvSpPr>
            <a:spLocks noGrp="1" noChangeArrowheads="1"/>
          </p:cNvSpPr>
          <p:nvPr>
            <p:ph type="body" idx="1"/>
          </p:nvPr>
        </p:nvSpPr>
        <p:spPr>
          <a:xfrm>
            <a:off x="457200" y="1524000"/>
            <a:ext cx="8345488" cy="2097087"/>
          </a:xfrm>
        </p:spPr>
        <p:txBody>
          <a:bodyPr/>
          <a:lstStyle/>
          <a:p>
            <a:pPr marL="609600" indent="-609600" eaLnBrk="1" hangingPunct="1">
              <a:buSzPct val="85000"/>
              <a:buFont typeface="Wingdings" charset="2"/>
              <a:buNone/>
            </a:pPr>
            <a:r>
              <a:rPr lang="en-US" sz="2000" dirty="0" smtClean="0"/>
              <a:t>(a) μ</a:t>
            </a:r>
            <a:r>
              <a:rPr lang="en-US" sz="2000" dirty="0" smtClean="0">
                <a:sym typeface="Mathematica1" pitchFamily="2" charset="2"/>
              </a:rPr>
              <a:t> = 1020 and σ</a:t>
            </a:r>
            <a:r>
              <a:rPr lang="en-US" sz="2000" dirty="0" smtClean="0"/>
              <a:t> = 153. </a:t>
            </a:r>
          </a:p>
          <a:p>
            <a:pPr marL="609600" indent="-609600" eaLnBrk="1" hangingPunct="1"/>
            <a:endParaRPr lang="en-US" dirty="0" smtClean="0"/>
          </a:p>
        </p:txBody>
      </p:sp>
      <p:graphicFrame>
        <p:nvGraphicFramePr>
          <p:cNvPr id="22530" name="Object 2"/>
          <p:cNvGraphicFramePr>
            <a:graphicFrameLocks noChangeAspect="1"/>
          </p:cNvGraphicFramePr>
          <p:nvPr>
            <p:extLst>
              <p:ext uri="{D42A27DB-BD31-4B8C-83A1-F6EECF244321}">
                <p14:modId xmlns:p14="http://schemas.microsoft.com/office/powerpoint/2010/main" val="3284513999"/>
              </p:ext>
            </p:extLst>
          </p:nvPr>
        </p:nvGraphicFramePr>
        <p:xfrm>
          <a:off x="1295400" y="2133601"/>
          <a:ext cx="2916238" cy="1123044"/>
        </p:xfrm>
        <a:graphic>
          <a:graphicData uri="http://schemas.openxmlformats.org/presentationml/2006/ole">
            <mc:AlternateContent xmlns:mc="http://schemas.openxmlformats.org/markup-compatibility/2006">
              <mc:Choice xmlns:v="urn:schemas-microsoft-com:vml" Requires="v">
                <p:oleObj spid="_x0000_s22562" name="Equation" r:id="rId3" imgW="1714320" imgH="660240" progId="">
                  <p:embed/>
                </p:oleObj>
              </mc:Choice>
              <mc:Fallback>
                <p:oleObj name="Equation" r:id="rId3" imgW="1714320" imgH="660240" progId="">
                  <p:embed/>
                  <p:pic>
                    <p:nvPicPr>
                      <p:cNvPr id="0" name="Picture 2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5400" y="2133601"/>
                        <a:ext cx="2916238" cy="11230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 Box 4"/>
          <p:cNvSpPr txBox="1">
            <a:spLocks noChangeArrowheads="1"/>
          </p:cNvSpPr>
          <p:nvPr/>
        </p:nvSpPr>
        <p:spPr bwMode="auto">
          <a:xfrm>
            <a:off x="4049486" y="6222547"/>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3"/>
          <p:cNvSpPr>
            <a:spLocks noGrp="1" noChangeArrowheads="1"/>
          </p:cNvSpPr>
          <p:nvPr>
            <p:ph type="title"/>
          </p:nvPr>
        </p:nvSpPr>
        <p:spPr/>
        <p:txBody>
          <a:bodyPr/>
          <a:lstStyle/>
          <a:p>
            <a:pPr eaLnBrk="1" hangingPunct="1"/>
            <a:r>
              <a:rPr lang="en-US" sz="2800" dirty="0" smtClean="0"/>
              <a:t>Figure 7.3</a:t>
            </a:r>
          </a:p>
        </p:txBody>
      </p:sp>
      <p:sp>
        <p:nvSpPr>
          <p:cNvPr id="6" name="Text Box 4"/>
          <p:cNvSpPr txBox="1">
            <a:spLocks noChangeArrowheads="1"/>
          </p:cNvSpPr>
          <p:nvPr/>
        </p:nvSpPr>
        <p:spPr bwMode="auto">
          <a:xfrm>
            <a:off x="4049486" y="6222547"/>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33047" y="2057208"/>
            <a:ext cx="6477905" cy="2743583"/>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p:cNvSpPr>
            <a:spLocks noGrp="1" noChangeArrowheads="1"/>
          </p:cNvSpPr>
          <p:nvPr>
            <p:ph type="title"/>
          </p:nvPr>
        </p:nvSpPr>
        <p:spPr/>
        <p:txBody>
          <a:bodyPr/>
          <a:lstStyle/>
          <a:p>
            <a:pPr eaLnBrk="1" hangingPunct="1"/>
            <a:r>
              <a:rPr lang="en-US" sz="2800" dirty="0" smtClean="0"/>
              <a:t>Example 7-3: Solution</a:t>
            </a:r>
          </a:p>
        </p:txBody>
      </p:sp>
      <p:sp>
        <p:nvSpPr>
          <p:cNvPr id="23556" name="Rectangle 3"/>
          <p:cNvSpPr>
            <a:spLocks noGrp="1" noChangeArrowheads="1"/>
          </p:cNvSpPr>
          <p:nvPr>
            <p:ph type="body" idx="1"/>
          </p:nvPr>
        </p:nvSpPr>
        <p:spPr>
          <a:xfrm>
            <a:off x="475954" y="1600200"/>
            <a:ext cx="8345488" cy="725487"/>
          </a:xfrm>
        </p:spPr>
        <p:txBody>
          <a:bodyPr/>
          <a:lstStyle/>
          <a:p>
            <a:pPr marL="609600" indent="-609600" eaLnBrk="1" hangingPunct="1">
              <a:buSzPct val="85000"/>
              <a:buFont typeface="Wingdings" charset="2"/>
              <a:buNone/>
            </a:pPr>
            <a:r>
              <a:rPr lang="en-US" sz="2000" dirty="0" smtClean="0"/>
              <a:t>(b)</a:t>
            </a:r>
          </a:p>
          <a:p>
            <a:pPr marL="609600" indent="-609600" eaLnBrk="1" hangingPunct="1"/>
            <a:endParaRPr lang="en-US" dirty="0" smtClean="0"/>
          </a:p>
        </p:txBody>
      </p:sp>
      <p:graphicFrame>
        <p:nvGraphicFramePr>
          <p:cNvPr id="23554" name="Object 2"/>
          <p:cNvGraphicFramePr>
            <a:graphicFrameLocks noChangeAspect="1"/>
          </p:cNvGraphicFramePr>
          <p:nvPr>
            <p:extLst>
              <p:ext uri="{D42A27DB-BD31-4B8C-83A1-F6EECF244321}">
                <p14:modId xmlns:p14="http://schemas.microsoft.com/office/powerpoint/2010/main" val="1789044721"/>
              </p:ext>
            </p:extLst>
          </p:nvPr>
        </p:nvGraphicFramePr>
        <p:xfrm>
          <a:off x="1295401" y="1981200"/>
          <a:ext cx="3124199" cy="1203130"/>
        </p:xfrm>
        <a:graphic>
          <a:graphicData uri="http://schemas.openxmlformats.org/presentationml/2006/ole">
            <mc:AlternateContent xmlns:mc="http://schemas.openxmlformats.org/markup-compatibility/2006">
              <mc:Choice xmlns:v="urn:schemas-microsoft-com:vml" Requires="v">
                <p:oleObj spid="_x0000_s23585" name="Equation" r:id="rId3" imgW="1714320" imgH="660240" progId="">
                  <p:embed/>
                </p:oleObj>
              </mc:Choice>
              <mc:Fallback>
                <p:oleObj name="Equation" r:id="rId3" imgW="1714320" imgH="660240" progId="">
                  <p:embed/>
                  <p:pic>
                    <p:nvPicPr>
                      <p:cNvPr id="0" name="Picture 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5401" y="1981200"/>
                        <a:ext cx="3124199" cy="120313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 Box 4"/>
          <p:cNvSpPr txBox="1">
            <a:spLocks noChangeArrowheads="1"/>
          </p:cNvSpPr>
          <p:nvPr/>
        </p:nvSpPr>
        <p:spPr bwMode="auto">
          <a:xfrm>
            <a:off x="4049486" y="6222547"/>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p:txBody>
          <a:bodyPr/>
          <a:lstStyle/>
          <a:p>
            <a:pPr eaLnBrk="1" hangingPunct="1"/>
            <a:r>
              <a:rPr lang="en-US" sz="2800" dirty="0" smtClean="0"/>
              <a:t>Figure 7.4</a:t>
            </a:r>
          </a:p>
        </p:txBody>
      </p:sp>
      <p:sp>
        <p:nvSpPr>
          <p:cNvPr id="6" name="Text Box 4"/>
          <p:cNvSpPr txBox="1">
            <a:spLocks noChangeArrowheads="1"/>
          </p:cNvSpPr>
          <p:nvPr/>
        </p:nvSpPr>
        <p:spPr bwMode="auto">
          <a:xfrm>
            <a:off x="4049486" y="6222547"/>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33047" y="1814287"/>
            <a:ext cx="6477905" cy="3229426"/>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2"/>
          <p:cNvSpPr>
            <a:spLocks noGrp="1" noChangeArrowheads="1"/>
          </p:cNvSpPr>
          <p:nvPr>
            <p:ph type="title"/>
          </p:nvPr>
        </p:nvSpPr>
        <p:spPr/>
        <p:txBody>
          <a:bodyPr/>
          <a:lstStyle/>
          <a:p>
            <a:pPr eaLnBrk="1" hangingPunct="1"/>
            <a:r>
              <a:rPr lang="en-US" sz="2800" dirty="0" smtClean="0"/>
              <a:t>Example 7-3: Solution</a:t>
            </a:r>
          </a:p>
        </p:txBody>
      </p:sp>
      <p:sp>
        <p:nvSpPr>
          <p:cNvPr id="24580" name="Rectangle 3"/>
          <p:cNvSpPr>
            <a:spLocks noGrp="1" noChangeArrowheads="1"/>
          </p:cNvSpPr>
          <p:nvPr>
            <p:ph type="body" idx="1"/>
          </p:nvPr>
        </p:nvSpPr>
        <p:spPr>
          <a:xfrm>
            <a:off x="493712" y="1524000"/>
            <a:ext cx="8345488" cy="1106487"/>
          </a:xfrm>
        </p:spPr>
        <p:txBody>
          <a:bodyPr/>
          <a:lstStyle/>
          <a:p>
            <a:pPr marL="609600" indent="-609600" eaLnBrk="1" hangingPunct="1">
              <a:buSzPct val="85000"/>
              <a:buFont typeface="Wingdings" charset="2"/>
              <a:buNone/>
            </a:pPr>
            <a:r>
              <a:rPr lang="en-US" sz="2000" dirty="0" smtClean="0"/>
              <a:t>(c)</a:t>
            </a:r>
          </a:p>
          <a:p>
            <a:pPr marL="609600" indent="-609600" eaLnBrk="1" hangingPunct="1"/>
            <a:endParaRPr lang="en-US" dirty="0" smtClean="0"/>
          </a:p>
        </p:txBody>
      </p:sp>
      <p:graphicFrame>
        <p:nvGraphicFramePr>
          <p:cNvPr id="24578" name="Object 2"/>
          <p:cNvGraphicFramePr>
            <a:graphicFrameLocks noChangeAspect="1"/>
          </p:cNvGraphicFramePr>
          <p:nvPr>
            <p:extLst>
              <p:ext uri="{D42A27DB-BD31-4B8C-83A1-F6EECF244321}">
                <p14:modId xmlns:p14="http://schemas.microsoft.com/office/powerpoint/2010/main" val="2674248740"/>
              </p:ext>
            </p:extLst>
          </p:nvPr>
        </p:nvGraphicFramePr>
        <p:xfrm>
          <a:off x="1371600" y="2057400"/>
          <a:ext cx="3352800" cy="1227503"/>
        </p:xfrm>
        <a:graphic>
          <a:graphicData uri="http://schemas.openxmlformats.org/presentationml/2006/ole">
            <mc:AlternateContent xmlns:mc="http://schemas.openxmlformats.org/markup-compatibility/2006">
              <mc:Choice xmlns:v="urn:schemas-microsoft-com:vml" Requires="v">
                <p:oleObj spid="_x0000_s24609" name="Equation" r:id="rId3" imgW="1803240" imgH="660240" progId="">
                  <p:embed/>
                </p:oleObj>
              </mc:Choice>
              <mc:Fallback>
                <p:oleObj name="Equation" r:id="rId3" imgW="1803240" imgH="660240" progId="">
                  <p:embed/>
                  <p:pic>
                    <p:nvPicPr>
                      <p:cNvPr id="0" name="Picture 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1600" y="2057400"/>
                        <a:ext cx="3352800" cy="122750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 Box 4"/>
          <p:cNvSpPr txBox="1">
            <a:spLocks noChangeArrowheads="1"/>
          </p:cNvSpPr>
          <p:nvPr/>
        </p:nvSpPr>
        <p:spPr bwMode="auto">
          <a:xfrm>
            <a:off x="4049486" y="6222547"/>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p:txBody>
          <a:bodyPr/>
          <a:lstStyle/>
          <a:p>
            <a:pPr eaLnBrk="1" hangingPunct="1"/>
            <a:r>
              <a:rPr lang="en-US" sz="2800" dirty="0" smtClean="0"/>
              <a:t>Figure 7.5</a:t>
            </a:r>
          </a:p>
        </p:txBody>
      </p:sp>
      <p:sp>
        <p:nvSpPr>
          <p:cNvPr id="6" name="Text Box 4"/>
          <p:cNvSpPr txBox="1">
            <a:spLocks noChangeArrowheads="1"/>
          </p:cNvSpPr>
          <p:nvPr/>
        </p:nvSpPr>
        <p:spPr bwMode="auto">
          <a:xfrm>
            <a:off x="4049486" y="6222547"/>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04468" y="1709497"/>
            <a:ext cx="6535063" cy="3439005"/>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5" name="Rectangle 2"/>
          <p:cNvSpPr>
            <a:spLocks noGrp="1" noChangeArrowheads="1"/>
          </p:cNvSpPr>
          <p:nvPr>
            <p:ph type="title"/>
          </p:nvPr>
        </p:nvSpPr>
        <p:spPr/>
        <p:txBody>
          <a:bodyPr/>
          <a:lstStyle/>
          <a:p>
            <a:pPr eaLnBrk="1" hangingPunct="1"/>
            <a:r>
              <a:rPr lang="en-US" sz="2800" dirty="0" smtClean="0"/>
              <a:t>Sampling From a Population That Is Not Normally Distributed</a:t>
            </a:r>
          </a:p>
        </p:txBody>
      </p:sp>
      <p:sp>
        <p:nvSpPr>
          <p:cNvPr id="25606" name="Rectangle 3"/>
          <p:cNvSpPr>
            <a:spLocks noGrp="1" noChangeArrowheads="1"/>
          </p:cNvSpPr>
          <p:nvPr>
            <p:ph type="body" idx="1"/>
          </p:nvPr>
        </p:nvSpPr>
        <p:spPr>
          <a:xfrm>
            <a:off x="112712" y="1524000"/>
            <a:ext cx="8650288" cy="4459288"/>
          </a:xfrm>
        </p:spPr>
        <p:txBody>
          <a:bodyPr/>
          <a:lstStyle/>
          <a:p>
            <a:pPr eaLnBrk="1" hangingPunct="1">
              <a:lnSpc>
                <a:spcPct val="90000"/>
              </a:lnSpc>
              <a:buFont typeface="Wingdings" charset="2"/>
              <a:buChar char=" "/>
            </a:pPr>
            <a:r>
              <a:rPr lang="en-US" sz="2000" dirty="0" smtClean="0">
                <a:solidFill>
                  <a:schemeClr val="folHlink"/>
                </a:solidFill>
              </a:rPr>
              <a:t>Central Limit Theorem</a:t>
            </a:r>
            <a:r>
              <a:rPr lang="en-US" sz="2000" dirty="0" smtClean="0"/>
              <a:t> </a:t>
            </a:r>
          </a:p>
          <a:p>
            <a:pPr eaLnBrk="1" hangingPunct="1">
              <a:lnSpc>
                <a:spcPct val="90000"/>
              </a:lnSpc>
              <a:buFont typeface="Wingdings" charset="2"/>
              <a:buChar char=" "/>
            </a:pPr>
            <a:endParaRPr lang="en-US" sz="2000" dirty="0" smtClean="0"/>
          </a:p>
          <a:p>
            <a:pPr eaLnBrk="1" hangingPunct="1">
              <a:lnSpc>
                <a:spcPct val="90000"/>
              </a:lnSpc>
              <a:buFont typeface="Wingdings" charset="2"/>
              <a:buChar char=" "/>
            </a:pPr>
            <a:r>
              <a:rPr lang="en-US" sz="2000" dirty="0" smtClean="0"/>
              <a:t>According to the </a:t>
            </a:r>
            <a:r>
              <a:rPr lang="en-US" sz="2000" b="1" i="1" u="sng" dirty="0" smtClean="0">
                <a:solidFill>
                  <a:schemeClr val="hlink"/>
                </a:solidFill>
              </a:rPr>
              <a:t>central limit theorem</a:t>
            </a:r>
            <a:r>
              <a:rPr lang="en-US" sz="2000" dirty="0" smtClean="0"/>
              <a:t>, for a large sample </a:t>
            </a:r>
          </a:p>
          <a:p>
            <a:pPr eaLnBrk="1" hangingPunct="1">
              <a:lnSpc>
                <a:spcPct val="90000"/>
              </a:lnSpc>
              <a:buFont typeface="Wingdings" charset="2"/>
              <a:buChar char=" "/>
            </a:pPr>
            <a:r>
              <a:rPr lang="en-US" sz="2000" dirty="0" smtClean="0"/>
              <a:t>size, the sampling distribution of      is approximately normal, </a:t>
            </a:r>
          </a:p>
          <a:p>
            <a:pPr eaLnBrk="1" hangingPunct="1">
              <a:lnSpc>
                <a:spcPct val="90000"/>
              </a:lnSpc>
              <a:buFont typeface="Wingdings" charset="2"/>
              <a:buChar char=" "/>
            </a:pPr>
            <a:r>
              <a:rPr lang="en-US" sz="2000" dirty="0" smtClean="0"/>
              <a:t>irrespective of the shape of the population distribution. The </a:t>
            </a:r>
          </a:p>
          <a:p>
            <a:pPr eaLnBrk="1" hangingPunct="1">
              <a:lnSpc>
                <a:spcPct val="90000"/>
              </a:lnSpc>
              <a:buFont typeface="Wingdings" charset="2"/>
              <a:buChar char=" "/>
            </a:pPr>
            <a:r>
              <a:rPr lang="en-US" sz="2000" dirty="0" smtClean="0"/>
              <a:t>mean and standard deviation of the sampling distribution of      </a:t>
            </a:r>
          </a:p>
          <a:p>
            <a:pPr eaLnBrk="1" hangingPunct="1">
              <a:lnSpc>
                <a:spcPct val="90000"/>
              </a:lnSpc>
              <a:buFont typeface="Wingdings" charset="2"/>
              <a:buChar char=" "/>
            </a:pPr>
            <a:r>
              <a:rPr lang="en-US" sz="2000" dirty="0" smtClean="0"/>
              <a:t>are </a:t>
            </a:r>
          </a:p>
          <a:p>
            <a:pPr eaLnBrk="1" hangingPunct="1">
              <a:lnSpc>
                <a:spcPct val="90000"/>
              </a:lnSpc>
              <a:buFont typeface="Wingdings" charset="2"/>
              <a:buChar char=" "/>
            </a:pPr>
            <a:endParaRPr lang="en-US" sz="2000" dirty="0" smtClean="0"/>
          </a:p>
          <a:p>
            <a:pPr eaLnBrk="1" hangingPunct="1">
              <a:lnSpc>
                <a:spcPct val="90000"/>
              </a:lnSpc>
              <a:buFont typeface="Wingdings" charset="2"/>
              <a:buChar char=" "/>
            </a:pPr>
            <a:endParaRPr lang="en-US" sz="2000" dirty="0" smtClean="0"/>
          </a:p>
          <a:p>
            <a:pPr eaLnBrk="1" hangingPunct="1">
              <a:lnSpc>
                <a:spcPct val="90000"/>
              </a:lnSpc>
              <a:buFont typeface="Wingdings" charset="2"/>
              <a:buChar char=" "/>
            </a:pPr>
            <a:endParaRPr lang="en-US" sz="2000" dirty="0" smtClean="0"/>
          </a:p>
          <a:p>
            <a:pPr eaLnBrk="1" hangingPunct="1">
              <a:lnSpc>
                <a:spcPct val="90000"/>
              </a:lnSpc>
              <a:buFont typeface="Wingdings" charset="2"/>
              <a:buChar char=" "/>
            </a:pPr>
            <a:r>
              <a:rPr lang="en-US" sz="2000" dirty="0" smtClean="0"/>
              <a:t>The sample size is usually considered to be large if </a:t>
            </a:r>
            <a:r>
              <a:rPr lang="en-US" sz="2000" i="1" dirty="0" smtClean="0">
                <a:latin typeface="Times New Roman" charset="0"/>
              </a:rPr>
              <a:t>n</a:t>
            </a:r>
            <a:r>
              <a:rPr lang="en-US" sz="2000" dirty="0" smtClean="0"/>
              <a:t> ≥ 30.</a:t>
            </a:r>
          </a:p>
        </p:txBody>
      </p:sp>
      <p:graphicFrame>
        <p:nvGraphicFramePr>
          <p:cNvPr id="25602" name="Object 2"/>
          <p:cNvGraphicFramePr>
            <a:graphicFrameLocks noChangeAspect="1"/>
          </p:cNvGraphicFramePr>
          <p:nvPr>
            <p:extLst>
              <p:ext uri="{D42A27DB-BD31-4B8C-83A1-F6EECF244321}">
                <p14:modId xmlns:p14="http://schemas.microsoft.com/office/powerpoint/2010/main" val="2993943121"/>
              </p:ext>
            </p:extLst>
          </p:nvPr>
        </p:nvGraphicFramePr>
        <p:xfrm>
          <a:off x="2640807" y="3733800"/>
          <a:ext cx="3141662" cy="925471"/>
        </p:xfrm>
        <a:graphic>
          <a:graphicData uri="http://schemas.openxmlformats.org/presentationml/2006/ole">
            <mc:AlternateContent xmlns:mc="http://schemas.openxmlformats.org/markup-compatibility/2006">
              <mc:Choice xmlns:v="urn:schemas-microsoft-com:vml" Requires="v">
                <p:oleObj spid="_x0000_s25688" name="Equation" r:id="rId3" imgW="1422360" imgH="419040" progId="Equation.3">
                  <p:embed/>
                </p:oleObj>
              </mc:Choice>
              <mc:Fallback>
                <p:oleObj name="Equation" r:id="rId3" imgW="1422360" imgH="419040" progId="Equation.3">
                  <p:embed/>
                  <p:pic>
                    <p:nvPicPr>
                      <p:cNvPr id="0" name="Picture 7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40807" y="3733800"/>
                        <a:ext cx="3141662" cy="92547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603" name="Object 3"/>
          <p:cNvGraphicFramePr>
            <a:graphicFrameLocks noChangeAspect="1"/>
          </p:cNvGraphicFramePr>
          <p:nvPr>
            <p:extLst>
              <p:ext uri="{D42A27DB-BD31-4B8C-83A1-F6EECF244321}">
                <p14:modId xmlns:p14="http://schemas.microsoft.com/office/powerpoint/2010/main" val="507984476"/>
              </p:ext>
            </p:extLst>
          </p:nvPr>
        </p:nvGraphicFramePr>
        <p:xfrm>
          <a:off x="8305800" y="3124200"/>
          <a:ext cx="380999" cy="453420"/>
        </p:xfrm>
        <a:graphic>
          <a:graphicData uri="http://schemas.openxmlformats.org/presentationml/2006/ole">
            <mc:AlternateContent xmlns:mc="http://schemas.openxmlformats.org/markup-compatibility/2006">
              <mc:Choice xmlns:v="urn:schemas-microsoft-com:vml" Requires="v">
                <p:oleObj spid="_x0000_s25689" name="Equation" r:id="rId5" imgW="139680" imgH="164880" progId="Equation.3">
                  <p:embed/>
                </p:oleObj>
              </mc:Choice>
              <mc:Fallback>
                <p:oleObj name="Equation" r:id="rId5" imgW="139680" imgH="164880" progId="Equation.3">
                  <p:embed/>
                  <p:pic>
                    <p:nvPicPr>
                      <p:cNvPr id="0" name="Picture 7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05800" y="3124200"/>
                        <a:ext cx="380999" cy="45342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604" name="Object 4"/>
          <p:cNvGraphicFramePr>
            <a:graphicFrameLocks noChangeAspect="1"/>
          </p:cNvGraphicFramePr>
          <p:nvPr>
            <p:extLst>
              <p:ext uri="{D42A27DB-BD31-4B8C-83A1-F6EECF244321}">
                <p14:modId xmlns:p14="http://schemas.microsoft.com/office/powerpoint/2010/main" val="3986862234"/>
              </p:ext>
            </p:extLst>
          </p:nvPr>
        </p:nvGraphicFramePr>
        <p:xfrm>
          <a:off x="4873626" y="2514600"/>
          <a:ext cx="320146" cy="381000"/>
        </p:xfrm>
        <a:graphic>
          <a:graphicData uri="http://schemas.openxmlformats.org/presentationml/2006/ole">
            <mc:AlternateContent xmlns:mc="http://schemas.openxmlformats.org/markup-compatibility/2006">
              <mc:Choice xmlns:v="urn:schemas-microsoft-com:vml" Requires="v">
                <p:oleObj spid="_x0000_s25690" name="Equation" r:id="rId7" imgW="139680" imgH="164880" progId="Equation.3">
                  <p:embed/>
                </p:oleObj>
              </mc:Choice>
              <mc:Fallback>
                <p:oleObj name="Equation" r:id="rId7" imgW="139680" imgH="164880" progId="Equation.3">
                  <p:embed/>
                  <p:pic>
                    <p:nvPicPr>
                      <p:cNvPr id="0" name="Picture 7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73626" y="2514600"/>
                        <a:ext cx="320146"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Text Box 4"/>
          <p:cNvSpPr txBox="1">
            <a:spLocks noChangeArrowheads="1"/>
          </p:cNvSpPr>
          <p:nvPr/>
        </p:nvSpPr>
        <p:spPr bwMode="auto">
          <a:xfrm>
            <a:off x="4049486" y="6222547"/>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2"/>
          <p:cNvSpPr>
            <a:spLocks noGrp="1" noChangeArrowheads="1"/>
          </p:cNvSpPr>
          <p:nvPr>
            <p:ph type="title"/>
          </p:nvPr>
        </p:nvSpPr>
        <p:spPr/>
        <p:txBody>
          <a:bodyPr/>
          <a:lstStyle/>
          <a:p>
            <a:pPr eaLnBrk="1" hangingPunct="1"/>
            <a:r>
              <a:rPr lang="en-US" sz="2800" dirty="0" smtClean="0">
                <a:solidFill>
                  <a:schemeClr val="accent2"/>
                </a:solidFill>
              </a:rPr>
              <a:t>Figure 7.6 Population distribution and sampling        distributions of      .</a:t>
            </a:r>
          </a:p>
        </p:txBody>
      </p:sp>
      <p:graphicFrame>
        <p:nvGraphicFramePr>
          <p:cNvPr id="26626" name="Object 2"/>
          <p:cNvGraphicFramePr>
            <a:graphicFrameLocks noChangeAspect="1"/>
          </p:cNvGraphicFramePr>
          <p:nvPr>
            <p:extLst>
              <p:ext uri="{D42A27DB-BD31-4B8C-83A1-F6EECF244321}">
                <p14:modId xmlns:p14="http://schemas.microsoft.com/office/powerpoint/2010/main" val="2938775261"/>
              </p:ext>
            </p:extLst>
          </p:nvPr>
        </p:nvGraphicFramePr>
        <p:xfrm>
          <a:off x="2819401" y="914400"/>
          <a:ext cx="381000" cy="453958"/>
        </p:xfrm>
        <a:graphic>
          <a:graphicData uri="http://schemas.openxmlformats.org/presentationml/2006/ole">
            <mc:AlternateContent xmlns:mc="http://schemas.openxmlformats.org/markup-compatibility/2006">
              <mc:Choice xmlns:v="urn:schemas-microsoft-com:vml" Requires="v">
                <p:oleObj spid="_x0000_s26659" name="Equation" r:id="rId3" imgW="139680" imgH="164880" progId="Equation.3">
                  <p:embed/>
                </p:oleObj>
              </mc:Choice>
              <mc:Fallback>
                <p:oleObj name="Equation" r:id="rId3" imgW="139680" imgH="164880" progId="Equation.3">
                  <p:embed/>
                  <p:pic>
                    <p:nvPicPr>
                      <p:cNvPr id="0" name="Picture 3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19401" y="914400"/>
                        <a:ext cx="381000" cy="45395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 Box 4"/>
          <p:cNvSpPr txBox="1">
            <a:spLocks noChangeArrowheads="1"/>
          </p:cNvSpPr>
          <p:nvPr/>
        </p:nvSpPr>
        <p:spPr bwMode="auto">
          <a:xfrm>
            <a:off x="4049486" y="6222547"/>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08940" y="1629509"/>
            <a:ext cx="8582660" cy="4390291"/>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2"/>
          <p:cNvSpPr>
            <a:spLocks noGrp="1" noChangeArrowheads="1"/>
          </p:cNvSpPr>
          <p:nvPr>
            <p:ph type="title"/>
          </p:nvPr>
        </p:nvSpPr>
        <p:spPr/>
        <p:txBody>
          <a:bodyPr/>
          <a:lstStyle/>
          <a:p>
            <a:pPr eaLnBrk="1" hangingPunct="1"/>
            <a:r>
              <a:rPr lang="en-US" sz="2800" dirty="0" smtClean="0">
                <a:solidFill>
                  <a:schemeClr val="accent2"/>
                </a:solidFill>
              </a:rPr>
              <a:t>Figure 7.6 Population distribution and sampling        distributions of      .</a:t>
            </a:r>
          </a:p>
        </p:txBody>
      </p:sp>
      <p:graphicFrame>
        <p:nvGraphicFramePr>
          <p:cNvPr id="26626" name="Object 2"/>
          <p:cNvGraphicFramePr>
            <a:graphicFrameLocks noChangeAspect="1"/>
          </p:cNvGraphicFramePr>
          <p:nvPr>
            <p:extLst>
              <p:ext uri="{D42A27DB-BD31-4B8C-83A1-F6EECF244321}">
                <p14:modId xmlns:p14="http://schemas.microsoft.com/office/powerpoint/2010/main" val="1149310003"/>
              </p:ext>
            </p:extLst>
          </p:nvPr>
        </p:nvGraphicFramePr>
        <p:xfrm>
          <a:off x="2819401" y="914400"/>
          <a:ext cx="381000" cy="453958"/>
        </p:xfrm>
        <a:graphic>
          <a:graphicData uri="http://schemas.openxmlformats.org/presentationml/2006/ole">
            <mc:AlternateContent xmlns:mc="http://schemas.openxmlformats.org/markup-compatibility/2006">
              <mc:Choice xmlns:v="urn:schemas-microsoft-com:vml" Requires="v">
                <p:oleObj spid="_x0000_s123931" name="Equation" r:id="rId3" imgW="139680" imgH="164880" progId="Equation.3">
                  <p:embed/>
                </p:oleObj>
              </mc:Choice>
              <mc:Fallback>
                <p:oleObj name="Equation" r:id="rId3" imgW="139680" imgH="164880" progId="Equation.3">
                  <p:embed/>
                  <p:pic>
                    <p:nvPicPr>
                      <p:cNvPr id="0" name="Picture 2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19401" y="914400"/>
                        <a:ext cx="381000" cy="45395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 Box 4"/>
          <p:cNvSpPr txBox="1">
            <a:spLocks noChangeArrowheads="1"/>
          </p:cNvSpPr>
          <p:nvPr/>
        </p:nvSpPr>
        <p:spPr bwMode="auto">
          <a:xfrm>
            <a:off x="4049486" y="6222547"/>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36764" y="1576827"/>
            <a:ext cx="8831036" cy="3909573"/>
          </a:xfrm>
          <a:prstGeom prst="rect">
            <a:avLst/>
          </a:prstGeom>
        </p:spPr>
      </p:pic>
    </p:spTree>
    <p:extLst>
      <p:ext uri="{BB962C8B-B14F-4D97-AF65-F5344CB8AC3E}">
        <p14:creationId xmlns:p14="http://schemas.microsoft.com/office/powerpoint/2010/main" val="98851929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a:xfrm>
            <a:off x="457200" y="304800"/>
            <a:ext cx="8229600" cy="1139825"/>
          </a:xfrm>
        </p:spPr>
        <p:txBody>
          <a:bodyPr/>
          <a:lstStyle/>
          <a:p>
            <a:pPr eaLnBrk="1" hangingPunct="1"/>
            <a:r>
              <a:rPr lang="en-US" sz="2800" dirty="0" smtClean="0"/>
              <a:t>APPLICATIONS OF THE SAMPLING DISTRIBUTION OF </a:t>
            </a:r>
            <a:r>
              <a:rPr lang="en-US" sz="2800" i="1" dirty="0" smtClean="0">
                <a:latin typeface="Times New Roman" charset="0"/>
              </a:rPr>
              <a:t>x</a:t>
            </a:r>
            <a:r>
              <a:rPr lang="en-US" sz="2800" dirty="0" smtClean="0"/>
              <a:t> </a:t>
            </a:r>
          </a:p>
        </p:txBody>
      </p:sp>
      <p:sp>
        <p:nvSpPr>
          <p:cNvPr id="89091" name="Rectangle 3"/>
          <p:cNvSpPr>
            <a:spLocks noGrp="1" noChangeArrowheads="1"/>
          </p:cNvSpPr>
          <p:nvPr>
            <p:ph type="body" idx="1"/>
          </p:nvPr>
        </p:nvSpPr>
        <p:spPr>
          <a:xfrm>
            <a:off x="550862" y="1524000"/>
            <a:ext cx="8059738" cy="1828800"/>
          </a:xfrm>
        </p:spPr>
        <p:txBody>
          <a:bodyPr/>
          <a:lstStyle/>
          <a:p>
            <a:pPr marL="0" indent="0" eaLnBrk="1" hangingPunct="1">
              <a:buNone/>
            </a:pPr>
            <a:r>
              <a:rPr lang="en-US" sz="2000" dirty="0" smtClean="0"/>
              <a:t>1. If we take all possible samples of the same (large) size from a population and calculate the mean for each of these samples, then about 68.26% of the sample means will be within one standard deviation of the population mean.</a:t>
            </a:r>
          </a:p>
        </p:txBody>
      </p:sp>
      <p:sp>
        <p:nvSpPr>
          <p:cNvPr id="89092" name="Line 4"/>
          <p:cNvSpPr>
            <a:spLocks noChangeShapeType="1"/>
          </p:cNvSpPr>
          <p:nvPr/>
        </p:nvSpPr>
        <p:spPr bwMode="auto">
          <a:xfrm>
            <a:off x="3673098" y="1051302"/>
            <a:ext cx="251901"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 name="Text Box 4"/>
          <p:cNvSpPr txBox="1">
            <a:spLocks noChangeArrowheads="1"/>
          </p:cNvSpPr>
          <p:nvPr/>
        </p:nvSpPr>
        <p:spPr bwMode="auto">
          <a:xfrm>
            <a:off x="4049486" y="6222547"/>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81000"/>
            <a:ext cx="9144000" cy="1027755"/>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2"/>
          <p:cNvSpPr>
            <a:spLocks noGrp="1" noChangeArrowheads="1"/>
          </p:cNvSpPr>
          <p:nvPr>
            <p:ph type="title"/>
          </p:nvPr>
        </p:nvSpPr>
        <p:spPr/>
        <p:txBody>
          <a:bodyPr/>
          <a:lstStyle/>
          <a:p>
            <a:pPr eaLnBrk="1" hangingPunct="1"/>
            <a:r>
              <a:rPr lang="en-US" sz="2800" dirty="0" smtClean="0"/>
              <a:t>Figure 7.9 </a:t>
            </a:r>
            <a:endParaRPr lang="el-GR" sz="2800" dirty="0" smtClean="0">
              <a:latin typeface="Times New Roman" charset="0"/>
              <a:cs typeface="Times New Roman" charset="0"/>
            </a:endParaRPr>
          </a:p>
        </p:txBody>
      </p:sp>
      <p:graphicFrame>
        <p:nvGraphicFramePr>
          <p:cNvPr id="30722" name="Object 2"/>
          <p:cNvGraphicFramePr>
            <a:graphicFrameLocks noChangeAspect="1"/>
          </p:cNvGraphicFramePr>
          <p:nvPr>
            <p:extLst>
              <p:ext uri="{D42A27DB-BD31-4B8C-83A1-F6EECF244321}">
                <p14:modId xmlns:p14="http://schemas.microsoft.com/office/powerpoint/2010/main" val="3153122986"/>
              </p:ext>
            </p:extLst>
          </p:nvPr>
        </p:nvGraphicFramePr>
        <p:xfrm>
          <a:off x="2133600" y="914400"/>
          <a:ext cx="3886200" cy="493413"/>
        </p:xfrm>
        <a:graphic>
          <a:graphicData uri="http://schemas.openxmlformats.org/presentationml/2006/ole">
            <mc:AlternateContent xmlns:mc="http://schemas.openxmlformats.org/markup-compatibility/2006">
              <mc:Choice xmlns:v="urn:schemas-microsoft-com:vml" Requires="v">
                <p:oleObj spid="_x0000_s30754" name="Equation" r:id="rId3" imgW="1650960" imgH="228600" progId="">
                  <p:embed/>
                </p:oleObj>
              </mc:Choice>
              <mc:Fallback>
                <p:oleObj name="Equation" r:id="rId3" imgW="1650960" imgH="228600" progId="">
                  <p:embed/>
                  <p:pic>
                    <p:nvPicPr>
                      <p:cNvPr id="0" name="Picture 2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3600" y="914400"/>
                        <a:ext cx="3886200" cy="4934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 Box 4"/>
          <p:cNvSpPr txBox="1">
            <a:spLocks noChangeArrowheads="1"/>
          </p:cNvSpPr>
          <p:nvPr/>
        </p:nvSpPr>
        <p:spPr bwMode="auto">
          <a:xfrm>
            <a:off x="4049486" y="6222547"/>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75969" y="2128656"/>
            <a:ext cx="5992062" cy="2600688"/>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body" idx="1"/>
          </p:nvPr>
        </p:nvSpPr>
        <p:spPr>
          <a:xfrm>
            <a:off x="474662" y="1524000"/>
            <a:ext cx="8135938" cy="1981200"/>
          </a:xfrm>
        </p:spPr>
        <p:txBody>
          <a:bodyPr/>
          <a:lstStyle/>
          <a:p>
            <a:pPr marL="0" indent="0" eaLnBrk="1" hangingPunct="1">
              <a:buNone/>
            </a:pPr>
            <a:r>
              <a:rPr lang="en-US" sz="2000" dirty="0" smtClean="0"/>
              <a:t>2. If we take all possible samples of the same (large) size from a population and calculate the mean for each of these samples, then about 95.44% of the sample means will be within two standard deviations of the population mean.</a:t>
            </a:r>
          </a:p>
        </p:txBody>
      </p:sp>
      <p:sp>
        <p:nvSpPr>
          <p:cNvPr id="90115" name="Rectangle 3"/>
          <p:cNvSpPr>
            <a:spLocks noGrp="1" noChangeArrowheads="1"/>
          </p:cNvSpPr>
          <p:nvPr>
            <p:ph type="title"/>
          </p:nvPr>
        </p:nvSpPr>
        <p:spPr>
          <a:noFill/>
        </p:spPr>
        <p:txBody>
          <a:bodyPr/>
          <a:lstStyle/>
          <a:p>
            <a:pPr eaLnBrk="1" hangingPunct="1"/>
            <a:r>
              <a:rPr lang="en-US" sz="2800" dirty="0" smtClean="0"/>
              <a:t>APPLICATIONS OF THE SAMPLING DISTRIBUTION OF </a:t>
            </a:r>
            <a:r>
              <a:rPr lang="en-US" sz="2800" i="1" dirty="0" smtClean="0">
                <a:latin typeface="Times New Roman" charset="0"/>
              </a:rPr>
              <a:t>x</a:t>
            </a:r>
            <a:r>
              <a:rPr lang="en-US" sz="2800" dirty="0" smtClean="0"/>
              <a:t> </a:t>
            </a:r>
          </a:p>
        </p:txBody>
      </p:sp>
      <p:sp>
        <p:nvSpPr>
          <p:cNvPr id="90116" name="Line 4"/>
          <p:cNvSpPr>
            <a:spLocks noChangeShapeType="1"/>
          </p:cNvSpPr>
          <p:nvPr/>
        </p:nvSpPr>
        <p:spPr bwMode="auto">
          <a:xfrm>
            <a:off x="3673098" y="1021596"/>
            <a:ext cx="251901"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 name="Text Box 4"/>
          <p:cNvSpPr txBox="1">
            <a:spLocks noChangeArrowheads="1"/>
          </p:cNvSpPr>
          <p:nvPr/>
        </p:nvSpPr>
        <p:spPr bwMode="auto">
          <a:xfrm>
            <a:off x="4049486" y="6222547"/>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2"/>
          <p:cNvSpPr>
            <a:spLocks noGrp="1" noChangeArrowheads="1"/>
          </p:cNvSpPr>
          <p:nvPr>
            <p:ph type="title"/>
          </p:nvPr>
        </p:nvSpPr>
        <p:spPr/>
        <p:txBody>
          <a:bodyPr/>
          <a:lstStyle/>
          <a:p>
            <a:pPr eaLnBrk="1" hangingPunct="1"/>
            <a:r>
              <a:rPr lang="en-US" sz="2800" dirty="0" smtClean="0"/>
              <a:t>Figure 7.10 </a:t>
            </a:r>
            <a:endParaRPr lang="el-GR" sz="2800" dirty="0" smtClean="0">
              <a:latin typeface="Times New Roman" charset="0"/>
              <a:cs typeface="Times New Roman" charset="0"/>
            </a:endParaRPr>
          </a:p>
        </p:txBody>
      </p:sp>
      <p:graphicFrame>
        <p:nvGraphicFramePr>
          <p:cNvPr id="31746" name="Object 2"/>
          <p:cNvGraphicFramePr>
            <a:graphicFrameLocks noChangeAspect="1"/>
          </p:cNvGraphicFramePr>
          <p:nvPr/>
        </p:nvGraphicFramePr>
        <p:xfrm>
          <a:off x="2376488" y="914400"/>
          <a:ext cx="4164012" cy="512763"/>
        </p:xfrm>
        <a:graphic>
          <a:graphicData uri="http://schemas.openxmlformats.org/presentationml/2006/ole">
            <mc:AlternateContent xmlns:mc="http://schemas.openxmlformats.org/markup-compatibility/2006">
              <mc:Choice xmlns:v="urn:schemas-microsoft-com:vml" Requires="v">
                <p:oleObj spid="_x0000_s31778" name="Equation" r:id="rId3" imgW="1701720" imgH="228600" progId="">
                  <p:embed/>
                </p:oleObj>
              </mc:Choice>
              <mc:Fallback>
                <p:oleObj name="Equation" r:id="rId3" imgW="1701720" imgH="228600" progId="">
                  <p:embed/>
                  <p:pic>
                    <p:nvPicPr>
                      <p:cNvPr id="0" name="Picture 2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76488" y="914400"/>
                        <a:ext cx="4164012" cy="512763"/>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rgbClr val="808080"/>
                              </a:outerShdw>
                            </a:effectLst>
                          </a14:hiddenEffects>
                        </a:ext>
                      </a:extLst>
                    </p:spPr>
                  </p:pic>
                </p:oleObj>
              </mc:Fallback>
            </mc:AlternateContent>
          </a:graphicData>
        </a:graphic>
      </p:graphicFrame>
      <p:sp>
        <p:nvSpPr>
          <p:cNvPr id="7" name="Text Box 4"/>
          <p:cNvSpPr txBox="1">
            <a:spLocks noChangeArrowheads="1"/>
          </p:cNvSpPr>
          <p:nvPr/>
        </p:nvSpPr>
        <p:spPr bwMode="auto">
          <a:xfrm>
            <a:off x="4049486" y="6222547"/>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80732" y="2061971"/>
            <a:ext cx="5982535" cy="2734057"/>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body" idx="1"/>
          </p:nvPr>
        </p:nvSpPr>
        <p:spPr>
          <a:xfrm>
            <a:off x="533400" y="1524000"/>
            <a:ext cx="8077200" cy="1905000"/>
          </a:xfrm>
        </p:spPr>
        <p:txBody>
          <a:bodyPr/>
          <a:lstStyle/>
          <a:p>
            <a:pPr marL="0" indent="0" eaLnBrk="1" hangingPunct="1">
              <a:buNone/>
            </a:pPr>
            <a:r>
              <a:rPr lang="en-US" sz="2000" dirty="0" smtClean="0"/>
              <a:t>3. If we take all possible samples of the same (large) size from a population and calculate the mean for each of these samples, then about 99.74% of the sample means will be within three standard deviations of the population mean.</a:t>
            </a:r>
          </a:p>
        </p:txBody>
      </p:sp>
      <p:sp>
        <p:nvSpPr>
          <p:cNvPr id="91139" name="Rectangle 3"/>
          <p:cNvSpPr>
            <a:spLocks noGrp="1" noChangeArrowheads="1"/>
          </p:cNvSpPr>
          <p:nvPr>
            <p:ph type="title"/>
          </p:nvPr>
        </p:nvSpPr>
        <p:spPr>
          <a:noFill/>
        </p:spPr>
        <p:txBody>
          <a:bodyPr/>
          <a:lstStyle/>
          <a:p>
            <a:pPr eaLnBrk="1" hangingPunct="1"/>
            <a:r>
              <a:rPr lang="en-US" sz="2800" dirty="0" smtClean="0"/>
              <a:t>APPLICATIONS OF THE SAMPLING DISTRIBUTION OF </a:t>
            </a:r>
            <a:r>
              <a:rPr lang="en-US" sz="2800" i="1" dirty="0" smtClean="0">
                <a:latin typeface="Times New Roman" charset="0"/>
              </a:rPr>
              <a:t>x</a:t>
            </a:r>
            <a:endParaRPr lang="en-US" sz="2800" dirty="0" smtClean="0"/>
          </a:p>
        </p:txBody>
      </p:sp>
      <p:sp>
        <p:nvSpPr>
          <p:cNvPr id="91140" name="Line 4"/>
          <p:cNvSpPr>
            <a:spLocks noChangeShapeType="1"/>
          </p:cNvSpPr>
          <p:nvPr/>
        </p:nvSpPr>
        <p:spPr bwMode="auto">
          <a:xfrm>
            <a:off x="3673098" y="1040646"/>
            <a:ext cx="251901"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 name="Text Box 4"/>
          <p:cNvSpPr txBox="1">
            <a:spLocks noChangeArrowheads="1"/>
          </p:cNvSpPr>
          <p:nvPr/>
        </p:nvSpPr>
        <p:spPr bwMode="auto">
          <a:xfrm>
            <a:off x="4049486" y="6222547"/>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2"/>
          <p:cNvSpPr>
            <a:spLocks noGrp="1" noChangeArrowheads="1"/>
          </p:cNvSpPr>
          <p:nvPr>
            <p:ph type="title"/>
          </p:nvPr>
        </p:nvSpPr>
        <p:spPr/>
        <p:txBody>
          <a:bodyPr/>
          <a:lstStyle/>
          <a:p>
            <a:pPr eaLnBrk="1" hangingPunct="1"/>
            <a:r>
              <a:rPr lang="en-US" sz="2800" dirty="0" smtClean="0"/>
              <a:t>Figure 7.11 </a:t>
            </a:r>
            <a:endParaRPr lang="el-GR" sz="2800" dirty="0" smtClean="0">
              <a:latin typeface="Times New Roman" charset="0"/>
              <a:cs typeface="Times New Roman" charset="0"/>
            </a:endParaRPr>
          </a:p>
        </p:txBody>
      </p:sp>
      <p:graphicFrame>
        <p:nvGraphicFramePr>
          <p:cNvPr id="32770" name="Object 2"/>
          <p:cNvGraphicFramePr>
            <a:graphicFrameLocks noChangeAspect="1"/>
          </p:cNvGraphicFramePr>
          <p:nvPr/>
        </p:nvGraphicFramePr>
        <p:xfrm>
          <a:off x="2376488" y="914400"/>
          <a:ext cx="4164012" cy="512763"/>
        </p:xfrm>
        <a:graphic>
          <a:graphicData uri="http://schemas.openxmlformats.org/presentationml/2006/ole">
            <mc:AlternateContent xmlns:mc="http://schemas.openxmlformats.org/markup-compatibility/2006">
              <mc:Choice xmlns:v="urn:schemas-microsoft-com:vml" Requires="v">
                <p:oleObj spid="_x0000_s32802" name="Equation" r:id="rId3" imgW="1701720" imgH="228600" progId="">
                  <p:embed/>
                </p:oleObj>
              </mc:Choice>
              <mc:Fallback>
                <p:oleObj name="Equation" r:id="rId3" imgW="1701720" imgH="228600" progId="">
                  <p:embed/>
                  <p:pic>
                    <p:nvPicPr>
                      <p:cNvPr id="0" name="Picture 2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76488" y="914400"/>
                        <a:ext cx="4164012" cy="512763"/>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rgbClr val="808080"/>
                              </a:outerShdw>
                            </a:effectLst>
                          </a14:hiddenEffects>
                        </a:ext>
                      </a:extLst>
                    </p:spPr>
                  </p:pic>
                </p:oleObj>
              </mc:Fallback>
            </mc:AlternateContent>
          </a:graphicData>
        </a:graphic>
      </p:graphicFrame>
      <p:sp>
        <p:nvSpPr>
          <p:cNvPr id="7" name="Text Box 4"/>
          <p:cNvSpPr txBox="1">
            <a:spLocks noChangeArrowheads="1"/>
          </p:cNvSpPr>
          <p:nvPr/>
        </p:nvSpPr>
        <p:spPr bwMode="auto">
          <a:xfrm>
            <a:off x="4049486" y="6222547"/>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90258" y="2104840"/>
            <a:ext cx="5963483" cy="264832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2"/>
          <p:cNvSpPr>
            <a:spLocks noGrp="1" noChangeArrowheads="1"/>
          </p:cNvSpPr>
          <p:nvPr>
            <p:ph type="title"/>
          </p:nvPr>
        </p:nvSpPr>
        <p:spPr/>
        <p:txBody>
          <a:bodyPr/>
          <a:lstStyle/>
          <a:p>
            <a:pPr eaLnBrk="1" hangingPunct="1"/>
            <a:r>
              <a:rPr lang="en-US" sz="2800" dirty="0" smtClean="0"/>
              <a:t>Example 7-5</a:t>
            </a:r>
          </a:p>
        </p:txBody>
      </p:sp>
      <p:sp>
        <p:nvSpPr>
          <p:cNvPr id="33796" name="Rectangle 3"/>
          <p:cNvSpPr>
            <a:spLocks noGrp="1" noChangeArrowheads="1"/>
          </p:cNvSpPr>
          <p:nvPr>
            <p:ph type="body" idx="1"/>
          </p:nvPr>
        </p:nvSpPr>
        <p:spPr>
          <a:xfrm>
            <a:off x="152400" y="1524000"/>
            <a:ext cx="8421688" cy="4114800"/>
          </a:xfrm>
        </p:spPr>
        <p:txBody>
          <a:bodyPr/>
          <a:lstStyle/>
          <a:p>
            <a:pPr eaLnBrk="1" hangingPunct="1">
              <a:buFont typeface="Tahoma" charset="0"/>
              <a:buChar char=" "/>
            </a:pPr>
            <a:r>
              <a:rPr lang="en-GB" sz="2000" dirty="0" smtClean="0"/>
              <a:t>Assume that the weights of all packages of a certain brand of cookies are normally distributed with a mean of 32 ounces and a standard deviation of .3 ounce. Find the probability that the mean weight,      , of a random sample of 20 packages of this brand of cookies will be between 31.8 and 31.9 ounces.</a:t>
            </a:r>
            <a:endParaRPr lang="en-US" sz="2000" dirty="0" smtClean="0"/>
          </a:p>
        </p:txBody>
      </p:sp>
      <p:graphicFrame>
        <p:nvGraphicFramePr>
          <p:cNvPr id="33794" name="Object 2"/>
          <p:cNvGraphicFramePr>
            <a:graphicFrameLocks noChangeAspect="1"/>
          </p:cNvGraphicFramePr>
          <p:nvPr>
            <p:extLst>
              <p:ext uri="{D42A27DB-BD31-4B8C-83A1-F6EECF244321}">
                <p14:modId xmlns:p14="http://schemas.microsoft.com/office/powerpoint/2010/main" val="1181059493"/>
              </p:ext>
            </p:extLst>
          </p:nvPr>
        </p:nvGraphicFramePr>
        <p:xfrm>
          <a:off x="3601660" y="2424192"/>
          <a:ext cx="360740" cy="430356"/>
        </p:xfrm>
        <a:graphic>
          <a:graphicData uri="http://schemas.openxmlformats.org/presentationml/2006/ole">
            <mc:AlternateContent xmlns:mc="http://schemas.openxmlformats.org/markup-compatibility/2006">
              <mc:Choice xmlns:v="urn:schemas-microsoft-com:vml" Requires="v">
                <p:oleObj spid="_x0000_s33826" name="Equation" r:id="rId3" imgW="139680" imgH="164880" progId="Equation.3">
                  <p:embed/>
                </p:oleObj>
              </mc:Choice>
              <mc:Fallback>
                <p:oleObj name="Equation" r:id="rId3" imgW="139680" imgH="164880" progId="Equation.3">
                  <p:embed/>
                  <p:pic>
                    <p:nvPicPr>
                      <p:cNvPr id="0" name="Picture 2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01660" y="2424192"/>
                        <a:ext cx="360740" cy="4303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 Box 4"/>
          <p:cNvSpPr txBox="1">
            <a:spLocks noChangeArrowheads="1"/>
          </p:cNvSpPr>
          <p:nvPr/>
        </p:nvSpPr>
        <p:spPr bwMode="auto">
          <a:xfrm>
            <a:off x="4049486" y="6222547"/>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2"/>
          <p:cNvSpPr>
            <a:spLocks noGrp="1" noChangeArrowheads="1"/>
          </p:cNvSpPr>
          <p:nvPr>
            <p:ph type="title"/>
          </p:nvPr>
        </p:nvSpPr>
        <p:spPr/>
        <p:txBody>
          <a:bodyPr/>
          <a:lstStyle/>
          <a:p>
            <a:pPr eaLnBrk="1" hangingPunct="1"/>
            <a:r>
              <a:rPr lang="en-US" sz="2800" dirty="0" smtClean="0"/>
              <a:t>Example 7-5: Solution</a:t>
            </a:r>
          </a:p>
        </p:txBody>
      </p:sp>
      <p:graphicFrame>
        <p:nvGraphicFramePr>
          <p:cNvPr id="34818" name="Object 2"/>
          <p:cNvGraphicFramePr>
            <a:graphicFrameLocks noChangeAspect="1"/>
          </p:cNvGraphicFramePr>
          <p:nvPr>
            <p:extLst>
              <p:ext uri="{D42A27DB-BD31-4B8C-83A1-F6EECF244321}">
                <p14:modId xmlns:p14="http://schemas.microsoft.com/office/powerpoint/2010/main" val="3078514557"/>
              </p:ext>
            </p:extLst>
          </p:nvPr>
        </p:nvGraphicFramePr>
        <p:xfrm>
          <a:off x="762000" y="1752600"/>
          <a:ext cx="4572000" cy="1218932"/>
        </p:xfrm>
        <a:graphic>
          <a:graphicData uri="http://schemas.openxmlformats.org/presentationml/2006/ole">
            <mc:AlternateContent xmlns:mc="http://schemas.openxmlformats.org/markup-compatibility/2006">
              <mc:Choice xmlns:v="urn:schemas-microsoft-com:vml" Requires="v">
                <p:oleObj spid="_x0000_s34848" name="Equation" r:id="rId3" imgW="2476440" imgH="660240" progId="">
                  <p:embed/>
                </p:oleObj>
              </mc:Choice>
              <mc:Fallback>
                <p:oleObj name="Equation" r:id="rId3" imgW="2476440" imgH="660240" progId="">
                  <p:embed/>
                  <p:pic>
                    <p:nvPicPr>
                      <p:cNvPr id="0" name="Picture 2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 y="1752600"/>
                        <a:ext cx="4572000" cy="121893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Text Box 4"/>
          <p:cNvSpPr txBox="1">
            <a:spLocks noChangeArrowheads="1"/>
          </p:cNvSpPr>
          <p:nvPr/>
        </p:nvSpPr>
        <p:spPr bwMode="auto">
          <a:xfrm>
            <a:off x="4049486" y="6222547"/>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4" name="Rectangle 2"/>
          <p:cNvSpPr>
            <a:spLocks noGrp="1" noChangeArrowheads="1"/>
          </p:cNvSpPr>
          <p:nvPr>
            <p:ph type="title"/>
          </p:nvPr>
        </p:nvSpPr>
        <p:spPr/>
        <p:txBody>
          <a:bodyPr/>
          <a:lstStyle/>
          <a:p>
            <a:pPr eaLnBrk="1" hangingPunct="1"/>
            <a:r>
              <a:rPr lang="en-US" sz="2800" i="1" dirty="0" smtClean="0">
                <a:latin typeface="Times New Roman" charset="0"/>
              </a:rPr>
              <a:t>z</a:t>
            </a:r>
            <a:r>
              <a:rPr lang="en-US" sz="2800" dirty="0" smtClean="0"/>
              <a:t> Value for a Value of  </a:t>
            </a:r>
            <a:r>
              <a:rPr lang="en-US" sz="2800" i="1" dirty="0" smtClean="0">
                <a:latin typeface="Times New Roman" charset="0"/>
              </a:rPr>
              <a:t>x</a:t>
            </a:r>
          </a:p>
        </p:txBody>
      </p:sp>
      <p:sp>
        <p:nvSpPr>
          <p:cNvPr id="35845" name="Rectangle 3"/>
          <p:cNvSpPr>
            <a:spLocks noGrp="1" noChangeArrowheads="1"/>
          </p:cNvSpPr>
          <p:nvPr>
            <p:ph type="body" idx="1"/>
          </p:nvPr>
        </p:nvSpPr>
        <p:spPr>
          <a:xfrm>
            <a:off x="188912" y="1423611"/>
            <a:ext cx="8497888" cy="1182687"/>
          </a:xfrm>
        </p:spPr>
        <p:txBody>
          <a:bodyPr/>
          <a:lstStyle/>
          <a:p>
            <a:pPr eaLnBrk="1" hangingPunct="1">
              <a:buFont typeface="Wingdings" charset="2"/>
              <a:buNone/>
            </a:pPr>
            <a:r>
              <a:rPr lang="en-US" dirty="0" smtClean="0"/>
              <a:t>  </a:t>
            </a:r>
            <a:r>
              <a:rPr lang="en-US" sz="2000" dirty="0" smtClean="0"/>
              <a:t>The </a:t>
            </a:r>
            <a:r>
              <a:rPr lang="en-US" sz="2000" b="1" i="1" u="sng" dirty="0" smtClean="0">
                <a:solidFill>
                  <a:schemeClr val="hlink"/>
                </a:solidFill>
                <a:latin typeface="Times New Roman" charset="0"/>
              </a:rPr>
              <a:t>z</a:t>
            </a:r>
            <a:r>
              <a:rPr lang="en-US" sz="2000" b="1" i="1" u="sng" dirty="0" smtClean="0">
                <a:solidFill>
                  <a:schemeClr val="hlink"/>
                </a:solidFill>
              </a:rPr>
              <a:t> value for a value of</a:t>
            </a:r>
            <a:r>
              <a:rPr lang="en-US" sz="2000" dirty="0" smtClean="0"/>
              <a:t>       is calculated as </a:t>
            </a:r>
          </a:p>
        </p:txBody>
      </p:sp>
      <p:sp>
        <p:nvSpPr>
          <p:cNvPr id="35846" name="Line 4"/>
          <p:cNvSpPr>
            <a:spLocks noChangeShapeType="1"/>
          </p:cNvSpPr>
          <p:nvPr/>
        </p:nvSpPr>
        <p:spPr bwMode="auto">
          <a:xfrm>
            <a:off x="3710331" y="1035804"/>
            <a:ext cx="236571"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graphicFrame>
        <p:nvGraphicFramePr>
          <p:cNvPr id="35842" name="Object 2"/>
          <p:cNvGraphicFramePr>
            <a:graphicFrameLocks noChangeAspect="1"/>
          </p:cNvGraphicFramePr>
          <p:nvPr>
            <p:extLst>
              <p:ext uri="{D42A27DB-BD31-4B8C-83A1-F6EECF244321}">
                <p14:modId xmlns:p14="http://schemas.microsoft.com/office/powerpoint/2010/main" val="1932655492"/>
              </p:ext>
            </p:extLst>
          </p:nvPr>
        </p:nvGraphicFramePr>
        <p:xfrm>
          <a:off x="4231011" y="1524000"/>
          <a:ext cx="340989" cy="405840"/>
        </p:xfrm>
        <a:graphic>
          <a:graphicData uri="http://schemas.openxmlformats.org/presentationml/2006/ole">
            <mc:AlternateContent xmlns:mc="http://schemas.openxmlformats.org/markup-compatibility/2006">
              <mc:Choice xmlns:v="urn:schemas-microsoft-com:vml" Requires="v">
                <p:oleObj spid="_x0000_s35902" name="Equation" r:id="rId3" imgW="139680" imgH="164880" progId="Equation.3">
                  <p:embed/>
                </p:oleObj>
              </mc:Choice>
              <mc:Fallback>
                <p:oleObj name="Equation" r:id="rId3" imgW="139680" imgH="164880" progId="Equation.3">
                  <p:embed/>
                  <p:pic>
                    <p:nvPicPr>
                      <p:cNvPr id="0" name="Picture 5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31011" y="1524000"/>
                        <a:ext cx="340989" cy="4058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5843" name="Object 3"/>
          <p:cNvGraphicFramePr>
            <a:graphicFrameLocks noChangeAspect="1"/>
          </p:cNvGraphicFramePr>
          <p:nvPr>
            <p:extLst>
              <p:ext uri="{D42A27DB-BD31-4B8C-83A1-F6EECF244321}">
                <p14:modId xmlns:p14="http://schemas.microsoft.com/office/powerpoint/2010/main" val="1093271195"/>
              </p:ext>
            </p:extLst>
          </p:nvPr>
        </p:nvGraphicFramePr>
        <p:xfrm>
          <a:off x="2648327" y="2362200"/>
          <a:ext cx="2380873" cy="1284773"/>
        </p:xfrm>
        <a:graphic>
          <a:graphicData uri="http://schemas.openxmlformats.org/presentationml/2006/ole">
            <mc:AlternateContent xmlns:mc="http://schemas.openxmlformats.org/markup-compatibility/2006">
              <mc:Choice xmlns:v="urn:schemas-microsoft-com:vml" Requires="v">
                <p:oleObj spid="_x0000_s35903" name="Equation" r:id="rId5" imgW="672840" imgH="469800" progId="">
                  <p:embed/>
                </p:oleObj>
              </mc:Choice>
              <mc:Fallback>
                <p:oleObj name="Equation" r:id="rId5" imgW="672840" imgH="469800" progId="">
                  <p:embed/>
                  <p:pic>
                    <p:nvPicPr>
                      <p:cNvPr id="0" name="Picture 5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48327" y="2362200"/>
                        <a:ext cx="2380873" cy="128477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Text Box 4"/>
          <p:cNvSpPr txBox="1">
            <a:spLocks noChangeArrowheads="1"/>
          </p:cNvSpPr>
          <p:nvPr/>
        </p:nvSpPr>
        <p:spPr bwMode="auto">
          <a:xfrm>
            <a:off x="4049486" y="6222547"/>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71" name="Rectangle 2"/>
          <p:cNvSpPr>
            <a:spLocks noGrp="1" noChangeArrowheads="1"/>
          </p:cNvSpPr>
          <p:nvPr>
            <p:ph type="title"/>
          </p:nvPr>
        </p:nvSpPr>
        <p:spPr/>
        <p:txBody>
          <a:bodyPr/>
          <a:lstStyle/>
          <a:p>
            <a:pPr eaLnBrk="1" hangingPunct="1"/>
            <a:r>
              <a:rPr lang="en-US" sz="2800" dirty="0" smtClean="0"/>
              <a:t>Example 7-5: Solution</a:t>
            </a:r>
          </a:p>
        </p:txBody>
      </p:sp>
      <p:sp>
        <p:nvSpPr>
          <p:cNvPr id="36872" name="Rectangle 3"/>
          <p:cNvSpPr>
            <a:spLocks noGrp="1" noChangeArrowheads="1"/>
          </p:cNvSpPr>
          <p:nvPr>
            <p:ph type="body" idx="1"/>
          </p:nvPr>
        </p:nvSpPr>
        <p:spPr>
          <a:xfrm>
            <a:off x="533400" y="1243012"/>
            <a:ext cx="8839200" cy="4852988"/>
          </a:xfrm>
        </p:spPr>
        <p:txBody>
          <a:bodyPr/>
          <a:lstStyle/>
          <a:p>
            <a:pPr marL="609600" indent="-609600" eaLnBrk="1" hangingPunct="1">
              <a:lnSpc>
                <a:spcPct val="90000"/>
              </a:lnSpc>
              <a:buSzPct val="95000"/>
              <a:buFont typeface="Wingdings" charset="2"/>
              <a:buNone/>
            </a:pPr>
            <a:r>
              <a:rPr lang="en-US" sz="2000" dirty="0" smtClean="0"/>
              <a:t> </a:t>
            </a:r>
          </a:p>
          <a:p>
            <a:pPr marL="0" indent="0" eaLnBrk="1" hangingPunct="1">
              <a:lnSpc>
                <a:spcPct val="90000"/>
              </a:lnSpc>
              <a:buNone/>
            </a:pPr>
            <a:r>
              <a:rPr lang="en-US" sz="2000" dirty="0" smtClean="0"/>
              <a:t>For      = 31.8:</a:t>
            </a:r>
          </a:p>
          <a:p>
            <a:pPr marL="609600" indent="-609600" eaLnBrk="1" hangingPunct="1">
              <a:lnSpc>
                <a:spcPct val="90000"/>
              </a:lnSpc>
            </a:pPr>
            <a:endParaRPr lang="en-US" sz="2000" dirty="0" smtClean="0"/>
          </a:p>
          <a:p>
            <a:pPr marL="0" indent="0" eaLnBrk="1" hangingPunct="1">
              <a:lnSpc>
                <a:spcPct val="90000"/>
              </a:lnSpc>
              <a:buNone/>
            </a:pPr>
            <a:endParaRPr lang="en-US" sz="2000" dirty="0" smtClean="0"/>
          </a:p>
          <a:p>
            <a:pPr marL="0" indent="0" eaLnBrk="1" hangingPunct="1">
              <a:lnSpc>
                <a:spcPct val="90000"/>
              </a:lnSpc>
              <a:buNone/>
            </a:pPr>
            <a:r>
              <a:rPr lang="en-US" sz="2000" dirty="0" smtClean="0"/>
              <a:t>For      = 31.9:</a:t>
            </a:r>
          </a:p>
          <a:p>
            <a:pPr marL="609600" indent="-609600" eaLnBrk="1" hangingPunct="1">
              <a:lnSpc>
                <a:spcPct val="90000"/>
              </a:lnSpc>
            </a:pPr>
            <a:endParaRPr lang="en-US" sz="2000" dirty="0" smtClean="0"/>
          </a:p>
          <a:p>
            <a:pPr marL="609600" indent="-609600" eaLnBrk="1" hangingPunct="1">
              <a:lnSpc>
                <a:spcPct val="90000"/>
              </a:lnSpc>
            </a:pPr>
            <a:endParaRPr lang="en-US" sz="2000" i="1" dirty="0" smtClean="0"/>
          </a:p>
          <a:p>
            <a:pPr marL="0" indent="0" eaLnBrk="1" hangingPunct="1">
              <a:lnSpc>
                <a:spcPct val="90000"/>
              </a:lnSpc>
              <a:buNone/>
            </a:pPr>
            <a:r>
              <a:rPr lang="en-US" sz="2000" i="1" dirty="0" smtClean="0"/>
              <a:t> P</a:t>
            </a:r>
            <a:r>
              <a:rPr lang="en-US" sz="2000" dirty="0" smtClean="0"/>
              <a:t>(31.8 &lt;     &lt; 31.9) = </a:t>
            </a:r>
            <a:r>
              <a:rPr lang="en-US" sz="2000" i="1" dirty="0" smtClean="0"/>
              <a:t>P</a:t>
            </a:r>
            <a:r>
              <a:rPr lang="en-US" sz="2000" dirty="0" smtClean="0"/>
              <a:t>(-2.98 &lt; </a:t>
            </a:r>
            <a:r>
              <a:rPr lang="en-US" sz="2000" i="1" dirty="0" smtClean="0">
                <a:latin typeface="Times New Roman" charset="0"/>
              </a:rPr>
              <a:t>z</a:t>
            </a:r>
            <a:r>
              <a:rPr lang="en-US" sz="2000" dirty="0" smtClean="0"/>
              <a:t> &lt; -1.49)</a:t>
            </a:r>
          </a:p>
          <a:p>
            <a:pPr marL="609600" indent="-609600" eaLnBrk="1" hangingPunct="1">
              <a:lnSpc>
                <a:spcPct val="90000"/>
              </a:lnSpc>
              <a:buFont typeface="Wingdings" charset="2"/>
              <a:buNone/>
            </a:pPr>
            <a:r>
              <a:rPr lang="en-US" sz="2000" dirty="0" smtClean="0"/>
              <a:t>                               = </a:t>
            </a:r>
            <a:r>
              <a:rPr lang="en-US" sz="2000" i="1" dirty="0" smtClean="0"/>
              <a:t>P</a:t>
            </a:r>
            <a:r>
              <a:rPr lang="en-US" sz="2000" dirty="0" smtClean="0"/>
              <a:t>(</a:t>
            </a:r>
            <a:r>
              <a:rPr lang="en-US" sz="2000" i="1" dirty="0" smtClean="0">
                <a:latin typeface="Times New Roman" charset="0"/>
              </a:rPr>
              <a:t>z</a:t>
            </a:r>
            <a:r>
              <a:rPr lang="en-US" sz="2000" dirty="0" smtClean="0"/>
              <a:t> &lt; -1.49) - </a:t>
            </a:r>
            <a:r>
              <a:rPr lang="en-US" sz="2000" i="1" dirty="0" smtClean="0"/>
              <a:t>P</a:t>
            </a:r>
            <a:r>
              <a:rPr lang="en-US" sz="2000" dirty="0" smtClean="0"/>
              <a:t>(</a:t>
            </a:r>
            <a:r>
              <a:rPr lang="en-US" sz="2000" i="1" dirty="0" smtClean="0">
                <a:latin typeface="Times New Roman" charset="0"/>
              </a:rPr>
              <a:t>z</a:t>
            </a:r>
            <a:r>
              <a:rPr lang="en-US" sz="2000" dirty="0" smtClean="0"/>
              <a:t> &lt; -2.98) 	</a:t>
            </a:r>
          </a:p>
          <a:p>
            <a:pPr marL="609600" indent="-609600" eaLnBrk="1" hangingPunct="1">
              <a:lnSpc>
                <a:spcPct val="90000"/>
              </a:lnSpc>
              <a:buFont typeface="Wingdings" charset="2"/>
              <a:buNone/>
            </a:pPr>
            <a:r>
              <a:rPr lang="en-US" sz="2000" dirty="0" smtClean="0"/>
              <a:t>                               = .0681 - .0014 = .</a:t>
            </a:r>
            <a:r>
              <a:rPr lang="en-US" sz="2000" b="1" dirty="0" smtClean="0"/>
              <a:t>0667</a:t>
            </a:r>
          </a:p>
        </p:txBody>
      </p:sp>
      <p:graphicFrame>
        <p:nvGraphicFramePr>
          <p:cNvPr id="36866" name="Object 2"/>
          <p:cNvGraphicFramePr>
            <a:graphicFrameLocks noChangeAspect="1"/>
          </p:cNvGraphicFramePr>
          <p:nvPr>
            <p:extLst>
              <p:ext uri="{D42A27DB-BD31-4B8C-83A1-F6EECF244321}">
                <p14:modId xmlns:p14="http://schemas.microsoft.com/office/powerpoint/2010/main" val="47371909"/>
              </p:ext>
            </p:extLst>
          </p:nvPr>
        </p:nvGraphicFramePr>
        <p:xfrm>
          <a:off x="3221213" y="1600200"/>
          <a:ext cx="2646187" cy="714112"/>
        </p:xfrm>
        <a:graphic>
          <a:graphicData uri="http://schemas.openxmlformats.org/presentationml/2006/ole">
            <mc:AlternateContent xmlns:mc="http://schemas.openxmlformats.org/markup-compatibility/2006">
              <mc:Choice xmlns:v="urn:schemas-microsoft-com:vml" Requires="v">
                <p:oleObj spid="_x0000_s37001" name="Equation" r:id="rId3" imgW="1460160" imgH="393480" progId="Equation.3">
                  <p:embed/>
                </p:oleObj>
              </mc:Choice>
              <mc:Fallback>
                <p:oleObj name="Equation" r:id="rId3" imgW="1460160" imgH="393480" progId="Equation.3">
                  <p:embed/>
                  <p:pic>
                    <p:nvPicPr>
                      <p:cNvPr id="0" name="Picture 12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21213" y="1600200"/>
                        <a:ext cx="2646187" cy="7141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867" name="Object 3"/>
          <p:cNvGraphicFramePr>
            <a:graphicFrameLocks noChangeAspect="1"/>
          </p:cNvGraphicFramePr>
          <p:nvPr>
            <p:extLst>
              <p:ext uri="{D42A27DB-BD31-4B8C-83A1-F6EECF244321}">
                <p14:modId xmlns:p14="http://schemas.microsoft.com/office/powerpoint/2010/main" val="3661961650"/>
              </p:ext>
            </p:extLst>
          </p:nvPr>
        </p:nvGraphicFramePr>
        <p:xfrm>
          <a:off x="3352800" y="2590800"/>
          <a:ext cx="2542209" cy="685800"/>
        </p:xfrm>
        <a:graphic>
          <a:graphicData uri="http://schemas.openxmlformats.org/presentationml/2006/ole">
            <mc:AlternateContent xmlns:mc="http://schemas.openxmlformats.org/markup-compatibility/2006">
              <mc:Choice xmlns:v="urn:schemas-microsoft-com:vml" Requires="v">
                <p:oleObj spid="_x0000_s37002" name="Equation" r:id="rId5" imgW="1460160" imgH="393480" progId="Equation.3">
                  <p:embed/>
                </p:oleObj>
              </mc:Choice>
              <mc:Fallback>
                <p:oleObj name="Equation" r:id="rId5" imgW="1460160" imgH="393480" progId="Equation.3">
                  <p:embed/>
                  <p:pic>
                    <p:nvPicPr>
                      <p:cNvPr id="0" name="Picture 12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52800" y="2590800"/>
                        <a:ext cx="2542209" cy="685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868" name="Object 4"/>
          <p:cNvGraphicFramePr>
            <a:graphicFrameLocks noChangeAspect="1"/>
          </p:cNvGraphicFramePr>
          <p:nvPr>
            <p:extLst>
              <p:ext uri="{D42A27DB-BD31-4B8C-83A1-F6EECF244321}">
                <p14:modId xmlns:p14="http://schemas.microsoft.com/office/powerpoint/2010/main" val="1114293824"/>
              </p:ext>
            </p:extLst>
          </p:nvPr>
        </p:nvGraphicFramePr>
        <p:xfrm>
          <a:off x="1143000" y="1524000"/>
          <a:ext cx="388938" cy="463550"/>
        </p:xfrm>
        <a:graphic>
          <a:graphicData uri="http://schemas.openxmlformats.org/presentationml/2006/ole">
            <mc:AlternateContent xmlns:mc="http://schemas.openxmlformats.org/markup-compatibility/2006">
              <mc:Choice xmlns:v="urn:schemas-microsoft-com:vml" Requires="v">
                <p:oleObj spid="_x0000_s37003" name="Equation" r:id="rId7" imgW="139680" imgH="164880" progId="Equation.3">
                  <p:embed/>
                </p:oleObj>
              </mc:Choice>
              <mc:Fallback>
                <p:oleObj name="Equation" r:id="rId7" imgW="139680" imgH="164880" progId="Equation.3">
                  <p:embed/>
                  <p:pic>
                    <p:nvPicPr>
                      <p:cNvPr id="0" name="Picture 12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43000" y="1524000"/>
                        <a:ext cx="388938" cy="463550"/>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rgbClr val="808080"/>
                              </a:outerShdw>
                            </a:effectLst>
                          </a14:hiddenEffects>
                        </a:ext>
                      </a:extLst>
                    </p:spPr>
                  </p:pic>
                </p:oleObj>
              </mc:Fallback>
            </mc:AlternateContent>
          </a:graphicData>
        </a:graphic>
      </p:graphicFrame>
      <p:graphicFrame>
        <p:nvGraphicFramePr>
          <p:cNvPr id="36869" name="Object 5"/>
          <p:cNvGraphicFramePr>
            <a:graphicFrameLocks noChangeAspect="1"/>
          </p:cNvGraphicFramePr>
          <p:nvPr>
            <p:extLst>
              <p:ext uri="{D42A27DB-BD31-4B8C-83A1-F6EECF244321}">
                <p14:modId xmlns:p14="http://schemas.microsoft.com/office/powerpoint/2010/main" val="1700304011"/>
              </p:ext>
            </p:extLst>
          </p:nvPr>
        </p:nvGraphicFramePr>
        <p:xfrm>
          <a:off x="1905000" y="3505200"/>
          <a:ext cx="388938" cy="463550"/>
        </p:xfrm>
        <a:graphic>
          <a:graphicData uri="http://schemas.openxmlformats.org/presentationml/2006/ole">
            <mc:AlternateContent xmlns:mc="http://schemas.openxmlformats.org/markup-compatibility/2006">
              <mc:Choice xmlns:v="urn:schemas-microsoft-com:vml" Requires="v">
                <p:oleObj spid="_x0000_s37004" name="Equation" r:id="rId9" imgW="139680" imgH="164880" progId="Equation.3">
                  <p:embed/>
                </p:oleObj>
              </mc:Choice>
              <mc:Fallback>
                <p:oleObj name="Equation" r:id="rId9" imgW="139680" imgH="164880" progId="Equation.3">
                  <p:embed/>
                  <p:pic>
                    <p:nvPicPr>
                      <p:cNvPr id="0" name="Picture 12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05000" y="3505200"/>
                        <a:ext cx="388938" cy="463550"/>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rgbClr val="808080"/>
                              </a:outerShdw>
                            </a:effectLst>
                          </a14:hiddenEffects>
                        </a:ext>
                      </a:extLst>
                    </p:spPr>
                  </p:pic>
                </p:oleObj>
              </mc:Fallback>
            </mc:AlternateContent>
          </a:graphicData>
        </a:graphic>
      </p:graphicFrame>
      <p:graphicFrame>
        <p:nvGraphicFramePr>
          <p:cNvPr id="36870" name="Object 6"/>
          <p:cNvGraphicFramePr>
            <a:graphicFrameLocks noChangeAspect="1"/>
          </p:cNvGraphicFramePr>
          <p:nvPr>
            <p:extLst>
              <p:ext uri="{D42A27DB-BD31-4B8C-83A1-F6EECF244321}">
                <p14:modId xmlns:p14="http://schemas.microsoft.com/office/powerpoint/2010/main" val="1751054244"/>
              </p:ext>
            </p:extLst>
          </p:nvPr>
        </p:nvGraphicFramePr>
        <p:xfrm>
          <a:off x="1143000" y="2514600"/>
          <a:ext cx="388938" cy="463550"/>
        </p:xfrm>
        <a:graphic>
          <a:graphicData uri="http://schemas.openxmlformats.org/presentationml/2006/ole">
            <mc:AlternateContent xmlns:mc="http://schemas.openxmlformats.org/markup-compatibility/2006">
              <mc:Choice xmlns:v="urn:schemas-microsoft-com:vml" Requires="v">
                <p:oleObj spid="_x0000_s37005" name="Equation" r:id="rId10" imgW="139680" imgH="164880" progId="Equation.3">
                  <p:embed/>
                </p:oleObj>
              </mc:Choice>
              <mc:Fallback>
                <p:oleObj name="Equation" r:id="rId10" imgW="139680" imgH="164880" progId="Equation.3">
                  <p:embed/>
                  <p:pic>
                    <p:nvPicPr>
                      <p:cNvPr id="0" name="Picture 12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43000" y="2514600"/>
                        <a:ext cx="388938" cy="463550"/>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rgbClr val="808080"/>
                              </a:outerShdw>
                            </a:effectLst>
                          </a14:hiddenEffects>
                        </a:ext>
                      </a:extLst>
                    </p:spPr>
                  </p:pic>
                </p:oleObj>
              </mc:Fallback>
            </mc:AlternateContent>
          </a:graphicData>
        </a:graphic>
      </p:graphicFrame>
      <p:sp>
        <p:nvSpPr>
          <p:cNvPr id="11" name="Text Box 4"/>
          <p:cNvSpPr txBox="1">
            <a:spLocks noChangeArrowheads="1"/>
          </p:cNvSpPr>
          <p:nvPr/>
        </p:nvSpPr>
        <p:spPr bwMode="auto">
          <a:xfrm>
            <a:off x="4049486" y="6222547"/>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p:txBody>
          <a:bodyPr/>
          <a:lstStyle/>
          <a:p>
            <a:pPr eaLnBrk="1" hangingPunct="1"/>
            <a:r>
              <a:rPr lang="en-US" sz="2800" dirty="0" smtClean="0"/>
              <a:t>Figure 7.12</a:t>
            </a:r>
          </a:p>
        </p:txBody>
      </p:sp>
      <p:sp>
        <p:nvSpPr>
          <p:cNvPr id="6" name="Text Box 4"/>
          <p:cNvSpPr txBox="1">
            <a:spLocks noChangeArrowheads="1"/>
          </p:cNvSpPr>
          <p:nvPr/>
        </p:nvSpPr>
        <p:spPr bwMode="auto">
          <a:xfrm>
            <a:off x="4049486" y="6222547"/>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1206" y="1823813"/>
            <a:ext cx="6001588" cy="3210373"/>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2"/>
          <p:cNvSpPr>
            <a:spLocks noGrp="1" noChangeArrowheads="1"/>
          </p:cNvSpPr>
          <p:nvPr>
            <p:ph type="title"/>
          </p:nvPr>
        </p:nvSpPr>
        <p:spPr/>
        <p:txBody>
          <a:bodyPr/>
          <a:lstStyle/>
          <a:p>
            <a:pPr eaLnBrk="1" hangingPunct="1"/>
            <a:r>
              <a:rPr lang="en-US" sz="2800" dirty="0" smtClean="0"/>
              <a:t>Example 7-6</a:t>
            </a:r>
          </a:p>
        </p:txBody>
      </p:sp>
      <p:sp>
        <p:nvSpPr>
          <p:cNvPr id="37892" name="Rectangle 3"/>
          <p:cNvSpPr>
            <a:spLocks noGrp="1" noChangeArrowheads="1"/>
          </p:cNvSpPr>
          <p:nvPr>
            <p:ph type="body" idx="1"/>
          </p:nvPr>
        </p:nvSpPr>
        <p:spPr>
          <a:xfrm>
            <a:off x="112712" y="1524000"/>
            <a:ext cx="8574088" cy="4459288"/>
          </a:xfrm>
        </p:spPr>
        <p:txBody>
          <a:bodyPr/>
          <a:lstStyle/>
          <a:p>
            <a:pPr eaLnBrk="1" hangingPunct="1">
              <a:buFont typeface="Tahoma" charset="0"/>
              <a:buChar char=" "/>
            </a:pPr>
            <a:r>
              <a:rPr lang="en-US" sz="2000" dirty="0" smtClean="0"/>
              <a:t>According to </a:t>
            </a:r>
            <a:r>
              <a:rPr lang="en-US" sz="2000" dirty="0" err="1" smtClean="0"/>
              <a:t>Moebs</a:t>
            </a:r>
            <a:r>
              <a:rPr lang="en-US" sz="2000" dirty="0" smtClean="0"/>
              <a:t> Services Inc., an individual checking account at major U.S. banks costs the banks between $350 and $450 per year (</a:t>
            </a:r>
            <a:r>
              <a:rPr lang="en-US" sz="2000" i="1" dirty="0" smtClean="0"/>
              <a:t>Time</a:t>
            </a:r>
            <a:r>
              <a:rPr lang="en-US" sz="2000" dirty="0" smtClean="0"/>
              <a:t>, November 21, 2011). Suppose that the current average cost of all checking accounts at major U.S. banks is $400 per year with a standard deviation of $30.  Let      be the current average annual cost of a random sample of 225 individual checking account at major banks in America.</a:t>
            </a:r>
          </a:p>
        </p:txBody>
      </p:sp>
      <p:graphicFrame>
        <p:nvGraphicFramePr>
          <p:cNvPr id="37890" name="Object 2"/>
          <p:cNvGraphicFramePr>
            <a:graphicFrameLocks noChangeAspect="1"/>
          </p:cNvGraphicFramePr>
          <p:nvPr>
            <p:extLst>
              <p:ext uri="{D42A27DB-BD31-4B8C-83A1-F6EECF244321}">
                <p14:modId xmlns:p14="http://schemas.microsoft.com/office/powerpoint/2010/main" val="2731847405"/>
              </p:ext>
            </p:extLst>
          </p:nvPr>
        </p:nvGraphicFramePr>
        <p:xfrm>
          <a:off x="1063214" y="3048000"/>
          <a:ext cx="320488" cy="381000"/>
        </p:xfrm>
        <a:graphic>
          <a:graphicData uri="http://schemas.openxmlformats.org/presentationml/2006/ole">
            <mc:AlternateContent xmlns:mc="http://schemas.openxmlformats.org/markup-compatibility/2006">
              <mc:Choice xmlns:v="urn:schemas-microsoft-com:vml" Requires="v">
                <p:oleObj spid="_x0000_s37924" name="Equation" r:id="rId3" imgW="139680" imgH="164880" progId="Equation.3">
                  <p:embed/>
                </p:oleObj>
              </mc:Choice>
              <mc:Fallback>
                <p:oleObj name="Equation" r:id="rId3" imgW="139680" imgH="164880" progId="Equation.3">
                  <p:embed/>
                  <p:pic>
                    <p:nvPicPr>
                      <p:cNvPr id="0" name="Picture 3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3214" y="3048000"/>
                        <a:ext cx="320488"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 Box 4"/>
          <p:cNvSpPr txBox="1">
            <a:spLocks noChangeArrowheads="1"/>
          </p:cNvSpPr>
          <p:nvPr/>
        </p:nvSpPr>
        <p:spPr bwMode="auto">
          <a:xfrm>
            <a:off x="4049486" y="6222547"/>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p:txBody>
          <a:bodyPr/>
          <a:lstStyle/>
          <a:p>
            <a:pPr eaLnBrk="1" hangingPunct="1"/>
            <a:r>
              <a:rPr lang="en-US" sz="2800" dirty="0" smtClean="0"/>
              <a:t>Example 7-6</a:t>
            </a:r>
          </a:p>
        </p:txBody>
      </p:sp>
      <p:sp>
        <p:nvSpPr>
          <p:cNvPr id="93187" name="Rectangle 3"/>
          <p:cNvSpPr>
            <a:spLocks noGrp="1" noChangeArrowheads="1"/>
          </p:cNvSpPr>
          <p:nvPr>
            <p:ph type="body" idx="1"/>
          </p:nvPr>
        </p:nvSpPr>
        <p:spPr>
          <a:xfrm>
            <a:off x="569912" y="1524000"/>
            <a:ext cx="8040688" cy="2743200"/>
          </a:xfrm>
        </p:spPr>
        <p:txBody>
          <a:bodyPr/>
          <a:lstStyle/>
          <a:p>
            <a:pPr marL="0" indent="0" eaLnBrk="1" hangingPunct="1">
              <a:buSzPct val="85000"/>
              <a:buNone/>
            </a:pPr>
            <a:r>
              <a:rPr lang="en-US" sz="2000" dirty="0" smtClean="0"/>
              <a:t>(a) What is the probability that the average annual cost of the checking accounts in this sample is within $4 of the population mean?</a:t>
            </a:r>
          </a:p>
          <a:p>
            <a:pPr marL="0" indent="0" eaLnBrk="1" hangingPunct="1">
              <a:buSzPct val="85000"/>
              <a:buNone/>
            </a:pPr>
            <a:endParaRPr lang="en-US" sz="2000" dirty="0" smtClean="0"/>
          </a:p>
          <a:p>
            <a:pPr marL="0" indent="0" eaLnBrk="1" hangingPunct="1">
              <a:buSzPct val="85000"/>
              <a:buNone/>
            </a:pPr>
            <a:r>
              <a:rPr lang="en-US" sz="2000" dirty="0" smtClean="0"/>
              <a:t>(b) What is the probability that the average annual cost of the checking accounts in this sample is less than the population mean by $2.70 or more?</a:t>
            </a:r>
          </a:p>
        </p:txBody>
      </p:sp>
      <p:sp>
        <p:nvSpPr>
          <p:cNvPr id="6" name="Text Box 4"/>
          <p:cNvSpPr txBox="1">
            <a:spLocks noChangeArrowheads="1"/>
          </p:cNvSpPr>
          <p:nvPr/>
        </p:nvSpPr>
        <p:spPr bwMode="auto">
          <a:xfrm>
            <a:off x="4049486" y="6222547"/>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457200" y="838200"/>
            <a:ext cx="8229600" cy="579438"/>
          </a:xfrm>
          <a:prstGeom prst="rect">
            <a:avLst/>
          </a:prstGeom>
        </p:spPr>
        <p:txBody>
          <a:bodyPr/>
          <a:lstStyle/>
          <a:p>
            <a:pPr eaLnBrk="1" hangingPunct="1">
              <a:defRPr/>
            </a:pPr>
            <a:r>
              <a:rPr lang="en-US" sz="2800" kern="0" dirty="0">
                <a:solidFill>
                  <a:schemeClr val="tx2"/>
                </a:solidFill>
                <a:latin typeface="+mj-lt"/>
                <a:cs typeface="+mj-cs"/>
              </a:rPr>
              <a:t>Example 7-6: Solution</a:t>
            </a:r>
          </a:p>
        </p:txBody>
      </p:sp>
      <p:sp>
        <p:nvSpPr>
          <p:cNvPr id="3" name="Rectangle 3"/>
          <p:cNvSpPr txBox="1">
            <a:spLocks noChangeArrowheads="1"/>
          </p:cNvSpPr>
          <p:nvPr/>
        </p:nvSpPr>
        <p:spPr>
          <a:xfrm>
            <a:off x="152400" y="1524000"/>
            <a:ext cx="8077200" cy="2743200"/>
          </a:xfrm>
          <a:prstGeom prst="rect">
            <a:avLst/>
          </a:prstGeom>
        </p:spPr>
        <p:txBody>
          <a:bodyPr/>
          <a:lstStyle/>
          <a:p>
            <a:pPr marL="342900" indent="-342900" eaLnBrk="1" hangingPunct="1">
              <a:spcBef>
                <a:spcPct val="20000"/>
              </a:spcBef>
              <a:buClr>
                <a:schemeClr val="bg2"/>
              </a:buClr>
              <a:buSzPct val="75000"/>
              <a:buFont typeface="Tahoma" charset="0"/>
              <a:buChar char=" "/>
              <a:defRPr/>
            </a:pPr>
            <a:r>
              <a:rPr lang="en-US" sz="2000" kern="0" dirty="0">
                <a:latin typeface="+mn-lt"/>
                <a:sym typeface="Mathematica1" pitchFamily="2" charset="2"/>
              </a:rPr>
              <a:t>μ = </a:t>
            </a:r>
            <a:r>
              <a:rPr lang="en-US" sz="2000" kern="0" dirty="0" smtClean="0">
                <a:latin typeface="+mn-lt"/>
                <a:sym typeface="Mathematica1" pitchFamily="2" charset="2"/>
              </a:rPr>
              <a:t>$400 </a:t>
            </a:r>
            <a:r>
              <a:rPr lang="en-US" sz="2000" kern="0" dirty="0">
                <a:latin typeface="+mn-lt"/>
                <a:sym typeface="Mathematica1" pitchFamily="2" charset="2"/>
              </a:rPr>
              <a:t>and σ</a:t>
            </a:r>
            <a:r>
              <a:rPr lang="en-US" sz="2000" kern="0" dirty="0">
                <a:latin typeface="+mn-lt"/>
              </a:rPr>
              <a:t> = </a:t>
            </a:r>
            <a:r>
              <a:rPr lang="en-US" sz="2000" kern="0" dirty="0" smtClean="0">
                <a:latin typeface="+mn-lt"/>
              </a:rPr>
              <a:t>$30. </a:t>
            </a:r>
            <a:r>
              <a:rPr lang="en-US" sz="2000" kern="0" dirty="0">
                <a:latin typeface="+mn-lt"/>
              </a:rPr>
              <a:t>The shape of the probability distribution of the population is unknown. However, the sampling distribution of     is approximately normal because the sample is large (n &gt; 30).</a:t>
            </a:r>
          </a:p>
        </p:txBody>
      </p:sp>
      <p:graphicFrame>
        <p:nvGraphicFramePr>
          <p:cNvPr id="4" name="Object 3"/>
          <p:cNvGraphicFramePr>
            <a:graphicFrameLocks noChangeAspect="1"/>
          </p:cNvGraphicFramePr>
          <p:nvPr>
            <p:extLst>
              <p:ext uri="{D42A27DB-BD31-4B8C-83A1-F6EECF244321}">
                <p14:modId xmlns:p14="http://schemas.microsoft.com/office/powerpoint/2010/main" val="2081415720"/>
              </p:ext>
            </p:extLst>
          </p:nvPr>
        </p:nvGraphicFramePr>
        <p:xfrm>
          <a:off x="3664301" y="2102604"/>
          <a:ext cx="405295" cy="481819"/>
        </p:xfrm>
        <a:graphic>
          <a:graphicData uri="http://schemas.openxmlformats.org/presentationml/2006/ole">
            <mc:AlternateContent xmlns:mc="http://schemas.openxmlformats.org/markup-compatibility/2006">
              <mc:Choice xmlns:v="urn:schemas-microsoft-com:vml" Requires="v">
                <p:oleObj spid="_x0000_s94239" name="Equation" r:id="rId3" imgW="139680" imgH="164880" progId="Equation.3">
                  <p:embed/>
                </p:oleObj>
              </mc:Choice>
              <mc:Fallback>
                <p:oleObj name="Equation" r:id="rId3" imgW="139680" imgH="164880" progId="Equation.3">
                  <p:embed/>
                  <p:pic>
                    <p:nvPicPr>
                      <p:cNvPr id="0" name="Picture 2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64301" y="2102604"/>
                        <a:ext cx="405295" cy="48181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xmlns:a14="http://schemas.microsoft.com/office/drawing/2010/main">
        <mc:Choice Requires="a14">
          <p:sp>
            <p:nvSpPr>
              <p:cNvPr id="5" name="TextBox 4"/>
              <p:cNvSpPr txBox="1"/>
              <p:nvPr/>
            </p:nvSpPr>
            <p:spPr>
              <a:xfrm>
                <a:off x="2994998" y="3048000"/>
                <a:ext cx="3710602" cy="1282018"/>
              </a:xfrm>
              <a:prstGeom prst="rect">
                <a:avLst/>
              </a:prstGeom>
              <a:noFill/>
            </p:spPr>
            <p:txBody>
              <a:bodyPr wrap="square" rtlCol="0">
                <a:spAutoFit/>
              </a:bodyPr>
              <a:lstStyle/>
              <a:p>
                <a14:m>
                  <m:oMath xmlns:m="http://schemas.openxmlformats.org/officeDocument/2006/math">
                    <m:sSub>
                      <m:sSubPr>
                        <m:ctrlPr>
                          <a:rPr lang="en-US" sz="2400" i="1" smtClean="0">
                            <a:latin typeface="Cambria Math" charset="0"/>
                            <a:ea typeface="Cambria Math"/>
                          </a:rPr>
                        </m:ctrlPr>
                      </m:sSubPr>
                      <m:e>
                        <m:r>
                          <a:rPr lang="en-US" sz="2400" i="1" smtClean="0">
                            <a:latin typeface="Cambria Math"/>
                            <a:ea typeface="Cambria Math"/>
                          </a:rPr>
                          <m:t>𝜇</m:t>
                        </m:r>
                      </m:e>
                      <m:sub>
                        <m:acc>
                          <m:accPr>
                            <m:chr m:val="̅"/>
                            <m:ctrlPr>
                              <a:rPr lang="en-US" sz="2400" i="1" smtClean="0">
                                <a:latin typeface="Cambria Math" charset="0"/>
                                <a:ea typeface="Cambria Math"/>
                              </a:rPr>
                            </m:ctrlPr>
                          </m:accPr>
                          <m:e>
                            <m:r>
                              <a:rPr lang="en-US" sz="2400" b="0" i="1" smtClean="0">
                                <a:latin typeface="Cambria Math"/>
                                <a:ea typeface="Cambria Math"/>
                              </a:rPr>
                              <m:t>𝑥</m:t>
                            </m:r>
                          </m:e>
                        </m:acc>
                      </m:sub>
                    </m:sSub>
                    <m:r>
                      <a:rPr lang="en-US" sz="2400" b="0" i="1" smtClean="0">
                        <a:latin typeface="Cambria Math"/>
                        <a:ea typeface="Cambria Math"/>
                      </a:rPr>
                      <m:t> = </m:t>
                    </m:r>
                    <m:r>
                      <a:rPr lang="en-US" sz="2400" b="0" i="1" smtClean="0">
                        <a:latin typeface="Cambria Math"/>
                        <a:ea typeface="Cambria Math"/>
                      </a:rPr>
                      <m:t>𝜇</m:t>
                    </m:r>
                    <m:r>
                      <a:rPr lang="en-US" sz="2400" b="0" i="1" smtClean="0">
                        <a:latin typeface="Cambria Math"/>
                        <a:ea typeface="Cambria Math"/>
                      </a:rPr>
                      <m:t>=$400</m:t>
                    </m:r>
                  </m:oMath>
                </a14:m>
                <a:r>
                  <a:rPr lang="en-US" sz="2400" b="0" i="1" dirty="0" smtClean="0">
                    <a:latin typeface="Cambria Math"/>
                    <a:ea typeface="Cambria Math"/>
                  </a:rPr>
                  <a:t>     </a:t>
                </a:r>
              </a:p>
              <a:p>
                <a14:m>
                  <m:oMath xmlns:m="http://schemas.openxmlformats.org/officeDocument/2006/math">
                    <m:sSub>
                      <m:sSubPr>
                        <m:ctrlPr>
                          <a:rPr lang="en-US" sz="2400" b="0" i="1" smtClean="0">
                            <a:latin typeface="Cambria Math" charset="0"/>
                            <a:ea typeface="Cambria Math"/>
                          </a:rPr>
                        </m:ctrlPr>
                      </m:sSubPr>
                      <m:e>
                        <m:r>
                          <a:rPr lang="en-US" sz="2400" b="0" i="1" smtClean="0">
                            <a:latin typeface="Cambria Math"/>
                            <a:ea typeface="Cambria Math"/>
                          </a:rPr>
                          <m:t>𝜎</m:t>
                        </m:r>
                      </m:e>
                      <m:sub>
                        <m:acc>
                          <m:accPr>
                            <m:chr m:val="̅"/>
                            <m:ctrlPr>
                              <a:rPr lang="en-US" sz="2400" b="0" i="1" smtClean="0">
                                <a:latin typeface="Cambria Math" charset="0"/>
                                <a:ea typeface="Cambria Math"/>
                              </a:rPr>
                            </m:ctrlPr>
                          </m:accPr>
                          <m:e>
                            <m:r>
                              <a:rPr lang="en-US" sz="2400" b="0" i="1" smtClean="0">
                                <a:latin typeface="Cambria Math"/>
                                <a:ea typeface="Cambria Math"/>
                              </a:rPr>
                              <m:t>𝑥</m:t>
                            </m:r>
                          </m:e>
                        </m:acc>
                      </m:sub>
                    </m:sSub>
                    <m:r>
                      <a:rPr lang="en-US" sz="2400" b="0" i="1" smtClean="0">
                        <a:latin typeface="Cambria Math"/>
                        <a:ea typeface="Cambria Math"/>
                      </a:rPr>
                      <m:t>=</m:t>
                    </m:r>
                    <m:f>
                      <m:fPr>
                        <m:ctrlPr>
                          <a:rPr lang="en-US" sz="2400" b="0" i="1" smtClean="0">
                            <a:latin typeface="Cambria Math" charset="0"/>
                            <a:ea typeface="Cambria Math"/>
                          </a:rPr>
                        </m:ctrlPr>
                      </m:fPr>
                      <m:num>
                        <m:r>
                          <a:rPr lang="en-US" sz="2400" b="0" i="1" smtClean="0">
                            <a:latin typeface="Cambria Math"/>
                            <a:ea typeface="Cambria Math"/>
                          </a:rPr>
                          <m:t>𝜎</m:t>
                        </m:r>
                      </m:num>
                      <m:den>
                        <m:rad>
                          <m:radPr>
                            <m:degHide m:val="on"/>
                            <m:ctrlPr>
                              <a:rPr lang="en-US" sz="2400" b="0" i="1" smtClean="0">
                                <a:latin typeface="Cambria Math" charset="0"/>
                                <a:ea typeface="Cambria Math"/>
                              </a:rPr>
                            </m:ctrlPr>
                          </m:radPr>
                          <m:deg/>
                          <m:e>
                            <m:r>
                              <a:rPr lang="en-US" sz="2400" b="0" i="1" smtClean="0">
                                <a:latin typeface="Cambria Math"/>
                                <a:ea typeface="Cambria Math"/>
                              </a:rPr>
                              <m:t>𝑛</m:t>
                            </m:r>
                          </m:e>
                        </m:rad>
                      </m:den>
                    </m:f>
                  </m:oMath>
                </a14:m>
                <a:r>
                  <a:rPr lang="en-US" sz="2400" b="0" dirty="0" smtClean="0">
                    <a:ea typeface="Cambria Math"/>
                  </a:rPr>
                  <a:t> = </a:t>
                </a:r>
                <a14:m>
                  <m:oMath xmlns:m="http://schemas.openxmlformats.org/officeDocument/2006/math">
                    <m:f>
                      <m:fPr>
                        <m:ctrlPr>
                          <a:rPr lang="en-US" sz="2400" b="0" i="1" smtClean="0">
                            <a:latin typeface="Cambria Math" charset="0"/>
                            <a:ea typeface="Cambria Math"/>
                          </a:rPr>
                        </m:ctrlPr>
                      </m:fPr>
                      <m:num>
                        <m:r>
                          <a:rPr lang="en-US" sz="2400" b="0" i="1" smtClean="0">
                            <a:latin typeface="Cambria Math"/>
                            <a:ea typeface="Cambria Math"/>
                          </a:rPr>
                          <m:t>30</m:t>
                        </m:r>
                      </m:num>
                      <m:den>
                        <m:rad>
                          <m:radPr>
                            <m:degHide m:val="on"/>
                            <m:ctrlPr>
                              <a:rPr lang="en-US" sz="2400" b="0" i="1" smtClean="0">
                                <a:latin typeface="Cambria Math" charset="0"/>
                                <a:ea typeface="Cambria Math"/>
                              </a:rPr>
                            </m:ctrlPr>
                          </m:radPr>
                          <m:deg/>
                          <m:e>
                            <m:r>
                              <a:rPr lang="en-US" sz="2400" b="0" i="1" smtClean="0">
                                <a:latin typeface="Cambria Math"/>
                                <a:ea typeface="Cambria Math"/>
                              </a:rPr>
                              <m:t>225</m:t>
                            </m:r>
                          </m:e>
                        </m:rad>
                      </m:den>
                    </m:f>
                    <m:r>
                      <a:rPr lang="en-US" sz="2400" b="0" i="1" smtClean="0">
                        <a:latin typeface="Cambria Math"/>
                        <a:ea typeface="Cambria Math"/>
                      </a:rPr>
                      <m:t>=$2.00</m:t>
                    </m:r>
                  </m:oMath>
                </a14:m>
                <a:r>
                  <a:rPr lang="en-US" sz="2400" b="0" dirty="0" smtClean="0">
                    <a:ea typeface="Cambria Math"/>
                  </a:rPr>
                  <a:t>   </a:t>
                </a:r>
              </a:p>
              <a:p>
                <a:endParaRPr lang="en-US" dirty="0"/>
              </a:p>
            </p:txBody>
          </p:sp>
        </mc:Choice>
        <mc:Fallback xmlns="" xmlns:mv="urn:schemas-microsoft-com:mac:vml">
          <p:sp>
            <p:nvSpPr>
              <p:cNvPr id="5" name="TextBox 4"/>
              <p:cNvSpPr txBox="1">
                <a:spLocks noRot="1" noChangeAspect="1" noMove="1" noResize="1" noEditPoints="1" noAdjustHandles="1" noChangeArrowheads="1" noChangeShapeType="1" noTextEdit="1"/>
              </p:cNvSpPr>
              <p:nvPr/>
            </p:nvSpPr>
            <p:spPr>
              <a:xfrm>
                <a:off x="2994998" y="3048000"/>
                <a:ext cx="3710602" cy="1282018"/>
              </a:xfrm>
              <a:prstGeom prst="rect">
                <a:avLst/>
              </a:prstGeom>
              <a:blipFill rotWithShape="1">
                <a:blip r:embed="rId5"/>
                <a:stretch>
                  <a:fillRect l="-328"/>
                </a:stretch>
              </a:blipFill>
            </p:spPr>
            <p:txBody>
              <a:bodyPr/>
              <a:lstStyle/>
              <a:p>
                <a:r>
                  <a:rPr lang="en-US">
                    <a:noFill/>
                  </a:rPr>
                  <a:t> </a:t>
                </a:r>
              </a:p>
            </p:txBody>
          </p:sp>
        </mc:Fallback>
      </mc:AlternateContent>
      <p:sp>
        <p:nvSpPr>
          <p:cNvPr id="7" name="Text Box 4"/>
          <p:cNvSpPr txBox="1">
            <a:spLocks noChangeArrowheads="1"/>
          </p:cNvSpPr>
          <p:nvPr/>
        </p:nvSpPr>
        <p:spPr bwMode="auto">
          <a:xfrm>
            <a:off x="4049486" y="6222547"/>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2"/>
          <p:cNvSpPr>
            <a:spLocks noGrp="1" noChangeArrowheads="1"/>
          </p:cNvSpPr>
          <p:nvPr>
            <p:ph type="title"/>
          </p:nvPr>
        </p:nvSpPr>
        <p:spPr/>
        <p:txBody>
          <a:bodyPr/>
          <a:lstStyle/>
          <a:p>
            <a:pPr eaLnBrk="1" hangingPunct="1"/>
            <a:r>
              <a:rPr lang="en-US" sz="2800" dirty="0" smtClean="0"/>
              <a:t>Example 7-6: Solution</a:t>
            </a:r>
          </a:p>
        </p:txBody>
      </p:sp>
      <p:sp>
        <p:nvSpPr>
          <p:cNvPr id="38916" name="Rectangle 3"/>
          <p:cNvSpPr>
            <a:spLocks noGrp="1" noChangeArrowheads="1"/>
          </p:cNvSpPr>
          <p:nvPr>
            <p:ph type="body" idx="1"/>
          </p:nvPr>
        </p:nvSpPr>
        <p:spPr>
          <a:xfrm>
            <a:off x="457200" y="1600200"/>
            <a:ext cx="8305800" cy="3902075"/>
          </a:xfrm>
          <a:noFill/>
        </p:spPr>
        <p:txBody>
          <a:bodyPr/>
          <a:lstStyle/>
          <a:p>
            <a:pPr marL="609600" indent="-609600" eaLnBrk="1" hangingPunct="1">
              <a:lnSpc>
                <a:spcPct val="90000"/>
              </a:lnSpc>
              <a:buFont typeface="Wingdings" charset="2"/>
              <a:buNone/>
            </a:pPr>
            <a:r>
              <a:rPr lang="en-US" sz="2000" dirty="0" smtClean="0"/>
              <a:t>(a) </a:t>
            </a:r>
          </a:p>
          <a:p>
            <a:pPr marL="609600" indent="-609600" eaLnBrk="1" hangingPunct="1">
              <a:lnSpc>
                <a:spcPct val="90000"/>
              </a:lnSpc>
            </a:pPr>
            <a:endParaRPr lang="en-US" sz="2000" dirty="0" smtClean="0"/>
          </a:p>
          <a:p>
            <a:pPr marL="0" indent="0" eaLnBrk="1" hangingPunct="1">
              <a:lnSpc>
                <a:spcPct val="90000"/>
              </a:lnSpc>
              <a:buNone/>
            </a:pPr>
            <a:endParaRPr lang="en-US" sz="2000" dirty="0" smtClean="0"/>
          </a:p>
          <a:p>
            <a:pPr marL="0" indent="0" eaLnBrk="1" hangingPunct="1">
              <a:lnSpc>
                <a:spcPct val="90000"/>
              </a:lnSpc>
              <a:buNone/>
            </a:pPr>
            <a:endParaRPr lang="en-US" sz="2000" dirty="0"/>
          </a:p>
          <a:p>
            <a:pPr marL="0" indent="0" eaLnBrk="1" hangingPunct="1">
              <a:lnSpc>
                <a:spcPct val="90000"/>
              </a:lnSpc>
              <a:buNone/>
            </a:pPr>
            <a:endParaRPr lang="en-US" sz="2000" dirty="0" smtClean="0"/>
          </a:p>
          <a:p>
            <a:pPr marL="0" indent="0" eaLnBrk="1" hangingPunct="1">
              <a:lnSpc>
                <a:spcPct val="90000"/>
              </a:lnSpc>
              <a:buNone/>
            </a:pPr>
            <a:r>
              <a:rPr lang="en-US" sz="2000" i="1" dirty="0" smtClean="0"/>
              <a:t>    </a:t>
            </a:r>
          </a:p>
          <a:p>
            <a:pPr marL="0" indent="0" eaLnBrk="1" hangingPunct="1">
              <a:lnSpc>
                <a:spcPct val="90000"/>
              </a:lnSpc>
              <a:buNone/>
            </a:pPr>
            <a:r>
              <a:rPr lang="en-US" sz="2000" i="1" dirty="0"/>
              <a:t> </a:t>
            </a:r>
            <a:r>
              <a:rPr lang="en-US" sz="2000" i="1" dirty="0" smtClean="0"/>
              <a:t>       P</a:t>
            </a:r>
            <a:r>
              <a:rPr lang="en-US" sz="2000" dirty="0" smtClean="0"/>
              <a:t>($396 ≤       ≤ $404) = </a:t>
            </a:r>
            <a:r>
              <a:rPr lang="en-US" sz="2000" i="1" dirty="0" smtClean="0"/>
              <a:t>P</a:t>
            </a:r>
            <a:r>
              <a:rPr lang="en-US" sz="2000" dirty="0" smtClean="0"/>
              <a:t>(-2.00 ≤ </a:t>
            </a:r>
            <a:r>
              <a:rPr lang="en-US" sz="2000" i="1" dirty="0" smtClean="0">
                <a:latin typeface="Times New Roman" charset="0"/>
              </a:rPr>
              <a:t>z</a:t>
            </a:r>
            <a:r>
              <a:rPr lang="en-US" sz="2000" dirty="0" smtClean="0"/>
              <a:t> ≤ 2.00)</a:t>
            </a:r>
          </a:p>
          <a:p>
            <a:pPr marL="0" indent="0" eaLnBrk="1" hangingPunct="1">
              <a:lnSpc>
                <a:spcPct val="90000"/>
              </a:lnSpc>
              <a:buNone/>
            </a:pPr>
            <a:r>
              <a:rPr lang="en-US" sz="2000" dirty="0" smtClean="0"/>
              <a:t>                                          = .9772 - .0228</a:t>
            </a:r>
          </a:p>
          <a:p>
            <a:pPr marL="0" indent="0" eaLnBrk="1" hangingPunct="1">
              <a:lnSpc>
                <a:spcPct val="90000"/>
              </a:lnSpc>
              <a:buNone/>
            </a:pPr>
            <a:r>
              <a:rPr lang="en-US" sz="2000" dirty="0" smtClean="0"/>
              <a:t>                                          = </a:t>
            </a:r>
            <a:r>
              <a:rPr lang="en-US" sz="2000" b="1" dirty="0" smtClean="0"/>
              <a:t>.9544</a:t>
            </a:r>
          </a:p>
        </p:txBody>
      </p:sp>
      <p:graphicFrame>
        <p:nvGraphicFramePr>
          <p:cNvPr id="38914" name="Object 5"/>
          <p:cNvGraphicFramePr>
            <a:graphicFrameLocks noChangeAspect="1"/>
          </p:cNvGraphicFramePr>
          <p:nvPr>
            <p:extLst>
              <p:ext uri="{D42A27DB-BD31-4B8C-83A1-F6EECF244321}">
                <p14:modId xmlns:p14="http://schemas.microsoft.com/office/powerpoint/2010/main" val="3926277125"/>
              </p:ext>
            </p:extLst>
          </p:nvPr>
        </p:nvGraphicFramePr>
        <p:xfrm>
          <a:off x="2590800" y="3581400"/>
          <a:ext cx="388938" cy="463550"/>
        </p:xfrm>
        <a:graphic>
          <a:graphicData uri="http://schemas.openxmlformats.org/presentationml/2006/ole">
            <mc:AlternateContent xmlns:mc="http://schemas.openxmlformats.org/markup-compatibility/2006">
              <mc:Choice xmlns:v="urn:schemas-microsoft-com:vml" Requires="v">
                <p:oleObj spid="_x0000_s38948" name="Equation" r:id="rId3" imgW="139680" imgH="164880" progId="Equation.3">
                  <p:embed/>
                </p:oleObj>
              </mc:Choice>
              <mc:Fallback>
                <p:oleObj name="Equation" r:id="rId3" imgW="139680" imgH="164880" progId="Equation.3">
                  <p:embed/>
                  <p:pic>
                    <p:nvPicPr>
                      <p:cNvPr id="0" name="Picture 3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0800" y="3581400"/>
                        <a:ext cx="388938" cy="463550"/>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5921" dir="2700000" algn="ctr" rotWithShape="0">
                                <a:srgbClr val="808080"/>
                              </a:outerShdw>
                            </a:effectLst>
                          </a14:hiddenEffects>
                        </a:ext>
                      </a:extLst>
                    </p:spPr>
                  </p:pic>
                </p:oleObj>
              </mc:Fallback>
            </mc:AlternateContent>
          </a:graphicData>
        </a:graphic>
      </p:graphicFrame>
      <mc:AlternateContent xmlns:mc="http://schemas.openxmlformats.org/markup-compatibility/2006" xmlns:a14="http://schemas.microsoft.com/office/drawing/2010/main">
        <mc:Choice Requires="a14">
          <p:sp>
            <p:nvSpPr>
              <p:cNvPr id="8" name="TextBox 7"/>
              <p:cNvSpPr txBox="1"/>
              <p:nvPr/>
            </p:nvSpPr>
            <p:spPr>
              <a:xfrm>
                <a:off x="1114586" y="1600200"/>
                <a:ext cx="7467600" cy="142455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sz="2400" b="0" i="0" smtClean="0">
                          <a:latin typeface="Cambria Math"/>
                          <a:ea typeface="Cambria Math"/>
                        </a:rPr>
                        <m:t>For</m:t>
                      </m:r>
                      <m:r>
                        <a:rPr lang="en-US" sz="2400" b="0" i="1" smtClean="0">
                          <a:latin typeface="Cambria Math"/>
                          <a:ea typeface="Cambria Math"/>
                        </a:rPr>
                        <m:t> </m:t>
                      </m:r>
                      <m:acc>
                        <m:accPr>
                          <m:chr m:val="̅"/>
                          <m:ctrlPr>
                            <a:rPr lang="en-US" sz="2400" b="0" i="1" smtClean="0">
                              <a:latin typeface="Cambria Math" charset="0"/>
                              <a:ea typeface="Cambria Math"/>
                            </a:rPr>
                          </m:ctrlPr>
                        </m:accPr>
                        <m:e>
                          <m:r>
                            <a:rPr lang="en-US" sz="2400" b="0" i="1" smtClean="0">
                              <a:latin typeface="Cambria Math"/>
                              <a:ea typeface="Cambria Math"/>
                            </a:rPr>
                            <m:t>𝑥</m:t>
                          </m:r>
                        </m:e>
                      </m:acc>
                      <m:r>
                        <a:rPr lang="en-US" sz="2400" b="0" i="1" smtClean="0">
                          <a:latin typeface="Cambria Math"/>
                          <a:ea typeface="Cambria Math"/>
                        </a:rPr>
                        <m:t>=396;   </m:t>
                      </m:r>
                      <m:r>
                        <a:rPr lang="en-US" sz="2400" b="0" i="1" smtClean="0">
                          <a:latin typeface="Cambria Math"/>
                          <a:ea typeface="Cambria Math"/>
                        </a:rPr>
                        <m:t>𝑧</m:t>
                      </m:r>
                      <m:r>
                        <a:rPr lang="en-US" sz="2400" b="0" i="1" smtClean="0">
                          <a:latin typeface="Cambria Math"/>
                          <a:ea typeface="Cambria Math"/>
                        </a:rPr>
                        <m:t>= </m:t>
                      </m:r>
                      <m:f>
                        <m:fPr>
                          <m:ctrlPr>
                            <a:rPr lang="en-US" sz="2400" b="0" i="1" smtClean="0">
                              <a:latin typeface="Cambria Math" charset="0"/>
                              <a:ea typeface="Cambria Math"/>
                            </a:rPr>
                          </m:ctrlPr>
                        </m:fPr>
                        <m:num>
                          <m:acc>
                            <m:accPr>
                              <m:chr m:val="̅"/>
                              <m:ctrlPr>
                                <a:rPr lang="en-US" sz="2400" b="0" i="1" smtClean="0">
                                  <a:latin typeface="Cambria Math" charset="0"/>
                                  <a:ea typeface="Cambria Math"/>
                                </a:rPr>
                              </m:ctrlPr>
                            </m:accPr>
                            <m:e>
                              <m:r>
                                <a:rPr lang="en-US" sz="2400" b="0" i="1" smtClean="0">
                                  <a:latin typeface="Cambria Math"/>
                                  <a:ea typeface="Cambria Math"/>
                                </a:rPr>
                                <m:t>𝑥</m:t>
                              </m:r>
                              <m:r>
                                <a:rPr lang="en-US" sz="2400" b="0" i="1" smtClean="0">
                                  <a:latin typeface="Cambria Math"/>
                                  <a:ea typeface="Cambria Math"/>
                                </a:rPr>
                                <m:t> </m:t>
                              </m:r>
                            </m:e>
                          </m:acc>
                          <m:r>
                            <a:rPr lang="en-US" sz="2400" b="0" i="1" smtClean="0">
                              <a:latin typeface="Cambria Math"/>
                              <a:ea typeface="Cambria Math"/>
                            </a:rPr>
                            <m:t>− </m:t>
                          </m:r>
                          <m:r>
                            <a:rPr lang="en-US" sz="2400" b="0" i="1" smtClean="0">
                              <a:latin typeface="Cambria Math"/>
                              <a:ea typeface="Cambria Math"/>
                            </a:rPr>
                            <m:t>𝜇</m:t>
                          </m:r>
                        </m:num>
                        <m:den>
                          <m:sSub>
                            <m:sSubPr>
                              <m:ctrlPr>
                                <a:rPr lang="en-US" sz="2400" b="0" i="1" smtClean="0">
                                  <a:latin typeface="Cambria Math" charset="0"/>
                                  <a:ea typeface="Cambria Math"/>
                                </a:rPr>
                              </m:ctrlPr>
                            </m:sSubPr>
                            <m:e>
                              <m:r>
                                <a:rPr lang="en-US" sz="2400" b="0" i="1" smtClean="0">
                                  <a:latin typeface="Cambria Math"/>
                                  <a:ea typeface="Cambria Math"/>
                                </a:rPr>
                                <m:t>𝜎</m:t>
                              </m:r>
                            </m:e>
                            <m:sub>
                              <m:acc>
                                <m:accPr>
                                  <m:chr m:val="̅"/>
                                  <m:ctrlPr>
                                    <a:rPr lang="en-US" sz="2400" b="0" i="1" smtClean="0">
                                      <a:latin typeface="Cambria Math" charset="0"/>
                                      <a:ea typeface="Cambria Math"/>
                                    </a:rPr>
                                  </m:ctrlPr>
                                </m:accPr>
                                <m:e>
                                  <m:r>
                                    <a:rPr lang="en-US" sz="2400" b="0" i="1" smtClean="0">
                                      <a:latin typeface="Cambria Math"/>
                                      <a:ea typeface="Cambria Math"/>
                                    </a:rPr>
                                    <m:t>𝑥</m:t>
                                  </m:r>
                                </m:e>
                              </m:acc>
                            </m:sub>
                          </m:sSub>
                        </m:den>
                      </m:f>
                      <m:r>
                        <a:rPr lang="en-US" sz="2400" b="0" i="1" smtClean="0">
                          <a:latin typeface="Cambria Math"/>
                          <a:ea typeface="Cambria Math"/>
                        </a:rPr>
                        <m:t>=</m:t>
                      </m:r>
                      <m:f>
                        <m:fPr>
                          <m:ctrlPr>
                            <a:rPr lang="en-US" sz="2400" b="0" i="1" smtClean="0">
                              <a:latin typeface="Cambria Math" charset="0"/>
                              <a:ea typeface="Cambria Math"/>
                            </a:rPr>
                          </m:ctrlPr>
                        </m:fPr>
                        <m:num>
                          <m:r>
                            <a:rPr lang="en-US" sz="2400" b="0" i="1" smtClean="0">
                              <a:latin typeface="Cambria Math"/>
                              <a:ea typeface="Cambria Math"/>
                            </a:rPr>
                            <m:t>396 −400</m:t>
                          </m:r>
                        </m:num>
                        <m:den>
                          <m:r>
                            <a:rPr lang="en-US" sz="2400" b="0" i="1" smtClean="0">
                              <a:latin typeface="Cambria Math"/>
                              <a:ea typeface="Cambria Math"/>
                            </a:rPr>
                            <m:t>2.00</m:t>
                          </m:r>
                        </m:den>
                      </m:f>
                      <m:r>
                        <a:rPr lang="en-US" sz="2400" b="0" i="1" smtClean="0">
                          <a:latin typeface="Cambria Math"/>
                          <a:ea typeface="Cambria Math"/>
                        </a:rPr>
                        <m:t>=−2.00</m:t>
                      </m:r>
                    </m:oMath>
                  </m:oMathPara>
                </a14:m>
                <a:endParaRPr lang="en-US" sz="2400" b="0" i="1" dirty="0" smtClean="0">
                  <a:latin typeface="Cambria Math"/>
                  <a:ea typeface="Cambria Math"/>
                </a:endParaRPr>
              </a:p>
              <a:p>
                <a:r>
                  <a:rPr lang="en-US" sz="2400" b="0" i="1" dirty="0" smtClean="0">
                    <a:latin typeface="Cambria Math"/>
                    <a:ea typeface="Cambria Math"/>
                  </a:rPr>
                  <a:t>     </a:t>
                </a:r>
                <a14:m>
                  <m:oMath xmlns:m="http://schemas.openxmlformats.org/officeDocument/2006/math">
                    <m:r>
                      <a:rPr lang="en-US" sz="2400" b="0" i="1" smtClean="0">
                        <a:latin typeface="Cambria Math"/>
                        <a:ea typeface="Cambria Math"/>
                      </a:rPr>
                      <m:t>  </m:t>
                    </m:r>
                    <m:r>
                      <m:rPr>
                        <m:sty m:val="p"/>
                      </m:rPr>
                      <a:rPr lang="en-US" sz="2400" b="0" i="0" smtClean="0">
                        <a:latin typeface="Cambria Math"/>
                        <a:ea typeface="Cambria Math"/>
                      </a:rPr>
                      <m:t>For</m:t>
                    </m:r>
                    <m:r>
                      <a:rPr lang="en-US" sz="2400" b="0" i="1" smtClean="0">
                        <a:latin typeface="Cambria Math"/>
                        <a:ea typeface="Cambria Math"/>
                      </a:rPr>
                      <m:t> </m:t>
                    </m:r>
                    <m:acc>
                      <m:accPr>
                        <m:chr m:val="̅"/>
                        <m:ctrlPr>
                          <a:rPr lang="en-US" sz="2400" b="0" i="1" smtClean="0">
                            <a:latin typeface="Cambria Math" charset="0"/>
                            <a:ea typeface="Cambria Math"/>
                          </a:rPr>
                        </m:ctrlPr>
                      </m:accPr>
                      <m:e>
                        <m:r>
                          <a:rPr lang="en-US" sz="2400" b="0" i="1" smtClean="0">
                            <a:latin typeface="Cambria Math"/>
                            <a:ea typeface="Cambria Math"/>
                          </a:rPr>
                          <m:t>𝑥</m:t>
                        </m:r>
                      </m:e>
                    </m:acc>
                    <m:r>
                      <a:rPr lang="en-US" sz="2400" b="0" i="1" smtClean="0">
                        <a:latin typeface="Cambria Math"/>
                        <a:ea typeface="Cambria Math"/>
                      </a:rPr>
                      <m:t>=404;   </m:t>
                    </m:r>
                    <m:r>
                      <a:rPr lang="en-US" sz="2400" b="0" i="1" smtClean="0">
                        <a:latin typeface="Cambria Math"/>
                        <a:ea typeface="Cambria Math"/>
                      </a:rPr>
                      <m:t>𝑧</m:t>
                    </m:r>
                    <m:r>
                      <a:rPr lang="en-US" sz="2400" b="0" i="1" smtClean="0">
                        <a:latin typeface="Cambria Math"/>
                        <a:ea typeface="Cambria Math"/>
                      </a:rPr>
                      <m:t>= </m:t>
                    </m:r>
                    <m:f>
                      <m:fPr>
                        <m:ctrlPr>
                          <a:rPr lang="en-US" sz="2400" b="0" i="1" smtClean="0">
                            <a:latin typeface="Cambria Math" charset="0"/>
                            <a:ea typeface="Cambria Math"/>
                          </a:rPr>
                        </m:ctrlPr>
                      </m:fPr>
                      <m:num>
                        <m:acc>
                          <m:accPr>
                            <m:chr m:val="̅"/>
                            <m:ctrlPr>
                              <a:rPr lang="en-US" sz="2400" b="0" i="1" smtClean="0">
                                <a:latin typeface="Cambria Math" charset="0"/>
                                <a:ea typeface="Cambria Math"/>
                              </a:rPr>
                            </m:ctrlPr>
                          </m:accPr>
                          <m:e>
                            <m:r>
                              <a:rPr lang="en-US" sz="2400" b="0" i="1" smtClean="0">
                                <a:latin typeface="Cambria Math"/>
                                <a:ea typeface="Cambria Math"/>
                              </a:rPr>
                              <m:t>𝑥</m:t>
                            </m:r>
                            <m:r>
                              <a:rPr lang="en-US" sz="2400" b="0" i="1" smtClean="0">
                                <a:latin typeface="Cambria Math"/>
                                <a:ea typeface="Cambria Math"/>
                              </a:rPr>
                              <m:t> </m:t>
                            </m:r>
                          </m:e>
                        </m:acc>
                        <m:r>
                          <a:rPr lang="en-US" sz="2400" b="0" i="1" smtClean="0">
                            <a:latin typeface="Cambria Math"/>
                            <a:ea typeface="Cambria Math"/>
                          </a:rPr>
                          <m:t>− </m:t>
                        </m:r>
                        <m:r>
                          <a:rPr lang="en-US" sz="2400" b="0" i="1" smtClean="0">
                            <a:latin typeface="Cambria Math"/>
                            <a:ea typeface="Cambria Math"/>
                          </a:rPr>
                          <m:t>𝜇</m:t>
                        </m:r>
                      </m:num>
                      <m:den>
                        <m:sSub>
                          <m:sSubPr>
                            <m:ctrlPr>
                              <a:rPr lang="en-US" sz="2400" b="0" i="1" smtClean="0">
                                <a:latin typeface="Cambria Math" charset="0"/>
                                <a:ea typeface="Cambria Math"/>
                              </a:rPr>
                            </m:ctrlPr>
                          </m:sSubPr>
                          <m:e>
                            <m:r>
                              <a:rPr lang="en-US" sz="2400" b="0" i="1" smtClean="0">
                                <a:latin typeface="Cambria Math"/>
                                <a:ea typeface="Cambria Math"/>
                              </a:rPr>
                              <m:t>𝜎</m:t>
                            </m:r>
                          </m:e>
                          <m:sub>
                            <m:acc>
                              <m:accPr>
                                <m:chr m:val="̅"/>
                                <m:ctrlPr>
                                  <a:rPr lang="en-US" sz="2400" b="0" i="1" smtClean="0">
                                    <a:latin typeface="Cambria Math" charset="0"/>
                                    <a:ea typeface="Cambria Math"/>
                                  </a:rPr>
                                </m:ctrlPr>
                              </m:accPr>
                              <m:e>
                                <m:r>
                                  <a:rPr lang="en-US" sz="2400" b="0" i="1" smtClean="0">
                                    <a:latin typeface="Cambria Math"/>
                                    <a:ea typeface="Cambria Math"/>
                                  </a:rPr>
                                  <m:t>𝑥</m:t>
                                </m:r>
                              </m:e>
                            </m:acc>
                          </m:sub>
                        </m:sSub>
                      </m:den>
                    </m:f>
                    <m:r>
                      <a:rPr lang="en-US" sz="2400" b="0" i="1" smtClean="0">
                        <a:latin typeface="Cambria Math"/>
                        <a:ea typeface="Cambria Math"/>
                      </a:rPr>
                      <m:t>=</m:t>
                    </m:r>
                    <m:f>
                      <m:fPr>
                        <m:ctrlPr>
                          <a:rPr lang="en-US" sz="2400" b="0" i="1" smtClean="0">
                            <a:latin typeface="Cambria Math" charset="0"/>
                            <a:ea typeface="Cambria Math"/>
                          </a:rPr>
                        </m:ctrlPr>
                      </m:fPr>
                      <m:num>
                        <m:r>
                          <a:rPr lang="en-US" sz="2400" b="0" i="1" smtClean="0">
                            <a:latin typeface="Cambria Math"/>
                            <a:ea typeface="Cambria Math"/>
                          </a:rPr>
                          <m:t>404 −400</m:t>
                        </m:r>
                      </m:num>
                      <m:den>
                        <m:r>
                          <a:rPr lang="en-US" sz="2400" b="0" i="1" smtClean="0">
                            <a:latin typeface="Cambria Math"/>
                            <a:ea typeface="Cambria Math"/>
                          </a:rPr>
                          <m:t>2.00</m:t>
                        </m:r>
                      </m:den>
                    </m:f>
                    <m:r>
                      <a:rPr lang="en-US" sz="2400" b="0" i="1" smtClean="0">
                        <a:latin typeface="Cambria Math"/>
                        <a:ea typeface="Cambria Math"/>
                      </a:rPr>
                      <m:t>=2.00</m:t>
                    </m:r>
                  </m:oMath>
                </a14:m>
                <a:endParaRPr lang="en-US" sz="2400" b="0" i="1" dirty="0" smtClean="0">
                  <a:latin typeface="Cambria Math"/>
                  <a:ea typeface="Cambria Math"/>
                </a:endParaRPr>
              </a:p>
            </p:txBody>
          </p:sp>
        </mc:Choice>
        <mc:Fallback xmlns="" xmlns:mv="urn:schemas-microsoft-com:mac:vml">
          <p:sp>
            <p:nvSpPr>
              <p:cNvPr id="8" name="TextBox 7"/>
              <p:cNvSpPr txBox="1">
                <a:spLocks noRot="1" noChangeAspect="1" noMove="1" noResize="1" noEditPoints="1" noAdjustHandles="1" noChangeArrowheads="1" noChangeShapeType="1" noTextEdit="1"/>
              </p:cNvSpPr>
              <p:nvPr/>
            </p:nvSpPr>
            <p:spPr>
              <a:xfrm>
                <a:off x="1114586" y="1600200"/>
                <a:ext cx="7467600" cy="1424557"/>
              </a:xfrm>
              <a:prstGeom prst="rect">
                <a:avLst/>
              </a:prstGeom>
              <a:blipFill rotWithShape="1">
                <a:blip r:embed="rId5"/>
                <a:stretch>
                  <a:fillRect/>
                </a:stretch>
              </a:blipFill>
            </p:spPr>
            <p:txBody>
              <a:bodyPr/>
              <a:lstStyle/>
              <a:p>
                <a:r>
                  <a:rPr lang="en-US">
                    <a:noFill/>
                  </a:rPr>
                  <a:t> </a:t>
                </a:r>
              </a:p>
            </p:txBody>
          </p:sp>
        </mc:Fallback>
      </mc:AlternateContent>
      <p:sp>
        <p:nvSpPr>
          <p:cNvPr id="9" name="Text Box 4"/>
          <p:cNvSpPr txBox="1">
            <a:spLocks noChangeArrowheads="1"/>
          </p:cNvSpPr>
          <p:nvPr/>
        </p:nvSpPr>
        <p:spPr bwMode="auto">
          <a:xfrm>
            <a:off x="4049486" y="6222547"/>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2"/>
          <p:cNvSpPr>
            <a:spLocks noGrp="1" noChangeArrowheads="1"/>
          </p:cNvSpPr>
          <p:nvPr>
            <p:ph type="title"/>
          </p:nvPr>
        </p:nvSpPr>
        <p:spPr/>
        <p:txBody>
          <a:bodyPr/>
          <a:lstStyle/>
          <a:p>
            <a:pPr eaLnBrk="1" hangingPunct="1"/>
            <a:r>
              <a:rPr lang="en-US" sz="2800" dirty="0" smtClean="0"/>
              <a:t>Figure 7.13 </a:t>
            </a:r>
          </a:p>
        </p:txBody>
      </p:sp>
      <mc:AlternateContent xmlns:mc="http://schemas.openxmlformats.org/markup-compatibility/2006" xmlns:a14="http://schemas.microsoft.com/office/drawing/2010/main">
        <mc:Choice Requires="a14">
          <p:sp>
            <p:nvSpPr>
              <p:cNvPr id="9" name="TextBox 8"/>
              <p:cNvSpPr txBox="1"/>
              <p:nvPr/>
            </p:nvSpPr>
            <p:spPr>
              <a:xfrm>
                <a:off x="2286000" y="916632"/>
                <a:ext cx="3429000"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sz="2400" b="0" i="0" smtClean="0">
                          <a:latin typeface="Cambria Math"/>
                          <a:ea typeface="Cambria Math"/>
                        </a:rPr>
                        <m:t>P</m:t>
                      </m:r>
                      <m:r>
                        <a:rPr lang="en-US" sz="2400" b="0" i="1" smtClean="0">
                          <a:latin typeface="Cambria Math"/>
                          <a:ea typeface="Cambria Math"/>
                        </a:rPr>
                        <m:t>($396 ≤</m:t>
                      </m:r>
                      <m:acc>
                        <m:accPr>
                          <m:chr m:val="̅"/>
                          <m:ctrlPr>
                            <a:rPr lang="en-US" sz="2400" b="0" i="1" smtClean="0">
                              <a:latin typeface="Cambria Math" charset="0"/>
                              <a:ea typeface="Cambria Math"/>
                            </a:rPr>
                          </m:ctrlPr>
                        </m:accPr>
                        <m:e>
                          <m:r>
                            <a:rPr lang="en-US" sz="2400" b="0" i="1" smtClean="0">
                              <a:latin typeface="Cambria Math"/>
                              <a:ea typeface="Cambria Math"/>
                            </a:rPr>
                            <m:t>𝑥</m:t>
                          </m:r>
                        </m:e>
                      </m:acc>
                      <m:r>
                        <a:rPr lang="en-US" sz="2400" b="0" i="1" smtClean="0">
                          <a:latin typeface="Cambria Math"/>
                          <a:ea typeface="Cambria Math"/>
                        </a:rPr>
                        <m:t>≤$404)</m:t>
                      </m:r>
                    </m:oMath>
                  </m:oMathPara>
                </a14:m>
                <a:endParaRPr lang="en-US" sz="2400" b="0" i="1" dirty="0" smtClean="0">
                  <a:latin typeface="Cambria Math"/>
                  <a:ea typeface="Cambria Math"/>
                </a:endParaRPr>
              </a:p>
            </p:txBody>
          </p:sp>
        </mc:Choice>
        <mc:Fallback xmlns="" xmlns:mv="urn:schemas-microsoft-com:mac:vml">
          <p:sp>
            <p:nvSpPr>
              <p:cNvPr id="9" name="TextBox 8"/>
              <p:cNvSpPr txBox="1">
                <a:spLocks noRot="1" noChangeAspect="1" noMove="1" noResize="1" noEditPoints="1" noAdjustHandles="1" noChangeArrowheads="1" noChangeShapeType="1" noTextEdit="1"/>
              </p:cNvSpPr>
              <p:nvPr/>
            </p:nvSpPr>
            <p:spPr>
              <a:xfrm>
                <a:off x="2286000" y="916632"/>
                <a:ext cx="3429000" cy="461665"/>
              </a:xfrm>
              <a:prstGeom prst="rect">
                <a:avLst/>
              </a:prstGeom>
              <a:blipFill rotWithShape="1">
                <a:blip r:embed="rId2"/>
                <a:stretch>
                  <a:fillRect b="-19737"/>
                </a:stretch>
              </a:blipFill>
            </p:spPr>
            <p:txBody>
              <a:bodyPr/>
              <a:lstStyle/>
              <a:p>
                <a:r>
                  <a:rPr lang="en-US">
                    <a:noFill/>
                  </a:rPr>
                  <a:t> </a:t>
                </a:r>
              </a:p>
            </p:txBody>
          </p:sp>
        </mc:Fallback>
      </mc:AlternateContent>
      <p:sp>
        <p:nvSpPr>
          <p:cNvPr id="7" name="Text Box 4"/>
          <p:cNvSpPr txBox="1">
            <a:spLocks noChangeArrowheads="1"/>
          </p:cNvSpPr>
          <p:nvPr/>
        </p:nvSpPr>
        <p:spPr bwMode="auto">
          <a:xfrm>
            <a:off x="4049486" y="6222547"/>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1206" y="1785708"/>
            <a:ext cx="6001588" cy="3286584"/>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p:txBody>
          <a:bodyPr/>
          <a:lstStyle/>
          <a:p>
            <a:pPr eaLnBrk="1" hangingPunct="1"/>
            <a:r>
              <a:rPr lang="en-US" sz="2800" dirty="0" smtClean="0"/>
              <a:t>Example 7-6: Solution</a:t>
            </a:r>
          </a:p>
        </p:txBody>
      </p:sp>
      <p:sp>
        <p:nvSpPr>
          <p:cNvPr id="95235" name="Rectangle 3"/>
          <p:cNvSpPr>
            <a:spLocks noGrp="1" noChangeArrowheads="1"/>
          </p:cNvSpPr>
          <p:nvPr>
            <p:ph type="body" idx="1"/>
          </p:nvPr>
        </p:nvSpPr>
        <p:spPr>
          <a:xfrm>
            <a:off x="474662" y="1524001"/>
            <a:ext cx="8345488" cy="2057400"/>
          </a:xfrm>
        </p:spPr>
        <p:txBody>
          <a:bodyPr/>
          <a:lstStyle/>
          <a:p>
            <a:pPr marL="609600" indent="-609600" eaLnBrk="1" hangingPunct="1">
              <a:buSzPct val="85000"/>
              <a:buFont typeface="Wingdings" charset="2"/>
              <a:buNone/>
            </a:pPr>
            <a:r>
              <a:rPr lang="en-US" sz="2000" dirty="0" smtClean="0"/>
              <a:t>(a) Therefore, the probability that the average annual cost of the 225 checking accounts in this sample is within $4 of the population mean is .9544.</a:t>
            </a:r>
          </a:p>
        </p:txBody>
      </p:sp>
      <p:sp>
        <p:nvSpPr>
          <p:cNvPr id="6" name="Text Box 4"/>
          <p:cNvSpPr txBox="1">
            <a:spLocks noChangeArrowheads="1"/>
          </p:cNvSpPr>
          <p:nvPr/>
        </p:nvSpPr>
        <p:spPr bwMode="auto">
          <a:xfrm>
            <a:off x="4049486" y="6222547"/>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5" name="Rectangle 2"/>
          <p:cNvSpPr>
            <a:spLocks noGrp="1" noChangeArrowheads="1"/>
          </p:cNvSpPr>
          <p:nvPr>
            <p:ph type="title"/>
          </p:nvPr>
        </p:nvSpPr>
        <p:spPr/>
        <p:txBody>
          <a:bodyPr/>
          <a:lstStyle/>
          <a:p>
            <a:pPr eaLnBrk="1" hangingPunct="1"/>
            <a:r>
              <a:rPr lang="en-US" sz="2800" dirty="0" smtClean="0"/>
              <a:t>Example 7-6: Solution</a:t>
            </a:r>
          </a:p>
        </p:txBody>
      </p:sp>
      <p:sp>
        <p:nvSpPr>
          <p:cNvPr id="40966" name="Rectangle 3"/>
          <p:cNvSpPr>
            <a:spLocks noGrp="1" noChangeArrowheads="1"/>
          </p:cNvSpPr>
          <p:nvPr>
            <p:ph type="body" idx="1"/>
          </p:nvPr>
        </p:nvSpPr>
        <p:spPr>
          <a:xfrm>
            <a:off x="457200" y="1524000"/>
            <a:ext cx="8839200" cy="4435475"/>
          </a:xfrm>
          <a:noFill/>
        </p:spPr>
        <p:txBody>
          <a:bodyPr/>
          <a:lstStyle/>
          <a:p>
            <a:pPr marL="609600" indent="-609600" eaLnBrk="1" hangingPunct="1">
              <a:lnSpc>
                <a:spcPct val="90000"/>
              </a:lnSpc>
              <a:buSzPct val="85000"/>
              <a:buFont typeface="Wingdings" charset="2"/>
              <a:buNone/>
            </a:pPr>
            <a:r>
              <a:rPr lang="en-US" sz="2000" dirty="0" smtClean="0"/>
              <a:t>(b)  </a:t>
            </a:r>
          </a:p>
          <a:p>
            <a:pPr marL="609600" indent="-609600" eaLnBrk="1" hangingPunct="1">
              <a:lnSpc>
                <a:spcPct val="90000"/>
              </a:lnSpc>
            </a:pPr>
            <a:endParaRPr lang="en-US" dirty="0" smtClean="0"/>
          </a:p>
          <a:p>
            <a:pPr marL="609600" indent="-609600" eaLnBrk="1" hangingPunct="1">
              <a:lnSpc>
                <a:spcPct val="90000"/>
              </a:lnSpc>
            </a:pPr>
            <a:endParaRPr lang="en-US" dirty="0"/>
          </a:p>
          <a:p>
            <a:pPr marL="0" indent="0" eaLnBrk="1" hangingPunct="1">
              <a:lnSpc>
                <a:spcPct val="90000"/>
              </a:lnSpc>
              <a:buNone/>
            </a:pPr>
            <a:r>
              <a:rPr lang="en-US" sz="2000" i="1" dirty="0" smtClean="0"/>
              <a:t>   P</a:t>
            </a:r>
            <a:r>
              <a:rPr lang="en-US" sz="2000" dirty="0" smtClean="0"/>
              <a:t>(     ≤ $397.50) = </a:t>
            </a:r>
            <a:r>
              <a:rPr lang="en-US" sz="2000" i="1" dirty="0" smtClean="0"/>
              <a:t>P </a:t>
            </a:r>
            <a:r>
              <a:rPr lang="en-US" sz="2000" dirty="0" smtClean="0"/>
              <a:t>(</a:t>
            </a:r>
            <a:r>
              <a:rPr lang="en-US" sz="2000" i="1" dirty="0" smtClean="0">
                <a:latin typeface="Times New Roman" charset="0"/>
              </a:rPr>
              <a:t>z</a:t>
            </a:r>
            <a:r>
              <a:rPr lang="en-US" sz="2000" dirty="0" smtClean="0"/>
              <a:t> ≤ -1.35) = </a:t>
            </a:r>
            <a:r>
              <a:rPr lang="en-US" sz="2000" b="1" dirty="0" smtClean="0"/>
              <a:t>.0885</a:t>
            </a:r>
          </a:p>
        </p:txBody>
      </p:sp>
      <p:graphicFrame>
        <p:nvGraphicFramePr>
          <p:cNvPr id="40964" name="Object 4"/>
          <p:cNvGraphicFramePr>
            <a:graphicFrameLocks noChangeAspect="1"/>
          </p:cNvGraphicFramePr>
          <p:nvPr>
            <p:extLst>
              <p:ext uri="{D42A27DB-BD31-4B8C-83A1-F6EECF244321}">
                <p14:modId xmlns:p14="http://schemas.microsoft.com/office/powerpoint/2010/main" val="1727245639"/>
              </p:ext>
            </p:extLst>
          </p:nvPr>
        </p:nvGraphicFramePr>
        <p:xfrm>
          <a:off x="1066800" y="2743200"/>
          <a:ext cx="457200" cy="539750"/>
        </p:xfrm>
        <a:graphic>
          <a:graphicData uri="http://schemas.openxmlformats.org/presentationml/2006/ole">
            <mc:AlternateContent xmlns:mc="http://schemas.openxmlformats.org/markup-compatibility/2006">
              <mc:Choice xmlns:v="urn:schemas-microsoft-com:vml" Requires="v">
                <p:oleObj spid="_x0000_s41003" name="Equation" r:id="rId3" imgW="139680" imgH="164880" progId="Equation.3">
                  <p:embed/>
                </p:oleObj>
              </mc:Choice>
              <mc:Fallback>
                <p:oleObj name="Equation" r:id="rId3" imgW="139680" imgH="164880" progId="Equation.3">
                  <p:embed/>
                  <p:pic>
                    <p:nvPicPr>
                      <p:cNvPr id="0" name="Picture 3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6800" y="2743200"/>
                        <a:ext cx="457200" cy="539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xmlns:a14="http://schemas.microsoft.com/office/drawing/2010/main">
        <mc:Choice Requires="a14">
          <p:sp>
            <p:nvSpPr>
              <p:cNvPr id="9" name="TextBox 8"/>
              <p:cNvSpPr txBox="1"/>
              <p:nvPr/>
            </p:nvSpPr>
            <p:spPr>
              <a:xfrm>
                <a:off x="914400" y="1524000"/>
                <a:ext cx="7467600" cy="8486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sz="2400" b="0" i="0" smtClean="0">
                          <a:latin typeface="Cambria Math"/>
                          <a:ea typeface="Cambria Math"/>
                        </a:rPr>
                        <m:t>For</m:t>
                      </m:r>
                      <m:r>
                        <a:rPr lang="en-US" sz="2400" b="0" i="1" smtClean="0">
                          <a:latin typeface="Cambria Math"/>
                          <a:ea typeface="Cambria Math"/>
                        </a:rPr>
                        <m:t> </m:t>
                      </m:r>
                      <m:acc>
                        <m:accPr>
                          <m:chr m:val="̅"/>
                          <m:ctrlPr>
                            <a:rPr lang="en-US" sz="2400" b="0" i="1" smtClean="0">
                              <a:latin typeface="Cambria Math" charset="0"/>
                              <a:ea typeface="Cambria Math"/>
                            </a:rPr>
                          </m:ctrlPr>
                        </m:accPr>
                        <m:e>
                          <m:r>
                            <a:rPr lang="en-US" sz="2400" b="0" i="1" smtClean="0">
                              <a:latin typeface="Cambria Math"/>
                              <a:ea typeface="Cambria Math"/>
                            </a:rPr>
                            <m:t>𝑥</m:t>
                          </m:r>
                        </m:e>
                      </m:acc>
                      <m:r>
                        <a:rPr lang="en-US" sz="2400" b="0" i="1" smtClean="0">
                          <a:latin typeface="Cambria Math"/>
                          <a:ea typeface="Cambria Math"/>
                        </a:rPr>
                        <m:t>=397.30;   </m:t>
                      </m:r>
                      <m:r>
                        <a:rPr lang="en-US" sz="2400" b="0" i="1" smtClean="0">
                          <a:latin typeface="Cambria Math"/>
                          <a:ea typeface="Cambria Math"/>
                        </a:rPr>
                        <m:t>𝑧</m:t>
                      </m:r>
                      <m:r>
                        <a:rPr lang="en-US" sz="2400" b="0" i="1" smtClean="0">
                          <a:latin typeface="Cambria Math"/>
                          <a:ea typeface="Cambria Math"/>
                        </a:rPr>
                        <m:t>= </m:t>
                      </m:r>
                      <m:f>
                        <m:fPr>
                          <m:ctrlPr>
                            <a:rPr lang="en-US" sz="2400" b="0" i="1" smtClean="0">
                              <a:latin typeface="Cambria Math" charset="0"/>
                              <a:ea typeface="Cambria Math"/>
                            </a:rPr>
                          </m:ctrlPr>
                        </m:fPr>
                        <m:num>
                          <m:acc>
                            <m:accPr>
                              <m:chr m:val="̅"/>
                              <m:ctrlPr>
                                <a:rPr lang="en-US" sz="2400" b="0" i="1" smtClean="0">
                                  <a:latin typeface="Cambria Math" charset="0"/>
                                  <a:ea typeface="Cambria Math"/>
                                </a:rPr>
                              </m:ctrlPr>
                            </m:accPr>
                            <m:e>
                              <m:r>
                                <a:rPr lang="en-US" sz="2400" b="0" i="1" smtClean="0">
                                  <a:latin typeface="Cambria Math"/>
                                  <a:ea typeface="Cambria Math"/>
                                </a:rPr>
                                <m:t>𝑥</m:t>
                              </m:r>
                              <m:r>
                                <a:rPr lang="en-US" sz="2400" b="0" i="1" smtClean="0">
                                  <a:latin typeface="Cambria Math"/>
                                  <a:ea typeface="Cambria Math"/>
                                </a:rPr>
                                <m:t> </m:t>
                              </m:r>
                            </m:e>
                          </m:acc>
                          <m:r>
                            <a:rPr lang="en-US" sz="2400" b="0" i="1" smtClean="0">
                              <a:latin typeface="Cambria Math"/>
                              <a:ea typeface="Cambria Math"/>
                            </a:rPr>
                            <m:t>− </m:t>
                          </m:r>
                          <m:r>
                            <a:rPr lang="en-US" sz="2400" b="0" i="1" smtClean="0">
                              <a:latin typeface="Cambria Math"/>
                              <a:ea typeface="Cambria Math"/>
                            </a:rPr>
                            <m:t>𝜇</m:t>
                          </m:r>
                        </m:num>
                        <m:den>
                          <m:sSub>
                            <m:sSubPr>
                              <m:ctrlPr>
                                <a:rPr lang="en-US" sz="2400" b="0" i="1" smtClean="0">
                                  <a:latin typeface="Cambria Math" charset="0"/>
                                  <a:ea typeface="Cambria Math"/>
                                </a:rPr>
                              </m:ctrlPr>
                            </m:sSubPr>
                            <m:e>
                              <m:r>
                                <a:rPr lang="en-US" sz="2400" b="0" i="1" smtClean="0">
                                  <a:latin typeface="Cambria Math"/>
                                  <a:ea typeface="Cambria Math"/>
                                </a:rPr>
                                <m:t>𝜎</m:t>
                              </m:r>
                            </m:e>
                            <m:sub>
                              <m:acc>
                                <m:accPr>
                                  <m:chr m:val="̅"/>
                                  <m:ctrlPr>
                                    <a:rPr lang="en-US" sz="2400" b="0" i="1" smtClean="0">
                                      <a:latin typeface="Cambria Math" charset="0"/>
                                      <a:ea typeface="Cambria Math"/>
                                    </a:rPr>
                                  </m:ctrlPr>
                                </m:accPr>
                                <m:e>
                                  <m:r>
                                    <a:rPr lang="en-US" sz="2400" b="0" i="1" smtClean="0">
                                      <a:latin typeface="Cambria Math"/>
                                      <a:ea typeface="Cambria Math"/>
                                    </a:rPr>
                                    <m:t>𝑥</m:t>
                                  </m:r>
                                </m:e>
                              </m:acc>
                            </m:sub>
                          </m:sSub>
                        </m:den>
                      </m:f>
                      <m:r>
                        <a:rPr lang="en-US" sz="2400" b="0" i="1" smtClean="0">
                          <a:latin typeface="Cambria Math"/>
                          <a:ea typeface="Cambria Math"/>
                        </a:rPr>
                        <m:t>=</m:t>
                      </m:r>
                      <m:f>
                        <m:fPr>
                          <m:ctrlPr>
                            <a:rPr lang="en-US" sz="2400" b="0" i="1" smtClean="0">
                              <a:latin typeface="Cambria Math" charset="0"/>
                              <a:ea typeface="Cambria Math"/>
                            </a:rPr>
                          </m:ctrlPr>
                        </m:fPr>
                        <m:num>
                          <m:r>
                            <a:rPr lang="en-US" sz="2400" b="0" i="1" smtClean="0">
                              <a:latin typeface="Cambria Math"/>
                              <a:ea typeface="Cambria Math"/>
                            </a:rPr>
                            <m:t>397.30 −400</m:t>
                          </m:r>
                        </m:num>
                        <m:den>
                          <m:r>
                            <a:rPr lang="en-US" sz="2400" b="0" i="1" smtClean="0">
                              <a:latin typeface="Cambria Math"/>
                              <a:ea typeface="Cambria Math"/>
                            </a:rPr>
                            <m:t>2.00</m:t>
                          </m:r>
                        </m:den>
                      </m:f>
                      <m:r>
                        <a:rPr lang="en-US" sz="2400" b="0" i="1" smtClean="0">
                          <a:latin typeface="Cambria Math"/>
                          <a:ea typeface="Cambria Math"/>
                        </a:rPr>
                        <m:t>=−1.35</m:t>
                      </m:r>
                    </m:oMath>
                  </m:oMathPara>
                </a14:m>
                <a:endParaRPr lang="en-US" sz="2400" b="0" i="1" dirty="0" smtClean="0">
                  <a:latin typeface="Cambria Math"/>
                  <a:ea typeface="Cambria Math"/>
                </a:endParaRPr>
              </a:p>
            </p:txBody>
          </p:sp>
        </mc:Choice>
        <mc:Fallback xmlns="" xmlns:mv="urn:schemas-microsoft-com:mac:vml">
          <p:sp>
            <p:nvSpPr>
              <p:cNvPr id="9" name="TextBox 8"/>
              <p:cNvSpPr txBox="1">
                <a:spLocks noRot="1" noChangeAspect="1" noMove="1" noResize="1" noEditPoints="1" noAdjustHandles="1" noChangeArrowheads="1" noChangeShapeType="1" noTextEdit="1"/>
              </p:cNvSpPr>
              <p:nvPr/>
            </p:nvSpPr>
            <p:spPr>
              <a:xfrm>
                <a:off x="914400" y="1524000"/>
                <a:ext cx="7467600" cy="848630"/>
              </a:xfrm>
              <a:prstGeom prst="rect">
                <a:avLst/>
              </a:prstGeom>
              <a:blipFill rotWithShape="1">
                <a:blip r:embed="rId5"/>
                <a:stretch>
                  <a:fillRect/>
                </a:stretch>
              </a:blipFill>
            </p:spPr>
            <p:txBody>
              <a:bodyPr/>
              <a:lstStyle/>
              <a:p>
                <a:r>
                  <a:rPr lang="en-US">
                    <a:noFill/>
                  </a:rPr>
                  <a:t> </a:t>
                </a:r>
              </a:p>
            </p:txBody>
          </p:sp>
        </mc:Fallback>
      </mc:AlternateContent>
      <p:sp>
        <p:nvSpPr>
          <p:cNvPr id="7" name="Text Box 4"/>
          <p:cNvSpPr txBox="1">
            <a:spLocks noChangeArrowheads="1"/>
          </p:cNvSpPr>
          <p:nvPr/>
        </p:nvSpPr>
        <p:spPr bwMode="auto">
          <a:xfrm>
            <a:off x="4049486" y="6222547"/>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3"/>
          <p:cNvSpPr>
            <a:spLocks noGrp="1" noChangeArrowheads="1"/>
          </p:cNvSpPr>
          <p:nvPr>
            <p:ph type="title"/>
          </p:nvPr>
        </p:nvSpPr>
        <p:spPr/>
        <p:txBody>
          <a:bodyPr/>
          <a:lstStyle/>
          <a:p>
            <a:pPr eaLnBrk="1" hangingPunct="1"/>
            <a:r>
              <a:rPr lang="en-US" sz="2800" dirty="0" smtClean="0"/>
              <a:t>Figure 7.14 </a:t>
            </a:r>
          </a:p>
        </p:txBody>
      </p:sp>
      <mc:AlternateContent xmlns:mc="http://schemas.openxmlformats.org/markup-compatibility/2006" xmlns:a14="http://schemas.microsoft.com/office/drawing/2010/main">
        <mc:Choice Requires="a14">
          <p:sp>
            <p:nvSpPr>
              <p:cNvPr id="7" name="TextBox 6"/>
              <p:cNvSpPr txBox="1"/>
              <p:nvPr/>
            </p:nvSpPr>
            <p:spPr>
              <a:xfrm>
                <a:off x="2286000" y="916632"/>
                <a:ext cx="2590800"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sz="2400" b="0" i="0" smtClean="0">
                          <a:latin typeface="Cambria Math"/>
                          <a:ea typeface="Cambria Math"/>
                        </a:rPr>
                        <m:t>P</m:t>
                      </m:r>
                      <m:r>
                        <a:rPr lang="en-US" sz="2400" b="0" i="1" smtClean="0">
                          <a:latin typeface="Cambria Math"/>
                          <a:ea typeface="Cambria Math"/>
                        </a:rPr>
                        <m:t>(</m:t>
                      </m:r>
                      <m:acc>
                        <m:accPr>
                          <m:chr m:val="̅"/>
                          <m:ctrlPr>
                            <a:rPr lang="en-US" sz="2400" b="0" i="1" smtClean="0">
                              <a:latin typeface="Cambria Math" charset="0"/>
                              <a:ea typeface="Cambria Math"/>
                            </a:rPr>
                          </m:ctrlPr>
                        </m:accPr>
                        <m:e>
                          <m:r>
                            <a:rPr lang="en-US" sz="2400" b="0" i="1" smtClean="0">
                              <a:latin typeface="Cambria Math"/>
                              <a:ea typeface="Cambria Math"/>
                            </a:rPr>
                            <m:t>𝑥</m:t>
                          </m:r>
                        </m:e>
                      </m:acc>
                      <m:r>
                        <a:rPr lang="en-US" sz="2400" b="0" i="1" smtClean="0">
                          <a:latin typeface="Cambria Math"/>
                          <a:ea typeface="Cambria Math"/>
                        </a:rPr>
                        <m:t>≤$397.30)</m:t>
                      </m:r>
                    </m:oMath>
                  </m:oMathPara>
                </a14:m>
                <a:endParaRPr lang="en-US" sz="2400" b="0" i="1" dirty="0" smtClean="0">
                  <a:latin typeface="Cambria Math"/>
                  <a:ea typeface="Cambria Math"/>
                </a:endParaRPr>
              </a:p>
            </p:txBody>
          </p:sp>
        </mc:Choice>
        <mc:Fallback xmlns="" xmlns:mv="urn:schemas-microsoft-com:mac:vml">
          <p:sp>
            <p:nvSpPr>
              <p:cNvPr id="7" name="TextBox 6"/>
              <p:cNvSpPr txBox="1">
                <a:spLocks noRot="1" noChangeAspect="1" noMove="1" noResize="1" noEditPoints="1" noAdjustHandles="1" noChangeArrowheads="1" noChangeShapeType="1" noTextEdit="1"/>
              </p:cNvSpPr>
              <p:nvPr/>
            </p:nvSpPr>
            <p:spPr>
              <a:xfrm>
                <a:off x="2286000" y="916632"/>
                <a:ext cx="2590800" cy="461665"/>
              </a:xfrm>
              <a:prstGeom prst="rect">
                <a:avLst/>
              </a:prstGeom>
              <a:blipFill rotWithShape="1">
                <a:blip r:embed="rId2"/>
                <a:stretch>
                  <a:fillRect b="-19737"/>
                </a:stretch>
              </a:blipFill>
            </p:spPr>
            <p:txBody>
              <a:bodyPr/>
              <a:lstStyle/>
              <a:p>
                <a:r>
                  <a:rPr lang="en-US">
                    <a:noFill/>
                  </a:rPr>
                  <a:t> </a:t>
                </a:r>
              </a:p>
            </p:txBody>
          </p:sp>
        </mc:Fallback>
      </mc:AlternateContent>
      <p:sp>
        <p:nvSpPr>
          <p:cNvPr id="8" name="Text Box 4"/>
          <p:cNvSpPr txBox="1">
            <a:spLocks noChangeArrowheads="1"/>
          </p:cNvSpPr>
          <p:nvPr/>
        </p:nvSpPr>
        <p:spPr bwMode="auto">
          <a:xfrm>
            <a:off x="4049486" y="6222547"/>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66443" y="1819050"/>
            <a:ext cx="6011114" cy="3219900"/>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p:txBody>
          <a:bodyPr/>
          <a:lstStyle/>
          <a:p>
            <a:pPr eaLnBrk="1" hangingPunct="1"/>
            <a:r>
              <a:rPr lang="en-US" sz="2800" dirty="0" smtClean="0"/>
              <a:t>Example 7-6: Solution</a:t>
            </a:r>
          </a:p>
        </p:txBody>
      </p:sp>
      <p:sp>
        <p:nvSpPr>
          <p:cNvPr id="96259" name="Rectangle 3"/>
          <p:cNvSpPr>
            <a:spLocks noGrp="1" noChangeArrowheads="1"/>
          </p:cNvSpPr>
          <p:nvPr>
            <p:ph type="body" idx="1"/>
          </p:nvPr>
        </p:nvSpPr>
        <p:spPr>
          <a:xfrm>
            <a:off x="474662" y="1600200"/>
            <a:ext cx="8345488" cy="1905000"/>
          </a:xfrm>
        </p:spPr>
        <p:txBody>
          <a:bodyPr/>
          <a:lstStyle/>
          <a:p>
            <a:pPr marL="609600" indent="-609600" eaLnBrk="1" hangingPunct="1">
              <a:buFont typeface="Tahoma" charset="0"/>
              <a:buNone/>
            </a:pPr>
            <a:r>
              <a:rPr lang="en-US" sz="2000" dirty="0" smtClean="0"/>
              <a:t>(b) Thus, the probability that the average annual cost of the checking accounts in this sample is less than the population mean by $2.70 or more is .0885.</a:t>
            </a:r>
          </a:p>
        </p:txBody>
      </p:sp>
      <p:sp>
        <p:nvSpPr>
          <p:cNvPr id="6" name="Text Box 4"/>
          <p:cNvSpPr txBox="1">
            <a:spLocks noChangeArrowheads="1"/>
          </p:cNvSpPr>
          <p:nvPr/>
        </p:nvSpPr>
        <p:spPr bwMode="auto">
          <a:xfrm>
            <a:off x="4049486" y="6222547"/>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2" name="Rectangle 2"/>
          <p:cNvSpPr>
            <a:spLocks noGrp="1" noChangeArrowheads="1"/>
          </p:cNvSpPr>
          <p:nvPr>
            <p:ph type="title"/>
          </p:nvPr>
        </p:nvSpPr>
        <p:spPr>
          <a:xfrm>
            <a:off x="609600" y="228600"/>
            <a:ext cx="7772400" cy="1139825"/>
          </a:xfrm>
        </p:spPr>
        <p:txBody>
          <a:bodyPr/>
          <a:lstStyle/>
          <a:p>
            <a:pPr eaLnBrk="1" hangingPunct="1"/>
            <a:r>
              <a:rPr lang="en-US" sz="2800" dirty="0" smtClean="0"/>
              <a:t>POPULATION AND SAMPLE PROPORTIONS</a:t>
            </a:r>
          </a:p>
        </p:txBody>
      </p:sp>
      <p:sp>
        <p:nvSpPr>
          <p:cNvPr id="43013" name="Rectangle 3"/>
          <p:cNvSpPr>
            <a:spLocks noGrp="1" noChangeArrowheads="1"/>
          </p:cNvSpPr>
          <p:nvPr>
            <p:ph type="body" idx="1"/>
          </p:nvPr>
        </p:nvSpPr>
        <p:spPr>
          <a:xfrm>
            <a:off x="76200" y="1600200"/>
            <a:ext cx="8421688" cy="1447800"/>
          </a:xfrm>
        </p:spPr>
        <p:txBody>
          <a:bodyPr/>
          <a:lstStyle/>
          <a:p>
            <a:pPr eaLnBrk="1" hangingPunct="1">
              <a:buFont typeface="Tahoma" charset="0"/>
              <a:buChar char=" "/>
            </a:pPr>
            <a:r>
              <a:rPr lang="en-US" sz="2000" dirty="0" smtClean="0"/>
              <a:t>The </a:t>
            </a:r>
            <a:r>
              <a:rPr lang="en-US" sz="2000" b="1" i="1" u="sng" dirty="0" smtClean="0">
                <a:solidFill>
                  <a:schemeClr val="hlink"/>
                </a:solidFill>
              </a:rPr>
              <a:t>population and sample proportions</a:t>
            </a:r>
            <a:r>
              <a:rPr lang="en-US" sz="2000" dirty="0" smtClean="0"/>
              <a:t>, denoted by </a:t>
            </a:r>
            <a:r>
              <a:rPr lang="en-US" sz="2000" i="1" dirty="0" smtClean="0">
                <a:latin typeface="Times New Roman" charset="0"/>
              </a:rPr>
              <a:t>p</a:t>
            </a:r>
            <a:r>
              <a:rPr lang="en-US" sz="2000" dirty="0" smtClean="0"/>
              <a:t> and   , respectively, are calculated as</a:t>
            </a:r>
          </a:p>
          <a:p>
            <a:pPr eaLnBrk="1" hangingPunct="1"/>
            <a:endParaRPr lang="en-US" sz="2000" dirty="0" smtClean="0"/>
          </a:p>
          <a:p>
            <a:pPr eaLnBrk="1" hangingPunct="1"/>
            <a:endParaRPr lang="en-US" sz="2000" dirty="0" smtClean="0"/>
          </a:p>
          <a:p>
            <a:pPr eaLnBrk="1" hangingPunct="1">
              <a:buFont typeface="Wingdings" charset="2"/>
              <a:buNone/>
            </a:pPr>
            <a:endParaRPr lang="en-US" sz="2000" dirty="0" smtClean="0"/>
          </a:p>
        </p:txBody>
      </p:sp>
      <p:graphicFrame>
        <p:nvGraphicFramePr>
          <p:cNvPr id="43010" name="Object 2"/>
          <p:cNvGraphicFramePr>
            <a:graphicFrameLocks noChangeAspect="1"/>
          </p:cNvGraphicFramePr>
          <p:nvPr>
            <p:extLst>
              <p:ext uri="{D42A27DB-BD31-4B8C-83A1-F6EECF244321}">
                <p14:modId xmlns:p14="http://schemas.microsoft.com/office/powerpoint/2010/main" val="4169207643"/>
              </p:ext>
            </p:extLst>
          </p:nvPr>
        </p:nvGraphicFramePr>
        <p:xfrm>
          <a:off x="990600" y="1905001"/>
          <a:ext cx="342637" cy="457200"/>
        </p:xfrm>
        <a:graphic>
          <a:graphicData uri="http://schemas.openxmlformats.org/presentationml/2006/ole">
            <mc:AlternateContent xmlns:mc="http://schemas.openxmlformats.org/markup-compatibility/2006">
              <mc:Choice xmlns:v="urn:schemas-microsoft-com:vml" Requires="v">
                <p:oleObj spid="_x0000_s43071" name="Equation" r:id="rId3" imgW="152280" imgH="203040" progId="Equation.3">
                  <p:embed/>
                </p:oleObj>
              </mc:Choice>
              <mc:Fallback>
                <p:oleObj name="Equation" r:id="rId3" imgW="152280" imgH="203040" progId="Equation.3">
                  <p:embed/>
                  <p:pic>
                    <p:nvPicPr>
                      <p:cNvPr id="0" name="Picture 5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600" y="1905001"/>
                        <a:ext cx="342637"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3011" name="Object 3"/>
          <p:cNvGraphicFramePr>
            <a:graphicFrameLocks noChangeAspect="1"/>
          </p:cNvGraphicFramePr>
          <p:nvPr>
            <p:extLst>
              <p:ext uri="{D42A27DB-BD31-4B8C-83A1-F6EECF244321}">
                <p14:modId xmlns:p14="http://schemas.microsoft.com/office/powerpoint/2010/main" val="19545429"/>
              </p:ext>
            </p:extLst>
          </p:nvPr>
        </p:nvGraphicFramePr>
        <p:xfrm>
          <a:off x="2306638" y="2667001"/>
          <a:ext cx="3179762" cy="865392"/>
        </p:xfrm>
        <a:graphic>
          <a:graphicData uri="http://schemas.openxmlformats.org/presentationml/2006/ole">
            <mc:AlternateContent xmlns:mc="http://schemas.openxmlformats.org/markup-compatibility/2006">
              <mc:Choice xmlns:v="urn:schemas-microsoft-com:vml" Requires="v">
                <p:oleObj spid="_x0000_s43072" name="Equation" r:id="rId5" imgW="1447560" imgH="393480" progId="Equation.3">
                  <p:embed/>
                </p:oleObj>
              </mc:Choice>
              <mc:Fallback>
                <p:oleObj name="Equation" r:id="rId5" imgW="1447560" imgH="393480" progId="Equation.3">
                  <p:embed/>
                  <p:pic>
                    <p:nvPicPr>
                      <p:cNvPr id="0" name="Picture 5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06638" y="2667001"/>
                        <a:ext cx="3179762" cy="86539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Text Box 4"/>
          <p:cNvSpPr txBox="1">
            <a:spLocks noChangeArrowheads="1"/>
          </p:cNvSpPr>
          <p:nvPr/>
        </p:nvSpPr>
        <p:spPr bwMode="auto">
          <a:xfrm>
            <a:off x="4049486" y="6222547"/>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pic>
        <p:nvPicPr>
          <p:cNvPr id="2" name="Picture 1"/>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0" y="0"/>
            <a:ext cx="9144000" cy="1385225"/>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title"/>
          </p:nvPr>
        </p:nvSpPr>
        <p:spPr/>
        <p:txBody>
          <a:bodyPr/>
          <a:lstStyle/>
          <a:p>
            <a:pPr eaLnBrk="1" hangingPunct="1"/>
            <a:r>
              <a:rPr lang="en-US" sz="2800" dirty="0" smtClean="0"/>
              <a:t>POPULATION AND SAMPLE PROPORTIONS</a:t>
            </a:r>
          </a:p>
        </p:txBody>
      </p:sp>
      <p:sp>
        <p:nvSpPr>
          <p:cNvPr id="97283" name="Rectangle 3"/>
          <p:cNvSpPr>
            <a:spLocks noGrp="1" noChangeArrowheads="1"/>
          </p:cNvSpPr>
          <p:nvPr>
            <p:ph type="body" idx="1"/>
          </p:nvPr>
        </p:nvSpPr>
        <p:spPr>
          <a:xfrm>
            <a:off x="533400" y="1524000"/>
            <a:ext cx="8077200" cy="2895600"/>
          </a:xfrm>
        </p:spPr>
        <p:txBody>
          <a:bodyPr/>
          <a:lstStyle/>
          <a:p>
            <a:pPr eaLnBrk="1" hangingPunct="1">
              <a:buFont typeface="Wingdings" charset="2"/>
              <a:buNone/>
            </a:pPr>
            <a:r>
              <a:rPr lang="en-US" sz="2000" dirty="0" smtClean="0"/>
              <a:t>where</a:t>
            </a:r>
          </a:p>
          <a:p>
            <a:pPr marL="457200" lvl="1" indent="0" eaLnBrk="1" hangingPunct="1">
              <a:buNone/>
            </a:pPr>
            <a:r>
              <a:rPr lang="en-US" sz="2000" i="1" dirty="0" smtClean="0">
                <a:latin typeface="Times New Roman" charset="0"/>
              </a:rPr>
              <a:t>N</a:t>
            </a:r>
            <a:r>
              <a:rPr lang="en-US" sz="2000" dirty="0" smtClean="0"/>
              <a:t> = total number of elements in the population</a:t>
            </a:r>
          </a:p>
          <a:p>
            <a:pPr marL="457200" lvl="1" indent="0" eaLnBrk="1" hangingPunct="1">
              <a:buNone/>
            </a:pPr>
            <a:r>
              <a:rPr lang="en-US" sz="2000" i="1" dirty="0" smtClean="0">
                <a:latin typeface="Times New Roman" charset="0"/>
              </a:rPr>
              <a:t>n</a:t>
            </a:r>
            <a:r>
              <a:rPr lang="en-US" sz="2000" dirty="0" smtClean="0"/>
              <a:t> = total number of elements in the sample</a:t>
            </a:r>
          </a:p>
          <a:p>
            <a:pPr marL="457200" lvl="1" indent="0" eaLnBrk="1" hangingPunct="1">
              <a:buNone/>
            </a:pPr>
            <a:r>
              <a:rPr lang="en-US" sz="2000" i="1" dirty="0" smtClean="0">
                <a:latin typeface="Times New Roman" charset="0"/>
              </a:rPr>
              <a:t>X</a:t>
            </a:r>
            <a:r>
              <a:rPr lang="en-US" sz="2000" dirty="0" smtClean="0"/>
              <a:t> = number of elements in the population that possess a specific characteristic</a:t>
            </a:r>
          </a:p>
          <a:p>
            <a:pPr marL="457200" lvl="1" indent="0" eaLnBrk="1" hangingPunct="1">
              <a:buNone/>
            </a:pPr>
            <a:r>
              <a:rPr lang="en-US" sz="2000" i="1" dirty="0" smtClean="0">
                <a:latin typeface="Times New Roman" charset="0"/>
              </a:rPr>
              <a:t>x</a:t>
            </a:r>
            <a:r>
              <a:rPr lang="en-US" sz="2000" dirty="0" smtClean="0"/>
              <a:t> = number of elements in the sample that possess a specific characteristic </a:t>
            </a:r>
          </a:p>
          <a:p>
            <a:pPr lvl="1" eaLnBrk="1" hangingPunct="1"/>
            <a:endParaRPr lang="en-US" sz="2000" dirty="0" smtClean="0"/>
          </a:p>
        </p:txBody>
      </p:sp>
      <p:sp>
        <p:nvSpPr>
          <p:cNvPr id="6" name="Text Box 4"/>
          <p:cNvSpPr txBox="1">
            <a:spLocks noChangeArrowheads="1"/>
          </p:cNvSpPr>
          <p:nvPr/>
        </p:nvSpPr>
        <p:spPr bwMode="auto">
          <a:xfrm>
            <a:off x="4049486" y="6222547"/>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type="title"/>
          </p:nvPr>
        </p:nvSpPr>
        <p:spPr/>
        <p:txBody>
          <a:bodyPr/>
          <a:lstStyle/>
          <a:p>
            <a:pPr eaLnBrk="1" hangingPunct="1"/>
            <a:r>
              <a:rPr lang="en-US" sz="2800" dirty="0" smtClean="0"/>
              <a:t>Example 7-7</a:t>
            </a:r>
          </a:p>
        </p:txBody>
      </p:sp>
      <p:sp>
        <p:nvSpPr>
          <p:cNvPr id="98307" name="Rectangle 3"/>
          <p:cNvSpPr>
            <a:spLocks noGrp="1" noChangeArrowheads="1"/>
          </p:cNvSpPr>
          <p:nvPr>
            <p:ph type="body" idx="1"/>
          </p:nvPr>
        </p:nvSpPr>
        <p:spPr>
          <a:xfrm>
            <a:off x="112712" y="1524000"/>
            <a:ext cx="8421688" cy="2743200"/>
          </a:xfrm>
        </p:spPr>
        <p:txBody>
          <a:bodyPr/>
          <a:lstStyle/>
          <a:p>
            <a:pPr eaLnBrk="1" hangingPunct="1">
              <a:buFont typeface="Tahoma" charset="0"/>
              <a:buChar char=" "/>
            </a:pPr>
            <a:r>
              <a:rPr lang="en-GB" sz="2000" dirty="0" smtClean="0"/>
              <a:t>Suppose a total of 789,654 families live in a city and 563,282 of them own homes. A sample of 240 families is selected from this city, and 158 of them own homes. Find the proportion of families who own homes in the population and in the sample. </a:t>
            </a:r>
            <a:endParaRPr lang="en-US" sz="2000" dirty="0" smtClean="0"/>
          </a:p>
        </p:txBody>
      </p:sp>
      <p:sp>
        <p:nvSpPr>
          <p:cNvPr id="6" name="Text Box 4"/>
          <p:cNvSpPr txBox="1">
            <a:spLocks noChangeArrowheads="1"/>
          </p:cNvSpPr>
          <p:nvPr/>
        </p:nvSpPr>
        <p:spPr bwMode="auto">
          <a:xfrm>
            <a:off x="4049486" y="6222547"/>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2"/>
          <p:cNvSpPr>
            <a:spLocks noGrp="1" noChangeArrowheads="1"/>
          </p:cNvSpPr>
          <p:nvPr>
            <p:ph type="title"/>
          </p:nvPr>
        </p:nvSpPr>
        <p:spPr/>
        <p:txBody>
          <a:bodyPr/>
          <a:lstStyle/>
          <a:p>
            <a:pPr eaLnBrk="1" hangingPunct="1"/>
            <a:r>
              <a:rPr lang="en-US" sz="2800" dirty="0" smtClean="0"/>
              <a:t>Example 7-7: Solution</a:t>
            </a:r>
          </a:p>
        </p:txBody>
      </p:sp>
      <p:graphicFrame>
        <p:nvGraphicFramePr>
          <p:cNvPr id="44034" name="Object 2"/>
          <p:cNvGraphicFramePr>
            <a:graphicFrameLocks noChangeAspect="1"/>
          </p:cNvGraphicFramePr>
          <p:nvPr>
            <p:extLst>
              <p:ext uri="{D42A27DB-BD31-4B8C-83A1-F6EECF244321}">
                <p14:modId xmlns:p14="http://schemas.microsoft.com/office/powerpoint/2010/main" val="74713756"/>
              </p:ext>
            </p:extLst>
          </p:nvPr>
        </p:nvGraphicFramePr>
        <p:xfrm>
          <a:off x="1295400" y="1752600"/>
          <a:ext cx="3200400" cy="2064941"/>
        </p:xfrm>
        <a:graphic>
          <a:graphicData uri="http://schemas.openxmlformats.org/presentationml/2006/ole">
            <mc:AlternateContent xmlns:mc="http://schemas.openxmlformats.org/markup-compatibility/2006">
              <mc:Choice xmlns:v="urn:schemas-microsoft-com:vml" Requires="v">
                <p:oleObj spid="_x0000_s44064" name="Equation" r:id="rId3" imgW="1574640" imgH="1015920" progId="">
                  <p:embed/>
                </p:oleObj>
              </mc:Choice>
              <mc:Fallback>
                <p:oleObj name="Equation" r:id="rId3" imgW="1574640" imgH="1015920" progId="">
                  <p:embed/>
                  <p:pic>
                    <p:nvPicPr>
                      <p:cNvPr id="0" name="Picture 2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5400" y="1752600"/>
                        <a:ext cx="3200400" cy="206494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Text Box 4"/>
          <p:cNvSpPr txBox="1">
            <a:spLocks noChangeArrowheads="1"/>
          </p:cNvSpPr>
          <p:nvPr/>
        </p:nvSpPr>
        <p:spPr bwMode="auto">
          <a:xfrm>
            <a:off x="4049486" y="6222547"/>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2" name="Rectangle 2"/>
          <p:cNvSpPr>
            <a:spLocks noGrp="1" noChangeArrowheads="1"/>
          </p:cNvSpPr>
          <p:nvPr>
            <p:ph type="title"/>
          </p:nvPr>
        </p:nvSpPr>
        <p:spPr>
          <a:xfrm>
            <a:off x="457200" y="304800"/>
            <a:ext cx="8229600" cy="1139825"/>
          </a:xfrm>
        </p:spPr>
        <p:txBody>
          <a:bodyPr/>
          <a:lstStyle/>
          <a:p>
            <a:pPr eaLnBrk="1" hangingPunct="1"/>
            <a:r>
              <a:rPr lang="en-US" sz="2800" dirty="0" smtClean="0"/>
              <a:t>THE SAMPLING DISTRIBUTION OF THE SAMPLE PROPORTION, </a:t>
            </a:r>
            <a:r>
              <a:rPr lang="en-US" sz="4000" dirty="0" smtClean="0"/>
              <a:t> </a:t>
            </a:r>
          </a:p>
        </p:txBody>
      </p:sp>
      <p:sp>
        <p:nvSpPr>
          <p:cNvPr id="45063" name="Rectangle 3"/>
          <p:cNvSpPr>
            <a:spLocks noGrp="1" noChangeArrowheads="1"/>
          </p:cNvSpPr>
          <p:nvPr>
            <p:ph type="body" idx="1"/>
          </p:nvPr>
        </p:nvSpPr>
        <p:spPr>
          <a:xfrm>
            <a:off x="533400" y="1600200"/>
            <a:ext cx="8193088" cy="2743200"/>
          </a:xfrm>
        </p:spPr>
        <p:txBody>
          <a:bodyPr/>
          <a:lstStyle/>
          <a:p>
            <a:pPr eaLnBrk="1" hangingPunct="1"/>
            <a:r>
              <a:rPr lang="en-US" sz="2000" dirty="0" smtClean="0"/>
              <a:t>Sampling Distribution of </a:t>
            </a:r>
          </a:p>
          <a:p>
            <a:pPr eaLnBrk="1" hangingPunct="1"/>
            <a:r>
              <a:rPr lang="en-US" sz="2000" dirty="0" smtClean="0"/>
              <a:t>Mean and Standard Deviation of</a:t>
            </a:r>
          </a:p>
          <a:p>
            <a:pPr eaLnBrk="1" hangingPunct="1"/>
            <a:r>
              <a:rPr lang="en-US" sz="2000" dirty="0" smtClean="0"/>
              <a:t>Shape of the Sampling Distribution of </a:t>
            </a:r>
          </a:p>
          <a:p>
            <a:pPr eaLnBrk="1" hangingPunct="1">
              <a:buFont typeface="Wingdings" charset="2"/>
              <a:buNone/>
            </a:pPr>
            <a:endParaRPr lang="en-US" dirty="0" smtClean="0"/>
          </a:p>
        </p:txBody>
      </p:sp>
      <p:graphicFrame>
        <p:nvGraphicFramePr>
          <p:cNvPr id="45058" name="Object 2"/>
          <p:cNvGraphicFramePr>
            <a:graphicFrameLocks noChangeAspect="1"/>
          </p:cNvGraphicFramePr>
          <p:nvPr>
            <p:extLst>
              <p:ext uri="{D42A27DB-BD31-4B8C-83A1-F6EECF244321}">
                <p14:modId xmlns:p14="http://schemas.microsoft.com/office/powerpoint/2010/main" val="1522773389"/>
              </p:ext>
            </p:extLst>
          </p:nvPr>
        </p:nvGraphicFramePr>
        <p:xfrm>
          <a:off x="3048000" y="838200"/>
          <a:ext cx="400050" cy="533400"/>
        </p:xfrm>
        <a:graphic>
          <a:graphicData uri="http://schemas.openxmlformats.org/presentationml/2006/ole">
            <mc:AlternateContent xmlns:mc="http://schemas.openxmlformats.org/markup-compatibility/2006">
              <mc:Choice xmlns:v="urn:schemas-microsoft-com:vml" Requires="v">
                <p:oleObj spid="_x0000_s45172" name="Equation" r:id="rId3" imgW="152280" imgH="203040" progId="Equation.3">
                  <p:embed/>
                </p:oleObj>
              </mc:Choice>
              <mc:Fallback>
                <p:oleObj name="Equation" r:id="rId3" imgW="152280" imgH="203040" progId="Equation.3">
                  <p:embed/>
                  <p:pic>
                    <p:nvPicPr>
                      <p:cNvPr id="0" name="Picture 10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0" y="838200"/>
                        <a:ext cx="400050"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5059" name="Object 3"/>
          <p:cNvGraphicFramePr>
            <a:graphicFrameLocks noChangeAspect="1"/>
          </p:cNvGraphicFramePr>
          <p:nvPr>
            <p:extLst>
              <p:ext uri="{D42A27DB-BD31-4B8C-83A1-F6EECF244321}">
                <p14:modId xmlns:p14="http://schemas.microsoft.com/office/powerpoint/2010/main" val="3833815120"/>
              </p:ext>
            </p:extLst>
          </p:nvPr>
        </p:nvGraphicFramePr>
        <p:xfrm>
          <a:off x="5867400" y="2336800"/>
          <a:ext cx="304800" cy="406400"/>
        </p:xfrm>
        <a:graphic>
          <a:graphicData uri="http://schemas.openxmlformats.org/presentationml/2006/ole">
            <mc:AlternateContent xmlns:mc="http://schemas.openxmlformats.org/markup-compatibility/2006">
              <mc:Choice xmlns:v="urn:schemas-microsoft-com:vml" Requires="v">
                <p:oleObj spid="_x0000_s45173" name="Equation" r:id="rId5" imgW="152280" imgH="203040" progId="Equation.3">
                  <p:embed/>
                </p:oleObj>
              </mc:Choice>
              <mc:Fallback>
                <p:oleObj name="Equation" r:id="rId5" imgW="152280" imgH="203040" progId="Equation.3">
                  <p:embed/>
                  <p:pic>
                    <p:nvPicPr>
                      <p:cNvPr id="0" name="Picture 10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67400" y="2336800"/>
                        <a:ext cx="304800"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5060" name="Object 4"/>
          <p:cNvGraphicFramePr>
            <a:graphicFrameLocks noChangeAspect="1"/>
          </p:cNvGraphicFramePr>
          <p:nvPr>
            <p:extLst>
              <p:ext uri="{D42A27DB-BD31-4B8C-83A1-F6EECF244321}">
                <p14:modId xmlns:p14="http://schemas.microsoft.com/office/powerpoint/2010/main" val="254637224"/>
              </p:ext>
            </p:extLst>
          </p:nvPr>
        </p:nvGraphicFramePr>
        <p:xfrm>
          <a:off x="4114800" y="1600200"/>
          <a:ext cx="381000" cy="381000"/>
        </p:xfrm>
        <a:graphic>
          <a:graphicData uri="http://schemas.openxmlformats.org/presentationml/2006/ole">
            <mc:AlternateContent xmlns:mc="http://schemas.openxmlformats.org/markup-compatibility/2006">
              <mc:Choice xmlns:v="urn:schemas-microsoft-com:vml" Requires="v">
                <p:oleObj spid="_x0000_s45174" name="Equation" r:id="rId6" imgW="152280" imgH="203040" progId="Equation.3">
                  <p:embed/>
                </p:oleObj>
              </mc:Choice>
              <mc:Fallback>
                <p:oleObj name="Equation" r:id="rId6" imgW="152280" imgH="203040" progId="Equation.3">
                  <p:embed/>
                  <p:pic>
                    <p:nvPicPr>
                      <p:cNvPr id="0" name="Picture 10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14800" y="1600200"/>
                        <a:ext cx="3810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5061" name="Object 5"/>
          <p:cNvGraphicFramePr>
            <a:graphicFrameLocks noChangeAspect="1"/>
          </p:cNvGraphicFramePr>
          <p:nvPr>
            <p:extLst>
              <p:ext uri="{D42A27DB-BD31-4B8C-83A1-F6EECF244321}">
                <p14:modId xmlns:p14="http://schemas.microsoft.com/office/powerpoint/2010/main" val="3449182871"/>
              </p:ext>
            </p:extLst>
          </p:nvPr>
        </p:nvGraphicFramePr>
        <p:xfrm>
          <a:off x="5181600" y="1955800"/>
          <a:ext cx="304800" cy="406400"/>
        </p:xfrm>
        <a:graphic>
          <a:graphicData uri="http://schemas.openxmlformats.org/presentationml/2006/ole">
            <mc:AlternateContent xmlns:mc="http://schemas.openxmlformats.org/markup-compatibility/2006">
              <mc:Choice xmlns:v="urn:schemas-microsoft-com:vml" Requires="v">
                <p:oleObj spid="_x0000_s45175" name="Equation" r:id="rId7" imgW="152280" imgH="203040" progId="Equation.3">
                  <p:embed/>
                </p:oleObj>
              </mc:Choice>
              <mc:Fallback>
                <p:oleObj name="Equation" r:id="rId7" imgW="152280" imgH="203040" progId="Equation.3">
                  <p:embed/>
                  <p:pic>
                    <p:nvPicPr>
                      <p:cNvPr id="0" name="Picture 10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81600" y="1955800"/>
                        <a:ext cx="304800"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Text Box 4"/>
          <p:cNvSpPr txBox="1">
            <a:spLocks noChangeArrowheads="1"/>
          </p:cNvSpPr>
          <p:nvPr/>
        </p:nvSpPr>
        <p:spPr bwMode="auto">
          <a:xfrm>
            <a:off x="4049486" y="6222547"/>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5" name="Rectangle 2"/>
          <p:cNvSpPr>
            <a:spLocks noGrp="1" noChangeArrowheads="1"/>
          </p:cNvSpPr>
          <p:nvPr>
            <p:ph type="title"/>
          </p:nvPr>
        </p:nvSpPr>
        <p:spPr/>
        <p:txBody>
          <a:bodyPr/>
          <a:lstStyle/>
          <a:p>
            <a:pPr eaLnBrk="1" hangingPunct="1"/>
            <a:r>
              <a:rPr lang="en-US" sz="2800" dirty="0" smtClean="0"/>
              <a:t>Sampling Distribution of the Sample Proportion  </a:t>
            </a:r>
          </a:p>
        </p:txBody>
      </p:sp>
      <p:sp>
        <p:nvSpPr>
          <p:cNvPr id="46086" name="Rectangle 3"/>
          <p:cNvSpPr>
            <a:spLocks noGrp="1" noChangeArrowheads="1"/>
          </p:cNvSpPr>
          <p:nvPr>
            <p:ph type="body" idx="1"/>
          </p:nvPr>
        </p:nvSpPr>
        <p:spPr>
          <a:xfrm>
            <a:off x="112712" y="1524000"/>
            <a:ext cx="8345488" cy="2819400"/>
          </a:xfrm>
        </p:spPr>
        <p:txBody>
          <a:bodyPr/>
          <a:lstStyle/>
          <a:p>
            <a:pPr eaLnBrk="1" hangingPunct="1">
              <a:buFont typeface="Tahoma" charset="0"/>
              <a:buChar char=" "/>
            </a:pPr>
            <a:r>
              <a:rPr lang="en-US" sz="2000" dirty="0" smtClean="0">
                <a:solidFill>
                  <a:schemeClr val="folHlink"/>
                </a:solidFill>
              </a:rPr>
              <a:t>Definition</a:t>
            </a:r>
          </a:p>
          <a:p>
            <a:pPr eaLnBrk="1" hangingPunct="1">
              <a:buFont typeface="Tahoma" charset="0"/>
              <a:buChar char=" "/>
            </a:pPr>
            <a:endParaRPr lang="en-GB" sz="2000" dirty="0" smtClean="0"/>
          </a:p>
          <a:p>
            <a:pPr eaLnBrk="1" hangingPunct="1">
              <a:buFont typeface="Tahoma" charset="0"/>
              <a:buChar char=" "/>
            </a:pPr>
            <a:r>
              <a:rPr lang="en-GB" sz="2000" dirty="0" smtClean="0"/>
              <a:t>The probability distribution of the sample proportion,    , is </a:t>
            </a:r>
          </a:p>
          <a:p>
            <a:pPr eaLnBrk="1" hangingPunct="1">
              <a:buFont typeface="Tahoma" charset="0"/>
              <a:buChar char=" "/>
            </a:pPr>
            <a:r>
              <a:rPr lang="en-GB" sz="2000" dirty="0" smtClean="0"/>
              <a:t>called its </a:t>
            </a:r>
            <a:r>
              <a:rPr lang="en-GB" sz="2000" b="1" i="1" u="sng" dirty="0" smtClean="0">
                <a:solidFill>
                  <a:schemeClr val="hlink"/>
                </a:solidFill>
              </a:rPr>
              <a:t>sampling distribution</a:t>
            </a:r>
            <a:r>
              <a:rPr lang="en-GB" sz="2000" dirty="0" smtClean="0"/>
              <a:t>.  It gives various values </a:t>
            </a:r>
          </a:p>
          <a:p>
            <a:pPr eaLnBrk="1" hangingPunct="1">
              <a:buFont typeface="Tahoma" charset="0"/>
              <a:buChar char=" "/>
            </a:pPr>
            <a:r>
              <a:rPr lang="en-GB" sz="2000" dirty="0" smtClean="0"/>
              <a:t>that    </a:t>
            </a:r>
            <a:r>
              <a:rPr lang="en-GB" sz="2000" dirty="0"/>
              <a:t> </a:t>
            </a:r>
            <a:r>
              <a:rPr lang="en-GB" sz="2000" dirty="0" smtClean="0"/>
              <a:t>can assume and their probabilities.</a:t>
            </a:r>
            <a:endParaRPr lang="en-US" sz="2000" dirty="0" smtClean="0"/>
          </a:p>
        </p:txBody>
      </p:sp>
      <p:graphicFrame>
        <p:nvGraphicFramePr>
          <p:cNvPr id="46082" name="Object 2"/>
          <p:cNvGraphicFramePr>
            <a:graphicFrameLocks noChangeAspect="1"/>
          </p:cNvGraphicFramePr>
          <p:nvPr>
            <p:extLst>
              <p:ext uri="{D42A27DB-BD31-4B8C-83A1-F6EECF244321}">
                <p14:modId xmlns:p14="http://schemas.microsoft.com/office/powerpoint/2010/main" val="954461434"/>
              </p:ext>
            </p:extLst>
          </p:nvPr>
        </p:nvGraphicFramePr>
        <p:xfrm>
          <a:off x="7315200" y="838200"/>
          <a:ext cx="400050" cy="533400"/>
        </p:xfrm>
        <a:graphic>
          <a:graphicData uri="http://schemas.openxmlformats.org/presentationml/2006/ole">
            <mc:AlternateContent xmlns:mc="http://schemas.openxmlformats.org/markup-compatibility/2006">
              <mc:Choice xmlns:v="urn:schemas-microsoft-com:vml" Requires="v">
                <p:oleObj spid="_x0000_s46168" name="Equation" r:id="rId3" imgW="152280" imgH="203040" progId="Equation.3">
                  <p:embed/>
                </p:oleObj>
              </mc:Choice>
              <mc:Fallback>
                <p:oleObj name="Equation" r:id="rId3" imgW="152280" imgH="203040" progId="Equation.3">
                  <p:embed/>
                  <p:pic>
                    <p:nvPicPr>
                      <p:cNvPr id="0" name="Picture 7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15200" y="838200"/>
                        <a:ext cx="400050"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6083" name="Object 3"/>
          <p:cNvGraphicFramePr>
            <a:graphicFrameLocks noChangeAspect="1"/>
          </p:cNvGraphicFramePr>
          <p:nvPr>
            <p:extLst>
              <p:ext uri="{D42A27DB-BD31-4B8C-83A1-F6EECF244321}">
                <p14:modId xmlns:p14="http://schemas.microsoft.com/office/powerpoint/2010/main" val="2870572860"/>
              </p:ext>
            </p:extLst>
          </p:nvPr>
        </p:nvGraphicFramePr>
        <p:xfrm>
          <a:off x="7391400" y="2260600"/>
          <a:ext cx="304800" cy="406400"/>
        </p:xfrm>
        <a:graphic>
          <a:graphicData uri="http://schemas.openxmlformats.org/presentationml/2006/ole">
            <mc:AlternateContent xmlns:mc="http://schemas.openxmlformats.org/markup-compatibility/2006">
              <mc:Choice xmlns:v="urn:schemas-microsoft-com:vml" Requires="v">
                <p:oleObj spid="_x0000_s46169" name="Equation" r:id="rId5" imgW="152280" imgH="203040" progId="Equation.3">
                  <p:embed/>
                </p:oleObj>
              </mc:Choice>
              <mc:Fallback>
                <p:oleObj name="Equation" r:id="rId5" imgW="152280" imgH="203040" progId="Equation.3">
                  <p:embed/>
                  <p:pic>
                    <p:nvPicPr>
                      <p:cNvPr id="0" name="Picture 7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91400" y="2260600"/>
                        <a:ext cx="304800"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6084" name="Object 4"/>
          <p:cNvGraphicFramePr>
            <a:graphicFrameLocks noChangeAspect="1"/>
          </p:cNvGraphicFramePr>
          <p:nvPr>
            <p:extLst>
              <p:ext uri="{D42A27DB-BD31-4B8C-83A1-F6EECF244321}">
                <p14:modId xmlns:p14="http://schemas.microsoft.com/office/powerpoint/2010/main" val="1914683111"/>
              </p:ext>
            </p:extLst>
          </p:nvPr>
        </p:nvGraphicFramePr>
        <p:xfrm>
          <a:off x="1143000" y="2971800"/>
          <a:ext cx="304800" cy="406400"/>
        </p:xfrm>
        <a:graphic>
          <a:graphicData uri="http://schemas.openxmlformats.org/presentationml/2006/ole">
            <mc:AlternateContent xmlns:mc="http://schemas.openxmlformats.org/markup-compatibility/2006">
              <mc:Choice xmlns:v="urn:schemas-microsoft-com:vml" Requires="v">
                <p:oleObj spid="_x0000_s46170" name="Equation" r:id="rId6" imgW="152280" imgH="203040" progId="Equation.3">
                  <p:embed/>
                </p:oleObj>
              </mc:Choice>
              <mc:Fallback>
                <p:oleObj name="Equation" r:id="rId6" imgW="152280" imgH="203040" progId="Equation.3">
                  <p:embed/>
                  <p:pic>
                    <p:nvPicPr>
                      <p:cNvPr id="0" name="Picture 7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2971800"/>
                        <a:ext cx="304800"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Text Box 4"/>
          <p:cNvSpPr txBox="1">
            <a:spLocks noChangeArrowheads="1"/>
          </p:cNvSpPr>
          <p:nvPr/>
        </p:nvSpPr>
        <p:spPr bwMode="auto">
          <a:xfrm>
            <a:off x="4049486" y="6222547"/>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title"/>
          </p:nvPr>
        </p:nvSpPr>
        <p:spPr/>
        <p:txBody>
          <a:bodyPr/>
          <a:lstStyle/>
          <a:p>
            <a:pPr eaLnBrk="1" hangingPunct="1"/>
            <a:r>
              <a:rPr lang="en-US" sz="2800" dirty="0" smtClean="0"/>
              <a:t>Example 7-8</a:t>
            </a:r>
          </a:p>
        </p:txBody>
      </p:sp>
      <p:sp>
        <p:nvSpPr>
          <p:cNvPr id="99331" name="Rectangle 3"/>
          <p:cNvSpPr>
            <a:spLocks noGrp="1" noChangeArrowheads="1"/>
          </p:cNvSpPr>
          <p:nvPr>
            <p:ph type="body" idx="1"/>
          </p:nvPr>
        </p:nvSpPr>
        <p:spPr>
          <a:xfrm>
            <a:off x="152400" y="1524000"/>
            <a:ext cx="8421688" cy="2703513"/>
          </a:xfrm>
        </p:spPr>
        <p:txBody>
          <a:bodyPr/>
          <a:lstStyle/>
          <a:p>
            <a:pPr eaLnBrk="1" hangingPunct="1">
              <a:buFont typeface="Tahoma" charset="0"/>
              <a:buChar char=" "/>
            </a:pPr>
            <a:r>
              <a:rPr lang="en-GB" sz="2000" dirty="0" err="1" smtClean="0"/>
              <a:t>Boe</a:t>
            </a:r>
            <a:r>
              <a:rPr lang="en-GB" sz="2000" dirty="0" smtClean="0"/>
              <a:t> Consultant Associates has five employees. Table 7.6 gives the names of these five employees and information concerning their knowledge of statistics.</a:t>
            </a:r>
          </a:p>
          <a:p>
            <a:pPr eaLnBrk="1" hangingPunct="1">
              <a:buFont typeface="Wingdings" charset="2"/>
              <a:buNone/>
            </a:pPr>
            <a:endParaRPr lang="en-US" dirty="0" smtClean="0"/>
          </a:p>
        </p:txBody>
      </p:sp>
      <p:sp>
        <p:nvSpPr>
          <p:cNvPr id="6" name="Text Box 4"/>
          <p:cNvSpPr txBox="1">
            <a:spLocks noChangeArrowheads="1"/>
          </p:cNvSpPr>
          <p:nvPr/>
        </p:nvSpPr>
        <p:spPr bwMode="auto">
          <a:xfrm>
            <a:off x="4049486" y="6222547"/>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p:txBody>
          <a:bodyPr/>
          <a:lstStyle/>
          <a:p>
            <a:pPr eaLnBrk="1" hangingPunct="1"/>
            <a:r>
              <a:rPr lang="en-US" sz="2800" dirty="0" smtClean="0">
                <a:solidFill>
                  <a:schemeClr val="accent2"/>
                </a:solidFill>
              </a:rPr>
              <a:t>Table 7.6 Information on the Five Employees of </a:t>
            </a:r>
            <a:r>
              <a:rPr lang="en-US" sz="2800" dirty="0" err="1" smtClean="0">
                <a:solidFill>
                  <a:schemeClr val="accent2"/>
                </a:solidFill>
              </a:rPr>
              <a:t>Boe</a:t>
            </a:r>
            <a:r>
              <a:rPr lang="en-US" sz="2800" dirty="0" smtClean="0">
                <a:solidFill>
                  <a:schemeClr val="accent2"/>
                </a:solidFill>
              </a:rPr>
              <a:t> Consultant Associates</a:t>
            </a:r>
          </a:p>
        </p:txBody>
      </p:sp>
      <p:sp>
        <p:nvSpPr>
          <p:cNvPr id="6" name="Text Box 4"/>
          <p:cNvSpPr txBox="1">
            <a:spLocks noChangeArrowheads="1"/>
          </p:cNvSpPr>
          <p:nvPr/>
        </p:nvSpPr>
        <p:spPr bwMode="auto">
          <a:xfrm>
            <a:off x="4049486" y="6222547"/>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85575" y="2038156"/>
            <a:ext cx="5372850" cy="2781688"/>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p:txBody>
          <a:bodyPr/>
          <a:lstStyle/>
          <a:p>
            <a:pPr eaLnBrk="1" hangingPunct="1"/>
            <a:r>
              <a:rPr lang="en-US" sz="2800" dirty="0" smtClean="0"/>
              <a:t>Example 7-8: Solution</a:t>
            </a:r>
          </a:p>
        </p:txBody>
      </p:sp>
      <p:sp>
        <p:nvSpPr>
          <p:cNvPr id="101379" name="Rectangle 3"/>
          <p:cNvSpPr>
            <a:spLocks noGrp="1" noChangeArrowheads="1"/>
          </p:cNvSpPr>
          <p:nvPr>
            <p:ph type="body" idx="1"/>
          </p:nvPr>
        </p:nvSpPr>
        <p:spPr>
          <a:xfrm>
            <a:off x="533400" y="1600201"/>
            <a:ext cx="8001000" cy="2362200"/>
          </a:xfrm>
        </p:spPr>
        <p:txBody>
          <a:bodyPr/>
          <a:lstStyle/>
          <a:p>
            <a:pPr marL="0" indent="0" eaLnBrk="1" hangingPunct="1">
              <a:buNone/>
            </a:pPr>
            <a:r>
              <a:rPr lang="en-US" sz="2000" dirty="0" smtClean="0"/>
              <a:t>If we define the population proportion, </a:t>
            </a:r>
            <a:r>
              <a:rPr lang="en-US" sz="2000" i="1" dirty="0" smtClean="0">
                <a:latin typeface="Times New Roman" charset="0"/>
              </a:rPr>
              <a:t>p</a:t>
            </a:r>
            <a:r>
              <a:rPr lang="en-US" sz="2000" dirty="0" smtClean="0"/>
              <a:t>, as the proportion of employees who know statistics, then</a:t>
            </a:r>
          </a:p>
          <a:p>
            <a:pPr marL="0" indent="0" eaLnBrk="1" hangingPunct="1">
              <a:buNone/>
            </a:pPr>
            <a:endParaRPr lang="en-US" sz="2000" dirty="0" smtClean="0"/>
          </a:p>
          <a:p>
            <a:pPr marL="0" indent="0" eaLnBrk="1" hangingPunct="1">
              <a:buNone/>
            </a:pPr>
            <a:r>
              <a:rPr lang="en-US" sz="2000" dirty="0" smtClean="0"/>
              <a:t>                           </a:t>
            </a:r>
            <a:r>
              <a:rPr lang="en-US" sz="2000" i="1" dirty="0" smtClean="0">
                <a:latin typeface="Times New Roman" charset="0"/>
              </a:rPr>
              <a:t>p</a:t>
            </a:r>
            <a:r>
              <a:rPr lang="en-US" sz="2000" dirty="0" smtClean="0"/>
              <a:t> = 3 / 5 = .60</a:t>
            </a:r>
          </a:p>
        </p:txBody>
      </p:sp>
      <p:sp>
        <p:nvSpPr>
          <p:cNvPr id="6"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2"/>
          <p:cNvSpPr>
            <a:spLocks noGrp="1" noChangeArrowheads="1"/>
          </p:cNvSpPr>
          <p:nvPr>
            <p:ph type="title"/>
          </p:nvPr>
        </p:nvSpPr>
        <p:spPr/>
        <p:txBody>
          <a:bodyPr/>
          <a:lstStyle/>
          <a:p>
            <a:pPr eaLnBrk="1" hangingPunct="1"/>
            <a:r>
              <a:rPr lang="en-US" sz="2800" dirty="0" smtClean="0"/>
              <a:t>Example 7-8: Solution</a:t>
            </a:r>
          </a:p>
        </p:txBody>
      </p:sp>
      <p:sp>
        <p:nvSpPr>
          <p:cNvPr id="47108" name="Rectangle 3"/>
          <p:cNvSpPr>
            <a:spLocks noGrp="1" noChangeArrowheads="1"/>
          </p:cNvSpPr>
          <p:nvPr>
            <p:ph type="body" idx="1"/>
          </p:nvPr>
        </p:nvSpPr>
        <p:spPr>
          <a:xfrm>
            <a:off x="493712" y="1524000"/>
            <a:ext cx="8345488" cy="2819400"/>
          </a:xfrm>
        </p:spPr>
        <p:txBody>
          <a:bodyPr/>
          <a:lstStyle/>
          <a:p>
            <a:pPr marL="0" indent="0" eaLnBrk="1" hangingPunct="1">
              <a:buNone/>
            </a:pPr>
            <a:r>
              <a:rPr lang="en-US" sz="2000" dirty="0" smtClean="0"/>
              <a:t>Now, suppose we draw all possible samples of three employees each and compute the proportion of employees, for each sample, who know statistics. </a:t>
            </a:r>
          </a:p>
        </p:txBody>
      </p:sp>
      <p:graphicFrame>
        <p:nvGraphicFramePr>
          <p:cNvPr id="47106" name="Object 2"/>
          <p:cNvGraphicFramePr>
            <a:graphicFrameLocks noChangeAspect="1"/>
          </p:cNvGraphicFramePr>
          <p:nvPr>
            <p:extLst>
              <p:ext uri="{D42A27DB-BD31-4B8C-83A1-F6EECF244321}">
                <p14:modId xmlns:p14="http://schemas.microsoft.com/office/powerpoint/2010/main" val="1304782091"/>
              </p:ext>
            </p:extLst>
          </p:nvPr>
        </p:nvGraphicFramePr>
        <p:xfrm>
          <a:off x="990600" y="2743200"/>
          <a:ext cx="6781800" cy="724270"/>
        </p:xfrm>
        <a:graphic>
          <a:graphicData uri="http://schemas.openxmlformats.org/presentationml/2006/ole">
            <mc:AlternateContent xmlns:mc="http://schemas.openxmlformats.org/markup-compatibility/2006">
              <mc:Choice xmlns:v="urn:schemas-microsoft-com:vml" Requires="v">
                <p:oleObj spid="_x0000_s47137" name="Equation" r:id="rId3" imgW="4368600" imgH="419040" progId="">
                  <p:embed/>
                </p:oleObj>
              </mc:Choice>
              <mc:Fallback>
                <p:oleObj name="Equation" r:id="rId3" imgW="4368600" imgH="419040" progId="">
                  <p:embed/>
                  <p:pic>
                    <p:nvPicPr>
                      <p:cNvPr id="0" name="Picture 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600" y="2743200"/>
                        <a:ext cx="6781800" cy="72427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 Box 4"/>
          <p:cNvSpPr txBox="1">
            <a:spLocks noChangeArrowheads="1"/>
          </p:cNvSpPr>
          <p:nvPr/>
        </p:nvSpPr>
        <p:spPr bwMode="auto">
          <a:xfrm>
            <a:off x="4049486" y="6222547"/>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2"/>
          <p:cNvSpPr>
            <a:spLocks noGrp="1" noChangeArrowheads="1"/>
          </p:cNvSpPr>
          <p:nvPr>
            <p:ph type="title"/>
          </p:nvPr>
        </p:nvSpPr>
        <p:spPr>
          <a:xfrm>
            <a:off x="457200" y="304800"/>
            <a:ext cx="8229600" cy="1139825"/>
          </a:xfrm>
        </p:spPr>
        <p:txBody>
          <a:bodyPr/>
          <a:lstStyle/>
          <a:p>
            <a:pPr eaLnBrk="1" hangingPunct="1"/>
            <a:r>
              <a:rPr lang="en-US" sz="2800" dirty="0" smtClean="0">
                <a:solidFill>
                  <a:schemeClr val="accent2"/>
                </a:solidFill>
              </a:rPr>
              <a:t>Table 7.7 All Possible Samples of Size 3 and the Value of       for Each Sample</a:t>
            </a:r>
          </a:p>
        </p:txBody>
      </p:sp>
      <p:graphicFrame>
        <p:nvGraphicFramePr>
          <p:cNvPr id="48130" name="Object 2"/>
          <p:cNvGraphicFramePr>
            <a:graphicFrameLocks noChangeAspect="1"/>
          </p:cNvGraphicFramePr>
          <p:nvPr>
            <p:extLst>
              <p:ext uri="{D42A27DB-BD31-4B8C-83A1-F6EECF244321}">
                <p14:modId xmlns:p14="http://schemas.microsoft.com/office/powerpoint/2010/main" val="2991215197"/>
              </p:ext>
            </p:extLst>
          </p:nvPr>
        </p:nvGraphicFramePr>
        <p:xfrm>
          <a:off x="8420100" y="533400"/>
          <a:ext cx="400050" cy="533400"/>
        </p:xfrm>
        <a:graphic>
          <a:graphicData uri="http://schemas.openxmlformats.org/presentationml/2006/ole">
            <mc:AlternateContent xmlns:mc="http://schemas.openxmlformats.org/markup-compatibility/2006">
              <mc:Choice xmlns:v="urn:schemas-microsoft-com:vml" Requires="v">
                <p:oleObj spid="_x0000_s48162" name="Equation" r:id="rId3" imgW="152280" imgH="203040" progId="Equation.3">
                  <p:embed/>
                </p:oleObj>
              </mc:Choice>
              <mc:Fallback>
                <p:oleObj name="Equation" r:id="rId3" imgW="152280" imgH="203040" progId="Equation.3">
                  <p:embed/>
                  <p:pic>
                    <p:nvPicPr>
                      <p:cNvPr id="0" name="Picture 2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20100" y="533400"/>
                        <a:ext cx="40005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pic>
                </p:oleObj>
              </mc:Fallback>
            </mc:AlternateContent>
          </a:graphicData>
        </a:graphic>
      </p:graphicFrame>
      <p:sp>
        <p:nvSpPr>
          <p:cNvPr id="7" name="Text Box 4"/>
          <p:cNvSpPr txBox="1">
            <a:spLocks noChangeArrowheads="1"/>
          </p:cNvSpPr>
          <p:nvPr/>
        </p:nvSpPr>
        <p:spPr bwMode="auto">
          <a:xfrm>
            <a:off x="4049486" y="6222547"/>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84256" y="1524000"/>
            <a:ext cx="4521344" cy="4683691"/>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2"/>
          <p:cNvSpPr>
            <a:spLocks noGrp="1" noChangeArrowheads="1"/>
          </p:cNvSpPr>
          <p:nvPr>
            <p:ph type="title"/>
          </p:nvPr>
        </p:nvSpPr>
        <p:spPr/>
        <p:txBody>
          <a:bodyPr/>
          <a:lstStyle/>
          <a:p>
            <a:pPr eaLnBrk="1" hangingPunct="1"/>
            <a:r>
              <a:rPr lang="en-US" sz="2800" dirty="0" smtClean="0">
                <a:solidFill>
                  <a:schemeClr val="accent2"/>
                </a:solidFill>
              </a:rPr>
              <a:t>Table 7.8 Frequency and Relative Frequency Distribution of      When the Sample Size Is 3</a:t>
            </a:r>
          </a:p>
        </p:txBody>
      </p:sp>
      <p:graphicFrame>
        <p:nvGraphicFramePr>
          <p:cNvPr id="49154" name="Object 2"/>
          <p:cNvGraphicFramePr>
            <a:graphicFrameLocks noChangeAspect="1"/>
          </p:cNvGraphicFramePr>
          <p:nvPr>
            <p:extLst>
              <p:ext uri="{D42A27DB-BD31-4B8C-83A1-F6EECF244321}">
                <p14:modId xmlns:p14="http://schemas.microsoft.com/office/powerpoint/2010/main" val="1501698021"/>
              </p:ext>
            </p:extLst>
          </p:nvPr>
        </p:nvGraphicFramePr>
        <p:xfrm>
          <a:off x="914400" y="863600"/>
          <a:ext cx="381000" cy="508000"/>
        </p:xfrm>
        <a:graphic>
          <a:graphicData uri="http://schemas.openxmlformats.org/presentationml/2006/ole">
            <mc:AlternateContent xmlns:mc="http://schemas.openxmlformats.org/markup-compatibility/2006">
              <mc:Choice xmlns:v="urn:schemas-microsoft-com:vml" Requires="v">
                <p:oleObj spid="_x0000_s49186" name="Equation" r:id="rId3" imgW="152280" imgH="203040" progId="Equation.3">
                  <p:embed/>
                </p:oleObj>
              </mc:Choice>
              <mc:Fallback>
                <p:oleObj name="Equation" r:id="rId3" imgW="152280" imgH="203040" progId="Equation.3">
                  <p:embed/>
                  <p:pic>
                    <p:nvPicPr>
                      <p:cNvPr id="0" name="Picture 2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 y="863600"/>
                        <a:ext cx="381000" cy="508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 Box 4"/>
          <p:cNvSpPr txBox="1">
            <a:spLocks noChangeArrowheads="1"/>
          </p:cNvSpPr>
          <p:nvPr/>
        </p:nvSpPr>
        <p:spPr bwMode="auto">
          <a:xfrm>
            <a:off x="4049486" y="6222547"/>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09417" y="2004813"/>
            <a:ext cx="5125166" cy="2848373"/>
          </a:xfrm>
          <a:prstGeom prst="rect">
            <a:avLst/>
          </a:prstGeom>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2"/>
          <p:cNvSpPr>
            <a:spLocks noGrp="1" noChangeArrowheads="1"/>
          </p:cNvSpPr>
          <p:nvPr>
            <p:ph type="title"/>
          </p:nvPr>
        </p:nvSpPr>
        <p:spPr/>
        <p:txBody>
          <a:bodyPr/>
          <a:lstStyle/>
          <a:p>
            <a:pPr eaLnBrk="1" hangingPunct="1"/>
            <a:r>
              <a:rPr lang="en-US" sz="2800" dirty="0" smtClean="0">
                <a:solidFill>
                  <a:schemeClr val="accent2"/>
                </a:solidFill>
              </a:rPr>
              <a:t>Table 7.9 Sampling Distribution of      When the Sample Size is 3</a:t>
            </a:r>
          </a:p>
        </p:txBody>
      </p:sp>
      <p:graphicFrame>
        <p:nvGraphicFramePr>
          <p:cNvPr id="50178" name="Object 2"/>
          <p:cNvGraphicFramePr>
            <a:graphicFrameLocks noChangeAspect="1"/>
          </p:cNvGraphicFramePr>
          <p:nvPr>
            <p:extLst>
              <p:ext uri="{D42A27DB-BD31-4B8C-83A1-F6EECF244321}">
                <p14:modId xmlns:p14="http://schemas.microsoft.com/office/powerpoint/2010/main" val="1942889465"/>
              </p:ext>
            </p:extLst>
          </p:nvPr>
        </p:nvGraphicFramePr>
        <p:xfrm>
          <a:off x="5410200" y="457200"/>
          <a:ext cx="400050" cy="533400"/>
        </p:xfrm>
        <a:graphic>
          <a:graphicData uri="http://schemas.openxmlformats.org/presentationml/2006/ole">
            <mc:AlternateContent xmlns:mc="http://schemas.openxmlformats.org/markup-compatibility/2006">
              <mc:Choice xmlns:v="urn:schemas-microsoft-com:vml" Requires="v">
                <p:oleObj spid="_x0000_s50210" name="Equation" r:id="rId3" imgW="152280" imgH="203040" progId="Equation.3">
                  <p:embed/>
                </p:oleObj>
              </mc:Choice>
              <mc:Fallback>
                <p:oleObj name="Equation" r:id="rId3" imgW="152280" imgH="203040" progId="Equation.3">
                  <p:embed/>
                  <p:pic>
                    <p:nvPicPr>
                      <p:cNvPr id="0" name="Picture 2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10200" y="457200"/>
                        <a:ext cx="400050"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 Box 4"/>
          <p:cNvSpPr txBox="1">
            <a:spLocks noChangeArrowheads="1"/>
          </p:cNvSpPr>
          <p:nvPr/>
        </p:nvSpPr>
        <p:spPr bwMode="auto">
          <a:xfrm>
            <a:off x="4049486" y="6222547"/>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938234" y="2228682"/>
            <a:ext cx="3267531" cy="2400635"/>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6" name="Rectangle 2"/>
          <p:cNvSpPr>
            <a:spLocks noGrp="1" noChangeArrowheads="1"/>
          </p:cNvSpPr>
          <p:nvPr>
            <p:ph type="title"/>
          </p:nvPr>
        </p:nvSpPr>
        <p:spPr/>
        <p:txBody>
          <a:bodyPr/>
          <a:lstStyle/>
          <a:p>
            <a:pPr eaLnBrk="1" hangingPunct="1"/>
            <a:r>
              <a:rPr lang="en-US" sz="2800" dirty="0" smtClean="0"/>
              <a:t>Mean and Standard Deviation of </a:t>
            </a:r>
          </a:p>
        </p:txBody>
      </p:sp>
      <p:sp>
        <p:nvSpPr>
          <p:cNvPr id="51207" name="Rectangle 3"/>
          <p:cNvSpPr>
            <a:spLocks noGrp="1" noChangeArrowheads="1"/>
          </p:cNvSpPr>
          <p:nvPr>
            <p:ph type="body" idx="1"/>
          </p:nvPr>
        </p:nvSpPr>
        <p:spPr>
          <a:xfrm>
            <a:off x="112712" y="1524001"/>
            <a:ext cx="8574088" cy="2362200"/>
          </a:xfrm>
        </p:spPr>
        <p:txBody>
          <a:bodyPr/>
          <a:lstStyle/>
          <a:p>
            <a:pPr eaLnBrk="1" hangingPunct="1">
              <a:buFont typeface="Tahoma" charset="0"/>
              <a:buChar char=" "/>
            </a:pPr>
            <a:r>
              <a:rPr lang="en-US" sz="2000" dirty="0" smtClean="0">
                <a:solidFill>
                  <a:schemeClr val="folHlink"/>
                </a:solidFill>
              </a:rPr>
              <a:t>Mean of the Sample Proportion</a:t>
            </a:r>
          </a:p>
          <a:p>
            <a:pPr eaLnBrk="1" hangingPunct="1">
              <a:buFont typeface="Tahoma" charset="0"/>
              <a:buChar char=" "/>
            </a:pPr>
            <a:r>
              <a:rPr lang="en-GB" sz="2000" dirty="0" smtClean="0"/>
              <a:t>The </a:t>
            </a:r>
            <a:r>
              <a:rPr lang="en-GB" sz="2000" b="1" i="1" u="sng" dirty="0" smtClean="0">
                <a:solidFill>
                  <a:schemeClr val="hlink"/>
                </a:solidFill>
              </a:rPr>
              <a:t>mean of the sample proportion</a:t>
            </a:r>
            <a:r>
              <a:rPr lang="en-GB" sz="2000" dirty="0" smtClean="0"/>
              <a:t>,    , is denoted by      and is equal to the population proportion, </a:t>
            </a:r>
            <a:r>
              <a:rPr lang="en-GB" sz="2000" i="1" dirty="0" smtClean="0">
                <a:latin typeface="Times New Roman" charset="0"/>
              </a:rPr>
              <a:t>p</a:t>
            </a:r>
            <a:r>
              <a:rPr lang="en-GB" sz="2000" dirty="0" smtClean="0"/>
              <a:t>. Thus,</a:t>
            </a:r>
          </a:p>
          <a:p>
            <a:pPr eaLnBrk="1" hangingPunct="1">
              <a:buFont typeface="Tahoma" charset="0"/>
              <a:buChar char=" "/>
            </a:pPr>
            <a:endParaRPr lang="en-US" sz="2000" dirty="0" smtClean="0"/>
          </a:p>
        </p:txBody>
      </p:sp>
      <p:graphicFrame>
        <p:nvGraphicFramePr>
          <p:cNvPr id="51202" name="Object 2"/>
          <p:cNvGraphicFramePr>
            <a:graphicFrameLocks noChangeAspect="1"/>
          </p:cNvGraphicFramePr>
          <p:nvPr>
            <p:extLst>
              <p:ext uri="{D42A27DB-BD31-4B8C-83A1-F6EECF244321}">
                <p14:modId xmlns:p14="http://schemas.microsoft.com/office/powerpoint/2010/main" val="1573582146"/>
              </p:ext>
            </p:extLst>
          </p:nvPr>
        </p:nvGraphicFramePr>
        <p:xfrm>
          <a:off x="5238750" y="838200"/>
          <a:ext cx="400050" cy="533400"/>
        </p:xfrm>
        <a:graphic>
          <a:graphicData uri="http://schemas.openxmlformats.org/presentationml/2006/ole">
            <mc:AlternateContent xmlns:mc="http://schemas.openxmlformats.org/markup-compatibility/2006">
              <mc:Choice xmlns:v="urn:schemas-microsoft-com:vml" Requires="v">
                <p:oleObj spid="_x0000_s51315" name="Equation" r:id="rId3" imgW="152280" imgH="203040" progId="Equation.3">
                  <p:embed/>
                </p:oleObj>
              </mc:Choice>
              <mc:Fallback>
                <p:oleObj name="Equation" r:id="rId3" imgW="152280" imgH="203040" progId="Equation.3">
                  <p:embed/>
                  <p:pic>
                    <p:nvPicPr>
                      <p:cNvPr id="0" name="Picture 10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38750" y="838200"/>
                        <a:ext cx="400050"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1203" name="Object 3"/>
          <p:cNvGraphicFramePr>
            <a:graphicFrameLocks noChangeAspect="1"/>
          </p:cNvGraphicFramePr>
          <p:nvPr>
            <p:extLst>
              <p:ext uri="{D42A27DB-BD31-4B8C-83A1-F6EECF244321}">
                <p14:modId xmlns:p14="http://schemas.microsoft.com/office/powerpoint/2010/main" val="1637720092"/>
              </p:ext>
            </p:extLst>
          </p:nvPr>
        </p:nvGraphicFramePr>
        <p:xfrm>
          <a:off x="3335338" y="2971800"/>
          <a:ext cx="1617662" cy="788213"/>
        </p:xfrm>
        <a:graphic>
          <a:graphicData uri="http://schemas.openxmlformats.org/presentationml/2006/ole">
            <mc:AlternateContent xmlns:mc="http://schemas.openxmlformats.org/markup-compatibility/2006">
              <mc:Choice xmlns:v="urn:schemas-microsoft-com:vml" Requires="v">
                <p:oleObj spid="_x0000_s51316" name="Equation" r:id="rId5" imgW="495000" imgH="241200" progId="Equation.3">
                  <p:embed/>
                </p:oleObj>
              </mc:Choice>
              <mc:Fallback>
                <p:oleObj name="Equation" r:id="rId5" imgW="495000" imgH="241200" progId="Equation.3">
                  <p:embed/>
                  <p:pic>
                    <p:nvPicPr>
                      <p:cNvPr id="0" name="Picture 10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35338" y="2971800"/>
                        <a:ext cx="1617662" cy="7882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1204" name="Object 4"/>
          <p:cNvGraphicFramePr>
            <a:graphicFrameLocks noChangeAspect="1"/>
          </p:cNvGraphicFramePr>
          <p:nvPr>
            <p:extLst>
              <p:ext uri="{D42A27DB-BD31-4B8C-83A1-F6EECF244321}">
                <p14:modId xmlns:p14="http://schemas.microsoft.com/office/powerpoint/2010/main" val="3375546898"/>
              </p:ext>
            </p:extLst>
          </p:nvPr>
        </p:nvGraphicFramePr>
        <p:xfrm>
          <a:off x="7924800" y="1828800"/>
          <a:ext cx="533399" cy="595422"/>
        </p:xfrm>
        <a:graphic>
          <a:graphicData uri="http://schemas.openxmlformats.org/presentationml/2006/ole">
            <mc:AlternateContent xmlns:mc="http://schemas.openxmlformats.org/markup-compatibility/2006">
              <mc:Choice xmlns:v="urn:schemas-microsoft-com:vml" Requires="v">
                <p:oleObj spid="_x0000_s51317" name="Equation" r:id="rId7" imgW="215640" imgH="241200" progId="Equation.3">
                  <p:embed/>
                </p:oleObj>
              </mc:Choice>
              <mc:Fallback>
                <p:oleObj name="Equation" r:id="rId7" imgW="215640" imgH="241200" progId="Equation.3">
                  <p:embed/>
                  <p:pic>
                    <p:nvPicPr>
                      <p:cNvPr id="0" name="Picture 10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924800" y="1828800"/>
                        <a:ext cx="533399" cy="595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1205" name="Object 5"/>
          <p:cNvGraphicFramePr>
            <a:graphicFrameLocks noChangeAspect="1"/>
          </p:cNvGraphicFramePr>
          <p:nvPr>
            <p:extLst>
              <p:ext uri="{D42A27DB-BD31-4B8C-83A1-F6EECF244321}">
                <p14:modId xmlns:p14="http://schemas.microsoft.com/office/powerpoint/2010/main" val="2805499190"/>
              </p:ext>
            </p:extLst>
          </p:nvPr>
        </p:nvGraphicFramePr>
        <p:xfrm>
          <a:off x="5638800" y="1828800"/>
          <a:ext cx="342900" cy="457200"/>
        </p:xfrm>
        <a:graphic>
          <a:graphicData uri="http://schemas.openxmlformats.org/presentationml/2006/ole">
            <mc:AlternateContent xmlns:mc="http://schemas.openxmlformats.org/markup-compatibility/2006">
              <mc:Choice xmlns:v="urn:schemas-microsoft-com:vml" Requires="v">
                <p:oleObj spid="_x0000_s51318" name="Equation" r:id="rId9" imgW="152280" imgH="203040" progId="Equation.3">
                  <p:embed/>
                </p:oleObj>
              </mc:Choice>
              <mc:Fallback>
                <p:oleObj name="Equation" r:id="rId9" imgW="152280" imgH="203040" progId="Equation.3">
                  <p:embed/>
                  <p:pic>
                    <p:nvPicPr>
                      <p:cNvPr id="0" name="Picture 10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38800" y="1828800"/>
                        <a:ext cx="342900"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Text Box 4"/>
          <p:cNvSpPr txBox="1">
            <a:spLocks noChangeArrowheads="1"/>
          </p:cNvSpPr>
          <p:nvPr/>
        </p:nvSpPr>
        <p:spPr bwMode="auto">
          <a:xfrm>
            <a:off x="4049486" y="6222547"/>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30" name="Rectangle 2"/>
          <p:cNvSpPr>
            <a:spLocks noGrp="1" noChangeArrowheads="1"/>
          </p:cNvSpPr>
          <p:nvPr>
            <p:ph type="title"/>
          </p:nvPr>
        </p:nvSpPr>
        <p:spPr/>
        <p:txBody>
          <a:bodyPr/>
          <a:lstStyle/>
          <a:p>
            <a:pPr eaLnBrk="1" hangingPunct="1"/>
            <a:r>
              <a:rPr lang="en-US" sz="2800" dirty="0" smtClean="0"/>
              <a:t>Mean and Standard Deviation of</a:t>
            </a:r>
          </a:p>
        </p:txBody>
      </p:sp>
      <p:sp>
        <p:nvSpPr>
          <p:cNvPr id="52231" name="Rectangle 3"/>
          <p:cNvSpPr>
            <a:spLocks noGrp="1" noChangeArrowheads="1"/>
          </p:cNvSpPr>
          <p:nvPr>
            <p:ph type="body" idx="1"/>
          </p:nvPr>
        </p:nvSpPr>
        <p:spPr>
          <a:xfrm>
            <a:off x="152400" y="1524001"/>
            <a:ext cx="8650288" cy="3886200"/>
          </a:xfrm>
        </p:spPr>
        <p:txBody>
          <a:bodyPr/>
          <a:lstStyle/>
          <a:p>
            <a:pPr eaLnBrk="1" hangingPunct="1">
              <a:buFont typeface="Tahoma" charset="0"/>
              <a:buChar char=" "/>
            </a:pPr>
            <a:r>
              <a:rPr lang="en-US" sz="2000" dirty="0" smtClean="0">
                <a:solidFill>
                  <a:schemeClr val="folHlink"/>
                </a:solidFill>
              </a:rPr>
              <a:t>Standard Deviation of the Sample Proportion</a:t>
            </a:r>
          </a:p>
          <a:p>
            <a:pPr eaLnBrk="1" hangingPunct="1">
              <a:buFont typeface="Tahoma" charset="0"/>
              <a:buChar char=" "/>
            </a:pPr>
            <a:r>
              <a:rPr lang="en-US" sz="2000" dirty="0" smtClean="0"/>
              <a:t>The </a:t>
            </a:r>
            <a:r>
              <a:rPr lang="en-US" sz="2000" b="1" i="1" u="sng" dirty="0" smtClean="0">
                <a:solidFill>
                  <a:schemeClr val="hlink"/>
                </a:solidFill>
              </a:rPr>
              <a:t>standard deviation of the sample proportion</a:t>
            </a:r>
            <a:r>
              <a:rPr lang="en-US" sz="2000" dirty="0" smtClean="0"/>
              <a:t>,    , is </a:t>
            </a:r>
          </a:p>
          <a:p>
            <a:pPr eaLnBrk="1" hangingPunct="1">
              <a:buFont typeface="Tahoma" charset="0"/>
              <a:buChar char=" "/>
            </a:pPr>
            <a:r>
              <a:rPr lang="en-US" sz="2000" dirty="0" smtClean="0"/>
              <a:t>denoted by        and is given by the formula</a:t>
            </a:r>
          </a:p>
          <a:p>
            <a:pPr eaLnBrk="1" hangingPunct="1">
              <a:buFont typeface="Tahoma" charset="0"/>
              <a:buChar char=" "/>
            </a:pPr>
            <a:endParaRPr lang="en-US" sz="2000" dirty="0" smtClean="0"/>
          </a:p>
          <a:p>
            <a:pPr eaLnBrk="1" hangingPunct="1">
              <a:buFont typeface="Tahoma" charset="0"/>
              <a:buChar char=" "/>
            </a:pPr>
            <a:endParaRPr lang="en-US" sz="2000" dirty="0"/>
          </a:p>
          <a:p>
            <a:pPr eaLnBrk="1" hangingPunct="1">
              <a:buFont typeface="Tahoma" charset="0"/>
              <a:buChar char=" "/>
            </a:pPr>
            <a:endParaRPr lang="en-US" sz="2000" dirty="0" smtClean="0"/>
          </a:p>
          <a:p>
            <a:pPr eaLnBrk="1" hangingPunct="1">
              <a:buFont typeface="Tahoma" charset="0"/>
              <a:buChar char=" "/>
            </a:pPr>
            <a:endParaRPr lang="en-US" sz="2000" dirty="0" smtClean="0"/>
          </a:p>
          <a:p>
            <a:pPr eaLnBrk="1" hangingPunct="1">
              <a:buFont typeface="Tahoma" charset="0"/>
              <a:buChar char=" "/>
            </a:pPr>
            <a:r>
              <a:rPr lang="en-US" sz="2000" dirty="0" smtClean="0"/>
              <a:t>where </a:t>
            </a:r>
            <a:r>
              <a:rPr lang="en-US" sz="2000" i="1" dirty="0" smtClean="0">
                <a:latin typeface="Times New Roman" charset="0"/>
              </a:rPr>
              <a:t>p</a:t>
            </a:r>
            <a:r>
              <a:rPr lang="en-US" sz="2000" dirty="0" smtClean="0"/>
              <a:t> is the population proportion, </a:t>
            </a:r>
            <a:r>
              <a:rPr lang="en-US" sz="2000" i="1" dirty="0" smtClean="0">
                <a:latin typeface="Times New Roman" charset="0"/>
              </a:rPr>
              <a:t>q </a:t>
            </a:r>
            <a:r>
              <a:rPr lang="en-US" sz="2000" dirty="0" smtClean="0"/>
              <a:t>= 1 – </a:t>
            </a:r>
            <a:r>
              <a:rPr lang="en-US" sz="2000" i="1" dirty="0" smtClean="0">
                <a:latin typeface="Times New Roman" charset="0"/>
              </a:rPr>
              <a:t>p</a:t>
            </a:r>
            <a:r>
              <a:rPr lang="en-US" sz="2000" dirty="0" smtClean="0"/>
              <a:t> , and </a:t>
            </a:r>
            <a:r>
              <a:rPr lang="en-US" sz="2000" i="1" dirty="0" smtClean="0">
                <a:latin typeface="Times New Roman" charset="0"/>
              </a:rPr>
              <a:t>n</a:t>
            </a:r>
            <a:r>
              <a:rPr lang="en-US" sz="2000" dirty="0" smtClean="0"/>
              <a:t> is the sample size. This formula is used when </a:t>
            </a:r>
            <a:r>
              <a:rPr lang="en-US" sz="2000" i="1" dirty="0" smtClean="0">
                <a:latin typeface="Times New Roman" charset="0"/>
              </a:rPr>
              <a:t>n</a:t>
            </a:r>
            <a:r>
              <a:rPr lang="en-US" sz="2000" dirty="0" smtClean="0"/>
              <a:t>/</a:t>
            </a:r>
            <a:r>
              <a:rPr lang="en-US" sz="2000" i="1" dirty="0" smtClean="0"/>
              <a:t>N</a:t>
            </a:r>
            <a:r>
              <a:rPr lang="en-US" sz="2000" dirty="0" smtClean="0"/>
              <a:t> ≤ .05, where </a:t>
            </a:r>
            <a:r>
              <a:rPr lang="en-US" sz="2000" i="1" dirty="0" smtClean="0"/>
              <a:t>N</a:t>
            </a:r>
            <a:r>
              <a:rPr lang="en-US" sz="2000" dirty="0" smtClean="0"/>
              <a:t> is the population size. </a:t>
            </a:r>
          </a:p>
        </p:txBody>
      </p:sp>
      <p:graphicFrame>
        <p:nvGraphicFramePr>
          <p:cNvPr id="52226" name="Object 2"/>
          <p:cNvGraphicFramePr>
            <a:graphicFrameLocks noChangeAspect="1"/>
          </p:cNvGraphicFramePr>
          <p:nvPr>
            <p:extLst>
              <p:ext uri="{D42A27DB-BD31-4B8C-83A1-F6EECF244321}">
                <p14:modId xmlns:p14="http://schemas.microsoft.com/office/powerpoint/2010/main" val="504565765"/>
              </p:ext>
            </p:extLst>
          </p:nvPr>
        </p:nvGraphicFramePr>
        <p:xfrm>
          <a:off x="5257800" y="838200"/>
          <a:ext cx="381000" cy="508000"/>
        </p:xfrm>
        <a:graphic>
          <a:graphicData uri="http://schemas.openxmlformats.org/presentationml/2006/ole">
            <mc:AlternateContent xmlns:mc="http://schemas.openxmlformats.org/markup-compatibility/2006">
              <mc:Choice xmlns:v="urn:schemas-microsoft-com:vml" Requires="v">
                <p:oleObj spid="_x0000_s52339" name="Equation" r:id="rId3" imgW="152280" imgH="203040" progId="Equation.3">
                  <p:embed/>
                </p:oleObj>
              </mc:Choice>
              <mc:Fallback>
                <p:oleObj name="Equation" r:id="rId3" imgW="152280" imgH="203040" progId="Equation.3">
                  <p:embed/>
                  <p:pic>
                    <p:nvPicPr>
                      <p:cNvPr id="0" name="Picture 10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57800" y="838200"/>
                        <a:ext cx="381000" cy="508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2227" name="Object 3"/>
          <p:cNvGraphicFramePr>
            <a:graphicFrameLocks noChangeAspect="1"/>
          </p:cNvGraphicFramePr>
          <p:nvPr>
            <p:extLst>
              <p:ext uri="{D42A27DB-BD31-4B8C-83A1-F6EECF244321}">
                <p14:modId xmlns:p14="http://schemas.microsoft.com/office/powerpoint/2010/main" val="4162894319"/>
              </p:ext>
            </p:extLst>
          </p:nvPr>
        </p:nvGraphicFramePr>
        <p:xfrm>
          <a:off x="3335338" y="2743201"/>
          <a:ext cx="1693862" cy="1058664"/>
        </p:xfrm>
        <a:graphic>
          <a:graphicData uri="http://schemas.openxmlformats.org/presentationml/2006/ole">
            <mc:AlternateContent xmlns:mc="http://schemas.openxmlformats.org/markup-compatibility/2006">
              <mc:Choice xmlns:v="urn:schemas-microsoft-com:vml" Requires="v">
                <p:oleObj spid="_x0000_s52340" name="Equation" r:id="rId5" imgW="711000" imgH="444240" progId="Equation.3">
                  <p:embed/>
                </p:oleObj>
              </mc:Choice>
              <mc:Fallback>
                <p:oleObj name="Equation" r:id="rId5" imgW="711000" imgH="444240" progId="Equation.3">
                  <p:embed/>
                  <p:pic>
                    <p:nvPicPr>
                      <p:cNvPr id="0" name="Picture 10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35338" y="2743201"/>
                        <a:ext cx="1693862" cy="105866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2228" name="Object 4"/>
          <p:cNvGraphicFramePr>
            <a:graphicFrameLocks noChangeAspect="1"/>
          </p:cNvGraphicFramePr>
          <p:nvPr>
            <p:extLst>
              <p:ext uri="{D42A27DB-BD31-4B8C-83A1-F6EECF244321}">
                <p14:modId xmlns:p14="http://schemas.microsoft.com/office/powerpoint/2010/main" val="3267677760"/>
              </p:ext>
            </p:extLst>
          </p:nvPr>
        </p:nvGraphicFramePr>
        <p:xfrm>
          <a:off x="2128837" y="2133600"/>
          <a:ext cx="614363" cy="685800"/>
        </p:xfrm>
        <a:graphic>
          <a:graphicData uri="http://schemas.openxmlformats.org/presentationml/2006/ole">
            <mc:AlternateContent xmlns:mc="http://schemas.openxmlformats.org/markup-compatibility/2006">
              <mc:Choice xmlns:v="urn:schemas-microsoft-com:vml" Requires="v">
                <p:oleObj spid="_x0000_s52341" name="Equation" r:id="rId7" imgW="215640" imgH="241200" progId="Equation.3">
                  <p:embed/>
                </p:oleObj>
              </mc:Choice>
              <mc:Fallback>
                <p:oleObj name="Equation" r:id="rId7" imgW="215640" imgH="241200" progId="Equation.3">
                  <p:embed/>
                  <p:pic>
                    <p:nvPicPr>
                      <p:cNvPr id="0" name="Picture 10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28837" y="2133600"/>
                        <a:ext cx="614363"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pic>
                </p:oleObj>
              </mc:Fallback>
            </mc:AlternateContent>
          </a:graphicData>
        </a:graphic>
      </p:graphicFrame>
      <p:graphicFrame>
        <p:nvGraphicFramePr>
          <p:cNvPr id="52229" name="Object 5"/>
          <p:cNvGraphicFramePr>
            <a:graphicFrameLocks noChangeAspect="1"/>
          </p:cNvGraphicFramePr>
          <p:nvPr>
            <p:extLst>
              <p:ext uri="{D42A27DB-BD31-4B8C-83A1-F6EECF244321}">
                <p14:modId xmlns:p14="http://schemas.microsoft.com/office/powerpoint/2010/main" val="2258980737"/>
              </p:ext>
            </p:extLst>
          </p:nvPr>
        </p:nvGraphicFramePr>
        <p:xfrm>
          <a:off x="7543800" y="1828800"/>
          <a:ext cx="400050" cy="533400"/>
        </p:xfrm>
        <a:graphic>
          <a:graphicData uri="http://schemas.openxmlformats.org/presentationml/2006/ole">
            <mc:AlternateContent xmlns:mc="http://schemas.openxmlformats.org/markup-compatibility/2006">
              <mc:Choice xmlns:v="urn:schemas-microsoft-com:vml" Requires="v">
                <p:oleObj spid="_x0000_s52342" name="Equation" r:id="rId9" imgW="152280" imgH="203040" progId="Equation.3">
                  <p:embed/>
                </p:oleObj>
              </mc:Choice>
              <mc:Fallback>
                <p:oleObj name="Equation" r:id="rId9" imgW="152280" imgH="203040" progId="Equation.3">
                  <p:embed/>
                  <p:pic>
                    <p:nvPicPr>
                      <p:cNvPr id="0" name="Picture 10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43800" y="1828800"/>
                        <a:ext cx="400050"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Text Box 4"/>
          <p:cNvSpPr txBox="1">
            <a:spLocks noChangeArrowheads="1"/>
          </p:cNvSpPr>
          <p:nvPr/>
        </p:nvSpPr>
        <p:spPr bwMode="auto">
          <a:xfrm>
            <a:off x="4049486" y="6222547"/>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4" name="Rectangle 2"/>
          <p:cNvSpPr>
            <a:spLocks noGrp="1" noChangeArrowheads="1"/>
          </p:cNvSpPr>
          <p:nvPr>
            <p:ph type="body" idx="1"/>
          </p:nvPr>
        </p:nvSpPr>
        <p:spPr>
          <a:xfrm>
            <a:off x="112712" y="1600200"/>
            <a:ext cx="8345488" cy="4114800"/>
          </a:xfrm>
        </p:spPr>
        <p:txBody>
          <a:bodyPr/>
          <a:lstStyle/>
          <a:p>
            <a:pPr eaLnBrk="1" hangingPunct="1">
              <a:lnSpc>
                <a:spcPct val="90000"/>
              </a:lnSpc>
              <a:buFont typeface="Tahoma" charset="0"/>
              <a:buChar char=" "/>
            </a:pPr>
            <a:r>
              <a:rPr lang="en-US" sz="2000" dirty="0" smtClean="0"/>
              <a:t>If </a:t>
            </a:r>
            <a:r>
              <a:rPr lang="en-US" sz="2000" i="1" dirty="0" smtClean="0">
                <a:latin typeface="Times New Roman" charset="0"/>
              </a:rPr>
              <a:t>n</a:t>
            </a:r>
            <a:r>
              <a:rPr lang="en-US" sz="2000" dirty="0" smtClean="0"/>
              <a:t> /</a:t>
            </a:r>
            <a:r>
              <a:rPr lang="en-US" sz="2000" i="1" dirty="0" smtClean="0"/>
              <a:t>N</a:t>
            </a:r>
            <a:r>
              <a:rPr lang="en-US" sz="2000" dirty="0" smtClean="0"/>
              <a:t> &gt; .05, then        is calculated as: </a:t>
            </a:r>
          </a:p>
          <a:p>
            <a:pPr eaLnBrk="1" hangingPunct="1">
              <a:lnSpc>
                <a:spcPct val="90000"/>
              </a:lnSpc>
              <a:buFont typeface="Tahoma" charset="0"/>
              <a:buChar char=" "/>
            </a:pPr>
            <a:endParaRPr lang="en-US" sz="2000" dirty="0" smtClean="0"/>
          </a:p>
          <a:p>
            <a:pPr eaLnBrk="1" hangingPunct="1">
              <a:lnSpc>
                <a:spcPct val="90000"/>
              </a:lnSpc>
              <a:buFont typeface="Tahoma" charset="0"/>
              <a:buChar char=" "/>
            </a:pPr>
            <a:endParaRPr lang="en-US" sz="2000" dirty="0" smtClean="0"/>
          </a:p>
          <a:p>
            <a:pPr eaLnBrk="1" hangingPunct="1">
              <a:lnSpc>
                <a:spcPct val="90000"/>
              </a:lnSpc>
              <a:buFont typeface="Tahoma" charset="0"/>
              <a:buChar char=" "/>
            </a:pPr>
            <a:endParaRPr lang="en-US" sz="2000" dirty="0" smtClean="0"/>
          </a:p>
          <a:p>
            <a:pPr eaLnBrk="1" hangingPunct="1">
              <a:lnSpc>
                <a:spcPct val="90000"/>
              </a:lnSpc>
              <a:buFont typeface="Tahoma" charset="0"/>
              <a:buChar char=" "/>
            </a:pPr>
            <a:endParaRPr lang="en-US" sz="2000" dirty="0" smtClean="0"/>
          </a:p>
          <a:p>
            <a:pPr eaLnBrk="1" hangingPunct="1">
              <a:lnSpc>
                <a:spcPct val="90000"/>
              </a:lnSpc>
              <a:buFont typeface="Tahoma" charset="0"/>
              <a:buChar char=" "/>
            </a:pPr>
            <a:endParaRPr lang="en-US" sz="2000" dirty="0" smtClean="0"/>
          </a:p>
          <a:p>
            <a:pPr eaLnBrk="1" hangingPunct="1">
              <a:lnSpc>
                <a:spcPct val="90000"/>
              </a:lnSpc>
              <a:buFont typeface="Tahoma" charset="0"/>
              <a:buChar char=" "/>
            </a:pPr>
            <a:endParaRPr lang="en-US" sz="2000" dirty="0" smtClean="0"/>
          </a:p>
          <a:p>
            <a:pPr eaLnBrk="1" hangingPunct="1">
              <a:lnSpc>
                <a:spcPct val="90000"/>
              </a:lnSpc>
              <a:buFont typeface="Tahoma" charset="0"/>
              <a:buChar char=" "/>
            </a:pPr>
            <a:r>
              <a:rPr lang="en-US" sz="2000" dirty="0" smtClean="0"/>
              <a:t>where the factor           is called the finite- population </a:t>
            </a:r>
          </a:p>
          <a:p>
            <a:pPr eaLnBrk="1" hangingPunct="1">
              <a:lnSpc>
                <a:spcPct val="90000"/>
              </a:lnSpc>
              <a:buFont typeface="Tahoma" charset="0"/>
              <a:buChar char=" "/>
            </a:pPr>
            <a:r>
              <a:rPr lang="en-US" sz="2000" dirty="0" smtClean="0"/>
              <a:t>correction factor.</a:t>
            </a:r>
          </a:p>
        </p:txBody>
      </p:sp>
      <p:sp>
        <p:nvSpPr>
          <p:cNvPr id="53255" name="Rectangle 3"/>
          <p:cNvSpPr>
            <a:spLocks noGrp="1" noChangeArrowheads="1"/>
          </p:cNvSpPr>
          <p:nvPr>
            <p:ph type="title"/>
          </p:nvPr>
        </p:nvSpPr>
        <p:spPr>
          <a:noFill/>
        </p:spPr>
        <p:txBody>
          <a:bodyPr/>
          <a:lstStyle/>
          <a:p>
            <a:pPr eaLnBrk="1" hangingPunct="1"/>
            <a:r>
              <a:rPr lang="en-US" sz="2800" dirty="0" smtClean="0"/>
              <a:t>Mean and Standard Deviation of</a:t>
            </a:r>
          </a:p>
        </p:txBody>
      </p:sp>
      <p:graphicFrame>
        <p:nvGraphicFramePr>
          <p:cNvPr id="53250" name="Object 2"/>
          <p:cNvGraphicFramePr>
            <a:graphicFrameLocks noChangeAspect="1"/>
          </p:cNvGraphicFramePr>
          <p:nvPr>
            <p:extLst>
              <p:ext uri="{D42A27DB-BD31-4B8C-83A1-F6EECF244321}">
                <p14:modId xmlns:p14="http://schemas.microsoft.com/office/powerpoint/2010/main" val="1001671092"/>
              </p:ext>
            </p:extLst>
          </p:nvPr>
        </p:nvGraphicFramePr>
        <p:xfrm>
          <a:off x="5334000" y="838200"/>
          <a:ext cx="457200" cy="609600"/>
        </p:xfrm>
        <a:graphic>
          <a:graphicData uri="http://schemas.openxmlformats.org/presentationml/2006/ole">
            <mc:AlternateContent xmlns:mc="http://schemas.openxmlformats.org/markup-compatibility/2006">
              <mc:Choice xmlns:v="urn:schemas-microsoft-com:vml" Requires="v">
                <p:oleObj spid="_x0000_s53359" name="Equation" r:id="rId3" imgW="152280" imgH="203040" progId="Equation.3">
                  <p:embed/>
                </p:oleObj>
              </mc:Choice>
              <mc:Fallback>
                <p:oleObj name="Equation" r:id="rId3" imgW="152280" imgH="203040" progId="Equation.3">
                  <p:embed/>
                  <p:pic>
                    <p:nvPicPr>
                      <p:cNvPr id="0" name="Picture 9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0" y="838200"/>
                        <a:ext cx="457200" cy="609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3251" name="Object 3"/>
          <p:cNvGraphicFramePr>
            <a:graphicFrameLocks noChangeAspect="1"/>
          </p:cNvGraphicFramePr>
          <p:nvPr>
            <p:extLst>
              <p:ext uri="{D42A27DB-BD31-4B8C-83A1-F6EECF244321}">
                <p14:modId xmlns:p14="http://schemas.microsoft.com/office/powerpoint/2010/main" val="3219220459"/>
              </p:ext>
            </p:extLst>
          </p:nvPr>
        </p:nvGraphicFramePr>
        <p:xfrm>
          <a:off x="3048000" y="1447800"/>
          <a:ext cx="533400" cy="595423"/>
        </p:xfrm>
        <a:graphic>
          <a:graphicData uri="http://schemas.openxmlformats.org/presentationml/2006/ole">
            <mc:AlternateContent xmlns:mc="http://schemas.openxmlformats.org/markup-compatibility/2006">
              <mc:Choice xmlns:v="urn:schemas-microsoft-com:vml" Requires="v">
                <p:oleObj spid="_x0000_s53360" name="Equation" r:id="rId5" imgW="215640" imgH="241200" progId="Equation.3">
                  <p:embed/>
                </p:oleObj>
              </mc:Choice>
              <mc:Fallback>
                <p:oleObj name="Equation" r:id="rId5" imgW="215640" imgH="241200" progId="Equation.3">
                  <p:embed/>
                  <p:pic>
                    <p:nvPicPr>
                      <p:cNvPr id="0" name="Picture 9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48000" y="1447800"/>
                        <a:ext cx="533400" cy="59542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3252" name="Object 4"/>
          <p:cNvGraphicFramePr>
            <a:graphicFrameLocks noChangeAspect="1"/>
          </p:cNvGraphicFramePr>
          <p:nvPr>
            <p:extLst>
              <p:ext uri="{D42A27DB-BD31-4B8C-83A1-F6EECF244321}">
                <p14:modId xmlns:p14="http://schemas.microsoft.com/office/powerpoint/2010/main" val="2952202677"/>
              </p:ext>
            </p:extLst>
          </p:nvPr>
        </p:nvGraphicFramePr>
        <p:xfrm>
          <a:off x="2209800" y="2133600"/>
          <a:ext cx="3352800" cy="1197429"/>
        </p:xfrm>
        <a:graphic>
          <a:graphicData uri="http://schemas.openxmlformats.org/presentationml/2006/ole">
            <mc:AlternateContent xmlns:mc="http://schemas.openxmlformats.org/markup-compatibility/2006">
              <mc:Choice xmlns:v="urn:schemas-microsoft-com:vml" Requires="v">
                <p:oleObj spid="_x0000_s53361" name="Equation" r:id="rId7" imgW="1244520" imgH="444240" progId="Equation.3">
                  <p:embed/>
                </p:oleObj>
              </mc:Choice>
              <mc:Fallback>
                <p:oleObj name="Equation" r:id="rId7" imgW="1244520" imgH="444240" progId="Equation.3">
                  <p:embed/>
                  <p:pic>
                    <p:nvPicPr>
                      <p:cNvPr id="0" name="Picture 9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09800" y="2133600"/>
                        <a:ext cx="3352800" cy="119742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3253" name="Object 5"/>
          <p:cNvGraphicFramePr>
            <a:graphicFrameLocks noChangeAspect="1"/>
          </p:cNvGraphicFramePr>
          <p:nvPr>
            <p:extLst>
              <p:ext uri="{D42A27DB-BD31-4B8C-83A1-F6EECF244321}">
                <p14:modId xmlns:p14="http://schemas.microsoft.com/office/powerpoint/2010/main" val="1853372535"/>
              </p:ext>
            </p:extLst>
          </p:nvPr>
        </p:nvGraphicFramePr>
        <p:xfrm>
          <a:off x="2667000" y="3657600"/>
          <a:ext cx="838200" cy="715963"/>
        </p:xfrm>
        <a:graphic>
          <a:graphicData uri="http://schemas.openxmlformats.org/presentationml/2006/ole">
            <mc:AlternateContent xmlns:mc="http://schemas.openxmlformats.org/markup-compatibility/2006">
              <mc:Choice xmlns:v="urn:schemas-microsoft-com:vml" Requires="v">
                <p:oleObj spid="_x0000_s53362" name="Equation" r:id="rId9" imgW="520560" imgH="444240" progId="Equation.3">
                  <p:embed/>
                </p:oleObj>
              </mc:Choice>
              <mc:Fallback>
                <p:oleObj name="Equation" r:id="rId9" imgW="520560" imgH="444240" progId="Equation.3">
                  <p:embed/>
                  <p:pic>
                    <p:nvPicPr>
                      <p:cNvPr id="0" name="Picture 10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667000" y="3657600"/>
                        <a:ext cx="838200" cy="715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Text Box 4"/>
          <p:cNvSpPr txBox="1">
            <a:spLocks noChangeArrowheads="1"/>
          </p:cNvSpPr>
          <p:nvPr/>
        </p:nvSpPr>
        <p:spPr bwMode="auto">
          <a:xfrm>
            <a:off x="4049486" y="6222547"/>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6" name="Rectangle 2"/>
          <p:cNvSpPr>
            <a:spLocks noGrp="1" noChangeArrowheads="1"/>
          </p:cNvSpPr>
          <p:nvPr>
            <p:ph type="title"/>
          </p:nvPr>
        </p:nvSpPr>
        <p:spPr/>
        <p:txBody>
          <a:bodyPr/>
          <a:lstStyle/>
          <a:p>
            <a:pPr eaLnBrk="1" hangingPunct="1"/>
            <a:r>
              <a:rPr lang="en-US" sz="2800" dirty="0" smtClean="0"/>
              <a:t>Shape of the Sampling Distribution of </a:t>
            </a:r>
          </a:p>
        </p:txBody>
      </p:sp>
      <p:sp>
        <p:nvSpPr>
          <p:cNvPr id="54277" name="Rectangle 3"/>
          <p:cNvSpPr>
            <a:spLocks noGrp="1" noChangeArrowheads="1"/>
          </p:cNvSpPr>
          <p:nvPr>
            <p:ph type="body" idx="1"/>
          </p:nvPr>
        </p:nvSpPr>
        <p:spPr>
          <a:xfrm>
            <a:off x="76200" y="1524000"/>
            <a:ext cx="8345488" cy="4114800"/>
          </a:xfrm>
        </p:spPr>
        <p:txBody>
          <a:bodyPr/>
          <a:lstStyle/>
          <a:p>
            <a:pPr eaLnBrk="1" hangingPunct="1">
              <a:buFont typeface="Tahoma" charset="0"/>
              <a:buChar char=" "/>
            </a:pPr>
            <a:r>
              <a:rPr lang="en-US" sz="2000" dirty="0" smtClean="0">
                <a:solidFill>
                  <a:schemeClr val="folHlink"/>
                </a:solidFill>
              </a:rPr>
              <a:t>Central Limit Theorem for Sample Proportion</a:t>
            </a:r>
          </a:p>
          <a:p>
            <a:pPr eaLnBrk="1" hangingPunct="1">
              <a:buFont typeface="Tahoma" charset="0"/>
              <a:buChar char=" "/>
            </a:pPr>
            <a:endParaRPr lang="en-GB" sz="2000" dirty="0" smtClean="0"/>
          </a:p>
          <a:p>
            <a:pPr eaLnBrk="1" hangingPunct="1">
              <a:buFont typeface="Tahoma" charset="0"/>
              <a:buChar char=" "/>
            </a:pPr>
            <a:r>
              <a:rPr lang="en-GB" sz="2000" dirty="0" smtClean="0"/>
              <a:t>According to the central limit theorem, the sampling </a:t>
            </a:r>
          </a:p>
          <a:p>
            <a:pPr eaLnBrk="1" hangingPunct="1">
              <a:buFont typeface="Tahoma" charset="0"/>
              <a:buChar char=" "/>
            </a:pPr>
            <a:r>
              <a:rPr lang="en-GB" sz="2000" dirty="0" smtClean="0"/>
              <a:t>distribution of      is approximately normal for a sufficiently </a:t>
            </a:r>
          </a:p>
          <a:p>
            <a:pPr eaLnBrk="1" hangingPunct="1">
              <a:buFont typeface="Tahoma" charset="0"/>
              <a:buChar char=" "/>
            </a:pPr>
            <a:r>
              <a:rPr lang="en-GB" sz="2000" dirty="0" smtClean="0"/>
              <a:t>large sample size. In the case of proportion, the sample </a:t>
            </a:r>
          </a:p>
          <a:p>
            <a:pPr eaLnBrk="1" hangingPunct="1">
              <a:buFont typeface="Tahoma" charset="0"/>
              <a:buChar char=" "/>
            </a:pPr>
            <a:r>
              <a:rPr lang="en-GB" sz="2000" dirty="0" smtClean="0"/>
              <a:t>size is considered to be sufficiently large if </a:t>
            </a:r>
            <a:r>
              <a:rPr lang="en-GB" sz="2000" i="1" dirty="0" err="1" smtClean="0">
                <a:latin typeface="Times New Roman" charset="0"/>
              </a:rPr>
              <a:t>np</a:t>
            </a:r>
            <a:r>
              <a:rPr lang="en-GB" sz="2000" dirty="0" smtClean="0"/>
              <a:t> and </a:t>
            </a:r>
            <a:r>
              <a:rPr lang="en-GB" sz="2000" i="1" dirty="0" err="1" smtClean="0">
                <a:latin typeface="Times New Roman" charset="0"/>
              </a:rPr>
              <a:t>nq</a:t>
            </a:r>
            <a:r>
              <a:rPr lang="en-GB" sz="2000" dirty="0" smtClean="0"/>
              <a:t> are </a:t>
            </a:r>
          </a:p>
          <a:p>
            <a:pPr eaLnBrk="1" hangingPunct="1">
              <a:buFont typeface="Tahoma" charset="0"/>
              <a:buChar char=" "/>
            </a:pPr>
            <a:r>
              <a:rPr lang="en-GB" sz="2000" dirty="0" smtClean="0"/>
              <a:t>both greater than 5 – that is,  if</a:t>
            </a:r>
          </a:p>
          <a:p>
            <a:pPr algn="ctr" eaLnBrk="1" hangingPunct="1">
              <a:buFont typeface="Tahoma" charset="0"/>
              <a:buChar char=" "/>
            </a:pPr>
            <a:endParaRPr lang="en-GB" sz="2000" i="1" dirty="0" smtClean="0">
              <a:latin typeface="Times New Roman" charset="0"/>
            </a:endParaRPr>
          </a:p>
          <a:p>
            <a:pPr algn="ctr" eaLnBrk="1" hangingPunct="1">
              <a:buFont typeface="Tahoma" charset="0"/>
              <a:buChar char=" "/>
            </a:pPr>
            <a:r>
              <a:rPr lang="en-GB" sz="2000" i="1" dirty="0" err="1" smtClean="0">
                <a:latin typeface="Times New Roman" charset="0"/>
              </a:rPr>
              <a:t>np</a:t>
            </a:r>
            <a:r>
              <a:rPr lang="en-GB" sz="2000" dirty="0" smtClean="0"/>
              <a:t> &gt; 5   and  </a:t>
            </a:r>
            <a:r>
              <a:rPr lang="en-GB" sz="2000" i="1" dirty="0" err="1" smtClean="0">
                <a:latin typeface="Times New Roman" charset="0"/>
              </a:rPr>
              <a:t>nq</a:t>
            </a:r>
            <a:r>
              <a:rPr lang="en-GB" sz="2000" dirty="0" smtClean="0"/>
              <a:t> &gt;5</a:t>
            </a:r>
            <a:endParaRPr lang="en-US" sz="2000" dirty="0" smtClean="0"/>
          </a:p>
        </p:txBody>
      </p:sp>
      <p:graphicFrame>
        <p:nvGraphicFramePr>
          <p:cNvPr id="54274" name="Object 2"/>
          <p:cNvGraphicFramePr>
            <a:graphicFrameLocks noChangeAspect="1"/>
          </p:cNvGraphicFramePr>
          <p:nvPr>
            <p:extLst>
              <p:ext uri="{D42A27DB-BD31-4B8C-83A1-F6EECF244321}">
                <p14:modId xmlns:p14="http://schemas.microsoft.com/office/powerpoint/2010/main" val="727221418"/>
              </p:ext>
            </p:extLst>
          </p:nvPr>
        </p:nvGraphicFramePr>
        <p:xfrm>
          <a:off x="5867400" y="943998"/>
          <a:ext cx="377851" cy="503802"/>
        </p:xfrm>
        <a:graphic>
          <a:graphicData uri="http://schemas.openxmlformats.org/presentationml/2006/ole">
            <mc:AlternateContent xmlns:mc="http://schemas.openxmlformats.org/markup-compatibility/2006">
              <mc:Choice xmlns:v="urn:schemas-microsoft-com:vml" Requires="v">
                <p:oleObj spid="_x0000_s54333" name="Equation" r:id="rId3" imgW="152280" imgH="203040" progId="Equation.3">
                  <p:embed/>
                </p:oleObj>
              </mc:Choice>
              <mc:Fallback>
                <p:oleObj name="Equation" r:id="rId3" imgW="152280" imgH="203040" progId="Equation.3">
                  <p:embed/>
                  <p:pic>
                    <p:nvPicPr>
                      <p:cNvPr id="0" name="Picture 5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67400" y="943998"/>
                        <a:ext cx="377851" cy="50380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4275" name="Object 3"/>
          <p:cNvGraphicFramePr>
            <a:graphicFrameLocks noChangeAspect="1"/>
          </p:cNvGraphicFramePr>
          <p:nvPr>
            <p:extLst>
              <p:ext uri="{D42A27DB-BD31-4B8C-83A1-F6EECF244321}">
                <p14:modId xmlns:p14="http://schemas.microsoft.com/office/powerpoint/2010/main" val="2761814737"/>
              </p:ext>
            </p:extLst>
          </p:nvPr>
        </p:nvGraphicFramePr>
        <p:xfrm>
          <a:off x="2362200" y="2590800"/>
          <a:ext cx="381000" cy="457200"/>
        </p:xfrm>
        <a:graphic>
          <a:graphicData uri="http://schemas.openxmlformats.org/presentationml/2006/ole">
            <mc:AlternateContent xmlns:mc="http://schemas.openxmlformats.org/markup-compatibility/2006">
              <mc:Choice xmlns:v="urn:schemas-microsoft-com:vml" Requires="v">
                <p:oleObj spid="_x0000_s54334" name="Equation" r:id="rId5" imgW="152280" imgH="203040" progId="Equation.3">
                  <p:embed/>
                </p:oleObj>
              </mc:Choice>
              <mc:Fallback>
                <p:oleObj name="Equation" r:id="rId5" imgW="152280" imgH="203040" progId="Equation.3">
                  <p:embed/>
                  <p:pic>
                    <p:nvPicPr>
                      <p:cNvPr id="0" name="Picture 5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2200" y="25908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pic>
                </p:oleObj>
              </mc:Fallback>
            </mc:AlternateContent>
          </a:graphicData>
        </a:graphic>
      </p:graphicFrame>
      <p:sp>
        <p:nvSpPr>
          <p:cNvPr id="8" name="Text Box 4"/>
          <p:cNvSpPr txBox="1">
            <a:spLocks noChangeArrowheads="1"/>
          </p:cNvSpPr>
          <p:nvPr/>
        </p:nvSpPr>
        <p:spPr bwMode="auto">
          <a:xfrm>
            <a:off x="4049486" y="6222547"/>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0" name="Rectangle 2"/>
          <p:cNvSpPr>
            <a:spLocks noGrp="1" noChangeArrowheads="1"/>
          </p:cNvSpPr>
          <p:nvPr>
            <p:ph type="title"/>
          </p:nvPr>
        </p:nvSpPr>
        <p:spPr/>
        <p:txBody>
          <a:bodyPr/>
          <a:lstStyle/>
          <a:p>
            <a:pPr eaLnBrk="1" hangingPunct="1"/>
            <a:r>
              <a:rPr lang="en-US" sz="2800" dirty="0" smtClean="0"/>
              <a:t>Example 7-9</a:t>
            </a:r>
          </a:p>
        </p:txBody>
      </p:sp>
      <p:sp>
        <p:nvSpPr>
          <p:cNvPr id="55301" name="Rectangle 3"/>
          <p:cNvSpPr>
            <a:spLocks noGrp="1" noChangeArrowheads="1"/>
          </p:cNvSpPr>
          <p:nvPr>
            <p:ph type="body" idx="1"/>
          </p:nvPr>
        </p:nvSpPr>
        <p:spPr>
          <a:xfrm>
            <a:off x="152400" y="1524000"/>
            <a:ext cx="8269288" cy="3733800"/>
          </a:xfrm>
        </p:spPr>
        <p:txBody>
          <a:bodyPr/>
          <a:lstStyle/>
          <a:p>
            <a:pPr eaLnBrk="1" hangingPunct="1">
              <a:lnSpc>
                <a:spcPct val="90000"/>
              </a:lnSpc>
              <a:buFont typeface="Tahoma" charset="0"/>
              <a:buChar char=" "/>
            </a:pPr>
            <a:r>
              <a:rPr lang="en-US" sz="2000" dirty="0" smtClean="0"/>
              <a:t>According to a New York Times/CBS News poll conducted </a:t>
            </a:r>
          </a:p>
          <a:p>
            <a:pPr eaLnBrk="1" hangingPunct="1">
              <a:lnSpc>
                <a:spcPct val="90000"/>
              </a:lnSpc>
              <a:buFont typeface="Tahoma" charset="0"/>
              <a:buChar char=" "/>
            </a:pPr>
            <a:r>
              <a:rPr lang="en-US" sz="2000" dirty="0" smtClean="0"/>
              <a:t>during June 24-28, 2011, 55% of adults polled said that </a:t>
            </a:r>
          </a:p>
          <a:p>
            <a:pPr eaLnBrk="1" hangingPunct="1">
              <a:lnSpc>
                <a:spcPct val="90000"/>
              </a:lnSpc>
              <a:buFont typeface="Tahoma" charset="0"/>
              <a:buChar char=" "/>
            </a:pPr>
            <a:r>
              <a:rPr lang="en-US" sz="2000" dirty="0" smtClean="0"/>
              <a:t>owning a home is a very important part of the American </a:t>
            </a:r>
          </a:p>
          <a:p>
            <a:pPr eaLnBrk="1" hangingPunct="1">
              <a:lnSpc>
                <a:spcPct val="90000"/>
              </a:lnSpc>
              <a:buFont typeface="Tahoma" charset="0"/>
              <a:buChar char=" "/>
            </a:pPr>
            <a:r>
              <a:rPr lang="en-US" sz="2000" dirty="0" smtClean="0"/>
              <a:t>Dream (</a:t>
            </a:r>
            <a:r>
              <a:rPr lang="en-US" sz="2000" i="1" dirty="0" smtClean="0"/>
              <a:t>The New York Times</a:t>
            </a:r>
            <a:r>
              <a:rPr lang="en-US" sz="2000" dirty="0" smtClean="0"/>
              <a:t>, June 30, 2011). Assume that </a:t>
            </a:r>
          </a:p>
          <a:p>
            <a:pPr eaLnBrk="1" hangingPunct="1">
              <a:lnSpc>
                <a:spcPct val="90000"/>
              </a:lnSpc>
              <a:buFont typeface="Tahoma" charset="0"/>
              <a:buChar char=" "/>
            </a:pPr>
            <a:r>
              <a:rPr lang="en-US" sz="2000" dirty="0" smtClean="0"/>
              <a:t>this result is true for the current population of American </a:t>
            </a:r>
          </a:p>
          <a:p>
            <a:pPr eaLnBrk="1" hangingPunct="1">
              <a:lnSpc>
                <a:spcPct val="90000"/>
              </a:lnSpc>
              <a:buFont typeface="Tahoma" charset="0"/>
              <a:buChar char=" "/>
            </a:pPr>
            <a:r>
              <a:rPr lang="en-US" sz="2000" dirty="0" smtClean="0"/>
              <a:t>adults. Let     be the proportion of American adults in a </a:t>
            </a:r>
          </a:p>
          <a:p>
            <a:pPr eaLnBrk="1" hangingPunct="1">
              <a:lnSpc>
                <a:spcPct val="90000"/>
              </a:lnSpc>
              <a:buFont typeface="Tahoma" charset="0"/>
              <a:buChar char=" "/>
            </a:pPr>
            <a:r>
              <a:rPr lang="en-US" sz="2000" dirty="0" smtClean="0"/>
              <a:t>random sample of 2000 who will say that owning a home is </a:t>
            </a:r>
          </a:p>
          <a:p>
            <a:pPr eaLnBrk="1" hangingPunct="1">
              <a:lnSpc>
                <a:spcPct val="90000"/>
              </a:lnSpc>
              <a:buFont typeface="Tahoma" charset="0"/>
              <a:buChar char=" "/>
            </a:pPr>
            <a:r>
              <a:rPr lang="en-US" sz="2000" dirty="0" smtClean="0"/>
              <a:t>a very important part of the American Dream. Find the </a:t>
            </a:r>
          </a:p>
          <a:p>
            <a:pPr eaLnBrk="1" hangingPunct="1">
              <a:lnSpc>
                <a:spcPct val="90000"/>
              </a:lnSpc>
              <a:buFont typeface="Tahoma" charset="0"/>
              <a:buChar char=" "/>
            </a:pPr>
            <a:r>
              <a:rPr lang="en-US" sz="2000" dirty="0" smtClean="0"/>
              <a:t>mean and standard deviation of     and describe the shape </a:t>
            </a:r>
          </a:p>
          <a:p>
            <a:pPr eaLnBrk="1" hangingPunct="1">
              <a:lnSpc>
                <a:spcPct val="90000"/>
              </a:lnSpc>
              <a:buFont typeface="Tahoma" charset="0"/>
              <a:buChar char=" "/>
            </a:pPr>
            <a:r>
              <a:rPr lang="en-US" sz="2000" dirty="0" smtClean="0"/>
              <a:t>of its sampling distribution.</a:t>
            </a:r>
          </a:p>
        </p:txBody>
      </p:sp>
      <p:graphicFrame>
        <p:nvGraphicFramePr>
          <p:cNvPr id="55298" name="Object 2"/>
          <p:cNvGraphicFramePr>
            <a:graphicFrameLocks noChangeAspect="1"/>
          </p:cNvGraphicFramePr>
          <p:nvPr>
            <p:extLst>
              <p:ext uri="{D42A27DB-BD31-4B8C-83A1-F6EECF244321}">
                <p14:modId xmlns:p14="http://schemas.microsoft.com/office/powerpoint/2010/main" val="2761149819"/>
              </p:ext>
            </p:extLst>
          </p:nvPr>
        </p:nvGraphicFramePr>
        <p:xfrm>
          <a:off x="4724400" y="4191000"/>
          <a:ext cx="381000" cy="457200"/>
        </p:xfrm>
        <a:graphic>
          <a:graphicData uri="http://schemas.openxmlformats.org/presentationml/2006/ole">
            <mc:AlternateContent xmlns:mc="http://schemas.openxmlformats.org/markup-compatibility/2006">
              <mc:Choice xmlns:v="urn:schemas-microsoft-com:vml" Requires="v">
                <p:oleObj spid="_x0000_s55357" name="Equation" r:id="rId3" imgW="152280" imgH="203040" progId="Equation.3">
                  <p:embed/>
                </p:oleObj>
              </mc:Choice>
              <mc:Fallback>
                <p:oleObj name="Equation" r:id="rId3" imgW="152280" imgH="203040" progId="Equation.3">
                  <p:embed/>
                  <p:pic>
                    <p:nvPicPr>
                      <p:cNvPr id="0" name="Picture 5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24400" y="41910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pic>
                </p:oleObj>
              </mc:Fallback>
            </mc:AlternateContent>
          </a:graphicData>
        </a:graphic>
      </p:graphicFrame>
      <p:graphicFrame>
        <p:nvGraphicFramePr>
          <p:cNvPr id="55299" name="Object 3"/>
          <p:cNvGraphicFramePr>
            <a:graphicFrameLocks noChangeAspect="1"/>
          </p:cNvGraphicFramePr>
          <p:nvPr>
            <p:extLst>
              <p:ext uri="{D42A27DB-BD31-4B8C-83A1-F6EECF244321}">
                <p14:modId xmlns:p14="http://schemas.microsoft.com/office/powerpoint/2010/main" val="216769552"/>
              </p:ext>
            </p:extLst>
          </p:nvPr>
        </p:nvGraphicFramePr>
        <p:xfrm>
          <a:off x="1981200" y="3124200"/>
          <a:ext cx="381000" cy="457200"/>
        </p:xfrm>
        <a:graphic>
          <a:graphicData uri="http://schemas.openxmlformats.org/presentationml/2006/ole">
            <mc:AlternateContent xmlns:mc="http://schemas.openxmlformats.org/markup-compatibility/2006">
              <mc:Choice xmlns:v="urn:schemas-microsoft-com:vml" Requires="v">
                <p:oleObj spid="_x0000_s55358" name="Equation" r:id="rId5" imgW="152280" imgH="203040" progId="Equation.3">
                  <p:embed/>
                </p:oleObj>
              </mc:Choice>
              <mc:Fallback>
                <p:oleObj name="Equation" r:id="rId5" imgW="152280" imgH="203040" progId="Equation.3">
                  <p:embed/>
                  <p:pic>
                    <p:nvPicPr>
                      <p:cNvPr id="0" name="Picture 5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1200" y="3124200"/>
                        <a:ext cx="381000"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Text Box 4"/>
          <p:cNvSpPr txBox="1">
            <a:spLocks noChangeArrowheads="1"/>
          </p:cNvSpPr>
          <p:nvPr/>
        </p:nvSpPr>
        <p:spPr bwMode="auto">
          <a:xfrm>
            <a:off x="4049486" y="6222547"/>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2"/>
          <p:cNvSpPr>
            <a:spLocks noGrp="1" noChangeArrowheads="1"/>
          </p:cNvSpPr>
          <p:nvPr>
            <p:ph type="title"/>
          </p:nvPr>
        </p:nvSpPr>
        <p:spPr/>
        <p:txBody>
          <a:bodyPr/>
          <a:lstStyle/>
          <a:p>
            <a:pPr eaLnBrk="1" hangingPunct="1"/>
            <a:r>
              <a:rPr lang="en-US" sz="2800" dirty="0" smtClean="0"/>
              <a:t>Example 7-9: Solution</a:t>
            </a:r>
          </a:p>
        </p:txBody>
      </p:sp>
      <mc:AlternateContent xmlns:mc="http://schemas.openxmlformats.org/markup-compatibility/2006" xmlns:a14="http://schemas.microsoft.com/office/drawing/2010/main">
        <mc:Choice Requires="a14">
          <p:sp>
            <p:nvSpPr>
              <p:cNvPr id="2" name="TextBox 1"/>
              <p:cNvSpPr txBox="1"/>
              <p:nvPr/>
            </p:nvSpPr>
            <p:spPr>
              <a:xfrm>
                <a:off x="609600" y="1676400"/>
                <a:ext cx="7928581" cy="232121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a:rPr>
                        <m:t>𝑝</m:t>
                      </m:r>
                      <m:r>
                        <a:rPr lang="en-US" sz="2400" b="0" i="1" smtClean="0">
                          <a:latin typeface="Cambria Math"/>
                        </a:rPr>
                        <m:t>= .55,  </m:t>
                      </m:r>
                      <m:r>
                        <a:rPr lang="en-US" sz="2400" b="0" i="1" smtClean="0">
                          <a:latin typeface="Cambria Math"/>
                        </a:rPr>
                        <m:t>𝑞</m:t>
                      </m:r>
                      <m:r>
                        <a:rPr lang="en-US" sz="2400" b="0" i="1" smtClean="0">
                          <a:latin typeface="Cambria Math"/>
                        </a:rPr>
                        <m:t>=1 −</m:t>
                      </m:r>
                      <m:r>
                        <a:rPr lang="en-US" sz="2400" b="0" i="1" smtClean="0">
                          <a:latin typeface="Cambria Math"/>
                        </a:rPr>
                        <m:t>𝑝</m:t>
                      </m:r>
                      <m:r>
                        <a:rPr lang="en-US" sz="2400" b="0" i="1" smtClean="0">
                          <a:latin typeface="Cambria Math"/>
                        </a:rPr>
                        <m:t>=1 − .55= .45  </m:t>
                      </m:r>
                      <m:r>
                        <m:rPr>
                          <m:sty m:val="p"/>
                        </m:rPr>
                        <a:rPr lang="en-US" sz="2400" b="0" i="0" smtClean="0">
                          <a:latin typeface="Cambria Math"/>
                        </a:rPr>
                        <m:t>and</m:t>
                      </m:r>
                      <m:r>
                        <a:rPr lang="en-US" sz="2400" b="0" i="1" smtClean="0">
                          <a:latin typeface="Cambria Math"/>
                        </a:rPr>
                        <m:t>  </m:t>
                      </m:r>
                      <m:r>
                        <a:rPr lang="en-US" sz="2400" b="0" i="1" smtClean="0">
                          <a:latin typeface="Cambria Math"/>
                        </a:rPr>
                        <m:t>𝑛</m:t>
                      </m:r>
                      <m:r>
                        <a:rPr lang="en-US" sz="2400" b="0" i="1" smtClean="0">
                          <a:latin typeface="Cambria Math"/>
                        </a:rPr>
                        <m:t>=2000</m:t>
                      </m:r>
                      <m:r>
                        <a:rPr lang="en-US" sz="2400" b="0" i="0" smtClean="0">
                          <a:latin typeface="Cambria Math"/>
                        </a:rPr>
                        <m:t>  </m:t>
                      </m:r>
                    </m:oMath>
                  </m:oMathPara>
                </a14:m>
                <a:endParaRPr lang="en-US" sz="2400" b="0" i="0" dirty="0" smtClean="0">
                  <a:latin typeface="Cambria Math"/>
                </a:endParaRPr>
              </a:p>
              <a:p>
                <a14:m>
                  <m:oMath xmlns:m="http://schemas.openxmlformats.org/officeDocument/2006/math">
                    <m:sSub>
                      <m:sSubPr>
                        <m:ctrlPr>
                          <a:rPr lang="en-US" sz="2400" b="0" i="1" smtClean="0">
                            <a:latin typeface="Cambria Math" charset="0"/>
                          </a:rPr>
                        </m:ctrlPr>
                      </m:sSubPr>
                      <m:e>
                        <m:r>
                          <a:rPr lang="en-US" sz="2400" b="0" i="1" smtClean="0">
                            <a:latin typeface="Cambria Math"/>
                            <a:ea typeface="Cambria Math"/>
                          </a:rPr>
                          <m:t>𝜇</m:t>
                        </m:r>
                      </m:e>
                      <m:sub>
                        <m:acc>
                          <m:accPr>
                            <m:chr m:val="̅"/>
                            <m:ctrlPr>
                              <a:rPr lang="en-US" sz="2400" b="0" i="1" smtClean="0">
                                <a:latin typeface="Cambria Math" charset="0"/>
                              </a:rPr>
                            </m:ctrlPr>
                          </m:accPr>
                          <m:e>
                            <m:r>
                              <a:rPr lang="en-US" sz="2400" b="0" i="1" smtClean="0">
                                <a:latin typeface="Cambria Math"/>
                              </a:rPr>
                              <m:t>𝑥</m:t>
                            </m:r>
                          </m:e>
                        </m:acc>
                      </m:sub>
                    </m:sSub>
                    <m:r>
                      <a:rPr lang="en-US" sz="2400" b="0" i="1" smtClean="0">
                        <a:latin typeface="Cambria Math"/>
                      </a:rPr>
                      <m:t>=</m:t>
                    </m:r>
                    <m:r>
                      <a:rPr lang="en-US" sz="2400" b="0" i="1" smtClean="0">
                        <a:latin typeface="Cambria Math"/>
                      </a:rPr>
                      <m:t>𝑝</m:t>
                    </m:r>
                    <m:r>
                      <a:rPr lang="en-US" sz="2400" b="0" i="1" smtClean="0">
                        <a:latin typeface="Cambria Math"/>
                      </a:rPr>
                      <m:t>= .55 </m:t>
                    </m:r>
                  </m:oMath>
                </a14:m>
                <a:r>
                  <a:rPr lang="en-US" sz="2400" b="0" i="1" dirty="0" smtClean="0">
                    <a:latin typeface="Cambria Math"/>
                  </a:rPr>
                  <a:t> </a:t>
                </a:r>
              </a:p>
              <a:p>
                <a14:m>
                  <m:oMath xmlns:m="http://schemas.openxmlformats.org/officeDocument/2006/math">
                    <m:sSub>
                      <m:sSubPr>
                        <m:ctrlPr>
                          <a:rPr lang="en-US" sz="2400" b="0" i="1" smtClean="0">
                            <a:latin typeface="Cambria Math" charset="0"/>
                          </a:rPr>
                        </m:ctrlPr>
                      </m:sSubPr>
                      <m:e>
                        <m:r>
                          <a:rPr lang="en-US" sz="2400" b="0" i="1" smtClean="0">
                            <a:latin typeface="Cambria Math"/>
                            <a:ea typeface="Cambria Math"/>
                          </a:rPr>
                          <m:t>𝜎</m:t>
                        </m:r>
                      </m:e>
                      <m:sub>
                        <m:acc>
                          <m:accPr>
                            <m:chr m:val="̅"/>
                            <m:ctrlPr>
                              <a:rPr lang="en-US" sz="2400" b="0" i="1" smtClean="0">
                                <a:latin typeface="Cambria Math" charset="0"/>
                              </a:rPr>
                            </m:ctrlPr>
                          </m:accPr>
                          <m:e>
                            <m:r>
                              <a:rPr lang="en-US" sz="2400" b="0" i="1" smtClean="0">
                                <a:latin typeface="Cambria Math"/>
                              </a:rPr>
                              <m:t>𝑥</m:t>
                            </m:r>
                          </m:e>
                        </m:acc>
                      </m:sub>
                    </m:sSub>
                    <m:r>
                      <a:rPr lang="en-US" sz="2400" b="0" i="1" smtClean="0">
                        <a:latin typeface="Cambria Math"/>
                      </a:rPr>
                      <m:t>=</m:t>
                    </m:r>
                    <m:rad>
                      <m:radPr>
                        <m:degHide m:val="on"/>
                        <m:ctrlPr>
                          <a:rPr lang="en-US" sz="2400" b="0" i="1" smtClean="0">
                            <a:latin typeface="Cambria Math" charset="0"/>
                          </a:rPr>
                        </m:ctrlPr>
                      </m:radPr>
                      <m:deg/>
                      <m:e>
                        <m:f>
                          <m:fPr>
                            <m:ctrlPr>
                              <a:rPr lang="en-US" sz="2400" b="0" i="1" smtClean="0">
                                <a:latin typeface="Cambria Math" charset="0"/>
                              </a:rPr>
                            </m:ctrlPr>
                          </m:fPr>
                          <m:num>
                            <m:r>
                              <a:rPr lang="en-US" sz="2400" b="0" i="1" smtClean="0">
                                <a:latin typeface="Cambria Math"/>
                              </a:rPr>
                              <m:t>𝑝𝑞</m:t>
                            </m:r>
                          </m:num>
                          <m:den>
                            <m:r>
                              <a:rPr lang="en-US" sz="2400" b="0" i="1" smtClean="0">
                                <a:latin typeface="Cambria Math"/>
                              </a:rPr>
                              <m:t>𝑛</m:t>
                            </m:r>
                          </m:den>
                        </m:f>
                      </m:e>
                    </m:rad>
                  </m:oMath>
                </a14:m>
                <a:r>
                  <a:rPr lang="en-US" sz="2400" b="0" dirty="0" smtClean="0"/>
                  <a:t> </a:t>
                </a:r>
                <a14:m>
                  <m:oMath xmlns:m="http://schemas.openxmlformats.org/officeDocument/2006/math">
                    <m:r>
                      <a:rPr lang="en-US" sz="2400" b="0" i="1" smtClean="0">
                        <a:latin typeface="Cambria Math"/>
                      </a:rPr>
                      <m:t>=</m:t>
                    </m:r>
                    <m:rad>
                      <m:radPr>
                        <m:degHide m:val="on"/>
                        <m:ctrlPr>
                          <a:rPr lang="en-US" sz="2400" b="0" i="1" smtClean="0">
                            <a:latin typeface="Cambria Math" charset="0"/>
                          </a:rPr>
                        </m:ctrlPr>
                      </m:radPr>
                      <m:deg/>
                      <m:e>
                        <m:f>
                          <m:fPr>
                            <m:ctrlPr>
                              <a:rPr lang="en-US" sz="2400" b="0" i="1" smtClean="0">
                                <a:latin typeface="Cambria Math" charset="0"/>
                              </a:rPr>
                            </m:ctrlPr>
                          </m:fPr>
                          <m:num>
                            <m:d>
                              <m:dPr>
                                <m:ctrlPr>
                                  <a:rPr lang="en-US" sz="2400" b="0" i="1" smtClean="0">
                                    <a:latin typeface="Cambria Math" charset="0"/>
                                  </a:rPr>
                                </m:ctrlPr>
                              </m:dPr>
                              <m:e>
                                <m:r>
                                  <a:rPr lang="en-US" sz="2400" b="0" i="1" smtClean="0">
                                    <a:latin typeface="Cambria Math"/>
                                  </a:rPr>
                                  <m:t>.55</m:t>
                                </m:r>
                              </m:e>
                            </m:d>
                            <m:r>
                              <a:rPr lang="en-US" sz="2400" b="0" i="1" smtClean="0">
                                <a:latin typeface="Cambria Math"/>
                              </a:rPr>
                              <m:t>.45)</m:t>
                            </m:r>
                          </m:num>
                          <m:den>
                            <m:r>
                              <a:rPr lang="en-US" sz="2400" b="0" i="1" smtClean="0">
                                <a:latin typeface="Cambria Math"/>
                              </a:rPr>
                              <m:t>2000</m:t>
                            </m:r>
                          </m:den>
                        </m:f>
                      </m:e>
                    </m:rad>
                    <m:r>
                      <a:rPr lang="en-US" sz="2400" b="0" i="1" smtClean="0">
                        <a:latin typeface="Cambria Math"/>
                      </a:rPr>
                      <m:t> = .0111  </m:t>
                    </m:r>
                  </m:oMath>
                </a14:m>
                <a:endParaRPr lang="en-US" sz="2400" b="0" i="1" dirty="0" smtClean="0">
                  <a:latin typeface="Cambria Math"/>
                </a:endParaRPr>
              </a:p>
              <a:p>
                <a14:m>
                  <m:oMath xmlns:m="http://schemas.openxmlformats.org/officeDocument/2006/math">
                    <m:r>
                      <a:rPr lang="en-US" sz="2400" b="0" i="1" smtClean="0">
                        <a:latin typeface="Cambria Math"/>
                      </a:rPr>
                      <m:t>𝑛𝑝</m:t>
                    </m:r>
                    <m:r>
                      <a:rPr lang="en-US" sz="2400" b="0" i="1" smtClean="0">
                        <a:latin typeface="Cambria Math"/>
                      </a:rPr>
                      <m:t>=2000</m:t>
                    </m:r>
                    <m:d>
                      <m:dPr>
                        <m:ctrlPr>
                          <a:rPr lang="en-US" sz="2400" b="0" i="1" smtClean="0">
                            <a:latin typeface="Cambria Math" charset="0"/>
                          </a:rPr>
                        </m:ctrlPr>
                      </m:dPr>
                      <m:e>
                        <m:r>
                          <a:rPr lang="en-US" sz="2400" b="0" i="1" smtClean="0">
                            <a:latin typeface="Cambria Math"/>
                          </a:rPr>
                          <m:t>.55</m:t>
                        </m:r>
                      </m:e>
                    </m:d>
                    <m:r>
                      <a:rPr lang="en-US" sz="2400" b="0" i="1" smtClean="0">
                        <a:latin typeface="Cambria Math"/>
                      </a:rPr>
                      <m:t>=1100   </m:t>
                    </m:r>
                    <m:r>
                      <m:rPr>
                        <m:sty m:val="p"/>
                      </m:rPr>
                      <a:rPr lang="en-US" sz="2400" b="0" i="0" smtClean="0">
                        <a:latin typeface="Cambria Math"/>
                      </a:rPr>
                      <m:t>and</m:t>
                    </m:r>
                    <m:r>
                      <a:rPr lang="en-US" sz="2400" b="0" i="1" smtClean="0">
                        <a:latin typeface="Cambria Math"/>
                      </a:rPr>
                      <m:t>  </m:t>
                    </m:r>
                    <m:r>
                      <a:rPr lang="en-US" sz="2400" b="0" i="1" smtClean="0">
                        <a:latin typeface="Cambria Math"/>
                      </a:rPr>
                      <m:t>𝑛𝑞</m:t>
                    </m:r>
                    <m:r>
                      <a:rPr lang="en-US" sz="2400" b="0" i="1" smtClean="0">
                        <a:latin typeface="Cambria Math"/>
                      </a:rPr>
                      <m:t>=2000</m:t>
                    </m:r>
                    <m:d>
                      <m:dPr>
                        <m:ctrlPr>
                          <a:rPr lang="en-US" sz="2400" b="0" i="1" smtClean="0">
                            <a:latin typeface="Cambria Math" charset="0"/>
                          </a:rPr>
                        </m:ctrlPr>
                      </m:dPr>
                      <m:e>
                        <m:r>
                          <a:rPr lang="en-US" sz="2400" b="0" i="1" smtClean="0">
                            <a:latin typeface="Cambria Math"/>
                          </a:rPr>
                          <m:t>.45</m:t>
                        </m:r>
                      </m:e>
                    </m:d>
                    <m:r>
                      <a:rPr lang="en-US" sz="2400" b="0" i="1" smtClean="0">
                        <a:latin typeface="Cambria Math"/>
                      </a:rPr>
                      <m:t>=900</m:t>
                    </m:r>
                  </m:oMath>
                </a14:m>
                <a:r>
                  <a:rPr lang="en-US" sz="2400" b="0" dirty="0" smtClean="0"/>
                  <a:t> </a:t>
                </a:r>
              </a:p>
              <a:p>
                <a:r>
                  <a:rPr lang="en-US" sz="2400" b="0" dirty="0" smtClean="0"/>
                  <a:t> </a:t>
                </a:r>
              </a:p>
            </p:txBody>
          </p:sp>
        </mc:Choice>
        <mc:Fallback xmlns="" xmlns:mv="urn:schemas-microsoft-com:mac:vml">
          <p:sp>
            <p:nvSpPr>
              <p:cNvPr id="2" name="TextBox 1"/>
              <p:cNvSpPr txBox="1">
                <a:spLocks noRot="1" noChangeAspect="1" noMove="1" noResize="1" noEditPoints="1" noAdjustHandles="1" noChangeArrowheads="1" noChangeShapeType="1" noTextEdit="1"/>
              </p:cNvSpPr>
              <p:nvPr/>
            </p:nvSpPr>
            <p:spPr>
              <a:xfrm>
                <a:off x="609600" y="1676400"/>
                <a:ext cx="7928581" cy="2321213"/>
              </a:xfrm>
              <a:prstGeom prst="rect">
                <a:avLst/>
              </a:prstGeom>
              <a:blipFill rotWithShape="1">
                <a:blip r:embed="rId2"/>
                <a:stretch>
                  <a:fillRect l="-154"/>
                </a:stretch>
              </a:blipFill>
            </p:spPr>
            <p:txBody>
              <a:bodyPr/>
              <a:lstStyle/>
              <a:p>
                <a:r>
                  <a:rPr lang="en-US">
                    <a:noFill/>
                  </a:rPr>
                  <a:t> </a:t>
                </a:r>
              </a:p>
            </p:txBody>
          </p:sp>
        </mc:Fallback>
      </mc:AlternateContent>
      <p:sp>
        <p:nvSpPr>
          <p:cNvPr id="6" name="Text Box 4"/>
          <p:cNvSpPr txBox="1">
            <a:spLocks noChangeArrowheads="1"/>
          </p:cNvSpPr>
          <p:nvPr/>
        </p:nvSpPr>
        <p:spPr bwMode="auto">
          <a:xfrm>
            <a:off x="4049486" y="6222547"/>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2"/>
          <p:cNvSpPr>
            <a:spLocks noGrp="1" noChangeArrowheads="1"/>
          </p:cNvSpPr>
          <p:nvPr>
            <p:ph type="title"/>
          </p:nvPr>
        </p:nvSpPr>
        <p:spPr/>
        <p:txBody>
          <a:bodyPr/>
          <a:lstStyle/>
          <a:p>
            <a:pPr eaLnBrk="1" hangingPunct="1"/>
            <a:r>
              <a:rPr lang="en-US" sz="2800" dirty="0" smtClean="0"/>
              <a:t>Example 7-9: Solution</a:t>
            </a:r>
          </a:p>
        </p:txBody>
      </p:sp>
      <p:sp>
        <p:nvSpPr>
          <p:cNvPr id="57348" name="Rectangle 3"/>
          <p:cNvSpPr>
            <a:spLocks noGrp="1" noChangeArrowheads="1"/>
          </p:cNvSpPr>
          <p:nvPr>
            <p:ph type="body" idx="1"/>
          </p:nvPr>
        </p:nvSpPr>
        <p:spPr>
          <a:xfrm>
            <a:off x="514699" y="1524000"/>
            <a:ext cx="8269288" cy="2667000"/>
          </a:xfrm>
        </p:spPr>
        <p:txBody>
          <a:bodyPr/>
          <a:lstStyle/>
          <a:p>
            <a:pPr eaLnBrk="1" hangingPunct="1"/>
            <a:r>
              <a:rPr lang="en-US" sz="2000" dirty="0" smtClean="0"/>
              <a:t> </a:t>
            </a:r>
            <a:r>
              <a:rPr lang="en-GB" sz="2000" i="1" dirty="0" err="1" smtClean="0">
                <a:latin typeface="Times New Roman" charset="0"/>
              </a:rPr>
              <a:t>np</a:t>
            </a:r>
            <a:r>
              <a:rPr lang="en-GB" sz="2000" dirty="0" smtClean="0"/>
              <a:t> and </a:t>
            </a:r>
            <a:r>
              <a:rPr lang="en-GB" sz="2000" i="1" dirty="0" err="1" smtClean="0">
                <a:latin typeface="Times New Roman" charset="0"/>
              </a:rPr>
              <a:t>nq</a:t>
            </a:r>
            <a:r>
              <a:rPr lang="en-GB" sz="2000" i="1" dirty="0" smtClean="0">
                <a:latin typeface="Times New Roman" charset="0"/>
              </a:rPr>
              <a:t> </a:t>
            </a:r>
            <a:r>
              <a:rPr lang="en-GB" sz="2000" dirty="0" smtClean="0"/>
              <a:t>are both greater than 5.</a:t>
            </a:r>
          </a:p>
          <a:p>
            <a:pPr eaLnBrk="1" hangingPunct="1">
              <a:buFont typeface="Wingdings" charset="2"/>
              <a:buNone/>
            </a:pPr>
            <a:endParaRPr lang="en-GB" sz="2000" dirty="0" smtClean="0"/>
          </a:p>
          <a:p>
            <a:pPr eaLnBrk="1" hangingPunct="1"/>
            <a:r>
              <a:rPr lang="en-GB" sz="2000" dirty="0" smtClean="0"/>
              <a:t>Therefore, the sampling distribution of     is approximately normal (by the </a:t>
            </a:r>
            <a:r>
              <a:rPr lang="en-GB" sz="2000" i="1" dirty="0" smtClean="0"/>
              <a:t>central limit theorem</a:t>
            </a:r>
            <a:r>
              <a:rPr lang="en-GB" sz="2000" dirty="0" smtClean="0"/>
              <a:t>) with a mean of .55 and a standard deviation of .0111, as shown in Figure 7.15.</a:t>
            </a:r>
            <a:endParaRPr lang="en-US" sz="2000" dirty="0" smtClean="0"/>
          </a:p>
        </p:txBody>
      </p:sp>
      <p:graphicFrame>
        <p:nvGraphicFramePr>
          <p:cNvPr id="57346" name="Object 2"/>
          <p:cNvGraphicFramePr>
            <a:graphicFrameLocks noChangeAspect="1"/>
          </p:cNvGraphicFramePr>
          <p:nvPr>
            <p:extLst>
              <p:ext uri="{D42A27DB-BD31-4B8C-83A1-F6EECF244321}">
                <p14:modId xmlns:p14="http://schemas.microsoft.com/office/powerpoint/2010/main" val="3498875880"/>
              </p:ext>
            </p:extLst>
          </p:nvPr>
        </p:nvGraphicFramePr>
        <p:xfrm>
          <a:off x="5867400" y="2209800"/>
          <a:ext cx="457200" cy="457200"/>
        </p:xfrm>
        <a:graphic>
          <a:graphicData uri="http://schemas.openxmlformats.org/presentationml/2006/ole">
            <mc:AlternateContent xmlns:mc="http://schemas.openxmlformats.org/markup-compatibility/2006">
              <mc:Choice xmlns:v="urn:schemas-microsoft-com:vml" Requires="v">
                <p:oleObj spid="_x0000_s57378" name="Equation" r:id="rId3" imgW="152280" imgH="203040" progId="Equation.3">
                  <p:embed/>
                </p:oleObj>
              </mc:Choice>
              <mc:Fallback>
                <p:oleObj name="Equation" r:id="rId3" imgW="152280" imgH="203040" progId="Equation.3">
                  <p:embed/>
                  <p:pic>
                    <p:nvPicPr>
                      <p:cNvPr id="0" name="Picture 2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67400" y="2209800"/>
                        <a:ext cx="457200"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 Box 4"/>
          <p:cNvSpPr txBox="1">
            <a:spLocks noChangeArrowheads="1"/>
          </p:cNvSpPr>
          <p:nvPr/>
        </p:nvSpPr>
        <p:spPr bwMode="auto">
          <a:xfrm>
            <a:off x="4049486" y="6222547"/>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title"/>
          </p:nvPr>
        </p:nvSpPr>
        <p:spPr/>
        <p:txBody>
          <a:bodyPr/>
          <a:lstStyle/>
          <a:p>
            <a:pPr eaLnBrk="1" hangingPunct="1"/>
            <a:r>
              <a:rPr lang="en-US" sz="2800" dirty="0" smtClean="0"/>
              <a:t>Figure 7.15</a:t>
            </a:r>
          </a:p>
        </p:txBody>
      </p:sp>
      <p:sp>
        <p:nvSpPr>
          <p:cNvPr id="6" name="Text Box 4"/>
          <p:cNvSpPr txBox="1">
            <a:spLocks noChangeArrowheads="1"/>
          </p:cNvSpPr>
          <p:nvPr/>
        </p:nvSpPr>
        <p:spPr bwMode="auto">
          <a:xfrm>
            <a:off x="4049486" y="6222547"/>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80732" y="2181050"/>
            <a:ext cx="5982535" cy="2495899"/>
          </a:xfrm>
          <a:prstGeom prst="rect">
            <a:avLst/>
          </a:prstGeom>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3" name="Rectangle 2"/>
          <p:cNvSpPr>
            <a:spLocks noGrp="1" noChangeArrowheads="1"/>
          </p:cNvSpPr>
          <p:nvPr>
            <p:ph type="title"/>
          </p:nvPr>
        </p:nvSpPr>
        <p:spPr>
          <a:xfrm>
            <a:off x="457200" y="228600"/>
            <a:ext cx="8229600" cy="1139825"/>
          </a:xfrm>
        </p:spPr>
        <p:txBody>
          <a:bodyPr/>
          <a:lstStyle/>
          <a:p>
            <a:pPr eaLnBrk="1" hangingPunct="1"/>
            <a:r>
              <a:rPr lang="en-US" sz="2800" dirty="0" smtClean="0"/>
              <a:t>Applications of the Sampling Distribution of</a:t>
            </a:r>
          </a:p>
        </p:txBody>
      </p:sp>
      <p:sp>
        <p:nvSpPr>
          <p:cNvPr id="58374" name="Rectangle 3"/>
          <p:cNvSpPr>
            <a:spLocks noGrp="1" noChangeArrowheads="1"/>
          </p:cNvSpPr>
          <p:nvPr>
            <p:ph type="body" sz="half" idx="1"/>
          </p:nvPr>
        </p:nvSpPr>
        <p:spPr>
          <a:xfrm>
            <a:off x="152400" y="1524000"/>
            <a:ext cx="8153400" cy="3082925"/>
          </a:xfrm>
        </p:spPr>
        <p:txBody>
          <a:bodyPr/>
          <a:lstStyle/>
          <a:p>
            <a:pPr eaLnBrk="1" hangingPunct="1">
              <a:lnSpc>
                <a:spcPct val="90000"/>
              </a:lnSpc>
              <a:buFont typeface="Tahoma" charset="0"/>
              <a:buChar char=" "/>
            </a:pPr>
            <a:r>
              <a:rPr lang="en-US" sz="2000" dirty="0" smtClean="0"/>
              <a:t>When we conduct a study, we usually take only one </a:t>
            </a:r>
          </a:p>
          <a:p>
            <a:pPr eaLnBrk="1" hangingPunct="1">
              <a:lnSpc>
                <a:spcPct val="90000"/>
              </a:lnSpc>
              <a:buFont typeface="Tahoma" charset="0"/>
              <a:buChar char=" "/>
            </a:pPr>
            <a:r>
              <a:rPr lang="en-US" sz="2000" dirty="0" smtClean="0"/>
              <a:t>sample and make all decisions or inferences on the basis of </a:t>
            </a:r>
          </a:p>
          <a:p>
            <a:pPr eaLnBrk="1" hangingPunct="1">
              <a:lnSpc>
                <a:spcPct val="90000"/>
              </a:lnSpc>
              <a:buFont typeface="Tahoma" charset="0"/>
              <a:buChar char=" "/>
            </a:pPr>
            <a:r>
              <a:rPr lang="en-US" sz="2000" dirty="0" smtClean="0"/>
              <a:t>the results of that one sample. We use the concepts of the </a:t>
            </a:r>
          </a:p>
          <a:p>
            <a:pPr eaLnBrk="1" hangingPunct="1">
              <a:lnSpc>
                <a:spcPct val="90000"/>
              </a:lnSpc>
              <a:buFont typeface="Tahoma" charset="0"/>
              <a:buChar char=" "/>
            </a:pPr>
            <a:r>
              <a:rPr lang="en-US" sz="2000" dirty="0" smtClean="0"/>
              <a:t>mean, standard deviation, and shape of the sampling </a:t>
            </a:r>
          </a:p>
          <a:p>
            <a:pPr eaLnBrk="1" hangingPunct="1">
              <a:lnSpc>
                <a:spcPct val="90000"/>
              </a:lnSpc>
              <a:buFont typeface="Tahoma" charset="0"/>
              <a:buChar char=" "/>
            </a:pPr>
            <a:r>
              <a:rPr lang="en-US" sz="2000" dirty="0" smtClean="0"/>
              <a:t>distribution of      to determine the probability that the </a:t>
            </a:r>
          </a:p>
          <a:p>
            <a:pPr eaLnBrk="1" hangingPunct="1">
              <a:lnSpc>
                <a:spcPct val="90000"/>
              </a:lnSpc>
              <a:buFont typeface="Tahoma" charset="0"/>
              <a:buChar char=" "/>
            </a:pPr>
            <a:r>
              <a:rPr lang="en-US" sz="2000" dirty="0" smtClean="0"/>
              <a:t>value of     computed from one sample falls within a given </a:t>
            </a:r>
          </a:p>
          <a:p>
            <a:pPr eaLnBrk="1" hangingPunct="1">
              <a:lnSpc>
                <a:spcPct val="90000"/>
              </a:lnSpc>
              <a:buFont typeface="Tahoma" charset="0"/>
              <a:buChar char=" "/>
            </a:pPr>
            <a:r>
              <a:rPr lang="en-US" sz="2000" dirty="0" smtClean="0"/>
              <a:t>interval.</a:t>
            </a:r>
          </a:p>
        </p:txBody>
      </p:sp>
      <p:graphicFrame>
        <p:nvGraphicFramePr>
          <p:cNvPr id="58370" name="Object 2"/>
          <p:cNvGraphicFramePr>
            <a:graphicFrameLocks noGrp="1" noChangeAspect="1"/>
          </p:cNvGraphicFramePr>
          <p:nvPr>
            <p:ph sz="quarter" idx="2"/>
            <p:extLst>
              <p:ext uri="{D42A27DB-BD31-4B8C-83A1-F6EECF244321}">
                <p14:modId xmlns:p14="http://schemas.microsoft.com/office/powerpoint/2010/main" val="3053710496"/>
              </p:ext>
            </p:extLst>
          </p:nvPr>
        </p:nvGraphicFramePr>
        <p:xfrm>
          <a:off x="6934200" y="838200"/>
          <a:ext cx="571500" cy="533400"/>
        </p:xfrm>
        <a:graphic>
          <a:graphicData uri="http://schemas.openxmlformats.org/presentationml/2006/ole">
            <mc:AlternateContent xmlns:mc="http://schemas.openxmlformats.org/markup-compatibility/2006">
              <mc:Choice xmlns:v="urn:schemas-microsoft-com:vml" Requires="v">
                <p:oleObj spid="_x0000_s58455" name="Equation" r:id="rId3" imgW="152280" imgH="203040" progId="Equation.3">
                  <p:embed/>
                </p:oleObj>
              </mc:Choice>
              <mc:Fallback>
                <p:oleObj name="Equation" r:id="rId3" imgW="152280" imgH="203040" progId="Equation.3">
                  <p:embed/>
                  <p:pic>
                    <p:nvPicPr>
                      <p:cNvPr id="0" name="Picture 76"/>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34200" y="838200"/>
                        <a:ext cx="5715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pic>
                </p:oleObj>
              </mc:Fallback>
            </mc:AlternateContent>
          </a:graphicData>
        </a:graphic>
      </p:graphicFrame>
      <p:graphicFrame>
        <p:nvGraphicFramePr>
          <p:cNvPr id="58371" name="Object 3"/>
          <p:cNvGraphicFramePr>
            <a:graphicFrameLocks noChangeAspect="1"/>
          </p:cNvGraphicFramePr>
          <p:nvPr>
            <p:extLst>
              <p:ext uri="{D42A27DB-BD31-4B8C-83A1-F6EECF244321}">
                <p14:modId xmlns:p14="http://schemas.microsoft.com/office/powerpoint/2010/main" val="3254346451"/>
              </p:ext>
            </p:extLst>
          </p:nvPr>
        </p:nvGraphicFramePr>
        <p:xfrm>
          <a:off x="2438400" y="2819400"/>
          <a:ext cx="381000" cy="457200"/>
        </p:xfrm>
        <a:graphic>
          <a:graphicData uri="http://schemas.openxmlformats.org/presentationml/2006/ole">
            <mc:AlternateContent xmlns:mc="http://schemas.openxmlformats.org/markup-compatibility/2006">
              <mc:Choice xmlns:v="urn:schemas-microsoft-com:vml" Requires="v">
                <p:oleObj spid="_x0000_s58456" name="Equation" r:id="rId5" imgW="152280" imgH="203040" progId="Equation.3">
                  <p:embed/>
                </p:oleObj>
              </mc:Choice>
              <mc:Fallback>
                <p:oleObj name="Equation" r:id="rId5" imgW="152280" imgH="203040" progId="Equation.3">
                  <p:embed/>
                  <p:pic>
                    <p:nvPicPr>
                      <p:cNvPr id="0" name="Picture 7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38400" y="28194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pic>
                </p:oleObj>
              </mc:Fallback>
            </mc:AlternateContent>
          </a:graphicData>
        </a:graphic>
      </p:graphicFrame>
      <p:graphicFrame>
        <p:nvGraphicFramePr>
          <p:cNvPr id="58372" name="Object 4"/>
          <p:cNvGraphicFramePr>
            <a:graphicFrameLocks noChangeAspect="1"/>
          </p:cNvGraphicFramePr>
          <p:nvPr>
            <p:extLst>
              <p:ext uri="{D42A27DB-BD31-4B8C-83A1-F6EECF244321}">
                <p14:modId xmlns:p14="http://schemas.microsoft.com/office/powerpoint/2010/main" val="235297565"/>
              </p:ext>
            </p:extLst>
          </p:nvPr>
        </p:nvGraphicFramePr>
        <p:xfrm>
          <a:off x="1676400" y="3124200"/>
          <a:ext cx="381000" cy="457200"/>
        </p:xfrm>
        <a:graphic>
          <a:graphicData uri="http://schemas.openxmlformats.org/presentationml/2006/ole">
            <mc:AlternateContent xmlns:mc="http://schemas.openxmlformats.org/markup-compatibility/2006">
              <mc:Choice xmlns:v="urn:schemas-microsoft-com:vml" Requires="v">
                <p:oleObj spid="_x0000_s58457" name="Equation" r:id="rId6" imgW="152280" imgH="203040" progId="Equation.3">
                  <p:embed/>
                </p:oleObj>
              </mc:Choice>
              <mc:Fallback>
                <p:oleObj name="Equation" r:id="rId6" imgW="152280" imgH="203040" progId="Equation.3">
                  <p:embed/>
                  <p:pic>
                    <p:nvPicPr>
                      <p:cNvPr id="0" name="Picture 7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6400" y="31242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pic>
                </p:oleObj>
              </mc:Fallback>
            </mc:AlternateContent>
          </a:graphicData>
        </a:graphic>
      </p:graphicFrame>
      <p:sp>
        <p:nvSpPr>
          <p:cNvPr id="10" name="Text Box 4"/>
          <p:cNvSpPr txBox="1">
            <a:spLocks noChangeArrowheads="1"/>
          </p:cNvSpPr>
          <p:nvPr/>
        </p:nvSpPr>
        <p:spPr bwMode="auto">
          <a:xfrm>
            <a:off x="4049486" y="6222547"/>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pic>
        <p:nvPicPr>
          <p:cNvPr id="2" name="Picture 1"/>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0" y="337143"/>
            <a:ext cx="9144000" cy="1034457"/>
          </a:xfrm>
          <a:prstGeom prst="rect">
            <a:avLst/>
          </a:prstGeom>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4" name="Rectangle 3"/>
          <p:cNvSpPr>
            <a:spLocks noGrp="1" noChangeArrowheads="1"/>
          </p:cNvSpPr>
          <p:nvPr>
            <p:ph type="body" sz="half" idx="1"/>
          </p:nvPr>
        </p:nvSpPr>
        <p:spPr>
          <a:xfrm>
            <a:off x="152400" y="1600200"/>
            <a:ext cx="8153400" cy="4530725"/>
          </a:xfrm>
        </p:spPr>
        <p:txBody>
          <a:bodyPr/>
          <a:lstStyle/>
          <a:p>
            <a:pPr eaLnBrk="1" hangingPunct="1">
              <a:lnSpc>
                <a:spcPct val="90000"/>
              </a:lnSpc>
              <a:buFont typeface="Tahoma" charset="0"/>
              <a:buChar char=" "/>
            </a:pPr>
            <a:r>
              <a:rPr lang="en-US" sz="2000" dirty="0" smtClean="0"/>
              <a:t>According to a Pew Research Center nationwide telephone survey of American adults conducted by phone between March 15 and April 24, 2011, 75% of adults said that college education has become too expensive for most people and they cannot afford it</a:t>
            </a:r>
            <a:r>
              <a:rPr lang="en-US" sz="2000" dirty="0"/>
              <a:t> </a:t>
            </a:r>
            <a:r>
              <a:rPr lang="en-US" sz="2000" dirty="0" smtClean="0"/>
              <a:t>(</a:t>
            </a:r>
            <a:r>
              <a:rPr lang="en-US" sz="2000" i="1" dirty="0" smtClean="0"/>
              <a:t>Time</a:t>
            </a:r>
            <a:r>
              <a:rPr lang="en-US" sz="2000" dirty="0" smtClean="0"/>
              <a:t>, May 30, 2011).  Suppose that this result is true for the current population of American adults. Let     be the proportion in a random sample of 1400 adult Americans who will hold the said opinion. Find the probability that 76.5% to 78% of adults in this sample will hold this opinion.</a:t>
            </a:r>
          </a:p>
        </p:txBody>
      </p:sp>
      <p:graphicFrame>
        <p:nvGraphicFramePr>
          <p:cNvPr id="58371" name="Object 3"/>
          <p:cNvGraphicFramePr>
            <a:graphicFrameLocks noChangeAspect="1"/>
          </p:cNvGraphicFramePr>
          <p:nvPr>
            <p:extLst>
              <p:ext uri="{D42A27DB-BD31-4B8C-83A1-F6EECF244321}">
                <p14:modId xmlns:p14="http://schemas.microsoft.com/office/powerpoint/2010/main" val="3797076450"/>
              </p:ext>
            </p:extLst>
          </p:nvPr>
        </p:nvGraphicFramePr>
        <p:xfrm>
          <a:off x="3581400" y="3200400"/>
          <a:ext cx="381000" cy="457200"/>
        </p:xfrm>
        <a:graphic>
          <a:graphicData uri="http://schemas.openxmlformats.org/presentationml/2006/ole">
            <mc:AlternateContent xmlns:mc="http://schemas.openxmlformats.org/markup-compatibility/2006">
              <mc:Choice xmlns:v="urn:schemas-microsoft-com:vml" Requires="v">
                <p:oleObj spid="_x0000_s124956" name="Equation" r:id="rId3" imgW="152280" imgH="203040" progId="Equation.3">
                  <p:embed/>
                </p:oleObj>
              </mc:Choice>
              <mc:Fallback>
                <p:oleObj name="Equation" r:id="rId3" imgW="152280" imgH="203040" progId="Equation.3">
                  <p:embed/>
                  <p:pic>
                    <p:nvPicPr>
                      <p:cNvPr id="0" name="Picture 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81400" y="32004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pic>
                </p:oleObj>
              </mc:Fallback>
            </mc:AlternateContent>
          </a:graphicData>
        </a:graphic>
      </p:graphicFrame>
      <p:sp>
        <p:nvSpPr>
          <p:cNvPr id="11" name="Rectangle 2"/>
          <p:cNvSpPr>
            <a:spLocks noGrp="1" noChangeArrowheads="1"/>
          </p:cNvSpPr>
          <p:nvPr>
            <p:ph type="title"/>
          </p:nvPr>
        </p:nvSpPr>
        <p:spPr>
          <a:xfrm>
            <a:off x="457200" y="277813"/>
            <a:ext cx="8229600" cy="1139825"/>
          </a:xfrm>
        </p:spPr>
        <p:txBody>
          <a:bodyPr/>
          <a:lstStyle/>
          <a:p>
            <a:pPr eaLnBrk="1" hangingPunct="1"/>
            <a:r>
              <a:rPr lang="en-US" sz="2800" dirty="0" smtClean="0"/>
              <a:t>Example 7-10</a:t>
            </a:r>
          </a:p>
        </p:txBody>
      </p:sp>
      <p:sp>
        <p:nvSpPr>
          <p:cNvPr id="6" name="Text Box 4"/>
          <p:cNvSpPr txBox="1">
            <a:spLocks noChangeArrowheads="1"/>
          </p:cNvSpPr>
          <p:nvPr/>
        </p:nvSpPr>
        <p:spPr bwMode="auto">
          <a:xfrm>
            <a:off x="4049486" y="6222547"/>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extLst>
      <p:ext uri="{BB962C8B-B14F-4D97-AF65-F5344CB8AC3E}">
        <p14:creationId xmlns:p14="http://schemas.microsoft.com/office/powerpoint/2010/main" val="249331358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6" name="Rectangle 2"/>
          <p:cNvSpPr>
            <a:spLocks noGrp="1" noChangeArrowheads="1"/>
          </p:cNvSpPr>
          <p:nvPr>
            <p:ph type="title"/>
          </p:nvPr>
        </p:nvSpPr>
        <p:spPr/>
        <p:txBody>
          <a:bodyPr/>
          <a:lstStyle/>
          <a:p>
            <a:pPr eaLnBrk="1" hangingPunct="1"/>
            <a:r>
              <a:rPr lang="en-US" sz="2800" dirty="0" smtClean="0"/>
              <a:t>Example 7-10: Solution</a:t>
            </a:r>
          </a:p>
        </p:txBody>
      </p:sp>
      <p:sp>
        <p:nvSpPr>
          <p:cNvPr id="59397" name="Rectangle 3"/>
          <p:cNvSpPr>
            <a:spLocks noGrp="1" noChangeArrowheads="1"/>
          </p:cNvSpPr>
          <p:nvPr>
            <p:ph type="body" idx="1"/>
          </p:nvPr>
        </p:nvSpPr>
        <p:spPr>
          <a:xfrm>
            <a:off x="323897" y="3581400"/>
            <a:ext cx="8650288" cy="1524000"/>
          </a:xfrm>
        </p:spPr>
        <p:txBody>
          <a:bodyPr/>
          <a:lstStyle/>
          <a:p>
            <a:pPr eaLnBrk="1" hangingPunct="1">
              <a:buFont typeface="Tahoma" charset="0"/>
              <a:buChar char=" "/>
            </a:pPr>
            <a:r>
              <a:rPr lang="en-US" sz="2000" dirty="0" smtClean="0"/>
              <a:t>We can infer from the central limit theorem that the sampling distribution of      is approximately normal. </a:t>
            </a:r>
          </a:p>
        </p:txBody>
      </p:sp>
      <p:graphicFrame>
        <p:nvGraphicFramePr>
          <p:cNvPr id="59395" name="Object 3"/>
          <p:cNvGraphicFramePr>
            <a:graphicFrameLocks noChangeAspect="1"/>
          </p:cNvGraphicFramePr>
          <p:nvPr>
            <p:extLst>
              <p:ext uri="{D42A27DB-BD31-4B8C-83A1-F6EECF244321}">
                <p14:modId xmlns:p14="http://schemas.microsoft.com/office/powerpoint/2010/main" val="972972728"/>
              </p:ext>
            </p:extLst>
          </p:nvPr>
        </p:nvGraphicFramePr>
        <p:xfrm>
          <a:off x="2650671" y="3862820"/>
          <a:ext cx="342900" cy="457200"/>
        </p:xfrm>
        <a:graphic>
          <a:graphicData uri="http://schemas.openxmlformats.org/presentationml/2006/ole">
            <mc:AlternateContent xmlns:mc="http://schemas.openxmlformats.org/markup-compatibility/2006">
              <mc:Choice xmlns:v="urn:schemas-microsoft-com:vml" Requires="v">
                <p:oleObj spid="_x0000_s59433" name="Equation" r:id="rId3" imgW="152280" imgH="203040" progId="Equation.3">
                  <p:embed/>
                </p:oleObj>
              </mc:Choice>
              <mc:Fallback>
                <p:oleObj name="Equation" r:id="rId3" imgW="152280" imgH="203040" progId="Equation.3">
                  <p:embed/>
                  <p:pic>
                    <p:nvPicPr>
                      <p:cNvPr id="0" name="Picture 3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50671" y="3862820"/>
                        <a:ext cx="342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pic>
                </p:oleObj>
              </mc:Fallback>
            </mc:AlternateContent>
          </a:graphicData>
        </a:graphic>
      </p:graphicFrame>
      <mc:AlternateContent xmlns:mc="http://schemas.openxmlformats.org/markup-compatibility/2006" xmlns:a14="http://schemas.microsoft.com/office/drawing/2010/main">
        <mc:Choice Requires="a14">
          <p:sp>
            <p:nvSpPr>
              <p:cNvPr id="8" name="TextBox 7"/>
              <p:cNvSpPr txBox="1"/>
              <p:nvPr/>
            </p:nvSpPr>
            <p:spPr>
              <a:xfrm>
                <a:off x="762000" y="1465406"/>
                <a:ext cx="8212185" cy="232121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a:rPr>
                        <m:t>𝑝</m:t>
                      </m:r>
                      <m:r>
                        <a:rPr lang="en-US" sz="2400" b="0" i="1" smtClean="0">
                          <a:latin typeface="Cambria Math"/>
                        </a:rPr>
                        <m:t>= .75,  </m:t>
                      </m:r>
                      <m:r>
                        <a:rPr lang="en-US" sz="2400" b="0" i="1" smtClean="0">
                          <a:latin typeface="Cambria Math"/>
                        </a:rPr>
                        <m:t>𝑞</m:t>
                      </m:r>
                      <m:r>
                        <a:rPr lang="en-US" sz="2400" b="0" i="1" smtClean="0">
                          <a:latin typeface="Cambria Math"/>
                        </a:rPr>
                        <m:t>=1 −</m:t>
                      </m:r>
                      <m:r>
                        <a:rPr lang="en-US" sz="2400" b="0" i="1" smtClean="0">
                          <a:latin typeface="Cambria Math"/>
                        </a:rPr>
                        <m:t>𝑝</m:t>
                      </m:r>
                      <m:r>
                        <a:rPr lang="en-US" sz="2400" b="0" i="1" smtClean="0">
                          <a:latin typeface="Cambria Math"/>
                        </a:rPr>
                        <m:t>=1 − .75= .25  </m:t>
                      </m:r>
                      <m:r>
                        <m:rPr>
                          <m:sty m:val="p"/>
                        </m:rPr>
                        <a:rPr lang="en-US" sz="2400" b="0" i="0" smtClean="0">
                          <a:latin typeface="Cambria Math"/>
                        </a:rPr>
                        <m:t>and</m:t>
                      </m:r>
                      <m:r>
                        <a:rPr lang="en-US" sz="2400" b="0" i="1" smtClean="0">
                          <a:latin typeface="Cambria Math"/>
                        </a:rPr>
                        <m:t>  </m:t>
                      </m:r>
                      <m:r>
                        <a:rPr lang="en-US" sz="2400" b="0" i="1" smtClean="0">
                          <a:latin typeface="Cambria Math"/>
                        </a:rPr>
                        <m:t>𝑛</m:t>
                      </m:r>
                      <m:r>
                        <a:rPr lang="en-US" sz="2400" b="0" i="1" smtClean="0">
                          <a:latin typeface="Cambria Math"/>
                        </a:rPr>
                        <m:t>=1400</m:t>
                      </m:r>
                      <m:r>
                        <a:rPr lang="en-US" sz="2400" b="0" i="0" smtClean="0">
                          <a:latin typeface="Cambria Math"/>
                        </a:rPr>
                        <m:t>  </m:t>
                      </m:r>
                    </m:oMath>
                  </m:oMathPara>
                </a14:m>
                <a:endParaRPr lang="en-US" sz="2400" b="0" i="0" dirty="0" smtClean="0">
                  <a:latin typeface="Cambria Math"/>
                </a:endParaRPr>
              </a:p>
              <a:p>
                <a14:m>
                  <m:oMath xmlns:m="http://schemas.openxmlformats.org/officeDocument/2006/math">
                    <m:sSub>
                      <m:sSubPr>
                        <m:ctrlPr>
                          <a:rPr lang="en-US" sz="2400" b="0" i="1" smtClean="0">
                            <a:latin typeface="Cambria Math" charset="0"/>
                          </a:rPr>
                        </m:ctrlPr>
                      </m:sSubPr>
                      <m:e>
                        <m:r>
                          <a:rPr lang="en-US" sz="2400" b="0" i="1" smtClean="0">
                            <a:latin typeface="Cambria Math"/>
                            <a:ea typeface="Cambria Math"/>
                          </a:rPr>
                          <m:t>𝜇</m:t>
                        </m:r>
                      </m:e>
                      <m:sub>
                        <m:acc>
                          <m:accPr>
                            <m:chr m:val="̅"/>
                            <m:ctrlPr>
                              <a:rPr lang="en-US" sz="2400" b="0" i="1" smtClean="0">
                                <a:latin typeface="Cambria Math" charset="0"/>
                              </a:rPr>
                            </m:ctrlPr>
                          </m:accPr>
                          <m:e>
                            <m:r>
                              <a:rPr lang="en-US" sz="2400" b="0" i="1" smtClean="0">
                                <a:latin typeface="Cambria Math"/>
                              </a:rPr>
                              <m:t>𝑥</m:t>
                            </m:r>
                          </m:e>
                        </m:acc>
                      </m:sub>
                    </m:sSub>
                    <m:r>
                      <a:rPr lang="en-US" sz="2400" b="0" i="1" smtClean="0">
                        <a:latin typeface="Cambria Math"/>
                      </a:rPr>
                      <m:t>=</m:t>
                    </m:r>
                    <m:r>
                      <a:rPr lang="en-US" sz="2400" b="0" i="1" smtClean="0">
                        <a:latin typeface="Cambria Math"/>
                      </a:rPr>
                      <m:t>𝑝</m:t>
                    </m:r>
                    <m:r>
                      <a:rPr lang="en-US" sz="2400" b="0" i="1" smtClean="0">
                        <a:latin typeface="Cambria Math"/>
                      </a:rPr>
                      <m:t>= .75 </m:t>
                    </m:r>
                  </m:oMath>
                </a14:m>
                <a:r>
                  <a:rPr lang="en-US" sz="2400" b="0" i="1" dirty="0" smtClean="0">
                    <a:latin typeface="Cambria Math"/>
                  </a:rPr>
                  <a:t> </a:t>
                </a:r>
              </a:p>
              <a:p>
                <a14:m>
                  <m:oMath xmlns:m="http://schemas.openxmlformats.org/officeDocument/2006/math">
                    <m:sSub>
                      <m:sSubPr>
                        <m:ctrlPr>
                          <a:rPr lang="en-US" sz="2400" b="0" i="1" smtClean="0">
                            <a:latin typeface="Cambria Math" charset="0"/>
                          </a:rPr>
                        </m:ctrlPr>
                      </m:sSubPr>
                      <m:e>
                        <m:r>
                          <a:rPr lang="en-US" sz="2400" b="0" i="1" smtClean="0">
                            <a:latin typeface="Cambria Math"/>
                            <a:ea typeface="Cambria Math"/>
                          </a:rPr>
                          <m:t>𝜎</m:t>
                        </m:r>
                      </m:e>
                      <m:sub>
                        <m:acc>
                          <m:accPr>
                            <m:chr m:val="̅"/>
                            <m:ctrlPr>
                              <a:rPr lang="en-US" sz="2400" b="0" i="1" smtClean="0">
                                <a:latin typeface="Cambria Math" charset="0"/>
                              </a:rPr>
                            </m:ctrlPr>
                          </m:accPr>
                          <m:e>
                            <m:r>
                              <a:rPr lang="en-US" sz="2400" b="0" i="1" smtClean="0">
                                <a:latin typeface="Cambria Math"/>
                              </a:rPr>
                              <m:t>𝑥</m:t>
                            </m:r>
                          </m:e>
                        </m:acc>
                      </m:sub>
                    </m:sSub>
                    <m:r>
                      <a:rPr lang="en-US" sz="2400" b="0" i="1" smtClean="0">
                        <a:latin typeface="Cambria Math"/>
                      </a:rPr>
                      <m:t>=</m:t>
                    </m:r>
                    <m:rad>
                      <m:radPr>
                        <m:degHide m:val="on"/>
                        <m:ctrlPr>
                          <a:rPr lang="en-US" sz="2400" b="0" i="1" smtClean="0">
                            <a:latin typeface="Cambria Math" charset="0"/>
                          </a:rPr>
                        </m:ctrlPr>
                      </m:radPr>
                      <m:deg/>
                      <m:e>
                        <m:f>
                          <m:fPr>
                            <m:ctrlPr>
                              <a:rPr lang="en-US" sz="2400" b="0" i="1" smtClean="0">
                                <a:latin typeface="Cambria Math" charset="0"/>
                              </a:rPr>
                            </m:ctrlPr>
                          </m:fPr>
                          <m:num>
                            <m:r>
                              <a:rPr lang="en-US" sz="2400" b="0" i="1" smtClean="0">
                                <a:latin typeface="Cambria Math"/>
                              </a:rPr>
                              <m:t>𝑝𝑞</m:t>
                            </m:r>
                          </m:num>
                          <m:den>
                            <m:r>
                              <a:rPr lang="en-US" sz="2400" b="0" i="1" smtClean="0">
                                <a:latin typeface="Cambria Math"/>
                              </a:rPr>
                              <m:t>𝑛</m:t>
                            </m:r>
                          </m:den>
                        </m:f>
                      </m:e>
                    </m:rad>
                  </m:oMath>
                </a14:m>
                <a:r>
                  <a:rPr lang="en-US" sz="2400" b="0" dirty="0" smtClean="0"/>
                  <a:t> </a:t>
                </a:r>
                <a14:m>
                  <m:oMath xmlns:m="http://schemas.openxmlformats.org/officeDocument/2006/math">
                    <m:r>
                      <a:rPr lang="en-US" sz="2400" b="0" i="1" smtClean="0">
                        <a:latin typeface="Cambria Math"/>
                      </a:rPr>
                      <m:t>=</m:t>
                    </m:r>
                    <m:rad>
                      <m:radPr>
                        <m:degHide m:val="on"/>
                        <m:ctrlPr>
                          <a:rPr lang="en-US" sz="2400" b="0" i="1" smtClean="0">
                            <a:latin typeface="Cambria Math" charset="0"/>
                          </a:rPr>
                        </m:ctrlPr>
                      </m:radPr>
                      <m:deg/>
                      <m:e>
                        <m:f>
                          <m:fPr>
                            <m:ctrlPr>
                              <a:rPr lang="en-US" sz="2400" b="0" i="1" smtClean="0">
                                <a:latin typeface="Cambria Math" charset="0"/>
                              </a:rPr>
                            </m:ctrlPr>
                          </m:fPr>
                          <m:num>
                            <m:d>
                              <m:dPr>
                                <m:ctrlPr>
                                  <a:rPr lang="en-US" sz="2400" b="0" i="1" smtClean="0">
                                    <a:latin typeface="Cambria Math" charset="0"/>
                                  </a:rPr>
                                </m:ctrlPr>
                              </m:dPr>
                              <m:e>
                                <m:r>
                                  <a:rPr lang="en-US" sz="2400" b="0" i="1" smtClean="0">
                                    <a:latin typeface="Cambria Math"/>
                                  </a:rPr>
                                  <m:t>.75</m:t>
                                </m:r>
                              </m:e>
                            </m:d>
                            <m:r>
                              <a:rPr lang="en-US" sz="2400" b="0" i="1" smtClean="0">
                                <a:latin typeface="Cambria Math"/>
                              </a:rPr>
                              <m:t>(.25)</m:t>
                            </m:r>
                          </m:num>
                          <m:den>
                            <m:r>
                              <a:rPr lang="en-US" sz="2400" b="0" i="1" smtClean="0">
                                <a:latin typeface="Cambria Math"/>
                              </a:rPr>
                              <m:t>1400</m:t>
                            </m:r>
                          </m:den>
                        </m:f>
                      </m:e>
                    </m:rad>
                    <m:r>
                      <a:rPr lang="en-US" sz="2400" b="0" i="1" smtClean="0">
                        <a:latin typeface="Cambria Math"/>
                      </a:rPr>
                      <m:t> = .01157275  </m:t>
                    </m:r>
                  </m:oMath>
                </a14:m>
                <a:endParaRPr lang="en-US" sz="2400" b="0" i="1" dirty="0" smtClean="0">
                  <a:latin typeface="Cambria Math"/>
                </a:endParaRPr>
              </a:p>
              <a:p>
                <a14:m>
                  <m:oMath xmlns:m="http://schemas.openxmlformats.org/officeDocument/2006/math">
                    <m:r>
                      <a:rPr lang="en-US" sz="2400" b="0" i="1" smtClean="0">
                        <a:latin typeface="Cambria Math"/>
                      </a:rPr>
                      <m:t>𝑛𝑝</m:t>
                    </m:r>
                    <m:r>
                      <a:rPr lang="en-US" sz="2400" b="0" i="1" smtClean="0">
                        <a:latin typeface="Cambria Math"/>
                      </a:rPr>
                      <m:t>=1400</m:t>
                    </m:r>
                    <m:d>
                      <m:dPr>
                        <m:ctrlPr>
                          <a:rPr lang="en-US" sz="2400" b="0" i="1" smtClean="0">
                            <a:latin typeface="Cambria Math" charset="0"/>
                          </a:rPr>
                        </m:ctrlPr>
                      </m:dPr>
                      <m:e>
                        <m:r>
                          <a:rPr lang="en-US" sz="2400" b="0" i="1" smtClean="0">
                            <a:latin typeface="Cambria Math"/>
                          </a:rPr>
                          <m:t>.75</m:t>
                        </m:r>
                      </m:e>
                    </m:d>
                    <m:r>
                      <a:rPr lang="en-US" sz="2400" b="0" i="1" smtClean="0">
                        <a:latin typeface="Cambria Math"/>
                      </a:rPr>
                      <m:t>=1050   </m:t>
                    </m:r>
                    <m:r>
                      <a:rPr lang="en-US" sz="2400" b="0" i="1" smtClean="0">
                        <a:latin typeface="Cambria Math"/>
                      </a:rPr>
                      <m:t>𝑎𝑛𝑑</m:t>
                    </m:r>
                    <m:r>
                      <a:rPr lang="en-US" sz="2400" b="0" i="1" smtClean="0">
                        <a:latin typeface="Cambria Math"/>
                      </a:rPr>
                      <m:t>  </m:t>
                    </m:r>
                    <m:r>
                      <a:rPr lang="en-US" sz="2400" b="0" i="1" smtClean="0">
                        <a:latin typeface="Cambria Math"/>
                      </a:rPr>
                      <m:t>𝑛𝑞</m:t>
                    </m:r>
                    <m:r>
                      <a:rPr lang="en-US" sz="2400" b="0" i="1" smtClean="0">
                        <a:latin typeface="Cambria Math"/>
                      </a:rPr>
                      <m:t>=1400</m:t>
                    </m:r>
                    <m:d>
                      <m:dPr>
                        <m:ctrlPr>
                          <a:rPr lang="en-US" sz="2400" b="0" i="1" smtClean="0">
                            <a:latin typeface="Cambria Math" charset="0"/>
                          </a:rPr>
                        </m:ctrlPr>
                      </m:dPr>
                      <m:e>
                        <m:r>
                          <a:rPr lang="en-US" sz="2400" b="0" i="1" smtClean="0">
                            <a:latin typeface="Cambria Math"/>
                          </a:rPr>
                          <m:t>.25</m:t>
                        </m:r>
                      </m:e>
                    </m:d>
                    <m:r>
                      <a:rPr lang="en-US" sz="2400" b="0" i="1" smtClean="0">
                        <a:latin typeface="Cambria Math"/>
                      </a:rPr>
                      <m:t>=350</m:t>
                    </m:r>
                  </m:oMath>
                </a14:m>
                <a:r>
                  <a:rPr lang="en-US" sz="2400" b="0" dirty="0" smtClean="0"/>
                  <a:t> </a:t>
                </a:r>
              </a:p>
              <a:p>
                <a:r>
                  <a:rPr lang="en-US" sz="2400" b="0" dirty="0" smtClean="0"/>
                  <a:t> </a:t>
                </a:r>
              </a:p>
            </p:txBody>
          </p:sp>
        </mc:Choice>
        <mc:Fallback xmlns="" xmlns:mv="urn:schemas-microsoft-com:mac:vml">
          <p:sp>
            <p:nvSpPr>
              <p:cNvPr id="8" name="TextBox 7"/>
              <p:cNvSpPr txBox="1">
                <a:spLocks noRot="1" noChangeAspect="1" noMove="1" noResize="1" noEditPoints="1" noAdjustHandles="1" noChangeArrowheads="1" noChangeShapeType="1" noTextEdit="1"/>
              </p:cNvSpPr>
              <p:nvPr/>
            </p:nvSpPr>
            <p:spPr>
              <a:xfrm>
                <a:off x="762000" y="1465406"/>
                <a:ext cx="8212185" cy="2321213"/>
              </a:xfrm>
              <a:prstGeom prst="rect">
                <a:avLst/>
              </a:prstGeom>
              <a:blipFill rotWithShape="1">
                <a:blip r:embed="rId5"/>
                <a:stretch>
                  <a:fillRect l="-148"/>
                </a:stretch>
              </a:blipFill>
            </p:spPr>
            <p:txBody>
              <a:bodyPr/>
              <a:lstStyle/>
              <a:p>
                <a:r>
                  <a:rPr lang="en-US">
                    <a:noFill/>
                  </a:rPr>
                  <a:t> </a:t>
                </a:r>
              </a:p>
            </p:txBody>
          </p:sp>
        </mc:Fallback>
      </mc:AlternateContent>
      <p:sp>
        <p:nvSpPr>
          <p:cNvPr id="9" name="Text Box 4"/>
          <p:cNvSpPr txBox="1">
            <a:spLocks noChangeArrowheads="1"/>
          </p:cNvSpPr>
          <p:nvPr/>
        </p:nvSpPr>
        <p:spPr bwMode="auto">
          <a:xfrm>
            <a:off x="4049486" y="6222547"/>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2"/>
          <p:cNvSpPr>
            <a:spLocks noGrp="1" noChangeArrowheads="1"/>
          </p:cNvSpPr>
          <p:nvPr>
            <p:ph type="title"/>
          </p:nvPr>
        </p:nvSpPr>
        <p:spPr/>
        <p:txBody>
          <a:bodyPr/>
          <a:lstStyle/>
          <a:p>
            <a:pPr eaLnBrk="1" hangingPunct="1"/>
            <a:r>
              <a:rPr lang="en-US" sz="2800" dirty="0" smtClean="0"/>
              <a:t>Figure 7.16 </a:t>
            </a:r>
          </a:p>
        </p:txBody>
      </p:sp>
      <mc:AlternateContent xmlns:mc="http://schemas.openxmlformats.org/markup-compatibility/2006" xmlns:a14="http://schemas.microsoft.com/office/drawing/2010/main">
        <mc:Choice Requires="a14">
          <p:sp>
            <p:nvSpPr>
              <p:cNvPr id="7" name="TextBox 6"/>
              <p:cNvSpPr txBox="1"/>
              <p:nvPr/>
            </p:nvSpPr>
            <p:spPr>
              <a:xfrm>
                <a:off x="2286000" y="916632"/>
                <a:ext cx="3048000"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sz="2400" b="0" i="0" smtClean="0">
                          <a:latin typeface="Cambria Math"/>
                          <a:ea typeface="Cambria Math"/>
                        </a:rPr>
                        <m:t>P</m:t>
                      </m:r>
                      <m:r>
                        <a:rPr lang="en-US" sz="2400" b="0" i="1" smtClean="0">
                          <a:latin typeface="Cambria Math"/>
                          <a:ea typeface="Cambria Math"/>
                        </a:rPr>
                        <m:t>(.765&lt;</m:t>
                      </m:r>
                      <m:acc>
                        <m:accPr>
                          <m:chr m:val="̂"/>
                          <m:ctrlPr>
                            <a:rPr lang="en-US" sz="2400" b="0" i="1" smtClean="0">
                              <a:latin typeface="Cambria Math" charset="0"/>
                              <a:ea typeface="Cambria Math"/>
                            </a:rPr>
                          </m:ctrlPr>
                        </m:accPr>
                        <m:e>
                          <m:r>
                            <a:rPr lang="en-US" sz="2400" b="0" i="1" smtClean="0">
                              <a:latin typeface="Cambria Math"/>
                              <a:ea typeface="Cambria Math"/>
                            </a:rPr>
                            <m:t>𝑝</m:t>
                          </m:r>
                        </m:e>
                      </m:acc>
                      <m:r>
                        <a:rPr lang="en-US" sz="2400" b="0" i="1" smtClean="0">
                          <a:latin typeface="Cambria Math"/>
                          <a:ea typeface="Cambria Math"/>
                        </a:rPr>
                        <m:t>&lt; .78)</m:t>
                      </m:r>
                    </m:oMath>
                  </m:oMathPara>
                </a14:m>
                <a:endParaRPr lang="en-US" sz="2400" b="0" i="1" dirty="0" smtClean="0">
                  <a:latin typeface="Cambria Math"/>
                  <a:ea typeface="Cambria Math"/>
                </a:endParaRPr>
              </a:p>
            </p:txBody>
          </p:sp>
        </mc:Choice>
        <mc:Fallback xmlns="" xmlns:mv="urn:schemas-microsoft-com:mac:vml">
          <p:sp>
            <p:nvSpPr>
              <p:cNvPr id="7" name="TextBox 6"/>
              <p:cNvSpPr txBox="1">
                <a:spLocks noRot="1" noChangeAspect="1" noMove="1" noResize="1" noEditPoints="1" noAdjustHandles="1" noChangeArrowheads="1" noChangeShapeType="1" noTextEdit="1"/>
              </p:cNvSpPr>
              <p:nvPr/>
            </p:nvSpPr>
            <p:spPr>
              <a:xfrm>
                <a:off x="2286000" y="916632"/>
                <a:ext cx="3048000" cy="461665"/>
              </a:xfrm>
              <a:prstGeom prst="rect">
                <a:avLst/>
              </a:prstGeom>
              <a:blipFill rotWithShape="1">
                <a:blip r:embed="rId2"/>
                <a:stretch>
                  <a:fillRect t="-1316" b="-19737"/>
                </a:stretch>
              </a:blipFill>
            </p:spPr>
            <p:txBody>
              <a:bodyPr/>
              <a:lstStyle/>
              <a:p>
                <a:r>
                  <a:rPr lang="en-US">
                    <a:noFill/>
                  </a:rPr>
                  <a:t> </a:t>
                </a:r>
              </a:p>
            </p:txBody>
          </p:sp>
        </mc:Fallback>
      </mc:AlternateContent>
      <p:sp>
        <p:nvSpPr>
          <p:cNvPr id="8" name="Text Box 4"/>
          <p:cNvSpPr txBox="1">
            <a:spLocks noChangeArrowheads="1"/>
          </p:cNvSpPr>
          <p:nvPr/>
        </p:nvSpPr>
        <p:spPr bwMode="auto">
          <a:xfrm>
            <a:off x="4049486" y="6222547"/>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5969" y="1990524"/>
            <a:ext cx="5992062" cy="2876952"/>
          </a:xfrm>
          <a:prstGeom prst="rect">
            <a:avLst/>
          </a:prstGeom>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5" name="Rectangle 2"/>
          <p:cNvSpPr>
            <a:spLocks noGrp="1" noChangeArrowheads="1"/>
          </p:cNvSpPr>
          <p:nvPr>
            <p:ph type="title"/>
          </p:nvPr>
        </p:nvSpPr>
        <p:spPr/>
        <p:txBody>
          <a:bodyPr/>
          <a:lstStyle/>
          <a:p>
            <a:pPr eaLnBrk="1" hangingPunct="1"/>
            <a:r>
              <a:rPr lang="en-US" sz="2800" dirty="0" smtClean="0"/>
              <a:t>z Value for a Value of </a:t>
            </a:r>
          </a:p>
        </p:txBody>
      </p:sp>
      <p:sp>
        <p:nvSpPr>
          <p:cNvPr id="61446" name="Rectangle 3"/>
          <p:cNvSpPr>
            <a:spLocks noGrp="1" noChangeArrowheads="1"/>
          </p:cNvSpPr>
          <p:nvPr>
            <p:ph type="body" sz="half" idx="1"/>
          </p:nvPr>
        </p:nvSpPr>
        <p:spPr>
          <a:xfrm>
            <a:off x="152400" y="1524000"/>
            <a:ext cx="8153400" cy="2895600"/>
          </a:xfrm>
        </p:spPr>
        <p:txBody>
          <a:bodyPr/>
          <a:lstStyle/>
          <a:p>
            <a:pPr eaLnBrk="1" hangingPunct="1">
              <a:buFont typeface="Tahoma" charset="0"/>
              <a:buChar char=" "/>
            </a:pPr>
            <a:r>
              <a:rPr lang="en-US" sz="2000" dirty="0" smtClean="0"/>
              <a:t>The </a:t>
            </a:r>
            <a:r>
              <a:rPr lang="en-US" sz="2000" b="1" i="1" u="sng" dirty="0" smtClean="0">
                <a:solidFill>
                  <a:schemeClr val="hlink"/>
                </a:solidFill>
              </a:rPr>
              <a:t>z value for a value of</a:t>
            </a:r>
            <a:r>
              <a:rPr lang="en-US" sz="2000" dirty="0" smtClean="0"/>
              <a:t>      is calculated as</a:t>
            </a:r>
          </a:p>
        </p:txBody>
      </p:sp>
      <p:graphicFrame>
        <p:nvGraphicFramePr>
          <p:cNvPr id="61442" name="Object 2"/>
          <p:cNvGraphicFramePr>
            <a:graphicFrameLocks noChangeAspect="1"/>
          </p:cNvGraphicFramePr>
          <p:nvPr>
            <p:extLst>
              <p:ext uri="{D42A27DB-BD31-4B8C-83A1-F6EECF244321}">
                <p14:modId xmlns:p14="http://schemas.microsoft.com/office/powerpoint/2010/main" val="1270754760"/>
              </p:ext>
            </p:extLst>
          </p:nvPr>
        </p:nvGraphicFramePr>
        <p:xfrm>
          <a:off x="2764632" y="2272027"/>
          <a:ext cx="2493962" cy="1246981"/>
        </p:xfrm>
        <a:graphic>
          <a:graphicData uri="http://schemas.openxmlformats.org/presentationml/2006/ole">
            <mc:AlternateContent xmlns:mc="http://schemas.openxmlformats.org/markup-compatibility/2006">
              <mc:Choice xmlns:v="urn:schemas-microsoft-com:vml" Requires="v">
                <p:oleObj spid="_x0000_s61525" name="Equation" r:id="rId3" imgW="660240" imgH="457200" progId="">
                  <p:embed/>
                </p:oleObj>
              </mc:Choice>
              <mc:Fallback>
                <p:oleObj name="Equation" r:id="rId3" imgW="660240" imgH="457200" progId="">
                  <p:embed/>
                  <p:pic>
                    <p:nvPicPr>
                      <p:cNvPr id="0" name="Picture 7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64632" y="2272027"/>
                        <a:ext cx="2493962" cy="124698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1443" name="Object 3"/>
          <p:cNvGraphicFramePr>
            <a:graphicFrameLocks noChangeAspect="1"/>
          </p:cNvGraphicFramePr>
          <p:nvPr>
            <p:extLst>
              <p:ext uri="{D42A27DB-BD31-4B8C-83A1-F6EECF244321}">
                <p14:modId xmlns:p14="http://schemas.microsoft.com/office/powerpoint/2010/main" val="3181921273"/>
              </p:ext>
            </p:extLst>
          </p:nvPr>
        </p:nvGraphicFramePr>
        <p:xfrm>
          <a:off x="3811588" y="838200"/>
          <a:ext cx="400050" cy="533400"/>
        </p:xfrm>
        <a:graphic>
          <a:graphicData uri="http://schemas.openxmlformats.org/presentationml/2006/ole">
            <mc:AlternateContent xmlns:mc="http://schemas.openxmlformats.org/markup-compatibility/2006">
              <mc:Choice xmlns:v="urn:schemas-microsoft-com:vml" Requires="v">
                <p:oleObj spid="_x0000_s61526" name="Equation" r:id="rId5" imgW="152280" imgH="203040" progId="Equation.3">
                  <p:embed/>
                </p:oleObj>
              </mc:Choice>
              <mc:Fallback>
                <p:oleObj name="Equation" r:id="rId5" imgW="152280" imgH="203040" progId="Equation.3">
                  <p:embed/>
                  <p:pic>
                    <p:nvPicPr>
                      <p:cNvPr id="0" name="Picture 7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11588" y="838200"/>
                        <a:ext cx="400050"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1444" name="Object 4"/>
          <p:cNvGraphicFramePr>
            <a:graphicFrameLocks noGrp="1" noChangeAspect="1"/>
          </p:cNvGraphicFramePr>
          <p:nvPr>
            <p:ph sz="half" idx="2"/>
            <p:extLst>
              <p:ext uri="{D42A27DB-BD31-4B8C-83A1-F6EECF244321}">
                <p14:modId xmlns:p14="http://schemas.microsoft.com/office/powerpoint/2010/main" val="1992197594"/>
              </p:ext>
            </p:extLst>
          </p:nvPr>
        </p:nvGraphicFramePr>
        <p:xfrm>
          <a:off x="4191000" y="1447801"/>
          <a:ext cx="400050" cy="533400"/>
        </p:xfrm>
        <a:graphic>
          <a:graphicData uri="http://schemas.openxmlformats.org/presentationml/2006/ole">
            <mc:AlternateContent xmlns:mc="http://schemas.openxmlformats.org/markup-compatibility/2006">
              <mc:Choice xmlns:v="urn:schemas-microsoft-com:vml" Requires="v">
                <p:oleObj spid="_x0000_s61527" name="Equation" r:id="rId7" imgW="152280" imgH="203040" progId="Equation.3">
                  <p:embed/>
                </p:oleObj>
              </mc:Choice>
              <mc:Fallback>
                <p:oleObj name="Equation" r:id="rId7" imgW="152280" imgH="203040" progId="Equation.3">
                  <p:embed/>
                  <p:pic>
                    <p:nvPicPr>
                      <p:cNvPr id="0" name="Picture 76"/>
                      <p:cNvPicPr>
                        <a:picLocks noGrp="1"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91000" y="1447801"/>
                        <a:ext cx="400050"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Text Box 4"/>
          <p:cNvSpPr txBox="1">
            <a:spLocks noChangeArrowheads="1"/>
          </p:cNvSpPr>
          <p:nvPr/>
        </p:nvSpPr>
        <p:spPr bwMode="auto">
          <a:xfrm>
            <a:off x="4049486" y="6222547"/>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71" name="Rectangle 2"/>
          <p:cNvSpPr>
            <a:spLocks noGrp="1" noChangeArrowheads="1"/>
          </p:cNvSpPr>
          <p:nvPr>
            <p:ph type="title"/>
          </p:nvPr>
        </p:nvSpPr>
        <p:spPr/>
        <p:txBody>
          <a:bodyPr/>
          <a:lstStyle/>
          <a:p>
            <a:pPr eaLnBrk="1" hangingPunct="1"/>
            <a:r>
              <a:rPr lang="en-US" sz="2800" dirty="0" smtClean="0"/>
              <a:t>Example 7-10: Solution</a:t>
            </a:r>
          </a:p>
        </p:txBody>
      </p:sp>
      <p:sp>
        <p:nvSpPr>
          <p:cNvPr id="62472" name="Rectangle 3"/>
          <p:cNvSpPr>
            <a:spLocks noGrp="1" noChangeArrowheads="1"/>
          </p:cNvSpPr>
          <p:nvPr>
            <p:ph type="body" sz="half" idx="1"/>
          </p:nvPr>
        </p:nvSpPr>
        <p:spPr>
          <a:xfrm>
            <a:off x="457200" y="1295400"/>
            <a:ext cx="8077200" cy="3810000"/>
          </a:xfrm>
        </p:spPr>
        <p:txBody>
          <a:bodyPr/>
          <a:lstStyle/>
          <a:p>
            <a:pPr eaLnBrk="1" hangingPunct="1">
              <a:lnSpc>
                <a:spcPct val="80000"/>
              </a:lnSpc>
              <a:buFont typeface="Wingdings" charset="2"/>
              <a:buNone/>
            </a:pPr>
            <a:endParaRPr lang="en-US" sz="2000" dirty="0" smtClean="0"/>
          </a:p>
          <a:p>
            <a:pPr eaLnBrk="1" hangingPunct="1">
              <a:lnSpc>
                <a:spcPct val="80000"/>
              </a:lnSpc>
            </a:pPr>
            <a:r>
              <a:rPr lang="en-US" sz="2000" dirty="0" smtClean="0"/>
              <a:t>For      = .765:</a:t>
            </a:r>
          </a:p>
          <a:p>
            <a:pPr eaLnBrk="1" hangingPunct="1">
              <a:lnSpc>
                <a:spcPct val="80000"/>
              </a:lnSpc>
            </a:pPr>
            <a:endParaRPr lang="en-US" sz="2000" dirty="0" smtClean="0"/>
          </a:p>
          <a:p>
            <a:pPr eaLnBrk="1" hangingPunct="1">
              <a:lnSpc>
                <a:spcPct val="80000"/>
              </a:lnSpc>
            </a:pPr>
            <a:endParaRPr lang="en-US" sz="2000" dirty="0" smtClean="0"/>
          </a:p>
          <a:p>
            <a:pPr eaLnBrk="1" hangingPunct="1">
              <a:lnSpc>
                <a:spcPct val="80000"/>
              </a:lnSpc>
            </a:pPr>
            <a:r>
              <a:rPr lang="en-US" sz="2000" dirty="0" smtClean="0"/>
              <a:t>For      = .78:</a:t>
            </a:r>
          </a:p>
          <a:p>
            <a:pPr eaLnBrk="1" hangingPunct="1">
              <a:lnSpc>
                <a:spcPct val="80000"/>
              </a:lnSpc>
            </a:pPr>
            <a:endParaRPr lang="en-US" sz="2000" dirty="0" smtClean="0"/>
          </a:p>
          <a:p>
            <a:pPr eaLnBrk="1" hangingPunct="1">
              <a:lnSpc>
                <a:spcPct val="80000"/>
              </a:lnSpc>
            </a:pPr>
            <a:endParaRPr lang="en-US" sz="2000" dirty="0" smtClean="0"/>
          </a:p>
          <a:p>
            <a:pPr eaLnBrk="1" hangingPunct="1">
              <a:lnSpc>
                <a:spcPct val="80000"/>
              </a:lnSpc>
            </a:pPr>
            <a:endParaRPr lang="en-US" sz="2000" dirty="0" smtClean="0"/>
          </a:p>
          <a:p>
            <a:pPr eaLnBrk="1" hangingPunct="1">
              <a:lnSpc>
                <a:spcPct val="80000"/>
              </a:lnSpc>
            </a:pPr>
            <a:r>
              <a:rPr lang="en-US" sz="2000" i="1" dirty="0" smtClean="0"/>
              <a:t>P</a:t>
            </a:r>
            <a:r>
              <a:rPr lang="en-US" sz="2000" dirty="0" smtClean="0"/>
              <a:t>(.765 &lt;     &lt; .78) = </a:t>
            </a:r>
            <a:r>
              <a:rPr lang="en-US" sz="2000" i="1" dirty="0" smtClean="0"/>
              <a:t>P</a:t>
            </a:r>
            <a:r>
              <a:rPr lang="en-US" sz="2000" dirty="0" smtClean="0"/>
              <a:t>(1.30 &lt; </a:t>
            </a:r>
            <a:r>
              <a:rPr lang="en-US" sz="2000" i="1" dirty="0" smtClean="0">
                <a:latin typeface="Times New Roman" charset="0"/>
              </a:rPr>
              <a:t>z</a:t>
            </a:r>
            <a:r>
              <a:rPr lang="en-US" sz="2000" dirty="0" smtClean="0"/>
              <a:t> &lt; 2.59) </a:t>
            </a:r>
          </a:p>
          <a:p>
            <a:pPr eaLnBrk="1" hangingPunct="1">
              <a:lnSpc>
                <a:spcPct val="80000"/>
              </a:lnSpc>
              <a:buFont typeface="Wingdings" charset="2"/>
              <a:buNone/>
            </a:pPr>
            <a:r>
              <a:rPr lang="en-US" sz="2000" dirty="0" smtClean="0"/>
              <a:t>                            </a:t>
            </a:r>
            <a:r>
              <a:rPr lang="en-US" sz="2000" dirty="0"/>
              <a:t> </a:t>
            </a:r>
            <a:r>
              <a:rPr lang="en-US" sz="2000" dirty="0" smtClean="0"/>
              <a:t>   = .9952 - .9032 </a:t>
            </a:r>
          </a:p>
          <a:p>
            <a:pPr eaLnBrk="1" hangingPunct="1">
              <a:lnSpc>
                <a:spcPct val="80000"/>
              </a:lnSpc>
              <a:buFont typeface="Wingdings" charset="2"/>
              <a:buNone/>
            </a:pPr>
            <a:r>
              <a:rPr lang="en-US" sz="2000" dirty="0" smtClean="0"/>
              <a:t>                                = </a:t>
            </a:r>
            <a:r>
              <a:rPr lang="en-US" sz="2000" b="1" dirty="0" smtClean="0"/>
              <a:t>.0920</a:t>
            </a:r>
          </a:p>
        </p:txBody>
      </p:sp>
      <p:graphicFrame>
        <p:nvGraphicFramePr>
          <p:cNvPr id="62466" name="Object 2"/>
          <p:cNvGraphicFramePr>
            <a:graphicFrameLocks noChangeAspect="1"/>
          </p:cNvGraphicFramePr>
          <p:nvPr>
            <p:extLst>
              <p:ext uri="{D42A27DB-BD31-4B8C-83A1-F6EECF244321}">
                <p14:modId xmlns:p14="http://schemas.microsoft.com/office/powerpoint/2010/main" val="374305488"/>
              </p:ext>
            </p:extLst>
          </p:nvPr>
        </p:nvGraphicFramePr>
        <p:xfrm>
          <a:off x="2078871" y="3658770"/>
          <a:ext cx="339805" cy="453946"/>
        </p:xfrm>
        <a:graphic>
          <a:graphicData uri="http://schemas.openxmlformats.org/presentationml/2006/ole">
            <mc:AlternateContent xmlns:mc="http://schemas.openxmlformats.org/markup-compatibility/2006">
              <mc:Choice xmlns:v="urn:schemas-microsoft-com:vml" Requires="v">
                <p:oleObj spid="_x0000_s62564" name="Equation" r:id="rId3" imgW="152280" imgH="203040" progId="Equation.3">
                  <p:embed/>
                </p:oleObj>
              </mc:Choice>
              <mc:Fallback>
                <p:oleObj name="Equation" r:id="rId3" imgW="152280" imgH="203040" progId="Equation.3">
                  <p:embed/>
                  <p:pic>
                    <p:nvPicPr>
                      <p:cNvPr id="0" name="Picture 8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78871" y="3658770"/>
                        <a:ext cx="339805" cy="4539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pic>
                </p:oleObj>
              </mc:Fallback>
            </mc:AlternateContent>
          </a:graphicData>
        </a:graphic>
      </p:graphicFrame>
      <p:graphicFrame>
        <p:nvGraphicFramePr>
          <p:cNvPr id="62467" name="Object 3"/>
          <p:cNvGraphicFramePr>
            <a:graphicFrameLocks noChangeAspect="1"/>
          </p:cNvGraphicFramePr>
          <p:nvPr>
            <p:extLst>
              <p:ext uri="{D42A27DB-BD31-4B8C-83A1-F6EECF244321}">
                <p14:modId xmlns:p14="http://schemas.microsoft.com/office/powerpoint/2010/main" val="128888342"/>
              </p:ext>
            </p:extLst>
          </p:nvPr>
        </p:nvGraphicFramePr>
        <p:xfrm>
          <a:off x="1361524" y="2482567"/>
          <a:ext cx="314876" cy="420646"/>
        </p:xfrm>
        <a:graphic>
          <a:graphicData uri="http://schemas.openxmlformats.org/presentationml/2006/ole">
            <mc:AlternateContent xmlns:mc="http://schemas.openxmlformats.org/markup-compatibility/2006">
              <mc:Choice xmlns:v="urn:schemas-microsoft-com:vml" Requires="v">
                <p:oleObj spid="_x0000_s62565" name="Equation" r:id="rId5" imgW="152280" imgH="203040" progId="Equation.3">
                  <p:embed/>
                </p:oleObj>
              </mc:Choice>
              <mc:Fallback>
                <p:oleObj name="Equation" r:id="rId5" imgW="152280" imgH="203040" progId="Equation.3">
                  <p:embed/>
                  <p:pic>
                    <p:nvPicPr>
                      <p:cNvPr id="0" name="Picture 9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61524" y="2482567"/>
                        <a:ext cx="314876" cy="42064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2468" name="Object 4"/>
          <p:cNvGraphicFramePr>
            <a:graphicFrameLocks noChangeAspect="1"/>
          </p:cNvGraphicFramePr>
          <p:nvPr>
            <p:extLst>
              <p:ext uri="{D42A27DB-BD31-4B8C-83A1-F6EECF244321}">
                <p14:modId xmlns:p14="http://schemas.microsoft.com/office/powerpoint/2010/main" val="4270744673"/>
              </p:ext>
            </p:extLst>
          </p:nvPr>
        </p:nvGraphicFramePr>
        <p:xfrm>
          <a:off x="1404662" y="1568167"/>
          <a:ext cx="314876" cy="420646"/>
        </p:xfrm>
        <a:graphic>
          <a:graphicData uri="http://schemas.openxmlformats.org/presentationml/2006/ole">
            <mc:AlternateContent xmlns:mc="http://schemas.openxmlformats.org/markup-compatibility/2006">
              <mc:Choice xmlns:v="urn:schemas-microsoft-com:vml" Requires="v">
                <p:oleObj spid="_x0000_s62566" name="Equation" r:id="rId6" imgW="152280" imgH="203040" progId="Equation.3">
                  <p:embed/>
                </p:oleObj>
              </mc:Choice>
              <mc:Fallback>
                <p:oleObj name="Equation" r:id="rId6" imgW="152280" imgH="203040" progId="Equation.3">
                  <p:embed/>
                  <p:pic>
                    <p:nvPicPr>
                      <p:cNvPr id="0" name="Picture 9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4662" y="1568167"/>
                        <a:ext cx="314876" cy="42064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xmlns:a14="http://schemas.microsoft.com/office/drawing/2010/main">
        <mc:Choice Requires="a14">
          <p:sp>
            <p:nvSpPr>
              <p:cNvPr id="3" name="TextBox 2"/>
              <p:cNvSpPr txBox="1"/>
              <p:nvPr/>
            </p:nvSpPr>
            <p:spPr>
              <a:xfrm>
                <a:off x="3200400" y="1600200"/>
                <a:ext cx="2846613" cy="67685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a:rPr>
                        <m:t>𝑧</m:t>
                      </m:r>
                      <m:r>
                        <a:rPr lang="en-US" sz="2000" b="0" i="1" smtClean="0">
                          <a:latin typeface="Cambria Math"/>
                        </a:rPr>
                        <m:t>= </m:t>
                      </m:r>
                      <m:f>
                        <m:fPr>
                          <m:ctrlPr>
                            <a:rPr lang="en-US" sz="2000" b="0" i="1" smtClean="0">
                              <a:latin typeface="Cambria Math" charset="0"/>
                            </a:rPr>
                          </m:ctrlPr>
                        </m:fPr>
                        <m:num>
                          <m:r>
                            <a:rPr lang="en-US" sz="2000" b="0" i="1" smtClean="0">
                              <a:latin typeface="Cambria Math"/>
                            </a:rPr>
                            <m:t>.765 − .75</m:t>
                          </m:r>
                        </m:num>
                        <m:den>
                          <m:r>
                            <a:rPr lang="en-US" sz="2000" b="0" i="1" smtClean="0">
                              <a:latin typeface="Cambria Math"/>
                            </a:rPr>
                            <m:t>.01157275</m:t>
                          </m:r>
                        </m:den>
                      </m:f>
                      <m:r>
                        <a:rPr lang="en-US" sz="2000" b="0" i="1" smtClean="0">
                          <a:latin typeface="Cambria Math"/>
                        </a:rPr>
                        <m:t>=1.30</m:t>
                      </m:r>
                    </m:oMath>
                  </m:oMathPara>
                </a14:m>
                <a:endParaRPr lang="en-US" sz="2000" dirty="0"/>
              </a:p>
            </p:txBody>
          </p:sp>
        </mc:Choice>
        <mc:Fallback xmlns="" xmlns:mv="urn:schemas-microsoft-com:mac:vml">
          <p:sp>
            <p:nvSpPr>
              <p:cNvPr id="3" name="TextBox 2"/>
              <p:cNvSpPr txBox="1">
                <a:spLocks noRot="1" noChangeAspect="1" noMove="1" noResize="1" noEditPoints="1" noAdjustHandles="1" noChangeArrowheads="1" noChangeShapeType="1" noTextEdit="1"/>
              </p:cNvSpPr>
              <p:nvPr/>
            </p:nvSpPr>
            <p:spPr>
              <a:xfrm>
                <a:off x="3200400" y="1600200"/>
                <a:ext cx="2846613" cy="676852"/>
              </a:xfrm>
              <a:prstGeom prst="rect">
                <a:avLst/>
              </a:prstGeom>
              <a:blipFill rotWithShape="1">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p:cNvSpPr txBox="1"/>
              <p:nvPr/>
            </p:nvSpPr>
            <p:spPr>
              <a:xfrm>
                <a:off x="3249387" y="2667000"/>
                <a:ext cx="2803139" cy="67685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a:rPr>
                        <m:t>𝑧</m:t>
                      </m:r>
                      <m:r>
                        <a:rPr lang="en-US" sz="2000" b="0" i="1" smtClean="0">
                          <a:latin typeface="Cambria Math"/>
                        </a:rPr>
                        <m:t>= </m:t>
                      </m:r>
                      <m:f>
                        <m:fPr>
                          <m:ctrlPr>
                            <a:rPr lang="en-US" sz="2000" b="0" i="1" smtClean="0">
                              <a:latin typeface="Cambria Math" charset="0"/>
                            </a:rPr>
                          </m:ctrlPr>
                        </m:fPr>
                        <m:num>
                          <m:r>
                            <a:rPr lang="en-US" sz="2000" b="0" i="1" smtClean="0">
                              <a:latin typeface="Cambria Math"/>
                            </a:rPr>
                            <m:t>.78 − .75</m:t>
                          </m:r>
                        </m:num>
                        <m:den>
                          <m:r>
                            <a:rPr lang="en-US" sz="2000" b="0" i="1" smtClean="0">
                              <a:latin typeface="Cambria Math"/>
                            </a:rPr>
                            <m:t>.01157275</m:t>
                          </m:r>
                        </m:den>
                      </m:f>
                      <m:r>
                        <a:rPr lang="en-US" sz="2000" b="0" i="1" smtClean="0">
                          <a:latin typeface="Cambria Math"/>
                        </a:rPr>
                        <m:t>=2.59</m:t>
                      </m:r>
                    </m:oMath>
                  </m:oMathPara>
                </a14:m>
                <a:endParaRPr lang="en-US" sz="2000" dirty="0"/>
              </a:p>
            </p:txBody>
          </p:sp>
        </mc:Choice>
        <mc:Fallback xmlns="" xmlns:mv="urn:schemas-microsoft-com:mac:vml">
          <p:sp>
            <p:nvSpPr>
              <p:cNvPr id="13" name="TextBox 12"/>
              <p:cNvSpPr txBox="1">
                <a:spLocks noRot="1" noChangeAspect="1" noMove="1" noResize="1" noEditPoints="1" noAdjustHandles="1" noChangeArrowheads="1" noChangeShapeType="1" noTextEdit="1"/>
              </p:cNvSpPr>
              <p:nvPr/>
            </p:nvSpPr>
            <p:spPr>
              <a:xfrm>
                <a:off x="3249387" y="2667000"/>
                <a:ext cx="2803139" cy="676852"/>
              </a:xfrm>
              <a:prstGeom prst="rect">
                <a:avLst/>
              </a:prstGeom>
              <a:blipFill rotWithShape="1">
                <a:blip r:embed="rId8"/>
                <a:stretch>
                  <a:fillRect/>
                </a:stretch>
              </a:blipFill>
            </p:spPr>
            <p:txBody>
              <a:bodyPr/>
              <a:lstStyle/>
              <a:p>
                <a:r>
                  <a:rPr lang="en-US">
                    <a:noFill/>
                  </a:rPr>
                  <a:t> </a:t>
                </a:r>
              </a:p>
            </p:txBody>
          </p:sp>
        </mc:Fallback>
      </mc:AlternateContent>
      <p:sp>
        <p:nvSpPr>
          <p:cNvPr id="11" name="Text Box 4"/>
          <p:cNvSpPr txBox="1">
            <a:spLocks noChangeArrowheads="1"/>
          </p:cNvSpPr>
          <p:nvPr/>
        </p:nvSpPr>
        <p:spPr bwMode="auto">
          <a:xfrm>
            <a:off x="4049486" y="6222547"/>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title"/>
          </p:nvPr>
        </p:nvSpPr>
        <p:spPr/>
        <p:txBody>
          <a:bodyPr/>
          <a:lstStyle/>
          <a:p>
            <a:pPr eaLnBrk="1" hangingPunct="1"/>
            <a:r>
              <a:rPr lang="en-US" sz="2800" dirty="0" smtClean="0"/>
              <a:t>Example 7-10: Solution</a:t>
            </a:r>
            <a:endParaRPr lang="en-US" sz="4000" dirty="0" smtClean="0"/>
          </a:p>
        </p:txBody>
      </p:sp>
      <p:sp>
        <p:nvSpPr>
          <p:cNvPr id="103427" name="Rectangle 3"/>
          <p:cNvSpPr>
            <a:spLocks noGrp="1" noChangeArrowheads="1"/>
          </p:cNvSpPr>
          <p:nvPr>
            <p:ph type="body" sz="half" idx="1"/>
          </p:nvPr>
        </p:nvSpPr>
        <p:spPr>
          <a:xfrm>
            <a:off x="533400" y="1524001"/>
            <a:ext cx="7848600" cy="2819400"/>
          </a:xfrm>
        </p:spPr>
        <p:txBody>
          <a:bodyPr/>
          <a:lstStyle/>
          <a:p>
            <a:pPr marL="0" indent="0" eaLnBrk="1" hangingPunct="1">
              <a:buNone/>
            </a:pPr>
            <a:r>
              <a:rPr lang="en-US" sz="2000" dirty="0" smtClean="0"/>
              <a:t>Thus, the probability that      is between .765 and .78 is given by the area under the standard normal curve between z = 1.30 and z = 2.59. This area is shown in Figure 7.17. The required probability is </a:t>
            </a:r>
          </a:p>
          <a:p>
            <a:pPr marL="0" indent="0" eaLnBrk="1" hangingPunct="1">
              <a:buNone/>
            </a:pPr>
            <a:endParaRPr lang="en-US" sz="2000" dirty="0"/>
          </a:p>
          <a:p>
            <a:pPr marL="0" indent="0" eaLnBrk="1" hangingPunct="1">
              <a:lnSpc>
                <a:spcPct val="80000"/>
              </a:lnSpc>
              <a:buNone/>
            </a:pPr>
            <a:r>
              <a:rPr lang="en-US" sz="2000" i="1" dirty="0" smtClean="0"/>
              <a:t>P</a:t>
            </a:r>
            <a:r>
              <a:rPr lang="en-US" sz="2000" dirty="0"/>
              <a:t>(.765 &lt;     &lt; .78) = </a:t>
            </a:r>
            <a:r>
              <a:rPr lang="en-US" sz="2000" i="1" dirty="0"/>
              <a:t>P</a:t>
            </a:r>
            <a:r>
              <a:rPr lang="en-US" sz="2000" dirty="0"/>
              <a:t>(1.30 &lt; </a:t>
            </a:r>
            <a:r>
              <a:rPr lang="en-US" sz="2000" i="1" dirty="0">
                <a:latin typeface="Times New Roman" charset="0"/>
              </a:rPr>
              <a:t>z</a:t>
            </a:r>
            <a:r>
              <a:rPr lang="en-US" sz="2000" dirty="0"/>
              <a:t> &lt; 2.59) </a:t>
            </a:r>
          </a:p>
          <a:p>
            <a:pPr eaLnBrk="1" hangingPunct="1">
              <a:lnSpc>
                <a:spcPct val="80000"/>
              </a:lnSpc>
              <a:buNone/>
            </a:pPr>
            <a:r>
              <a:rPr lang="en-US" sz="2000" dirty="0"/>
              <a:t>                           </a:t>
            </a:r>
            <a:r>
              <a:rPr lang="en-US" sz="2000" dirty="0" smtClean="0"/>
              <a:t>  </a:t>
            </a:r>
            <a:r>
              <a:rPr lang="en-US" sz="2000" dirty="0"/>
              <a:t>= .9952 - .9032 </a:t>
            </a:r>
          </a:p>
          <a:p>
            <a:pPr eaLnBrk="1" hangingPunct="1">
              <a:lnSpc>
                <a:spcPct val="80000"/>
              </a:lnSpc>
              <a:buNone/>
            </a:pPr>
            <a:r>
              <a:rPr lang="en-US" sz="2000" dirty="0"/>
              <a:t>                            </a:t>
            </a:r>
            <a:r>
              <a:rPr lang="en-US" sz="2000" dirty="0" smtClean="0"/>
              <a:t> </a:t>
            </a:r>
            <a:r>
              <a:rPr lang="en-US" sz="2000" dirty="0"/>
              <a:t>= </a:t>
            </a:r>
            <a:r>
              <a:rPr lang="en-US" sz="2000" b="1" dirty="0"/>
              <a:t>.0920</a:t>
            </a:r>
          </a:p>
          <a:p>
            <a:pPr marL="0" indent="0" eaLnBrk="1" hangingPunct="1">
              <a:buNone/>
            </a:pPr>
            <a:endParaRPr lang="en-US" sz="2000" dirty="0" smtClean="0"/>
          </a:p>
        </p:txBody>
      </p:sp>
      <p:graphicFrame>
        <p:nvGraphicFramePr>
          <p:cNvPr id="2" name="Object 1"/>
          <p:cNvGraphicFramePr>
            <a:graphicFrameLocks noChangeAspect="1"/>
          </p:cNvGraphicFramePr>
          <p:nvPr>
            <p:extLst>
              <p:ext uri="{D42A27DB-BD31-4B8C-83A1-F6EECF244321}">
                <p14:modId xmlns:p14="http://schemas.microsoft.com/office/powerpoint/2010/main" val="478253652"/>
              </p:ext>
            </p:extLst>
          </p:nvPr>
        </p:nvGraphicFramePr>
        <p:xfrm>
          <a:off x="4003675" y="1447800"/>
          <a:ext cx="339725" cy="454025"/>
        </p:xfrm>
        <a:graphic>
          <a:graphicData uri="http://schemas.openxmlformats.org/presentationml/2006/ole">
            <mc:AlternateContent xmlns:mc="http://schemas.openxmlformats.org/markup-compatibility/2006">
              <mc:Choice xmlns:v="urn:schemas-microsoft-com:vml" Requires="v">
                <p:oleObj spid="_x0000_s103457" name="Equation" r:id="rId3" imgW="152280" imgH="203040" progId="Equation.3">
                  <p:embed/>
                </p:oleObj>
              </mc:Choice>
              <mc:Fallback>
                <p:oleObj name="Equation" r:id="rId3" imgW="152280" imgH="203040" progId="Equation.3">
                  <p:embed/>
                  <p:pic>
                    <p:nvPicPr>
                      <p:cNvPr id="0" name="Picture 2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03675" y="1447800"/>
                        <a:ext cx="339725"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pic>
                </p:oleObj>
              </mc:Fallback>
            </mc:AlternateContent>
          </a:graphicData>
        </a:graphic>
      </p:graphicFrame>
      <p:sp>
        <p:nvSpPr>
          <p:cNvPr id="6" name="Text Box 4"/>
          <p:cNvSpPr txBox="1">
            <a:spLocks noChangeArrowheads="1"/>
          </p:cNvSpPr>
          <p:nvPr/>
        </p:nvSpPr>
        <p:spPr bwMode="auto">
          <a:xfrm>
            <a:off x="4049486" y="6222547"/>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graphicFrame>
        <p:nvGraphicFramePr>
          <p:cNvPr id="3" name="Object 2"/>
          <p:cNvGraphicFramePr>
            <a:graphicFrameLocks noChangeAspect="1"/>
          </p:cNvGraphicFramePr>
          <p:nvPr>
            <p:extLst>
              <p:ext uri="{D42A27DB-BD31-4B8C-83A1-F6EECF244321}">
                <p14:modId xmlns:p14="http://schemas.microsoft.com/office/powerpoint/2010/main" val="1535395444"/>
              </p:ext>
            </p:extLst>
          </p:nvPr>
        </p:nvGraphicFramePr>
        <p:xfrm>
          <a:off x="1828800" y="3067456"/>
          <a:ext cx="339725" cy="454025"/>
        </p:xfrm>
        <a:graphic>
          <a:graphicData uri="http://schemas.openxmlformats.org/presentationml/2006/ole">
            <mc:AlternateContent xmlns:mc="http://schemas.openxmlformats.org/markup-compatibility/2006">
              <mc:Choice xmlns:v="urn:schemas-microsoft-com:vml" Requires="v">
                <p:oleObj spid="_x0000_s103458" name="Equation" r:id="rId5" imgW="152280" imgH="203040" progId="Equation.3">
                  <p:embed/>
                </p:oleObj>
              </mc:Choice>
              <mc:Fallback>
                <p:oleObj name="Equation" r:id="rId5" imgW="152280" imgH="203040" progId="Equation.3">
                  <p:embed/>
                  <p:pic>
                    <p:nvPicPr>
                      <p:cNvPr id="0" name="Picture 2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8800" y="3067456"/>
                        <a:ext cx="339725"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Rectangle 2"/>
          <p:cNvSpPr>
            <a:spLocks noGrp="1" noChangeArrowheads="1"/>
          </p:cNvSpPr>
          <p:nvPr>
            <p:ph type="title"/>
          </p:nvPr>
        </p:nvSpPr>
        <p:spPr/>
        <p:txBody>
          <a:bodyPr/>
          <a:lstStyle/>
          <a:p>
            <a:pPr eaLnBrk="1" hangingPunct="1"/>
            <a:r>
              <a:rPr lang="en-US" sz="2800" dirty="0" smtClean="0"/>
              <a:t>Figure 7.17</a:t>
            </a:r>
          </a:p>
        </p:txBody>
      </p:sp>
      <mc:AlternateContent xmlns:mc="http://schemas.openxmlformats.org/markup-compatibility/2006" xmlns:a14="http://schemas.microsoft.com/office/drawing/2010/main">
        <mc:Choice Requires="a14">
          <p:sp>
            <p:nvSpPr>
              <p:cNvPr id="7" name="TextBox 6"/>
              <p:cNvSpPr txBox="1"/>
              <p:nvPr/>
            </p:nvSpPr>
            <p:spPr>
              <a:xfrm>
                <a:off x="2286000" y="916632"/>
                <a:ext cx="3048000"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sz="2400" b="0" i="0" smtClean="0">
                          <a:latin typeface="Cambria Math"/>
                          <a:ea typeface="Cambria Math"/>
                        </a:rPr>
                        <m:t>P</m:t>
                      </m:r>
                      <m:r>
                        <a:rPr lang="en-US" sz="2400" b="0" i="1" smtClean="0">
                          <a:latin typeface="Cambria Math"/>
                          <a:ea typeface="Cambria Math"/>
                        </a:rPr>
                        <m:t>(.765&lt;</m:t>
                      </m:r>
                      <m:acc>
                        <m:accPr>
                          <m:chr m:val="̂"/>
                          <m:ctrlPr>
                            <a:rPr lang="en-US" sz="2400" b="0" i="1" smtClean="0">
                              <a:latin typeface="Cambria Math" charset="0"/>
                              <a:ea typeface="Cambria Math"/>
                            </a:rPr>
                          </m:ctrlPr>
                        </m:accPr>
                        <m:e>
                          <m:r>
                            <a:rPr lang="en-US" sz="2400" b="0" i="1" smtClean="0">
                              <a:latin typeface="Cambria Math"/>
                              <a:ea typeface="Cambria Math"/>
                            </a:rPr>
                            <m:t>𝑝</m:t>
                          </m:r>
                        </m:e>
                      </m:acc>
                      <m:r>
                        <a:rPr lang="en-US" sz="2400" b="0" i="1" smtClean="0">
                          <a:latin typeface="Cambria Math"/>
                          <a:ea typeface="Cambria Math"/>
                        </a:rPr>
                        <m:t>&lt; .78)</m:t>
                      </m:r>
                    </m:oMath>
                  </m:oMathPara>
                </a14:m>
                <a:endParaRPr lang="en-US" sz="2400" b="0" i="1" dirty="0" smtClean="0">
                  <a:latin typeface="Cambria Math"/>
                  <a:ea typeface="Cambria Math"/>
                </a:endParaRPr>
              </a:p>
            </p:txBody>
          </p:sp>
        </mc:Choice>
        <mc:Fallback xmlns="" xmlns:mv="urn:schemas-microsoft-com:mac:vml">
          <p:sp>
            <p:nvSpPr>
              <p:cNvPr id="7" name="TextBox 6"/>
              <p:cNvSpPr txBox="1">
                <a:spLocks noRot="1" noChangeAspect="1" noMove="1" noResize="1" noEditPoints="1" noAdjustHandles="1" noChangeArrowheads="1" noChangeShapeType="1" noTextEdit="1"/>
              </p:cNvSpPr>
              <p:nvPr/>
            </p:nvSpPr>
            <p:spPr>
              <a:xfrm>
                <a:off x="2286000" y="916632"/>
                <a:ext cx="3048000" cy="461665"/>
              </a:xfrm>
              <a:prstGeom prst="rect">
                <a:avLst/>
              </a:prstGeom>
              <a:blipFill rotWithShape="1">
                <a:blip r:embed="rId2"/>
                <a:stretch>
                  <a:fillRect t="-1316" b="-19737"/>
                </a:stretch>
              </a:blipFill>
            </p:spPr>
            <p:txBody>
              <a:bodyPr/>
              <a:lstStyle/>
              <a:p>
                <a:r>
                  <a:rPr lang="en-US">
                    <a:noFill/>
                  </a:rPr>
                  <a:t> </a:t>
                </a:r>
              </a:p>
            </p:txBody>
          </p:sp>
        </mc:Fallback>
      </mc:AlternateContent>
      <p:sp>
        <p:nvSpPr>
          <p:cNvPr id="8" name="Text Box 4"/>
          <p:cNvSpPr txBox="1">
            <a:spLocks noChangeArrowheads="1"/>
          </p:cNvSpPr>
          <p:nvPr/>
        </p:nvSpPr>
        <p:spPr bwMode="auto">
          <a:xfrm>
            <a:off x="4049486" y="6222547"/>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5969" y="1819050"/>
            <a:ext cx="5992062" cy="3219900"/>
          </a:xfrm>
          <a:prstGeom prst="rect">
            <a:avLst/>
          </a:prstGeom>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p:txBody>
          <a:bodyPr/>
          <a:lstStyle/>
          <a:p>
            <a:pPr eaLnBrk="1" hangingPunct="1"/>
            <a:r>
              <a:rPr lang="en-US" sz="2800" dirty="0" smtClean="0"/>
              <a:t>Example 7-11</a:t>
            </a:r>
          </a:p>
        </p:txBody>
      </p:sp>
      <p:sp>
        <p:nvSpPr>
          <p:cNvPr id="104451" name="Rectangle 3"/>
          <p:cNvSpPr>
            <a:spLocks noGrp="1" noChangeArrowheads="1"/>
          </p:cNvSpPr>
          <p:nvPr>
            <p:ph type="body" sz="half" idx="1"/>
          </p:nvPr>
        </p:nvSpPr>
        <p:spPr>
          <a:xfrm>
            <a:off x="152400" y="1524000"/>
            <a:ext cx="8153400" cy="4530725"/>
          </a:xfrm>
        </p:spPr>
        <p:txBody>
          <a:bodyPr/>
          <a:lstStyle/>
          <a:p>
            <a:pPr eaLnBrk="1" hangingPunct="1">
              <a:buFont typeface="Tahoma" charset="0"/>
              <a:buChar char=" "/>
            </a:pPr>
            <a:r>
              <a:rPr lang="en-US" sz="2000" dirty="0" smtClean="0"/>
              <a:t>Maureen Webster, who is running for mayor in a large city, claims that she is favored by 53% of all eligible voters of that city. Assume that this claim is true. What is the probability that in a random sample of 400 registered voters taken from this city, less than 49% will favor Maureen Webster?</a:t>
            </a:r>
          </a:p>
        </p:txBody>
      </p:sp>
      <p:sp>
        <p:nvSpPr>
          <p:cNvPr id="6" name="Text Box 4"/>
          <p:cNvSpPr txBox="1">
            <a:spLocks noChangeArrowheads="1"/>
          </p:cNvSpPr>
          <p:nvPr/>
        </p:nvSpPr>
        <p:spPr bwMode="auto">
          <a:xfrm>
            <a:off x="4049486" y="6222547"/>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Rectangle 2"/>
          <p:cNvSpPr>
            <a:spLocks noGrp="1" noChangeArrowheads="1"/>
          </p:cNvSpPr>
          <p:nvPr>
            <p:ph type="title"/>
          </p:nvPr>
        </p:nvSpPr>
        <p:spPr/>
        <p:txBody>
          <a:bodyPr/>
          <a:lstStyle/>
          <a:p>
            <a:pPr eaLnBrk="1" hangingPunct="1"/>
            <a:r>
              <a:rPr lang="en-US" sz="2800" dirty="0" smtClean="0"/>
              <a:t>Example 7-11: Solution</a:t>
            </a:r>
          </a:p>
        </p:txBody>
      </p:sp>
      <p:sp>
        <p:nvSpPr>
          <p:cNvPr id="64516" name="Rectangle 3"/>
          <p:cNvSpPr>
            <a:spLocks noGrp="1" noChangeArrowheads="1"/>
          </p:cNvSpPr>
          <p:nvPr>
            <p:ph type="body" idx="1"/>
          </p:nvPr>
        </p:nvSpPr>
        <p:spPr>
          <a:xfrm>
            <a:off x="152400" y="1600200"/>
            <a:ext cx="8650288" cy="2362200"/>
          </a:xfrm>
        </p:spPr>
        <p:txBody>
          <a:bodyPr/>
          <a:lstStyle/>
          <a:p>
            <a:pPr eaLnBrk="1" hangingPunct="1">
              <a:buFont typeface="Tahoma" charset="0"/>
              <a:buChar char=" "/>
            </a:pPr>
            <a:r>
              <a:rPr lang="en-US" sz="2000" i="1" dirty="0" smtClean="0">
                <a:latin typeface="Times New Roman" charset="0"/>
              </a:rPr>
              <a:t>n</a:t>
            </a:r>
            <a:r>
              <a:rPr lang="en-US" sz="2000" dirty="0" smtClean="0"/>
              <a:t> =400, </a:t>
            </a:r>
            <a:r>
              <a:rPr lang="en-US" sz="2000" i="1" dirty="0" smtClean="0">
                <a:latin typeface="Times New Roman" charset="0"/>
              </a:rPr>
              <a:t>p</a:t>
            </a:r>
            <a:r>
              <a:rPr lang="en-US" sz="2000" dirty="0" smtClean="0"/>
              <a:t> = .53, and </a:t>
            </a:r>
            <a:r>
              <a:rPr lang="en-US" sz="2000" i="1" dirty="0" smtClean="0">
                <a:latin typeface="Times New Roman" charset="0"/>
              </a:rPr>
              <a:t>q </a:t>
            </a:r>
            <a:r>
              <a:rPr lang="en-US" sz="2000" dirty="0" smtClean="0"/>
              <a:t>= 1 – </a:t>
            </a:r>
            <a:r>
              <a:rPr lang="en-US" sz="2000" i="1" dirty="0" smtClean="0">
                <a:latin typeface="Times New Roman" charset="0"/>
              </a:rPr>
              <a:t>p</a:t>
            </a:r>
            <a:r>
              <a:rPr lang="en-US" sz="2000" dirty="0" smtClean="0"/>
              <a:t> = 1 - .53 = .47</a:t>
            </a:r>
          </a:p>
          <a:p>
            <a:pPr eaLnBrk="1" hangingPunct="1">
              <a:buFont typeface="Tahoma" charset="0"/>
              <a:buChar char=" "/>
            </a:pPr>
            <a:endParaRPr lang="en-US" dirty="0" smtClean="0"/>
          </a:p>
          <a:p>
            <a:pPr eaLnBrk="1" hangingPunct="1">
              <a:buFont typeface="Tahoma" charset="0"/>
              <a:buChar char=" "/>
            </a:pPr>
            <a:endParaRPr lang="en-US" sz="2400" dirty="0" smtClean="0"/>
          </a:p>
          <a:p>
            <a:pPr eaLnBrk="1" hangingPunct="1">
              <a:buFont typeface="Tahoma" charset="0"/>
              <a:buChar char=" "/>
            </a:pPr>
            <a:endParaRPr lang="en-US" sz="2400" dirty="0" smtClean="0"/>
          </a:p>
          <a:p>
            <a:pPr eaLnBrk="1" hangingPunct="1">
              <a:buFont typeface="Tahoma" charset="0"/>
              <a:buChar char=" "/>
            </a:pPr>
            <a:endParaRPr lang="en-US" sz="2400" dirty="0" smtClean="0"/>
          </a:p>
        </p:txBody>
      </p:sp>
      <p:graphicFrame>
        <p:nvGraphicFramePr>
          <p:cNvPr id="64514" name="Object 2"/>
          <p:cNvGraphicFramePr>
            <a:graphicFrameLocks noChangeAspect="1"/>
          </p:cNvGraphicFramePr>
          <p:nvPr>
            <p:extLst>
              <p:ext uri="{D42A27DB-BD31-4B8C-83A1-F6EECF244321}">
                <p14:modId xmlns:p14="http://schemas.microsoft.com/office/powerpoint/2010/main" val="2871032475"/>
              </p:ext>
            </p:extLst>
          </p:nvPr>
        </p:nvGraphicFramePr>
        <p:xfrm>
          <a:off x="609600" y="2209800"/>
          <a:ext cx="6477000" cy="825500"/>
        </p:xfrm>
        <a:graphic>
          <a:graphicData uri="http://schemas.openxmlformats.org/presentationml/2006/ole">
            <mc:AlternateContent xmlns:mc="http://schemas.openxmlformats.org/markup-compatibility/2006">
              <mc:Choice xmlns:v="urn:schemas-microsoft-com:vml" Requires="v">
                <p:oleObj spid="_x0000_s64545" name="Equation" r:id="rId3" imgW="3797280" imgH="444240" progId="">
                  <p:embed/>
                </p:oleObj>
              </mc:Choice>
              <mc:Fallback>
                <p:oleObj name="Equation" r:id="rId3" imgW="3797280" imgH="444240" progId="">
                  <p:embed/>
                  <p:pic>
                    <p:nvPicPr>
                      <p:cNvPr id="0" name="Picture 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2209800"/>
                        <a:ext cx="6477000" cy="825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 Box 4"/>
          <p:cNvSpPr txBox="1">
            <a:spLocks noChangeArrowheads="1"/>
          </p:cNvSpPr>
          <p:nvPr/>
        </p:nvSpPr>
        <p:spPr bwMode="auto">
          <a:xfrm>
            <a:off x="4049486" y="6222547"/>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40" name="Rectangle 2"/>
          <p:cNvSpPr>
            <a:spLocks noGrp="1" noChangeArrowheads="1"/>
          </p:cNvSpPr>
          <p:nvPr>
            <p:ph type="title"/>
          </p:nvPr>
        </p:nvSpPr>
        <p:spPr/>
        <p:txBody>
          <a:bodyPr/>
          <a:lstStyle/>
          <a:p>
            <a:pPr eaLnBrk="1" hangingPunct="1"/>
            <a:r>
              <a:rPr lang="en-US" sz="2800" dirty="0" smtClean="0"/>
              <a:t>Example 7-11: Solution</a:t>
            </a:r>
          </a:p>
        </p:txBody>
      </p:sp>
      <p:sp>
        <p:nvSpPr>
          <p:cNvPr id="65541" name="Rectangle 3"/>
          <p:cNvSpPr>
            <a:spLocks noGrp="1" noChangeArrowheads="1"/>
          </p:cNvSpPr>
          <p:nvPr>
            <p:ph type="body" sz="half" idx="1"/>
          </p:nvPr>
        </p:nvSpPr>
        <p:spPr>
          <a:xfrm>
            <a:off x="457200" y="1600200"/>
            <a:ext cx="8077200" cy="4530725"/>
          </a:xfrm>
        </p:spPr>
        <p:txBody>
          <a:bodyPr/>
          <a:lstStyle/>
          <a:p>
            <a:pPr eaLnBrk="1" hangingPunct="1">
              <a:buFont typeface="Wingdings" charset="2"/>
              <a:buNone/>
            </a:pPr>
            <a:endParaRPr lang="en-US" sz="2400" dirty="0" smtClean="0"/>
          </a:p>
          <a:p>
            <a:pPr eaLnBrk="1" hangingPunct="1"/>
            <a:endParaRPr lang="en-US" sz="3200" dirty="0" smtClean="0"/>
          </a:p>
          <a:p>
            <a:pPr marL="0" indent="0" eaLnBrk="1" hangingPunct="1">
              <a:buNone/>
            </a:pPr>
            <a:endParaRPr lang="en-US" sz="3200" i="1" dirty="0" smtClean="0"/>
          </a:p>
          <a:p>
            <a:pPr marL="0" indent="0" eaLnBrk="1" hangingPunct="1">
              <a:buNone/>
            </a:pPr>
            <a:r>
              <a:rPr lang="en-US" sz="3200" i="1" dirty="0" smtClean="0"/>
              <a:t>  </a:t>
            </a:r>
            <a:r>
              <a:rPr lang="en-US" sz="2000" i="1" dirty="0" smtClean="0"/>
              <a:t>P</a:t>
            </a:r>
            <a:r>
              <a:rPr lang="en-US" sz="2000" dirty="0" smtClean="0"/>
              <a:t>(      &lt; .49) = </a:t>
            </a:r>
            <a:r>
              <a:rPr lang="en-US" sz="2000" i="1" dirty="0" smtClean="0"/>
              <a:t>P</a:t>
            </a:r>
            <a:r>
              <a:rPr lang="en-US" sz="2000" dirty="0" smtClean="0"/>
              <a:t>(</a:t>
            </a:r>
            <a:r>
              <a:rPr lang="en-US" sz="2000" i="1" dirty="0" smtClean="0">
                <a:latin typeface="Times New Roman" charset="0"/>
              </a:rPr>
              <a:t>z</a:t>
            </a:r>
            <a:r>
              <a:rPr lang="en-US" sz="2000" dirty="0" smtClean="0"/>
              <a:t> &lt; -1.60) = </a:t>
            </a:r>
            <a:r>
              <a:rPr lang="en-US" sz="2000" b="1" dirty="0" smtClean="0"/>
              <a:t>.0548</a:t>
            </a:r>
          </a:p>
          <a:p>
            <a:pPr eaLnBrk="1" hangingPunct="1">
              <a:buFont typeface="Wingdings" charset="2"/>
              <a:buNone/>
            </a:pPr>
            <a:endParaRPr lang="en-US" sz="2000" dirty="0" smtClean="0"/>
          </a:p>
          <a:p>
            <a:pPr eaLnBrk="1" hangingPunct="1">
              <a:buFont typeface="Wingdings" charset="2"/>
              <a:buNone/>
            </a:pPr>
            <a:r>
              <a:rPr lang="en-US" sz="2000" dirty="0" smtClean="0"/>
              <a:t>   Hence, the probability that less than 49% of the voters in a random sample of 400 will favor Maureen Webster is .0548.</a:t>
            </a:r>
          </a:p>
        </p:txBody>
      </p:sp>
      <p:graphicFrame>
        <p:nvGraphicFramePr>
          <p:cNvPr id="65538" name="Object 2"/>
          <p:cNvGraphicFramePr>
            <a:graphicFrameLocks noChangeAspect="1"/>
          </p:cNvGraphicFramePr>
          <p:nvPr>
            <p:extLst>
              <p:ext uri="{D42A27DB-BD31-4B8C-83A1-F6EECF244321}">
                <p14:modId xmlns:p14="http://schemas.microsoft.com/office/powerpoint/2010/main" val="1545071455"/>
              </p:ext>
            </p:extLst>
          </p:nvPr>
        </p:nvGraphicFramePr>
        <p:xfrm>
          <a:off x="1219200" y="3285674"/>
          <a:ext cx="386439" cy="515252"/>
        </p:xfrm>
        <a:graphic>
          <a:graphicData uri="http://schemas.openxmlformats.org/presentationml/2006/ole">
            <mc:AlternateContent xmlns:mc="http://schemas.openxmlformats.org/markup-compatibility/2006">
              <mc:Choice xmlns:v="urn:schemas-microsoft-com:vml" Requires="v">
                <p:oleObj spid="_x0000_s65595" name="Equation" r:id="rId3" imgW="152280" imgH="203040" progId="Equation.3">
                  <p:embed/>
                </p:oleObj>
              </mc:Choice>
              <mc:Fallback>
                <p:oleObj name="Equation" r:id="rId3" imgW="152280" imgH="203040" progId="Equation.3">
                  <p:embed/>
                  <p:pic>
                    <p:nvPicPr>
                      <p:cNvPr id="0" name="Picture 5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9200" y="3285674"/>
                        <a:ext cx="386439" cy="515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pic>
                </p:oleObj>
              </mc:Fallback>
            </mc:AlternateContent>
          </a:graphicData>
        </a:graphic>
      </p:graphicFrame>
      <p:graphicFrame>
        <p:nvGraphicFramePr>
          <p:cNvPr id="65539" name="Object 3"/>
          <p:cNvGraphicFramePr>
            <a:graphicFrameLocks noChangeAspect="1"/>
          </p:cNvGraphicFramePr>
          <p:nvPr>
            <p:extLst>
              <p:ext uri="{D42A27DB-BD31-4B8C-83A1-F6EECF244321}">
                <p14:modId xmlns:p14="http://schemas.microsoft.com/office/powerpoint/2010/main" val="3235811987"/>
              </p:ext>
            </p:extLst>
          </p:nvPr>
        </p:nvGraphicFramePr>
        <p:xfrm>
          <a:off x="1524000" y="1676400"/>
          <a:ext cx="3429000" cy="800100"/>
        </p:xfrm>
        <a:graphic>
          <a:graphicData uri="http://schemas.openxmlformats.org/presentationml/2006/ole">
            <mc:AlternateContent xmlns:mc="http://schemas.openxmlformats.org/markup-compatibility/2006">
              <mc:Choice xmlns:v="urn:schemas-microsoft-com:vml" Requires="v">
                <p:oleObj spid="_x0000_s65596" name="Equation" r:id="rId5" imgW="1587240" imgH="393480" progId="">
                  <p:embed/>
                </p:oleObj>
              </mc:Choice>
              <mc:Fallback>
                <p:oleObj name="Equation" r:id="rId5" imgW="1587240" imgH="393480" progId="">
                  <p:embed/>
                  <p:pic>
                    <p:nvPicPr>
                      <p:cNvPr id="0" name="Picture 5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4000" y="1676400"/>
                        <a:ext cx="3429000" cy="800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Text Box 4"/>
          <p:cNvSpPr txBox="1">
            <a:spLocks noChangeArrowheads="1"/>
          </p:cNvSpPr>
          <p:nvPr/>
        </p:nvSpPr>
        <p:spPr bwMode="auto">
          <a:xfrm>
            <a:off x="4049486" y="6222547"/>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Rectangle 2"/>
          <p:cNvSpPr>
            <a:spLocks noGrp="1" noChangeArrowheads="1"/>
          </p:cNvSpPr>
          <p:nvPr>
            <p:ph type="title"/>
          </p:nvPr>
        </p:nvSpPr>
        <p:spPr/>
        <p:txBody>
          <a:bodyPr/>
          <a:lstStyle/>
          <a:p>
            <a:pPr eaLnBrk="1" hangingPunct="1"/>
            <a:r>
              <a:rPr lang="en-US" sz="2800" dirty="0" smtClean="0"/>
              <a:t>Figure 7.18 </a:t>
            </a:r>
          </a:p>
        </p:txBody>
      </p:sp>
      <p:graphicFrame>
        <p:nvGraphicFramePr>
          <p:cNvPr id="66562" name="Object 2"/>
          <p:cNvGraphicFramePr>
            <a:graphicFrameLocks noChangeAspect="1"/>
          </p:cNvGraphicFramePr>
          <p:nvPr>
            <p:extLst>
              <p:ext uri="{D42A27DB-BD31-4B8C-83A1-F6EECF244321}">
                <p14:modId xmlns:p14="http://schemas.microsoft.com/office/powerpoint/2010/main" val="1331195129"/>
              </p:ext>
            </p:extLst>
          </p:nvPr>
        </p:nvGraphicFramePr>
        <p:xfrm>
          <a:off x="2514600" y="914401"/>
          <a:ext cx="1764935" cy="457200"/>
        </p:xfrm>
        <a:graphic>
          <a:graphicData uri="http://schemas.openxmlformats.org/presentationml/2006/ole">
            <mc:AlternateContent xmlns:mc="http://schemas.openxmlformats.org/markup-compatibility/2006">
              <mc:Choice xmlns:v="urn:schemas-microsoft-com:vml" Requires="v">
                <p:oleObj spid="_x0000_s66593" name="Equation" r:id="rId3" imgW="736560" imgH="215640" progId="">
                  <p:embed/>
                </p:oleObj>
              </mc:Choice>
              <mc:Fallback>
                <p:oleObj name="Equation" r:id="rId3" imgW="736560" imgH="215640" progId="">
                  <p:embed/>
                  <p:pic>
                    <p:nvPicPr>
                      <p:cNvPr id="0" name="Picture 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4600" y="914401"/>
                        <a:ext cx="1764935"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 Box 4"/>
          <p:cNvSpPr txBox="1">
            <a:spLocks noChangeArrowheads="1"/>
          </p:cNvSpPr>
          <p:nvPr/>
        </p:nvSpPr>
        <p:spPr bwMode="auto">
          <a:xfrm>
            <a:off x="4049486" y="6222547"/>
            <a:ext cx="47815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71206" y="1771418"/>
            <a:ext cx="6001588" cy="3315163"/>
          </a:xfrm>
          <a:prstGeom prst="rect">
            <a:avLst/>
          </a:prstGeom>
        </p:spPr>
      </p:pic>
    </p:spTree>
  </p:cSld>
  <p:clrMapOvr>
    <a:masterClrMapping/>
  </p:clrMapOvr>
</p:sld>
</file>

<file path=ppt/theme/theme1.xml><?xml version="1.0" encoding="utf-8"?>
<a:theme xmlns:a="http://schemas.openxmlformats.org/drawingml/2006/main" name="Level">
  <a:themeElements>
    <a:clrScheme name="Custom 20">
      <a:dk1>
        <a:srgbClr val="000000"/>
      </a:dk1>
      <a:lt1>
        <a:srgbClr val="FFFFFF"/>
      </a:lt1>
      <a:dk2>
        <a:srgbClr val="005392"/>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Level">
      <a:majorFont>
        <a:latin typeface="Garamond"/>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lnDef>
  </a:objectDefaults>
  <a:extraClrSchemeLst>
    <a:extraClrScheme>
      <a:clrScheme name="Level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Level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Level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Level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Level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Level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emplate>Level</Template>
  <TotalTime>6747</TotalTime>
  <Words>5385</Words>
  <Application>Microsoft Macintosh PowerPoint</Application>
  <PresentationFormat>On-screen Show (4:3)</PresentationFormat>
  <Paragraphs>477</Paragraphs>
  <Slides>99</Slides>
  <Notes>0</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99</vt:i4>
      </vt:variant>
    </vt:vector>
  </HeadingPairs>
  <TitlesOfParts>
    <vt:vector size="110" baseType="lpstr">
      <vt:lpstr>Cambria Math</vt:lpstr>
      <vt:lpstr>Garamond</vt:lpstr>
      <vt:lpstr>Mathematica1</vt:lpstr>
      <vt:lpstr>ＭＳ Ｐゴシック</vt:lpstr>
      <vt:lpstr>Tahoma</vt:lpstr>
      <vt:lpstr>Times New Roman</vt:lpstr>
      <vt:lpstr>Verdana</vt:lpstr>
      <vt:lpstr>Wingdings</vt:lpstr>
      <vt:lpstr>Arial</vt:lpstr>
      <vt:lpstr>Level</vt:lpstr>
      <vt:lpstr>Equation</vt:lpstr>
      <vt:lpstr>CHAPTER 7</vt:lpstr>
      <vt:lpstr>Exam I Statistics</vt:lpstr>
      <vt:lpstr>Opening Example</vt:lpstr>
      <vt:lpstr>SAMPLING DISTRIBUTION, SAMPLING ERROR, AND NONSAMPLING ERRORS</vt:lpstr>
      <vt:lpstr>Population Distribution</vt:lpstr>
      <vt:lpstr>Population Distribution</vt:lpstr>
      <vt:lpstr>Table 7.1 Population Frequency and Relative Frequency Distributions</vt:lpstr>
      <vt:lpstr>Table 7.2 Population Probability Distribution</vt:lpstr>
      <vt:lpstr>Sampling Distribution </vt:lpstr>
      <vt:lpstr>Sampling Distribution</vt:lpstr>
      <vt:lpstr>Sampling Distribution</vt:lpstr>
      <vt:lpstr>Table 7.3 All Possible Samples and Their Means When the Sample Size Is 3</vt:lpstr>
      <vt:lpstr>Table 7.4 Frequency and Relative Frequency Distributions of       When the Sample Size Is 3</vt:lpstr>
      <vt:lpstr>Table 7.5 Sampling Distribution of      When the Sample Size Is 3</vt:lpstr>
      <vt:lpstr>Sampling Error and Nonsampling Errors</vt:lpstr>
      <vt:lpstr>Sampling Error and Nonsampling Errors</vt:lpstr>
      <vt:lpstr>Reasons for the Occurrence of Nonsampling Errors</vt:lpstr>
      <vt:lpstr>Example 7-1</vt:lpstr>
      <vt:lpstr>Example 7-1: Solution</vt:lpstr>
      <vt:lpstr>Sampling Error and Nonsampling Errors</vt:lpstr>
      <vt:lpstr>Sampling Error and Nonsampling Errors</vt:lpstr>
      <vt:lpstr>Sampling Error and Nonsampling Errors</vt:lpstr>
      <vt:lpstr>Figure 7.1 Sampling and nonsampling errors.</vt:lpstr>
      <vt:lpstr>MEAN AND STANDARD DEVIATION OF x</vt:lpstr>
      <vt:lpstr>MEAN AND STANDARD DEVIATION OF x</vt:lpstr>
      <vt:lpstr>MEAN AND STANDARD DEVIATION OF x</vt:lpstr>
      <vt:lpstr>MEAN AND STANDARD DEVIATION OF</vt:lpstr>
      <vt:lpstr>Two Important Observations</vt:lpstr>
      <vt:lpstr>Example 7-2</vt:lpstr>
      <vt:lpstr>Example 7-2: Solution</vt:lpstr>
      <vt:lpstr>Example 7-2: Solution</vt:lpstr>
      <vt:lpstr>Example 7-2: Solution</vt:lpstr>
      <vt:lpstr>SHAPE OF THE SAMPLING DISTRIBUTION OF x </vt:lpstr>
      <vt:lpstr>Sampling From a Normally Distributed Population</vt:lpstr>
      <vt:lpstr>Figure 7.2 Population distribution and sampling        distributions of     .</vt:lpstr>
      <vt:lpstr>Figure 7.2 Population distribution and sampling        distributions of      .</vt:lpstr>
      <vt:lpstr>Example 7-3</vt:lpstr>
      <vt:lpstr>Example 7-3: Solution</vt:lpstr>
      <vt:lpstr>Figure 7.3</vt:lpstr>
      <vt:lpstr>Example 7-3: Solution</vt:lpstr>
      <vt:lpstr>Figure 7.4</vt:lpstr>
      <vt:lpstr>Example 7-3: Solution</vt:lpstr>
      <vt:lpstr>Figure 7.5</vt:lpstr>
      <vt:lpstr>Sampling From a Population That Is Not Normally Distributed</vt:lpstr>
      <vt:lpstr>Figure 7.6 Population distribution and sampling        distributions of      .</vt:lpstr>
      <vt:lpstr>Figure 7.6 Population distribution and sampling        distributions of      .</vt:lpstr>
      <vt:lpstr>APPLICATIONS OF THE SAMPLING DISTRIBUTION OF x </vt:lpstr>
      <vt:lpstr>Figure 7.9 </vt:lpstr>
      <vt:lpstr>APPLICATIONS OF THE SAMPLING DISTRIBUTION OF x </vt:lpstr>
      <vt:lpstr>Figure 7.10 </vt:lpstr>
      <vt:lpstr>APPLICATIONS OF THE SAMPLING DISTRIBUTION OF x</vt:lpstr>
      <vt:lpstr>Figure 7.11 </vt:lpstr>
      <vt:lpstr>Example 7-5</vt:lpstr>
      <vt:lpstr>Example 7-5: Solution</vt:lpstr>
      <vt:lpstr>z Value for a Value of  x</vt:lpstr>
      <vt:lpstr>Example 7-5: Solution</vt:lpstr>
      <vt:lpstr>Figure 7.12</vt:lpstr>
      <vt:lpstr>Example 7-6</vt:lpstr>
      <vt:lpstr>Example 7-6</vt:lpstr>
      <vt:lpstr>PowerPoint Presentation</vt:lpstr>
      <vt:lpstr>Example 7-6: Solution</vt:lpstr>
      <vt:lpstr>Figure 7.13 </vt:lpstr>
      <vt:lpstr>Example 7-6: Solution</vt:lpstr>
      <vt:lpstr>Example 7-6: Solution</vt:lpstr>
      <vt:lpstr>Figure 7.14 </vt:lpstr>
      <vt:lpstr>Example 7-6: Solution</vt:lpstr>
      <vt:lpstr>POPULATION AND SAMPLE PROPORTIONS</vt:lpstr>
      <vt:lpstr>POPULATION AND SAMPLE PROPORTIONS</vt:lpstr>
      <vt:lpstr>Example 7-7</vt:lpstr>
      <vt:lpstr>Example 7-7: Solution</vt:lpstr>
      <vt:lpstr>THE SAMPLING DISTRIBUTION OF THE SAMPLE PROPORTION,  </vt:lpstr>
      <vt:lpstr>Sampling Distribution of the Sample Proportion  </vt:lpstr>
      <vt:lpstr>Example 7-8</vt:lpstr>
      <vt:lpstr>Table 7.6 Information on the Five Employees of Boe Consultant Associates</vt:lpstr>
      <vt:lpstr>Example 7-8: Solution</vt:lpstr>
      <vt:lpstr>Example 7-8: Solution</vt:lpstr>
      <vt:lpstr>Table 7.7 All Possible Samples of Size 3 and the Value of       for Each Sample</vt:lpstr>
      <vt:lpstr>Table 7.8 Frequency and Relative Frequency Distribution of      When the Sample Size Is 3</vt:lpstr>
      <vt:lpstr>Table 7.9 Sampling Distribution of      When the Sample Size is 3</vt:lpstr>
      <vt:lpstr>Mean and Standard Deviation of </vt:lpstr>
      <vt:lpstr>Mean and Standard Deviation of</vt:lpstr>
      <vt:lpstr>Mean and Standard Deviation of</vt:lpstr>
      <vt:lpstr>Shape of the Sampling Distribution of </vt:lpstr>
      <vt:lpstr>Example 7-9</vt:lpstr>
      <vt:lpstr>Example 7-9: Solution</vt:lpstr>
      <vt:lpstr>Example 7-9: Solution</vt:lpstr>
      <vt:lpstr>Figure 7.15</vt:lpstr>
      <vt:lpstr>Applications of the Sampling Distribution of</vt:lpstr>
      <vt:lpstr>Example 7-10</vt:lpstr>
      <vt:lpstr>Example 7-10: Solution</vt:lpstr>
      <vt:lpstr>Figure 7.16 </vt:lpstr>
      <vt:lpstr>z Value for a Value of </vt:lpstr>
      <vt:lpstr>Example 7-10: Solution</vt:lpstr>
      <vt:lpstr>Example 7-10: Solution</vt:lpstr>
      <vt:lpstr>Figure 7.17</vt:lpstr>
      <vt:lpstr>Example 7-11</vt:lpstr>
      <vt:lpstr>Example 7-11: Solution</vt:lpstr>
      <vt:lpstr>Example 7-11: Solution</vt:lpstr>
      <vt:lpstr>Figure 7.18 </vt:lpstr>
    </vt:vector>
  </TitlesOfParts>
  <Company>Cal Poly Pomona</Company>
  <LinksUpToDate>false</LinksUpToDate>
  <SharedDoc>false</SharedDoc>
  <HyperlinksChanged>false</HyperlinksChanged>
  <AppVersion>15.0038</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7:</dc:title>
  <dc:creator>hoonkim</dc:creator>
  <cp:lastModifiedBy>Microsoft Office User</cp:lastModifiedBy>
  <cp:revision>83</cp:revision>
  <dcterms:created xsi:type="dcterms:W3CDTF">2014-10-13T23:54:43Z</dcterms:created>
  <dcterms:modified xsi:type="dcterms:W3CDTF">2017-10-26T16:16:37Z</dcterms:modified>
</cp:coreProperties>
</file>