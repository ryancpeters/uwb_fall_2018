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64"/>
  </p:notesMasterIdLst>
  <p:sldIdLst>
    <p:sldId id="375" r:id="rId2"/>
    <p:sldId id="257" r:id="rId3"/>
    <p:sldId id="258" r:id="rId4"/>
    <p:sldId id="259" r:id="rId5"/>
    <p:sldId id="260" r:id="rId6"/>
    <p:sldId id="261" r:id="rId7"/>
    <p:sldId id="262" r:id="rId8"/>
    <p:sldId id="267"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90" r:id="rId22"/>
    <p:sldId id="291" r:id="rId23"/>
    <p:sldId id="292" r:id="rId24"/>
    <p:sldId id="293" r:id="rId25"/>
    <p:sldId id="294" r:id="rId26"/>
    <p:sldId id="295" r:id="rId27"/>
    <p:sldId id="296" r:id="rId28"/>
    <p:sldId id="297" r:id="rId29"/>
    <p:sldId id="367" r:id="rId30"/>
    <p:sldId id="299" r:id="rId31"/>
    <p:sldId id="300" r:id="rId32"/>
    <p:sldId id="301" r:id="rId33"/>
    <p:sldId id="302" r:id="rId34"/>
    <p:sldId id="303" r:id="rId35"/>
    <p:sldId id="304" r:id="rId36"/>
    <p:sldId id="305" r:id="rId37"/>
    <p:sldId id="314" r:id="rId38"/>
    <p:sldId id="315" r:id="rId39"/>
    <p:sldId id="316" r:id="rId40"/>
    <p:sldId id="317" r:id="rId41"/>
    <p:sldId id="318" r:id="rId42"/>
    <p:sldId id="319" r:id="rId43"/>
    <p:sldId id="320" r:id="rId44"/>
    <p:sldId id="321" r:id="rId45"/>
    <p:sldId id="322" r:id="rId46"/>
    <p:sldId id="323" r:id="rId47"/>
    <p:sldId id="324" r:id="rId48"/>
    <p:sldId id="325" r:id="rId49"/>
    <p:sldId id="368" r:id="rId50"/>
    <p:sldId id="334" r:id="rId51"/>
    <p:sldId id="343" r:id="rId52"/>
    <p:sldId id="344" r:id="rId53"/>
    <p:sldId id="345" r:id="rId54"/>
    <p:sldId id="346" r:id="rId55"/>
    <p:sldId id="347" r:id="rId56"/>
    <p:sldId id="348" r:id="rId57"/>
    <p:sldId id="353" r:id="rId58"/>
    <p:sldId id="371" r:id="rId59"/>
    <p:sldId id="372" r:id="rId60"/>
    <p:sldId id="373" r:id="rId61"/>
    <p:sldId id="374" r:id="rId62"/>
    <p:sldId id="370" r:id="rId6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Verdana" charset="0"/>
        <a:ea typeface="ＭＳ Ｐゴシック" charset="-128"/>
        <a:cs typeface="+mn-cs"/>
      </a:defRPr>
    </a:lvl1pPr>
    <a:lvl2pPr marL="457200" algn="l" rtl="0" eaLnBrk="0" fontAlgn="base" hangingPunct="0">
      <a:spcBef>
        <a:spcPct val="0"/>
      </a:spcBef>
      <a:spcAft>
        <a:spcPct val="0"/>
      </a:spcAft>
      <a:defRPr kern="1200">
        <a:solidFill>
          <a:schemeClr val="tx1"/>
        </a:solidFill>
        <a:latin typeface="Verdana" charset="0"/>
        <a:ea typeface="ＭＳ Ｐゴシック" charset="-128"/>
        <a:cs typeface="+mn-cs"/>
      </a:defRPr>
    </a:lvl2pPr>
    <a:lvl3pPr marL="914400" algn="l" rtl="0" eaLnBrk="0" fontAlgn="base" hangingPunct="0">
      <a:spcBef>
        <a:spcPct val="0"/>
      </a:spcBef>
      <a:spcAft>
        <a:spcPct val="0"/>
      </a:spcAft>
      <a:defRPr kern="1200">
        <a:solidFill>
          <a:schemeClr val="tx1"/>
        </a:solidFill>
        <a:latin typeface="Verdana" charset="0"/>
        <a:ea typeface="ＭＳ Ｐゴシック" charset="-128"/>
        <a:cs typeface="+mn-cs"/>
      </a:defRPr>
    </a:lvl3pPr>
    <a:lvl4pPr marL="1371600" algn="l" rtl="0" eaLnBrk="0" fontAlgn="base" hangingPunct="0">
      <a:spcBef>
        <a:spcPct val="0"/>
      </a:spcBef>
      <a:spcAft>
        <a:spcPct val="0"/>
      </a:spcAft>
      <a:defRPr kern="1200">
        <a:solidFill>
          <a:schemeClr val="tx1"/>
        </a:solidFill>
        <a:latin typeface="Verdana" charset="0"/>
        <a:ea typeface="ＭＳ Ｐゴシック" charset="-128"/>
        <a:cs typeface="+mn-cs"/>
      </a:defRPr>
    </a:lvl4pPr>
    <a:lvl5pPr marL="1828800" algn="l" rtl="0" eaLnBrk="0" fontAlgn="base" hangingPunct="0">
      <a:spcBef>
        <a:spcPct val="0"/>
      </a:spcBef>
      <a:spcAft>
        <a:spcPct val="0"/>
      </a:spcAft>
      <a:defRPr kern="1200">
        <a:solidFill>
          <a:schemeClr val="tx1"/>
        </a:solidFill>
        <a:latin typeface="Verdana" charset="0"/>
        <a:ea typeface="ＭＳ Ｐゴシック" charset="-128"/>
        <a:cs typeface="+mn-cs"/>
      </a:defRPr>
    </a:lvl5pPr>
    <a:lvl6pPr marL="2286000" algn="l" defTabSz="914400" rtl="0" eaLnBrk="1" latinLnBrk="0" hangingPunct="1">
      <a:defRPr kern="1200">
        <a:solidFill>
          <a:schemeClr val="tx1"/>
        </a:solidFill>
        <a:latin typeface="Verdana" charset="0"/>
        <a:ea typeface="ＭＳ Ｐゴシック" charset="-128"/>
        <a:cs typeface="+mn-cs"/>
      </a:defRPr>
    </a:lvl6pPr>
    <a:lvl7pPr marL="2743200" algn="l" defTabSz="914400" rtl="0" eaLnBrk="1" latinLnBrk="0" hangingPunct="1">
      <a:defRPr kern="1200">
        <a:solidFill>
          <a:schemeClr val="tx1"/>
        </a:solidFill>
        <a:latin typeface="Verdana" charset="0"/>
        <a:ea typeface="ＭＳ Ｐゴシック" charset="-128"/>
        <a:cs typeface="+mn-cs"/>
      </a:defRPr>
    </a:lvl7pPr>
    <a:lvl8pPr marL="3200400" algn="l" defTabSz="914400" rtl="0" eaLnBrk="1" latinLnBrk="0" hangingPunct="1">
      <a:defRPr kern="1200">
        <a:solidFill>
          <a:schemeClr val="tx1"/>
        </a:solidFill>
        <a:latin typeface="Verdana" charset="0"/>
        <a:ea typeface="ＭＳ Ｐゴシック" charset="-128"/>
        <a:cs typeface="+mn-cs"/>
      </a:defRPr>
    </a:lvl8pPr>
    <a:lvl9pPr marL="3657600" algn="l" defTabSz="914400" rtl="0" eaLnBrk="1" latinLnBrk="0" hangingPunct="1">
      <a:defRPr kern="1200">
        <a:solidFill>
          <a:schemeClr val="tx1"/>
        </a:solidFill>
        <a:latin typeface="Verdana"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4"/>
  </p:normalViewPr>
  <p:slideViewPr>
    <p:cSldViewPr>
      <p:cViewPr>
        <p:scale>
          <a:sx n="100" d="100"/>
          <a:sy n="100" d="100"/>
        </p:scale>
        <p:origin x="2504" y="6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8.wmf"/><Relationship Id="rId2"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endParaRPr lang="en-US"/>
          </a:p>
        </p:txBody>
      </p:sp>
      <p:sp>
        <p:nvSpPr>
          <p:cNvPr id="12595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endParaRPr lang="en-US"/>
          </a:p>
        </p:txBody>
      </p:sp>
      <p:sp>
        <p:nvSpPr>
          <p:cNvPr id="1003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12595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2595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endParaRPr lang="en-US"/>
          </a:p>
        </p:txBody>
      </p:sp>
      <p:sp>
        <p:nvSpPr>
          <p:cNvPr id="12595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fld id="{7105C520-7E6A-4BF5-BE68-B25AC61F95C1}" type="slidenum">
              <a:rPr lang="en-US"/>
              <a:pPr/>
              <a:t>‹#›</a:t>
            </a:fld>
            <a:endParaRPr lang="en-US"/>
          </a:p>
        </p:txBody>
      </p:sp>
    </p:spTree>
    <p:extLst>
      <p:ext uri="{BB962C8B-B14F-4D97-AF65-F5344CB8AC3E}">
        <p14:creationId xmlns:p14="http://schemas.microsoft.com/office/powerpoint/2010/main" val="8866287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w="9525">
              <a:noFill/>
              <a:miter lim="800000"/>
              <a:headEnd/>
              <a:tailEnd/>
            </a:ln>
            <a:effectLst/>
          </p:spPr>
          <p:txBody>
            <a:bodyPr wrap="none" anchor="ctr"/>
            <a:lstStyle/>
            <a:p>
              <a:endParaRPr 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w="9525">
              <a:noFill/>
              <a:miter lim="800000"/>
              <a:headEnd/>
              <a:tailEnd/>
            </a:ln>
            <a:effectLst/>
          </p:spPr>
          <p:txBody>
            <a:bodyPr wrap="none" anchor="ctr"/>
            <a:lstStyle/>
            <a:p>
              <a:endParaRPr 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w="9525">
              <a:noFill/>
              <a:miter lim="800000"/>
              <a:headEnd/>
              <a:tailEnd/>
            </a:ln>
            <a:effectLst/>
          </p:spPr>
          <p:txBody>
            <a:bodyPr wrap="none" anchor="ctr"/>
            <a:lstStyle/>
            <a:p>
              <a:endParaRPr lang="en-US"/>
            </a:p>
          </p:txBody>
        </p:sp>
      </p:grpSp>
      <p:sp>
        <p:nvSpPr>
          <p:cNvPr id="99330"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99331" name="Rectangle 3"/>
          <p:cNvSpPr>
            <a:spLocks noGrp="1" noChangeArrowheads="1"/>
          </p:cNvSpPr>
          <p:nvPr>
            <p:ph type="subTitle" idx="1"/>
          </p:nvPr>
        </p:nvSpPr>
        <p:spPr>
          <a:xfrm>
            <a:off x="1371600" y="3270250"/>
            <a:ext cx="6400800" cy="2209800"/>
          </a:xfrm>
        </p:spPr>
        <p:txBody>
          <a:bodyPr/>
          <a:lstStyle>
            <a:lvl1pPr marL="0" indent="0" algn="ctr">
              <a:buFont typeface="Wingdings"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a:lvl1pPr>
          </a:lstStyle>
          <a:p>
            <a:endParaRPr lang="en-US"/>
          </a:p>
        </p:txBody>
      </p:sp>
      <p:sp>
        <p:nvSpPr>
          <p:cNvPr id="9" name="Rectangle 5"/>
          <p:cNvSpPr>
            <a:spLocks noGrp="1" noChangeArrowheads="1"/>
          </p:cNvSpPr>
          <p:nvPr>
            <p:ph type="ftr" sz="quarter" idx="11"/>
          </p:nvPr>
        </p:nvSpPr>
        <p:spPr/>
        <p:txBody>
          <a:bodyPr/>
          <a:lstStyle>
            <a:lvl1pPr>
              <a:defRPr/>
            </a:lvl1pPr>
          </a:lstStyle>
          <a:p>
            <a:endParaRPr lang="en-US"/>
          </a:p>
        </p:txBody>
      </p:sp>
      <p:sp>
        <p:nvSpPr>
          <p:cNvPr id="10" name="Rectangle 6"/>
          <p:cNvSpPr>
            <a:spLocks noGrp="1" noChangeArrowheads="1"/>
          </p:cNvSpPr>
          <p:nvPr>
            <p:ph type="sldNum" sz="quarter" idx="12"/>
          </p:nvPr>
        </p:nvSpPr>
        <p:spPr/>
        <p:txBody>
          <a:bodyPr/>
          <a:lstStyle>
            <a:lvl1pPr>
              <a:defRPr/>
            </a:lvl1pPr>
          </a:lstStyle>
          <a:p>
            <a:fld id="{C99873A2-E5B7-4098-8504-08EC94756CF5}" type="slidenum">
              <a:rPr lang="en-US"/>
              <a:pPr/>
              <a:t>‹#›</a:t>
            </a:fld>
            <a:endParaRPr lang="en-US"/>
          </a:p>
        </p:txBody>
      </p:sp>
    </p:spTree>
    <p:extLst>
      <p:ext uri="{BB962C8B-B14F-4D97-AF65-F5344CB8AC3E}">
        <p14:creationId xmlns:p14="http://schemas.microsoft.com/office/powerpoint/2010/main" val="3118782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F5EC7753-196D-44ED-8820-5C39D2E72054}" type="slidenum">
              <a:rPr lang="en-US"/>
              <a:pPr/>
              <a:t>‹#›</a:t>
            </a:fld>
            <a:endParaRPr lang="en-US"/>
          </a:p>
        </p:txBody>
      </p:sp>
    </p:spTree>
    <p:extLst>
      <p:ext uri="{BB962C8B-B14F-4D97-AF65-F5344CB8AC3E}">
        <p14:creationId xmlns:p14="http://schemas.microsoft.com/office/powerpoint/2010/main" val="546070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48427C0F-5147-4ACF-AB41-796B59347F75}" type="slidenum">
              <a:rPr lang="en-US"/>
              <a:pPr/>
              <a:t>‹#›</a:t>
            </a:fld>
            <a:endParaRPr lang="en-US"/>
          </a:p>
        </p:txBody>
      </p:sp>
    </p:spTree>
    <p:extLst>
      <p:ext uri="{BB962C8B-B14F-4D97-AF65-F5344CB8AC3E}">
        <p14:creationId xmlns:p14="http://schemas.microsoft.com/office/powerpoint/2010/main" val="3286429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76188CEF-B5FB-4628-9D59-5F796F51FA1B}" type="slidenum">
              <a:rPr lang="en-US"/>
              <a:pPr/>
              <a:t>‹#›</a:t>
            </a:fld>
            <a:endParaRPr lang="en-US"/>
          </a:p>
        </p:txBody>
      </p:sp>
    </p:spTree>
    <p:extLst>
      <p:ext uri="{BB962C8B-B14F-4D97-AF65-F5344CB8AC3E}">
        <p14:creationId xmlns:p14="http://schemas.microsoft.com/office/powerpoint/2010/main" val="547562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987C6134-5C8A-4F50-AF53-D0899E9E60FC}" type="slidenum">
              <a:rPr lang="en-US"/>
              <a:pPr/>
              <a:t>‹#›</a:t>
            </a:fld>
            <a:endParaRPr lang="en-US"/>
          </a:p>
        </p:txBody>
      </p:sp>
    </p:spTree>
    <p:extLst>
      <p:ext uri="{BB962C8B-B14F-4D97-AF65-F5344CB8AC3E}">
        <p14:creationId xmlns:p14="http://schemas.microsoft.com/office/powerpoint/2010/main" val="2417714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F28E2118-E65C-42AC-A447-962F7923E55B}" type="slidenum">
              <a:rPr lang="en-US"/>
              <a:pPr/>
              <a:t>‹#›</a:t>
            </a:fld>
            <a:endParaRPr lang="en-US"/>
          </a:p>
        </p:txBody>
      </p:sp>
    </p:spTree>
    <p:extLst>
      <p:ext uri="{BB962C8B-B14F-4D97-AF65-F5344CB8AC3E}">
        <p14:creationId xmlns:p14="http://schemas.microsoft.com/office/powerpoint/2010/main" val="87134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C390CE2D-0445-408C-9D80-9C39D280DD5D}" type="slidenum">
              <a:rPr lang="en-US"/>
              <a:pPr/>
              <a:t>‹#›</a:t>
            </a:fld>
            <a:endParaRPr lang="en-US"/>
          </a:p>
        </p:txBody>
      </p:sp>
    </p:spTree>
    <p:extLst>
      <p:ext uri="{BB962C8B-B14F-4D97-AF65-F5344CB8AC3E}">
        <p14:creationId xmlns:p14="http://schemas.microsoft.com/office/powerpoint/2010/main" val="314756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AC865534-AB80-4E46-AE55-0711768B46AA}" type="slidenum">
              <a:rPr lang="en-US"/>
              <a:pPr/>
              <a:t>‹#›</a:t>
            </a:fld>
            <a:endParaRPr lang="en-US"/>
          </a:p>
        </p:txBody>
      </p:sp>
    </p:spTree>
    <p:extLst>
      <p:ext uri="{BB962C8B-B14F-4D97-AF65-F5344CB8AC3E}">
        <p14:creationId xmlns:p14="http://schemas.microsoft.com/office/powerpoint/2010/main" val="5216106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9FD675BD-F9A8-4E8F-A5B3-3084528FF589}" type="slidenum">
              <a:rPr lang="en-US"/>
              <a:pPr/>
              <a:t>‹#›</a:t>
            </a:fld>
            <a:endParaRPr lang="en-US"/>
          </a:p>
        </p:txBody>
      </p:sp>
    </p:spTree>
    <p:extLst>
      <p:ext uri="{BB962C8B-B14F-4D97-AF65-F5344CB8AC3E}">
        <p14:creationId xmlns:p14="http://schemas.microsoft.com/office/powerpoint/2010/main" val="1569271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020C472D-9336-4386-B08A-0EBA8C638B33}" type="slidenum">
              <a:rPr lang="en-US"/>
              <a:pPr/>
              <a:t>‹#›</a:t>
            </a:fld>
            <a:endParaRPr lang="en-US"/>
          </a:p>
        </p:txBody>
      </p:sp>
    </p:spTree>
    <p:extLst>
      <p:ext uri="{BB962C8B-B14F-4D97-AF65-F5344CB8AC3E}">
        <p14:creationId xmlns:p14="http://schemas.microsoft.com/office/powerpoint/2010/main" val="3776864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4D4175DF-9B45-4DA5-9080-87674CF80841}" type="slidenum">
              <a:rPr lang="en-US"/>
              <a:pPr/>
              <a:t>‹#›</a:t>
            </a:fld>
            <a:endParaRPr lang="en-US"/>
          </a:p>
        </p:txBody>
      </p:sp>
    </p:spTree>
    <p:extLst>
      <p:ext uri="{BB962C8B-B14F-4D97-AF65-F5344CB8AC3E}">
        <p14:creationId xmlns:p14="http://schemas.microsoft.com/office/powerpoint/2010/main" val="1743002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41763"/>
            <a:ext cx="4038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endParaRPr lang="en-US"/>
          </a:p>
        </p:txBody>
      </p:sp>
      <p:sp>
        <p:nvSpPr>
          <p:cNvPr id="7" name="Rectangle 5"/>
          <p:cNvSpPr>
            <a:spLocks noGrp="1" noChangeArrowheads="1"/>
          </p:cNvSpPr>
          <p:nvPr>
            <p:ph type="ftr" sz="quarter" idx="11"/>
          </p:nvPr>
        </p:nvSpPr>
        <p:spPr>
          <a:ln/>
        </p:spPr>
        <p:txBody>
          <a:bodyPr/>
          <a:lstStyle>
            <a:lvl1pPr>
              <a:defRPr/>
            </a:lvl1pPr>
          </a:lstStyle>
          <a:p>
            <a:endParaRPr lang="en-US"/>
          </a:p>
        </p:txBody>
      </p:sp>
      <p:sp>
        <p:nvSpPr>
          <p:cNvPr id="8" name="Rectangle 6"/>
          <p:cNvSpPr>
            <a:spLocks noGrp="1" noChangeArrowheads="1"/>
          </p:cNvSpPr>
          <p:nvPr>
            <p:ph type="sldNum" sz="quarter" idx="12"/>
          </p:nvPr>
        </p:nvSpPr>
        <p:spPr>
          <a:ln/>
        </p:spPr>
        <p:txBody>
          <a:bodyPr/>
          <a:lstStyle>
            <a:lvl1pPr>
              <a:defRPr/>
            </a:lvl1pPr>
          </a:lstStyle>
          <a:p>
            <a:fld id="{FD0F4028-C322-45D7-BC81-DF9654726C2B}" type="slidenum">
              <a:rPr lang="en-US"/>
              <a:pPr/>
              <a:t>‹#›</a:t>
            </a:fld>
            <a:endParaRPr lang="en-US"/>
          </a:p>
        </p:txBody>
      </p:sp>
    </p:spTree>
    <p:extLst>
      <p:ext uri="{BB962C8B-B14F-4D97-AF65-F5344CB8AC3E}">
        <p14:creationId xmlns:p14="http://schemas.microsoft.com/office/powerpoint/2010/main" val="1619496424"/>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638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8308"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vl1pPr>
          </a:lstStyle>
          <a:p>
            <a:endParaRPr lang="en-US"/>
          </a:p>
        </p:txBody>
      </p:sp>
      <p:sp>
        <p:nvSpPr>
          <p:cNvPr id="9830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vl1pPr>
          </a:lstStyle>
          <a:p>
            <a:endParaRPr lang="en-US"/>
          </a:p>
        </p:txBody>
      </p:sp>
      <p:sp>
        <p:nvSpPr>
          <p:cNvPr id="98310"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fld id="{E1E7B14C-2723-48E4-B420-C1BD013E22A6}" type="slidenum">
              <a:rPr lang="en-US"/>
              <a:pPr/>
              <a:t>‹#›</a:t>
            </a:fld>
            <a:endParaRPr lang="en-US"/>
          </a:p>
        </p:txBody>
      </p:sp>
      <p:sp>
        <p:nvSpPr>
          <p:cNvPr id="98311" name="Rectangle 7"/>
          <p:cNvSpPr>
            <a:spLocks noChangeArrowheads="1"/>
          </p:cNvSpPr>
          <p:nvPr/>
        </p:nvSpPr>
        <p:spPr bwMode="auto">
          <a:xfrm>
            <a:off x="0" y="0"/>
            <a:ext cx="228600" cy="2286000"/>
          </a:xfrm>
          <a:prstGeom prst="rect">
            <a:avLst/>
          </a:prstGeom>
          <a:solidFill>
            <a:schemeClr val="bg2"/>
          </a:solidFill>
          <a:ln w="9525">
            <a:noFill/>
            <a:miter lim="800000"/>
            <a:headEnd/>
            <a:tailEnd/>
          </a:ln>
          <a:effectLst/>
        </p:spPr>
        <p:txBody>
          <a:bodyPr wrap="none" anchor="ctr"/>
          <a:lstStyle/>
          <a:p>
            <a:pPr algn="ctr" eaLnBrk="1" hangingPunct="1"/>
            <a:endParaRPr lang="en-US" sz="2400">
              <a:latin typeface="Times New Roman" charset="0"/>
            </a:endParaRPr>
          </a:p>
        </p:txBody>
      </p:sp>
      <p:sp>
        <p:nvSpPr>
          <p:cNvPr id="98312" name="Line 8"/>
          <p:cNvSpPr>
            <a:spLocks noChangeShapeType="1"/>
          </p:cNvSpPr>
          <p:nvPr/>
        </p:nvSpPr>
        <p:spPr bwMode="auto">
          <a:xfrm>
            <a:off x="457200" y="1447800"/>
            <a:ext cx="8077200" cy="0"/>
          </a:xfrm>
          <a:prstGeom prst="line">
            <a:avLst/>
          </a:prstGeom>
          <a:noFill/>
          <a:ln w="19050">
            <a:solidFill>
              <a:schemeClr val="tx2"/>
            </a:solidFill>
            <a:round/>
            <a:headEnd/>
            <a:tailEnd/>
          </a:ln>
          <a:effectLst/>
        </p:spPr>
        <p:txBody>
          <a:bodyPr/>
          <a:lstStyle/>
          <a:p>
            <a:pPr>
              <a:defRPr/>
            </a:pPr>
            <a:endParaRPr lang="en-US">
              <a:ea typeface="+mn-ea"/>
            </a:endParaRPr>
          </a:p>
        </p:txBody>
      </p:sp>
      <p:sp>
        <p:nvSpPr>
          <p:cNvPr id="98313" name="Rectangle 9"/>
          <p:cNvSpPr>
            <a:spLocks noChangeArrowheads="1"/>
          </p:cNvSpPr>
          <p:nvPr/>
        </p:nvSpPr>
        <p:spPr bwMode="auto">
          <a:xfrm>
            <a:off x="0" y="2286000"/>
            <a:ext cx="228600" cy="2286000"/>
          </a:xfrm>
          <a:prstGeom prst="rect">
            <a:avLst/>
          </a:prstGeom>
          <a:solidFill>
            <a:schemeClr val="accent2"/>
          </a:solidFill>
          <a:ln w="9525">
            <a:noFill/>
            <a:miter lim="800000"/>
            <a:headEnd/>
            <a:tailEnd/>
          </a:ln>
          <a:effectLst/>
        </p:spPr>
        <p:txBody>
          <a:bodyPr wrap="none" anchor="ctr"/>
          <a:lstStyle/>
          <a:p>
            <a:pPr algn="ctr" eaLnBrk="1" hangingPunct="1"/>
            <a:endParaRPr lang="en-US" sz="2400">
              <a:latin typeface="Times New Roman" charset="0"/>
            </a:endParaRPr>
          </a:p>
        </p:txBody>
      </p:sp>
      <p:sp>
        <p:nvSpPr>
          <p:cNvPr id="98314" name="Rectangle 10"/>
          <p:cNvSpPr>
            <a:spLocks noChangeArrowheads="1"/>
          </p:cNvSpPr>
          <p:nvPr/>
        </p:nvSpPr>
        <p:spPr bwMode="auto">
          <a:xfrm>
            <a:off x="0" y="4572000"/>
            <a:ext cx="228600" cy="2286000"/>
          </a:xfrm>
          <a:prstGeom prst="rect">
            <a:avLst/>
          </a:prstGeom>
          <a:solidFill>
            <a:schemeClr val="tx2"/>
          </a:solidFill>
          <a:ln w="9525">
            <a:noFill/>
            <a:miter lim="800000"/>
            <a:headEnd/>
            <a:tailEnd/>
          </a:ln>
          <a:effectLst/>
        </p:spPr>
        <p:txBody>
          <a:bodyPr wrap="none" anchor="ctr"/>
          <a:lstStyle/>
          <a:p>
            <a:pPr algn="ctr" eaLnBrk="1" hangingPunct="1"/>
            <a:endParaRPr lang="en-US" sz="2400">
              <a:latin typeface="Times New Roman" charset="0"/>
            </a:endParaRPr>
          </a:p>
        </p:txBody>
      </p:sp>
    </p:spTree>
  </p:cSld>
  <p:clrMap bg1="lt1" tx1="dk1" bg2="lt2" tx2="dk2" accent1="accent1" accent2="accent2" accent3="accent3" accent4="accent4" accent5="accent5" accent6="accent6" hlink="hlink" folHlink="folHlink"/>
  <p:sldLayoutIdLst>
    <p:sldLayoutId id="2147483687"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iming>
    <p:tnLst>
      <p:par>
        <p:cTn id="1" dur="indefinite" restart="never" nodeType="tmRoot"/>
      </p:par>
    </p:tnLst>
  </p:timing>
  <p:txStyles>
    <p:titleStyle>
      <a:lvl1pPr algn="l" rtl="0" eaLnBrk="0" fontAlgn="base" hangingPunct="0">
        <a:spcBef>
          <a:spcPct val="0"/>
        </a:spcBef>
        <a:spcAft>
          <a:spcPct val="0"/>
        </a:spcAft>
        <a:defRPr sz="4400">
          <a:solidFill>
            <a:schemeClr val="tx2"/>
          </a:solidFill>
          <a:latin typeface="+mj-lt"/>
          <a:ea typeface="ＭＳ Ｐゴシック" charset="-128"/>
          <a:cs typeface="+mj-cs"/>
        </a:defRPr>
      </a:lvl1pPr>
      <a:lvl2pPr algn="l" rtl="0" eaLnBrk="0" fontAlgn="base" hangingPunct="0">
        <a:spcBef>
          <a:spcPct val="0"/>
        </a:spcBef>
        <a:spcAft>
          <a:spcPct val="0"/>
        </a:spcAft>
        <a:defRPr sz="4400">
          <a:solidFill>
            <a:schemeClr val="tx2"/>
          </a:solidFill>
          <a:latin typeface="Garamond" charset="0"/>
          <a:ea typeface="ＭＳ Ｐゴシック" charset="-128"/>
        </a:defRPr>
      </a:lvl2pPr>
      <a:lvl3pPr algn="l" rtl="0" eaLnBrk="0" fontAlgn="base" hangingPunct="0">
        <a:spcBef>
          <a:spcPct val="0"/>
        </a:spcBef>
        <a:spcAft>
          <a:spcPct val="0"/>
        </a:spcAft>
        <a:defRPr sz="4400">
          <a:solidFill>
            <a:schemeClr val="tx2"/>
          </a:solidFill>
          <a:latin typeface="Garamond" charset="0"/>
          <a:ea typeface="ＭＳ Ｐゴシック" charset="-128"/>
        </a:defRPr>
      </a:lvl3pPr>
      <a:lvl4pPr algn="l" rtl="0" eaLnBrk="0" fontAlgn="base" hangingPunct="0">
        <a:spcBef>
          <a:spcPct val="0"/>
        </a:spcBef>
        <a:spcAft>
          <a:spcPct val="0"/>
        </a:spcAft>
        <a:defRPr sz="4400">
          <a:solidFill>
            <a:schemeClr val="tx2"/>
          </a:solidFill>
          <a:latin typeface="Garamond" charset="0"/>
          <a:ea typeface="ＭＳ Ｐゴシック" charset="-128"/>
        </a:defRPr>
      </a:lvl4pPr>
      <a:lvl5pPr algn="l" rtl="0" eaLnBrk="0" fontAlgn="base" hangingPunct="0">
        <a:spcBef>
          <a:spcPct val="0"/>
        </a:spcBef>
        <a:spcAft>
          <a:spcPct val="0"/>
        </a:spcAft>
        <a:defRPr sz="4400">
          <a:solidFill>
            <a:schemeClr val="tx2"/>
          </a:solidFill>
          <a:latin typeface="Garamond" charset="0"/>
          <a:ea typeface="ＭＳ Ｐゴシック" charset="-128"/>
        </a:defRPr>
      </a:lvl5pPr>
      <a:lvl6pPr marL="457200" algn="l" rtl="0" fontAlgn="base">
        <a:spcBef>
          <a:spcPct val="0"/>
        </a:spcBef>
        <a:spcAft>
          <a:spcPct val="0"/>
        </a:spcAft>
        <a:defRPr sz="4400">
          <a:solidFill>
            <a:schemeClr val="tx2"/>
          </a:solidFill>
          <a:latin typeface="Garamond" charset="0"/>
        </a:defRPr>
      </a:lvl6pPr>
      <a:lvl7pPr marL="914400" algn="l" rtl="0" fontAlgn="base">
        <a:spcBef>
          <a:spcPct val="0"/>
        </a:spcBef>
        <a:spcAft>
          <a:spcPct val="0"/>
        </a:spcAft>
        <a:defRPr sz="4400">
          <a:solidFill>
            <a:schemeClr val="tx2"/>
          </a:solidFill>
          <a:latin typeface="Garamond" charset="0"/>
        </a:defRPr>
      </a:lvl7pPr>
      <a:lvl8pPr marL="1371600" algn="l" rtl="0" fontAlgn="base">
        <a:spcBef>
          <a:spcPct val="0"/>
        </a:spcBef>
        <a:spcAft>
          <a:spcPct val="0"/>
        </a:spcAft>
        <a:defRPr sz="4400">
          <a:solidFill>
            <a:schemeClr val="tx2"/>
          </a:solidFill>
          <a:latin typeface="Garamond" charset="0"/>
        </a:defRPr>
      </a:lvl8pPr>
      <a:lvl9pPr marL="1828800" algn="l" rtl="0" fontAlgn="base">
        <a:spcBef>
          <a:spcPct val="0"/>
        </a:spcBef>
        <a:spcAft>
          <a:spcPct val="0"/>
        </a:spcAft>
        <a:defRPr sz="4400">
          <a:solidFill>
            <a:schemeClr val="tx2"/>
          </a:solidFill>
          <a:latin typeface="Garamond" charset="0"/>
        </a:defRPr>
      </a:lvl9pPr>
    </p:titleStyle>
    <p:bodyStyle>
      <a:lvl1pPr marL="342900" indent="-342900" algn="l" rtl="0" eaLnBrk="0" fontAlgn="base" hangingPunct="0">
        <a:spcBef>
          <a:spcPct val="20000"/>
        </a:spcBef>
        <a:spcAft>
          <a:spcPct val="0"/>
        </a:spcAft>
        <a:buClr>
          <a:schemeClr val="bg2"/>
        </a:buClr>
        <a:buSzPct val="75000"/>
        <a:buFont typeface="Wingdings" charset="2"/>
        <a:buChar char="p"/>
        <a:defRPr sz="2800">
          <a:solidFill>
            <a:schemeClr val="tx1"/>
          </a:solidFill>
          <a:latin typeface="+mn-lt"/>
          <a:ea typeface="ＭＳ Ｐゴシック" charset="-128"/>
          <a:cs typeface="+mn-cs"/>
        </a:defRPr>
      </a:lvl1pPr>
      <a:lvl2pPr marL="742950" indent="-285750" algn="l" rtl="0" eaLnBrk="0" fontAlgn="base" hangingPunct="0">
        <a:spcBef>
          <a:spcPct val="20000"/>
        </a:spcBef>
        <a:spcAft>
          <a:spcPct val="0"/>
        </a:spcAft>
        <a:buClr>
          <a:schemeClr val="tx2"/>
        </a:buClr>
        <a:buSzPct val="75000"/>
        <a:buFont typeface="Wingdings" charset="2"/>
        <a:buChar char="n"/>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accent1"/>
        </a:buClr>
        <a:buSzPct val="65000"/>
        <a:buFont typeface="Wingdings" charset="2"/>
        <a:buChar char="p"/>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bg2"/>
        </a:buClr>
        <a:buFont typeface="Wingdings" charset="2"/>
        <a:buChar char="§"/>
        <a:defRPr>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5pPr>
      <a:lvl6pPr marL="25146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6pPr>
      <a:lvl7pPr marL="29718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7pPr>
      <a:lvl8pPr marL="34290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8pPr>
      <a:lvl9pPr marL="38862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6.w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image" Target="../media/image10.wmf"/><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4" Type="http://schemas.openxmlformats.org/officeDocument/2006/relationships/image" Target="../media/image13.wmf"/><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bin"/><Relationship Id="rId4" Type="http://schemas.openxmlformats.org/officeDocument/2006/relationships/image" Target="../media/image16.wmf"/><Relationship Id="rId1" Type="http://schemas.openxmlformats.org/officeDocument/2006/relationships/vmlDrawing" Target="../drawings/vmlDrawing4.vml"/><Relationship Id="rId2"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5.bin"/><Relationship Id="rId4" Type="http://schemas.openxmlformats.org/officeDocument/2006/relationships/image" Target="../media/image20.wmf"/><Relationship Id="rId1" Type="http://schemas.openxmlformats.org/officeDocument/2006/relationships/vmlDrawing" Target="../drawings/vmlDrawing5.vml"/><Relationship Id="rId2"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6.bin"/><Relationship Id="rId4" Type="http://schemas.openxmlformats.org/officeDocument/2006/relationships/image" Target="../media/image24.wmf"/><Relationship Id="rId1" Type="http://schemas.openxmlformats.org/officeDocument/2006/relationships/vmlDrawing" Target="../drawings/vmlDrawing6.vml"/><Relationship Id="rId2"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7.bin"/><Relationship Id="rId4" Type="http://schemas.openxmlformats.org/officeDocument/2006/relationships/image" Target="../media/image26.wmf"/><Relationship Id="rId1" Type="http://schemas.openxmlformats.org/officeDocument/2006/relationships/vmlDrawing" Target="../drawings/vmlDrawing7.vml"/><Relationship Id="rId2"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8.bin"/><Relationship Id="rId4" Type="http://schemas.openxmlformats.org/officeDocument/2006/relationships/image" Target="../media/image27.wmf"/><Relationship Id="rId1" Type="http://schemas.openxmlformats.org/officeDocument/2006/relationships/vmlDrawing" Target="../drawings/vmlDrawing8.vml"/><Relationship Id="rId2"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9.bin"/><Relationship Id="rId4" Type="http://schemas.openxmlformats.org/officeDocument/2006/relationships/image" Target="../media/image28.wmf"/><Relationship Id="rId5" Type="http://schemas.openxmlformats.org/officeDocument/2006/relationships/oleObject" Target="../embeddings/oleObject10.bin"/><Relationship Id="rId6" Type="http://schemas.openxmlformats.org/officeDocument/2006/relationships/image" Target="../media/image29.wmf"/><Relationship Id="rId1" Type="http://schemas.openxmlformats.org/officeDocument/2006/relationships/vmlDrawing" Target="../drawings/vmlDrawing9.vml"/><Relationship Id="rId2"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1.bin"/><Relationship Id="rId4" Type="http://schemas.openxmlformats.org/officeDocument/2006/relationships/image" Target="../media/image30.wmf"/><Relationship Id="rId1" Type="http://schemas.openxmlformats.org/officeDocument/2006/relationships/vmlDrawing" Target="../drawings/vmlDrawing10.vml"/><Relationship Id="rId2"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2.bin"/><Relationship Id="rId4" Type="http://schemas.openxmlformats.org/officeDocument/2006/relationships/image" Target="../media/image32.wmf"/><Relationship Id="rId1" Type="http://schemas.openxmlformats.org/officeDocument/2006/relationships/vmlDrawing" Target="../drawings/vmlDrawing11.vml"/><Relationship Id="rId2"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4" Type="http://schemas.openxmlformats.org/officeDocument/2006/relationships/image" Target="../media/image35.png"/><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4" Type="http://schemas.openxmlformats.org/officeDocument/2006/relationships/image" Target="../media/image36.png"/><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4" Type="http://schemas.openxmlformats.org/officeDocument/2006/relationships/image" Target="../media/image37.png"/><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60.xml.rels><?xml version="1.0" encoding="UTF-8" standalone="yes"?>
<Relationships xmlns="http://schemas.openxmlformats.org/package/2006/relationships"><Relationship Id="rId3" Type="http://schemas.openxmlformats.org/officeDocument/2006/relationships/image" Target="../media/image34.png"/><Relationship Id="rId4" Type="http://schemas.openxmlformats.org/officeDocument/2006/relationships/image" Target="../media/image38.png"/><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4" Type="http://schemas.openxmlformats.org/officeDocument/2006/relationships/image" Target="../media/image39.png"/><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62.xml.rels><?xml version="1.0" encoding="UTF-8" standalone="yes"?>
<Relationships xmlns="http://schemas.openxmlformats.org/package/2006/relationships"><Relationship Id="rId3" Type="http://schemas.openxmlformats.org/officeDocument/2006/relationships/image" Target="../media/image34.png"/><Relationship Id="rId4" Type="http://schemas.openxmlformats.org/officeDocument/2006/relationships/image" Target="../media/image40.png"/><Relationship Id="rId1" Type="http://schemas.openxmlformats.org/officeDocument/2006/relationships/slideLayout" Target="../slideLayouts/slideLayout2.xml"/><Relationship Id="rId2"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 II Review </a:t>
            </a:r>
            <a:r>
              <a:rPr lang="en-US" dirty="0" smtClean="0"/>
              <a:t>Problem</a:t>
            </a:r>
            <a:endParaRPr lang="en-US" dirty="0"/>
          </a:p>
        </p:txBody>
      </p:sp>
      <p:sp>
        <p:nvSpPr>
          <p:cNvPr id="3" name="Content Placeholder 2"/>
          <p:cNvSpPr>
            <a:spLocks noGrp="1"/>
          </p:cNvSpPr>
          <p:nvPr>
            <p:ph idx="1"/>
          </p:nvPr>
        </p:nvSpPr>
        <p:spPr/>
        <p:txBody>
          <a:bodyPr/>
          <a:lstStyle/>
          <a:p>
            <a:pPr marL="0" indent="0">
              <a:buNone/>
            </a:pPr>
            <a:r>
              <a:rPr lang="en-US" dirty="0" smtClean="0"/>
              <a:t>Believe it or not,</a:t>
            </a:r>
            <a:r>
              <a:rPr lang="en-US" dirty="0" smtClean="0"/>
              <a:t> </a:t>
            </a:r>
            <a:r>
              <a:rPr lang="en-US" dirty="0" smtClean="0"/>
              <a:t>the temperatures last night in 9 small towns in Iowa were as follows:</a:t>
            </a:r>
          </a:p>
          <a:p>
            <a:endParaRPr lang="en-US" dirty="0" smtClean="0"/>
          </a:p>
          <a:p>
            <a:pPr marL="0" indent="0">
              <a:buNone/>
            </a:pPr>
            <a:r>
              <a:rPr lang="en-US" dirty="0" smtClean="0"/>
              <a:t>		10, 8, 6, 7, 0, 5, 8, 5, 8</a:t>
            </a:r>
          </a:p>
          <a:p>
            <a:pPr marL="0" indent="0">
              <a:buNone/>
            </a:pPr>
            <a:endParaRPr lang="en-US" dirty="0"/>
          </a:p>
          <a:p>
            <a:pPr marL="0" indent="0">
              <a:buNone/>
            </a:pPr>
            <a:r>
              <a:rPr lang="en-US" dirty="0" smtClean="0"/>
              <a:t>Construct a 90% confidence interval for estimating the mean temperature for all Iowa towns last night. (Assume population is normally distributed.)</a:t>
            </a:r>
            <a:endParaRPr lang="en-US" dirty="0"/>
          </a:p>
        </p:txBody>
      </p:sp>
    </p:spTree>
    <p:extLst>
      <p:ext uri="{BB962C8B-B14F-4D97-AF65-F5344CB8AC3E}">
        <p14:creationId xmlns:p14="http://schemas.microsoft.com/office/powerpoint/2010/main" val="21064543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p:txBody>
          <a:bodyPr/>
          <a:lstStyle/>
          <a:p>
            <a:pPr eaLnBrk="1" hangingPunct="1"/>
            <a:r>
              <a:rPr lang="en-US" smtClean="0"/>
              <a:t>CHAPTER 11</a:t>
            </a:r>
          </a:p>
        </p:txBody>
      </p:sp>
      <p:sp>
        <p:nvSpPr>
          <p:cNvPr id="18435" name="Rectangle 3"/>
          <p:cNvSpPr>
            <a:spLocks noGrp="1" noChangeArrowheads="1"/>
          </p:cNvSpPr>
          <p:nvPr>
            <p:ph type="subTitle" idx="1"/>
          </p:nvPr>
        </p:nvSpPr>
        <p:spPr/>
        <p:txBody>
          <a:bodyPr/>
          <a:lstStyle/>
          <a:p>
            <a:pPr eaLnBrk="1" hangingPunct="1"/>
            <a:r>
              <a:rPr lang="en-US" sz="3600" b="1" smtClean="0"/>
              <a:t>CHI-SQUARE TESTS</a:t>
            </a:r>
          </a:p>
        </p:txBody>
      </p:sp>
      <p:sp>
        <p:nvSpPr>
          <p:cNvPr id="5"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z="2800" dirty="0" smtClean="0"/>
              <a:t>THE CHI-SQUARE DISTRIBUTION</a:t>
            </a:r>
          </a:p>
        </p:txBody>
      </p:sp>
      <p:sp>
        <p:nvSpPr>
          <p:cNvPr id="20483" name="Rectangle 3"/>
          <p:cNvSpPr>
            <a:spLocks noGrp="1" noChangeArrowheads="1"/>
          </p:cNvSpPr>
          <p:nvPr>
            <p:ph type="body" idx="1"/>
          </p:nvPr>
        </p:nvSpPr>
        <p:spPr>
          <a:xfrm>
            <a:off x="64072" y="1475360"/>
            <a:ext cx="8497888" cy="2812763"/>
          </a:xfrm>
        </p:spPr>
        <p:txBody>
          <a:bodyPr/>
          <a:lstStyle/>
          <a:p>
            <a:pPr eaLnBrk="1" hangingPunct="1">
              <a:lnSpc>
                <a:spcPct val="90000"/>
              </a:lnSpc>
              <a:buFont typeface="Wingdings" charset="2"/>
              <a:buChar char=" "/>
            </a:pPr>
            <a:r>
              <a:rPr lang="en-US" sz="2000" dirty="0" smtClean="0">
                <a:solidFill>
                  <a:schemeClr val="folHlink"/>
                </a:solidFill>
              </a:rPr>
              <a:t>Definition</a:t>
            </a:r>
          </a:p>
          <a:p>
            <a:pPr eaLnBrk="1" hangingPunct="1">
              <a:lnSpc>
                <a:spcPct val="90000"/>
              </a:lnSpc>
              <a:buFont typeface="Wingdings" charset="2"/>
              <a:buChar char=" "/>
            </a:pPr>
            <a:r>
              <a:rPr lang="en-GB" sz="2000" dirty="0" smtClean="0"/>
              <a:t> The </a:t>
            </a:r>
            <a:r>
              <a:rPr lang="en-GB" sz="2000" b="1" i="1" u="sng" dirty="0" smtClean="0">
                <a:solidFill>
                  <a:schemeClr val="hlink"/>
                </a:solidFill>
              </a:rPr>
              <a:t>chi-square distribution</a:t>
            </a:r>
            <a:r>
              <a:rPr lang="en-GB" sz="2000" dirty="0" smtClean="0"/>
              <a:t> has only one parameter called the degrees of freedom. The shape of a chi-squared distribution curve is skewed to the right for small </a:t>
            </a:r>
            <a:r>
              <a:rPr lang="en-GB" sz="2000" i="1" dirty="0" err="1" smtClean="0"/>
              <a:t>df</a:t>
            </a:r>
            <a:r>
              <a:rPr lang="en-GB" sz="2000" dirty="0" smtClean="0"/>
              <a:t> and becomes symmetric for large </a:t>
            </a:r>
            <a:r>
              <a:rPr lang="en-GB" sz="2000" i="1" dirty="0" err="1" smtClean="0"/>
              <a:t>df</a:t>
            </a:r>
            <a:r>
              <a:rPr lang="en-GB" sz="2000" dirty="0" smtClean="0"/>
              <a:t>. The entire chi-square distribution curve lies to the right of the vertical axis. The chi-square distribution assumes nonnegative values only, and these are denoted by the symbol </a:t>
            </a:r>
            <a:r>
              <a:rPr lang="el-GR" sz="2000" i="1" dirty="0" smtClean="0">
                <a:latin typeface="Times New Roman" charset="0"/>
                <a:cs typeface="Times New Roman" charset="0"/>
              </a:rPr>
              <a:t>χ</a:t>
            </a:r>
            <a:r>
              <a:rPr lang="en-GB" sz="2000" baseline="30000" dirty="0" smtClean="0"/>
              <a:t>2</a:t>
            </a:r>
            <a:r>
              <a:rPr lang="en-GB" sz="2000" dirty="0" smtClean="0"/>
              <a:t> (read as “chi-square”).</a:t>
            </a:r>
            <a:endParaRPr lang="en-US" sz="2000" dirty="0" smtClean="0"/>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5800"/>
            <a:ext cx="9144000" cy="663373"/>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sz="2800" dirty="0" smtClean="0"/>
              <a:t>Figure 11.1 Three chi-square distribution curves.</a:t>
            </a:r>
          </a:p>
        </p:txBody>
      </p:sp>
      <p:sp>
        <p:nvSpPr>
          <p:cNvPr id="21507" name="AutoShape 4" descr="11"/>
          <p:cNvSpPr>
            <a:spLocks noChangeAspect="1" noChangeArrowheads="1"/>
          </p:cNvSpPr>
          <p:nvPr/>
        </p:nvSpPr>
        <p:spPr bwMode="auto">
          <a:xfrm>
            <a:off x="155575" y="46038"/>
            <a:ext cx="304800" cy="30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842866"/>
            <a:ext cx="8392697" cy="3172268"/>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z="2800" dirty="0" smtClean="0"/>
              <a:t>Example 11-1</a:t>
            </a:r>
          </a:p>
        </p:txBody>
      </p:sp>
      <p:sp>
        <p:nvSpPr>
          <p:cNvPr id="22531" name="Rectangle 3"/>
          <p:cNvSpPr>
            <a:spLocks noGrp="1" noChangeArrowheads="1"/>
          </p:cNvSpPr>
          <p:nvPr>
            <p:ph type="body" idx="1"/>
          </p:nvPr>
        </p:nvSpPr>
        <p:spPr>
          <a:xfrm>
            <a:off x="112712" y="1484313"/>
            <a:ext cx="8269288" cy="1716087"/>
          </a:xfrm>
        </p:spPr>
        <p:txBody>
          <a:bodyPr/>
          <a:lstStyle/>
          <a:p>
            <a:pPr>
              <a:spcBef>
                <a:spcPct val="50000"/>
              </a:spcBef>
              <a:buClrTx/>
              <a:buSzTx/>
              <a:buFont typeface="Wingdings" charset="2"/>
              <a:buChar char=" "/>
            </a:pPr>
            <a:r>
              <a:rPr lang="en-US" sz="2000" dirty="0" smtClean="0"/>
              <a:t>Find the value of </a:t>
            </a:r>
            <a:r>
              <a:rPr lang="el-GR" sz="2000" dirty="0" smtClean="0">
                <a:latin typeface="Times New Roman" charset="0"/>
                <a:cs typeface="Times New Roman" charset="0"/>
              </a:rPr>
              <a:t>χ</a:t>
            </a:r>
            <a:r>
              <a:rPr lang="en-US" sz="2000" dirty="0" smtClean="0"/>
              <a:t>² for 7 degrees of freedom and an area of .10 in the right tail of the chi-square distribution curve.</a:t>
            </a:r>
          </a:p>
          <a:p>
            <a:pPr eaLnBrk="1" hangingPunct="1"/>
            <a:endParaRPr lang="en-US"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5"/>
          <p:cNvSpPr>
            <a:spLocks noGrp="1" noChangeArrowheads="1"/>
          </p:cNvSpPr>
          <p:nvPr>
            <p:ph type="title"/>
          </p:nvPr>
        </p:nvSpPr>
        <p:spPr/>
        <p:txBody>
          <a:bodyPr/>
          <a:lstStyle/>
          <a:p>
            <a:pPr eaLnBrk="1" hangingPunct="1"/>
            <a:r>
              <a:rPr lang="en-US" sz="2800" dirty="0" smtClean="0"/>
              <a:t>Table 11.1 </a:t>
            </a:r>
            <a:r>
              <a:rPr lang="el-GR" sz="2800" dirty="0" smtClean="0">
                <a:latin typeface="Times New Roman" charset="0"/>
                <a:cs typeface="Times New Roman" charset="0"/>
              </a:rPr>
              <a:t>χ</a:t>
            </a:r>
            <a:r>
              <a:rPr lang="en-US" sz="2800" baseline="30000" dirty="0" smtClean="0"/>
              <a:t>2</a:t>
            </a:r>
            <a:r>
              <a:rPr lang="en-US" sz="2800" dirty="0" smtClean="0"/>
              <a:t> for </a:t>
            </a:r>
            <a:r>
              <a:rPr lang="en-US" sz="2800" dirty="0" err="1" smtClean="0"/>
              <a:t>df</a:t>
            </a:r>
            <a:r>
              <a:rPr lang="en-US" sz="2800" dirty="0" smtClean="0"/>
              <a:t> = 7 and .10 Area in the Right Tail  </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458" y="1524000"/>
            <a:ext cx="7025742" cy="4563192"/>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z="2800" dirty="0" smtClean="0"/>
              <a:t>Figure 11.2</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4654" y="2133419"/>
            <a:ext cx="5134692" cy="2591162"/>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sz="2800" dirty="0" smtClean="0"/>
              <a:t>A GOODNESS-OF-FIT TEST</a:t>
            </a:r>
          </a:p>
        </p:txBody>
      </p:sp>
      <p:sp>
        <p:nvSpPr>
          <p:cNvPr id="29699" name="Rectangle 3"/>
          <p:cNvSpPr>
            <a:spLocks noGrp="1" noChangeArrowheads="1"/>
          </p:cNvSpPr>
          <p:nvPr>
            <p:ph type="body" idx="1"/>
          </p:nvPr>
        </p:nvSpPr>
        <p:spPr>
          <a:xfrm>
            <a:off x="457200" y="1524000"/>
            <a:ext cx="8153400" cy="4114800"/>
          </a:xfrm>
        </p:spPr>
        <p:txBody>
          <a:bodyPr/>
          <a:lstStyle/>
          <a:p>
            <a:pPr marL="0" indent="0" eaLnBrk="1" hangingPunct="1">
              <a:buNone/>
            </a:pPr>
            <a:r>
              <a:rPr lang="en-US" sz="2000" dirty="0" smtClean="0">
                <a:solidFill>
                  <a:schemeClr val="folHlink"/>
                </a:solidFill>
              </a:rPr>
              <a:t>Definition</a:t>
            </a:r>
            <a:r>
              <a:rPr lang="en-US" sz="2000" dirty="0" smtClean="0"/>
              <a:t> </a:t>
            </a:r>
          </a:p>
          <a:p>
            <a:pPr marL="0" indent="0" eaLnBrk="1" hangingPunct="1">
              <a:buNone/>
            </a:pPr>
            <a:r>
              <a:rPr lang="en-US" sz="2000" dirty="0" smtClean="0"/>
              <a:t>An experiment with the following characteristics is called a </a:t>
            </a:r>
            <a:r>
              <a:rPr lang="en-US" sz="2000" b="1" i="1" u="sng" dirty="0" smtClean="0">
                <a:solidFill>
                  <a:schemeClr val="hlink"/>
                </a:solidFill>
              </a:rPr>
              <a:t>multinomial experiment</a:t>
            </a:r>
            <a:r>
              <a:rPr lang="en-US" sz="2000" dirty="0" smtClean="0"/>
              <a:t>.</a:t>
            </a:r>
          </a:p>
          <a:p>
            <a:pPr marL="0" indent="0" eaLnBrk="1" hangingPunct="1">
              <a:buSzPct val="85000"/>
              <a:buNone/>
            </a:pPr>
            <a:endParaRPr lang="en-US" sz="2000" dirty="0" smtClean="0"/>
          </a:p>
          <a:p>
            <a:pPr marL="0" indent="0" eaLnBrk="1" hangingPunct="1">
              <a:buSzPct val="85000"/>
              <a:buNone/>
            </a:pPr>
            <a:r>
              <a:rPr lang="en-US" sz="2000" dirty="0"/>
              <a:t> </a:t>
            </a:r>
            <a:r>
              <a:rPr lang="en-US" sz="2000" dirty="0" smtClean="0"/>
              <a:t> 1. It consists of </a:t>
            </a:r>
            <a:r>
              <a:rPr lang="en-US" sz="2000" i="1" dirty="0" smtClean="0">
                <a:latin typeface="Times New Roman" charset="0"/>
              </a:rPr>
              <a:t>n</a:t>
            </a:r>
            <a:r>
              <a:rPr lang="en-US" sz="2000" dirty="0" smtClean="0"/>
              <a:t> identical trials (repetitions).</a:t>
            </a:r>
          </a:p>
          <a:p>
            <a:pPr marL="0" indent="0" eaLnBrk="1" hangingPunct="1">
              <a:buSzPct val="85000"/>
              <a:buNone/>
            </a:pPr>
            <a:r>
              <a:rPr lang="en-US" sz="2000" dirty="0" smtClean="0"/>
              <a:t>  2. Each trial results in one of </a:t>
            </a:r>
            <a:r>
              <a:rPr lang="en-US" sz="2000" i="1" dirty="0" smtClean="0">
                <a:latin typeface="Times New Roman" charset="0"/>
              </a:rPr>
              <a:t>k</a:t>
            </a:r>
            <a:r>
              <a:rPr lang="en-US" sz="2000" dirty="0" smtClean="0"/>
              <a:t> possible outcomes (or categories), where </a:t>
            </a:r>
            <a:r>
              <a:rPr lang="en-US" sz="2000" i="1" dirty="0" smtClean="0">
                <a:latin typeface="Times New Roman" charset="0"/>
              </a:rPr>
              <a:t>k</a:t>
            </a:r>
            <a:r>
              <a:rPr lang="en-US" sz="2000" dirty="0" smtClean="0"/>
              <a:t> &gt; 2.</a:t>
            </a:r>
          </a:p>
          <a:p>
            <a:pPr marL="0" indent="0" eaLnBrk="1" hangingPunct="1">
              <a:buSzPct val="85000"/>
              <a:buNone/>
            </a:pPr>
            <a:r>
              <a:rPr lang="en-US" sz="2000" dirty="0" smtClean="0"/>
              <a:t>  3. The trials are independent.</a:t>
            </a:r>
          </a:p>
          <a:p>
            <a:pPr marL="0" indent="0" eaLnBrk="1" hangingPunct="1">
              <a:buSzPct val="85000"/>
              <a:buNone/>
            </a:pPr>
            <a:r>
              <a:rPr lang="en-US" sz="2000" dirty="0" smtClean="0"/>
              <a:t>  4. The probabilities of the various outcomes remain constant for each trial.</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5800"/>
            <a:ext cx="9144000" cy="657461"/>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sz="2800" dirty="0" smtClean="0"/>
              <a:t>A GOODNESS-OF-FIT TEST</a:t>
            </a:r>
          </a:p>
        </p:txBody>
      </p:sp>
      <p:sp>
        <p:nvSpPr>
          <p:cNvPr id="30723" name="Rectangle 3"/>
          <p:cNvSpPr>
            <a:spLocks noGrp="1" noChangeArrowheads="1"/>
          </p:cNvSpPr>
          <p:nvPr>
            <p:ph type="body" idx="1"/>
          </p:nvPr>
        </p:nvSpPr>
        <p:spPr>
          <a:xfrm>
            <a:off x="85928" y="1524000"/>
            <a:ext cx="8421688" cy="4611688"/>
          </a:xfrm>
        </p:spPr>
        <p:txBody>
          <a:bodyPr/>
          <a:lstStyle/>
          <a:p>
            <a:pPr eaLnBrk="1" hangingPunct="1">
              <a:lnSpc>
                <a:spcPct val="80000"/>
              </a:lnSpc>
              <a:buFont typeface="Wingdings" charset="2"/>
              <a:buChar char=" "/>
            </a:pPr>
            <a:r>
              <a:rPr lang="en-US" sz="2000" dirty="0" smtClean="0">
                <a:solidFill>
                  <a:schemeClr val="folHlink"/>
                </a:solidFill>
              </a:rPr>
              <a:t>Definition</a:t>
            </a:r>
          </a:p>
          <a:p>
            <a:pPr eaLnBrk="1" hangingPunct="1">
              <a:lnSpc>
                <a:spcPct val="80000"/>
              </a:lnSpc>
              <a:buFont typeface="Wingdings" charset="2"/>
              <a:buChar char=" "/>
            </a:pPr>
            <a:r>
              <a:rPr lang="en-GB" sz="2000" dirty="0" smtClean="0"/>
              <a:t>The frequencies obtained from the performance of an experiment are called the </a:t>
            </a:r>
            <a:r>
              <a:rPr lang="en-GB" sz="2000" b="1" i="1" u="sng" dirty="0" smtClean="0">
                <a:solidFill>
                  <a:schemeClr val="hlink"/>
                </a:solidFill>
              </a:rPr>
              <a:t>observed frequencies</a:t>
            </a:r>
            <a:r>
              <a:rPr lang="en-GB" sz="2000" dirty="0" smtClean="0"/>
              <a:t> and are denoted by </a:t>
            </a:r>
            <a:r>
              <a:rPr lang="en-GB" sz="2000" i="1" dirty="0" smtClean="0">
                <a:latin typeface="Times New Roman" charset="0"/>
              </a:rPr>
              <a:t>O</a:t>
            </a:r>
            <a:r>
              <a:rPr lang="en-GB" sz="2000" dirty="0" smtClean="0"/>
              <a:t>. The </a:t>
            </a:r>
            <a:r>
              <a:rPr lang="en-GB" sz="2000" b="1" i="1" u="sng" dirty="0" smtClean="0">
                <a:solidFill>
                  <a:schemeClr val="hlink"/>
                </a:solidFill>
              </a:rPr>
              <a:t>expected frequencies</a:t>
            </a:r>
            <a:r>
              <a:rPr lang="en-GB" sz="2000" dirty="0" smtClean="0"/>
              <a:t>, denoted by </a:t>
            </a:r>
            <a:r>
              <a:rPr lang="en-GB" sz="2000" i="1" dirty="0" smtClean="0">
                <a:latin typeface="Times New Roman" charset="0"/>
              </a:rPr>
              <a:t>E</a:t>
            </a:r>
            <a:r>
              <a:rPr lang="en-GB" sz="2000" dirty="0" smtClean="0"/>
              <a:t>, are the frequencies that we expect to obtain if the null hypothesis is true. The expected frequency for a category is obtained as </a:t>
            </a:r>
          </a:p>
          <a:p>
            <a:pPr algn="ctr" eaLnBrk="1" hangingPunct="1">
              <a:lnSpc>
                <a:spcPct val="80000"/>
              </a:lnSpc>
              <a:buFont typeface="Wingdings" charset="2"/>
              <a:buChar char=" "/>
            </a:pPr>
            <a:endParaRPr lang="en-GB" sz="2000" b="1" i="1" dirty="0" smtClean="0">
              <a:latin typeface="Times New Roman" charset="0"/>
            </a:endParaRPr>
          </a:p>
          <a:p>
            <a:pPr algn="ctr" eaLnBrk="1" hangingPunct="1">
              <a:lnSpc>
                <a:spcPct val="80000"/>
              </a:lnSpc>
              <a:buFont typeface="Wingdings" charset="2"/>
              <a:buChar char=" "/>
            </a:pPr>
            <a:r>
              <a:rPr lang="en-GB" sz="2000" b="1" i="1" dirty="0" smtClean="0">
                <a:latin typeface="Times New Roman" charset="0"/>
              </a:rPr>
              <a:t>E</a:t>
            </a:r>
            <a:r>
              <a:rPr lang="en-GB" sz="2000" b="1" dirty="0" smtClean="0"/>
              <a:t> = </a:t>
            </a:r>
            <a:r>
              <a:rPr lang="en-GB" sz="2000" b="1" i="1" dirty="0" err="1" smtClean="0">
                <a:latin typeface="Times New Roman" charset="0"/>
              </a:rPr>
              <a:t>np</a:t>
            </a:r>
            <a:endParaRPr lang="en-GB" sz="2000" b="1" i="1" dirty="0" smtClean="0">
              <a:latin typeface="Times New Roman" charset="0"/>
            </a:endParaRPr>
          </a:p>
          <a:p>
            <a:pPr eaLnBrk="1" hangingPunct="1">
              <a:lnSpc>
                <a:spcPct val="80000"/>
              </a:lnSpc>
              <a:buFont typeface="Wingdings" charset="2"/>
              <a:buChar char=" "/>
            </a:pPr>
            <a:endParaRPr lang="en-GB" sz="2000" dirty="0" smtClean="0"/>
          </a:p>
          <a:p>
            <a:pPr eaLnBrk="1" hangingPunct="1">
              <a:lnSpc>
                <a:spcPct val="80000"/>
              </a:lnSpc>
              <a:buFont typeface="Wingdings" charset="2"/>
              <a:buChar char=" "/>
            </a:pPr>
            <a:r>
              <a:rPr lang="en-GB" sz="2000" dirty="0" smtClean="0"/>
              <a:t>where </a:t>
            </a:r>
            <a:r>
              <a:rPr lang="en-GB" sz="2000" i="1" dirty="0" smtClean="0">
                <a:latin typeface="Times New Roman" charset="0"/>
              </a:rPr>
              <a:t>n</a:t>
            </a:r>
            <a:r>
              <a:rPr lang="en-GB" sz="2000" dirty="0" smtClean="0"/>
              <a:t> is the sample size and </a:t>
            </a:r>
            <a:r>
              <a:rPr lang="en-GB" sz="2000" i="1" dirty="0" smtClean="0">
                <a:latin typeface="Times New Roman" charset="0"/>
              </a:rPr>
              <a:t>p </a:t>
            </a:r>
            <a:r>
              <a:rPr lang="en-GB" sz="2000" dirty="0" smtClean="0"/>
              <a:t>is the probability that an element belongs to that category if the null hypothesis is true. </a:t>
            </a:r>
            <a:endParaRPr lang="en-US"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z="2800" dirty="0" smtClean="0"/>
              <a:t>A GOODNESS-OF-FIT TEST</a:t>
            </a:r>
          </a:p>
        </p:txBody>
      </p:sp>
      <p:sp>
        <p:nvSpPr>
          <p:cNvPr id="31747" name="Rectangle 3"/>
          <p:cNvSpPr>
            <a:spLocks noGrp="1" noChangeArrowheads="1"/>
          </p:cNvSpPr>
          <p:nvPr>
            <p:ph type="body" idx="1"/>
          </p:nvPr>
        </p:nvSpPr>
        <p:spPr>
          <a:xfrm>
            <a:off x="46240" y="1438072"/>
            <a:ext cx="8497888" cy="2325687"/>
          </a:xfrm>
        </p:spPr>
        <p:txBody>
          <a:bodyPr/>
          <a:lstStyle/>
          <a:p>
            <a:pPr eaLnBrk="1" hangingPunct="1">
              <a:lnSpc>
                <a:spcPct val="90000"/>
              </a:lnSpc>
              <a:buFont typeface="Wingdings" charset="2"/>
              <a:buChar char=" "/>
            </a:pPr>
            <a:r>
              <a:rPr lang="en-US" sz="2000" dirty="0" smtClean="0">
                <a:solidFill>
                  <a:schemeClr val="folHlink"/>
                </a:solidFill>
              </a:rPr>
              <a:t>Degrees of Freedom for a Goodness-of-Fit Test</a:t>
            </a:r>
          </a:p>
          <a:p>
            <a:pPr eaLnBrk="1" hangingPunct="1">
              <a:lnSpc>
                <a:spcPct val="90000"/>
              </a:lnSpc>
              <a:buFont typeface="Wingdings" charset="2"/>
              <a:buChar char=" "/>
            </a:pPr>
            <a:r>
              <a:rPr lang="en-US" sz="2000" dirty="0" smtClean="0"/>
              <a:t>In a goodness-of-fit test, the </a:t>
            </a:r>
            <a:r>
              <a:rPr lang="en-US" sz="2000" b="1" i="1" u="sng" dirty="0" smtClean="0">
                <a:solidFill>
                  <a:schemeClr val="hlink"/>
                </a:solidFill>
              </a:rPr>
              <a:t>degrees of freedom</a:t>
            </a:r>
            <a:r>
              <a:rPr lang="en-US" sz="2000" dirty="0" smtClean="0"/>
              <a:t> are</a:t>
            </a:r>
          </a:p>
          <a:p>
            <a:pPr algn="ctr" eaLnBrk="1" hangingPunct="1">
              <a:lnSpc>
                <a:spcPct val="90000"/>
              </a:lnSpc>
              <a:buFont typeface="Wingdings" charset="2"/>
              <a:buChar char=" "/>
            </a:pPr>
            <a:r>
              <a:rPr lang="en-US" sz="2000" dirty="0" smtClean="0"/>
              <a:t> </a:t>
            </a:r>
            <a:r>
              <a:rPr lang="en-US" sz="2000" i="1" dirty="0" err="1" smtClean="0">
                <a:latin typeface="Times New Roman" charset="0"/>
              </a:rPr>
              <a:t>df</a:t>
            </a:r>
            <a:r>
              <a:rPr lang="en-US" sz="2000" dirty="0" smtClean="0"/>
              <a:t> = </a:t>
            </a:r>
            <a:r>
              <a:rPr lang="en-US" sz="2000" i="1" dirty="0" smtClean="0">
                <a:latin typeface="Times New Roman" charset="0"/>
              </a:rPr>
              <a:t>k</a:t>
            </a:r>
            <a:r>
              <a:rPr lang="en-US" sz="2000" dirty="0" smtClean="0"/>
              <a:t> – 1 </a:t>
            </a:r>
          </a:p>
          <a:p>
            <a:pPr eaLnBrk="1" hangingPunct="1">
              <a:lnSpc>
                <a:spcPct val="90000"/>
              </a:lnSpc>
              <a:buFont typeface="Wingdings" charset="2"/>
              <a:buChar char=" "/>
            </a:pPr>
            <a:r>
              <a:rPr lang="en-US" sz="2000" dirty="0" smtClean="0"/>
              <a:t>where </a:t>
            </a:r>
            <a:r>
              <a:rPr lang="en-US" sz="2000" i="1" dirty="0" smtClean="0"/>
              <a:t>k</a:t>
            </a:r>
            <a:r>
              <a:rPr lang="en-US" sz="2000" dirty="0" smtClean="0"/>
              <a:t> denotes the number of possible outcomes (or categories) for the experiment.</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sz="2800" dirty="0" smtClean="0"/>
              <a:t>Test Statistic for a Goodness-of-Fit Test</a:t>
            </a:r>
          </a:p>
        </p:txBody>
      </p:sp>
      <p:sp>
        <p:nvSpPr>
          <p:cNvPr id="1028" name="Rectangle 3"/>
          <p:cNvSpPr>
            <a:spLocks noGrp="1" noChangeArrowheads="1"/>
          </p:cNvSpPr>
          <p:nvPr>
            <p:ph type="body" idx="1"/>
          </p:nvPr>
        </p:nvSpPr>
        <p:spPr>
          <a:xfrm>
            <a:off x="95656" y="1484313"/>
            <a:ext cx="8497888" cy="3773487"/>
          </a:xfrm>
        </p:spPr>
        <p:txBody>
          <a:bodyPr/>
          <a:lstStyle/>
          <a:p>
            <a:pPr eaLnBrk="1" hangingPunct="1">
              <a:buSzTx/>
              <a:buFont typeface="Wingdings" charset="2"/>
              <a:buChar char=" "/>
            </a:pPr>
            <a:r>
              <a:rPr lang="en-US" sz="2000" dirty="0" smtClean="0"/>
              <a:t>The </a:t>
            </a:r>
            <a:r>
              <a:rPr lang="en-US" sz="2000" b="1" i="1" u="sng" dirty="0" smtClean="0">
                <a:solidFill>
                  <a:schemeClr val="hlink"/>
                </a:solidFill>
              </a:rPr>
              <a:t>test statistic for a goodness-of-fit test</a:t>
            </a:r>
            <a:r>
              <a:rPr lang="en-US" sz="2000" dirty="0" smtClean="0"/>
              <a:t> is </a:t>
            </a:r>
            <a:r>
              <a:rPr lang="el-GR" sz="2000" dirty="0" smtClean="0">
                <a:latin typeface="Times New Roman" charset="0"/>
                <a:cs typeface="Times New Roman" charset="0"/>
              </a:rPr>
              <a:t>χ</a:t>
            </a:r>
            <a:r>
              <a:rPr lang="en-US" sz="2000" baseline="30000" dirty="0" smtClean="0"/>
              <a:t>2</a:t>
            </a:r>
            <a:r>
              <a:rPr lang="en-US" sz="2000" dirty="0" smtClean="0"/>
              <a:t> and its value is calculated as</a:t>
            </a:r>
          </a:p>
          <a:p>
            <a:pPr eaLnBrk="1" hangingPunct="1">
              <a:buSzTx/>
              <a:buFont typeface="Wingdings" charset="2"/>
              <a:buChar char=" "/>
            </a:pPr>
            <a:endParaRPr lang="en-US" sz="2000" dirty="0" smtClean="0"/>
          </a:p>
          <a:p>
            <a:pPr eaLnBrk="1" hangingPunct="1">
              <a:buSzTx/>
              <a:buFont typeface="Wingdings" charset="2"/>
              <a:buChar char=" "/>
            </a:pPr>
            <a:endParaRPr lang="en-US" sz="2000" dirty="0" smtClean="0"/>
          </a:p>
          <a:p>
            <a:pPr eaLnBrk="1" hangingPunct="1">
              <a:buSzTx/>
              <a:buFont typeface="Wingdings" charset="2"/>
              <a:buChar char=" "/>
            </a:pPr>
            <a:endParaRPr lang="en-US" sz="2000" dirty="0" smtClean="0"/>
          </a:p>
          <a:p>
            <a:pPr eaLnBrk="1" hangingPunct="1">
              <a:buSzTx/>
              <a:buFont typeface="Wingdings" charset="2"/>
              <a:buChar char=" "/>
            </a:pPr>
            <a:r>
              <a:rPr lang="en-US" sz="2000" dirty="0" smtClean="0"/>
              <a:t>where </a:t>
            </a:r>
          </a:p>
          <a:p>
            <a:pPr lvl="1" eaLnBrk="1" hangingPunct="1">
              <a:buSzTx/>
              <a:buFont typeface="Wingdings" charset="2"/>
              <a:buChar char=" "/>
            </a:pPr>
            <a:r>
              <a:rPr lang="en-US" sz="2000" b="1" i="1" dirty="0" smtClean="0"/>
              <a:t>O</a:t>
            </a:r>
            <a:r>
              <a:rPr lang="en-US" sz="2000" dirty="0" smtClean="0"/>
              <a:t> = observed frequency for a category</a:t>
            </a:r>
          </a:p>
          <a:p>
            <a:pPr lvl="1" eaLnBrk="1" hangingPunct="1">
              <a:buSzTx/>
              <a:buFont typeface="Wingdings" charset="2"/>
              <a:buChar char=" "/>
            </a:pPr>
            <a:r>
              <a:rPr lang="en-US" sz="2000" b="1" i="1" dirty="0" smtClean="0">
                <a:latin typeface="Verdana" pitchFamily="34" charset="0"/>
                <a:ea typeface="Verdana" pitchFamily="34" charset="0"/>
                <a:cs typeface="Verdana" pitchFamily="34" charset="0"/>
              </a:rPr>
              <a:t>E</a:t>
            </a:r>
            <a:r>
              <a:rPr lang="en-US" sz="2000" dirty="0" smtClean="0"/>
              <a:t> = expected frequency for a category = </a:t>
            </a:r>
            <a:r>
              <a:rPr lang="en-US" sz="2000" i="1" dirty="0" err="1" smtClean="0">
                <a:latin typeface="Times New Roman" charset="0"/>
              </a:rPr>
              <a:t>np</a:t>
            </a:r>
            <a:endParaRPr lang="en-US" sz="2000" i="1" dirty="0" smtClean="0">
              <a:latin typeface="Times New Roman" charset="0"/>
            </a:endParaRPr>
          </a:p>
          <a:p>
            <a:pPr eaLnBrk="1" hangingPunct="1">
              <a:buSzTx/>
              <a:buFont typeface="Wingdings" charset="2"/>
              <a:buChar char=" "/>
            </a:pPr>
            <a:r>
              <a:rPr lang="en-US" sz="2000" dirty="0" smtClean="0"/>
              <a:t>Remember that a chi-square goodness-of-fit test is always right-tailed.</a:t>
            </a:r>
          </a:p>
        </p:txBody>
      </p:sp>
      <p:graphicFrame>
        <p:nvGraphicFramePr>
          <p:cNvPr id="1026" name="Object 2"/>
          <p:cNvGraphicFramePr>
            <a:graphicFrameLocks noChangeAspect="1"/>
          </p:cNvGraphicFramePr>
          <p:nvPr>
            <p:extLst>
              <p:ext uri="{D42A27DB-BD31-4B8C-83A1-F6EECF244321}">
                <p14:modId xmlns:p14="http://schemas.microsoft.com/office/powerpoint/2010/main" val="3162020790"/>
              </p:ext>
            </p:extLst>
          </p:nvPr>
        </p:nvGraphicFramePr>
        <p:xfrm>
          <a:off x="2590800" y="2286000"/>
          <a:ext cx="2362200" cy="875205"/>
        </p:xfrm>
        <a:graphic>
          <a:graphicData uri="http://schemas.openxmlformats.org/presentationml/2006/ole">
            <mc:AlternateContent xmlns:mc="http://schemas.openxmlformats.org/markup-compatibility/2006">
              <mc:Choice xmlns:v="urn:schemas-microsoft-com:vml" Requires="v">
                <p:oleObj spid="_x0000_s1066" name="Equation" r:id="rId3" imgW="1130040" imgH="419040" progId="">
                  <p:embed/>
                </p:oleObj>
              </mc:Choice>
              <mc:Fallback>
                <p:oleObj name="Equation" r:id="rId3" imgW="1130040" imgH="419040" progId="">
                  <p:embed/>
                  <p:pic>
                    <p:nvPicPr>
                      <p:cNvPr id="0" name="Picture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2286000"/>
                        <a:ext cx="2362200" cy="875205"/>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sz="2800" dirty="0" smtClean="0"/>
              <a:t>Example 11-3</a:t>
            </a:r>
          </a:p>
        </p:txBody>
      </p:sp>
      <p:sp>
        <p:nvSpPr>
          <p:cNvPr id="32771" name="Rectangle 3"/>
          <p:cNvSpPr>
            <a:spLocks noGrp="1" noChangeArrowheads="1"/>
          </p:cNvSpPr>
          <p:nvPr>
            <p:ph type="body" idx="1"/>
          </p:nvPr>
        </p:nvSpPr>
        <p:spPr>
          <a:xfrm>
            <a:off x="112712" y="1447800"/>
            <a:ext cx="8345488" cy="3581400"/>
          </a:xfrm>
        </p:spPr>
        <p:txBody>
          <a:bodyPr/>
          <a:lstStyle/>
          <a:p>
            <a:pPr eaLnBrk="1" hangingPunct="1">
              <a:lnSpc>
                <a:spcPct val="90000"/>
              </a:lnSpc>
              <a:buFont typeface="Wingdings" charset="2"/>
              <a:buChar char=" "/>
            </a:pPr>
            <a:r>
              <a:rPr lang="en-US" sz="2000" dirty="0" smtClean="0"/>
              <a:t>A bank has an ATM installed inside the bank, and it is available to its customers only from 7 AM to 6 PM Monday through Friday. The manager of the bank wanted to investigate if the percentage of transactions made on this ATM is the same for each of the 5 days (Monday through Friday) of the week. She randomly selected one week and counted the number of transactions made on this ATM on each of the 5 days during this week. The information she obtained is given in the following table, where the number of users represents the number of transactions on this ATM on these days. For convenience, we will refer to these transactions as “people” or “users.”</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sz="2800" dirty="0" smtClean="0"/>
              <a:t>Example 11-3</a:t>
            </a:r>
          </a:p>
        </p:txBody>
      </p:sp>
      <p:sp>
        <p:nvSpPr>
          <p:cNvPr id="33795" name="Rectangle 3"/>
          <p:cNvSpPr>
            <a:spLocks noGrp="1" noChangeArrowheads="1"/>
          </p:cNvSpPr>
          <p:nvPr>
            <p:ph type="body" idx="1"/>
          </p:nvPr>
        </p:nvSpPr>
        <p:spPr>
          <a:xfrm>
            <a:off x="152400" y="3048000"/>
            <a:ext cx="8269288" cy="2133600"/>
          </a:xfrm>
        </p:spPr>
        <p:txBody>
          <a:bodyPr/>
          <a:lstStyle/>
          <a:p>
            <a:pPr eaLnBrk="1" hangingPunct="1">
              <a:lnSpc>
                <a:spcPct val="90000"/>
              </a:lnSpc>
              <a:buFont typeface="Wingdings" charset="2"/>
              <a:buNone/>
            </a:pPr>
            <a:r>
              <a:rPr lang="en-US" sz="2000" dirty="0" smtClean="0"/>
              <a:t>   At the 1% level of significance, can we reject the null </a:t>
            </a:r>
          </a:p>
          <a:p>
            <a:pPr eaLnBrk="1" hangingPunct="1">
              <a:lnSpc>
                <a:spcPct val="90000"/>
              </a:lnSpc>
              <a:buFont typeface="Wingdings" charset="2"/>
              <a:buNone/>
            </a:pPr>
            <a:r>
              <a:rPr lang="en-US" sz="2000" dirty="0"/>
              <a:t> </a:t>
            </a:r>
            <a:r>
              <a:rPr lang="en-US" sz="2000" dirty="0" smtClean="0"/>
              <a:t>  hypothesis that the number of people who use this ATM </a:t>
            </a:r>
          </a:p>
          <a:p>
            <a:pPr eaLnBrk="1" hangingPunct="1">
              <a:lnSpc>
                <a:spcPct val="90000"/>
              </a:lnSpc>
              <a:buFont typeface="Wingdings" charset="2"/>
              <a:buNone/>
            </a:pPr>
            <a:r>
              <a:rPr lang="en-US" sz="2000" dirty="0"/>
              <a:t> </a:t>
            </a:r>
            <a:r>
              <a:rPr lang="en-US" sz="2000" dirty="0" smtClean="0"/>
              <a:t>  each of the 5 days of the week is the same? Assume that </a:t>
            </a:r>
          </a:p>
          <a:p>
            <a:pPr eaLnBrk="1" hangingPunct="1">
              <a:lnSpc>
                <a:spcPct val="90000"/>
              </a:lnSpc>
              <a:buFont typeface="Wingdings" charset="2"/>
              <a:buNone/>
            </a:pPr>
            <a:r>
              <a:rPr lang="en-US" sz="2000" dirty="0"/>
              <a:t> </a:t>
            </a:r>
            <a:r>
              <a:rPr lang="en-US" sz="2000" dirty="0" smtClean="0"/>
              <a:t>  this week is typical of all weeks in regard to the use of this </a:t>
            </a:r>
          </a:p>
          <a:p>
            <a:pPr eaLnBrk="1" hangingPunct="1">
              <a:lnSpc>
                <a:spcPct val="90000"/>
              </a:lnSpc>
              <a:buFont typeface="Wingdings" charset="2"/>
              <a:buNone/>
            </a:pPr>
            <a:r>
              <a:rPr lang="en-US" sz="2000" dirty="0"/>
              <a:t> </a:t>
            </a:r>
            <a:r>
              <a:rPr lang="en-US" sz="2000" dirty="0" smtClean="0"/>
              <a:t>  ATM.</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1128" y="1676400"/>
            <a:ext cx="8594272" cy="100831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sz="2800" dirty="0" smtClean="0"/>
              <a:t>Example 11-3: Solution</a:t>
            </a:r>
          </a:p>
        </p:txBody>
      </p:sp>
      <p:sp>
        <p:nvSpPr>
          <p:cNvPr id="34819" name="Rectangle 3"/>
          <p:cNvSpPr>
            <a:spLocks noGrp="1" noChangeArrowheads="1"/>
          </p:cNvSpPr>
          <p:nvPr>
            <p:ph type="body" idx="1"/>
          </p:nvPr>
        </p:nvSpPr>
        <p:spPr>
          <a:xfrm>
            <a:off x="494488" y="1494816"/>
            <a:ext cx="8421688" cy="1629384"/>
          </a:xfrm>
        </p:spPr>
        <p:txBody>
          <a:bodyPr/>
          <a:lstStyle/>
          <a:p>
            <a:pPr marL="0" indent="0" eaLnBrk="1" hangingPunct="1">
              <a:buNone/>
            </a:pPr>
            <a:r>
              <a:rPr lang="en-US" sz="2000" b="1" dirty="0" smtClean="0"/>
              <a:t>Step 1:</a:t>
            </a:r>
          </a:p>
          <a:p>
            <a:pPr marL="0" indent="0" eaLnBrk="1" hangingPunct="1">
              <a:buNone/>
            </a:pPr>
            <a:r>
              <a:rPr lang="en-US" sz="2000" i="1" dirty="0" smtClean="0"/>
              <a:t>   H</a:t>
            </a:r>
            <a:r>
              <a:rPr lang="en-US" sz="2000" baseline="-25000" dirty="0" smtClean="0"/>
              <a:t>0</a:t>
            </a:r>
            <a:r>
              <a:rPr lang="en-US" sz="2000" dirty="0" smtClean="0"/>
              <a:t> : </a:t>
            </a:r>
            <a:r>
              <a:rPr lang="en-US" sz="2000" i="1" dirty="0" smtClean="0">
                <a:latin typeface="Times New Roman" charset="0"/>
              </a:rPr>
              <a:t>p</a:t>
            </a:r>
            <a:r>
              <a:rPr lang="en-US" sz="2000" baseline="-25000" dirty="0" smtClean="0"/>
              <a:t>1 </a:t>
            </a:r>
            <a:r>
              <a:rPr lang="en-US" sz="2000" dirty="0" smtClean="0"/>
              <a:t>= </a:t>
            </a:r>
            <a:r>
              <a:rPr lang="en-US" sz="2000" i="1" dirty="0" smtClean="0">
                <a:latin typeface="Times New Roman" charset="0"/>
              </a:rPr>
              <a:t>p</a:t>
            </a:r>
            <a:r>
              <a:rPr lang="en-US" sz="2000" baseline="-25000" dirty="0" smtClean="0"/>
              <a:t>2</a:t>
            </a:r>
            <a:r>
              <a:rPr lang="en-US" sz="2000" dirty="0" smtClean="0"/>
              <a:t> = </a:t>
            </a:r>
            <a:r>
              <a:rPr lang="en-US" sz="2000" i="1" dirty="0" smtClean="0">
                <a:latin typeface="Times New Roman" charset="0"/>
              </a:rPr>
              <a:t>p</a:t>
            </a:r>
            <a:r>
              <a:rPr lang="en-US" sz="2000" baseline="-25000" dirty="0" smtClean="0"/>
              <a:t>3</a:t>
            </a:r>
            <a:r>
              <a:rPr lang="en-US" sz="2000" dirty="0" smtClean="0"/>
              <a:t> = </a:t>
            </a:r>
            <a:r>
              <a:rPr lang="en-US" sz="2000" i="1" dirty="0" smtClean="0">
                <a:latin typeface="Times New Roman" charset="0"/>
              </a:rPr>
              <a:t>p</a:t>
            </a:r>
            <a:r>
              <a:rPr lang="en-US" sz="2000" baseline="-25000" dirty="0" smtClean="0"/>
              <a:t>4</a:t>
            </a:r>
            <a:r>
              <a:rPr lang="en-US" sz="2000" dirty="0" smtClean="0"/>
              <a:t> = </a:t>
            </a:r>
            <a:r>
              <a:rPr lang="en-US" sz="2000" i="1" dirty="0" smtClean="0">
                <a:latin typeface="Times New Roman" charset="0"/>
              </a:rPr>
              <a:t>p</a:t>
            </a:r>
            <a:r>
              <a:rPr lang="en-US" sz="2000" baseline="-25000" dirty="0" smtClean="0"/>
              <a:t>5</a:t>
            </a:r>
            <a:r>
              <a:rPr lang="en-US" sz="2000" dirty="0" smtClean="0"/>
              <a:t> = .20</a:t>
            </a:r>
          </a:p>
          <a:p>
            <a:pPr marL="0" indent="0" eaLnBrk="1" hangingPunct="1">
              <a:buNone/>
            </a:pPr>
            <a:r>
              <a:rPr lang="en-US" sz="2000" i="1" dirty="0" smtClean="0"/>
              <a:t>   H</a:t>
            </a:r>
            <a:r>
              <a:rPr lang="en-US" sz="2000" baseline="-25000" dirty="0" smtClean="0"/>
              <a:t>1</a:t>
            </a:r>
            <a:r>
              <a:rPr lang="en-US" sz="2000" dirty="0" smtClean="0"/>
              <a:t> : At least two of the five proportions are not equal to .20</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sz="2800" dirty="0" smtClean="0"/>
              <a:t>Example 11-3: Solution</a:t>
            </a:r>
          </a:p>
        </p:txBody>
      </p:sp>
      <p:sp>
        <p:nvSpPr>
          <p:cNvPr id="35843" name="Rectangle 3"/>
          <p:cNvSpPr>
            <a:spLocks noGrp="1" noChangeArrowheads="1"/>
          </p:cNvSpPr>
          <p:nvPr>
            <p:ph type="body" idx="1"/>
          </p:nvPr>
        </p:nvSpPr>
        <p:spPr>
          <a:xfrm>
            <a:off x="483984" y="1475361"/>
            <a:ext cx="8050416" cy="2182240"/>
          </a:xfrm>
        </p:spPr>
        <p:txBody>
          <a:bodyPr/>
          <a:lstStyle/>
          <a:p>
            <a:pPr marL="0" indent="0" eaLnBrk="1" hangingPunct="1">
              <a:buNone/>
            </a:pPr>
            <a:r>
              <a:rPr lang="en-US" sz="2000" b="1" dirty="0" smtClean="0"/>
              <a:t>Step 2: </a:t>
            </a:r>
          </a:p>
          <a:p>
            <a:pPr marL="0" indent="0" eaLnBrk="1" hangingPunct="1">
              <a:buNone/>
            </a:pPr>
            <a:r>
              <a:rPr lang="en-US" sz="2000" dirty="0" smtClean="0"/>
              <a:t>   There are 5 categories </a:t>
            </a:r>
          </a:p>
          <a:p>
            <a:pPr lvl="1" eaLnBrk="1" hangingPunct="1"/>
            <a:r>
              <a:rPr lang="en-US" sz="2000" dirty="0" smtClean="0"/>
              <a:t>5 days on which the ATM is used</a:t>
            </a:r>
          </a:p>
          <a:p>
            <a:pPr lvl="1" eaLnBrk="1" hangingPunct="1"/>
            <a:r>
              <a:rPr lang="en-US" sz="2000" dirty="0" smtClean="0"/>
              <a:t>Multinomial experiment</a:t>
            </a:r>
          </a:p>
          <a:p>
            <a:pPr marL="0" indent="0" eaLnBrk="1" hangingPunct="1">
              <a:buNone/>
            </a:pPr>
            <a:r>
              <a:rPr lang="en-US" sz="2000" dirty="0" smtClean="0"/>
              <a:t>   We use the chi-square distribution to make this test.</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sz="2800" dirty="0" smtClean="0"/>
              <a:t>Example 11-3: Solution</a:t>
            </a:r>
          </a:p>
        </p:txBody>
      </p:sp>
      <p:sp>
        <p:nvSpPr>
          <p:cNvPr id="36867" name="Rectangle 3"/>
          <p:cNvSpPr>
            <a:spLocks noGrp="1" noChangeArrowheads="1"/>
          </p:cNvSpPr>
          <p:nvPr>
            <p:ph type="body" idx="1"/>
          </p:nvPr>
        </p:nvSpPr>
        <p:spPr>
          <a:xfrm>
            <a:off x="494488" y="1476984"/>
            <a:ext cx="7315200" cy="2478087"/>
          </a:xfrm>
        </p:spPr>
        <p:txBody>
          <a:bodyPr/>
          <a:lstStyle/>
          <a:p>
            <a:pPr marL="0" indent="0" eaLnBrk="1" hangingPunct="1">
              <a:buNone/>
            </a:pPr>
            <a:r>
              <a:rPr lang="en-GB" sz="2000" b="1" dirty="0" smtClean="0">
                <a:cs typeface="Times New Roman" charset="0"/>
              </a:rPr>
              <a:t>Step 3:</a:t>
            </a:r>
          </a:p>
          <a:p>
            <a:pPr marL="0" indent="0" eaLnBrk="1" hangingPunct="1">
              <a:buNone/>
            </a:pPr>
            <a:r>
              <a:rPr lang="en-GB" sz="2000" dirty="0" smtClean="0">
                <a:cs typeface="Times New Roman" charset="0"/>
              </a:rPr>
              <a:t>   Area in the right tail = </a:t>
            </a:r>
            <a:r>
              <a:rPr lang="el-GR" sz="2000" dirty="0" smtClean="0">
                <a:latin typeface="Times New Roman" charset="0"/>
                <a:cs typeface="Times New Roman" charset="0"/>
              </a:rPr>
              <a:t>α</a:t>
            </a:r>
            <a:r>
              <a:rPr lang="en-GB" sz="2000" dirty="0" smtClean="0">
                <a:latin typeface="Times New Roman" charset="0"/>
                <a:cs typeface="Times New Roman" charset="0"/>
              </a:rPr>
              <a:t> </a:t>
            </a:r>
            <a:r>
              <a:rPr lang="en-GB" sz="2000" dirty="0" smtClean="0">
                <a:cs typeface="Times New Roman" charset="0"/>
              </a:rPr>
              <a:t>= .01</a:t>
            </a:r>
          </a:p>
          <a:p>
            <a:pPr marL="0" indent="0" eaLnBrk="1" hangingPunct="1">
              <a:buNone/>
            </a:pPr>
            <a:r>
              <a:rPr lang="en-GB" sz="2000" i="1" dirty="0" smtClean="0">
                <a:latin typeface="Times New Roman" charset="0"/>
                <a:cs typeface="Times New Roman" charset="0"/>
              </a:rPr>
              <a:t>     k</a:t>
            </a:r>
            <a:r>
              <a:rPr lang="en-GB" sz="2000" dirty="0" smtClean="0">
                <a:cs typeface="Times New Roman" charset="0"/>
              </a:rPr>
              <a:t> = number of categories = 5</a:t>
            </a:r>
          </a:p>
          <a:p>
            <a:pPr marL="0" indent="0" eaLnBrk="1" hangingPunct="1">
              <a:buNone/>
            </a:pPr>
            <a:r>
              <a:rPr lang="en-GB" sz="2000" i="1" dirty="0" smtClean="0">
                <a:latin typeface="Times New Roman" charset="0"/>
                <a:cs typeface="Times New Roman" charset="0"/>
              </a:rPr>
              <a:t>    </a:t>
            </a:r>
            <a:r>
              <a:rPr lang="en-GB" sz="2000" i="1" dirty="0" err="1" smtClean="0">
                <a:latin typeface="Times New Roman" charset="0"/>
                <a:cs typeface="Times New Roman" charset="0"/>
              </a:rPr>
              <a:t>df</a:t>
            </a:r>
            <a:r>
              <a:rPr lang="en-GB" sz="2000" dirty="0" smtClean="0">
                <a:cs typeface="Times New Roman" charset="0"/>
              </a:rPr>
              <a:t> = </a:t>
            </a:r>
            <a:r>
              <a:rPr lang="en-GB" sz="2000" i="1" dirty="0" smtClean="0">
                <a:latin typeface="Times New Roman" charset="0"/>
                <a:cs typeface="Times New Roman" charset="0"/>
              </a:rPr>
              <a:t>k</a:t>
            </a:r>
            <a:r>
              <a:rPr lang="en-GB" sz="2000" dirty="0" smtClean="0">
                <a:cs typeface="Times New Roman" charset="0"/>
              </a:rPr>
              <a:t> – 1 = 5 – 1 = 4</a:t>
            </a:r>
          </a:p>
          <a:p>
            <a:pPr marL="0" indent="0" eaLnBrk="1" hangingPunct="1">
              <a:buNone/>
            </a:pPr>
            <a:r>
              <a:rPr lang="en-GB" sz="2000" dirty="0" smtClean="0">
                <a:cs typeface="Times New Roman" charset="0"/>
              </a:rPr>
              <a:t>   The critical value of </a:t>
            </a:r>
            <a:r>
              <a:rPr lang="el-GR" sz="2000" dirty="0" smtClean="0">
                <a:latin typeface="Times New Roman" charset="0"/>
                <a:cs typeface="Times New Roman" charset="0"/>
              </a:rPr>
              <a:t>χ</a:t>
            </a:r>
            <a:r>
              <a:rPr lang="en-GB" sz="2000" baseline="30000" dirty="0" smtClean="0">
                <a:cs typeface="Times New Roman" charset="0"/>
              </a:rPr>
              <a:t>2 </a:t>
            </a:r>
            <a:r>
              <a:rPr lang="en-GB" sz="2000" dirty="0" smtClean="0">
                <a:cs typeface="Times New Roman" charset="0"/>
              </a:rPr>
              <a:t>= 13.277</a:t>
            </a:r>
            <a:endParaRPr lang="el-GR" sz="2000" dirty="0" smtClean="0">
              <a:cs typeface="Times New Roman" charset="0"/>
            </a:endParaRP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sz="2800" dirty="0" smtClean="0"/>
              <a:t>Figure 11.4</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074" y="1733047"/>
            <a:ext cx="5553851" cy="3600953"/>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sz="2800" dirty="0" smtClean="0"/>
              <a:t>Table 11.3 Calculating the Value of the Test Statistic</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964" y="1641912"/>
            <a:ext cx="8831036" cy="345184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lang="en-US" sz="2800" dirty="0" smtClean="0"/>
              <a:t>Example 11-3: Solution</a:t>
            </a:r>
          </a:p>
        </p:txBody>
      </p:sp>
      <p:sp>
        <p:nvSpPr>
          <p:cNvPr id="2052" name="Rectangle 3"/>
          <p:cNvSpPr>
            <a:spLocks noGrp="1" noChangeArrowheads="1"/>
          </p:cNvSpPr>
          <p:nvPr>
            <p:ph type="body" idx="1"/>
          </p:nvPr>
        </p:nvSpPr>
        <p:spPr>
          <a:xfrm>
            <a:off x="463312" y="1447800"/>
            <a:ext cx="7955976" cy="1828800"/>
          </a:xfrm>
        </p:spPr>
        <p:txBody>
          <a:bodyPr/>
          <a:lstStyle/>
          <a:p>
            <a:pPr marL="0" indent="0" eaLnBrk="1" hangingPunct="1">
              <a:buNone/>
            </a:pPr>
            <a:r>
              <a:rPr lang="en-US" sz="2000" b="1" dirty="0" smtClean="0"/>
              <a:t>Step 4:</a:t>
            </a:r>
          </a:p>
          <a:p>
            <a:pPr marL="0" indent="0" eaLnBrk="1" hangingPunct="1">
              <a:buNone/>
            </a:pPr>
            <a:r>
              <a:rPr lang="en-US" sz="2000" dirty="0" smtClean="0"/>
              <a:t>   All the required calculations to find the value of the test </a:t>
            </a:r>
          </a:p>
          <a:p>
            <a:pPr marL="0" indent="0" eaLnBrk="1" hangingPunct="1">
              <a:buNone/>
            </a:pPr>
            <a:r>
              <a:rPr lang="en-US" sz="2000" dirty="0"/>
              <a:t> </a:t>
            </a:r>
            <a:r>
              <a:rPr lang="en-US" sz="2000" dirty="0" smtClean="0"/>
              <a:t>  statistic </a:t>
            </a:r>
            <a:r>
              <a:rPr lang="el-GR" sz="2000" dirty="0" smtClean="0">
                <a:latin typeface="Times New Roman" charset="0"/>
                <a:cs typeface="Times New Roman" charset="0"/>
              </a:rPr>
              <a:t>χ</a:t>
            </a:r>
            <a:r>
              <a:rPr lang="en-US" sz="2000" baseline="30000" dirty="0" smtClean="0"/>
              <a:t>2 </a:t>
            </a:r>
            <a:r>
              <a:rPr lang="en-US" sz="2000" dirty="0" smtClean="0"/>
              <a:t>are shown in Table 11.3.</a:t>
            </a:r>
          </a:p>
          <a:p>
            <a:pPr eaLnBrk="1" hangingPunct="1"/>
            <a:endParaRPr lang="en-US" sz="2000" dirty="0" smtClean="0"/>
          </a:p>
          <a:p>
            <a:pPr marL="0" indent="0" eaLnBrk="1" hangingPunct="1">
              <a:buNone/>
            </a:pPr>
            <a:endParaRPr lang="en-US" sz="2000" dirty="0" smtClean="0"/>
          </a:p>
        </p:txBody>
      </p:sp>
      <p:graphicFrame>
        <p:nvGraphicFramePr>
          <p:cNvPr id="2050" name="Object 2"/>
          <p:cNvGraphicFramePr>
            <a:graphicFrameLocks noChangeAspect="1"/>
          </p:cNvGraphicFramePr>
          <p:nvPr>
            <p:extLst>
              <p:ext uri="{D42A27DB-BD31-4B8C-83A1-F6EECF244321}">
                <p14:modId xmlns:p14="http://schemas.microsoft.com/office/powerpoint/2010/main" val="908714423"/>
              </p:ext>
            </p:extLst>
          </p:nvPr>
        </p:nvGraphicFramePr>
        <p:xfrm>
          <a:off x="2147888" y="2895600"/>
          <a:ext cx="3719512" cy="888592"/>
        </p:xfrm>
        <a:graphic>
          <a:graphicData uri="http://schemas.openxmlformats.org/presentationml/2006/ole">
            <mc:AlternateContent xmlns:mc="http://schemas.openxmlformats.org/markup-compatibility/2006">
              <mc:Choice xmlns:v="urn:schemas-microsoft-com:vml" Requires="v">
                <p:oleObj spid="_x0000_s2091" name="Equation" r:id="rId3" imgW="1752480" imgH="419040" progId="">
                  <p:embed/>
                </p:oleObj>
              </mc:Choice>
              <mc:Fallback>
                <p:oleObj name="Equation" r:id="rId3" imgW="1752480" imgH="419040" progId="">
                  <p:embed/>
                  <p:pic>
                    <p:nvPicPr>
                      <p:cNvPr id="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7888" y="2895600"/>
                        <a:ext cx="3719512" cy="888592"/>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sz="2800" dirty="0" smtClean="0"/>
              <a:t>Example 11-3: Solution</a:t>
            </a:r>
          </a:p>
        </p:txBody>
      </p:sp>
      <p:sp>
        <p:nvSpPr>
          <p:cNvPr id="39939" name="Rectangle 3"/>
          <p:cNvSpPr>
            <a:spLocks noGrp="1" noChangeArrowheads="1"/>
          </p:cNvSpPr>
          <p:nvPr>
            <p:ph type="body" idx="1"/>
          </p:nvPr>
        </p:nvSpPr>
        <p:spPr>
          <a:xfrm>
            <a:off x="493712" y="1504544"/>
            <a:ext cx="8421688" cy="3124200"/>
          </a:xfrm>
        </p:spPr>
        <p:txBody>
          <a:bodyPr/>
          <a:lstStyle/>
          <a:p>
            <a:pPr marL="0" indent="0" eaLnBrk="1" hangingPunct="1">
              <a:buNone/>
            </a:pPr>
            <a:r>
              <a:rPr lang="en-US" sz="2000" b="1" dirty="0" smtClean="0"/>
              <a:t>Step 5:</a:t>
            </a:r>
          </a:p>
          <a:p>
            <a:pPr marL="0" indent="0" eaLnBrk="1" hangingPunct="1">
              <a:buNone/>
            </a:pPr>
            <a:r>
              <a:rPr lang="en-US" sz="2000" dirty="0" smtClean="0"/>
              <a:t>   The value of the test statistic </a:t>
            </a:r>
            <a:r>
              <a:rPr lang="el-GR" sz="2000" dirty="0" smtClean="0">
                <a:latin typeface="Times New Roman" charset="0"/>
                <a:cs typeface="Times New Roman" charset="0"/>
              </a:rPr>
              <a:t>χ</a:t>
            </a:r>
            <a:r>
              <a:rPr lang="en-US" sz="2000" baseline="30000" dirty="0" smtClean="0"/>
              <a:t>2</a:t>
            </a:r>
            <a:r>
              <a:rPr lang="en-US" sz="2000" dirty="0" smtClean="0"/>
              <a:t> = 23.184 is larger than the </a:t>
            </a:r>
          </a:p>
          <a:p>
            <a:pPr marL="0" indent="0" eaLnBrk="1" hangingPunct="1">
              <a:buNone/>
            </a:pPr>
            <a:r>
              <a:rPr lang="en-US" sz="2000" dirty="0"/>
              <a:t> </a:t>
            </a:r>
            <a:r>
              <a:rPr lang="en-US" sz="2000" dirty="0" smtClean="0"/>
              <a:t>  critical value of </a:t>
            </a:r>
            <a:r>
              <a:rPr lang="el-GR" sz="2000" dirty="0" smtClean="0">
                <a:latin typeface="Times New Roman" charset="0"/>
                <a:cs typeface="Times New Roman" charset="0"/>
              </a:rPr>
              <a:t>χ</a:t>
            </a:r>
            <a:r>
              <a:rPr lang="en-US" sz="2000" baseline="30000" dirty="0" smtClean="0"/>
              <a:t>2</a:t>
            </a:r>
            <a:r>
              <a:rPr lang="en-US" sz="2000" dirty="0" smtClean="0"/>
              <a:t> = 13.277.</a:t>
            </a:r>
          </a:p>
          <a:p>
            <a:pPr lvl="1" eaLnBrk="1" hangingPunct="1"/>
            <a:r>
              <a:rPr lang="en-US" sz="2000" dirty="0" smtClean="0"/>
              <a:t>It falls in the rejection region</a:t>
            </a:r>
          </a:p>
          <a:p>
            <a:pPr marL="0" indent="0" eaLnBrk="1" hangingPunct="1">
              <a:buNone/>
            </a:pPr>
            <a:r>
              <a:rPr lang="en-US" sz="2000" dirty="0" smtClean="0"/>
              <a:t>   Hence, we reject the null hypothesis.</a:t>
            </a:r>
          </a:p>
          <a:p>
            <a:pPr marL="0" indent="0" eaLnBrk="1" hangingPunct="1">
              <a:buNone/>
            </a:pPr>
            <a:endParaRPr lang="en-US" sz="2000" dirty="0" smtClean="0"/>
          </a:p>
          <a:p>
            <a:pPr marL="0" indent="0" eaLnBrk="1" hangingPunct="1">
              <a:buNone/>
            </a:pPr>
            <a:r>
              <a:rPr lang="en-US" sz="2000" dirty="0" smtClean="0"/>
              <a:t>   We state that the number of persons who use this ATM is not </a:t>
            </a:r>
          </a:p>
          <a:p>
            <a:pPr marL="0" indent="0" eaLnBrk="1" hangingPunct="1">
              <a:buNone/>
            </a:pPr>
            <a:r>
              <a:rPr lang="en-US" sz="2000" dirty="0"/>
              <a:t> </a:t>
            </a:r>
            <a:r>
              <a:rPr lang="en-US" sz="2000" dirty="0" smtClean="0"/>
              <a:t>  the same for the 5 days of the week. </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sz="2800" dirty="0" smtClean="0"/>
              <a:t>A TEST OF INDEPENDENCE OR HOMOGENEITY</a:t>
            </a:r>
          </a:p>
        </p:txBody>
      </p:sp>
      <p:sp>
        <p:nvSpPr>
          <p:cNvPr id="7" name="Rectangle 3"/>
          <p:cNvSpPr txBox="1">
            <a:spLocks noChangeArrowheads="1"/>
          </p:cNvSpPr>
          <p:nvPr/>
        </p:nvSpPr>
        <p:spPr bwMode="auto">
          <a:xfrm>
            <a:off x="457200" y="1501103"/>
            <a:ext cx="8229600" cy="14706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SzPct val="75000"/>
              <a:buFont typeface="Wingdings" charset="2"/>
              <a:buChar char="p"/>
              <a:defRPr sz="2800">
                <a:solidFill>
                  <a:schemeClr val="tx1"/>
                </a:solidFill>
                <a:latin typeface="+mn-lt"/>
                <a:ea typeface="ＭＳ Ｐゴシック" charset="-128"/>
                <a:cs typeface="+mn-cs"/>
              </a:defRPr>
            </a:lvl1pPr>
            <a:lvl2pPr marL="742950" indent="-285750" algn="l" rtl="0" eaLnBrk="0" fontAlgn="base" hangingPunct="0">
              <a:spcBef>
                <a:spcPct val="20000"/>
              </a:spcBef>
              <a:spcAft>
                <a:spcPct val="0"/>
              </a:spcAft>
              <a:buClr>
                <a:schemeClr val="tx2"/>
              </a:buClr>
              <a:buSzPct val="75000"/>
              <a:buFont typeface="Wingdings" charset="2"/>
              <a:buChar char="n"/>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lr>
                <a:schemeClr val="accent1"/>
              </a:buClr>
              <a:buSzPct val="65000"/>
              <a:buFont typeface="Wingdings" charset="2"/>
              <a:buChar char="p"/>
              <a:defRPr sz="2000">
                <a:solidFill>
                  <a:schemeClr val="tx1"/>
                </a:solidFill>
                <a:latin typeface="+mn-lt"/>
                <a:ea typeface="ＭＳ Ｐゴシック" charset="-128"/>
              </a:defRPr>
            </a:lvl3pPr>
            <a:lvl4pPr marL="1600200" indent="-228600" algn="l" rtl="0" eaLnBrk="0" fontAlgn="base" hangingPunct="0">
              <a:spcBef>
                <a:spcPct val="20000"/>
              </a:spcBef>
              <a:spcAft>
                <a:spcPct val="0"/>
              </a:spcAft>
              <a:buClr>
                <a:schemeClr val="bg2"/>
              </a:buClr>
              <a:buFont typeface="Wingdings" charset="2"/>
              <a:buChar char="§"/>
              <a:defRPr>
                <a:solidFill>
                  <a:schemeClr val="tx1"/>
                </a:solidFill>
                <a:latin typeface="+mn-lt"/>
                <a:ea typeface="ＭＳ Ｐゴシック" charset="-128"/>
              </a:defRPr>
            </a:lvl4pPr>
            <a:lvl5pPr marL="2057400" indent="-228600" algn="l" rtl="0" eaLnBrk="0" fontAlgn="base" hangingPunct="0">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5pPr>
            <a:lvl6pPr marL="25146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6pPr>
            <a:lvl7pPr marL="29718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7pPr>
            <a:lvl8pPr marL="34290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8pPr>
            <a:lvl9pPr marL="3886200" indent="-228600" algn="l" rtl="0" fontAlgn="base">
              <a:spcBef>
                <a:spcPct val="20000"/>
              </a:spcBef>
              <a:spcAft>
                <a:spcPct val="0"/>
              </a:spcAft>
              <a:buClr>
                <a:schemeClr val="tx2"/>
              </a:buClr>
              <a:buSzPct val="80000"/>
              <a:buFont typeface="Wingdings" charset="2"/>
              <a:buChar char="§"/>
              <a:defRPr>
                <a:solidFill>
                  <a:schemeClr val="tx1"/>
                </a:solidFill>
                <a:latin typeface="+mn-lt"/>
                <a:ea typeface="ＭＳ Ｐゴシック" charset="-128"/>
              </a:defRPr>
            </a:lvl9pPr>
          </a:lstStyle>
          <a:p>
            <a:pPr eaLnBrk="1" hangingPunct="1"/>
            <a:r>
              <a:rPr lang="en-US" sz="2000" dirty="0" smtClean="0"/>
              <a:t>Often we have information on more than one variable for each element. Such information can be summarized and presented using a two-way classification table, which is called a </a:t>
            </a:r>
            <a:r>
              <a:rPr lang="en-US" sz="2000" b="1" i="1" u="sng" dirty="0" smtClean="0">
                <a:solidFill>
                  <a:srgbClr val="FFC000"/>
                </a:solidFill>
              </a:rPr>
              <a:t>contingency table </a:t>
            </a:r>
            <a:r>
              <a:rPr lang="en-US" sz="2000" dirty="0" smtClean="0"/>
              <a:t>or </a:t>
            </a:r>
            <a:r>
              <a:rPr lang="en-US" sz="2000" b="1" i="1" u="sng" dirty="0" smtClean="0">
                <a:solidFill>
                  <a:srgbClr val="FFC000"/>
                </a:solidFill>
              </a:rPr>
              <a:t>cross-tabulation</a:t>
            </a:r>
            <a:r>
              <a:rPr lang="en-US" sz="2000" dirty="0" smtClean="0"/>
              <a:t>.</a:t>
            </a:r>
          </a:p>
        </p:txBody>
      </p:sp>
      <p:sp>
        <p:nvSpPr>
          <p:cNvPr id="9"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9600"/>
            <a:ext cx="9144000" cy="670911"/>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204" y="3076345"/>
            <a:ext cx="8173591" cy="1648055"/>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457200" y="277813"/>
            <a:ext cx="8001000" cy="1139825"/>
          </a:xfrm>
        </p:spPr>
        <p:txBody>
          <a:bodyPr/>
          <a:lstStyle/>
          <a:p>
            <a:pPr eaLnBrk="1" hangingPunct="1"/>
            <a:r>
              <a:rPr lang="en-US" sz="2800" dirty="0" smtClean="0"/>
              <a:t>A TEST OF INDEPENDENCE OR HOMOGENEITY</a:t>
            </a:r>
          </a:p>
        </p:txBody>
      </p:sp>
      <p:sp>
        <p:nvSpPr>
          <p:cNvPr id="52227" name="Rectangle 3"/>
          <p:cNvSpPr>
            <a:spLocks noGrp="1" noChangeArrowheads="1"/>
          </p:cNvSpPr>
          <p:nvPr>
            <p:ph type="body" idx="1"/>
          </p:nvPr>
        </p:nvSpPr>
        <p:spPr>
          <a:xfrm>
            <a:off x="449096" y="1485088"/>
            <a:ext cx="6324600" cy="2401887"/>
          </a:xfrm>
        </p:spPr>
        <p:txBody>
          <a:bodyPr/>
          <a:lstStyle/>
          <a:p>
            <a:pPr eaLnBrk="1" hangingPunct="1"/>
            <a:r>
              <a:rPr lang="en-US" sz="2000" dirty="0" smtClean="0"/>
              <a:t>A Test of Independence</a:t>
            </a:r>
          </a:p>
          <a:p>
            <a:pPr eaLnBrk="1" hangingPunct="1"/>
            <a:r>
              <a:rPr lang="en-US" sz="2000" dirty="0" smtClean="0"/>
              <a:t>A Test of Homogeneity</a:t>
            </a:r>
          </a:p>
        </p:txBody>
      </p:sp>
      <p:sp>
        <p:nvSpPr>
          <p:cNvPr id="5"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sz="2800" dirty="0" smtClean="0"/>
              <a:t>A Test of Independence</a:t>
            </a:r>
          </a:p>
        </p:txBody>
      </p:sp>
      <p:sp>
        <p:nvSpPr>
          <p:cNvPr id="53251" name="Rectangle 3"/>
          <p:cNvSpPr>
            <a:spLocks noGrp="1" noChangeArrowheads="1"/>
          </p:cNvSpPr>
          <p:nvPr>
            <p:ph type="body" idx="1"/>
          </p:nvPr>
        </p:nvSpPr>
        <p:spPr>
          <a:xfrm>
            <a:off x="58368" y="1467256"/>
            <a:ext cx="8574088" cy="2952344"/>
          </a:xfrm>
        </p:spPr>
        <p:txBody>
          <a:bodyPr/>
          <a:lstStyle/>
          <a:p>
            <a:pPr eaLnBrk="1" hangingPunct="1">
              <a:lnSpc>
                <a:spcPct val="90000"/>
              </a:lnSpc>
              <a:buFont typeface="Wingdings" charset="2"/>
              <a:buChar char=" "/>
            </a:pPr>
            <a:r>
              <a:rPr lang="en-US" sz="2000" dirty="0" smtClean="0">
                <a:solidFill>
                  <a:schemeClr val="folHlink"/>
                </a:solidFill>
              </a:rPr>
              <a:t>Definition</a:t>
            </a:r>
          </a:p>
          <a:p>
            <a:pPr eaLnBrk="1" hangingPunct="1">
              <a:lnSpc>
                <a:spcPct val="90000"/>
              </a:lnSpc>
              <a:buFont typeface="Wingdings" charset="2"/>
              <a:buChar char=" "/>
            </a:pPr>
            <a:r>
              <a:rPr lang="en-US" sz="2000" dirty="0" smtClean="0"/>
              <a:t>A test of independence involves a test of the null hypothesis that two attributes of a population are not related. The </a:t>
            </a:r>
            <a:r>
              <a:rPr lang="en-US" sz="2000" b="1" i="1" u="sng" dirty="0" smtClean="0">
                <a:solidFill>
                  <a:schemeClr val="hlink"/>
                </a:solidFill>
              </a:rPr>
              <a:t>degrees of freedom for a test of independence</a:t>
            </a:r>
            <a:r>
              <a:rPr lang="en-US" sz="2000" dirty="0" smtClean="0"/>
              <a:t> are</a:t>
            </a:r>
          </a:p>
          <a:p>
            <a:pPr eaLnBrk="1" hangingPunct="1">
              <a:lnSpc>
                <a:spcPct val="90000"/>
              </a:lnSpc>
              <a:buFont typeface="Wingdings" charset="2"/>
              <a:buChar char=" "/>
            </a:pPr>
            <a:endParaRPr lang="en-US" sz="2000" dirty="0" smtClean="0"/>
          </a:p>
          <a:p>
            <a:pPr algn="ctr" eaLnBrk="1" hangingPunct="1">
              <a:lnSpc>
                <a:spcPct val="90000"/>
              </a:lnSpc>
              <a:buFont typeface="Wingdings" charset="2"/>
              <a:buChar char=" "/>
            </a:pPr>
            <a:r>
              <a:rPr lang="en-US" sz="2000" b="1" dirty="0" smtClean="0"/>
              <a:t> </a:t>
            </a:r>
            <a:r>
              <a:rPr lang="en-US" sz="2000" b="1" i="1" dirty="0" err="1" smtClean="0">
                <a:latin typeface="Times New Roman" charset="0"/>
              </a:rPr>
              <a:t>df</a:t>
            </a:r>
            <a:r>
              <a:rPr lang="en-US" sz="2000" b="1" dirty="0" smtClean="0"/>
              <a:t> = (</a:t>
            </a:r>
            <a:r>
              <a:rPr lang="en-US" sz="2000" b="1" i="1" dirty="0" smtClean="0">
                <a:latin typeface="Times New Roman" charset="0"/>
              </a:rPr>
              <a:t>R</a:t>
            </a:r>
            <a:r>
              <a:rPr lang="en-US" sz="2000" b="1" dirty="0" smtClean="0"/>
              <a:t> – 1)(</a:t>
            </a:r>
            <a:r>
              <a:rPr lang="en-US" sz="2000" b="1" i="1" dirty="0" smtClean="0">
                <a:latin typeface="Times New Roman" charset="0"/>
              </a:rPr>
              <a:t>C</a:t>
            </a:r>
            <a:r>
              <a:rPr lang="en-US" sz="2000" b="1" dirty="0" smtClean="0"/>
              <a:t> – 1)</a:t>
            </a:r>
          </a:p>
          <a:p>
            <a:pPr eaLnBrk="1" hangingPunct="1">
              <a:lnSpc>
                <a:spcPct val="90000"/>
              </a:lnSpc>
              <a:buFont typeface="Wingdings" charset="2"/>
              <a:buChar char=" "/>
            </a:pPr>
            <a:endParaRPr lang="en-US" sz="2000" dirty="0" smtClean="0"/>
          </a:p>
          <a:p>
            <a:pPr eaLnBrk="1" hangingPunct="1">
              <a:lnSpc>
                <a:spcPct val="90000"/>
              </a:lnSpc>
              <a:buFont typeface="Wingdings" charset="2"/>
              <a:buChar char=" "/>
            </a:pPr>
            <a:r>
              <a:rPr lang="en-US" sz="2000" dirty="0" smtClean="0"/>
              <a:t>where </a:t>
            </a:r>
            <a:r>
              <a:rPr lang="en-US" sz="2000" b="1" i="1" dirty="0" smtClean="0">
                <a:latin typeface="Times New Roman" charset="0"/>
              </a:rPr>
              <a:t>R</a:t>
            </a:r>
            <a:r>
              <a:rPr lang="en-US" sz="2000" dirty="0" smtClean="0"/>
              <a:t> and </a:t>
            </a:r>
            <a:r>
              <a:rPr lang="en-US" sz="2000" b="1" i="1" dirty="0" smtClean="0">
                <a:latin typeface="Times New Roman" charset="0"/>
              </a:rPr>
              <a:t>C</a:t>
            </a:r>
            <a:r>
              <a:rPr lang="en-US" sz="2000" dirty="0" smtClean="0"/>
              <a:t> are the number of rows and the number of columns, respectively, in the given contingency table.</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body" idx="1"/>
          </p:nvPr>
        </p:nvSpPr>
        <p:spPr>
          <a:xfrm>
            <a:off x="112712" y="1524000"/>
            <a:ext cx="8497888" cy="4535488"/>
          </a:xfrm>
          <a:noFill/>
        </p:spPr>
        <p:txBody>
          <a:bodyPr/>
          <a:lstStyle/>
          <a:p>
            <a:pPr eaLnBrk="1" hangingPunct="1">
              <a:buFont typeface="Wingdings" charset="2"/>
              <a:buChar char=" "/>
            </a:pPr>
            <a:r>
              <a:rPr lang="en-US" sz="2000" dirty="0" smtClean="0">
                <a:solidFill>
                  <a:schemeClr val="folHlink"/>
                </a:solidFill>
              </a:rPr>
              <a:t>Test Statistic for a Test of Independence</a:t>
            </a:r>
          </a:p>
          <a:p>
            <a:pPr eaLnBrk="1" hangingPunct="1">
              <a:buFont typeface="Wingdings" charset="2"/>
              <a:buChar char=" "/>
            </a:pPr>
            <a:r>
              <a:rPr lang="en-US" sz="2000" dirty="0" smtClean="0"/>
              <a:t>The value of the </a:t>
            </a:r>
            <a:r>
              <a:rPr lang="en-US" sz="2000" b="1" i="1" u="sng" dirty="0" smtClean="0">
                <a:solidFill>
                  <a:schemeClr val="hlink"/>
                </a:solidFill>
              </a:rPr>
              <a:t>test statistic </a:t>
            </a:r>
            <a:r>
              <a:rPr lang="el-GR" sz="2000" b="1" i="1" u="sng" dirty="0" smtClean="0">
                <a:solidFill>
                  <a:schemeClr val="hlink"/>
                </a:solidFill>
                <a:latin typeface="Times New Roman" charset="0"/>
                <a:cs typeface="Times New Roman" charset="0"/>
              </a:rPr>
              <a:t>χ</a:t>
            </a:r>
            <a:r>
              <a:rPr lang="en-US" sz="2000" b="1" i="1" u="sng" baseline="30000" dirty="0" smtClean="0">
                <a:solidFill>
                  <a:schemeClr val="hlink"/>
                </a:solidFill>
              </a:rPr>
              <a:t>2</a:t>
            </a:r>
            <a:r>
              <a:rPr lang="en-US" sz="2000" b="1" i="1" u="sng" dirty="0" smtClean="0">
                <a:solidFill>
                  <a:schemeClr val="hlink"/>
                </a:solidFill>
              </a:rPr>
              <a:t> for a test of independence</a:t>
            </a:r>
            <a:r>
              <a:rPr lang="en-US" sz="2000" dirty="0" smtClean="0"/>
              <a:t> is calculated as</a:t>
            </a:r>
          </a:p>
          <a:p>
            <a:pPr eaLnBrk="1" hangingPunct="1">
              <a:buFont typeface="Wingdings" charset="2"/>
              <a:buChar char=" "/>
            </a:pPr>
            <a:endParaRPr lang="en-US" sz="2000" dirty="0" smtClean="0"/>
          </a:p>
          <a:p>
            <a:pPr eaLnBrk="1" hangingPunct="1">
              <a:buFont typeface="Wingdings" charset="2"/>
              <a:buChar char=" "/>
            </a:pPr>
            <a:endParaRPr lang="en-US" sz="2000" dirty="0" smtClean="0"/>
          </a:p>
          <a:p>
            <a:pPr eaLnBrk="1" hangingPunct="1">
              <a:buFont typeface="Wingdings" charset="2"/>
              <a:buChar char=" "/>
            </a:pPr>
            <a:endParaRPr lang="en-US" sz="2000" dirty="0" smtClean="0"/>
          </a:p>
          <a:p>
            <a:pPr eaLnBrk="1" hangingPunct="1">
              <a:buFont typeface="Wingdings" charset="2"/>
              <a:buChar char=" "/>
            </a:pPr>
            <a:endParaRPr lang="en-US" sz="2000" dirty="0" smtClean="0"/>
          </a:p>
          <a:p>
            <a:pPr eaLnBrk="1" hangingPunct="1">
              <a:buFont typeface="Wingdings" charset="2"/>
              <a:buChar char=" "/>
            </a:pPr>
            <a:r>
              <a:rPr lang="en-US" sz="2000" dirty="0" smtClean="0"/>
              <a:t>where </a:t>
            </a:r>
            <a:r>
              <a:rPr lang="en-US" sz="2000" b="1" i="1" dirty="0" smtClean="0"/>
              <a:t>O</a:t>
            </a:r>
            <a:r>
              <a:rPr lang="en-US" sz="2000" dirty="0" smtClean="0"/>
              <a:t> and </a:t>
            </a:r>
            <a:r>
              <a:rPr lang="en-US" sz="2000" b="1" i="1" dirty="0" smtClean="0"/>
              <a:t>E</a:t>
            </a:r>
            <a:r>
              <a:rPr lang="en-US" sz="2000" dirty="0" smtClean="0"/>
              <a:t> are the observed and expected frequencies, respectively, for a cell.</a:t>
            </a:r>
            <a:endParaRPr lang="en-US" sz="2400" i="1" dirty="0" smtClean="0">
              <a:latin typeface="Times New Roman" charset="0"/>
            </a:endParaRPr>
          </a:p>
        </p:txBody>
      </p:sp>
      <p:sp>
        <p:nvSpPr>
          <p:cNvPr id="4100" name="Rectangle 3"/>
          <p:cNvSpPr>
            <a:spLocks noGrp="1" noChangeArrowheads="1"/>
          </p:cNvSpPr>
          <p:nvPr>
            <p:ph type="title"/>
          </p:nvPr>
        </p:nvSpPr>
        <p:spPr/>
        <p:txBody>
          <a:bodyPr/>
          <a:lstStyle/>
          <a:p>
            <a:pPr eaLnBrk="1" hangingPunct="1"/>
            <a:r>
              <a:rPr lang="en-US" sz="2800" dirty="0" smtClean="0"/>
              <a:t>A Test of Independence</a:t>
            </a:r>
          </a:p>
        </p:txBody>
      </p:sp>
      <p:graphicFrame>
        <p:nvGraphicFramePr>
          <p:cNvPr id="4098" name="Object 2"/>
          <p:cNvGraphicFramePr>
            <a:graphicFrameLocks noChangeAspect="1"/>
          </p:cNvGraphicFramePr>
          <p:nvPr>
            <p:extLst>
              <p:ext uri="{D42A27DB-BD31-4B8C-83A1-F6EECF244321}">
                <p14:modId xmlns:p14="http://schemas.microsoft.com/office/powerpoint/2010/main" val="593809817"/>
              </p:ext>
            </p:extLst>
          </p:nvPr>
        </p:nvGraphicFramePr>
        <p:xfrm>
          <a:off x="2954338" y="2819400"/>
          <a:ext cx="2514600" cy="931669"/>
        </p:xfrm>
        <a:graphic>
          <a:graphicData uri="http://schemas.openxmlformats.org/presentationml/2006/ole">
            <mc:AlternateContent xmlns:mc="http://schemas.openxmlformats.org/markup-compatibility/2006">
              <mc:Choice xmlns:v="urn:schemas-microsoft-com:vml" Requires="v">
                <p:oleObj spid="_x0000_s4139" name="Equation" r:id="rId3" imgW="1130040" imgH="419040" progId="">
                  <p:embed/>
                </p:oleObj>
              </mc:Choice>
              <mc:Fallback>
                <p:oleObj name="Equation" r:id="rId3" imgW="1130040" imgH="419040" progId="">
                  <p:embed/>
                  <p:pic>
                    <p:nvPicPr>
                      <p:cNvPr id="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4338" y="2819400"/>
                        <a:ext cx="2514600" cy="931669"/>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sz="2800" dirty="0" smtClean="0"/>
              <a:t>Example 11-5</a:t>
            </a:r>
          </a:p>
        </p:txBody>
      </p:sp>
      <p:sp>
        <p:nvSpPr>
          <p:cNvPr id="54275" name="Rectangle 3"/>
          <p:cNvSpPr>
            <a:spLocks noGrp="1" noChangeArrowheads="1"/>
          </p:cNvSpPr>
          <p:nvPr>
            <p:ph type="body" idx="1"/>
          </p:nvPr>
        </p:nvSpPr>
        <p:spPr>
          <a:xfrm>
            <a:off x="104608" y="1486712"/>
            <a:ext cx="8497888" cy="2249487"/>
          </a:xfrm>
        </p:spPr>
        <p:txBody>
          <a:bodyPr/>
          <a:lstStyle/>
          <a:p>
            <a:pPr eaLnBrk="1" hangingPunct="1">
              <a:lnSpc>
                <a:spcPct val="90000"/>
              </a:lnSpc>
              <a:buFont typeface="Wingdings" charset="2"/>
              <a:buChar char=" "/>
            </a:pPr>
            <a:r>
              <a:rPr lang="en-US" sz="2000" dirty="0" smtClean="0"/>
              <a:t>Violence and lack of discipline have become major problems in schools in the United States. A random sample of 300 adults was selected, and these adults were asked if they favor giving more freedom to schoolteachers to punish students for violence and lack of discipline. The two-way classification of the responses of these adults is represented in the following table.</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76200" y="4038600"/>
            <a:ext cx="8382000" cy="1219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469900" indent="-469900" eaLnBrk="1" hangingPunct="1">
              <a:lnSpc>
                <a:spcPct val="90000"/>
              </a:lnSpc>
              <a:spcBef>
                <a:spcPct val="20000"/>
              </a:spcBef>
              <a:buClr>
                <a:schemeClr val="bg2"/>
              </a:buClr>
              <a:buSzPct val="75000"/>
              <a:buFont typeface="Wingdings" charset="2"/>
              <a:buChar char=" "/>
            </a:pPr>
            <a:r>
              <a:rPr lang="en-US" sz="2000" dirty="0" smtClean="0"/>
              <a:t>Calculate </a:t>
            </a:r>
            <a:r>
              <a:rPr lang="en-US" sz="2000" dirty="0"/>
              <a:t>the expected frequencies for this table, assuming that the two attributes, gender and opinions on the issue, are independent.</a:t>
            </a:r>
          </a:p>
        </p:txBody>
      </p:sp>
      <p:sp>
        <p:nvSpPr>
          <p:cNvPr id="55299" name="Rectangle 3"/>
          <p:cNvSpPr>
            <a:spLocks noGrp="1" noChangeArrowheads="1"/>
          </p:cNvSpPr>
          <p:nvPr>
            <p:ph type="title"/>
          </p:nvPr>
        </p:nvSpPr>
        <p:spPr/>
        <p:txBody>
          <a:bodyPr/>
          <a:lstStyle/>
          <a:p>
            <a:pPr eaLnBrk="1" hangingPunct="1"/>
            <a:r>
              <a:rPr lang="en-US" sz="2800" dirty="0" smtClean="0"/>
              <a:t>Example 11-5</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204" y="1752600"/>
            <a:ext cx="8173591" cy="1943371"/>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sz="2800" dirty="0" smtClean="0"/>
              <a:t>Example 11-5: Solution</a:t>
            </a:r>
          </a:p>
        </p:txBody>
      </p:sp>
      <p:sp>
        <p:nvSpPr>
          <p:cNvPr id="56323" name="Rectangle 3"/>
          <p:cNvSpPr>
            <a:spLocks noGrp="1" noChangeArrowheads="1"/>
          </p:cNvSpPr>
          <p:nvPr>
            <p:ph type="body" idx="1"/>
          </p:nvPr>
        </p:nvSpPr>
        <p:spPr>
          <a:xfrm>
            <a:off x="457200" y="1600201"/>
            <a:ext cx="8229600" cy="609600"/>
          </a:xfrm>
        </p:spPr>
        <p:txBody>
          <a:bodyPr/>
          <a:lstStyle/>
          <a:p>
            <a:pPr eaLnBrk="1" hangingPunct="1">
              <a:buFont typeface="Wingdings" charset="2"/>
              <a:buNone/>
            </a:pPr>
            <a:r>
              <a:rPr lang="en-US" sz="2000" dirty="0" smtClean="0">
                <a:solidFill>
                  <a:schemeClr val="folHlink"/>
                </a:solidFill>
              </a:rPr>
              <a:t>Table 11.6 Observed Frequencies</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2209800"/>
            <a:ext cx="8610600" cy="200692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pPr eaLnBrk="1" hangingPunct="1"/>
            <a:r>
              <a:rPr lang="en-GB" sz="2800" dirty="0" smtClean="0"/>
              <a:t>Expected Frequencies for a Test of Independence </a:t>
            </a:r>
          </a:p>
        </p:txBody>
      </p:sp>
      <p:sp>
        <p:nvSpPr>
          <p:cNvPr id="5124" name="Rectangle 3"/>
          <p:cNvSpPr>
            <a:spLocks noGrp="1" noChangeArrowheads="1"/>
          </p:cNvSpPr>
          <p:nvPr>
            <p:ph type="body" idx="1"/>
          </p:nvPr>
        </p:nvSpPr>
        <p:spPr>
          <a:xfrm>
            <a:off x="142672" y="1553184"/>
            <a:ext cx="8345488" cy="609600"/>
          </a:xfrm>
        </p:spPr>
        <p:txBody>
          <a:bodyPr/>
          <a:lstStyle/>
          <a:p>
            <a:pPr eaLnBrk="1" hangingPunct="1">
              <a:buFont typeface="Wingdings" charset="2"/>
              <a:buChar char=" "/>
            </a:pPr>
            <a:r>
              <a:rPr lang="en-GB" sz="2000" dirty="0" smtClean="0"/>
              <a:t>The expected frequency </a:t>
            </a:r>
            <a:r>
              <a:rPr lang="en-GB" sz="2000" i="1" dirty="0" smtClean="0">
                <a:latin typeface="Times New Roman" charset="0"/>
              </a:rPr>
              <a:t>E</a:t>
            </a:r>
            <a:r>
              <a:rPr lang="en-GB" sz="2000" dirty="0" smtClean="0"/>
              <a:t> for a cell is calculated as</a:t>
            </a:r>
          </a:p>
        </p:txBody>
      </p:sp>
      <p:graphicFrame>
        <p:nvGraphicFramePr>
          <p:cNvPr id="5122" name="Object 2"/>
          <p:cNvGraphicFramePr>
            <a:graphicFrameLocks noChangeAspect="1"/>
          </p:cNvGraphicFramePr>
          <p:nvPr>
            <p:extLst>
              <p:ext uri="{D42A27DB-BD31-4B8C-83A1-F6EECF244321}">
                <p14:modId xmlns:p14="http://schemas.microsoft.com/office/powerpoint/2010/main" val="1498700531"/>
              </p:ext>
            </p:extLst>
          </p:nvPr>
        </p:nvGraphicFramePr>
        <p:xfrm>
          <a:off x="2012157" y="2209800"/>
          <a:ext cx="4398962" cy="787207"/>
        </p:xfrm>
        <a:graphic>
          <a:graphicData uri="http://schemas.openxmlformats.org/presentationml/2006/ole">
            <mc:AlternateContent xmlns:mc="http://schemas.openxmlformats.org/markup-compatibility/2006">
              <mc:Choice xmlns:v="urn:schemas-microsoft-com:vml" Requires="v">
                <p:oleObj spid="_x0000_s5164" name="Equation" r:id="rId3" imgW="2158920" imgH="419040" progId="">
                  <p:embed/>
                </p:oleObj>
              </mc:Choice>
              <mc:Fallback>
                <p:oleObj name="Equation" r:id="rId3" imgW="2158920" imgH="419040" progId="">
                  <p:embed/>
                  <p:pic>
                    <p:nvPicPr>
                      <p:cNvPr id="0"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2157" y="2209800"/>
                        <a:ext cx="4398962" cy="78720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sz="2800" dirty="0" smtClean="0"/>
              <a:t>Example 11-5: Solution</a:t>
            </a:r>
          </a:p>
        </p:txBody>
      </p:sp>
      <p:sp>
        <p:nvSpPr>
          <p:cNvPr id="57347" name="Rectangle 3"/>
          <p:cNvSpPr>
            <a:spLocks noGrp="1" noChangeArrowheads="1"/>
          </p:cNvSpPr>
          <p:nvPr>
            <p:ph type="body" idx="1"/>
          </p:nvPr>
        </p:nvSpPr>
        <p:spPr>
          <a:xfrm>
            <a:off x="457200" y="1600201"/>
            <a:ext cx="8229600" cy="533400"/>
          </a:xfrm>
        </p:spPr>
        <p:txBody>
          <a:bodyPr/>
          <a:lstStyle/>
          <a:p>
            <a:pPr eaLnBrk="1" hangingPunct="1">
              <a:buFont typeface="Wingdings" charset="2"/>
              <a:buNone/>
            </a:pPr>
            <a:r>
              <a:rPr lang="en-US" sz="2000" dirty="0" smtClean="0">
                <a:solidFill>
                  <a:schemeClr val="folHlink"/>
                </a:solidFill>
              </a:rPr>
              <a:t>Table 11.7 Observed and Expected Frequencies</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092546"/>
            <a:ext cx="8831036" cy="2784254"/>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GB" sz="2800" dirty="0" smtClean="0"/>
              <a:t>Example 11-6</a:t>
            </a:r>
          </a:p>
        </p:txBody>
      </p:sp>
      <p:sp>
        <p:nvSpPr>
          <p:cNvPr id="58371" name="Rectangle 3"/>
          <p:cNvSpPr>
            <a:spLocks noGrp="1" noChangeArrowheads="1"/>
          </p:cNvSpPr>
          <p:nvPr>
            <p:ph type="body" idx="1"/>
          </p:nvPr>
        </p:nvSpPr>
        <p:spPr>
          <a:xfrm>
            <a:off x="124840" y="1560513"/>
            <a:ext cx="8497888" cy="2478087"/>
          </a:xfrm>
        </p:spPr>
        <p:txBody>
          <a:bodyPr/>
          <a:lstStyle/>
          <a:p>
            <a:pPr eaLnBrk="1" hangingPunct="1">
              <a:lnSpc>
                <a:spcPct val="80000"/>
              </a:lnSpc>
              <a:buFont typeface="Wingdings" charset="2"/>
              <a:buChar char=" "/>
            </a:pPr>
            <a:r>
              <a:rPr lang="en-US" sz="2000" dirty="0" smtClean="0"/>
              <a:t>Reconsider the two-way classification table given in Example 11-5. In that example, a random sample of 300 adults was selected, and they were asked if they favor giving more freedom to schoolteachers to punish students for violence and lack of discipline. Based on the results of the survey, a two-way classification table was prepared and presented in Example 11-5. Does the sample provide sufficient information to conclude that the two attributes, gender and opinions of adults, are dependent? Use a 1% significance level.</a:t>
            </a:r>
            <a:endParaRPr lang="en-GB"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en-US" sz="2800" dirty="0" smtClean="0"/>
              <a:t>Example 11-6: Solution</a:t>
            </a:r>
            <a:endParaRPr lang="en-GB" sz="2800" dirty="0" smtClean="0"/>
          </a:p>
        </p:txBody>
      </p:sp>
      <p:sp>
        <p:nvSpPr>
          <p:cNvPr id="59395" name="Rectangle 3"/>
          <p:cNvSpPr>
            <a:spLocks noGrp="1" noChangeArrowheads="1"/>
          </p:cNvSpPr>
          <p:nvPr>
            <p:ph type="body" idx="1"/>
          </p:nvPr>
        </p:nvSpPr>
        <p:spPr>
          <a:xfrm>
            <a:off x="513944" y="1504544"/>
            <a:ext cx="7467600" cy="1411287"/>
          </a:xfrm>
        </p:spPr>
        <p:txBody>
          <a:bodyPr/>
          <a:lstStyle/>
          <a:p>
            <a:pPr marL="0" indent="0" eaLnBrk="1" hangingPunct="1">
              <a:buNone/>
            </a:pPr>
            <a:r>
              <a:rPr lang="en-US" sz="2000" b="1" dirty="0" smtClean="0"/>
              <a:t>Step 1: </a:t>
            </a:r>
          </a:p>
          <a:p>
            <a:pPr marL="0" indent="0" eaLnBrk="1" hangingPunct="1">
              <a:buNone/>
            </a:pPr>
            <a:r>
              <a:rPr lang="en-US" sz="2000" i="1" dirty="0" smtClean="0"/>
              <a:t>   H</a:t>
            </a:r>
            <a:r>
              <a:rPr lang="en-US" sz="2000" baseline="-25000" dirty="0" smtClean="0"/>
              <a:t>0</a:t>
            </a:r>
            <a:r>
              <a:rPr lang="en-US" sz="2000" dirty="0" smtClean="0"/>
              <a:t>: Gender and opinions of adults are independent</a:t>
            </a:r>
          </a:p>
          <a:p>
            <a:pPr marL="0" indent="0" eaLnBrk="1" hangingPunct="1">
              <a:buNone/>
            </a:pPr>
            <a:r>
              <a:rPr lang="en-US" sz="2000" i="1" dirty="0" smtClean="0"/>
              <a:t>   H</a:t>
            </a:r>
            <a:r>
              <a:rPr lang="en-US" sz="2000" baseline="-25000" dirty="0" smtClean="0"/>
              <a:t>1</a:t>
            </a:r>
            <a:r>
              <a:rPr lang="en-US" sz="2000" dirty="0" smtClean="0"/>
              <a:t>: Gender and opinions of adults are dependent</a:t>
            </a:r>
          </a:p>
          <a:p>
            <a:pPr eaLnBrk="1" hangingPunct="1">
              <a:buFont typeface="Wingdings" charset="2"/>
              <a:buNone/>
            </a:pPr>
            <a:endParaRPr lang="en-US" sz="2000" dirty="0" smtClean="0"/>
          </a:p>
          <a:p>
            <a:pPr eaLnBrk="1" hangingPunct="1"/>
            <a:endParaRPr lang="en-GB"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sz="2800" dirty="0" smtClean="0"/>
              <a:t>Example 11-6: Solution</a:t>
            </a:r>
            <a:endParaRPr lang="en-GB" sz="2800" dirty="0" smtClean="0"/>
          </a:p>
        </p:txBody>
      </p:sp>
      <p:sp>
        <p:nvSpPr>
          <p:cNvPr id="60419" name="Rectangle 3"/>
          <p:cNvSpPr>
            <a:spLocks noGrp="1" noChangeArrowheads="1"/>
          </p:cNvSpPr>
          <p:nvPr>
            <p:ph type="body" idx="1"/>
          </p:nvPr>
        </p:nvSpPr>
        <p:spPr>
          <a:xfrm>
            <a:off x="493712" y="1514272"/>
            <a:ext cx="7583488" cy="3591128"/>
          </a:xfrm>
        </p:spPr>
        <p:txBody>
          <a:bodyPr/>
          <a:lstStyle/>
          <a:p>
            <a:pPr marL="0" indent="0" eaLnBrk="1" hangingPunct="1">
              <a:buNone/>
            </a:pPr>
            <a:r>
              <a:rPr lang="en-US" sz="2000" b="1" dirty="0" smtClean="0">
                <a:cs typeface="Times New Roman" charset="0"/>
              </a:rPr>
              <a:t>Step 2: </a:t>
            </a:r>
          </a:p>
          <a:p>
            <a:pPr marL="0" indent="0" eaLnBrk="1" hangingPunct="1">
              <a:buNone/>
            </a:pPr>
            <a:r>
              <a:rPr lang="en-US" sz="2000" dirty="0" smtClean="0">
                <a:cs typeface="Times New Roman" charset="0"/>
              </a:rPr>
              <a:t>We use the chi-square distribution to make a test of independence for a contingency table.</a:t>
            </a:r>
          </a:p>
          <a:p>
            <a:pPr eaLnBrk="1" hangingPunct="1">
              <a:buFont typeface="Wingdings" charset="2"/>
              <a:buNone/>
            </a:pPr>
            <a:endParaRPr lang="en-US" sz="2000" dirty="0" smtClean="0">
              <a:cs typeface="Times New Roman" charset="0"/>
            </a:endParaRPr>
          </a:p>
          <a:p>
            <a:pPr eaLnBrk="1" hangingPunct="1">
              <a:buFont typeface="Wingdings" charset="2"/>
              <a:buNone/>
            </a:pPr>
            <a:endParaRPr lang="en-US" sz="2000" dirty="0" smtClean="0">
              <a:cs typeface="Times New Roman" charset="0"/>
            </a:endParaRPr>
          </a:p>
          <a:p>
            <a:pPr marL="0" indent="0" eaLnBrk="1" hangingPunct="1">
              <a:buNone/>
            </a:pPr>
            <a:r>
              <a:rPr lang="en-US" sz="2000" b="1" dirty="0" smtClean="0">
                <a:cs typeface="Times New Roman" charset="0"/>
              </a:rPr>
              <a:t>Step 3:</a:t>
            </a:r>
          </a:p>
          <a:p>
            <a:pPr marL="0" indent="0" eaLnBrk="1" hangingPunct="1">
              <a:buNone/>
            </a:pPr>
            <a:r>
              <a:rPr lang="en-US" sz="2000" dirty="0" smtClean="0">
                <a:latin typeface="Times New Roman" charset="0"/>
                <a:cs typeface="Times New Roman" charset="0"/>
              </a:rPr>
              <a:t>    </a:t>
            </a:r>
            <a:r>
              <a:rPr lang="el-GR" sz="2000" dirty="0" smtClean="0">
                <a:latin typeface="Times New Roman" charset="0"/>
                <a:cs typeface="Times New Roman" charset="0"/>
              </a:rPr>
              <a:t>α</a:t>
            </a:r>
            <a:r>
              <a:rPr lang="en-GB" sz="2000" dirty="0" smtClean="0">
                <a:latin typeface="Times New Roman" charset="0"/>
                <a:cs typeface="Times New Roman" charset="0"/>
              </a:rPr>
              <a:t> </a:t>
            </a:r>
            <a:r>
              <a:rPr lang="en-GB" sz="2000" dirty="0" smtClean="0">
                <a:cs typeface="Times New Roman" charset="0"/>
              </a:rPr>
              <a:t>= .01</a:t>
            </a:r>
          </a:p>
          <a:p>
            <a:pPr marL="0" indent="0" eaLnBrk="1" hangingPunct="1">
              <a:buNone/>
            </a:pPr>
            <a:r>
              <a:rPr lang="en-GB" sz="2000" i="1" dirty="0" smtClean="0">
                <a:latin typeface="Times New Roman" charset="0"/>
                <a:cs typeface="Times New Roman" charset="0"/>
              </a:rPr>
              <a:t>    </a:t>
            </a:r>
            <a:r>
              <a:rPr lang="en-GB" sz="2000" i="1" dirty="0" err="1" smtClean="0">
                <a:latin typeface="Times New Roman" charset="0"/>
                <a:cs typeface="Times New Roman" charset="0"/>
              </a:rPr>
              <a:t>df</a:t>
            </a:r>
            <a:r>
              <a:rPr lang="en-GB" sz="2000" dirty="0" smtClean="0">
                <a:cs typeface="Times New Roman" charset="0"/>
              </a:rPr>
              <a:t> = (</a:t>
            </a:r>
            <a:r>
              <a:rPr lang="en-GB" sz="2000" i="1" dirty="0" smtClean="0">
                <a:latin typeface="Times New Roman" charset="0"/>
                <a:cs typeface="Times New Roman" charset="0"/>
              </a:rPr>
              <a:t>R</a:t>
            </a:r>
            <a:r>
              <a:rPr lang="en-GB" sz="2000" dirty="0" smtClean="0">
                <a:cs typeface="Times New Roman" charset="0"/>
              </a:rPr>
              <a:t> – 1)(</a:t>
            </a:r>
            <a:r>
              <a:rPr lang="en-GB" sz="2000" i="1" dirty="0" smtClean="0">
                <a:latin typeface="Times New Roman" charset="0"/>
                <a:cs typeface="Times New Roman" charset="0"/>
              </a:rPr>
              <a:t>C</a:t>
            </a:r>
            <a:r>
              <a:rPr lang="en-GB" sz="2000" dirty="0" smtClean="0">
                <a:cs typeface="Times New Roman" charset="0"/>
              </a:rPr>
              <a:t> – 1) = (2 – 1)(3 – 1) = 2</a:t>
            </a:r>
          </a:p>
          <a:p>
            <a:pPr marL="0" indent="0" eaLnBrk="1" hangingPunct="1">
              <a:buNone/>
            </a:pPr>
            <a:r>
              <a:rPr lang="en-GB" sz="2000" dirty="0" smtClean="0">
                <a:cs typeface="Times New Roman" charset="0"/>
              </a:rPr>
              <a:t>   The critical value of </a:t>
            </a:r>
            <a:r>
              <a:rPr lang="el-GR" sz="2000" dirty="0" smtClean="0">
                <a:latin typeface="Times New Roman" charset="0"/>
                <a:cs typeface="Times New Roman" charset="0"/>
              </a:rPr>
              <a:t>χ</a:t>
            </a:r>
            <a:r>
              <a:rPr lang="en-GB" sz="2000" baseline="30000" dirty="0" smtClean="0">
                <a:cs typeface="Times New Roman" charset="0"/>
              </a:rPr>
              <a:t>2</a:t>
            </a:r>
            <a:r>
              <a:rPr lang="en-GB" sz="2000" dirty="0" smtClean="0">
                <a:cs typeface="Times New Roman" charset="0"/>
              </a:rPr>
              <a:t> = 9.210</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GB" sz="2800" dirty="0" smtClean="0"/>
              <a:t>Figure 11.6</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9838" y="1704479"/>
            <a:ext cx="5544324" cy="3553321"/>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en-GB" sz="2800" dirty="0" smtClean="0"/>
              <a:t>Table 11.8 Observed and Expected Frequencies</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764" y="1982890"/>
            <a:ext cx="8831036" cy="2793230"/>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sz="2800" dirty="0" smtClean="0"/>
              <a:t>Example 11-6: Solution</a:t>
            </a:r>
            <a:endParaRPr lang="en-GB" sz="2800" dirty="0" smtClean="0"/>
          </a:p>
        </p:txBody>
      </p:sp>
      <p:graphicFrame>
        <p:nvGraphicFramePr>
          <p:cNvPr id="6146" name="Object 2"/>
          <p:cNvGraphicFramePr>
            <a:graphicFrameLocks noGrp="1" noChangeAspect="1"/>
          </p:cNvGraphicFramePr>
          <p:nvPr>
            <p:ph type="body" idx="1"/>
            <p:extLst>
              <p:ext uri="{D42A27DB-BD31-4B8C-83A1-F6EECF244321}">
                <p14:modId xmlns:p14="http://schemas.microsoft.com/office/powerpoint/2010/main" val="498623419"/>
              </p:ext>
            </p:extLst>
          </p:nvPr>
        </p:nvGraphicFramePr>
        <p:xfrm>
          <a:off x="1295400" y="2133600"/>
          <a:ext cx="6400800" cy="2620713"/>
        </p:xfrm>
        <a:graphic>
          <a:graphicData uri="http://schemas.openxmlformats.org/presentationml/2006/ole">
            <mc:AlternateContent xmlns:mc="http://schemas.openxmlformats.org/markup-compatibility/2006">
              <mc:Choice xmlns:v="urn:schemas-microsoft-com:vml" Requires="v">
                <p:oleObj spid="_x0000_s6187" name="Equation" r:id="rId3" imgW="3784320" imgH="1549080" progId="">
                  <p:embed/>
                </p:oleObj>
              </mc:Choice>
              <mc:Fallback>
                <p:oleObj name="Equation" r:id="rId3" imgW="3784320" imgH="1549080" progId="">
                  <p:embed/>
                  <p:pic>
                    <p:nvPicPr>
                      <p:cNvPr id="0" name="Picture 3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2133600"/>
                        <a:ext cx="6400800" cy="2620713"/>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6149" name="Text Box 5"/>
          <p:cNvSpPr txBox="1">
            <a:spLocks noChangeArrowheads="1"/>
          </p:cNvSpPr>
          <p:nvPr/>
        </p:nvSpPr>
        <p:spPr bwMode="auto">
          <a:xfrm>
            <a:off x="476656" y="1514678"/>
            <a:ext cx="198120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charset="0"/>
                <a:ea typeface="ＭＳ Ｐゴシック" charset="-128"/>
              </a:defRPr>
            </a:lvl1pPr>
            <a:lvl2pPr marL="742950" indent="-285750">
              <a:defRPr>
                <a:solidFill>
                  <a:schemeClr val="tx1"/>
                </a:solidFill>
                <a:latin typeface="Verdana" charset="0"/>
                <a:ea typeface="ＭＳ Ｐゴシック" charset="-128"/>
              </a:defRPr>
            </a:lvl2pPr>
            <a:lvl3pPr marL="1143000" indent="-228600">
              <a:defRPr>
                <a:solidFill>
                  <a:schemeClr val="tx1"/>
                </a:solidFill>
                <a:latin typeface="Verdana" charset="0"/>
                <a:ea typeface="ＭＳ Ｐゴシック" charset="-128"/>
              </a:defRPr>
            </a:lvl3pPr>
            <a:lvl4pPr marL="1600200" indent="-228600">
              <a:defRPr>
                <a:solidFill>
                  <a:schemeClr val="tx1"/>
                </a:solidFill>
                <a:latin typeface="Verdana" charset="0"/>
                <a:ea typeface="ＭＳ Ｐゴシック" charset="-128"/>
              </a:defRPr>
            </a:lvl4pPr>
            <a:lvl5pPr marL="2057400" indent="-228600">
              <a:defRPr>
                <a:solidFill>
                  <a:schemeClr val="tx1"/>
                </a:solidFill>
                <a:latin typeface="Verdana" charset="0"/>
                <a:ea typeface="ＭＳ Ｐゴシック" charset="-128"/>
              </a:defRPr>
            </a:lvl5pPr>
            <a:lvl6pPr marL="2514600" indent="-228600" eaLnBrk="0" fontAlgn="base" hangingPunct="0">
              <a:spcBef>
                <a:spcPct val="0"/>
              </a:spcBef>
              <a:spcAft>
                <a:spcPct val="0"/>
              </a:spcAft>
              <a:defRPr>
                <a:solidFill>
                  <a:schemeClr val="tx1"/>
                </a:solidFill>
                <a:latin typeface="Verdana" charset="0"/>
                <a:ea typeface="ＭＳ Ｐゴシック" charset="-128"/>
              </a:defRPr>
            </a:lvl6pPr>
            <a:lvl7pPr marL="2971800" indent="-228600" eaLnBrk="0" fontAlgn="base" hangingPunct="0">
              <a:spcBef>
                <a:spcPct val="0"/>
              </a:spcBef>
              <a:spcAft>
                <a:spcPct val="0"/>
              </a:spcAft>
              <a:defRPr>
                <a:solidFill>
                  <a:schemeClr val="tx1"/>
                </a:solidFill>
                <a:latin typeface="Verdana" charset="0"/>
                <a:ea typeface="ＭＳ Ｐゴシック" charset="-128"/>
              </a:defRPr>
            </a:lvl7pPr>
            <a:lvl8pPr marL="3429000" indent="-228600" eaLnBrk="0" fontAlgn="base" hangingPunct="0">
              <a:spcBef>
                <a:spcPct val="0"/>
              </a:spcBef>
              <a:spcAft>
                <a:spcPct val="0"/>
              </a:spcAft>
              <a:defRPr>
                <a:solidFill>
                  <a:schemeClr val="tx1"/>
                </a:solidFill>
                <a:latin typeface="Verdana" charset="0"/>
                <a:ea typeface="ＭＳ Ｐゴシック" charset="-128"/>
              </a:defRPr>
            </a:lvl8pPr>
            <a:lvl9pPr marL="3886200" indent="-228600" eaLnBrk="0" fontAlgn="base" hangingPunct="0">
              <a:spcBef>
                <a:spcPct val="0"/>
              </a:spcBef>
              <a:spcAft>
                <a:spcPct val="0"/>
              </a:spcAft>
              <a:defRPr>
                <a:solidFill>
                  <a:schemeClr val="tx1"/>
                </a:solidFill>
                <a:latin typeface="Verdana" charset="0"/>
                <a:ea typeface="ＭＳ Ｐゴシック" charset="-128"/>
              </a:defRPr>
            </a:lvl9pPr>
          </a:lstStyle>
          <a:p>
            <a:pPr>
              <a:spcBef>
                <a:spcPct val="50000"/>
              </a:spcBef>
            </a:pPr>
            <a:r>
              <a:rPr lang="en-US" sz="2000" b="1" dirty="0"/>
              <a:t>Step 4: </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sz="2800" dirty="0" smtClean="0"/>
              <a:t>Example 11-6: Solution</a:t>
            </a:r>
            <a:endParaRPr lang="en-GB" sz="2800" dirty="0" smtClean="0"/>
          </a:p>
        </p:txBody>
      </p:sp>
      <p:sp>
        <p:nvSpPr>
          <p:cNvPr id="63491" name="Rectangle 3"/>
          <p:cNvSpPr>
            <a:spLocks noGrp="1" noChangeArrowheads="1"/>
          </p:cNvSpPr>
          <p:nvPr>
            <p:ph type="body" idx="1"/>
          </p:nvPr>
        </p:nvSpPr>
        <p:spPr>
          <a:xfrm>
            <a:off x="476656" y="1467256"/>
            <a:ext cx="8345488" cy="3866744"/>
          </a:xfrm>
        </p:spPr>
        <p:txBody>
          <a:bodyPr/>
          <a:lstStyle/>
          <a:p>
            <a:pPr marL="0" indent="0" eaLnBrk="1" hangingPunct="1">
              <a:lnSpc>
                <a:spcPct val="90000"/>
              </a:lnSpc>
              <a:buNone/>
            </a:pPr>
            <a:r>
              <a:rPr lang="en-GB" sz="2000" b="1" dirty="0" smtClean="0"/>
              <a:t>Step 5: </a:t>
            </a:r>
          </a:p>
          <a:p>
            <a:pPr marL="0" indent="0" eaLnBrk="1" hangingPunct="1">
              <a:lnSpc>
                <a:spcPct val="90000"/>
              </a:lnSpc>
              <a:buNone/>
            </a:pPr>
            <a:r>
              <a:rPr lang="en-GB" sz="2000" dirty="0" smtClean="0"/>
              <a:t>   The value of the test statistic </a:t>
            </a:r>
            <a:r>
              <a:rPr lang="el-GR" sz="2000" dirty="0" smtClean="0">
                <a:latin typeface="Times New Roman" charset="0"/>
                <a:cs typeface="Times New Roman" charset="0"/>
              </a:rPr>
              <a:t>χ</a:t>
            </a:r>
            <a:r>
              <a:rPr lang="en-GB" sz="2000" baseline="30000" dirty="0" smtClean="0"/>
              <a:t>2</a:t>
            </a:r>
            <a:r>
              <a:rPr lang="en-GB" sz="2000" dirty="0" smtClean="0"/>
              <a:t> = 8.252 </a:t>
            </a:r>
          </a:p>
          <a:p>
            <a:pPr lvl="1" eaLnBrk="1" hangingPunct="1">
              <a:lnSpc>
                <a:spcPct val="90000"/>
              </a:lnSpc>
            </a:pPr>
            <a:r>
              <a:rPr lang="en-GB" sz="2000" dirty="0" smtClean="0"/>
              <a:t>It is less than the critical value of </a:t>
            </a:r>
            <a:r>
              <a:rPr lang="el-GR" sz="2000" dirty="0" smtClean="0">
                <a:latin typeface="Times New Roman" charset="0"/>
                <a:cs typeface="Times New Roman" charset="0"/>
              </a:rPr>
              <a:t>χ</a:t>
            </a:r>
            <a:r>
              <a:rPr lang="en-GB" sz="2000" baseline="30000" dirty="0" smtClean="0"/>
              <a:t>2 </a:t>
            </a:r>
            <a:r>
              <a:rPr lang="en-GB" sz="2000" dirty="0" smtClean="0"/>
              <a:t>= 9.210</a:t>
            </a:r>
          </a:p>
          <a:p>
            <a:pPr lvl="1" eaLnBrk="1" hangingPunct="1">
              <a:lnSpc>
                <a:spcPct val="90000"/>
              </a:lnSpc>
            </a:pPr>
            <a:r>
              <a:rPr lang="en-GB" sz="2000" dirty="0" smtClean="0"/>
              <a:t>It falls in the </a:t>
            </a:r>
            <a:r>
              <a:rPr lang="en-GB" sz="2000" dirty="0" err="1" smtClean="0"/>
              <a:t>nonrejection</a:t>
            </a:r>
            <a:r>
              <a:rPr lang="en-GB" sz="2000" dirty="0" smtClean="0"/>
              <a:t> region</a:t>
            </a:r>
          </a:p>
          <a:p>
            <a:pPr marL="0" indent="0" eaLnBrk="1" hangingPunct="1">
              <a:lnSpc>
                <a:spcPct val="90000"/>
              </a:lnSpc>
              <a:buNone/>
            </a:pPr>
            <a:r>
              <a:rPr lang="en-GB" sz="2000" dirty="0" smtClean="0"/>
              <a:t>   Hence, we fail to reject the null hypothesis.</a:t>
            </a:r>
          </a:p>
          <a:p>
            <a:pPr marL="0" indent="0" eaLnBrk="1" hangingPunct="1">
              <a:lnSpc>
                <a:spcPct val="90000"/>
              </a:lnSpc>
              <a:buNone/>
            </a:pPr>
            <a:r>
              <a:rPr lang="en-GB" sz="2000" dirty="0" smtClean="0"/>
              <a:t>   </a:t>
            </a:r>
          </a:p>
          <a:p>
            <a:pPr marL="0" indent="0" eaLnBrk="1" hangingPunct="1">
              <a:lnSpc>
                <a:spcPct val="90000"/>
              </a:lnSpc>
              <a:buNone/>
            </a:pPr>
            <a:r>
              <a:rPr lang="en-GB" sz="2000" dirty="0"/>
              <a:t> </a:t>
            </a:r>
            <a:r>
              <a:rPr lang="en-GB" sz="2000" dirty="0" smtClean="0"/>
              <a:t>  We state that there is not enough evidence from the sample </a:t>
            </a:r>
          </a:p>
          <a:p>
            <a:pPr marL="0" indent="0" eaLnBrk="1" hangingPunct="1">
              <a:lnSpc>
                <a:spcPct val="90000"/>
              </a:lnSpc>
              <a:buNone/>
            </a:pPr>
            <a:r>
              <a:rPr lang="en-GB" sz="2000" dirty="0"/>
              <a:t> </a:t>
            </a:r>
            <a:r>
              <a:rPr lang="en-GB" sz="2000" dirty="0" smtClean="0"/>
              <a:t>  to conclude that the two characteristics, </a:t>
            </a:r>
            <a:r>
              <a:rPr lang="en-GB" sz="2000" i="1" dirty="0" smtClean="0"/>
              <a:t>gender</a:t>
            </a:r>
            <a:r>
              <a:rPr lang="en-GB" sz="2000" dirty="0" smtClean="0"/>
              <a:t> and </a:t>
            </a:r>
            <a:r>
              <a:rPr lang="en-GB" sz="2000" i="1" dirty="0" smtClean="0"/>
              <a:t>opinions </a:t>
            </a:r>
          </a:p>
          <a:p>
            <a:pPr marL="0" indent="0" eaLnBrk="1" hangingPunct="1">
              <a:lnSpc>
                <a:spcPct val="90000"/>
              </a:lnSpc>
              <a:buNone/>
            </a:pPr>
            <a:r>
              <a:rPr lang="en-GB" sz="2000" i="1" dirty="0"/>
              <a:t> </a:t>
            </a:r>
            <a:r>
              <a:rPr lang="en-GB" sz="2000" i="1" dirty="0" smtClean="0"/>
              <a:t>  of adults</a:t>
            </a:r>
            <a:r>
              <a:rPr lang="en-GB" sz="2000" dirty="0" smtClean="0"/>
              <a:t>, are dependent for this issue.</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GB" sz="2800" dirty="0" smtClean="0"/>
              <a:t>A Test of Homogeneity</a:t>
            </a:r>
          </a:p>
        </p:txBody>
      </p:sp>
      <p:sp>
        <p:nvSpPr>
          <p:cNvPr id="70659" name="Rectangle 3"/>
          <p:cNvSpPr>
            <a:spLocks noGrp="1" noChangeArrowheads="1"/>
          </p:cNvSpPr>
          <p:nvPr>
            <p:ph type="body" idx="1"/>
          </p:nvPr>
        </p:nvSpPr>
        <p:spPr>
          <a:xfrm>
            <a:off x="124840" y="1504544"/>
            <a:ext cx="8574088" cy="2209800"/>
          </a:xfrm>
        </p:spPr>
        <p:txBody>
          <a:bodyPr/>
          <a:lstStyle/>
          <a:p>
            <a:pPr eaLnBrk="1" hangingPunct="1">
              <a:buFont typeface="Wingdings" charset="2"/>
              <a:buChar char=" "/>
            </a:pPr>
            <a:r>
              <a:rPr lang="en-GB" sz="2000" dirty="0" smtClean="0">
                <a:solidFill>
                  <a:schemeClr val="folHlink"/>
                </a:solidFill>
              </a:rPr>
              <a:t>Definition</a:t>
            </a:r>
          </a:p>
          <a:p>
            <a:pPr eaLnBrk="1" hangingPunct="1">
              <a:buFont typeface="Wingdings" charset="2"/>
              <a:buChar char=" "/>
            </a:pPr>
            <a:r>
              <a:rPr lang="en-GB" sz="2000" dirty="0" smtClean="0"/>
              <a:t>A </a:t>
            </a:r>
            <a:r>
              <a:rPr lang="en-GB" sz="2000" b="1" i="1" u="sng" dirty="0" smtClean="0">
                <a:solidFill>
                  <a:schemeClr val="hlink"/>
                </a:solidFill>
              </a:rPr>
              <a:t>test of homogeneity</a:t>
            </a:r>
            <a:r>
              <a:rPr lang="en-GB" sz="2000" dirty="0" smtClean="0"/>
              <a:t> involves testing the null hypothesis that the </a:t>
            </a:r>
            <a:r>
              <a:rPr lang="en-GB" sz="2000" b="1" dirty="0" smtClean="0"/>
              <a:t>proportions</a:t>
            </a:r>
            <a:r>
              <a:rPr lang="en-GB" sz="2000" dirty="0" smtClean="0"/>
              <a:t> of elements with certain characteristics in two or more different populations are the same against the alternative hypothesis that these proportions are not the same. </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GB" sz="2800" dirty="0" smtClean="0"/>
              <a:t>Example 11-8</a:t>
            </a:r>
          </a:p>
        </p:txBody>
      </p:sp>
      <p:sp>
        <p:nvSpPr>
          <p:cNvPr id="71683" name="Rectangle 3"/>
          <p:cNvSpPr>
            <a:spLocks noGrp="1" noChangeArrowheads="1"/>
          </p:cNvSpPr>
          <p:nvPr>
            <p:ph type="body" idx="1"/>
          </p:nvPr>
        </p:nvSpPr>
        <p:spPr>
          <a:xfrm>
            <a:off x="115112" y="1560513"/>
            <a:ext cx="8574088" cy="1792287"/>
          </a:xfrm>
        </p:spPr>
        <p:txBody>
          <a:bodyPr/>
          <a:lstStyle/>
          <a:p>
            <a:pPr eaLnBrk="1" hangingPunct="1">
              <a:buFont typeface="Wingdings" charset="2"/>
              <a:buChar char=" "/>
            </a:pPr>
            <a:r>
              <a:rPr lang="en-US" sz="2000" dirty="0" smtClean="0"/>
              <a:t>Consider the data on income distributions for households in California and Wisconsin given in Table 11.10. Using the 2.5% significance level, test the null hypothesis that the distribution of households with regard to income levels is similar (homogeneous) for the two states.</a:t>
            </a:r>
            <a:endParaRPr lang="en-GB"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en-GB" sz="2800" dirty="0" smtClean="0"/>
              <a:t>Example 11-8</a:t>
            </a:r>
            <a:endParaRPr lang="en-US" sz="2800" dirty="0" smtClean="0"/>
          </a:p>
        </p:txBody>
      </p:sp>
      <p:sp>
        <p:nvSpPr>
          <p:cNvPr id="72707" name="Rectangle 3"/>
          <p:cNvSpPr>
            <a:spLocks noGrp="1" noChangeArrowheads="1"/>
          </p:cNvSpPr>
          <p:nvPr>
            <p:ph type="body" idx="1"/>
          </p:nvPr>
        </p:nvSpPr>
        <p:spPr>
          <a:xfrm>
            <a:off x="112713" y="1533728"/>
            <a:ext cx="6897687" cy="533400"/>
          </a:xfrm>
        </p:spPr>
        <p:txBody>
          <a:bodyPr/>
          <a:lstStyle/>
          <a:p>
            <a:pPr eaLnBrk="1" hangingPunct="1">
              <a:buFont typeface="Wingdings" charset="2"/>
              <a:buChar char=" "/>
            </a:pPr>
            <a:r>
              <a:rPr lang="en-US" sz="2000" dirty="0" smtClean="0">
                <a:solidFill>
                  <a:schemeClr val="folHlink"/>
                </a:solidFill>
              </a:rPr>
              <a:t>Table 11.10 Observed Frequencies</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967" y="2133419"/>
            <a:ext cx="8164065" cy="2591162"/>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en-GB" sz="2800" dirty="0" smtClean="0"/>
              <a:t>Example 11-8: Solution</a:t>
            </a:r>
          </a:p>
        </p:txBody>
      </p:sp>
      <p:sp>
        <p:nvSpPr>
          <p:cNvPr id="73731" name="Rectangle 3"/>
          <p:cNvSpPr>
            <a:spLocks noGrp="1" noChangeArrowheads="1"/>
          </p:cNvSpPr>
          <p:nvPr>
            <p:ph type="body" idx="1"/>
          </p:nvPr>
        </p:nvSpPr>
        <p:spPr>
          <a:xfrm>
            <a:off x="457200" y="1447800"/>
            <a:ext cx="8305800" cy="2325687"/>
          </a:xfrm>
        </p:spPr>
        <p:txBody>
          <a:bodyPr/>
          <a:lstStyle/>
          <a:p>
            <a:pPr marL="0" indent="0" eaLnBrk="1" hangingPunct="1">
              <a:buNone/>
            </a:pPr>
            <a:r>
              <a:rPr lang="en-GB" sz="2000" b="1" dirty="0" smtClean="0"/>
              <a:t>Step 1: </a:t>
            </a:r>
          </a:p>
          <a:p>
            <a:pPr marL="0" indent="0" eaLnBrk="1" hangingPunct="1">
              <a:buNone/>
            </a:pPr>
            <a:r>
              <a:rPr lang="en-GB" sz="2000" i="1" dirty="0" smtClean="0"/>
              <a:t>    H</a:t>
            </a:r>
            <a:r>
              <a:rPr lang="en-GB" sz="2000" baseline="-25000" dirty="0" smtClean="0"/>
              <a:t>0</a:t>
            </a:r>
            <a:r>
              <a:rPr lang="en-GB" sz="2000" dirty="0" smtClean="0"/>
              <a:t>: The proportions of households that belong to different </a:t>
            </a:r>
          </a:p>
          <a:p>
            <a:pPr marL="0" indent="0" eaLnBrk="1" hangingPunct="1">
              <a:buNone/>
            </a:pPr>
            <a:r>
              <a:rPr lang="en-GB" sz="2000" dirty="0"/>
              <a:t> </a:t>
            </a:r>
            <a:r>
              <a:rPr lang="en-GB" sz="2000" dirty="0" smtClean="0"/>
              <a:t>         income groups are the same in both states</a:t>
            </a:r>
          </a:p>
          <a:p>
            <a:pPr marL="0" indent="0" eaLnBrk="1" hangingPunct="1">
              <a:buNone/>
            </a:pPr>
            <a:r>
              <a:rPr lang="en-GB" sz="2000" i="1" dirty="0" smtClean="0"/>
              <a:t>    H</a:t>
            </a:r>
            <a:r>
              <a:rPr lang="en-GB" sz="2000" baseline="-25000" dirty="0" smtClean="0"/>
              <a:t>1</a:t>
            </a:r>
            <a:r>
              <a:rPr lang="en-GB" sz="2000" dirty="0" smtClean="0"/>
              <a:t>: The proportions of households that belong to different </a:t>
            </a:r>
          </a:p>
          <a:p>
            <a:pPr marL="0" indent="0" eaLnBrk="1" hangingPunct="1">
              <a:buNone/>
            </a:pPr>
            <a:r>
              <a:rPr lang="en-GB" sz="2000" dirty="0"/>
              <a:t> </a:t>
            </a:r>
            <a:r>
              <a:rPr lang="en-GB" sz="2000" dirty="0" smtClean="0"/>
              <a:t>         income groups are not the same in both states</a:t>
            </a:r>
          </a:p>
          <a:p>
            <a:pPr eaLnBrk="1" hangingPunct="1"/>
            <a:endParaRPr lang="en-GB"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GB" sz="2800" dirty="0" smtClean="0"/>
              <a:t>Example 11-8: Solution</a:t>
            </a:r>
          </a:p>
        </p:txBody>
      </p:sp>
      <p:sp>
        <p:nvSpPr>
          <p:cNvPr id="74755" name="Rectangle 3"/>
          <p:cNvSpPr>
            <a:spLocks noGrp="1" noChangeArrowheads="1"/>
          </p:cNvSpPr>
          <p:nvPr>
            <p:ph type="body" idx="1"/>
          </p:nvPr>
        </p:nvSpPr>
        <p:spPr>
          <a:xfrm>
            <a:off x="476656" y="1465632"/>
            <a:ext cx="7812087" cy="3429000"/>
          </a:xfrm>
          <a:noFill/>
        </p:spPr>
        <p:txBody>
          <a:bodyPr/>
          <a:lstStyle/>
          <a:p>
            <a:pPr marL="0" indent="0" eaLnBrk="1" hangingPunct="1">
              <a:buNone/>
            </a:pPr>
            <a:r>
              <a:rPr lang="en-GB" sz="2000" b="1" dirty="0" smtClean="0">
                <a:cs typeface="Times New Roman" charset="0"/>
              </a:rPr>
              <a:t>Step 2:</a:t>
            </a:r>
            <a:r>
              <a:rPr lang="en-GB" sz="2000" dirty="0" smtClean="0">
                <a:cs typeface="Times New Roman" charset="0"/>
              </a:rPr>
              <a:t> </a:t>
            </a:r>
          </a:p>
          <a:p>
            <a:pPr marL="0" indent="0" eaLnBrk="1" hangingPunct="1">
              <a:buNone/>
            </a:pPr>
            <a:r>
              <a:rPr lang="en-GB" sz="2000" dirty="0" smtClean="0">
                <a:cs typeface="Times New Roman" charset="0"/>
              </a:rPr>
              <a:t>We use the chi-square distribution to make a homogeneity test.</a:t>
            </a:r>
          </a:p>
          <a:p>
            <a:pPr eaLnBrk="1" hangingPunct="1"/>
            <a:endParaRPr lang="en-GB" sz="2000" dirty="0" smtClean="0">
              <a:cs typeface="Times New Roman" charset="0"/>
            </a:endParaRPr>
          </a:p>
          <a:p>
            <a:pPr eaLnBrk="1" hangingPunct="1"/>
            <a:endParaRPr lang="en-GB" sz="2000" dirty="0" smtClean="0">
              <a:cs typeface="Times New Roman" charset="0"/>
            </a:endParaRPr>
          </a:p>
          <a:p>
            <a:pPr marL="0" indent="0" eaLnBrk="1" hangingPunct="1">
              <a:buNone/>
            </a:pPr>
            <a:r>
              <a:rPr lang="en-GB" sz="2000" b="1" dirty="0" smtClean="0">
                <a:cs typeface="Times New Roman" charset="0"/>
              </a:rPr>
              <a:t>Step 3: </a:t>
            </a:r>
            <a:endParaRPr lang="en-US" sz="2000" b="1" dirty="0" smtClean="0">
              <a:latin typeface="Times New Roman" charset="0"/>
              <a:cs typeface="Times New Roman" charset="0"/>
            </a:endParaRPr>
          </a:p>
          <a:p>
            <a:pPr marL="0" indent="0" eaLnBrk="1" hangingPunct="1">
              <a:buNone/>
            </a:pPr>
            <a:r>
              <a:rPr lang="en-US" sz="2000" dirty="0" smtClean="0">
                <a:latin typeface="Times New Roman" charset="0"/>
                <a:cs typeface="Times New Roman" charset="0"/>
              </a:rPr>
              <a:t>    </a:t>
            </a:r>
            <a:r>
              <a:rPr lang="el-GR" sz="2000" dirty="0" smtClean="0">
                <a:latin typeface="Times New Roman" charset="0"/>
                <a:cs typeface="Times New Roman" charset="0"/>
              </a:rPr>
              <a:t>α</a:t>
            </a:r>
            <a:r>
              <a:rPr lang="en-GB" sz="2000" dirty="0" smtClean="0">
                <a:latin typeface="Times New Roman" charset="0"/>
                <a:cs typeface="Times New Roman" charset="0"/>
              </a:rPr>
              <a:t> </a:t>
            </a:r>
            <a:r>
              <a:rPr lang="en-GB" sz="2000" dirty="0" smtClean="0">
                <a:cs typeface="Times New Roman" charset="0"/>
              </a:rPr>
              <a:t>= .025</a:t>
            </a:r>
          </a:p>
          <a:p>
            <a:pPr marL="0" indent="0" eaLnBrk="1" hangingPunct="1">
              <a:buNone/>
            </a:pPr>
            <a:r>
              <a:rPr lang="en-GB" sz="2000" i="1" dirty="0" smtClean="0">
                <a:latin typeface="Times New Roman" charset="0"/>
                <a:cs typeface="Times New Roman" charset="0"/>
              </a:rPr>
              <a:t>    </a:t>
            </a:r>
            <a:r>
              <a:rPr lang="en-GB" sz="2000" i="1" dirty="0" err="1" smtClean="0">
                <a:latin typeface="Times New Roman" charset="0"/>
                <a:cs typeface="Times New Roman" charset="0"/>
              </a:rPr>
              <a:t>df</a:t>
            </a:r>
            <a:r>
              <a:rPr lang="en-GB" sz="2000" i="1" dirty="0" smtClean="0">
                <a:latin typeface="Times New Roman" charset="0"/>
                <a:cs typeface="Times New Roman" charset="0"/>
              </a:rPr>
              <a:t> </a:t>
            </a:r>
            <a:r>
              <a:rPr lang="en-GB" sz="2000" dirty="0" smtClean="0">
                <a:cs typeface="Times New Roman" charset="0"/>
              </a:rPr>
              <a:t>= (</a:t>
            </a:r>
            <a:r>
              <a:rPr lang="en-GB" sz="2000" i="1" dirty="0" smtClean="0">
                <a:latin typeface="Times New Roman" charset="0"/>
                <a:cs typeface="Times New Roman" charset="0"/>
              </a:rPr>
              <a:t>R</a:t>
            </a:r>
            <a:r>
              <a:rPr lang="en-GB" sz="2000" dirty="0" smtClean="0">
                <a:cs typeface="Times New Roman" charset="0"/>
              </a:rPr>
              <a:t> – 1)(</a:t>
            </a:r>
            <a:r>
              <a:rPr lang="en-GB" sz="2000" i="1" dirty="0" smtClean="0">
                <a:latin typeface="Times New Roman" charset="0"/>
                <a:cs typeface="Times New Roman" charset="0"/>
              </a:rPr>
              <a:t>C</a:t>
            </a:r>
            <a:r>
              <a:rPr lang="en-GB" sz="2000" dirty="0" smtClean="0">
                <a:cs typeface="Times New Roman" charset="0"/>
              </a:rPr>
              <a:t> – 1) = (3 – 1)(2 – 1) = 2</a:t>
            </a:r>
          </a:p>
          <a:p>
            <a:pPr marL="0" indent="0" eaLnBrk="1" hangingPunct="1">
              <a:buNone/>
            </a:pPr>
            <a:r>
              <a:rPr lang="en-GB" sz="2000" dirty="0" smtClean="0">
                <a:cs typeface="Times New Roman" charset="0"/>
              </a:rPr>
              <a:t>   The critical value of </a:t>
            </a:r>
            <a:r>
              <a:rPr lang="el-GR" sz="2000" dirty="0" smtClean="0">
                <a:latin typeface="Times New Roman" charset="0"/>
                <a:cs typeface="Times New Roman" charset="0"/>
              </a:rPr>
              <a:t>χ</a:t>
            </a:r>
            <a:r>
              <a:rPr lang="en-GB" sz="2000" baseline="30000" dirty="0" smtClean="0">
                <a:cs typeface="Times New Roman" charset="0"/>
              </a:rPr>
              <a:t>2</a:t>
            </a:r>
            <a:r>
              <a:rPr lang="en-GB" sz="2000" dirty="0" smtClean="0">
                <a:cs typeface="Times New Roman" charset="0"/>
              </a:rPr>
              <a:t> = 7.378</a:t>
            </a:r>
          </a:p>
          <a:p>
            <a:pPr eaLnBrk="1" hangingPunct="1"/>
            <a:endParaRPr lang="en-GB" dirty="0" smtClean="0">
              <a:cs typeface="Times New Roman" charset="0"/>
            </a:endParaRP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en-GB" sz="2800" dirty="0" smtClean="0"/>
              <a:t>Figure 11.8</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9838" y="1666629"/>
            <a:ext cx="5544324" cy="3524742"/>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GB" sz="2800" dirty="0" smtClean="0"/>
              <a:t>Table 11.11 Observed and Expected Frequencies</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040" y="1628247"/>
            <a:ext cx="8125960" cy="3781953"/>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pPr eaLnBrk="1" hangingPunct="1"/>
            <a:r>
              <a:rPr lang="en-GB" sz="2800" dirty="0" smtClean="0"/>
              <a:t>Example 11-8: Solution</a:t>
            </a:r>
          </a:p>
        </p:txBody>
      </p:sp>
      <p:graphicFrame>
        <p:nvGraphicFramePr>
          <p:cNvPr id="8194" name="Object 2"/>
          <p:cNvGraphicFramePr>
            <a:graphicFrameLocks noGrp="1" noChangeAspect="1"/>
          </p:cNvGraphicFramePr>
          <p:nvPr>
            <p:ph type="body" idx="1"/>
            <p:extLst>
              <p:ext uri="{D42A27DB-BD31-4B8C-83A1-F6EECF244321}">
                <p14:modId xmlns:p14="http://schemas.microsoft.com/office/powerpoint/2010/main" val="3332429738"/>
              </p:ext>
            </p:extLst>
          </p:nvPr>
        </p:nvGraphicFramePr>
        <p:xfrm>
          <a:off x="973138" y="2057400"/>
          <a:ext cx="6477000" cy="2801766"/>
        </p:xfrm>
        <a:graphic>
          <a:graphicData uri="http://schemas.openxmlformats.org/presentationml/2006/ole">
            <mc:AlternateContent xmlns:mc="http://schemas.openxmlformats.org/markup-compatibility/2006">
              <mc:Choice xmlns:v="urn:schemas-microsoft-com:vml" Requires="v">
                <p:oleObj spid="_x0000_s8236" name="Equation" r:id="rId3" imgW="3581280" imgH="1549080" progId="">
                  <p:embed/>
                </p:oleObj>
              </mc:Choice>
              <mc:Fallback>
                <p:oleObj name="Equation" r:id="rId3" imgW="3581280" imgH="1549080" progId="">
                  <p:embed/>
                  <p:pic>
                    <p:nvPicPr>
                      <p:cNvPr id="0" name="Picture 3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138" y="2057400"/>
                        <a:ext cx="6477000" cy="2801766"/>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8197" name="Text Box 5"/>
          <p:cNvSpPr txBox="1">
            <a:spLocks noChangeArrowheads="1"/>
          </p:cNvSpPr>
          <p:nvPr/>
        </p:nvSpPr>
        <p:spPr bwMode="auto">
          <a:xfrm>
            <a:off x="523672" y="1504950"/>
            <a:ext cx="198120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charset="0"/>
                <a:ea typeface="ＭＳ Ｐゴシック" charset="-128"/>
              </a:defRPr>
            </a:lvl1pPr>
            <a:lvl2pPr marL="742950" indent="-285750">
              <a:defRPr>
                <a:solidFill>
                  <a:schemeClr val="tx1"/>
                </a:solidFill>
                <a:latin typeface="Verdana" charset="0"/>
                <a:ea typeface="ＭＳ Ｐゴシック" charset="-128"/>
              </a:defRPr>
            </a:lvl2pPr>
            <a:lvl3pPr marL="1143000" indent="-228600">
              <a:defRPr>
                <a:solidFill>
                  <a:schemeClr val="tx1"/>
                </a:solidFill>
                <a:latin typeface="Verdana" charset="0"/>
                <a:ea typeface="ＭＳ Ｐゴシック" charset="-128"/>
              </a:defRPr>
            </a:lvl3pPr>
            <a:lvl4pPr marL="1600200" indent="-228600">
              <a:defRPr>
                <a:solidFill>
                  <a:schemeClr val="tx1"/>
                </a:solidFill>
                <a:latin typeface="Verdana" charset="0"/>
                <a:ea typeface="ＭＳ Ｐゴシック" charset="-128"/>
              </a:defRPr>
            </a:lvl4pPr>
            <a:lvl5pPr marL="2057400" indent="-228600">
              <a:defRPr>
                <a:solidFill>
                  <a:schemeClr val="tx1"/>
                </a:solidFill>
                <a:latin typeface="Verdana" charset="0"/>
                <a:ea typeface="ＭＳ Ｐゴシック" charset="-128"/>
              </a:defRPr>
            </a:lvl5pPr>
            <a:lvl6pPr marL="2514600" indent="-228600" eaLnBrk="0" fontAlgn="base" hangingPunct="0">
              <a:spcBef>
                <a:spcPct val="0"/>
              </a:spcBef>
              <a:spcAft>
                <a:spcPct val="0"/>
              </a:spcAft>
              <a:defRPr>
                <a:solidFill>
                  <a:schemeClr val="tx1"/>
                </a:solidFill>
                <a:latin typeface="Verdana" charset="0"/>
                <a:ea typeface="ＭＳ Ｐゴシック" charset="-128"/>
              </a:defRPr>
            </a:lvl6pPr>
            <a:lvl7pPr marL="2971800" indent="-228600" eaLnBrk="0" fontAlgn="base" hangingPunct="0">
              <a:spcBef>
                <a:spcPct val="0"/>
              </a:spcBef>
              <a:spcAft>
                <a:spcPct val="0"/>
              </a:spcAft>
              <a:defRPr>
                <a:solidFill>
                  <a:schemeClr val="tx1"/>
                </a:solidFill>
                <a:latin typeface="Verdana" charset="0"/>
                <a:ea typeface="ＭＳ Ｐゴシック" charset="-128"/>
              </a:defRPr>
            </a:lvl7pPr>
            <a:lvl8pPr marL="3429000" indent="-228600" eaLnBrk="0" fontAlgn="base" hangingPunct="0">
              <a:spcBef>
                <a:spcPct val="0"/>
              </a:spcBef>
              <a:spcAft>
                <a:spcPct val="0"/>
              </a:spcAft>
              <a:defRPr>
                <a:solidFill>
                  <a:schemeClr val="tx1"/>
                </a:solidFill>
                <a:latin typeface="Verdana" charset="0"/>
                <a:ea typeface="ＭＳ Ｐゴシック" charset="-128"/>
              </a:defRPr>
            </a:lvl8pPr>
            <a:lvl9pPr marL="3886200" indent="-228600" eaLnBrk="0" fontAlgn="base" hangingPunct="0">
              <a:spcBef>
                <a:spcPct val="0"/>
              </a:spcBef>
              <a:spcAft>
                <a:spcPct val="0"/>
              </a:spcAft>
              <a:defRPr>
                <a:solidFill>
                  <a:schemeClr val="tx1"/>
                </a:solidFill>
                <a:latin typeface="Verdana" charset="0"/>
                <a:ea typeface="ＭＳ Ｐゴシック" charset="-128"/>
              </a:defRPr>
            </a:lvl9pPr>
          </a:lstStyle>
          <a:p>
            <a:pPr>
              <a:spcBef>
                <a:spcPct val="50000"/>
              </a:spcBef>
            </a:pPr>
            <a:r>
              <a:rPr lang="en-US" sz="2000" b="1" dirty="0"/>
              <a:t>Step 4: </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GB" sz="2800" dirty="0" smtClean="0"/>
              <a:t>Example 11-8: Solution</a:t>
            </a:r>
          </a:p>
        </p:txBody>
      </p:sp>
      <p:sp>
        <p:nvSpPr>
          <p:cNvPr id="77827" name="Rectangle 3"/>
          <p:cNvSpPr>
            <a:spLocks noGrp="1" noChangeArrowheads="1"/>
          </p:cNvSpPr>
          <p:nvPr>
            <p:ph type="body" idx="1"/>
          </p:nvPr>
        </p:nvSpPr>
        <p:spPr>
          <a:xfrm>
            <a:off x="486384" y="1447800"/>
            <a:ext cx="8534400" cy="3962400"/>
          </a:xfrm>
        </p:spPr>
        <p:txBody>
          <a:bodyPr/>
          <a:lstStyle/>
          <a:p>
            <a:pPr marL="0" indent="0" eaLnBrk="1" hangingPunct="1">
              <a:buNone/>
            </a:pPr>
            <a:r>
              <a:rPr lang="en-GB" sz="2000" b="1" dirty="0" smtClean="0"/>
              <a:t>Step 5: </a:t>
            </a:r>
          </a:p>
          <a:p>
            <a:pPr marL="0" indent="0" eaLnBrk="1" hangingPunct="1">
              <a:buNone/>
            </a:pPr>
            <a:r>
              <a:rPr lang="en-GB" sz="2000" dirty="0" smtClean="0"/>
              <a:t>   The value of the test statistic </a:t>
            </a:r>
            <a:r>
              <a:rPr lang="el-GR" sz="2000" dirty="0" smtClean="0">
                <a:latin typeface="Times New Roman" charset="0"/>
                <a:cs typeface="Times New Roman" charset="0"/>
              </a:rPr>
              <a:t>χ</a:t>
            </a:r>
            <a:r>
              <a:rPr lang="en-GB" sz="2000" baseline="30000" dirty="0" smtClean="0"/>
              <a:t>2</a:t>
            </a:r>
            <a:r>
              <a:rPr lang="en-GB" sz="2000" dirty="0" smtClean="0"/>
              <a:t> = 4.339 </a:t>
            </a:r>
          </a:p>
          <a:p>
            <a:pPr lvl="1" eaLnBrk="1" hangingPunct="1"/>
            <a:r>
              <a:rPr lang="en-GB" sz="2000" dirty="0" smtClean="0"/>
              <a:t>It is less than the critical value of </a:t>
            </a:r>
            <a:r>
              <a:rPr lang="el-GR" sz="2000" dirty="0" smtClean="0">
                <a:latin typeface="Times New Roman" charset="0"/>
                <a:cs typeface="Times New Roman" charset="0"/>
              </a:rPr>
              <a:t>χ</a:t>
            </a:r>
            <a:r>
              <a:rPr lang="en-GB" sz="2000" baseline="30000" dirty="0" smtClean="0"/>
              <a:t>2</a:t>
            </a:r>
            <a:endParaRPr lang="en-GB" sz="2000" dirty="0" smtClean="0"/>
          </a:p>
          <a:p>
            <a:pPr lvl="1" eaLnBrk="1" hangingPunct="1"/>
            <a:r>
              <a:rPr lang="en-GB" sz="2000" dirty="0" smtClean="0"/>
              <a:t>It falls in the </a:t>
            </a:r>
            <a:r>
              <a:rPr lang="en-GB" sz="2000" dirty="0" err="1" smtClean="0"/>
              <a:t>nonrejection</a:t>
            </a:r>
            <a:r>
              <a:rPr lang="en-GB" sz="2000" dirty="0" smtClean="0"/>
              <a:t> region</a:t>
            </a:r>
          </a:p>
          <a:p>
            <a:pPr marL="0" indent="0" eaLnBrk="1" hangingPunct="1">
              <a:buNone/>
            </a:pPr>
            <a:r>
              <a:rPr lang="en-GB" sz="2000" dirty="0" smtClean="0"/>
              <a:t>   Hence, we fail to reject the null hypothesis.</a:t>
            </a:r>
          </a:p>
          <a:p>
            <a:pPr marL="0" indent="0" eaLnBrk="1" hangingPunct="1">
              <a:buNone/>
            </a:pPr>
            <a:endParaRPr lang="en-GB" sz="2000" dirty="0" smtClean="0"/>
          </a:p>
          <a:p>
            <a:pPr marL="0" indent="0" eaLnBrk="1" hangingPunct="1">
              <a:buNone/>
            </a:pPr>
            <a:r>
              <a:rPr lang="en-GB" sz="2000" dirty="0" smtClean="0"/>
              <a:t>   We state that the distribution of households with regard to </a:t>
            </a:r>
          </a:p>
          <a:p>
            <a:pPr marL="0" indent="0" eaLnBrk="1" hangingPunct="1">
              <a:buNone/>
            </a:pPr>
            <a:r>
              <a:rPr lang="en-GB" sz="2000" dirty="0"/>
              <a:t> </a:t>
            </a:r>
            <a:r>
              <a:rPr lang="en-GB" sz="2000" dirty="0" smtClean="0"/>
              <a:t>  income appears to be similar (homogeneous) in California and </a:t>
            </a:r>
          </a:p>
          <a:p>
            <a:pPr marL="0" indent="0" eaLnBrk="1" hangingPunct="1">
              <a:buNone/>
            </a:pPr>
            <a:r>
              <a:rPr lang="en-GB" sz="2000" dirty="0"/>
              <a:t> </a:t>
            </a:r>
            <a:r>
              <a:rPr lang="en-GB" sz="2000" dirty="0" smtClean="0"/>
              <a:t>  Wisconsin.</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GB" sz="2800" dirty="0" smtClean="0"/>
              <a:t>INFERENCES ABOUT THE POPULATION VARIANCE</a:t>
            </a:r>
          </a:p>
        </p:txBody>
      </p:sp>
      <p:sp>
        <p:nvSpPr>
          <p:cNvPr id="78851" name="Rectangle 3"/>
          <p:cNvSpPr>
            <a:spLocks noGrp="1" noChangeArrowheads="1"/>
          </p:cNvSpPr>
          <p:nvPr>
            <p:ph type="body" idx="1"/>
          </p:nvPr>
        </p:nvSpPr>
        <p:spPr>
          <a:xfrm>
            <a:off x="410184" y="1560513"/>
            <a:ext cx="7743216" cy="2630487"/>
          </a:xfrm>
        </p:spPr>
        <p:txBody>
          <a:bodyPr/>
          <a:lstStyle/>
          <a:p>
            <a:pPr eaLnBrk="1" hangingPunct="1"/>
            <a:r>
              <a:rPr lang="en-GB" sz="2000" dirty="0" smtClean="0"/>
              <a:t>Estimation of the Population Variance</a:t>
            </a:r>
          </a:p>
          <a:p>
            <a:pPr eaLnBrk="1" hangingPunct="1"/>
            <a:r>
              <a:rPr lang="en-GB" sz="2000" dirty="0" smtClean="0"/>
              <a:t>Hypothesis Tests About the Population Variance</a:t>
            </a:r>
          </a:p>
        </p:txBody>
      </p:sp>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9600"/>
            <a:ext cx="9144000" cy="663373"/>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pPr eaLnBrk="1" hangingPunct="1"/>
            <a:r>
              <a:rPr lang="en-GB" sz="2800" dirty="0" smtClean="0"/>
              <a:t>INFERENCES ABOUT THE POPULATION VARIANCE</a:t>
            </a:r>
          </a:p>
        </p:txBody>
      </p:sp>
      <p:sp>
        <p:nvSpPr>
          <p:cNvPr id="9220" name="Rectangle 3"/>
          <p:cNvSpPr>
            <a:spLocks noGrp="1" noChangeArrowheads="1"/>
          </p:cNvSpPr>
          <p:nvPr>
            <p:ph type="body" idx="1"/>
          </p:nvPr>
        </p:nvSpPr>
        <p:spPr>
          <a:xfrm>
            <a:off x="142672" y="1514272"/>
            <a:ext cx="8345488" cy="3210128"/>
          </a:xfrm>
        </p:spPr>
        <p:txBody>
          <a:bodyPr/>
          <a:lstStyle/>
          <a:p>
            <a:pPr eaLnBrk="1" hangingPunct="1">
              <a:lnSpc>
                <a:spcPct val="90000"/>
              </a:lnSpc>
              <a:buFont typeface="Wingdings" charset="2"/>
              <a:buChar char=" "/>
            </a:pPr>
            <a:r>
              <a:rPr lang="en-GB" sz="2000" dirty="0" smtClean="0">
                <a:solidFill>
                  <a:schemeClr val="folHlink"/>
                </a:solidFill>
              </a:rPr>
              <a:t>Sampling Distribution of (</a:t>
            </a:r>
            <a:r>
              <a:rPr lang="en-GB" sz="2000" i="1" dirty="0" smtClean="0">
                <a:solidFill>
                  <a:schemeClr val="folHlink"/>
                </a:solidFill>
                <a:latin typeface="Times New Roman" charset="0"/>
                <a:cs typeface="Times New Roman" charset="0"/>
              </a:rPr>
              <a:t>n</a:t>
            </a:r>
            <a:r>
              <a:rPr lang="en-GB" sz="2000" dirty="0" smtClean="0">
                <a:solidFill>
                  <a:schemeClr val="folHlink"/>
                </a:solidFill>
              </a:rPr>
              <a:t> – 1)</a:t>
            </a:r>
            <a:r>
              <a:rPr lang="en-GB" sz="2000" i="1" dirty="0" smtClean="0">
                <a:solidFill>
                  <a:schemeClr val="folHlink"/>
                </a:solidFill>
                <a:latin typeface="Times New Roman" charset="0"/>
                <a:cs typeface="Times New Roman" charset="0"/>
              </a:rPr>
              <a:t>s</a:t>
            </a:r>
            <a:r>
              <a:rPr lang="en-GB" sz="2000" baseline="30000" dirty="0" smtClean="0">
                <a:solidFill>
                  <a:schemeClr val="folHlink"/>
                </a:solidFill>
              </a:rPr>
              <a:t>2</a:t>
            </a:r>
            <a:r>
              <a:rPr lang="en-GB" sz="2000" dirty="0" smtClean="0">
                <a:solidFill>
                  <a:schemeClr val="folHlink"/>
                </a:solidFill>
              </a:rPr>
              <a:t> / </a:t>
            </a:r>
            <a:r>
              <a:rPr lang="el-GR" sz="2000" dirty="0" smtClean="0">
                <a:solidFill>
                  <a:schemeClr val="folHlink"/>
                </a:solidFill>
                <a:latin typeface="Times New Roman" charset="0"/>
                <a:cs typeface="Times New Roman" charset="0"/>
              </a:rPr>
              <a:t>σ</a:t>
            </a:r>
            <a:r>
              <a:rPr lang="en-GB" sz="2000" baseline="30000" dirty="0" smtClean="0">
                <a:solidFill>
                  <a:schemeClr val="folHlink"/>
                </a:solidFill>
              </a:rPr>
              <a:t>2</a:t>
            </a:r>
            <a:endParaRPr lang="en-GB" sz="2000" dirty="0" smtClean="0">
              <a:solidFill>
                <a:schemeClr val="folHlink"/>
              </a:solidFill>
            </a:endParaRPr>
          </a:p>
          <a:p>
            <a:pPr eaLnBrk="1" hangingPunct="1">
              <a:lnSpc>
                <a:spcPct val="90000"/>
              </a:lnSpc>
              <a:buFont typeface="Wingdings" charset="2"/>
              <a:buChar char=" "/>
            </a:pPr>
            <a:r>
              <a:rPr lang="en-GB" sz="2000" dirty="0" smtClean="0"/>
              <a:t>If the population from which the sample is selected is (approximately) normally distributed, then</a:t>
            </a:r>
          </a:p>
          <a:p>
            <a:pPr eaLnBrk="1" hangingPunct="1">
              <a:lnSpc>
                <a:spcPct val="90000"/>
              </a:lnSpc>
              <a:buFont typeface="Wingdings" charset="2"/>
              <a:buChar char=" "/>
            </a:pPr>
            <a:endParaRPr lang="en-GB" sz="2000" dirty="0" smtClean="0"/>
          </a:p>
          <a:p>
            <a:pPr eaLnBrk="1" hangingPunct="1">
              <a:lnSpc>
                <a:spcPct val="90000"/>
              </a:lnSpc>
              <a:buFont typeface="Wingdings" charset="2"/>
              <a:buChar char=" "/>
            </a:pPr>
            <a:endParaRPr lang="en-GB" sz="2000" dirty="0" smtClean="0"/>
          </a:p>
          <a:p>
            <a:pPr eaLnBrk="1" hangingPunct="1">
              <a:lnSpc>
                <a:spcPct val="90000"/>
              </a:lnSpc>
              <a:buFont typeface="Wingdings" charset="2"/>
              <a:buChar char=" "/>
            </a:pPr>
            <a:endParaRPr lang="en-GB" sz="2000" dirty="0" smtClean="0"/>
          </a:p>
          <a:p>
            <a:pPr eaLnBrk="1" hangingPunct="1">
              <a:lnSpc>
                <a:spcPct val="90000"/>
              </a:lnSpc>
              <a:buFont typeface="Wingdings" charset="2"/>
              <a:buChar char=" "/>
            </a:pPr>
            <a:endParaRPr lang="en-GB" sz="2000" dirty="0" smtClean="0"/>
          </a:p>
          <a:p>
            <a:pPr eaLnBrk="1" hangingPunct="1">
              <a:lnSpc>
                <a:spcPct val="90000"/>
              </a:lnSpc>
              <a:buFont typeface="Wingdings" charset="2"/>
              <a:buChar char=" "/>
            </a:pPr>
            <a:r>
              <a:rPr lang="en-GB" sz="2000" dirty="0" smtClean="0"/>
              <a:t>has a chi-square distribution with </a:t>
            </a:r>
            <a:r>
              <a:rPr lang="en-GB" sz="2000" i="1" dirty="0" smtClean="0">
                <a:latin typeface="Times New Roman" charset="0"/>
                <a:cs typeface="Times New Roman" charset="0"/>
              </a:rPr>
              <a:t>n</a:t>
            </a:r>
            <a:r>
              <a:rPr lang="en-GB" sz="2000" dirty="0" smtClean="0"/>
              <a:t> – 1 degrees of freedom.</a:t>
            </a:r>
          </a:p>
        </p:txBody>
      </p:sp>
      <p:graphicFrame>
        <p:nvGraphicFramePr>
          <p:cNvPr id="9218" name="Object 2"/>
          <p:cNvGraphicFramePr>
            <a:graphicFrameLocks noChangeAspect="1"/>
          </p:cNvGraphicFramePr>
          <p:nvPr>
            <p:extLst>
              <p:ext uri="{D42A27DB-BD31-4B8C-83A1-F6EECF244321}">
                <p14:modId xmlns:p14="http://schemas.microsoft.com/office/powerpoint/2010/main" val="819054563"/>
              </p:ext>
            </p:extLst>
          </p:nvPr>
        </p:nvGraphicFramePr>
        <p:xfrm>
          <a:off x="3276600" y="2590800"/>
          <a:ext cx="1616231" cy="1066800"/>
        </p:xfrm>
        <a:graphic>
          <a:graphicData uri="http://schemas.openxmlformats.org/presentationml/2006/ole">
            <mc:AlternateContent xmlns:mc="http://schemas.openxmlformats.org/markup-compatibility/2006">
              <mc:Choice xmlns:v="urn:schemas-microsoft-com:vml" Requires="v">
                <p:oleObj spid="_x0000_s9259" name="Equation" r:id="rId3" imgW="634680" imgH="419040" progId="">
                  <p:embed/>
                </p:oleObj>
              </mc:Choice>
              <mc:Fallback>
                <p:oleObj name="Equation" r:id="rId3" imgW="634680" imgH="419040" progId="">
                  <p:embed/>
                  <p:pic>
                    <p:nvPicPr>
                      <p:cNvPr id="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590800"/>
                        <a:ext cx="1616231" cy="10668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eaLnBrk="1" hangingPunct="1"/>
            <a:r>
              <a:rPr lang="en-GB" sz="2800" dirty="0" smtClean="0"/>
              <a:t>Estimation of the Population Variance</a:t>
            </a:r>
          </a:p>
        </p:txBody>
      </p:sp>
      <p:sp>
        <p:nvSpPr>
          <p:cNvPr id="10244" name="Rectangle 3"/>
          <p:cNvSpPr>
            <a:spLocks noGrp="1" noChangeArrowheads="1"/>
          </p:cNvSpPr>
          <p:nvPr>
            <p:ph type="body" sz="half" idx="1"/>
          </p:nvPr>
        </p:nvSpPr>
        <p:spPr>
          <a:xfrm>
            <a:off x="142672" y="1467257"/>
            <a:ext cx="8467928" cy="2037944"/>
          </a:xfrm>
        </p:spPr>
        <p:txBody>
          <a:bodyPr/>
          <a:lstStyle/>
          <a:p>
            <a:pPr eaLnBrk="1" hangingPunct="1">
              <a:buFont typeface="Wingdings" charset="2"/>
              <a:buChar char=" "/>
            </a:pPr>
            <a:r>
              <a:rPr lang="en-GB" sz="2000" b="1" dirty="0" smtClean="0">
                <a:solidFill>
                  <a:schemeClr val="folHlink"/>
                </a:solidFill>
              </a:rPr>
              <a:t>Confidence interval for the population variance </a:t>
            </a:r>
            <a:r>
              <a:rPr lang="el-GR" sz="2000" b="1" dirty="0" smtClean="0">
                <a:solidFill>
                  <a:schemeClr val="folHlink"/>
                </a:solidFill>
                <a:latin typeface="Times New Roman" charset="0"/>
                <a:cs typeface="Times New Roman" charset="0"/>
              </a:rPr>
              <a:t>σ</a:t>
            </a:r>
            <a:r>
              <a:rPr lang="en-GB" sz="2000" b="1" baseline="30000" dirty="0" smtClean="0">
                <a:solidFill>
                  <a:schemeClr val="folHlink"/>
                </a:solidFill>
              </a:rPr>
              <a:t>2</a:t>
            </a:r>
            <a:endParaRPr lang="en-GB" sz="2000" dirty="0" smtClean="0">
              <a:solidFill>
                <a:schemeClr val="folHlink"/>
              </a:solidFill>
            </a:endParaRPr>
          </a:p>
          <a:p>
            <a:pPr eaLnBrk="1" hangingPunct="1">
              <a:buFont typeface="Wingdings" charset="2"/>
              <a:buChar char=" "/>
            </a:pPr>
            <a:r>
              <a:rPr lang="en-GB" sz="2000" dirty="0" smtClean="0"/>
              <a:t>Assuming that the population from which the sample is selected is (approximately) normally distributed, we obtain the (1 – </a:t>
            </a:r>
            <a:r>
              <a:rPr lang="el-GR" sz="2000" dirty="0" smtClean="0">
                <a:latin typeface="Times New Roman" charset="0"/>
                <a:cs typeface="Times New Roman" charset="0"/>
              </a:rPr>
              <a:t>α</a:t>
            </a:r>
            <a:r>
              <a:rPr lang="en-GB" sz="2000" dirty="0" smtClean="0"/>
              <a:t>)100% </a:t>
            </a:r>
            <a:r>
              <a:rPr lang="en-GB" sz="2000" b="1" i="1" u="sng" dirty="0" smtClean="0">
                <a:solidFill>
                  <a:schemeClr val="hlink"/>
                </a:solidFill>
              </a:rPr>
              <a:t>confidence interval for the population variance </a:t>
            </a:r>
            <a:r>
              <a:rPr lang="el-GR" sz="2000" b="1" i="1" u="sng" dirty="0" smtClean="0">
                <a:solidFill>
                  <a:schemeClr val="hlink"/>
                </a:solidFill>
                <a:latin typeface="Times New Roman" charset="0"/>
                <a:cs typeface="Times New Roman" charset="0"/>
              </a:rPr>
              <a:t>σ</a:t>
            </a:r>
            <a:r>
              <a:rPr lang="en-GB" sz="2000" b="1" i="1" u="sng" baseline="30000" dirty="0" smtClean="0">
                <a:solidFill>
                  <a:schemeClr val="hlink"/>
                </a:solidFill>
              </a:rPr>
              <a:t>2</a:t>
            </a:r>
            <a:r>
              <a:rPr lang="en-GB" sz="2000" dirty="0" smtClean="0"/>
              <a:t> as</a:t>
            </a:r>
          </a:p>
          <a:p>
            <a:pPr eaLnBrk="1" hangingPunct="1"/>
            <a:endParaRPr lang="en-GB" sz="2000" dirty="0" smtClean="0"/>
          </a:p>
        </p:txBody>
      </p:sp>
      <p:graphicFrame>
        <p:nvGraphicFramePr>
          <p:cNvPr id="10242" name="Object 2"/>
          <p:cNvGraphicFramePr>
            <a:graphicFrameLocks noChangeAspect="1"/>
          </p:cNvGraphicFramePr>
          <p:nvPr>
            <p:extLst>
              <p:ext uri="{D42A27DB-BD31-4B8C-83A1-F6EECF244321}">
                <p14:modId xmlns:p14="http://schemas.microsoft.com/office/powerpoint/2010/main" val="1152093105"/>
              </p:ext>
            </p:extLst>
          </p:nvPr>
        </p:nvGraphicFramePr>
        <p:xfrm>
          <a:off x="2667000" y="3691821"/>
          <a:ext cx="3581400" cy="1108779"/>
        </p:xfrm>
        <a:graphic>
          <a:graphicData uri="http://schemas.openxmlformats.org/presentationml/2006/ole">
            <mc:AlternateContent xmlns:mc="http://schemas.openxmlformats.org/markup-compatibility/2006">
              <mc:Choice xmlns:v="urn:schemas-microsoft-com:vml" Requires="v">
                <p:oleObj spid="_x0000_s10285" name="Equation" r:id="rId3" imgW="1663560" imgH="482400" progId="">
                  <p:embed/>
                </p:oleObj>
              </mc:Choice>
              <mc:Fallback>
                <p:oleObj name="Equation" r:id="rId3" imgW="1663560" imgH="482400" progId="">
                  <p:embed/>
                  <p:pic>
                    <p:nvPicPr>
                      <p:cNvPr id="0"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3691821"/>
                        <a:ext cx="3581400" cy="1108779"/>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lstStyle/>
          <a:p>
            <a:pPr eaLnBrk="1" hangingPunct="1"/>
            <a:r>
              <a:rPr lang="en-GB" sz="2800" dirty="0" smtClean="0"/>
              <a:t>Estimation of the Population Variance</a:t>
            </a:r>
          </a:p>
        </p:txBody>
      </p:sp>
      <p:sp>
        <p:nvSpPr>
          <p:cNvPr id="11269" name="Rectangle 3"/>
          <p:cNvSpPr>
            <a:spLocks noGrp="1" noChangeArrowheads="1"/>
          </p:cNvSpPr>
          <p:nvPr>
            <p:ph type="body" sz="half" idx="1"/>
          </p:nvPr>
        </p:nvSpPr>
        <p:spPr>
          <a:xfrm>
            <a:off x="152400" y="1524000"/>
            <a:ext cx="8077200" cy="2438400"/>
          </a:xfrm>
        </p:spPr>
        <p:txBody>
          <a:bodyPr/>
          <a:lstStyle/>
          <a:p>
            <a:pPr eaLnBrk="1" hangingPunct="1">
              <a:buFont typeface="Wingdings" charset="2"/>
              <a:buChar char=" "/>
            </a:pPr>
            <a:r>
              <a:rPr lang="en-GB" sz="2000" dirty="0" smtClean="0"/>
              <a:t>where        and         are obtained from the chi-square distribution for </a:t>
            </a:r>
            <a:r>
              <a:rPr lang="el-GR" sz="2000" dirty="0">
                <a:latin typeface="Times New Roman" charset="0"/>
                <a:cs typeface="Times New Roman" charset="0"/>
              </a:rPr>
              <a:t>α </a:t>
            </a:r>
            <a:r>
              <a:rPr lang="en-GB" sz="2000" dirty="0" smtClean="0">
                <a:sym typeface="Mathematica1" pitchFamily="2" charset="2"/>
              </a:rPr>
              <a:t>/2 and 1- </a:t>
            </a:r>
            <a:r>
              <a:rPr lang="el-GR" sz="2000" dirty="0">
                <a:latin typeface="Times New Roman" charset="0"/>
                <a:cs typeface="Times New Roman" charset="0"/>
              </a:rPr>
              <a:t>α </a:t>
            </a:r>
            <a:r>
              <a:rPr lang="en-GB" sz="2000" dirty="0" smtClean="0">
                <a:sym typeface="Mathematica1" pitchFamily="2" charset="2"/>
              </a:rPr>
              <a:t>/2 areas in the right tail of the chi-square distribution curve, respectively, and for </a:t>
            </a:r>
            <a:r>
              <a:rPr lang="en-GB" sz="2000" i="1" dirty="0" smtClean="0">
                <a:sym typeface="Mathematica1" pitchFamily="2" charset="2"/>
              </a:rPr>
              <a:t>n</a:t>
            </a:r>
            <a:r>
              <a:rPr lang="en-GB" sz="2000" dirty="0" smtClean="0">
                <a:sym typeface="Mathematica1" pitchFamily="2" charset="2"/>
              </a:rPr>
              <a:t>-1 degrees of freedom. The confidence interval for the population standard deviation can be obtained by simply taking the positive square roots of the two limits of the confidence interval for the population variance. </a:t>
            </a:r>
            <a:endParaRPr lang="en-GB" sz="2000" b="1" dirty="0" smtClean="0"/>
          </a:p>
        </p:txBody>
      </p:sp>
      <p:graphicFrame>
        <p:nvGraphicFramePr>
          <p:cNvPr id="11266" name="Object 2"/>
          <p:cNvGraphicFramePr>
            <a:graphicFrameLocks noGrp="1" noChangeAspect="1"/>
          </p:cNvGraphicFramePr>
          <p:nvPr>
            <p:ph sz="quarter" idx="2"/>
            <p:extLst>
              <p:ext uri="{D42A27DB-BD31-4B8C-83A1-F6EECF244321}">
                <p14:modId xmlns:p14="http://schemas.microsoft.com/office/powerpoint/2010/main" val="1475338395"/>
              </p:ext>
            </p:extLst>
          </p:nvPr>
        </p:nvGraphicFramePr>
        <p:xfrm>
          <a:off x="1447800" y="1489679"/>
          <a:ext cx="503802" cy="398843"/>
        </p:xfrm>
        <a:graphic>
          <a:graphicData uri="http://schemas.openxmlformats.org/presentationml/2006/ole">
            <mc:AlternateContent xmlns:mc="http://schemas.openxmlformats.org/markup-compatibility/2006">
              <mc:Choice xmlns:v="urn:schemas-microsoft-com:vml" Requires="v">
                <p:oleObj spid="_x0000_s11347" name="Equation" r:id="rId3" imgW="304560" imgH="241200" progId="">
                  <p:embed/>
                </p:oleObj>
              </mc:Choice>
              <mc:Fallback>
                <p:oleObj name="Equation" r:id="rId3" imgW="304560" imgH="241200" progId="">
                  <p:embed/>
                  <p:pic>
                    <p:nvPicPr>
                      <p:cNvPr id="0" name="Picture 6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1489679"/>
                        <a:ext cx="503802" cy="398843"/>
                      </a:xfrm>
                      <a:prstGeom prst="rect">
                        <a:avLst/>
                      </a:prstGeom>
                      <a:noFill/>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graphicFrame>
        <p:nvGraphicFramePr>
          <p:cNvPr id="11267" name="Object 3"/>
          <p:cNvGraphicFramePr>
            <a:graphicFrameLocks noGrp="1" noChangeAspect="1"/>
          </p:cNvGraphicFramePr>
          <p:nvPr>
            <p:ph sz="quarter" idx="3"/>
            <p:extLst>
              <p:ext uri="{D42A27DB-BD31-4B8C-83A1-F6EECF244321}">
                <p14:modId xmlns:p14="http://schemas.microsoft.com/office/powerpoint/2010/main" val="2972534462"/>
              </p:ext>
            </p:extLst>
          </p:nvPr>
        </p:nvGraphicFramePr>
        <p:xfrm>
          <a:off x="2634049" y="1489679"/>
          <a:ext cx="671735" cy="398843"/>
        </p:xfrm>
        <a:graphic>
          <a:graphicData uri="http://schemas.openxmlformats.org/presentationml/2006/ole">
            <mc:AlternateContent xmlns:mc="http://schemas.openxmlformats.org/markup-compatibility/2006">
              <mc:Choice xmlns:v="urn:schemas-microsoft-com:vml" Requires="v">
                <p:oleObj spid="_x0000_s11348" name="Equation" r:id="rId5" imgW="406080" imgH="241200" progId="">
                  <p:embed/>
                </p:oleObj>
              </mc:Choice>
              <mc:Fallback>
                <p:oleObj name="Equation" r:id="rId5" imgW="406080" imgH="241200" progId="">
                  <p:embed/>
                  <p:pic>
                    <p:nvPicPr>
                      <p:cNvPr id="0" name="Picture 66"/>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4049" y="1489679"/>
                        <a:ext cx="671735" cy="398843"/>
                      </a:xfrm>
                      <a:prstGeom prst="rect">
                        <a:avLst/>
                      </a:prstGeom>
                      <a:noFill/>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5921" dir="2700000" algn="ctr" rotWithShape="0">
                                <a:srgbClr val="808080"/>
                              </a:outerShdw>
                            </a:effectLst>
                          </a14:hiddenEffects>
                        </a:ext>
                      </a:extLst>
                    </p:spPr>
                  </p:pic>
                </p:oleObj>
              </mc:Fallback>
            </mc:AlternateContent>
          </a:graphicData>
        </a:graphic>
      </p:graphicFrame>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en-GB" sz="2800" dirty="0" smtClean="0"/>
              <a:t>Hypothesis Tests About the Population Variance</a:t>
            </a:r>
          </a:p>
        </p:txBody>
      </p:sp>
      <p:sp>
        <p:nvSpPr>
          <p:cNvPr id="13316" name="Rectangle 3"/>
          <p:cNvSpPr>
            <a:spLocks noGrp="1" noChangeArrowheads="1"/>
          </p:cNvSpPr>
          <p:nvPr>
            <p:ph type="body" idx="1"/>
          </p:nvPr>
        </p:nvSpPr>
        <p:spPr>
          <a:xfrm>
            <a:off x="115112" y="1504544"/>
            <a:ext cx="8497888" cy="3067456"/>
          </a:xfrm>
        </p:spPr>
        <p:txBody>
          <a:bodyPr/>
          <a:lstStyle/>
          <a:p>
            <a:pPr eaLnBrk="1" hangingPunct="1">
              <a:lnSpc>
                <a:spcPct val="80000"/>
              </a:lnSpc>
              <a:buFont typeface="Wingdings" charset="2"/>
              <a:buChar char=" "/>
            </a:pPr>
            <a:r>
              <a:rPr lang="en-GB" sz="2000" b="1" u="sng" dirty="0" smtClean="0">
                <a:solidFill>
                  <a:schemeClr val="folHlink"/>
                </a:solidFill>
              </a:rPr>
              <a:t>Test statistic for a Test of Hypothesis About </a:t>
            </a:r>
            <a:r>
              <a:rPr lang="el-GR" sz="2000" dirty="0" smtClean="0">
                <a:solidFill>
                  <a:schemeClr val="folHlink"/>
                </a:solidFill>
                <a:latin typeface="Times New Roman" charset="0"/>
                <a:cs typeface="Times New Roman" charset="0"/>
              </a:rPr>
              <a:t>σ</a:t>
            </a:r>
            <a:r>
              <a:rPr lang="en-GB" sz="2000" baseline="30000" dirty="0" smtClean="0">
                <a:solidFill>
                  <a:schemeClr val="folHlink"/>
                </a:solidFill>
              </a:rPr>
              <a:t>2</a:t>
            </a:r>
            <a:r>
              <a:rPr lang="en-GB" sz="2000" dirty="0" smtClean="0">
                <a:solidFill>
                  <a:schemeClr val="folHlink"/>
                </a:solidFill>
              </a:rPr>
              <a:t> </a:t>
            </a:r>
          </a:p>
          <a:p>
            <a:pPr eaLnBrk="1" hangingPunct="1">
              <a:lnSpc>
                <a:spcPct val="80000"/>
              </a:lnSpc>
              <a:buFont typeface="Wingdings" charset="2"/>
              <a:buChar char=" "/>
            </a:pPr>
            <a:r>
              <a:rPr lang="en-GB" sz="2000" dirty="0" smtClean="0"/>
              <a:t>The value of the </a:t>
            </a:r>
            <a:r>
              <a:rPr lang="en-GB" sz="2000" b="1" i="1" u="sng" dirty="0" smtClean="0">
                <a:solidFill>
                  <a:schemeClr val="hlink"/>
                </a:solidFill>
              </a:rPr>
              <a:t>test statistic </a:t>
            </a:r>
            <a:r>
              <a:rPr lang="el-GR" sz="2000" b="1" i="1" u="sng" dirty="0" smtClean="0">
                <a:solidFill>
                  <a:schemeClr val="hlink"/>
                </a:solidFill>
                <a:latin typeface="Times New Roman" charset="0"/>
                <a:cs typeface="Times New Roman" charset="0"/>
              </a:rPr>
              <a:t>χ</a:t>
            </a:r>
            <a:r>
              <a:rPr lang="en-GB" sz="2000" b="1" i="1" u="sng" baseline="30000" dirty="0" smtClean="0">
                <a:solidFill>
                  <a:schemeClr val="hlink"/>
                </a:solidFill>
              </a:rPr>
              <a:t>2</a:t>
            </a:r>
            <a:r>
              <a:rPr lang="en-GB" sz="2000" dirty="0" smtClean="0"/>
              <a:t> is calculated as</a:t>
            </a:r>
          </a:p>
          <a:p>
            <a:pPr eaLnBrk="1" hangingPunct="1">
              <a:lnSpc>
                <a:spcPct val="80000"/>
              </a:lnSpc>
              <a:buFont typeface="Wingdings" charset="2"/>
              <a:buChar char=" "/>
            </a:pPr>
            <a:endParaRPr lang="en-GB" sz="2000" dirty="0" smtClean="0"/>
          </a:p>
          <a:p>
            <a:pPr eaLnBrk="1" hangingPunct="1">
              <a:lnSpc>
                <a:spcPct val="80000"/>
              </a:lnSpc>
              <a:buFont typeface="Wingdings" charset="2"/>
              <a:buChar char=" "/>
            </a:pPr>
            <a:endParaRPr lang="en-GB" sz="2000" dirty="0" smtClean="0"/>
          </a:p>
          <a:p>
            <a:pPr eaLnBrk="1" hangingPunct="1">
              <a:lnSpc>
                <a:spcPct val="80000"/>
              </a:lnSpc>
              <a:buFont typeface="Wingdings" charset="2"/>
              <a:buChar char=" "/>
            </a:pPr>
            <a:endParaRPr lang="en-GB" sz="2000" dirty="0" smtClean="0"/>
          </a:p>
          <a:p>
            <a:pPr eaLnBrk="1" hangingPunct="1">
              <a:lnSpc>
                <a:spcPct val="80000"/>
              </a:lnSpc>
              <a:buFont typeface="Wingdings" charset="2"/>
              <a:buChar char=" "/>
            </a:pPr>
            <a:endParaRPr lang="en-GB" sz="2000" dirty="0" smtClean="0"/>
          </a:p>
          <a:p>
            <a:pPr eaLnBrk="1" hangingPunct="1">
              <a:lnSpc>
                <a:spcPct val="80000"/>
              </a:lnSpc>
              <a:buFont typeface="Wingdings" charset="2"/>
              <a:buChar char=" "/>
            </a:pPr>
            <a:r>
              <a:rPr lang="en-GB" sz="2000" dirty="0" smtClean="0"/>
              <a:t>where </a:t>
            </a:r>
            <a:r>
              <a:rPr lang="en-GB" sz="2000" i="1" dirty="0" smtClean="0">
                <a:latin typeface="Times New Roman" charset="0"/>
              </a:rPr>
              <a:t>s</a:t>
            </a:r>
            <a:r>
              <a:rPr lang="en-GB" sz="2000" baseline="30000" dirty="0" smtClean="0"/>
              <a:t>2</a:t>
            </a:r>
            <a:r>
              <a:rPr lang="en-GB" sz="2000" dirty="0" smtClean="0"/>
              <a:t> is the sample variance, </a:t>
            </a:r>
            <a:r>
              <a:rPr lang="el-GR" sz="2000" dirty="0" smtClean="0">
                <a:latin typeface="Times New Roman" charset="0"/>
                <a:cs typeface="Times New Roman" charset="0"/>
              </a:rPr>
              <a:t>σ</a:t>
            </a:r>
            <a:r>
              <a:rPr lang="en-GB" sz="2000" baseline="30000" dirty="0" smtClean="0"/>
              <a:t>2</a:t>
            </a:r>
            <a:r>
              <a:rPr lang="en-GB" sz="2000" dirty="0" smtClean="0"/>
              <a:t> is the hypothesized value of the population variance, and </a:t>
            </a:r>
            <a:r>
              <a:rPr lang="en-GB" sz="2000" i="1" dirty="0" smtClean="0">
                <a:latin typeface="Times New Roman" charset="0"/>
              </a:rPr>
              <a:t>n</a:t>
            </a:r>
            <a:r>
              <a:rPr lang="en-GB" sz="2000" dirty="0" smtClean="0"/>
              <a:t> – 1 represents the degrees of freedom. The population from which the sample is selected is assumed to be (approximately) normally distributed.</a:t>
            </a:r>
          </a:p>
        </p:txBody>
      </p:sp>
      <p:graphicFrame>
        <p:nvGraphicFramePr>
          <p:cNvPr id="13314" name="Object 2"/>
          <p:cNvGraphicFramePr>
            <a:graphicFrameLocks noChangeAspect="1"/>
          </p:cNvGraphicFramePr>
          <p:nvPr>
            <p:extLst>
              <p:ext uri="{D42A27DB-BD31-4B8C-83A1-F6EECF244321}">
                <p14:modId xmlns:p14="http://schemas.microsoft.com/office/powerpoint/2010/main" val="1741391435"/>
              </p:ext>
            </p:extLst>
          </p:nvPr>
        </p:nvGraphicFramePr>
        <p:xfrm>
          <a:off x="3048000" y="2286000"/>
          <a:ext cx="2133600" cy="925987"/>
        </p:xfrm>
        <a:graphic>
          <a:graphicData uri="http://schemas.openxmlformats.org/presentationml/2006/ole">
            <mc:AlternateContent xmlns:mc="http://schemas.openxmlformats.org/markup-compatibility/2006">
              <mc:Choice xmlns:v="urn:schemas-microsoft-com:vml" Requires="v">
                <p:oleObj spid="_x0000_s13355" name="Equation" r:id="rId3" imgW="965160" imgH="419040" progId="">
                  <p:embed/>
                </p:oleObj>
              </mc:Choice>
              <mc:Fallback>
                <p:oleObj name="Equation" r:id="rId3" imgW="965160" imgH="419040" progId="">
                  <p:embed/>
                  <p:pic>
                    <p:nvPicPr>
                      <p:cNvPr id="0" name="Picture 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2286000"/>
                        <a:ext cx="2133600" cy="92598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7"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GB" sz="2800" dirty="0" smtClean="0"/>
              <a:t>Example 11-11</a:t>
            </a:r>
          </a:p>
        </p:txBody>
      </p:sp>
      <p:sp>
        <p:nvSpPr>
          <p:cNvPr id="91139" name="Rectangle 3"/>
          <p:cNvSpPr>
            <a:spLocks noGrp="1" noChangeArrowheads="1"/>
          </p:cNvSpPr>
          <p:nvPr>
            <p:ph type="body" idx="1"/>
          </p:nvPr>
        </p:nvSpPr>
        <p:spPr>
          <a:xfrm>
            <a:off x="132168" y="1447800"/>
            <a:ext cx="8421688" cy="2590800"/>
          </a:xfrm>
        </p:spPr>
        <p:txBody>
          <a:bodyPr/>
          <a:lstStyle/>
          <a:p>
            <a:pPr eaLnBrk="1" hangingPunct="1">
              <a:buFont typeface="Wingdings" charset="2"/>
              <a:buChar char=" "/>
            </a:pPr>
            <a:r>
              <a:rPr lang="en-GB" sz="2000" dirty="0" smtClean="0"/>
              <a:t>The variance of scores on a standardized mathematics test for all high school seniors was 150 in 2011. A sample of scores for 20 high school seniors who took this test this year gave a variance of 170. Test at the 5% significance level if the variance of current scores of all high school seniors on this test is different from 150. Assume that the scores of all high school seniors on this test are (approximately) normally distributed.</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en-GB" sz="2800" dirty="0" smtClean="0"/>
              <a:t>Example 11-11: Solution</a:t>
            </a:r>
          </a:p>
        </p:txBody>
      </p:sp>
      <p:sp>
        <p:nvSpPr>
          <p:cNvPr id="92163" name="Rectangle 3"/>
          <p:cNvSpPr>
            <a:spLocks noGrp="1" noChangeArrowheads="1"/>
          </p:cNvSpPr>
          <p:nvPr>
            <p:ph type="body" idx="1"/>
          </p:nvPr>
        </p:nvSpPr>
        <p:spPr>
          <a:xfrm>
            <a:off x="466928" y="1457528"/>
            <a:ext cx="7848600" cy="2057400"/>
          </a:xfrm>
        </p:spPr>
        <p:txBody>
          <a:bodyPr/>
          <a:lstStyle/>
          <a:p>
            <a:pPr marL="0" indent="0" eaLnBrk="1" hangingPunct="1">
              <a:buNone/>
            </a:pPr>
            <a:r>
              <a:rPr lang="en-GB" sz="2000" b="1" dirty="0" smtClean="0">
                <a:cs typeface="Arial" charset="0"/>
              </a:rPr>
              <a:t>Step 1: </a:t>
            </a:r>
          </a:p>
          <a:p>
            <a:pPr marL="0" indent="0" eaLnBrk="1" hangingPunct="1">
              <a:buNone/>
            </a:pPr>
            <a:r>
              <a:rPr lang="en-GB" sz="2000" i="1" dirty="0" smtClean="0">
                <a:cs typeface="Arial" charset="0"/>
              </a:rPr>
              <a:t>   H</a:t>
            </a:r>
            <a:r>
              <a:rPr lang="en-GB" sz="2000" baseline="-25000" dirty="0" smtClean="0">
                <a:cs typeface="Arial" charset="0"/>
              </a:rPr>
              <a:t>0</a:t>
            </a:r>
            <a:r>
              <a:rPr lang="en-GB" sz="2000" dirty="0" smtClean="0">
                <a:cs typeface="Arial" charset="0"/>
              </a:rPr>
              <a:t>: </a:t>
            </a:r>
            <a:r>
              <a:rPr lang="el-GR" sz="2000" dirty="0" smtClean="0">
                <a:latin typeface="Times New Roman" charset="0"/>
                <a:cs typeface="Times New Roman" charset="0"/>
              </a:rPr>
              <a:t>σ</a:t>
            </a:r>
            <a:r>
              <a:rPr lang="en-GB" sz="2000" baseline="30000" dirty="0" smtClean="0">
                <a:cs typeface="Arial" charset="0"/>
              </a:rPr>
              <a:t>2 </a:t>
            </a:r>
            <a:r>
              <a:rPr lang="en-GB" sz="2000" dirty="0" smtClean="0">
                <a:cs typeface="Arial" charset="0"/>
              </a:rPr>
              <a:t>= 150 </a:t>
            </a:r>
          </a:p>
          <a:p>
            <a:pPr marL="457200" lvl="1" indent="0" eaLnBrk="1" hangingPunct="1">
              <a:buNone/>
            </a:pPr>
            <a:r>
              <a:rPr lang="en-GB" sz="2000" dirty="0" smtClean="0">
                <a:cs typeface="Arial" charset="0"/>
              </a:rPr>
              <a:t>   (The population variance is not different from 150)</a:t>
            </a:r>
          </a:p>
          <a:p>
            <a:pPr marL="0" indent="0" eaLnBrk="1" hangingPunct="1">
              <a:buNone/>
            </a:pPr>
            <a:r>
              <a:rPr lang="en-GB" sz="2000" i="1" dirty="0" smtClean="0">
                <a:cs typeface="Arial" charset="0"/>
              </a:rPr>
              <a:t>   H</a:t>
            </a:r>
            <a:r>
              <a:rPr lang="en-GB" sz="2000" baseline="-25000" dirty="0" smtClean="0">
                <a:cs typeface="Arial" charset="0"/>
              </a:rPr>
              <a:t>1</a:t>
            </a:r>
            <a:r>
              <a:rPr lang="en-GB" sz="2000" dirty="0" smtClean="0">
                <a:cs typeface="Arial" charset="0"/>
              </a:rPr>
              <a:t>: </a:t>
            </a:r>
            <a:r>
              <a:rPr lang="el-GR" sz="2000" dirty="0" smtClean="0">
                <a:latin typeface="Times New Roman" charset="0"/>
                <a:cs typeface="Times New Roman" charset="0"/>
              </a:rPr>
              <a:t>σ</a:t>
            </a:r>
            <a:r>
              <a:rPr lang="en-GB" sz="2000" baseline="30000" dirty="0" smtClean="0">
                <a:cs typeface="Arial" charset="0"/>
              </a:rPr>
              <a:t>2 </a:t>
            </a:r>
            <a:r>
              <a:rPr lang="el-GR" sz="2000" dirty="0" smtClean="0">
                <a:cs typeface="Arial" charset="0"/>
              </a:rPr>
              <a:t>≠</a:t>
            </a:r>
            <a:r>
              <a:rPr lang="en-GB" sz="2000" dirty="0" smtClean="0">
                <a:cs typeface="Arial" charset="0"/>
              </a:rPr>
              <a:t> 150 </a:t>
            </a:r>
          </a:p>
          <a:p>
            <a:pPr marL="457200" lvl="1" indent="0" eaLnBrk="1" hangingPunct="1">
              <a:buNone/>
            </a:pPr>
            <a:r>
              <a:rPr lang="en-GB" sz="2000" dirty="0" smtClean="0">
                <a:cs typeface="Arial" charset="0"/>
              </a:rPr>
              <a:t>   (The population variance is different from 150)</a:t>
            </a:r>
            <a:endParaRPr lang="en-GB" sz="2000" dirty="0" smtClean="0"/>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pPr eaLnBrk="1" hangingPunct="1"/>
            <a:r>
              <a:rPr lang="en-GB" sz="2800" dirty="0" smtClean="0"/>
              <a:t>Example 11-11: Solution</a:t>
            </a:r>
          </a:p>
        </p:txBody>
      </p:sp>
      <p:sp>
        <p:nvSpPr>
          <p:cNvPr id="93187" name="Rectangle 3"/>
          <p:cNvSpPr>
            <a:spLocks noGrp="1" noChangeArrowheads="1"/>
          </p:cNvSpPr>
          <p:nvPr>
            <p:ph type="body" idx="1"/>
          </p:nvPr>
        </p:nvSpPr>
        <p:spPr>
          <a:xfrm>
            <a:off x="504216" y="1476984"/>
            <a:ext cx="7877784" cy="3810000"/>
          </a:xfrm>
          <a:noFill/>
        </p:spPr>
        <p:txBody>
          <a:bodyPr/>
          <a:lstStyle/>
          <a:p>
            <a:pPr marL="0" indent="0" eaLnBrk="1" hangingPunct="1">
              <a:buNone/>
            </a:pPr>
            <a:r>
              <a:rPr lang="en-GB" sz="2000" b="1" dirty="0" smtClean="0">
                <a:cs typeface="Times New Roman" charset="0"/>
              </a:rPr>
              <a:t>Step 2:</a:t>
            </a:r>
            <a:r>
              <a:rPr lang="en-GB" sz="2000" dirty="0" smtClean="0">
                <a:cs typeface="Times New Roman" charset="0"/>
              </a:rPr>
              <a:t> </a:t>
            </a:r>
          </a:p>
          <a:p>
            <a:pPr marL="0" indent="0" eaLnBrk="1" hangingPunct="1">
              <a:buNone/>
            </a:pPr>
            <a:r>
              <a:rPr lang="en-GB" sz="2000" dirty="0" smtClean="0">
                <a:cs typeface="Times New Roman" charset="0"/>
              </a:rPr>
              <a:t>   We use the chi-square distribution to test a hypothesis  </a:t>
            </a:r>
          </a:p>
          <a:p>
            <a:pPr marL="0" indent="0" eaLnBrk="1" hangingPunct="1">
              <a:buNone/>
            </a:pPr>
            <a:r>
              <a:rPr lang="en-GB" sz="2000" dirty="0">
                <a:cs typeface="Times New Roman" charset="0"/>
              </a:rPr>
              <a:t> </a:t>
            </a:r>
            <a:r>
              <a:rPr lang="en-GB" sz="2000" dirty="0" smtClean="0">
                <a:cs typeface="Times New Roman" charset="0"/>
              </a:rPr>
              <a:t>  about σ</a:t>
            </a:r>
            <a:r>
              <a:rPr lang="en-GB" sz="2000" baseline="30000" dirty="0" smtClean="0">
                <a:cs typeface="Times New Roman" charset="0"/>
                <a:sym typeface="Mathematica1" pitchFamily="2" charset="2"/>
              </a:rPr>
              <a:t>2</a:t>
            </a:r>
          </a:p>
          <a:p>
            <a:pPr eaLnBrk="1" hangingPunct="1"/>
            <a:endParaRPr lang="en-US" sz="2000" dirty="0" smtClean="0">
              <a:latin typeface="Times New Roman" charset="0"/>
              <a:cs typeface="Times New Roman" charset="0"/>
            </a:endParaRPr>
          </a:p>
          <a:p>
            <a:pPr marL="0" indent="0" eaLnBrk="1" hangingPunct="1">
              <a:buNone/>
            </a:pPr>
            <a:endParaRPr lang="en-US" sz="2000" b="1" dirty="0" smtClean="0">
              <a:cs typeface="Times New Roman" charset="0"/>
            </a:endParaRPr>
          </a:p>
          <a:p>
            <a:pPr marL="0" indent="0" eaLnBrk="1" hangingPunct="1">
              <a:buNone/>
            </a:pPr>
            <a:r>
              <a:rPr lang="en-US" sz="2000" b="1" dirty="0" smtClean="0">
                <a:cs typeface="Times New Roman" charset="0"/>
              </a:rPr>
              <a:t>Step 3:</a:t>
            </a:r>
            <a:r>
              <a:rPr lang="en-US" sz="2000" dirty="0" smtClean="0">
                <a:cs typeface="Times New Roman" charset="0"/>
              </a:rPr>
              <a:t> </a:t>
            </a:r>
          </a:p>
          <a:p>
            <a:pPr marL="0" indent="0" eaLnBrk="1" hangingPunct="1">
              <a:buNone/>
            </a:pPr>
            <a:r>
              <a:rPr lang="en-US" sz="2000" dirty="0">
                <a:latin typeface="Times New Roman" charset="0"/>
                <a:cs typeface="Times New Roman" charset="0"/>
              </a:rPr>
              <a:t> </a:t>
            </a:r>
            <a:r>
              <a:rPr lang="en-US" sz="2000" dirty="0" smtClean="0">
                <a:latin typeface="Times New Roman" charset="0"/>
                <a:cs typeface="Times New Roman" charset="0"/>
              </a:rPr>
              <a:t>   </a:t>
            </a:r>
            <a:r>
              <a:rPr lang="el-GR" sz="2000" dirty="0" smtClean="0">
                <a:latin typeface="Times New Roman" charset="0"/>
                <a:cs typeface="Times New Roman" charset="0"/>
              </a:rPr>
              <a:t>α</a:t>
            </a:r>
            <a:r>
              <a:rPr lang="en-GB" sz="2000" dirty="0" smtClean="0">
                <a:latin typeface="Times New Roman" charset="0"/>
                <a:cs typeface="Times New Roman" charset="0"/>
              </a:rPr>
              <a:t> </a:t>
            </a:r>
            <a:r>
              <a:rPr lang="en-GB" sz="2000" dirty="0" smtClean="0">
                <a:cs typeface="Times New Roman" charset="0"/>
              </a:rPr>
              <a:t>= .05</a:t>
            </a:r>
          </a:p>
          <a:p>
            <a:pPr marL="0" indent="0" eaLnBrk="1" hangingPunct="1">
              <a:buNone/>
            </a:pPr>
            <a:r>
              <a:rPr lang="en-GB" sz="2000" dirty="0" smtClean="0">
                <a:cs typeface="Times New Roman" charset="0"/>
              </a:rPr>
              <a:t>   Area in each tail = .025</a:t>
            </a:r>
          </a:p>
          <a:p>
            <a:pPr marL="0" indent="0" eaLnBrk="1" hangingPunct="1">
              <a:buNone/>
            </a:pPr>
            <a:r>
              <a:rPr lang="en-GB" sz="2000" i="1" dirty="0" smtClean="0">
                <a:latin typeface="Times New Roman" charset="0"/>
                <a:cs typeface="Times New Roman" charset="0"/>
              </a:rPr>
              <a:t>    </a:t>
            </a:r>
            <a:r>
              <a:rPr lang="en-GB" sz="2000" i="1" dirty="0" err="1" smtClean="0">
                <a:latin typeface="Times New Roman" charset="0"/>
                <a:cs typeface="Times New Roman" charset="0"/>
              </a:rPr>
              <a:t>df</a:t>
            </a:r>
            <a:r>
              <a:rPr lang="en-GB" sz="2000" dirty="0" smtClean="0">
                <a:cs typeface="Times New Roman" charset="0"/>
              </a:rPr>
              <a:t> = </a:t>
            </a:r>
            <a:r>
              <a:rPr lang="en-GB" sz="2000" i="1" dirty="0" smtClean="0">
                <a:latin typeface="Times New Roman" charset="0"/>
                <a:cs typeface="Times New Roman" charset="0"/>
              </a:rPr>
              <a:t>n</a:t>
            </a:r>
            <a:r>
              <a:rPr lang="en-GB" sz="2000" dirty="0" smtClean="0">
                <a:cs typeface="Times New Roman" charset="0"/>
              </a:rPr>
              <a:t> – 1 = 20 – 1 = 19</a:t>
            </a:r>
          </a:p>
          <a:p>
            <a:pPr marL="0" indent="0" eaLnBrk="1" hangingPunct="1">
              <a:buNone/>
            </a:pPr>
            <a:r>
              <a:rPr lang="en-GB" sz="2000" dirty="0" smtClean="0">
                <a:cs typeface="Times New Roman" charset="0"/>
              </a:rPr>
              <a:t>   The critical values of </a:t>
            </a:r>
            <a:r>
              <a:rPr lang="el-GR" sz="2000" dirty="0" smtClean="0">
                <a:latin typeface="Times New Roman" charset="0"/>
                <a:cs typeface="Times New Roman" charset="0"/>
              </a:rPr>
              <a:t>χ</a:t>
            </a:r>
            <a:r>
              <a:rPr lang="en-GB" sz="2000" baseline="30000" dirty="0" smtClean="0">
                <a:cs typeface="Times New Roman" charset="0"/>
              </a:rPr>
              <a:t>2 </a:t>
            </a:r>
            <a:r>
              <a:rPr lang="en-GB" sz="2000" dirty="0" smtClean="0">
                <a:cs typeface="Times New Roman" charset="0"/>
              </a:rPr>
              <a:t>= 32.852 and 8.907</a:t>
            </a:r>
          </a:p>
          <a:p>
            <a:pPr eaLnBrk="1" hangingPunct="1"/>
            <a:endParaRPr lang="en-GB" dirty="0" smtClean="0">
              <a:cs typeface="Times New Roman" charset="0"/>
            </a:endParaRP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r>
              <a:rPr lang="en-GB" sz="2800" dirty="0" smtClean="0"/>
              <a:t>Figure 11.11</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5863" y="1799742"/>
            <a:ext cx="6887537" cy="3458058"/>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GB" sz="2800" dirty="0" smtClean="0"/>
              <a:t>Example 11-11: Solution</a:t>
            </a:r>
          </a:p>
        </p:txBody>
      </p:sp>
      <p:graphicFrame>
        <p:nvGraphicFramePr>
          <p:cNvPr id="15362" name="Object 2"/>
          <p:cNvGraphicFramePr>
            <a:graphicFrameLocks noGrp="1" noChangeAspect="1"/>
          </p:cNvGraphicFramePr>
          <p:nvPr>
            <p:ph type="body" idx="1"/>
            <p:extLst>
              <p:ext uri="{D42A27DB-BD31-4B8C-83A1-F6EECF244321}">
                <p14:modId xmlns:p14="http://schemas.microsoft.com/office/powerpoint/2010/main" val="2385276048"/>
              </p:ext>
            </p:extLst>
          </p:nvPr>
        </p:nvGraphicFramePr>
        <p:xfrm>
          <a:off x="1397524" y="2133600"/>
          <a:ext cx="5105400" cy="826449"/>
        </p:xfrm>
        <a:graphic>
          <a:graphicData uri="http://schemas.openxmlformats.org/presentationml/2006/ole">
            <mc:AlternateContent xmlns:mc="http://schemas.openxmlformats.org/markup-compatibility/2006">
              <mc:Choice xmlns:v="urn:schemas-microsoft-com:vml" Requires="v">
                <p:oleObj spid="_x0000_s15405" name="Equation" r:id="rId3" imgW="2590560" imgH="419040" progId="">
                  <p:embed/>
                </p:oleObj>
              </mc:Choice>
              <mc:Fallback>
                <p:oleObj name="Equation" r:id="rId3" imgW="2590560" imgH="419040" progId="">
                  <p:embed/>
                  <p:pic>
                    <p:nvPicPr>
                      <p:cNvPr id="0" name="Picture 3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524" y="2133600"/>
                        <a:ext cx="5105400" cy="826449"/>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5364" name="Line 4"/>
          <p:cNvSpPr>
            <a:spLocks noChangeShapeType="1"/>
          </p:cNvSpPr>
          <p:nvPr/>
        </p:nvSpPr>
        <p:spPr bwMode="auto">
          <a:xfrm flipV="1">
            <a:off x="4419600" y="2895600"/>
            <a:ext cx="0" cy="129540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en-US"/>
          </a:p>
        </p:txBody>
      </p:sp>
      <p:sp>
        <p:nvSpPr>
          <p:cNvPr id="15365" name="Text Box 5"/>
          <p:cNvSpPr txBox="1">
            <a:spLocks noChangeArrowheads="1"/>
          </p:cNvSpPr>
          <p:nvPr/>
        </p:nvSpPr>
        <p:spPr bwMode="auto">
          <a:xfrm>
            <a:off x="3654137" y="4267200"/>
            <a:ext cx="1454727" cy="396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charset="0"/>
                <a:ea typeface="ＭＳ Ｐゴシック" charset="-128"/>
              </a:defRPr>
            </a:lvl1pPr>
            <a:lvl2pPr marL="742950" indent="-285750">
              <a:defRPr>
                <a:solidFill>
                  <a:schemeClr val="tx1"/>
                </a:solidFill>
                <a:latin typeface="Verdana" charset="0"/>
                <a:ea typeface="ＭＳ Ｐゴシック" charset="-128"/>
              </a:defRPr>
            </a:lvl2pPr>
            <a:lvl3pPr marL="1143000" indent="-228600">
              <a:defRPr>
                <a:solidFill>
                  <a:schemeClr val="tx1"/>
                </a:solidFill>
                <a:latin typeface="Verdana" charset="0"/>
                <a:ea typeface="ＭＳ Ｐゴシック" charset="-128"/>
              </a:defRPr>
            </a:lvl3pPr>
            <a:lvl4pPr marL="1600200" indent="-228600">
              <a:defRPr>
                <a:solidFill>
                  <a:schemeClr val="tx1"/>
                </a:solidFill>
                <a:latin typeface="Verdana" charset="0"/>
                <a:ea typeface="ＭＳ Ｐゴシック" charset="-128"/>
              </a:defRPr>
            </a:lvl4pPr>
            <a:lvl5pPr marL="2057400" indent="-228600">
              <a:defRPr>
                <a:solidFill>
                  <a:schemeClr val="tx1"/>
                </a:solidFill>
                <a:latin typeface="Verdana" charset="0"/>
                <a:ea typeface="ＭＳ Ｐゴシック" charset="-128"/>
              </a:defRPr>
            </a:lvl5pPr>
            <a:lvl6pPr marL="2514600" indent="-228600" eaLnBrk="0" fontAlgn="base" hangingPunct="0">
              <a:spcBef>
                <a:spcPct val="0"/>
              </a:spcBef>
              <a:spcAft>
                <a:spcPct val="0"/>
              </a:spcAft>
              <a:defRPr>
                <a:solidFill>
                  <a:schemeClr val="tx1"/>
                </a:solidFill>
                <a:latin typeface="Verdana" charset="0"/>
                <a:ea typeface="ＭＳ Ｐゴシック" charset="-128"/>
              </a:defRPr>
            </a:lvl6pPr>
            <a:lvl7pPr marL="2971800" indent="-228600" eaLnBrk="0" fontAlgn="base" hangingPunct="0">
              <a:spcBef>
                <a:spcPct val="0"/>
              </a:spcBef>
              <a:spcAft>
                <a:spcPct val="0"/>
              </a:spcAft>
              <a:defRPr>
                <a:solidFill>
                  <a:schemeClr val="tx1"/>
                </a:solidFill>
                <a:latin typeface="Verdana" charset="0"/>
                <a:ea typeface="ＭＳ Ｐゴシック" charset="-128"/>
              </a:defRPr>
            </a:lvl7pPr>
            <a:lvl8pPr marL="3429000" indent="-228600" eaLnBrk="0" fontAlgn="base" hangingPunct="0">
              <a:spcBef>
                <a:spcPct val="0"/>
              </a:spcBef>
              <a:spcAft>
                <a:spcPct val="0"/>
              </a:spcAft>
              <a:defRPr>
                <a:solidFill>
                  <a:schemeClr val="tx1"/>
                </a:solidFill>
                <a:latin typeface="Verdana" charset="0"/>
                <a:ea typeface="ＭＳ Ｐゴシック" charset="-128"/>
              </a:defRPr>
            </a:lvl8pPr>
            <a:lvl9pPr marL="3886200" indent="-228600" eaLnBrk="0" fontAlgn="base" hangingPunct="0">
              <a:spcBef>
                <a:spcPct val="0"/>
              </a:spcBef>
              <a:spcAft>
                <a:spcPct val="0"/>
              </a:spcAft>
              <a:defRPr>
                <a:solidFill>
                  <a:schemeClr val="tx1"/>
                </a:solidFill>
                <a:latin typeface="Verdana" charset="0"/>
                <a:ea typeface="ＭＳ Ｐゴシック" charset="-128"/>
              </a:defRPr>
            </a:lvl9pPr>
          </a:lstStyle>
          <a:p>
            <a:pPr>
              <a:spcBef>
                <a:spcPct val="50000"/>
              </a:spcBef>
            </a:pPr>
            <a:r>
              <a:rPr lang="en-GB" sz="2000">
                <a:latin typeface="Tahoma" charset="0"/>
                <a:cs typeface="Times New Roman" charset="0"/>
              </a:rPr>
              <a:t>From </a:t>
            </a:r>
            <a:r>
              <a:rPr lang="en-GB" sz="2000" i="1">
                <a:latin typeface="Tahoma" charset="0"/>
                <a:cs typeface="Times New Roman" charset="0"/>
              </a:rPr>
              <a:t>H</a:t>
            </a:r>
            <a:r>
              <a:rPr lang="en-GB" sz="2000" baseline="-25000">
                <a:latin typeface="Tahoma" charset="0"/>
                <a:cs typeface="Times New Roman" charset="0"/>
              </a:rPr>
              <a:t>0</a:t>
            </a:r>
            <a:endParaRPr lang="en-GB" sz="2000">
              <a:latin typeface="Tahoma" charset="0"/>
              <a:cs typeface="Times New Roman" charset="0"/>
            </a:endParaRPr>
          </a:p>
        </p:txBody>
      </p:sp>
      <p:sp>
        <p:nvSpPr>
          <p:cNvPr id="15367" name="Text Box 7"/>
          <p:cNvSpPr txBox="1">
            <a:spLocks noChangeArrowheads="1"/>
          </p:cNvSpPr>
          <p:nvPr/>
        </p:nvSpPr>
        <p:spPr bwMode="auto">
          <a:xfrm>
            <a:off x="466928" y="1457528"/>
            <a:ext cx="2286000"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charset="0"/>
                <a:ea typeface="ＭＳ Ｐゴシック" charset="-128"/>
              </a:defRPr>
            </a:lvl1pPr>
            <a:lvl2pPr marL="742950" indent="-285750">
              <a:defRPr>
                <a:solidFill>
                  <a:schemeClr val="tx1"/>
                </a:solidFill>
                <a:latin typeface="Verdana" charset="0"/>
                <a:ea typeface="ＭＳ Ｐゴシック" charset="-128"/>
              </a:defRPr>
            </a:lvl2pPr>
            <a:lvl3pPr marL="1143000" indent="-228600">
              <a:defRPr>
                <a:solidFill>
                  <a:schemeClr val="tx1"/>
                </a:solidFill>
                <a:latin typeface="Verdana" charset="0"/>
                <a:ea typeface="ＭＳ Ｐゴシック" charset="-128"/>
              </a:defRPr>
            </a:lvl3pPr>
            <a:lvl4pPr marL="1600200" indent="-228600">
              <a:defRPr>
                <a:solidFill>
                  <a:schemeClr val="tx1"/>
                </a:solidFill>
                <a:latin typeface="Verdana" charset="0"/>
                <a:ea typeface="ＭＳ Ｐゴシック" charset="-128"/>
              </a:defRPr>
            </a:lvl4pPr>
            <a:lvl5pPr marL="2057400" indent="-228600">
              <a:defRPr>
                <a:solidFill>
                  <a:schemeClr val="tx1"/>
                </a:solidFill>
                <a:latin typeface="Verdana" charset="0"/>
                <a:ea typeface="ＭＳ Ｐゴシック" charset="-128"/>
              </a:defRPr>
            </a:lvl5pPr>
            <a:lvl6pPr marL="2514600" indent="-228600" eaLnBrk="0" fontAlgn="base" hangingPunct="0">
              <a:spcBef>
                <a:spcPct val="0"/>
              </a:spcBef>
              <a:spcAft>
                <a:spcPct val="0"/>
              </a:spcAft>
              <a:defRPr>
                <a:solidFill>
                  <a:schemeClr val="tx1"/>
                </a:solidFill>
                <a:latin typeface="Verdana" charset="0"/>
                <a:ea typeface="ＭＳ Ｐゴシック" charset="-128"/>
              </a:defRPr>
            </a:lvl6pPr>
            <a:lvl7pPr marL="2971800" indent="-228600" eaLnBrk="0" fontAlgn="base" hangingPunct="0">
              <a:spcBef>
                <a:spcPct val="0"/>
              </a:spcBef>
              <a:spcAft>
                <a:spcPct val="0"/>
              </a:spcAft>
              <a:defRPr>
                <a:solidFill>
                  <a:schemeClr val="tx1"/>
                </a:solidFill>
                <a:latin typeface="Verdana" charset="0"/>
                <a:ea typeface="ＭＳ Ｐゴシック" charset="-128"/>
              </a:defRPr>
            </a:lvl7pPr>
            <a:lvl8pPr marL="3429000" indent="-228600" eaLnBrk="0" fontAlgn="base" hangingPunct="0">
              <a:spcBef>
                <a:spcPct val="0"/>
              </a:spcBef>
              <a:spcAft>
                <a:spcPct val="0"/>
              </a:spcAft>
              <a:defRPr>
                <a:solidFill>
                  <a:schemeClr val="tx1"/>
                </a:solidFill>
                <a:latin typeface="Verdana" charset="0"/>
                <a:ea typeface="ＭＳ Ｐゴシック" charset="-128"/>
              </a:defRPr>
            </a:lvl8pPr>
            <a:lvl9pPr marL="3886200" indent="-228600" eaLnBrk="0" fontAlgn="base" hangingPunct="0">
              <a:spcBef>
                <a:spcPct val="0"/>
              </a:spcBef>
              <a:spcAft>
                <a:spcPct val="0"/>
              </a:spcAft>
              <a:defRPr>
                <a:solidFill>
                  <a:schemeClr val="tx1"/>
                </a:solidFill>
                <a:latin typeface="Verdana" charset="0"/>
                <a:ea typeface="ＭＳ Ｐゴシック" charset="-128"/>
              </a:defRPr>
            </a:lvl9pPr>
          </a:lstStyle>
          <a:p>
            <a:pPr>
              <a:spcBef>
                <a:spcPct val="50000"/>
              </a:spcBef>
            </a:pPr>
            <a:r>
              <a:rPr lang="en-US" sz="2000" b="1" dirty="0"/>
              <a:t>Step 4: </a:t>
            </a:r>
          </a:p>
        </p:txBody>
      </p:sp>
      <p:sp>
        <p:nvSpPr>
          <p:cNvPr id="9"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en-GB" sz="2800" dirty="0" smtClean="0"/>
              <a:t>Example 11-11: Solution</a:t>
            </a:r>
          </a:p>
        </p:txBody>
      </p:sp>
      <p:sp>
        <p:nvSpPr>
          <p:cNvPr id="95235" name="Rectangle 3"/>
          <p:cNvSpPr>
            <a:spLocks noGrp="1" noChangeArrowheads="1"/>
          </p:cNvSpPr>
          <p:nvPr>
            <p:ph type="body" idx="1"/>
          </p:nvPr>
        </p:nvSpPr>
        <p:spPr>
          <a:xfrm>
            <a:off x="493712" y="1447800"/>
            <a:ext cx="8421688" cy="3886199"/>
          </a:xfrm>
        </p:spPr>
        <p:txBody>
          <a:bodyPr/>
          <a:lstStyle/>
          <a:p>
            <a:pPr marL="0" indent="0" eaLnBrk="1" hangingPunct="1">
              <a:buNone/>
            </a:pPr>
            <a:r>
              <a:rPr lang="en-GB" sz="2000" b="1" dirty="0" smtClean="0"/>
              <a:t>Step 5:</a:t>
            </a:r>
          </a:p>
          <a:p>
            <a:pPr marL="0" indent="0" eaLnBrk="1" hangingPunct="1">
              <a:buNone/>
            </a:pPr>
            <a:r>
              <a:rPr lang="en-GB" sz="2000" dirty="0" smtClean="0"/>
              <a:t>   The value of the test statistic </a:t>
            </a:r>
            <a:r>
              <a:rPr lang="el-GR" sz="2000" dirty="0" smtClean="0">
                <a:latin typeface="Times New Roman" charset="0"/>
                <a:cs typeface="Times New Roman" charset="0"/>
              </a:rPr>
              <a:t>χ</a:t>
            </a:r>
            <a:r>
              <a:rPr lang="en-GB" sz="2000" baseline="30000" dirty="0" smtClean="0"/>
              <a:t>2</a:t>
            </a:r>
            <a:r>
              <a:rPr lang="en-GB" sz="2000" dirty="0" smtClean="0"/>
              <a:t> = 21.533 </a:t>
            </a:r>
          </a:p>
          <a:p>
            <a:pPr lvl="1" eaLnBrk="1" hangingPunct="1"/>
            <a:r>
              <a:rPr lang="en-GB" sz="2000" dirty="0" smtClean="0"/>
              <a:t>It is between the two critical values of </a:t>
            </a:r>
            <a:r>
              <a:rPr lang="el-GR" sz="2000" dirty="0" smtClean="0">
                <a:latin typeface="Times New Roman" charset="0"/>
                <a:cs typeface="Times New Roman" charset="0"/>
              </a:rPr>
              <a:t>χ</a:t>
            </a:r>
            <a:r>
              <a:rPr lang="en-GB" sz="2000" baseline="30000" dirty="0" smtClean="0"/>
              <a:t>2</a:t>
            </a:r>
          </a:p>
          <a:p>
            <a:pPr lvl="1" eaLnBrk="1" hangingPunct="1"/>
            <a:r>
              <a:rPr lang="en-GB" sz="2000" dirty="0" smtClean="0"/>
              <a:t>It falls in the </a:t>
            </a:r>
            <a:r>
              <a:rPr lang="en-GB" sz="2000" dirty="0" err="1" smtClean="0"/>
              <a:t>nonrejection</a:t>
            </a:r>
            <a:r>
              <a:rPr lang="en-GB" sz="2000" dirty="0" smtClean="0"/>
              <a:t> region</a:t>
            </a:r>
          </a:p>
          <a:p>
            <a:pPr marL="0" indent="0" eaLnBrk="1" hangingPunct="1">
              <a:buNone/>
            </a:pPr>
            <a:r>
              <a:rPr lang="en-GB" sz="2000" dirty="0" smtClean="0"/>
              <a:t>   Consequently, we fail to reject H</a:t>
            </a:r>
            <a:r>
              <a:rPr lang="en-GB" sz="2000" baseline="-25000" dirty="0" smtClean="0"/>
              <a:t>0</a:t>
            </a:r>
            <a:r>
              <a:rPr lang="en-GB" sz="2000" dirty="0" smtClean="0"/>
              <a:t>.</a:t>
            </a:r>
          </a:p>
          <a:p>
            <a:pPr marL="0" indent="0" eaLnBrk="1" hangingPunct="1">
              <a:buNone/>
            </a:pPr>
            <a:r>
              <a:rPr lang="en-GB" sz="2000" dirty="0" smtClean="0"/>
              <a:t>  </a:t>
            </a:r>
          </a:p>
          <a:p>
            <a:pPr marL="0" indent="0" eaLnBrk="1" hangingPunct="1">
              <a:buNone/>
            </a:pPr>
            <a:r>
              <a:rPr lang="en-GB" sz="2000" dirty="0"/>
              <a:t> </a:t>
            </a:r>
            <a:r>
              <a:rPr lang="en-GB" sz="2000" dirty="0" smtClean="0"/>
              <a:t>  We conclude that the population variance of the current </a:t>
            </a:r>
          </a:p>
          <a:p>
            <a:pPr marL="0" indent="0" eaLnBrk="1" hangingPunct="1">
              <a:buNone/>
            </a:pPr>
            <a:r>
              <a:rPr lang="en-GB" sz="2000" dirty="0"/>
              <a:t> </a:t>
            </a:r>
            <a:r>
              <a:rPr lang="en-GB" sz="2000" dirty="0" smtClean="0"/>
              <a:t>  scores of high school seniors on this standardized </a:t>
            </a:r>
          </a:p>
          <a:p>
            <a:pPr marL="0" indent="0" eaLnBrk="1" hangingPunct="1">
              <a:buNone/>
            </a:pPr>
            <a:r>
              <a:rPr lang="en-GB" sz="2000" dirty="0"/>
              <a:t> </a:t>
            </a:r>
            <a:r>
              <a:rPr lang="en-GB" sz="2000" dirty="0" smtClean="0"/>
              <a:t>  mathematics test does not appear to be different from 150.</a:t>
            </a:r>
          </a:p>
        </p:txBody>
      </p:sp>
      <p:sp>
        <p:nvSpPr>
          <p:cNvPr id="6"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en-GB" sz="3200" smtClean="0"/>
              <a:t>TI-84</a:t>
            </a:r>
          </a:p>
        </p:txBody>
      </p:sp>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125" y="1524000"/>
            <a:ext cx="2224675" cy="435865"/>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09600"/>
            <a:ext cx="9144000" cy="765681"/>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5351" y="2152131"/>
            <a:ext cx="4648849" cy="3715269"/>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en-GB" sz="3200" smtClean="0"/>
              <a:t>TI-84</a:t>
            </a:r>
          </a:p>
        </p:txBody>
      </p:sp>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125" y="1524000"/>
            <a:ext cx="2224675" cy="435865"/>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09600"/>
            <a:ext cx="9144000" cy="765681"/>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1551" y="2152131"/>
            <a:ext cx="4648849" cy="3715269"/>
          </a:xfrm>
          <a:prstGeom prst="rect">
            <a:avLst/>
          </a:prstGeom>
        </p:spPr>
      </p:pic>
    </p:spTree>
    <p:extLst>
      <p:ext uri="{BB962C8B-B14F-4D97-AF65-F5344CB8AC3E}">
        <p14:creationId xmlns:p14="http://schemas.microsoft.com/office/powerpoint/2010/main" val="283034698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en-GB" sz="3200" smtClean="0"/>
              <a:t>TI-84</a:t>
            </a:r>
          </a:p>
        </p:txBody>
      </p:sp>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125" y="1524000"/>
            <a:ext cx="2224675" cy="435865"/>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09600"/>
            <a:ext cx="9144000" cy="765681"/>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7575" y="2161668"/>
            <a:ext cx="4648849" cy="3629532"/>
          </a:xfrm>
          <a:prstGeom prst="rect">
            <a:avLst/>
          </a:prstGeom>
        </p:spPr>
      </p:pic>
    </p:spTree>
    <p:extLst>
      <p:ext uri="{BB962C8B-B14F-4D97-AF65-F5344CB8AC3E}">
        <p14:creationId xmlns:p14="http://schemas.microsoft.com/office/powerpoint/2010/main" val="283034698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en-GB" sz="3200" smtClean="0"/>
              <a:t>TI-84</a:t>
            </a:r>
          </a:p>
        </p:txBody>
      </p:sp>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125" y="1524000"/>
            <a:ext cx="2224675" cy="435865"/>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09600"/>
            <a:ext cx="9144000" cy="765681"/>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38049" y="2209800"/>
            <a:ext cx="4667902" cy="3639058"/>
          </a:xfrm>
          <a:prstGeom prst="rect">
            <a:avLst/>
          </a:prstGeom>
        </p:spPr>
      </p:pic>
    </p:spTree>
    <p:extLst>
      <p:ext uri="{BB962C8B-B14F-4D97-AF65-F5344CB8AC3E}">
        <p14:creationId xmlns:p14="http://schemas.microsoft.com/office/powerpoint/2010/main" val="283034698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en-GB" sz="3200" smtClean="0"/>
              <a:t>TI-84</a:t>
            </a:r>
          </a:p>
        </p:txBody>
      </p:sp>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125" y="1524000"/>
            <a:ext cx="2224675" cy="435865"/>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09600"/>
            <a:ext cx="9144000" cy="765681"/>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37751" y="2209289"/>
            <a:ext cx="4648849" cy="3658111"/>
          </a:xfrm>
          <a:prstGeom prst="rect">
            <a:avLst/>
          </a:prstGeom>
        </p:spPr>
      </p:pic>
    </p:spTree>
    <p:extLst>
      <p:ext uri="{BB962C8B-B14F-4D97-AF65-F5344CB8AC3E}">
        <p14:creationId xmlns:p14="http://schemas.microsoft.com/office/powerpoint/2010/main" val="354481235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r>
              <a:rPr lang="en-GB" sz="3200" smtClean="0"/>
              <a:t>TI-84</a:t>
            </a:r>
          </a:p>
        </p:txBody>
      </p:sp>
      <p:sp>
        <p:nvSpPr>
          <p:cNvPr id="8" name="Text Box 4"/>
          <p:cNvSpPr txBox="1">
            <a:spLocks noChangeArrowheads="1"/>
          </p:cNvSpPr>
          <p:nvPr/>
        </p:nvSpPr>
        <p:spPr bwMode="auto">
          <a:xfrm>
            <a:off x="4049486" y="6172200"/>
            <a:ext cx="4781550" cy="5232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128"/>
              </a:defRPr>
            </a:lvl1pPr>
            <a:lvl2pPr marL="742950" indent="-285750" eaLnBrk="0" hangingPunct="0">
              <a:defRPr>
                <a:solidFill>
                  <a:schemeClr val="tx1"/>
                </a:solidFill>
                <a:latin typeface="Arial" charset="0"/>
                <a:ea typeface="ＭＳ Ｐゴシック" charset="-128"/>
              </a:defRPr>
            </a:lvl2pPr>
            <a:lvl3pPr marL="1143000" indent="-228600" eaLnBrk="0" hangingPunct="0">
              <a:defRPr>
                <a:solidFill>
                  <a:schemeClr val="tx1"/>
                </a:solidFill>
                <a:latin typeface="Arial" charset="0"/>
                <a:ea typeface="ＭＳ Ｐゴシック" charset="-128"/>
              </a:defRPr>
            </a:lvl3pPr>
            <a:lvl4pPr marL="1600200" indent="-228600" eaLnBrk="0" hangingPunct="0">
              <a:defRPr>
                <a:solidFill>
                  <a:schemeClr val="tx1"/>
                </a:solidFill>
                <a:latin typeface="Arial" charset="0"/>
                <a:ea typeface="ＭＳ Ｐゴシック" charset="-128"/>
              </a:defRPr>
            </a:lvl4pPr>
            <a:lvl5pPr marL="2057400" indent="-228600" eaLnBrk="0" hangingPunct="0">
              <a:defRPr>
                <a:solidFill>
                  <a:schemeClr val="tx1"/>
                </a:solidFill>
                <a:latin typeface="Arial" charset="0"/>
                <a:ea typeface="ＭＳ Ｐゴシック" charset="-128"/>
              </a:defRPr>
            </a:lvl5pPr>
            <a:lvl6pPr marL="2514600" indent="-228600" eaLnBrk="0" fontAlgn="base" hangingPunct="0">
              <a:spcBef>
                <a:spcPct val="0"/>
              </a:spcBef>
              <a:spcAft>
                <a:spcPct val="0"/>
              </a:spcAft>
              <a:defRPr>
                <a:solidFill>
                  <a:schemeClr val="tx1"/>
                </a:solidFill>
                <a:latin typeface="Arial" charset="0"/>
                <a:ea typeface="ＭＳ Ｐゴシック" charset="-128"/>
              </a:defRPr>
            </a:lvl6pPr>
            <a:lvl7pPr marL="2971800" indent="-228600" eaLnBrk="0" fontAlgn="base" hangingPunct="0">
              <a:spcBef>
                <a:spcPct val="0"/>
              </a:spcBef>
              <a:spcAft>
                <a:spcPct val="0"/>
              </a:spcAft>
              <a:defRPr>
                <a:solidFill>
                  <a:schemeClr val="tx1"/>
                </a:solidFill>
                <a:latin typeface="Arial" charset="0"/>
                <a:ea typeface="ＭＳ Ｐゴシック" charset="-128"/>
              </a:defRPr>
            </a:lvl7pPr>
            <a:lvl8pPr marL="3429000" indent="-228600" eaLnBrk="0" fontAlgn="base" hangingPunct="0">
              <a:spcBef>
                <a:spcPct val="0"/>
              </a:spcBef>
              <a:spcAft>
                <a:spcPct val="0"/>
              </a:spcAft>
              <a:defRPr>
                <a:solidFill>
                  <a:schemeClr val="tx1"/>
                </a:solidFill>
                <a:latin typeface="Arial" charset="0"/>
                <a:ea typeface="ＭＳ Ｐゴシック" charset="-128"/>
              </a:defRPr>
            </a:lvl8pPr>
            <a:lvl9pPr marL="3886200" indent="-228600" eaLnBrk="0" fontAlgn="base" hangingPunct="0">
              <a:spcBef>
                <a:spcPct val="0"/>
              </a:spcBef>
              <a:spcAft>
                <a:spcPct val="0"/>
              </a:spcAft>
              <a:defRPr>
                <a:solidFill>
                  <a:schemeClr val="tx1"/>
                </a:solidFill>
                <a:latin typeface="Arial" charset="0"/>
                <a:ea typeface="ＭＳ Ｐゴシック" charset="-128"/>
              </a:defRPr>
            </a:lvl9pPr>
          </a:lstStyle>
          <a:p>
            <a:pPr eaLnBrk="1" hangingPunct="1">
              <a:spcBef>
                <a:spcPct val="50000"/>
              </a:spcBef>
            </a:pPr>
            <a:r>
              <a:rPr lang="en-US" sz="1400" dirty="0"/>
              <a:t>                          Prem Mann, </a:t>
            </a:r>
            <a:r>
              <a:rPr lang="en-US" sz="1400" i="1" dirty="0"/>
              <a:t>Introductory Statistics</a:t>
            </a:r>
            <a:r>
              <a:rPr lang="en-US" sz="1400" dirty="0"/>
              <a:t>, </a:t>
            </a:r>
            <a:r>
              <a:rPr lang="en-US" sz="1400" i="1" dirty="0" smtClean="0"/>
              <a:t>8/E</a:t>
            </a:r>
            <a:r>
              <a:rPr lang="en-US" sz="1400" dirty="0" smtClean="0"/>
              <a:t> </a:t>
            </a:r>
            <a:r>
              <a:rPr lang="en-US" sz="1400" dirty="0"/>
              <a:t>Copyright © </a:t>
            </a:r>
            <a:r>
              <a:rPr lang="en-US" sz="1400" dirty="0" smtClean="0"/>
              <a:t>2013 </a:t>
            </a:r>
            <a:r>
              <a:rPr lang="en-US" sz="1400" dirty="0"/>
              <a:t>John Wiley &amp; Sons. All </a:t>
            </a:r>
            <a:r>
              <a:rPr lang="en-US" sz="1400" dirty="0" smtClean="0"/>
              <a:t>rights reserved.</a:t>
            </a:r>
            <a:endParaRPr lang="en-US" sz="14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125" y="1524000"/>
            <a:ext cx="2224675" cy="435865"/>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09600"/>
            <a:ext cx="9144000" cy="765681"/>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76128" y="2142605"/>
            <a:ext cx="4791744" cy="3724795"/>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Level">
  <a:themeElements>
    <a:clrScheme name="Custom 25">
      <a:dk1>
        <a:srgbClr val="000000"/>
      </a:dk1>
      <a:lt1>
        <a:srgbClr val="FFFFFF"/>
      </a:lt1>
      <a:dk2>
        <a:srgbClr val="005392"/>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Level</Template>
  <TotalTime>113</TotalTime>
  <Words>3455</Words>
  <Application>Microsoft Macintosh PowerPoint</Application>
  <PresentationFormat>On-screen Show (4:3)</PresentationFormat>
  <Paragraphs>303</Paragraphs>
  <Slides>62</Slides>
  <Notes>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72" baseType="lpstr">
      <vt:lpstr>Garamond</vt:lpstr>
      <vt:lpstr>Mathematica1</vt:lpstr>
      <vt:lpstr>ＭＳ Ｐゴシック</vt:lpstr>
      <vt:lpstr>Tahoma</vt:lpstr>
      <vt:lpstr>Times New Roman</vt:lpstr>
      <vt:lpstr>Verdana</vt:lpstr>
      <vt:lpstr>Wingdings</vt:lpstr>
      <vt:lpstr>Arial</vt:lpstr>
      <vt:lpstr>Level</vt:lpstr>
      <vt:lpstr>Equation</vt:lpstr>
      <vt:lpstr>Exam II Review Problem</vt:lpstr>
      <vt:lpstr>CHAPTER 11</vt:lpstr>
      <vt:lpstr>THE CHI-SQUARE DISTRIBUTION</vt:lpstr>
      <vt:lpstr>Figure 11.1 Three chi-square distribution curves.</vt:lpstr>
      <vt:lpstr>Example 11-1</vt:lpstr>
      <vt:lpstr>Table 11.1 χ2 for df = 7 and .10 Area in the Right Tail  </vt:lpstr>
      <vt:lpstr>Figure 11.2</vt:lpstr>
      <vt:lpstr>A GOODNESS-OF-FIT TEST</vt:lpstr>
      <vt:lpstr>A GOODNESS-OF-FIT TEST</vt:lpstr>
      <vt:lpstr>A GOODNESS-OF-FIT TEST</vt:lpstr>
      <vt:lpstr>Test Statistic for a Goodness-of-Fit Test</vt:lpstr>
      <vt:lpstr>Example 11-3</vt:lpstr>
      <vt:lpstr>Example 11-3</vt:lpstr>
      <vt:lpstr>Example 11-3: Solution</vt:lpstr>
      <vt:lpstr>Example 11-3: Solution</vt:lpstr>
      <vt:lpstr>Example 11-3: Solution</vt:lpstr>
      <vt:lpstr>Figure 11.4</vt:lpstr>
      <vt:lpstr>Table 11.3 Calculating the Value of the Test Statistic</vt:lpstr>
      <vt:lpstr>Example 11-3: Solution</vt:lpstr>
      <vt:lpstr>Example 11-3: Solution</vt:lpstr>
      <vt:lpstr>A TEST OF INDEPENDENCE OR HOMOGENEITY</vt:lpstr>
      <vt:lpstr>A TEST OF INDEPENDENCE OR HOMOGENEITY</vt:lpstr>
      <vt:lpstr>A Test of Independence</vt:lpstr>
      <vt:lpstr>A Test of Independence</vt:lpstr>
      <vt:lpstr>Example 11-5</vt:lpstr>
      <vt:lpstr>Example 11-5</vt:lpstr>
      <vt:lpstr>Example 11-5: Solution</vt:lpstr>
      <vt:lpstr>Expected Frequencies for a Test of Independence </vt:lpstr>
      <vt:lpstr>Example 11-5: Solution</vt:lpstr>
      <vt:lpstr>Example 11-6</vt:lpstr>
      <vt:lpstr>Example 11-6: Solution</vt:lpstr>
      <vt:lpstr>Example 11-6: Solution</vt:lpstr>
      <vt:lpstr>Figure 11.6</vt:lpstr>
      <vt:lpstr>Table 11.8 Observed and Expected Frequencies</vt:lpstr>
      <vt:lpstr>Example 11-6: Solution</vt:lpstr>
      <vt:lpstr>Example 11-6: Solution</vt:lpstr>
      <vt:lpstr>A Test of Homogeneity</vt:lpstr>
      <vt:lpstr>Example 11-8</vt:lpstr>
      <vt:lpstr>Example 11-8</vt:lpstr>
      <vt:lpstr>Example 11-8: Solution</vt:lpstr>
      <vt:lpstr>Example 11-8: Solution</vt:lpstr>
      <vt:lpstr>Figure 11.8</vt:lpstr>
      <vt:lpstr>Table 11.11 Observed and Expected Frequencies</vt:lpstr>
      <vt:lpstr>Example 11-8: Solution</vt:lpstr>
      <vt:lpstr>Example 11-8: Solution</vt:lpstr>
      <vt:lpstr>INFERENCES ABOUT THE POPULATION VARIANCE</vt:lpstr>
      <vt:lpstr>INFERENCES ABOUT THE POPULATION VARIANCE</vt:lpstr>
      <vt:lpstr>Estimation of the Population Variance</vt:lpstr>
      <vt:lpstr>Estimation of the Population Variance</vt:lpstr>
      <vt:lpstr>Hypothesis Tests About the Population Variance</vt:lpstr>
      <vt:lpstr>Example 11-11</vt:lpstr>
      <vt:lpstr>Example 11-11: Solution</vt:lpstr>
      <vt:lpstr>Example 11-11: Solution</vt:lpstr>
      <vt:lpstr>Figure 11.11</vt:lpstr>
      <vt:lpstr>Example 11-11: Solution</vt:lpstr>
      <vt:lpstr>Example 11-11: Solution</vt:lpstr>
      <vt:lpstr>TI-84</vt:lpstr>
      <vt:lpstr>TI-84</vt:lpstr>
      <vt:lpstr>TI-84</vt:lpstr>
      <vt:lpstr>TI-84</vt:lpstr>
      <vt:lpstr>TI-84</vt:lpstr>
      <vt:lpstr>TI-84</vt:lpstr>
    </vt:vector>
  </TitlesOfParts>
  <Company>Cal Poly Pomona</Company>
  <LinksUpToDate>false</LinksUpToDate>
  <SharedDoc>false</SharedDoc>
  <HyperlinksChanged>false</HyperlinksChanged>
  <AppVersion>15.0038</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11:</dc:title>
  <dc:creator>hoonkim</dc:creator>
  <cp:lastModifiedBy>Microsoft Office User</cp:lastModifiedBy>
  <cp:revision>61</cp:revision>
  <dcterms:created xsi:type="dcterms:W3CDTF">2013-11-12T18:24:47Z</dcterms:created>
  <dcterms:modified xsi:type="dcterms:W3CDTF">2017-11-13T16:59:41Z</dcterms:modified>
</cp:coreProperties>
</file>