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32"/>
  </p:notesMasterIdLst>
  <p:sldIdLst>
    <p:sldId id="257" r:id="rId2"/>
    <p:sldId id="258" r:id="rId3"/>
    <p:sldId id="329" r:id="rId4"/>
    <p:sldId id="260" r:id="rId5"/>
    <p:sldId id="261" r:id="rId6"/>
    <p:sldId id="320" r:id="rId7"/>
    <p:sldId id="264" r:id="rId8"/>
    <p:sldId id="323" r:id="rId9"/>
    <p:sldId id="324" r:id="rId10"/>
    <p:sldId id="325" r:id="rId11"/>
    <p:sldId id="268" r:id="rId12"/>
    <p:sldId id="269" r:id="rId13"/>
    <p:sldId id="270" r:id="rId14"/>
    <p:sldId id="319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280" r:id="rId23"/>
    <p:sldId id="281" r:id="rId24"/>
    <p:sldId id="294" r:id="rId25"/>
    <p:sldId id="283" r:id="rId26"/>
    <p:sldId id="327" r:id="rId27"/>
    <p:sldId id="326" r:id="rId28"/>
    <p:sldId id="284" r:id="rId29"/>
    <p:sldId id="285" r:id="rId30"/>
    <p:sldId id="328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C041E-ED44-7546-BD76-BEC66034B53A}" type="datetimeFigureOut">
              <a:rPr lang="en-US" smtClean="0"/>
              <a:pPr/>
              <a:t>9/26/17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8BCE8-C34E-C845-9FCF-C6007418CF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38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1. Discuss.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2. Everyone empty your pockets. Collect data on money in pocket and “</a:t>
            </a:r>
            <a:r>
              <a:rPr lang="en-GB" dirty="0" smtClean="0"/>
              <a:t>Collect, analyze, present, interpret data, and make a decision based on your analyses.”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28BCE8-C34E-C845-9FCF-C6007418CF5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1412B6-627D-400B-85E6-42F292DE93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6614A-8ACA-417D-A7B9-43D2614B71D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2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8CE677-4DC9-4EED-A25A-0B296C7146B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0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FC3E21-E8BA-492C-9ED3-D94DE8CF86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0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D27568-7031-470F-A9B6-18C78BBD09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0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168958-E1B1-4B57-A198-48AE37A588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9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AC3B4C-3556-4F6D-ACFD-67B6379649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92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A699DC-5A41-4EC5-B1D6-856D4808BB5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91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A01A02-0289-4EAF-A4E5-9DB334DFAC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14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19D484-75DD-4562-8E95-C038A1F201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1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A080E1-1F97-4F39-857A-C3E73C1725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3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endParaRPr lang="en-US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C9AAF75B-1848-41E1-8ED3-4FD039883AC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41992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charset="2"/>
        <a:buChar char="p"/>
        <a:defRPr sz="28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n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p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§"/>
        <a:defRPr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charset="2"/>
        <a:buChar char="§"/>
        <a:defRPr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charset="2"/>
        <a:buChar char="§"/>
        <a:defRPr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charset="2"/>
        <a:buChar char="§"/>
        <a:defRPr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charset="2"/>
        <a:buChar char="§"/>
        <a:defRPr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charset="2"/>
        <a:buChar char="§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CHAPTER 1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sz="3600" b="1" dirty="0" smtClean="0"/>
              <a:t>INTRODUCTION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smtClean="0"/>
              <a:t>WHAT IS STATISTICS?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9063" y="1524000"/>
            <a:ext cx="8491537" cy="16764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b="1" i="1" u="sng" dirty="0" smtClean="0">
                <a:solidFill>
                  <a:schemeClr val="hlink"/>
                </a:solidFill>
              </a:rPr>
              <a:t>Statistics</a:t>
            </a:r>
            <a:r>
              <a:rPr lang="en-GB" sz="2000" dirty="0" smtClean="0"/>
              <a:t> is the science of collecting, </a:t>
            </a:r>
            <a:r>
              <a:rPr lang="en-GB" sz="2000" dirty="0" err="1" smtClean="0"/>
              <a:t>analyzing</a:t>
            </a:r>
            <a:r>
              <a:rPr lang="en-GB" sz="2000" dirty="0" smtClean="0"/>
              <a:t>, presenting, and interpreting data, as well as of making decisions based on such analyses.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59"/>
          <a:stretch/>
        </p:blipFill>
        <p:spPr>
          <a:xfrm>
            <a:off x="228600" y="533400"/>
            <a:ext cx="8915400" cy="8319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Question?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this class representative of the students who attend UWB?</a:t>
            </a:r>
          </a:p>
          <a:p>
            <a:endParaRPr lang="en-US" dirty="0" smtClean="0"/>
          </a:p>
          <a:p>
            <a:r>
              <a:rPr lang="en-GB" dirty="0" smtClean="0"/>
              <a:t>Collect, analyze, present, interpret data, and make a decision based on your analyses.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TYPES OF STATISTICS</a:t>
            </a:r>
            <a:endParaRPr lang="en-US" sz="2800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23825" y="1524000"/>
            <a:ext cx="8410575" cy="16764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b="1" i="1" u="sng" dirty="0" smtClean="0">
                <a:solidFill>
                  <a:schemeClr val="hlink"/>
                </a:solidFill>
              </a:rPr>
              <a:t>Inferential Statistics</a:t>
            </a:r>
            <a:r>
              <a:rPr lang="en-GB" sz="2000" dirty="0" smtClean="0"/>
              <a:t> consists of methods that use sample results to help make decisions or predictions about a population.</a:t>
            </a:r>
            <a:endParaRPr lang="en-US" sz="2000" dirty="0" smtClean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7975"/>
            <a:ext cx="8229600" cy="1139825"/>
          </a:xfrm>
        </p:spPr>
        <p:txBody>
          <a:bodyPr/>
          <a:lstStyle/>
          <a:p>
            <a:pPr eaLnBrk="1" hangingPunct="1"/>
            <a:r>
              <a:rPr lang="en-GB" sz="3200" dirty="0" smtClean="0"/>
              <a:t>POPULATION VERSUS SAMPLE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30175" y="1524000"/>
            <a:ext cx="8328025" cy="2514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  <a:r>
              <a:rPr lang="en-GB" sz="2000" dirty="0" smtClean="0"/>
              <a:t> </a:t>
            </a:r>
          </a:p>
          <a:p>
            <a:pPr eaLnBrk="1" hangingPunct="1">
              <a:lnSpc>
                <a:spcPct val="90000"/>
              </a:lnSpc>
              <a:buFont typeface="Wingdings" charset="2"/>
              <a:buChar char=" "/>
            </a:pPr>
            <a:r>
              <a:rPr lang="en-GB" sz="2000" dirty="0" smtClean="0"/>
              <a:t>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population</a:t>
            </a:r>
            <a:r>
              <a:rPr lang="en-GB" sz="2000" dirty="0" smtClean="0"/>
              <a:t> consists of all elements – individuals, items, or objects – whose characteristics are being studied. The population that is being studied is also called the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target population</a:t>
            </a:r>
            <a:r>
              <a:rPr lang="en-GB" sz="2000" dirty="0" smtClean="0"/>
              <a:t>. </a:t>
            </a:r>
          </a:p>
          <a:p>
            <a:pPr eaLnBrk="1" hangingPunct="1">
              <a:lnSpc>
                <a:spcPct val="90000"/>
              </a:lnSpc>
              <a:buFont typeface="Wingdings" charset="2"/>
              <a:buChar char=" "/>
            </a:pPr>
            <a:endParaRPr lang="en-GB" sz="2000" dirty="0" smtClean="0"/>
          </a:p>
          <a:p>
            <a:pPr eaLnBrk="1" hangingPunct="1">
              <a:lnSpc>
                <a:spcPct val="90000"/>
              </a:lnSpc>
              <a:buFont typeface="Wingdings" charset="2"/>
              <a:buChar char=" "/>
            </a:pPr>
            <a:r>
              <a:rPr lang="en-GB" sz="2000" dirty="0" smtClean="0"/>
              <a:t>A portion of the population selected for study is referred to as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sample</a:t>
            </a:r>
            <a:r>
              <a:rPr lang="en-GB" sz="2000" dirty="0" smtClean="0"/>
              <a:t>.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85" r="2985"/>
          <a:stretch/>
        </p:blipFill>
        <p:spPr>
          <a:xfrm>
            <a:off x="0" y="762000"/>
            <a:ext cx="9144000" cy="733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Figure 1.1 Population and Sample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30" y="1580562"/>
            <a:ext cx="8516539" cy="4210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POPULATION VERSUS SAMPLE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077200" cy="22098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  <a:r>
              <a:rPr lang="en-GB" sz="2000" dirty="0" smtClean="0"/>
              <a:t> 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survey that includes every member of the population is called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census</a:t>
            </a:r>
            <a:r>
              <a:rPr lang="en-GB" sz="2000" dirty="0" smtClean="0"/>
              <a:t>. The technique of collecting information from a portion of the population is called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sample survey</a:t>
            </a:r>
            <a:r>
              <a:rPr lang="en-GB" sz="2000" dirty="0" smtClean="0"/>
              <a:t>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POPULATION VERSUS SAMPLE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22238" y="1535113"/>
            <a:ext cx="8564562" cy="1741487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sample that represents the characteristics of the population as closely as possible is called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representative sample</a:t>
            </a:r>
            <a:r>
              <a:rPr lang="en-GB" sz="2000" dirty="0" smtClean="0"/>
              <a:t>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1543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POPULATION VERSUS SAMPLE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41288" y="1524000"/>
            <a:ext cx="8393112" cy="24384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sample drawn in such a way that each element of the population has a chance of being selected is called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random sample</a:t>
            </a:r>
            <a:r>
              <a:rPr lang="en-GB" sz="2000" dirty="0" smtClean="0"/>
              <a:t>. If all samples of the same size selected from a population have the same chance of being selected, we call it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simple random sampling</a:t>
            </a:r>
            <a:r>
              <a:rPr lang="en-GB" sz="2000" dirty="0" smtClean="0"/>
              <a:t>.  Such a sample is called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simple random sample</a:t>
            </a:r>
            <a:r>
              <a:rPr lang="en-GB" sz="2000" dirty="0" smtClean="0"/>
              <a:t>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8009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POPULATION VERSUS SAMPLE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41288" y="1524000"/>
            <a:ext cx="8393112" cy="32004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sample may be selected with or without replacement.</a:t>
            </a:r>
          </a:p>
          <a:p>
            <a:pPr eaLnBrk="1" hangingPunct="1">
              <a:buFont typeface="Wingdings" charset="2"/>
              <a:buChar char=" "/>
            </a:pPr>
            <a:endParaRPr lang="en-GB" sz="2000" dirty="0"/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In sampling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with replacement</a:t>
            </a:r>
            <a:r>
              <a:rPr lang="en-GB" sz="2000" dirty="0" smtClean="0"/>
              <a:t>, each time we select an element from the population, we put it back in the population before we select the next element.</a:t>
            </a:r>
          </a:p>
          <a:p>
            <a:pPr eaLnBrk="1" hangingPunct="1">
              <a:buFont typeface="Wingdings" charset="2"/>
              <a:buChar char=" "/>
            </a:pPr>
            <a:endParaRPr lang="en-GB" sz="2000" dirty="0" smtClean="0"/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Sampling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without replacement</a:t>
            </a:r>
            <a:r>
              <a:rPr lang="en-GB" sz="2000" dirty="0" smtClean="0"/>
              <a:t> occurs when the selected element is not replaced in the population.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9709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smtClean="0"/>
              <a:t>BASIC TERMS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55563" y="1600200"/>
            <a:ext cx="8402637" cy="19050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  <a:r>
              <a:rPr lang="en-GB" sz="2000" dirty="0" smtClean="0"/>
              <a:t> 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An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element</a:t>
            </a:r>
            <a:r>
              <a:rPr lang="en-GB" sz="2000" dirty="0" smtClean="0"/>
              <a:t> or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member</a:t>
            </a:r>
            <a:r>
              <a:rPr lang="en-GB" sz="2000" dirty="0" smtClean="0"/>
              <a:t> of a sample or population is a specific subject or object (for example, a person, firm, item, state, or country) about which the information is collected.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87" r="2687"/>
          <a:stretch/>
        </p:blipFill>
        <p:spPr>
          <a:xfrm>
            <a:off x="0" y="685800"/>
            <a:ext cx="9144000" cy="6859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 smtClean="0"/>
              <a:t>BASIC TERMS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19063" y="1524000"/>
            <a:ext cx="8491537" cy="14478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  <a:r>
              <a:rPr lang="en-GB" sz="2000" dirty="0" smtClean="0"/>
              <a:t> 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variable</a:t>
            </a:r>
            <a:r>
              <a:rPr lang="en-GB" sz="2000" dirty="0" smtClean="0"/>
              <a:t> is a characteristic under study that assumes different values for different elements.  In contrast to a variable, the value of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constant</a:t>
            </a:r>
            <a:r>
              <a:rPr lang="en-GB" sz="2000" dirty="0" smtClean="0"/>
              <a:t> is fixed.</a:t>
            </a:r>
            <a:endParaRPr lang="en-US" sz="2000" dirty="0" smtClean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BASIC TERMS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15888" y="1508125"/>
            <a:ext cx="8494712" cy="2301875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The value of a variable for an element is called an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observation</a:t>
            </a:r>
            <a:r>
              <a:rPr lang="en-GB" sz="2000" dirty="0" smtClean="0"/>
              <a:t> or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measurement</a:t>
            </a:r>
            <a:r>
              <a:rPr lang="en-GB" sz="2000" dirty="0" smtClean="0"/>
              <a:t>.</a:t>
            </a:r>
          </a:p>
          <a:p>
            <a:pPr eaLnBrk="1" hangingPunct="1">
              <a:buFont typeface="Wingdings" charset="2"/>
              <a:buChar char=" "/>
            </a:pPr>
            <a:endParaRPr lang="en-GB" sz="2000" dirty="0" smtClean="0"/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data set</a:t>
            </a:r>
            <a:r>
              <a:rPr lang="en-GB" sz="2000" dirty="0" smtClean="0"/>
              <a:t> is a collection of observations on one or more variables.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Table 1.1 Total Revenues for 2010 of Six Companies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56486"/>
            <a:ext cx="8915400" cy="37201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TYPES OF VARIABLES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522288" y="1524000"/>
            <a:ext cx="8012112" cy="2133600"/>
          </a:xfrm>
        </p:spPr>
        <p:txBody>
          <a:bodyPr/>
          <a:lstStyle/>
          <a:p>
            <a:pPr eaLnBrk="1" hangingPunct="1"/>
            <a:r>
              <a:rPr lang="en-US" sz="2000" dirty="0" smtClean="0"/>
              <a:t>Quantitative Variables</a:t>
            </a:r>
          </a:p>
          <a:p>
            <a:pPr lvl="1" eaLnBrk="1" hangingPunct="1"/>
            <a:r>
              <a:rPr lang="en-US" sz="2000" dirty="0" smtClean="0"/>
              <a:t>Discrete Variables</a:t>
            </a:r>
          </a:p>
          <a:p>
            <a:pPr lvl="1" eaLnBrk="1" hangingPunct="1"/>
            <a:r>
              <a:rPr lang="en-US" sz="2000" dirty="0" smtClean="0"/>
              <a:t>Continuous Variables</a:t>
            </a:r>
          </a:p>
          <a:p>
            <a:pPr lvl="1" eaLnBrk="1" hangingPunct="1">
              <a:buFont typeface="Wingdings" charset="2"/>
              <a:buNone/>
            </a:pPr>
            <a:endParaRPr lang="en-US" sz="2000" dirty="0" smtClean="0"/>
          </a:p>
          <a:p>
            <a:pPr eaLnBrk="1" hangingPunct="1"/>
            <a:r>
              <a:rPr lang="en-US" sz="2000" dirty="0" smtClean="0"/>
              <a:t>Qualitative or Categorical Variables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87" r="2687"/>
          <a:stretch/>
        </p:blipFill>
        <p:spPr>
          <a:xfrm>
            <a:off x="0" y="685800"/>
            <a:ext cx="9144000" cy="6859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Quantitative Variables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85738" y="1524000"/>
            <a:ext cx="8272462" cy="16002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variable that can be measured numerically is called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quantitative variable</a:t>
            </a:r>
            <a:r>
              <a:rPr lang="en-GB" sz="2000" dirty="0" smtClean="0"/>
              <a:t>. The data collected on a quantitative variable are called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quantitative data</a:t>
            </a:r>
            <a:r>
              <a:rPr lang="en-GB" sz="2000" dirty="0" smtClean="0"/>
              <a:t>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Quantitative Variables: Discrete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12888"/>
            <a:ext cx="8382000" cy="1535112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variable whose values are countable is called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discrete variable</a:t>
            </a:r>
            <a:r>
              <a:rPr lang="en-GB" sz="2000" dirty="0" smtClean="0"/>
              <a:t>. In other words, a discrete variable can assume only certain values with no intermediate values.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Quantitative Variables: Continuous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026400" cy="15240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variable that can assume any numerical value over a certain interval or intervals is called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continuous variable</a:t>
            </a:r>
            <a:r>
              <a:rPr lang="en-GB" sz="2000" dirty="0" smtClean="0"/>
              <a:t>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Qualitative or Categorical Variables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27000" y="1524000"/>
            <a:ext cx="8483600" cy="19050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A variable that cannot assume a numerical value but can be classified into two or more nonnumeric categories is called a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qualitative</a:t>
            </a:r>
            <a:r>
              <a:rPr lang="en-GB" sz="2000" dirty="0" smtClean="0"/>
              <a:t> or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categorical variable</a:t>
            </a:r>
            <a:r>
              <a:rPr lang="en-GB" sz="2000" dirty="0" smtClean="0"/>
              <a:t>. The data collected on such a variable are called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qualitative data</a:t>
            </a:r>
            <a:r>
              <a:rPr lang="en-GB" sz="2000" dirty="0" smtClean="0"/>
              <a:t>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pPr eaLnBrk="1" hangingPunct="1"/>
            <a:r>
              <a:rPr lang="en-GB" sz="3200" smtClean="0"/>
              <a:t>CROSS-SECTION VS. TIME-SERIES DATA</a:t>
            </a:r>
            <a:endParaRPr lang="en-US" sz="320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524001"/>
            <a:ext cx="8066087" cy="1752600"/>
          </a:xfrm>
        </p:spPr>
        <p:txBody>
          <a:bodyPr/>
          <a:lstStyle/>
          <a:p>
            <a:pPr eaLnBrk="1" hangingPunct="1"/>
            <a:r>
              <a:rPr lang="en-US" sz="2000" dirty="0" smtClean="0"/>
              <a:t>Cross-Section Data</a:t>
            </a:r>
          </a:p>
          <a:p>
            <a:pPr eaLnBrk="1" hangingPunct="1"/>
            <a:r>
              <a:rPr lang="en-US" sz="2000" dirty="0" smtClean="0"/>
              <a:t>Time-Series Data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39" r="2239"/>
          <a:stretch/>
        </p:blipFill>
        <p:spPr>
          <a:xfrm>
            <a:off x="0" y="685800"/>
            <a:ext cx="9144000" cy="6859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Cross-Section Data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534400" cy="15240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Data collected on different elements at the same point in time or for the same period of time are called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cross-section data</a:t>
            </a:r>
            <a:r>
              <a:rPr lang="en-GB" sz="2000" dirty="0" smtClean="0"/>
              <a:t>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Table 1.2 Total Revenues for 2010 of Six Companies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752366"/>
            <a:ext cx="5410106" cy="37340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Time-Series Data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382000" cy="1600200"/>
          </a:xfrm>
        </p:spPr>
        <p:txBody>
          <a:bodyPr/>
          <a:lstStyle/>
          <a:p>
            <a:pPr eaLnBrk="1" hangingPunct="1">
              <a:buFont typeface="Wingdings" charset="2"/>
              <a:buChar char=" "/>
            </a:pPr>
            <a:r>
              <a:rPr lang="en-GB" sz="2000" dirty="0" smtClean="0">
                <a:solidFill>
                  <a:schemeClr val="folHlink"/>
                </a:solidFill>
              </a:rPr>
              <a:t>Definition</a:t>
            </a:r>
          </a:p>
          <a:p>
            <a:pPr eaLnBrk="1" hangingPunct="1">
              <a:buFont typeface="Wingdings" charset="2"/>
              <a:buChar char=" "/>
            </a:pPr>
            <a:r>
              <a:rPr lang="en-GB" sz="2000" dirty="0" smtClean="0"/>
              <a:t>Data collected on the same element for the same variable at different points in time or for different periods of time are called </a:t>
            </a:r>
            <a:r>
              <a:rPr lang="en-GB" sz="2000" b="1" i="1" u="sng" dirty="0" smtClean="0">
                <a:solidFill>
                  <a:schemeClr val="hlink"/>
                </a:solidFill>
              </a:rPr>
              <a:t>time-series data</a:t>
            </a:r>
            <a:r>
              <a:rPr lang="en-GB" sz="2000" dirty="0" smtClean="0"/>
              <a:t>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Table 1.3 Money Recovered from Health Care Fraud Judgments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811" y="1752058"/>
            <a:ext cx="6205989" cy="37290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smtClean="0"/>
              <a:t>SOURCES OF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92250"/>
            <a:ext cx="8066087" cy="1860550"/>
          </a:xfrm>
        </p:spPr>
        <p:txBody>
          <a:bodyPr/>
          <a:lstStyle/>
          <a:p>
            <a:pPr eaLnBrk="1" hangingPunct="1"/>
            <a:r>
              <a:rPr lang="en-GB" sz="2000" dirty="0" smtClean="0"/>
              <a:t>Data may be obtained from </a:t>
            </a:r>
          </a:p>
          <a:p>
            <a:pPr lvl="1" eaLnBrk="1" hangingPunct="1"/>
            <a:r>
              <a:rPr lang="en-GB" sz="2000" dirty="0" smtClean="0"/>
              <a:t>Internal Sources</a:t>
            </a:r>
          </a:p>
          <a:p>
            <a:pPr lvl="1" eaLnBrk="1" hangingPunct="1"/>
            <a:r>
              <a:rPr lang="en-GB" sz="2000" dirty="0" smtClean="0"/>
              <a:t>External Sources</a:t>
            </a:r>
          </a:p>
          <a:p>
            <a:pPr lvl="1" eaLnBrk="1" hangingPunct="1"/>
            <a:r>
              <a:rPr lang="en-GB" sz="2000" dirty="0" smtClean="0"/>
              <a:t>Surveys and Experiments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87" r="2687"/>
          <a:stretch/>
        </p:blipFill>
        <p:spPr>
          <a:xfrm>
            <a:off x="0" y="685800"/>
            <a:ext cx="9144000" cy="6650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smtClean="0"/>
              <a:t>SUMMATION NOTATION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-39687" y="1524001"/>
            <a:ext cx="8345487" cy="4191000"/>
          </a:xfrm>
        </p:spPr>
        <p:txBody>
          <a:bodyPr/>
          <a:lstStyle/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 smtClean="0"/>
              <a:t>Suppose a sample consists of five books, and the prices of these five books are</a:t>
            </a:r>
          </a:p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 smtClean="0"/>
              <a:t>               $175, $80, $165, $97, and $88</a:t>
            </a:r>
          </a:p>
          <a:p>
            <a:pPr marL="609600" indent="-609600" eaLnBrk="1" hangingPunct="1">
              <a:buFont typeface="Wingdings" charset="2"/>
              <a:buChar char=" "/>
            </a:pPr>
            <a:endParaRPr lang="en-GB" sz="2000" dirty="0" smtClean="0"/>
          </a:p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 smtClean="0"/>
              <a:t>The variable </a:t>
            </a:r>
            <a:r>
              <a:rPr lang="en-GB" sz="2000" i="1" dirty="0" smtClean="0">
                <a:solidFill>
                  <a:schemeClr val="tx2"/>
                </a:solidFill>
              </a:rPr>
              <a:t>price of a book</a:t>
            </a:r>
            <a:r>
              <a:rPr lang="en-GB" sz="2000" dirty="0" smtClean="0"/>
              <a:t>: x</a:t>
            </a:r>
          </a:p>
          <a:p>
            <a:pPr marL="609600" indent="-609600" eaLnBrk="1" hangingPunct="1">
              <a:buFont typeface="Wingdings" charset="2"/>
              <a:buChar char=" "/>
            </a:pPr>
            <a:endParaRPr lang="en-GB" sz="2000" dirty="0" smtClean="0"/>
          </a:p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 smtClean="0"/>
              <a:t>Price of the first book = x</a:t>
            </a:r>
            <a:r>
              <a:rPr lang="en-GB" sz="2000" baseline="-25000" dirty="0" smtClean="0"/>
              <a:t>1</a:t>
            </a:r>
            <a:r>
              <a:rPr lang="en-GB" sz="2000" dirty="0" smtClean="0"/>
              <a:t> = $175</a:t>
            </a:r>
          </a:p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 smtClean="0"/>
              <a:t>Price of the second book = x</a:t>
            </a:r>
            <a:r>
              <a:rPr lang="en-GB" sz="2000" baseline="-25000" dirty="0" smtClean="0"/>
              <a:t>2</a:t>
            </a:r>
            <a:r>
              <a:rPr lang="en-GB" sz="2000" dirty="0" smtClean="0"/>
              <a:t> = $80</a:t>
            </a:r>
          </a:p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/>
              <a:t>Price of the </a:t>
            </a:r>
            <a:r>
              <a:rPr lang="en-GB" sz="2000" dirty="0" smtClean="0"/>
              <a:t>third book </a:t>
            </a:r>
            <a:r>
              <a:rPr lang="en-GB" sz="2000" dirty="0"/>
              <a:t>= </a:t>
            </a:r>
            <a:r>
              <a:rPr lang="en-GB" sz="2000" dirty="0" smtClean="0"/>
              <a:t>x</a:t>
            </a:r>
            <a:r>
              <a:rPr lang="en-GB" sz="2000" baseline="-25000" dirty="0" smtClean="0"/>
              <a:t>3</a:t>
            </a:r>
            <a:r>
              <a:rPr lang="en-GB" sz="2000" dirty="0" smtClean="0"/>
              <a:t> </a:t>
            </a:r>
            <a:r>
              <a:rPr lang="en-GB" sz="2000" dirty="0"/>
              <a:t>= </a:t>
            </a:r>
            <a:r>
              <a:rPr lang="en-GB" sz="2000" dirty="0" smtClean="0"/>
              <a:t>$165</a:t>
            </a:r>
            <a:endParaRPr lang="en-GB" sz="2000" dirty="0"/>
          </a:p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/>
              <a:t>Price of the </a:t>
            </a:r>
            <a:r>
              <a:rPr lang="en-GB" sz="2000" dirty="0" smtClean="0"/>
              <a:t>fourth </a:t>
            </a:r>
            <a:r>
              <a:rPr lang="en-GB" sz="2000" dirty="0"/>
              <a:t>book = </a:t>
            </a:r>
            <a:r>
              <a:rPr lang="en-GB" sz="2000" dirty="0" smtClean="0"/>
              <a:t>x</a:t>
            </a:r>
            <a:r>
              <a:rPr lang="en-GB" sz="2000" baseline="-25000" dirty="0" smtClean="0"/>
              <a:t>4</a:t>
            </a:r>
            <a:r>
              <a:rPr lang="en-GB" sz="2000" dirty="0" smtClean="0"/>
              <a:t> </a:t>
            </a:r>
            <a:r>
              <a:rPr lang="en-GB" sz="2000" dirty="0"/>
              <a:t>= </a:t>
            </a:r>
            <a:r>
              <a:rPr lang="en-GB" sz="2000" dirty="0" smtClean="0"/>
              <a:t>$97</a:t>
            </a:r>
            <a:endParaRPr lang="en-GB" sz="2000" dirty="0"/>
          </a:p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/>
              <a:t>Price of the </a:t>
            </a:r>
            <a:r>
              <a:rPr lang="en-GB" sz="2000" dirty="0" smtClean="0"/>
              <a:t>fifth </a:t>
            </a:r>
            <a:r>
              <a:rPr lang="en-GB" sz="2000" dirty="0"/>
              <a:t>book = </a:t>
            </a:r>
            <a:r>
              <a:rPr lang="en-GB" sz="2000" dirty="0" smtClean="0"/>
              <a:t>x</a:t>
            </a:r>
            <a:r>
              <a:rPr lang="en-GB" sz="2000" baseline="-25000" dirty="0" smtClean="0"/>
              <a:t>5</a:t>
            </a:r>
            <a:r>
              <a:rPr lang="en-GB" sz="2000" dirty="0" smtClean="0"/>
              <a:t> </a:t>
            </a:r>
            <a:r>
              <a:rPr lang="en-GB" sz="2000" dirty="0"/>
              <a:t>= $</a:t>
            </a:r>
            <a:r>
              <a:rPr lang="en-GB" sz="2000" dirty="0" smtClean="0"/>
              <a:t>88</a:t>
            </a:r>
            <a:endParaRPr lang="en-GB" sz="2000" dirty="0"/>
          </a:p>
          <a:p>
            <a:pPr marL="0" indent="0" eaLnBrk="1" hangingPunct="1">
              <a:buNone/>
            </a:pPr>
            <a:endParaRPr lang="en-GB" sz="2000" dirty="0" smtClean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37" r="2537"/>
          <a:stretch/>
        </p:blipFill>
        <p:spPr>
          <a:xfrm>
            <a:off x="0" y="685800"/>
            <a:ext cx="9144000" cy="7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SUMMATION NOTATION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-76200" y="1676401"/>
            <a:ext cx="7431087" cy="2514599"/>
          </a:xfrm>
        </p:spPr>
        <p:txBody>
          <a:bodyPr/>
          <a:lstStyle/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 smtClean="0"/>
              <a:t>Adding the prices of all five books gives</a:t>
            </a:r>
          </a:p>
          <a:p>
            <a:pPr marL="609600" indent="-609600" eaLnBrk="1" hangingPunct="1">
              <a:buFont typeface="Wingdings" charset="2"/>
              <a:buChar char=" "/>
            </a:pPr>
            <a:endParaRPr lang="en-GB" sz="2000" dirty="0" smtClean="0"/>
          </a:p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 smtClean="0"/>
              <a:t>x</a:t>
            </a:r>
            <a:r>
              <a:rPr lang="en-GB" sz="2000" baseline="-25000" dirty="0" smtClean="0"/>
              <a:t>1</a:t>
            </a:r>
            <a:r>
              <a:rPr lang="en-GB" sz="2000" dirty="0" smtClean="0"/>
              <a:t>+x</a:t>
            </a:r>
            <a:r>
              <a:rPr lang="en-GB" sz="2000" baseline="-25000" dirty="0" smtClean="0"/>
              <a:t>2</a:t>
            </a:r>
            <a:r>
              <a:rPr lang="en-GB" sz="2000" dirty="0" smtClean="0"/>
              <a:t>+x</a:t>
            </a:r>
            <a:r>
              <a:rPr lang="en-GB" sz="2000" baseline="-25000" dirty="0" smtClean="0"/>
              <a:t>3</a:t>
            </a:r>
            <a:r>
              <a:rPr lang="en-GB" sz="2000" dirty="0" smtClean="0"/>
              <a:t>+x</a:t>
            </a:r>
            <a:r>
              <a:rPr lang="en-GB" sz="2000" baseline="-25000" dirty="0" smtClean="0"/>
              <a:t>4</a:t>
            </a:r>
            <a:r>
              <a:rPr lang="en-GB" sz="2000" dirty="0" smtClean="0"/>
              <a:t>+x</a:t>
            </a:r>
            <a:r>
              <a:rPr lang="en-GB" sz="2000" baseline="-25000" dirty="0" smtClean="0"/>
              <a:t>5 </a:t>
            </a:r>
            <a:r>
              <a:rPr lang="en-GB" sz="2000" dirty="0"/>
              <a:t>= 175+80+165+97+88 </a:t>
            </a:r>
            <a:r>
              <a:rPr lang="en-GB" sz="2000" dirty="0" smtClean="0"/>
              <a:t>= 605 </a:t>
            </a:r>
          </a:p>
          <a:p>
            <a:pPr marL="609600" indent="-609600" eaLnBrk="1" hangingPunct="1">
              <a:buFont typeface="Wingdings" charset="2"/>
              <a:buChar char=" "/>
            </a:pPr>
            <a:endParaRPr lang="en-GB" sz="2000" dirty="0"/>
          </a:p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 err="1" smtClean="0"/>
              <a:t>Σx</a:t>
            </a:r>
            <a:r>
              <a:rPr lang="en-GB" sz="2000" dirty="0" smtClean="0"/>
              <a:t> = x</a:t>
            </a:r>
            <a:r>
              <a:rPr lang="en-GB" sz="2000" baseline="-25000" dirty="0" smtClean="0"/>
              <a:t>1</a:t>
            </a:r>
            <a:r>
              <a:rPr lang="en-GB" sz="2000" dirty="0" smtClean="0"/>
              <a:t>+x</a:t>
            </a:r>
            <a:r>
              <a:rPr lang="en-GB" sz="2000" baseline="-25000" dirty="0" smtClean="0"/>
              <a:t>2</a:t>
            </a:r>
            <a:r>
              <a:rPr lang="en-GB" sz="2000" dirty="0" smtClean="0"/>
              <a:t>+x</a:t>
            </a:r>
            <a:r>
              <a:rPr lang="en-GB" sz="2000" baseline="-25000" dirty="0" smtClean="0"/>
              <a:t>3</a:t>
            </a:r>
            <a:r>
              <a:rPr lang="en-GB" sz="2000" dirty="0" smtClean="0"/>
              <a:t>+x</a:t>
            </a:r>
            <a:r>
              <a:rPr lang="en-GB" sz="2000" baseline="-25000" dirty="0" smtClean="0"/>
              <a:t>4</a:t>
            </a:r>
            <a:r>
              <a:rPr lang="en-GB" sz="2000" dirty="0" smtClean="0"/>
              <a:t>+x</a:t>
            </a:r>
            <a:r>
              <a:rPr lang="en-GB" sz="2000" baseline="-25000" dirty="0" smtClean="0"/>
              <a:t>5 </a:t>
            </a:r>
            <a:r>
              <a:rPr lang="en-GB" sz="2000" dirty="0"/>
              <a:t>= </a:t>
            </a:r>
            <a:r>
              <a:rPr lang="en-GB" sz="2000" dirty="0" smtClean="0"/>
              <a:t>605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4978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Example 1-1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-152400" y="1524000"/>
            <a:ext cx="8686800" cy="1371600"/>
          </a:xfrm>
        </p:spPr>
        <p:txBody>
          <a:bodyPr/>
          <a:lstStyle/>
          <a:p>
            <a:pPr marL="609600" indent="-609600" eaLnBrk="1" hangingPunct="1">
              <a:buFont typeface="Wingdings" charset="2"/>
              <a:buChar char=" "/>
            </a:pPr>
            <a:r>
              <a:rPr lang="en-GB" sz="2000" dirty="0" smtClean="0"/>
              <a:t>Annual salaries (in thousands of dollars) of four workers are 75, 90, 125, and 61, respectively. Find </a:t>
            </a:r>
          </a:p>
          <a:p>
            <a:pPr marL="1371600" lvl="2" indent="-457200" eaLnBrk="1" hangingPunct="1">
              <a:buSzPct val="80000"/>
              <a:buFont typeface="Wingdings" charset="2"/>
              <a:buNone/>
            </a:pPr>
            <a:r>
              <a:rPr lang="en-GB" dirty="0" smtClean="0"/>
              <a:t>(a)  ∑x        (b) </a:t>
            </a:r>
            <a:r>
              <a:rPr lang="en-US" dirty="0" smtClean="0"/>
              <a:t> (∑x)²      (c)  ∑x²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Example 1-1: Solution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79425" y="1524000"/>
            <a:ext cx="8207375" cy="4435475"/>
          </a:xfrm>
        </p:spPr>
        <p:txBody>
          <a:bodyPr/>
          <a:lstStyle/>
          <a:p>
            <a:pPr marL="609600" indent="-609600" eaLnBrk="1" hangingPunct="1">
              <a:buSzPct val="80000"/>
              <a:buFont typeface="Wingdings" charset="2"/>
              <a:buNone/>
            </a:pPr>
            <a:r>
              <a:rPr lang="en-GB" sz="2000" dirty="0" smtClean="0"/>
              <a:t>(a) ∑x = x</a:t>
            </a:r>
            <a:r>
              <a:rPr lang="en-GB" sz="2000" baseline="-25000" dirty="0" smtClean="0"/>
              <a:t>1</a:t>
            </a:r>
            <a:r>
              <a:rPr lang="en-GB" sz="2000" dirty="0" smtClean="0"/>
              <a:t> + x</a:t>
            </a:r>
            <a:r>
              <a:rPr lang="en-GB" sz="2000" baseline="-25000" dirty="0" smtClean="0"/>
              <a:t>2</a:t>
            </a:r>
            <a:r>
              <a:rPr lang="en-GB" sz="2000" dirty="0" smtClean="0"/>
              <a:t> + x</a:t>
            </a:r>
            <a:r>
              <a:rPr lang="en-GB" sz="2000" baseline="-25000" dirty="0" smtClean="0"/>
              <a:t>3</a:t>
            </a:r>
            <a:r>
              <a:rPr lang="en-GB" sz="2000" dirty="0" smtClean="0"/>
              <a:t> + x</a:t>
            </a:r>
            <a:r>
              <a:rPr lang="en-GB" sz="2000" baseline="-25000" dirty="0" smtClean="0"/>
              <a:t>4</a:t>
            </a:r>
            <a:r>
              <a:rPr lang="en-GB" sz="2000" dirty="0" smtClean="0"/>
              <a:t> </a:t>
            </a:r>
          </a:p>
          <a:p>
            <a:pPr marL="609600" indent="-609600" eaLnBrk="1" hangingPunct="1">
              <a:buSzPct val="80000"/>
              <a:buFont typeface="Wingdings" charset="2"/>
              <a:buNone/>
            </a:pPr>
            <a:r>
              <a:rPr lang="en-GB" sz="2000" dirty="0" smtClean="0"/>
              <a:t>	    = 75 + 90 + 125 + 61 </a:t>
            </a:r>
          </a:p>
          <a:p>
            <a:pPr marL="609600" indent="-609600" eaLnBrk="1" hangingPunct="1">
              <a:buSzPct val="80000"/>
              <a:buFont typeface="Wingdings" charset="2"/>
              <a:buNone/>
            </a:pPr>
            <a:r>
              <a:rPr lang="en-GB" sz="2000" dirty="0" smtClean="0"/>
              <a:t>           = 351 = </a:t>
            </a:r>
            <a:r>
              <a:rPr lang="en-GB" sz="2000" b="1" dirty="0" smtClean="0"/>
              <a:t>$351,000</a:t>
            </a:r>
          </a:p>
          <a:p>
            <a:pPr marL="609600" indent="-609600" eaLnBrk="1" hangingPunct="1">
              <a:buSzPct val="80000"/>
              <a:buNone/>
            </a:pPr>
            <a:endParaRPr lang="en-GB" sz="2000" dirty="0" smtClean="0"/>
          </a:p>
          <a:p>
            <a:pPr marL="609600" indent="-609600" eaLnBrk="1" hangingPunct="1">
              <a:buSzPct val="80000"/>
              <a:buNone/>
            </a:pPr>
            <a:r>
              <a:rPr lang="en-GB" sz="2000" dirty="0" smtClean="0"/>
              <a:t>(b) </a:t>
            </a:r>
            <a:r>
              <a:rPr lang="en-GB" sz="2000" dirty="0"/>
              <a:t>Note that (∑x)² </a:t>
            </a:r>
            <a:r>
              <a:rPr lang="en-GB" sz="2000" dirty="0" smtClean="0"/>
              <a:t>is the square of the sum of all x values. </a:t>
            </a:r>
          </a:p>
          <a:p>
            <a:pPr marL="609600" indent="-609600" eaLnBrk="1" hangingPunct="1">
              <a:buSzPct val="80000"/>
              <a:buNone/>
            </a:pPr>
            <a:r>
              <a:rPr lang="en-GB" sz="2000" dirty="0"/>
              <a:t> </a:t>
            </a:r>
            <a:r>
              <a:rPr lang="en-GB" sz="2000" dirty="0" smtClean="0"/>
              <a:t>     Thus,</a:t>
            </a:r>
          </a:p>
          <a:p>
            <a:pPr marL="609600" indent="-609600" eaLnBrk="1" hangingPunct="1">
              <a:buSzPct val="80000"/>
              <a:buNone/>
            </a:pPr>
            <a:r>
              <a:rPr lang="en-GB" sz="2000" dirty="0"/>
              <a:t> </a:t>
            </a:r>
            <a:r>
              <a:rPr lang="en-GB" sz="2000" dirty="0" smtClean="0"/>
              <a:t>    (∑x)² = (351)</a:t>
            </a:r>
            <a:r>
              <a:rPr lang="en-US" sz="2000" dirty="0" smtClean="0"/>
              <a:t>² = </a:t>
            </a:r>
            <a:r>
              <a:rPr lang="en-US" sz="2000" b="1" dirty="0" smtClean="0"/>
              <a:t>123,201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dirty="0" smtClean="0"/>
              <a:t>Example 1-1: Solution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79425" y="1524000"/>
            <a:ext cx="8207375" cy="4435475"/>
          </a:xfrm>
        </p:spPr>
        <p:txBody>
          <a:bodyPr/>
          <a:lstStyle/>
          <a:p>
            <a:pPr marL="609600" indent="-609600" eaLnBrk="1" hangingPunct="1">
              <a:buSzPct val="80000"/>
              <a:buNone/>
            </a:pPr>
            <a:r>
              <a:rPr lang="en-US" sz="2000" dirty="0" smtClean="0"/>
              <a:t>(c) </a:t>
            </a:r>
            <a:r>
              <a:rPr lang="en-US" sz="2000" dirty="0"/>
              <a:t>The expression ∑x² </a:t>
            </a:r>
            <a:r>
              <a:rPr lang="en-US" sz="2000" dirty="0" smtClean="0"/>
              <a:t>is the sum of the squares of x values.   </a:t>
            </a:r>
          </a:p>
          <a:p>
            <a:pPr marL="609600" indent="-609600" eaLnBrk="1" hangingPunct="1">
              <a:buSzPct val="80000"/>
              <a:buNone/>
            </a:pPr>
            <a:r>
              <a:rPr lang="en-US" sz="2000" dirty="0"/>
              <a:t> </a:t>
            </a:r>
            <a:r>
              <a:rPr lang="en-US" sz="2000" dirty="0" smtClean="0"/>
              <a:t>    To calculate </a:t>
            </a:r>
            <a:r>
              <a:rPr lang="en-US" sz="2000" dirty="0"/>
              <a:t>∑x² </a:t>
            </a:r>
            <a:r>
              <a:rPr lang="en-US" sz="2000" dirty="0" smtClean="0"/>
              <a:t>, we first square each of the x values and </a:t>
            </a:r>
          </a:p>
          <a:p>
            <a:pPr marL="609600" indent="-609600" eaLnBrk="1" hangingPunct="1">
              <a:buSzPct val="80000"/>
              <a:buNone/>
            </a:pPr>
            <a:r>
              <a:rPr lang="en-US" sz="2000" dirty="0"/>
              <a:t> </a:t>
            </a:r>
            <a:r>
              <a:rPr lang="en-US" sz="2000" dirty="0" smtClean="0"/>
              <a:t>    then sum these squared values. Thus, </a:t>
            </a:r>
          </a:p>
          <a:p>
            <a:pPr marL="609600" indent="-609600" eaLnBrk="1" hangingPunct="1">
              <a:buSzPct val="80000"/>
              <a:buNone/>
            </a:pPr>
            <a:endParaRPr lang="en-US" sz="2000" dirty="0"/>
          </a:p>
          <a:p>
            <a:pPr marL="609600" indent="-609600" eaLnBrk="1" hangingPunct="1">
              <a:buSzPct val="80000"/>
              <a:buNone/>
            </a:pPr>
            <a:r>
              <a:rPr lang="en-US" sz="2000" dirty="0" smtClean="0"/>
              <a:t>       ∑x² = (75)² + (90)² + (125)² + (61)²</a:t>
            </a:r>
          </a:p>
          <a:p>
            <a:pPr marL="609600" indent="-609600" eaLnBrk="1" hangingPunct="1">
              <a:buSzPct val="80000"/>
              <a:buFont typeface="Wingdings" charset="2"/>
              <a:buNone/>
            </a:pPr>
            <a:r>
              <a:rPr lang="en-US" sz="2000" dirty="0" smtClean="0"/>
              <a:t>  	       = 5,625 + 8,100 + 15,625 + 3,721</a:t>
            </a:r>
          </a:p>
          <a:p>
            <a:pPr marL="609600" indent="-609600" eaLnBrk="1" hangingPunct="1">
              <a:buSzPct val="80000"/>
              <a:buFont typeface="Wingdings" charset="2"/>
              <a:buNone/>
            </a:pPr>
            <a:r>
              <a:rPr lang="en-US" sz="2000" dirty="0" smtClean="0"/>
              <a:t>	       = </a:t>
            </a:r>
            <a:r>
              <a:rPr lang="en-US" sz="2000" b="1" dirty="0" smtClean="0"/>
              <a:t>33,071</a:t>
            </a:r>
            <a:endParaRPr lang="en-GB" dirty="0" smtClean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38600" y="6224588"/>
            <a:ext cx="4781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                          Prem Mann, </a:t>
            </a:r>
            <a:r>
              <a:rPr lang="en-US" sz="1400" i="1" dirty="0"/>
              <a:t>Introductory Statistics</a:t>
            </a:r>
            <a:r>
              <a:rPr lang="en-US" sz="1400" dirty="0"/>
              <a:t>, </a:t>
            </a:r>
            <a:r>
              <a:rPr lang="en-US" sz="1400" i="1" dirty="0" smtClean="0"/>
              <a:t>8/E</a:t>
            </a:r>
            <a:r>
              <a:rPr lang="en-US" sz="1400" dirty="0" smtClean="0"/>
              <a:t> </a:t>
            </a:r>
            <a:r>
              <a:rPr lang="en-US" sz="1400" dirty="0"/>
              <a:t>Copyright © </a:t>
            </a:r>
            <a:r>
              <a:rPr lang="en-US" sz="1400" dirty="0" smtClean="0"/>
              <a:t>2013 </a:t>
            </a:r>
            <a:r>
              <a:rPr lang="en-US" sz="1400" dirty="0"/>
              <a:t>John Wiley &amp; Sons. All </a:t>
            </a:r>
            <a:r>
              <a:rPr lang="en-US" sz="1400" dirty="0" smtClean="0"/>
              <a:t>rights reserved.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1984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vel">
  <a:themeElements>
    <a:clrScheme name="Custom 12">
      <a:dk1>
        <a:srgbClr val="000000"/>
      </a:dk1>
      <a:lt1>
        <a:srgbClr val="FFFFFF"/>
      </a:lt1>
      <a:dk2>
        <a:srgbClr val="005392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1530</Words>
  <Application>Microsoft Macintosh PowerPoint</Application>
  <PresentationFormat>On-screen Show (4:3)</PresentationFormat>
  <Paragraphs>147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Calibri</vt:lpstr>
      <vt:lpstr>Garamond</vt:lpstr>
      <vt:lpstr>ＭＳ Ｐゴシック</vt:lpstr>
      <vt:lpstr>Times New Roman</vt:lpstr>
      <vt:lpstr>Verdana</vt:lpstr>
      <vt:lpstr>Wingdings</vt:lpstr>
      <vt:lpstr>Arial</vt:lpstr>
      <vt:lpstr>Level</vt:lpstr>
      <vt:lpstr>CHAPTER 1</vt:lpstr>
      <vt:lpstr>WHAT IS STATISTICS?</vt:lpstr>
      <vt:lpstr>Statistical Question?</vt:lpstr>
      <vt:lpstr>TYPES OF STATISTICS</vt:lpstr>
      <vt:lpstr>POPULATION VERSUS SAMPLE</vt:lpstr>
      <vt:lpstr>Figure 1.1 Population and Sample</vt:lpstr>
      <vt:lpstr>POPULATION VERSUS SAMPLE</vt:lpstr>
      <vt:lpstr>POPULATION VERSUS SAMPLE</vt:lpstr>
      <vt:lpstr>POPULATION VERSUS SAMPLE</vt:lpstr>
      <vt:lpstr>POPULATION VERSUS SAMPLE</vt:lpstr>
      <vt:lpstr>BASIC TERMS</vt:lpstr>
      <vt:lpstr>BASIC TERMS</vt:lpstr>
      <vt:lpstr>BASIC TERMS</vt:lpstr>
      <vt:lpstr>Table 1.1 Total Revenues for 2010 of Six Companies</vt:lpstr>
      <vt:lpstr>TYPES OF VARIABLES</vt:lpstr>
      <vt:lpstr>Quantitative Variables</vt:lpstr>
      <vt:lpstr>Quantitative Variables: Discrete</vt:lpstr>
      <vt:lpstr>Quantitative Variables: Continuous</vt:lpstr>
      <vt:lpstr>Qualitative or Categorical Variables</vt:lpstr>
      <vt:lpstr>CROSS-SECTION VS. TIME-SERIES DATA</vt:lpstr>
      <vt:lpstr>Cross-Section Data</vt:lpstr>
      <vt:lpstr>Table 1.2 Total Revenues for 2010 of Six Companies</vt:lpstr>
      <vt:lpstr>Time-Series Data</vt:lpstr>
      <vt:lpstr>Table 1.3 Money Recovered from Health Care Fraud Judgments</vt:lpstr>
      <vt:lpstr>SOURCES OF DATA</vt:lpstr>
      <vt:lpstr>SUMMATION NOTATION</vt:lpstr>
      <vt:lpstr>SUMMATION NOTATION</vt:lpstr>
      <vt:lpstr>Example 1-1</vt:lpstr>
      <vt:lpstr>Example 1-1: Solution</vt:lpstr>
      <vt:lpstr>Example 1-1: Solution</vt:lpstr>
    </vt:vector>
  </TitlesOfParts>
  <Company>Cal Poly Pomona</Company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</dc:title>
  <dc:creator>hoonkim</dc:creator>
  <cp:lastModifiedBy>Microsoft Office User</cp:lastModifiedBy>
  <cp:revision>49</cp:revision>
  <dcterms:created xsi:type="dcterms:W3CDTF">2014-09-22T16:13:05Z</dcterms:created>
  <dcterms:modified xsi:type="dcterms:W3CDTF">2017-09-26T17:29:56Z</dcterms:modified>
</cp:coreProperties>
</file>