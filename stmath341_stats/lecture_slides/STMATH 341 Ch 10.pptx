
<file path=[Content_Types].xml><?xml version="1.0" encoding="utf-8"?>
<Types xmlns="http://schemas.openxmlformats.org/package/2006/content-types">
  <Default Extension="xml" ContentType="application/xml"/>
  <Default Extension="wmf" ContentType="image/x-wmf"/>
  <Default Extension="jpeg" ContentType="image/jpeg"/>
  <Default Extension="rels" ContentType="application/vnd.openxmlformats-package.relationships+xml"/>
  <Default Extension="vml" ContentType="application/vnd.openxmlformats-officedocument.vmlDrawing"/>
  <Default Extension="bin" ContentType="application/vnd.openxmlformats-officedocument.oleObject"/>
  <Default Extension="png" ContentType="image/p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9" r:id="rId1"/>
  </p:sldMasterIdLst>
  <p:notesMasterIdLst>
    <p:notesMasterId r:id="rId108"/>
  </p:notesMasterIdLst>
  <p:sldIdLst>
    <p:sldId id="257" r:id="rId2"/>
    <p:sldId id="412" r:id="rId3"/>
    <p:sldId id="413" r:id="rId4"/>
    <p:sldId id="411" r:id="rId5"/>
    <p:sldId id="258" r:id="rId6"/>
    <p:sldId id="259" r:id="rId7"/>
    <p:sldId id="260" r:id="rId8"/>
    <p:sldId id="261" r:id="rId9"/>
    <p:sldId id="398" r:id="rId10"/>
    <p:sldId id="263" r:id="rId11"/>
    <p:sldId id="399" r:id="rId12"/>
    <p:sldId id="400" r:id="rId13"/>
    <p:sldId id="401" r:id="rId14"/>
    <p:sldId id="402" r:id="rId15"/>
    <p:sldId id="403" r:id="rId16"/>
    <p:sldId id="404" r:id="rId17"/>
    <p:sldId id="273" r:id="rId18"/>
    <p:sldId id="274" r:id="rId19"/>
    <p:sldId id="275" r:id="rId20"/>
    <p:sldId id="276" r:id="rId21"/>
    <p:sldId id="277" r:id="rId22"/>
    <p:sldId id="278" r:id="rId23"/>
    <p:sldId id="279" r:id="rId24"/>
    <p:sldId id="280" r:id="rId25"/>
    <p:sldId id="281" r:id="rId26"/>
    <p:sldId id="282" r:id="rId27"/>
    <p:sldId id="283" r:id="rId28"/>
    <p:sldId id="290" r:id="rId29"/>
    <p:sldId id="292" r:id="rId30"/>
    <p:sldId id="293" r:id="rId31"/>
    <p:sldId id="294" r:id="rId32"/>
    <p:sldId id="295" r:id="rId33"/>
    <p:sldId id="296" r:id="rId34"/>
    <p:sldId id="297" r:id="rId35"/>
    <p:sldId id="298" r:id="rId36"/>
    <p:sldId id="299" r:id="rId37"/>
    <p:sldId id="300" r:id="rId38"/>
    <p:sldId id="301" r:id="rId39"/>
    <p:sldId id="302" r:id="rId40"/>
    <p:sldId id="303" r:id="rId41"/>
    <p:sldId id="304" r:id="rId42"/>
    <p:sldId id="305" r:id="rId43"/>
    <p:sldId id="306" r:id="rId44"/>
    <p:sldId id="307" r:id="rId45"/>
    <p:sldId id="316" r:id="rId46"/>
    <p:sldId id="317" r:id="rId47"/>
    <p:sldId id="318" r:id="rId48"/>
    <p:sldId id="319" r:id="rId49"/>
    <p:sldId id="320" r:id="rId50"/>
    <p:sldId id="321" r:id="rId51"/>
    <p:sldId id="323" r:id="rId52"/>
    <p:sldId id="324" r:id="rId53"/>
    <p:sldId id="325" r:id="rId54"/>
    <p:sldId id="326" r:id="rId55"/>
    <p:sldId id="328" r:id="rId56"/>
    <p:sldId id="329" r:id="rId57"/>
    <p:sldId id="330" r:id="rId58"/>
    <p:sldId id="331" r:id="rId59"/>
    <p:sldId id="332" r:id="rId60"/>
    <p:sldId id="333" r:id="rId61"/>
    <p:sldId id="334" r:id="rId62"/>
    <p:sldId id="335" r:id="rId63"/>
    <p:sldId id="336" r:id="rId64"/>
    <p:sldId id="337" r:id="rId65"/>
    <p:sldId id="406" r:id="rId66"/>
    <p:sldId id="339" r:id="rId67"/>
    <p:sldId id="340" r:id="rId68"/>
    <p:sldId id="341" r:id="rId69"/>
    <p:sldId id="342" r:id="rId70"/>
    <p:sldId id="344" r:id="rId71"/>
    <p:sldId id="345" r:id="rId72"/>
    <p:sldId id="346" r:id="rId73"/>
    <p:sldId id="347" r:id="rId74"/>
    <p:sldId id="348" r:id="rId75"/>
    <p:sldId id="359" r:id="rId76"/>
    <p:sldId id="360" r:id="rId77"/>
    <p:sldId id="361" r:id="rId78"/>
    <p:sldId id="362" r:id="rId79"/>
    <p:sldId id="363" r:id="rId80"/>
    <p:sldId id="364" r:id="rId81"/>
    <p:sldId id="365" r:id="rId82"/>
    <p:sldId id="366" r:id="rId83"/>
    <p:sldId id="367" r:id="rId84"/>
    <p:sldId id="368" r:id="rId85"/>
    <p:sldId id="369" r:id="rId86"/>
    <p:sldId id="370" r:id="rId87"/>
    <p:sldId id="371" r:id="rId88"/>
    <p:sldId id="372" r:id="rId89"/>
    <p:sldId id="373" r:id="rId90"/>
    <p:sldId id="374" r:id="rId91"/>
    <p:sldId id="375" r:id="rId92"/>
    <p:sldId id="376" r:id="rId93"/>
    <p:sldId id="377" r:id="rId94"/>
    <p:sldId id="378" r:id="rId95"/>
    <p:sldId id="379" r:id="rId96"/>
    <p:sldId id="380" r:id="rId97"/>
    <p:sldId id="381" r:id="rId98"/>
    <p:sldId id="382" r:id="rId99"/>
    <p:sldId id="383" r:id="rId100"/>
    <p:sldId id="384" r:id="rId101"/>
    <p:sldId id="407" r:id="rId102"/>
    <p:sldId id="385" r:id="rId103"/>
    <p:sldId id="386" r:id="rId104"/>
    <p:sldId id="387" r:id="rId105"/>
    <p:sldId id="395" r:id="rId106"/>
    <p:sldId id="410" r:id="rId107"/>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Verdana" charset="0"/>
        <a:ea typeface="ＭＳ Ｐゴシック" charset="-128"/>
        <a:cs typeface="+mn-cs"/>
      </a:defRPr>
    </a:lvl1pPr>
    <a:lvl2pPr marL="457200" algn="l" rtl="0" eaLnBrk="0" fontAlgn="base" hangingPunct="0">
      <a:spcBef>
        <a:spcPct val="0"/>
      </a:spcBef>
      <a:spcAft>
        <a:spcPct val="0"/>
      </a:spcAft>
      <a:defRPr kern="1200">
        <a:solidFill>
          <a:schemeClr val="tx1"/>
        </a:solidFill>
        <a:latin typeface="Verdana" charset="0"/>
        <a:ea typeface="ＭＳ Ｐゴシック" charset="-128"/>
        <a:cs typeface="+mn-cs"/>
      </a:defRPr>
    </a:lvl2pPr>
    <a:lvl3pPr marL="914400" algn="l" rtl="0" eaLnBrk="0" fontAlgn="base" hangingPunct="0">
      <a:spcBef>
        <a:spcPct val="0"/>
      </a:spcBef>
      <a:spcAft>
        <a:spcPct val="0"/>
      </a:spcAft>
      <a:defRPr kern="1200">
        <a:solidFill>
          <a:schemeClr val="tx1"/>
        </a:solidFill>
        <a:latin typeface="Verdana" charset="0"/>
        <a:ea typeface="ＭＳ Ｐゴシック" charset="-128"/>
        <a:cs typeface="+mn-cs"/>
      </a:defRPr>
    </a:lvl3pPr>
    <a:lvl4pPr marL="1371600" algn="l" rtl="0" eaLnBrk="0" fontAlgn="base" hangingPunct="0">
      <a:spcBef>
        <a:spcPct val="0"/>
      </a:spcBef>
      <a:spcAft>
        <a:spcPct val="0"/>
      </a:spcAft>
      <a:defRPr kern="1200">
        <a:solidFill>
          <a:schemeClr val="tx1"/>
        </a:solidFill>
        <a:latin typeface="Verdana" charset="0"/>
        <a:ea typeface="ＭＳ Ｐゴシック" charset="-128"/>
        <a:cs typeface="+mn-cs"/>
      </a:defRPr>
    </a:lvl4pPr>
    <a:lvl5pPr marL="1828800" algn="l" rtl="0" eaLnBrk="0" fontAlgn="base" hangingPunct="0">
      <a:spcBef>
        <a:spcPct val="0"/>
      </a:spcBef>
      <a:spcAft>
        <a:spcPct val="0"/>
      </a:spcAft>
      <a:defRPr kern="1200">
        <a:solidFill>
          <a:schemeClr val="tx1"/>
        </a:solidFill>
        <a:latin typeface="Verdana" charset="0"/>
        <a:ea typeface="ＭＳ Ｐゴシック" charset="-128"/>
        <a:cs typeface="+mn-cs"/>
      </a:defRPr>
    </a:lvl5pPr>
    <a:lvl6pPr marL="2286000" algn="l" defTabSz="914400" rtl="0" eaLnBrk="1" latinLnBrk="0" hangingPunct="1">
      <a:defRPr kern="1200">
        <a:solidFill>
          <a:schemeClr val="tx1"/>
        </a:solidFill>
        <a:latin typeface="Verdana" charset="0"/>
        <a:ea typeface="ＭＳ Ｐゴシック" charset="-128"/>
        <a:cs typeface="+mn-cs"/>
      </a:defRPr>
    </a:lvl6pPr>
    <a:lvl7pPr marL="2743200" algn="l" defTabSz="914400" rtl="0" eaLnBrk="1" latinLnBrk="0" hangingPunct="1">
      <a:defRPr kern="1200">
        <a:solidFill>
          <a:schemeClr val="tx1"/>
        </a:solidFill>
        <a:latin typeface="Verdana" charset="0"/>
        <a:ea typeface="ＭＳ Ｐゴシック" charset="-128"/>
        <a:cs typeface="+mn-cs"/>
      </a:defRPr>
    </a:lvl7pPr>
    <a:lvl8pPr marL="3200400" algn="l" defTabSz="914400" rtl="0" eaLnBrk="1" latinLnBrk="0" hangingPunct="1">
      <a:defRPr kern="1200">
        <a:solidFill>
          <a:schemeClr val="tx1"/>
        </a:solidFill>
        <a:latin typeface="Verdana" charset="0"/>
        <a:ea typeface="ＭＳ Ｐゴシック" charset="-128"/>
        <a:cs typeface="+mn-cs"/>
      </a:defRPr>
    </a:lvl8pPr>
    <a:lvl9pPr marL="3657600" algn="l" defTabSz="914400" rtl="0" eaLnBrk="1" latinLnBrk="0" hangingPunct="1">
      <a:defRPr kern="1200">
        <a:solidFill>
          <a:schemeClr val="tx1"/>
        </a:solidFill>
        <a:latin typeface="Verdana" charset="0"/>
        <a:ea typeface="ＭＳ Ｐゴシック"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74"/>
  </p:normalViewPr>
  <p:slideViewPr>
    <p:cSldViewPr>
      <p:cViewPr varScale="1">
        <p:scale>
          <a:sx n="124" d="100"/>
          <a:sy n="124" d="100"/>
        </p:scale>
        <p:origin x="1824" y="16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8" Type="http://schemas.openxmlformats.org/officeDocument/2006/relationships/notesMaster" Target="notesMasters/notesMaster1.xml"/><Relationship Id="rId109" Type="http://schemas.openxmlformats.org/officeDocument/2006/relationships/presProps" Target="presProps.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110" Type="http://schemas.openxmlformats.org/officeDocument/2006/relationships/viewProps" Target="viewProps.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11" Type="http://schemas.openxmlformats.org/officeDocument/2006/relationships/theme" Target="theme/theme1.xml"/><Relationship Id="rId112" Type="http://schemas.openxmlformats.org/officeDocument/2006/relationships/tableStyles" Target="tableStyles.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100" Type="http://schemas.openxmlformats.org/officeDocument/2006/relationships/slide" Target="slides/slide99.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5.wmf"/><Relationship Id="rId2" Type="http://schemas.openxmlformats.org/officeDocument/2006/relationships/image" Target="../media/image6.wmf"/><Relationship Id="rId3" Type="http://schemas.openxmlformats.org/officeDocument/2006/relationships/image" Target="../media/image7.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8.wmf"/><Relationship Id="rId2" Type="http://schemas.openxmlformats.org/officeDocument/2006/relationships/image" Target="../media/image9.wmf"/><Relationship Id="rId3" Type="http://schemas.openxmlformats.org/officeDocument/2006/relationships/image" Target="../media/image10.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1.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3.wmf"/><Relationship Id="rId2" Type="http://schemas.openxmlformats.org/officeDocument/2006/relationships/image" Target="../media/image14.wmf"/><Relationship Id="rId3" Type="http://schemas.openxmlformats.org/officeDocument/2006/relationships/image" Target="../media/image15.w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21.wmf"/><Relationship Id="rId4" Type="http://schemas.openxmlformats.org/officeDocument/2006/relationships/image" Target="../media/image22.wmf"/><Relationship Id="rId1" Type="http://schemas.openxmlformats.org/officeDocument/2006/relationships/image" Target="../media/image19.wmf"/><Relationship Id="rId2" Type="http://schemas.openxmlformats.org/officeDocument/2006/relationships/image" Target="../media/image20.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24.wmf"/><Relationship Id="rId2" Type="http://schemas.openxmlformats.org/officeDocument/2006/relationships/image" Target="../media/image25.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26.wmf"/><Relationship Id="rId2" Type="http://schemas.openxmlformats.org/officeDocument/2006/relationships/image" Target="../media/image27.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28.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29.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30.wmf"/><Relationship Id="rId2" Type="http://schemas.openxmlformats.org/officeDocument/2006/relationships/image" Target="../media/image31.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33.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35.w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36.wmf"/><Relationship Id="rId2" Type="http://schemas.openxmlformats.org/officeDocument/2006/relationships/image" Target="../media/image37.w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38.w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39.w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40.w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41.wmf"/><Relationship Id="rId2" Type="http://schemas.openxmlformats.org/officeDocument/2006/relationships/image" Target="../media/image42.w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43.w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45.w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47.wmf"/><Relationship Id="rId2" Type="http://schemas.openxmlformats.org/officeDocument/2006/relationships/image" Target="../media/image48.wmf"/><Relationship Id="rId3" Type="http://schemas.openxmlformats.org/officeDocument/2006/relationships/image" Target="../media/image49.w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50.wmf"/><Relationship Id="rId2" Type="http://schemas.openxmlformats.org/officeDocument/2006/relationships/image" Target="../media/image51.wmf"/><Relationship Id="rId3" Type="http://schemas.openxmlformats.org/officeDocument/2006/relationships/image" Target="../media/image52.wmf"/></Relationships>
</file>

<file path=ppt/drawings/_rels/vmlDrawing22.vml.rels><?xml version="1.0" encoding="UTF-8" standalone="yes"?>
<Relationships xmlns="http://schemas.openxmlformats.org/package/2006/relationships"><Relationship Id="rId1" Type="http://schemas.openxmlformats.org/officeDocument/2006/relationships/image" Target="../media/image53.wmf"/></Relationships>
</file>

<file path=ppt/drawings/_rels/vmlDrawing23.vml.rels><?xml version="1.0" encoding="UTF-8" standalone="yes"?>
<Relationships xmlns="http://schemas.openxmlformats.org/package/2006/relationships"><Relationship Id="rId3" Type="http://schemas.openxmlformats.org/officeDocument/2006/relationships/image" Target="../media/image56.wmf"/><Relationship Id="rId4" Type="http://schemas.openxmlformats.org/officeDocument/2006/relationships/image" Target="../media/image57.wmf"/><Relationship Id="rId5" Type="http://schemas.openxmlformats.org/officeDocument/2006/relationships/image" Target="../media/image51.wmf"/><Relationship Id="rId1" Type="http://schemas.openxmlformats.org/officeDocument/2006/relationships/image" Target="../media/image54.wmf"/><Relationship Id="rId2" Type="http://schemas.openxmlformats.org/officeDocument/2006/relationships/image" Target="../media/image55.wmf"/></Relationships>
</file>

<file path=ppt/drawings/_rels/vmlDrawing24.vml.rels><?xml version="1.0" encoding="UTF-8" standalone="yes"?>
<Relationships xmlns="http://schemas.openxmlformats.org/package/2006/relationships"><Relationship Id="rId1" Type="http://schemas.openxmlformats.org/officeDocument/2006/relationships/image" Target="../media/image58.wmf"/><Relationship Id="rId2" Type="http://schemas.openxmlformats.org/officeDocument/2006/relationships/image" Target="../media/image55.wmf"/></Relationships>
</file>

<file path=ppt/drawings/_rels/vmlDrawing25.vml.rels><?xml version="1.0" encoding="UTF-8" standalone="yes"?>
<Relationships xmlns="http://schemas.openxmlformats.org/package/2006/relationships"><Relationship Id="rId1" Type="http://schemas.openxmlformats.org/officeDocument/2006/relationships/image" Target="../media/image61.wmf"/></Relationships>
</file>

<file path=ppt/drawings/_rels/vmlDrawing26.vml.rels><?xml version="1.0" encoding="UTF-8" standalone="yes"?>
<Relationships xmlns="http://schemas.openxmlformats.org/package/2006/relationships"><Relationship Id="rId1" Type="http://schemas.openxmlformats.org/officeDocument/2006/relationships/image" Target="../media/image62.wmf"/></Relationships>
</file>

<file path=ppt/drawings/_rels/vmlDrawing27.vml.rels><?xml version="1.0" encoding="UTF-8" standalone="yes"?>
<Relationships xmlns="http://schemas.openxmlformats.org/package/2006/relationships"><Relationship Id="rId1" Type="http://schemas.openxmlformats.org/officeDocument/2006/relationships/image" Target="../media/image63.wmf"/><Relationship Id="rId2" Type="http://schemas.openxmlformats.org/officeDocument/2006/relationships/image" Target="../media/image51.wmf"/></Relationships>
</file>

<file path=ppt/drawings/_rels/vmlDrawing28.vml.rels><?xml version="1.0" encoding="UTF-8" standalone="yes"?>
<Relationships xmlns="http://schemas.openxmlformats.org/package/2006/relationships"><Relationship Id="rId1" Type="http://schemas.openxmlformats.org/officeDocument/2006/relationships/image" Target="../media/image66.wmf"/><Relationship Id="rId2" Type="http://schemas.openxmlformats.org/officeDocument/2006/relationships/image" Target="../media/image67.wmf"/></Relationships>
</file>

<file path=ppt/drawings/_rels/vmlDrawing29.vml.rels><?xml version="1.0" encoding="UTF-8" standalone="yes"?>
<Relationships xmlns="http://schemas.openxmlformats.org/package/2006/relationships"><Relationship Id="rId1" Type="http://schemas.openxmlformats.org/officeDocument/2006/relationships/image" Target="../media/image53.wmf"/></Relationships>
</file>

<file path=ppt/drawings/_rels/vmlDrawing30.vml.rels><?xml version="1.0" encoding="UTF-8" standalone="yes"?>
<Relationships xmlns="http://schemas.openxmlformats.org/package/2006/relationships"><Relationship Id="rId1" Type="http://schemas.openxmlformats.org/officeDocument/2006/relationships/image" Target="../media/image68.wmf"/></Relationships>
</file>

<file path=ppt/drawings/_rels/vmlDrawing31.vml.rels><?xml version="1.0" encoding="UTF-8" standalone="yes"?>
<Relationships xmlns="http://schemas.openxmlformats.org/package/2006/relationships"><Relationship Id="rId1" Type="http://schemas.openxmlformats.org/officeDocument/2006/relationships/image" Target="../media/image70.wmf"/><Relationship Id="rId2" Type="http://schemas.openxmlformats.org/officeDocument/2006/relationships/image" Target="../media/image71.wmf"/><Relationship Id="rId3" Type="http://schemas.openxmlformats.org/officeDocument/2006/relationships/image" Target="../media/image72.wmf"/></Relationships>
</file>

<file path=ppt/drawings/_rels/vmlDrawing32.vml.rels><?xml version="1.0" encoding="UTF-8" standalone="yes"?>
<Relationships xmlns="http://schemas.openxmlformats.org/package/2006/relationships"><Relationship Id="rId1" Type="http://schemas.openxmlformats.org/officeDocument/2006/relationships/image" Target="../media/image74.wmf"/><Relationship Id="rId2" Type="http://schemas.openxmlformats.org/officeDocument/2006/relationships/image" Target="../media/image75.wmf"/></Relationships>
</file>

<file path=ppt/drawings/_rels/vmlDrawing33.vml.rels><?xml version="1.0" encoding="UTF-8" standalone="yes"?>
<Relationships xmlns="http://schemas.openxmlformats.org/package/2006/relationships"><Relationship Id="rId1" Type="http://schemas.openxmlformats.org/officeDocument/2006/relationships/image" Target="../media/image76.wmf"/><Relationship Id="rId2" Type="http://schemas.openxmlformats.org/officeDocument/2006/relationships/image" Target="../media/image77.wmf"/><Relationship Id="rId3" Type="http://schemas.openxmlformats.org/officeDocument/2006/relationships/image" Target="../media/image78.wmf"/></Relationships>
</file>

<file path=ppt/drawings/_rels/vmlDrawing34.vml.rels><?xml version="1.0" encoding="UTF-8" standalone="yes"?>
<Relationships xmlns="http://schemas.openxmlformats.org/package/2006/relationships"><Relationship Id="rId1" Type="http://schemas.openxmlformats.org/officeDocument/2006/relationships/image" Target="../media/image79.wmf"/></Relationships>
</file>

<file path=ppt/drawings/_rels/vmlDrawing35.vml.rels><?xml version="1.0" encoding="UTF-8" standalone="yes"?>
<Relationships xmlns="http://schemas.openxmlformats.org/package/2006/relationships"><Relationship Id="rId1" Type="http://schemas.openxmlformats.org/officeDocument/2006/relationships/image" Target="../media/image74.wmf"/></Relationships>
</file>

<file path=ppt/drawings/_rels/vmlDrawing36.vml.rels><?xml version="1.0" encoding="UTF-8" standalone="yes"?>
<Relationships xmlns="http://schemas.openxmlformats.org/package/2006/relationships"><Relationship Id="rId1" Type="http://schemas.openxmlformats.org/officeDocument/2006/relationships/image" Target="../media/image80.wmf"/></Relationships>
</file>

<file path=ppt/drawings/_rels/vmlDrawing37.vml.rels><?xml version="1.0" encoding="UTF-8" standalone="yes"?>
<Relationships xmlns="http://schemas.openxmlformats.org/package/2006/relationships"><Relationship Id="rId1" Type="http://schemas.openxmlformats.org/officeDocument/2006/relationships/image" Target="../media/image81.wmf"/><Relationship Id="rId2" Type="http://schemas.openxmlformats.org/officeDocument/2006/relationships/image" Target="../media/image82.wmf"/><Relationship Id="rId3" Type="http://schemas.openxmlformats.org/officeDocument/2006/relationships/image" Target="../media/image74.wmf"/></Relationships>
</file>

<file path=ppt/drawings/_rels/vmlDrawing38.vml.rels><?xml version="1.0" encoding="UTF-8" standalone="yes"?>
<Relationships xmlns="http://schemas.openxmlformats.org/package/2006/relationships"><Relationship Id="rId1" Type="http://schemas.openxmlformats.org/officeDocument/2006/relationships/image" Target="../media/image74.wmf"/><Relationship Id="rId2" Type="http://schemas.openxmlformats.org/officeDocument/2006/relationships/image" Target="../media/image83.wmf"/></Relationships>
</file>

<file path=ppt/drawings/_rels/vmlDrawing39.vml.rels><?xml version="1.0" encoding="UTF-8" standalone="yes"?>
<Relationships xmlns="http://schemas.openxmlformats.org/package/2006/relationships"><Relationship Id="rId1" Type="http://schemas.openxmlformats.org/officeDocument/2006/relationships/image" Target="../media/image84.wmf"/><Relationship Id="rId2" Type="http://schemas.openxmlformats.org/officeDocument/2006/relationships/image" Target="../media/image85.wmf"/><Relationship Id="rId3" Type="http://schemas.openxmlformats.org/officeDocument/2006/relationships/image" Target="../media/image86.wmf"/></Relationships>
</file>

<file path=ppt/drawings/_rels/vmlDrawing40.vml.rels><?xml version="1.0" encoding="UTF-8" standalone="yes"?>
<Relationships xmlns="http://schemas.openxmlformats.org/package/2006/relationships"><Relationship Id="rId1" Type="http://schemas.openxmlformats.org/officeDocument/2006/relationships/image" Target="../media/image87.wmf"/></Relationships>
</file>

<file path=ppt/drawings/_rels/vmlDrawing41.vml.rels><?xml version="1.0" encoding="UTF-8" standalone="yes"?>
<Relationships xmlns="http://schemas.openxmlformats.org/package/2006/relationships"><Relationship Id="rId3" Type="http://schemas.openxmlformats.org/officeDocument/2006/relationships/image" Target="../media/image90.wmf"/><Relationship Id="rId4" Type="http://schemas.openxmlformats.org/officeDocument/2006/relationships/image" Target="../media/image91.wmf"/><Relationship Id="rId1" Type="http://schemas.openxmlformats.org/officeDocument/2006/relationships/image" Target="../media/image88.wmf"/><Relationship Id="rId2" Type="http://schemas.openxmlformats.org/officeDocument/2006/relationships/image" Target="../media/image89.wmf"/></Relationships>
</file>

<file path=ppt/drawings/_rels/vmlDrawing42.vml.rels><?xml version="1.0" encoding="UTF-8" standalone="yes"?>
<Relationships xmlns="http://schemas.openxmlformats.org/package/2006/relationships"><Relationship Id="rId1" Type="http://schemas.openxmlformats.org/officeDocument/2006/relationships/image" Target="../media/image93.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EE9DC13-E3C0-41ED-A5F4-625074F19176}" type="datetimeFigureOut">
              <a:rPr lang="en-US" smtClean="0"/>
              <a:pPr/>
              <a:t>11/3/17</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DBB0875-609A-4F06-ABA7-D4878CB7C1FF}" type="slidenum">
              <a:rPr lang="en-US" smtClean="0"/>
              <a:pPr/>
              <a:t>‹#›</a:t>
            </a:fld>
            <a:endParaRPr lang="en-US"/>
          </a:p>
        </p:txBody>
      </p:sp>
    </p:spTree>
    <p:extLst>
      <p:ext uri="{BB962C8B-B14F-4D97-AF65-F5344CB8AC3E}">
        <p14:creationId xmlns:p14="http://schemas.microsoft.com/office/powerpoint/2010/main" val="5897655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7"/>
          <p:cNvGrpSpPr>
            <a:grpSpLocks/>
          </p:cNvGrpSpPr>
          <p:nvPr/>
        </p:nvGrpSpPr>
        <p:grpSpPr bwMode="auto">
          <a:xfrm>
            <a:off x="228600" y="2889250"/>
            <a:ext cx="8610600" cy="201613"/>
            <a:chOff x="144" y="1680"/>
            <a:chExt cx="5424" cy="144"/>
          </a:xfrm>
        </p:grpSpPr>
        <p:sp>
          <p:nvSpPr>
            <p:cNvPr id="5" name="Rectangle 8"/>
            <p:cNvSpPr>
              <a:spLocks noChangeArrowheads="1"/>
            </p:cNvSpPr>
            <p:nvPr userDrawn="1"/>
          </p:nvSpPr>
          <p:spPr bwMode="auto">
            <a:xfrm>
              <a:off x="144" y="1680"/>
              <a:ext cx="1808" cy="144"/>
            </a:xfrm>
            <a:prstGeom prst="rect">
              <a:avLst/>
            </a:prstGeom>
            <a:solidFill>
              <a:schemeClr val="bg2"/>
            </a:solidFill>
            <a:ln w="9525">
              <a:noFill/>
              <a:miter lim="800000"/>
              <a:headEnd/>
              <a:tailEnd/>
            </a:ln>
            <a:effectLst/>
          </p:spPr>
          <p:txBody>
            <a:bodyPr wrap="none" anchor="ctr"/>
            <a:lstStyle/>
            <a:p>
              <a:endParaRPr lang="en-US"/>
            </a:p>
          </p:txBody>
        </p:sp>
        <p:sp>
          <p:nvSpPr>
            <p:cNvPr id="6" name="Rectangle 9"/>
            <p:cNvSpPr>
              <a:spLocks noChangeArrowheads="1"/>
            </p:cNvSpPr>
            <p:nvPr userDrawn="1"/>
          </p:nvSpPr>
          <p:spPr bwMode="auto">
            <a:xfrm>
              <a:off x="1952" y="1680"/>
              <a:ext cx="1808" cy="144"/>
            </a:xfrm>
            <a:prstGeom prst="rect">
              <a:avLst/>
            </a:prstGeom>
            <a:solidFill>
              <a:schemeClr val="accent1"/>
            </a:solidFill>
            <a:ln w="9525">
              <a:noFill/>
              <a:miter lim="800000"/>
              <a:headEnd/>
              <a:tailEnd/>
            </a:ln>
            <a:effectLst/>
          </p:spPr>
          <p:txBody>
            <a:bodyPr wrap="none" anchor="ctr"/>
            <a:lstStyle/>
            <a:p>
              <a:endParaRPr lang="en-US"/>
            </a:p>
          </p:txBody>
        </p:sp>
        <p:sp>
          <p:nvSpPr>
            <p:cNvPr id="7" name="Rectangle 10"/>
            <p:cNvSpPr>
              <a:spLocks noChangeArrowheads="1"/>
            </p:cNvSpPr>
            <p:nvPr userDrawn="1"/>
          </p:nvSpPr>
          <p:spPr bwMode="auto">
            <a:xfrm>
              <a:off x="3760" y="1680"/>
              <a:ext cx="1808" cy="144"/>
            </a:xfrm>
            <a:prstGeom prst="rect">
              <a:avLst/>
            </a:prstGeom>
            <a:solidFill>
              <a:schemeClr val="tx2"/>
            </a:solidFill>
            <a:ln w="9525">
              <a:noFill/>
              <a:miter lim="800000"/>
              <a:headEnd/>
              <a:tailEnd/>
            </a:ln>
            <a:effectLst/>
          </p:spPr>
          <p:txBody>
            <a:bodyPr wrap="none" anchor="ctr"/>
            <a:lstStyle/>
            <a:p>
              <a:endParaRPr lang="en-US"/>
            </a:p>
          </p:txBody>
        </p:sp>
      </p:grpSp>
      <p:sp>
        <p:nvSpPr>
          <p:cNvPr id="145410" name="Rectangle 2"/>
          <p:cNvSpPr>
            <a:spLocks noGrp="1" noChangeArrowheads="1"/>
          </p:cNvSpPr>
          <p:nvPr>
            <p:ph type="ctrTitle"/>
          </p:nvPr>
        </p:nvSpPr>
        <p:spPr>
          <a:xfrm>
            <a:off x="685800" y="685800"/>
            <a:ext cx="7772400" cy="2127250"/>
          </a:xfrm>
        </p:spPr>
        <p:txBody>
          <a:bodyPr/>
          <a:lstStyle>
            <a:lvl1pPr algn="ctr">
              <a:defRPr sz="5800"/>
            </a:lvl1pPr>
          </a:lstStyle>
          <a:p>
            <a:r>
              <a:rPr lang="en-US"/>
              <a:t>Click to edit Master title style</a:t>
            </a:r>
          </a:p>
        </p:txBody>
      </p:sp>
      <p:sp>
        <p:nvSpPr>
          <p:cNvPr id="145411" name="Rectangle 3"/>
          <p:cNvSpPr>
            <a:spLocks noGrp="1" noChangeArrowheads="1"/>
          </p:cNvSpPr>
          <p:nvPr>
            <p:ph type="subTitle" idx="1"/>
          </p:nvPr>
        </p:nvSpPr>
        <p:spPr>
          <a:xfrm>
            <a:off x="1371600" y="3270250"/>
            <a:ext cx="6400800" cy="2209800"/>
          </a:xfrm>
        </p:spPr>
        <p:txBody>
          <a:bodyPr/>
          <a:lstStyle>
            <a:lvl1pPr marL="0" indent="0" algn="ctr">
              <a:buFont typeface="Wingdings" charset="2"/>
              <a:buNone/>
              <a:defRPr sz="3000"/>
            </a:lvl1pPr>
          </a:lstStyle>
          <a:p>
            <a:r>
              <a:rPr lang="en-US"/>
              <a:t>Click to edit Master subtitle style</a:t>
            </a:r>
          </a:p>
        </p:txBody>
      </p:sp>
      <p:sp>
        <p:nvSpPr>
          <p:cNvPr id="8" name="Rectangle 4"/>
          <p:cNvSpPr>
            <a:spLocks noGrp="1" noChangeArrowheads="1"/>
          </p:cNvSpPr>
          <p:nvPr>
            <p:ph type="dt" sz="half" idx="10"/>
          </p:nvPr>
        </p:nvSpPr>
        <p:spPr/>
        <p:txBody>
          <a:bodyPr/>
          <a:lstStyle>
            <a:lvl1pPr>
              <a:defRPr/>
            </a:lvl1pPr>
          </a:lstStyle>
          <a:p>
            <a:endParaRPr lang="en-US"/>
          </a:p>
        </p:txBody>
      </p:sp>
      <p:sp>
        <p:nvSpPr>
          <p:cNvPr id="9" name="Rectangle 5"/>
          <p:cNvSpPr>
            <a:spLocks noGrp="1" noChangeArrowheads="1"/>
          </p:cNvSpPr>
          <p:nvPr>
            <p:ph type="ftr" sz="quarter" idx="11"/>
          </p:nvPr>
        </p:nvSpPr>
        <p:spPr/>
        <p:txBody>
          <a:bodyPr/>
          <a:lstStyle>
            <a:lvl1pPr>
              <a:defRPr/>
            </a:lvl1pPr>
          </a:lstStyle>
          <a:p>
            <a:endParaRPr lang="en-US"/>
          </a:p>
        </p:txBody>
      </p:sp>
      <p:sp>
        <p:nvSpPr>
          <p:cNvPr id="10" name="Rectangle 6"/>
          <p:cNvSpPr>
            <a:spLocks noGrp="1" noChangeArrowheads="1"/>
          </p:cNvSpPr>
          <p:nvPr>
            <p:ph type="sldNum" sz="quarter" idx="12"/>
          </p:nvPr>
        </p:nvSpPr>
        <p:spPr/>
        <p:txBody>
          <a:bodyPr/>
          <a:lstStyle>
            <a:lvl1pPr>
              <a:defRPr/>
            </a:lvl1pPr>
          </a:lstStyle>
          <a:p>
            <a:fld id="{20C293B7-2AE4-457E-AD79-A0B2ADD6A5BA}" type="slidenum">
              <a:rPr lang="en-US"/>
              <a:pPr/>
              <a:t>‹#›</a:t>
            </a:fld>
            <a:endParaRPr lang="en-US"/>
          </a:p>
        </p:txBody>
      </p:sp>
    </p:spTree>
    <p:extLst>
      <p:ext uri="{BB962C8B-B14F-4D97-AF65-F5344CB8AC3E}">
        <p14:creationId xmlns:p14="http://schemas.microsoft.com/office/powerpoint/2010/main" val="30136713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endParaRPr lang="en-US"/>
          </a:p>
        </p:txBody>
      </p:sp>
      <p:sp>
        <p:nvSpPr>
          <p:cNvPr id="5" name="Rectangle 5"/>
          <p:cNvSpPr>
            <a:spLocks noGrp="1" noChangeArrowheads="1"/>
          </p:cNvSpPr>
          <p:nvPr>
            <p:ph type="ftr" sz="quarter" idx="11"/>
          </p:nvPr>
        </p:nvSpPr>
        <p:spPr>
          <a:ln/>
        </p:spPr>
        <p:txBody>
          <a:bodyPr/>
          <a:lstStyle>
            <a:lvl1pPr>
              <a:defRPr/>
            </a:lvl1pPr>
          </a:lstStyle>
          <a:p>
            <a:endParaRPr lang="en-US"/>
          </a:p>
        </p:txBody>
      </p:sp>
      <p:sp>
        <p:nvSpPr>
          <p:cNvPr id="6" name="Rectangle 6"/>
          <p:cNvSpPr>
            <a:spLocks noGrp="1" noChangeArrowheads="1"/>
          </p:cNvSpPr>
          <p:nvPr>
            <p:ph type="sldNum" sz="quarter" idx="12"/>
          </p:nvPr>
        </p:nvSpPr>
        <p:spPr>
          <a:ln/>
        </p:spPr>
        <p:txBody>
          <a:bodyPr/>
          <a:lstStyle>
            <a:lvl1pPr>
              <a:defRPr/>
            </a:lvl1pPr>
          </a:lstStyle>
          <a:p>
            <a:fld id="{2EF74799-DCB9-4ED5-A09F-A7E726B7E620}" type="slidenum">
              <a:rPr lang="en-US"/>
              <a:pPr/>
              <a:t>‹#›</a:t>
            </a:fld>
            <a:endParaRPr lang="en-US"/>
          </a:p>
        </p:txBody>
      </p:sp>
    </p:spTree>
    <p:extLst>
      <p:ext uri="{BB962C8B-B14F-4D97-AF65-F5344CB8AC3E}">
        <p14:creationId xmlns:p14="http://schemas.microsoft.com/office/powerpoint/2010/main" val="14632674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4"/>
          <p:cNvSpPr>
            <a:spLocks noGrp="1" noChangeArrowheads="1"/>
          </p:cNvSpPr>
          <p:nvPr>
            <p:ph type="dt" sz="half" idx="10"/>
          </p:nvPr>
        </p:nvSpPr>
        <p:spPr>
          <a:ln/>
        </p:spPr>
        <p:txBody>
          <a:bodyPr/>
          <a:lstStyle>
            <a:lvl1pPr>
              <a:defRPr/>
            </a:lvl1pPr>
          </a:lstStyle>
          <a:p>
            <a:endParaRPr lang="en-US"/>
          </a:p>
        </p:txBody>
      </p:sp>
      <p:sp>
        <p:nvSpPr>
          <p:cNvPr id="5" name="Rectangle 5"/>
          <p:cNvSpPr>
            <a:spLocks noGrp="1" noChangeArrowheads="1"/>
          </p:cNvSpPr>
          <p:nvPr>
            <p:ph type="ftr" sz="quarter" idx="11"/>
          </p:nvPr>
        </p:nvSpPr>
        <p:spPr>
          <a:ln/>
        </p:spPr>
        <p:txBody>
          <a:bodyPr/>
          <a:lstStyle>
            <a:lvl1pPr>
              <a:defRPr/>
            </a:lvl1pPr>
          </a:lstStyle>
          <a:p>
            <a:endParaRPr lang="en-US"/>
          </a:p>
        </p:txBody>
      </p:sp>
      <p:sp>
        <p:nvSpPr>
          <p:cNvPr id="6" name="Rectangle 6"/>
          <p:cNvSpPr>
            <a:spLocks noGrp="1" noChangeArrowheads="1"/>
          </p:cNvSpPr>
          <p:nvPr>
            <p:ph type="sldNum" sz="quarter" idx="12"/>
          </p:nvPr>
        </p:nvSpPr>
        <p:spPr>
          <a:ln/>
        </p:spPr>
        <p:txBody>
          <a:bodyPr/>
          <a:lstStyle>
            <a:lvl1pPr>
              <a:defRPr/>
            </a:lvl1pPr>
          </a:lstStyle>
          <a:p>
            <a:fld id="{CB477D1A-E47F-4807-93A9-F062DED9E87C}" type="slidenum">
              <a:rPr lang="en-US"/>
              <a:pPr/>
              <a:t>‹#›</a:t>
            </a:fld>
            <a:endParaRPr lang="en-US"/>
          </a:p>
        </p:txBody>
      </p:sp>
    </p:spTree>
    <p:extLst>
      <p:ext uri="{BB962C8B-B14F-4D97-AF65-F5344CB8AC3E}">
        <p14:creationId xmlns:p14="http://schemas.microsoft.com/office/powerpoint/2010/main" val="8089875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dt" sz="half" idx="10"/>
          </p:nvPr>
        </p:nvSpPr>
        <p:spPr>
          <a:ln/>
        </p:spPr>
        <p:txBody>
          <a:bodyPr/>
          <a:lstStyle>
            <a:lvl1pPr>
              <a:defRPr/>
            </a:lvl1pPr>
          </a:lstStyle>
          <a:p>
            <a:endParaRPr lang="en-US"/>
          </a:p>
        </p:txBody>
      </p:sp>
      <p:sp>
        <p:nvSpPr>
          <p:cNvPr id="6" name="Rectangle 5"/>
          <p:cNvSpPr>
            <a:spLocks noGrp="1" noChangeArrowheads="1"/>
          </p:cNvSpPr>
          <p:nvPr>
            <p:ph type="ftr" sz="quarter" idx="11"/>
          </p:nvPr>
        </p:nvSpPr>
        <p:spPr>
          <a:ln/>
        </p:spPr>
        <p:txBody>
          <a:bodyPr/>
          <a:lstStyle>
            <a:lvl1pPr>
              <a:defRPr/>
            </a:lvl1pPr>
          </a:lstStyle>
          <a:p>
            <a:endParaRPr lang="en-US"/>
          </a:p>
        </p:txBody>
      </p:sp>
      <p:sp>
        <p:nvSpPr>
          <p:cNvPr id="7" name="Rectangle 6"/>
          <p:cNvSpPr>
            <a:spLocks noGrp="1" noChangeArrowheads="1"/>
          </p:cNvSpPr>
          <p:nvPr>
            <p:ph type="sldNum" sz="quarter" idx="12"/>
          </p:nvPr>
        </p:nvSpPr>
        <p:spPr>
          <a:ln/>
        </p:spPr>
        <p:txBody>
          <a:bodyPr/>
          <a:lstStyle>
            <a:lvl1pPr>
              <a:defRPr/>
            </a:lvl1pPr>
          </a:lstStyle>
          <a:p>
            <a:fld id="{92C7787B-492D-4B14-9B94-AFE0741920E8}" type="slidenum">
              <a:rPr lang="en-US"/>
              <a:pPr/>
              <a:t>‹#›</a:t>
            </a:fld>
            <a:endParaRPr lang="en-US"/>
          </a:p>
        </p:txBody>
      </p:sp>
    </p:spTree>
    <p:extLst>
      <p:ext uri="{BB962C8B-B14F-4D97-AF65-F5344CB8AC3E}">
        <p14:creationId xmlns:p14="http://schemas.microsoft.com/office/powerpoint/2010/main" val="23195149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4"/>
          <p:cNvSpPr>
            <a:spLocks noGrp="1" noChangeArrowheads="1"/>
          </p:cNvSpPr>
          <p:nvPr>
            <p:ph type="dt" sz="half" idx="10"/>
          </p:nvPr>
        </p:nvSpPr>
        <p:spPr>
          <a:ln/>
        </p:spPr>
        <p:txBody>
          <a:bodyPr/>
          <a:lstStyle>
            <a:lvl1pPr>
              <a:defRPr/>
            </a:lvl1pPr>
          </a:lstStyle>
          <a:p>
            <a:endParaRPr lang="en-US"/>
          </a:p>
        </p:txBody>
      </p:sp>
      <p:sp>
        <p:nvSpPr>
          <p:cNvPr id="8" name="Rectangle 5"/>
          <p:cNvSpPr>
            <a:spLocks noGrp="1" noChangeArrowheads="1"/>
          </p:cNvSpPr>
          <p:nvPr>
            <p:ph type="ftr" sz="quarter" idx="11"/>
          </p:nvPr>
        </p:nvSpPr>
        <p:spPr>
          <a:ln/>
        </p:spPr>
        <p:txBody>
          <a:bodyPr/>
          <a:lstStyle>
            <a:lvl1pPr>
              <a:defRPr/>
            </a:lvl1pPr>
          </a:lstStyle>
          <a:p>
            <a:endParaRPr lang="en-US"/>
          </a:p>
        </p:txBody>
      </p:sp>
      <p:sp>
        <p:nvSpPr>
          <p:cNvPr id="9" name="Rectangle 6"/>
          <p:cNvSpPr>
            <a:spLocks noGrp="1" noChangeArrowheads="1"/>
          </p:cNvSpPr>
          <p:nvPr>
            <p:ph type="sldNum" sz="quarter" idx="12"/>
          </p:nvPr>
        </p:nvSpPr>
        <p:spPr>
          <a:ln/>
        </p:spPr>
        <p:txBody>
          <a:bodyPr/>
          <a:lstStyle>
            <a:lvl1pPr>
              <a:defRPr/>
            </a:lvl1pPr>
          </a:lstStyle>
          <a:p>
            <a:fld id="{708E276C-539B-4354-BB1E-388DEC755315}" type="slidenum">
              <a:rPr lang="en-US"/>
              <a:pPr/>
              <a:t>‹#›</a:t>
            </a:fld>
            <a:endParaRPr lang="en-US"/>
          </a:p>
        </p:txBody>
      </p:sp>
    </p:spTree>
    <p:extLst>
      <p:ext uri="{BB962C8B-B14F-4D97-AF65-F5344CB8AC3E}">
        <p14:creationId xmlns:p14="http://schemas.microsoft.com/office/powerpoint/2010/main" val="3463592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4"/>
          <p:cNvSpPr>
            <a:spLocks noGrp="1" noChangeArrowheads="1"/>
          </p:cNvSpPr>
          <p:nvPr>
            <p:ph type="dt" sz="half" idx="10"/>
          </p:nvPr>
        </p:nvSpPr>
        <p:spPr>
          <a:ln/>
        </p:spPr>
        <p:txBody>
          <a:bodyPr/>
          <a:lstStyle>
            <a:lvl1pPr>
              <a:defRPr/>
            </a:lvl1pPr>
          </a:lstStyle>
          <a:p>
            <a:endParaRPr lang="en-US"/>
          </a:p>
        </p:txBody>
      </p:sp>
      <p:sp>
        <p:nvSpPr>
          <p:cNvPr id="4" name="Rectangle 5"/>
          <p:cNvSpPr>
            <a:spLocks noGrp="1" noChangeArrowheads="1"/>
          </p:cNvSpPr>
          <p:nvPr>
            <p:ph type="ftr" sz="quarter" idx="11"/>
          </p:nvPr>
        </p:nvSpPr>
        <p:spPr>
          <a:ln/>
        </p:spPr>
        <p:txBody>
          <a:bodyPr/>
          <a:lstStyle>
            <a:lvl1pPr>
              <a:defRPr/>
            </a:lvl1pPr>
          </a:lstStyle>
          <a:p>
            <a:endParaRPr lang="en-US"/>
          </a:p>
        </p:txBody>
      </p:sp>
      <p:sp>
        <p:nvSpPr>
          <p:cNvPr id="5" name="Rectangle 6"/>
          <p:cNvSpPr>
            <a:spLocks noGrp="1" noChangeArrowheads="1"/>
          </p:cNvSpPr>
          <p:nvPr>
            <p:ph type="sldNum" sz="quarter" idx="12"/>
          </p:nvPr>
        </p:nvSpPr>
        <p:spPr>
          <a:ln/>
        </p:spPr>
        <p:txBody>
          <a:bodyPr/>
          <a:lstStyle>
            <a:lvl1pPr>
              <a:defRPr/>
            </a:lvl1pPr>
          </a:lstStyle>
          <a:p>
            <a:fld id="{59661B5E-768C-4EF0-A678-3B9DF839D583}" type="slidenum">
              <a:rPr lang="en-US"/>
              <a:pPr/>
              <a:t>‹#›</a:t>
            </a:fld>
            <a:endParaRPr lang="en-US"/>
          </a:p>
        </p:txBody>
      </p:sp>
    </p:spTree>
    <p:extLst>
      <p:ext uri="{BB962C8B-B14F-4D97-AF65-F5344CB8AC3E}">
        <p14:creationId xmlns:p14="http://schemas.microsoft.com/office/powerpoint/2010/main" val="32889961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endParaRPr lang="en-US"/>
          </a:p>
        </p:txBody>
      </p:sp>
      <p:sp>
        <p:nvSpPr>
          <p:cNvPr id="3" name="Rectangle 5"/>
          <p:cNvSpPr>
            <a:spLocks noGrp="1" noChangeArrowheads="1"/>
          </p:cNvSpPr>
          <p:nvPr>
            <p:ph type="ftr" sz="quarter" idx="11"/>
          </p:nvPr>
        </p:nvSpPr>
        <p:spPr>
          <a:ln/>
        </p:spPr>
        <p:txBody>
          <a:bodyPr/>
          <a:lstStyle>
            <a:lvl1pPr>
              <a:defRPr/>
            </a:lvl1pPr>
          </a:lstStyle>
          <a:p>
            <a:endParaRPr lang="en-US"/>
          </a:p>
        </p:txBody>
      </p:sp>
      <p:sp>
        <p:nvSpPr>
          <p:cNvPr id="4" name="Rectangle 6"/>
          <p:cNvSpPr>
            <a:spLocks noGrp="1" noChangeArrowheads="1"/>
          </p:cNvSpPr>
          <p:nvPr>
            <p:ph type="sldNum" sz="quarter" idx="12"/>
          </p:nvPr>
        </p:nvSpPr>
        <p:spPr>
          <a:ln/>
        </p:spPr>
        <p:txBody>
          <a:bodyPr/>
          <a:lstStyle>
            <a:lvl1pPr>
              <a:defRPr/>
            </a:lvl1pPr>
          </a:lstStyle>
          <a:p>
            <a:fld id="{B519102F-960F-436C-9E29-E08A6ED7423A}" type="slidenum">
              <a:rPr lang="en-US"/>
              <a:pPr/>
              <a:t>‹#›</a:t>
            </a:fld>
            <a:endParaRPr lang="en-US"/>
          </a:p>
        </p:txBody>
      </p:sp>
    </p:spTree>
    <p:extLst>
      <p:ext uri="{BB962C8B-B14F-4D97-AF65-F5344CB8AC3E}">
        <p14:creationId xmlns:p14="http://schemas.microsoft.com/office/powerpoint/2010/main" val="40942726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endParaRPr lang="en-US"/>
          </a:p>
        </p:txBody>
      </p:sp>
      <p:sp>
        <p:nvSpPr>
          <p:cNvPr id="6" name="Rectangle 5"/>
          <p:cNvSpPr>
            <a:spLocks noGrp="1" noChangeArrowheads="1"/>
          </p:cNvSpPr>
          <p:nvPr>
            <p:ph type="ftr" sz="quarter" idx="11"/>
          </p:nvPr>
        </p:nvSpPr>
        <p:spPr>
          <a:ln/>
        </p:spPr>
        <p:txBody>
          <a:bodyPr/>
          <a:lstStyle>
            <a:lvl1pPr>
              <a:defRPr/>
            </a:lvl1pPr>
          </a:lstStyle>
          <a:p>
            <a:endParaRPr lang="en-US"/>
          </a:p>
        </p:txBody>
      </p:sp>
      <p:sp>
        <p:nvSpPr>
          <p:cNvPr id="7" name="Rectangle 6"/>
          <p:cNvSpPr>
            <a:spLocks noGrp="1" noChangeArrowheads="1"/>
          </p:cNvSpPr>
          <p:nvPr>
            <p:ph type="sldNum" sz="quarter" idx="12"/>
          </p:nvPr>
        </p:nvSpPr>
        <p:spPr>
          <a:ln/>
        </p:spPr>
        <p:txBody>
          <a:bodyPr/>
          <a:lstStyle>
            <a:lvl1pPr>
              <a:defRPr/>
            </a:lvl1pPr>
          </a:lstStyle>
          <a:p>
            <a:fld id="{206167ED-FFEA-49FF-B3C5-A1FDF6967A98}" type="slidenum">
              <a:rPr lang="en-US"/>
              <a:pPr/>
              <a:t>‹#›</a:t>
            </a:fld>
            <a:endParaRPr lang="en-US"/>
          </a:p>
        </p:txBody>
      </p:sp>
    </p:spTree>
    <p:extLst>
      <p:ext uri="{BB962C8B-B14F-4D97-AF65-F5344CB8AC3E}">
        <p14:creationId xmlns:p14="http://schemas.microsoft.com/office/powerpoint/2010/main" val="11812337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endParaRPr lang="en-US"/>
          </a:p>
        </p:txBody>
      </p:sp>
      <p:sp>
        <p:nvSpPr>
          <p:cNvPr id="6" name="Rectangle 5"/>
          <p:cNvSpPr>
            <a:spLocks noGrp="1" noChangeArrowheads="1"/>
          </p:cNvSpPr>
          <p:nvPr>
            <p:ph type="ftr" sz="quarter" idx="11"/>
          </p:nvPr>
        </p:nvSpPr>
        <p:spPr>
          <a:ln/>
        </p:spPr>
        <p:txBody>
          <a:bodyPr/>
          <a:lstStyle>
            <a:lvl1pPr>
              <a:defRPr/>
            </a:lvl1pPr>
          </a:lstStyle>
          <a:p>
            <a:endParaRPr lang="en-US"/>
          </a:p>
        </p:txBody>
      </p:sp>
      <p:sp>
        <p:nvSpPr>
          <p:cNvPr id="7" name="Rectangle 6"/>
          <p:cNvSpPr>
            <a:spLocks noGrp="1" noChangeArrowheads="1"/>
          </p:cNvSpPr>
          <p:nvPr>
            <p:ph type="sldNum" sz="quarter" idx="12"/>
          </p:nvPr>
        </p:nvSpPr>
        <p:spPr>
          <a:ln/>
        </p:spPr>
        <p:txBody>
          <a:bodyPr/>
          <a:lstStyle>
            <a:lvl1pPr>
              <a:defRPr/>
            </a:lvl1pPr>
          </a:lstStyle>
          <a:p>
            <a:fld id="{25E2B7E8-544D-46C7-A4C3-47A53B474B12}" type="slidenum">
              <a:rPr lang="en-US"/>
              <a:pPr/>
              <a:t>‹#›</a:t>
            </a:fld>
            <a:endParaRPr lang="en-US"/>
          </a:p>
        </p:txBody>
      </p:sp>
    </p:spTree>
    <p:extLst>
      <p:ext uri="{BB962C8B-B14F-4D97-AF65-F5344CB8AC3E}">
        <p14:creationId xmlns:p14="http://schemas.microsoft.com/office/powerpoint/2010/main" val="22289006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endParaRPr lang="en-US"/>
          </a:p>
        </p:txBody>
      </p:sp>
      <p:sp>
        <p:nvSpPr>
          <p:cNvPr id="5" name="Rectangle 5"/>
          <p:cNvSpPr>
            <a:spLocks noGrp="1" noChangeArrowheads="1"/>
          </p:cNvSpPr>
          <p:nvPr>
            <p:ph type="ftr" sz="quarter" idx="11"/>
          </p:nvPr>
        </p:nvSpPr>
        <p:spPr>
          <a:ln/>
        </p:spPr>
        <p:txBody>
          <a:bodyPr/>
          <a:lstStyle>
            <a:lvl1pPr>
              <a:defRPr/>
            </a:lvl1pPr>
          </a:lstStyle>
          <a:p>
            <a:endParaRPr lang="en-US"/>
          </a:p>
        </p:txBody>
      </p:sp>
      <p:sp>
        <p:nvSpPr>
          <p:cNvPr id="6" name="Rectangle 6"/>
          <p:cNvSpPr>
            <a:spLocks noGrp="1" noChangeArrowheads="1"/>
          </p:cNvSpPr>
          <p:nvPr>
            <p:ph type="sldNum" sz="quarter" idx="12"/>
          </p:nvPr>
        </p:nvSpPr>
        <p:spPr>
          <a:ln/>
        </p:spPr>
        <p:txBody>
          <a:bodyPr/>
          <a:lstStyle>
            <a:lvl1pPr>
              <a:defRPr/>
            </a:lvl1pPr>
          </a:lstStyle>
          <a:p>
            <a:fld id="{D3617256-9E5D-4DEB-B6FC-D6CD93C992B3}" type="slidenum">
              <a:rPr lang="en-US"/>
              <a:pPr/>
              <a:t>‹#›</a:t>
            </a:fld>
            <a:endParaRPr lang="en-US"/>
          </a:p>
        </p:txBody>
      </p:sp>
    </p:spTree>
    <p:extLst>
      <p:ext uri="{BB962C8B-B14F-4D97-AF65-F5344CB8AC3E}">
        <p14:creationId xmlns:p14="http://schemas.microsoft.com/office/powerpoint/2010/main" val="10644393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7813"/>
            <a:ext cx="2057400" cy="5853112"/>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7813"/>
            <a:ext cx="6019800" cy="5853112"/>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endParaRPr lang="en-US"/>
          </a:p>
        </p:txBody>
      </p:sp>
      <p:sp>
        <p:nvSpPr>
          <p:cNvPr id="5" name="Rectangle 5"/>
          <p:cNvSpPr>
            <a:spLocks noGrp="1" noChangeArrowheads="1"/>
          </p:cNvSpPr>
          <p:nvPr>
            <p:ph type="ftr" sz="quarter" idx="11"/>
          </p:nvPr>
        </p:nvSpPr>
        <p:spPr>
          <a:ln/>
        </p:spPr>
        <p:txBody>
          <a:bodyPr/>
          <a:lstStyle>
            <a:lvl1pPr>
              <a:defRPr/>
            </a:lvl1pPr>
          </a:lstStyle>
          <a:p>
            <a:endParaRPr lang="en-US"/>
          </a:p>
        </p:txBody>
      </p:sp>
      <p:sp>
        <p:nvSpPr>
          <p:cNvPr id="6" name="Rectangle 6"/>
          <p:cNvSpPr>
            <a:spLocks noGrp="1" noChangeArrowheads="1"/>
          </p:cNvSpPr>
          <p:nvPr>
            <p:ph type="sldNum" sz="quarter" idx="12"/>
          </p:nvPr>
        </p:nvSpPr>
        <p:spPr>
          <a:ln/>
        </p:spPr>
        <p:txBody>
          <a:bodyPr/>
          <a:lstStyle>
            <a:lvl1pPr>
              <a:defRPr/>
            </a:lvl1pPr>
          </a:lstStyle>
          <a:p>
            <a:fld id="{64DDD920-2416-46AA-8EBF-24062ACAFD11}" type="slidenum">
              <a:rPr lang="en-US"/>
              <a:pPr/>
              <a:t>‹#›</a:t>
            </a:fld>
            <a:endParaRPr lang="en-US"/>
          </a:p>
        </p:txBody>
      </p:sp>
    </p:spTree>
    <p:extLst>
      <p:ext uri="{BB962C8B-B14F-4D97-AF65-F5344CB8AC3E}">
        <p14:creationId xmlns:p14="http://schemas.microsoft.com/office/powerpoint/2010/main" val="252333689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7813"/>
            <a:ext cx="8229600" cy="1139825"/>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457200" y="1600200"/>
            <a:ext cx="4038600" cy="453072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3072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dt" sz="half" idx="10"/>
          </p:nvPr>
        </p:nvSpPr>
        <p:spPr>
          <a:ln/>
        </p:spPr>
        <p:txBody>
          <a:bodyPr/>
          <a:lstStyle>
            <a:lvl1pPr>
              <a:defRPr/>
            </a:lvl1pPr>
          </a:lstStyle>
          <a:p>
            <a:endParaRPr lang="en-US"/>
          </a:p>
        </p:txBody>
      </p:sp>
      <p:sp>
        <p:nvSpPr>
          <p:cNvPr id="6" name="Rectangle 5"/>
          <p:cNvSpPr>
            <a:spLocks noGrp="1" noChangeArrowheads="1"/>
          </p:cNvSpPr>
          <p:nvPr>
            <p:ph type="ftr" sz="quarter" idx="11"/>
          </p:nvPr>
        </p:nvSpPr>
        <p:spPr>
          <a:ln/>
        </p:spPr>
        <p:txBody>
          <a:bodyPr/>
          <a:lstStyle>
            <a:lvl1pPr>
              <a:defRPr/>
            </a:lvl1pPr>
          </a:lstStyle>
          <a:p>
            <a:endParaRPr lang="en-US"/>
          </a:p>
        </p:txBody>
      </p:sp>
      <p:sp>
        <p:nvSpPr>
          <p:cNvPr id="7" name="Rectangle 6"/>
          <p:cNvSpPr>
            <a:spLocks noGrp="1" noChangeArrowheads="1"/>
          </p:cNvSpPr>
          <p:nvPr>
            <p:ph type="sldNum" sz="quarter" idx="12"/>
          </p:nvPr>
        </p:nvSpPr>
        <p:spPr>
          <a:ln/>
        </p:spPr>
        <p:txBody>
          <a:bodyPr/>
          <a:lstStyle>
            <a:lvl1pPr>
              <a:defRPr/>
            </a:lvl1pPr>
          </a:lstStyle>
          <a:p>
            <a:fld id="{815A1064-441F-4E8D-A354-582A3E67DA4D}" type="slidenum">
              <a:rPr lang="en-US"/>
              <a:pPr/>
              <a:t>‹#›</a:t>
            </a:fld>
            <a:endParaRPr lang="en-US"/>
          </a:p>
        </p:txBody>
      </p:sp>
    </p:spTree>
    <p:extLst>
      <p:ext uri="{BB962C8B-B14F-4D97-AF65-F5344CB8AC3E}">
        <p14:creationId xmlns:p14="http://schemas.microsoft.com/office/powerpoint/2010/main" val="1235569085"/>
      </p:ext>
    </p:extLst>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bwMode="auto">
          <a:xfrm>
            <a:off x="457200" y="277813"/>
            <a:ext cx="8229600" cy="1139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smtClean="0"/>
              <a:t>Click to edit Master title style</a:t>
            </a:r>
          </a:p>
        </p:txBody>
      </p:sp>
      <p:sp>
        <p:nvSpPr>
          <p:cNvPr id="53251" name="Rectangle 3"/>
          <p:cNvSpPr>
            <a:spLocks noGrp="1" noChangeArrowheads="1"/>
          </p:cNvSpPr>
          <p:nvPr>
            <p:ph type="body" idx="1"/>
          </p:nvPr>
        </p:nvSpPr>
        <p:spPr bwMode="auto">
          <a:xfrm>
            <a:off x="457200" y="1600200"/>
            <a:ext cx="8229600" cy="453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44388" name="Rectangle 4"/>
          <p:cNvSpPr>
            <a:spLocks noGrp="1" noChangeArrowheads="1"/>
          </p:cNvSpPr>
          <p:nvPr>
            <p:ph type="dt" sz="half" idx="2"/>
          </p:nvPr>
        </p:nvSpPr>
        <p:spPr bwMode="auto">
          <a:xfrm>
            <a:off x="457200" y="6248400"/>
            <a:ext cx="2133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000"/>
            </a:lvl1pPr>
          </a:lstStyle>
          <a:p>
            <a:endParaRPr lang="en-US"/>
          </a:p>
        </p:txBody>
      </p:sp>
      <p:sp>
        <p:nvSpPr>
          <p:cNvPr id="144389" name="Rectangle 5"/>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000"/>
            </a:lvl1pPr>
          </a:lstStyle>
          <a:p>
            <a:endParaRPr lang="en-US"/>
          </a:p>
        </p:txBody>
      </p:sp>
      <p:sp>
        <p:nvSpPr>
          <p:cNvPr id="144390" name="Rectangle 6"/>
          <p:cNvSpPr>
            <a:spLocks noGrp="1" noChangeArrowheads="1"/>
          </p:cNvSpPr>
          <p:nvPr>
            <p:ph type="sldNum" sz="quarter" idx="4"/>
          </p:nvPr>
        </p:nvSpPr>
        <p:spPr bwMode="auto">
          <a:xfrm>
            <a:off x="6553200" y="6248400"/>
            <a:ext cx="2133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000"/>
            </a:lvl1pPr>
          </a:lstStyle>
          <a:p>
            <a:fld id="{47B47580-851F-4A28-9DA1-070E389CDB4D}" type="slidenum">
              <a:rPr lang="en-US"/>
              <a:pPr/>
              <a:t>‹#›</a:t>
            </a:fld>
            <a:endParaRPr lang="en-US"/>
          </a:p>
        </p:txBody>
      </p:sp>
      <p:sp>
        <p:nvSpPr>
          <p:cNvPr id="144391" name="Rectangle 7"/>
          <p:cNvSpPr>
            <a:spLocks noChangeArrowheads="1"/>
          </p:cNvSpPr>
          <p:nvPr/>
        </p:nvSpPr>
        <p:spPr bwMode="auto">
          <a:xfrm>
            <a:off x="0" y="0"/>
            <a:ext cx="228600" cy="2286000"/>
          </a:xfrm>
          <a:prstGeom prst="rect">
            <a:avLst/>
          </a:prstGeom>
          <a:solidFill>
            <a:schemeClr val="bg2"/>
          </a:solidFill>
          <a:ln w="9525">
            <a:noFill/>
            <a:miter lim="800000"/>
            <a:headEnd/>
            <a:tailEnd/>
          </a:ln>
          <a:effectLst/>
        </p:spPr>
        <p:txBody>
          <a:bodyPr wrap="none" anchor="ctr"/>
          <a:lstStyle/>
          <a:p>
            <a:pPr algn="ctr" eaLnBrk="1" hangingPunct="1"/>
            <a:endParaRPr lang="en-US" sz="2400">
              <a:latin typeface="Times New Roman" charset="0"/>
            </a:endParaRPr>
          </a:p>
        </p:txBody>
      </p:sp>
      <p:sp>
        <p:nvSpPr>
          <p:cNvPr id="144392" name="Line 8"/>
          <p:cNvSpPr>
            <a:spLocks noChangeShapeType="1"/>
          </p:cNvSpPr>
          <p:nvPr/>
        </p:nvSpPr>
        <p:spPr bwMode="auto">
          <a:xfrm>
            <a:off x="457200" y="1447800"/>
            <a:ext cx="8077200" cy="0"/>
          </a:xfrm>
          <a:prstGeom prst="line">
            <a:avLst/>
          </a:prstGeom>
          <a:noFill/>
          <a:ln w="19050">
            <a:solidFill>
              <a:schemeClr val="tx2"/>
            </a:solidFill>
            <a:round/>
            <a:headEnd/>
            <a:tailEnd/>
          </a:ln>
          <a:effectLst/>
        </p:spPr>
        <p:txBody>
          <a:bodyPr/>
          <a:lstStyle/>
          <a:p>
            <a:pPr>
              <a:defRPr/>
            </a:pPr>
            <a:endParaRPr lang="en-US">
              <a:ea typeface="+mn-ea"/>
            </a:endParaRPr>
          </a:p>
        </p:txBody>
      </p:sp>
      <p:sp>
        <p:nvSpPr>
          <p:cNvPr id="144393" name="Rectangle 9"/>
          <p:cNvSpPr>
            <a:spLocks noChangeArrowheads="1"/>
          </p:cNvSpPr>
          <p:nvPr/>
        </p:nvSpPr>
        <p:spPr bwMode="auto">
          <a:xfrm>
            <a:off x="0" y="2286000"/>
            <a:ext cx="228600" cy="2286000"/>
          </a:xfrm>
          <a:prstGeom prst="rect">
            <a:avLst/>
          </a:prstGeom>
          <a:solidFill>
            <a:schemeClr val="accent2"/>
          </a:solidFill>
          <a:ln w="9525">
            <a:noFill/>
            <a:miter lim="800000"/>
            <a:headEnd/>
            <a:tailEnd/>
          </a:ln>
          <a:effectLst/>
        </p:spPr>
        <p:txBody>
          <a:bodyPr wrap="none" anchor="ctr"/>
          <a:lstStyle/>
          <a:p>
            <a:pPr algn="ctr" eaLnBrk="1" hangingPunct="1"/>
            <a:endParaRPr lang="en-US" sz="2400">
              <a:latin typeface="Times New Roman" charset="0"/>
            </a:endParaRPr>
          </a:p>
        </p:txBody>
      </p:sp>
      <p:sp>
        <p:nvSpPr>
          <p:cNvPr id="144394" name="Rectangle 10"/>
          <p:cNvSpPr>
            <a:spLocks noChangeArrowheads="1"/>
          </p:cNvSpPr>
          <p:nvPr/>
        </p:nvSpPr>
        <p:spPr bwMode="auto">
          <a:xfrm>
            <a:off x="0" y="4572000"/>
            <a:ext cx="228600" cy="2286000"/>
          </a:xfrm>
          <a:prstGeom prst="rect">
            <a:avLst/>
          </a:prstGeom>
          <a:solidFill>
            <a:schemeClr val="tx2"/>
          </a:solidFill>
          <a:ln w="9525">
            <a:noFill/>
            <a:miter lim="800000"/>
            <a:headEnd/>
            <a:tailEnd/>
          </a:ln>
          <a:effectLst/>
        </p:spPr>
        <p:txBody>
          <a:bodyPr wrap="none" anchor="ctr"/>
          <a:lstStyle/>
          <a:p>
            <a:pPr algn="ctr" eaLnBrk="1" hangingPunct="1"/>
            <a:endParaRPr lang="en-US" sz="2400">
              <a:latin typeface="Times New Roman" charset="0"/>
            </a:endParaRPr>
          </a:p>
        </p:txBody>
      </p:sp>
    </p:spTree>
  </p:cSld>
  <p:clrMap bg1="lt1" tx1="dk1" bg2="lt2" tx2="dk2" accent1="accent1" accent2="accent2" accent3="accent3" accent4="accent4" accent5="accent5" accent6="accent6" hlink="hlink" folHlink="folHlink"/>
  <p:sldLayoutIdLst>
    <p:sldLayoutId id="2147483700"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 id="2147483699" r:id="rId12"/>
  </p:sldLayoutIdLst>
  <p:timing>
    <p:tnLst>
      <p:par>
        <p:cTn id="1" dur="indefinite" restart="never" nodeType="tmRoot"/>
      </p:par>
    </p:tnLst>
  </p:timing>
  <p:txStyles>
    <p:titleStyle>
      <a:lvl1pPr algn="l" rtl="0" eaLnBrk="0" fontAlgn="base" hangingPunct="0">
        <a:spcBef>
          <a:spcPct val="0"/>
        </a:spcBef>
        <a:spcAft>
          <a:spcPct val="0"/>
        </a:spcAft>
        <a:defRPr sz="4400">
          <a:solidFill>
            <a:schemeClr val="tx2"/>
          </a:solidFill>
          <a:latin typeface="+mj-lt"/>
          <a:ea typeface="ＭＳ Ｐゴシック" charset="-128"/>
          <a:cs typeface="+mj-cs"/>
        </a:defRPr>
      </a:lvl1pPr>
      <a:lvl2pPr algn="l" rtl="0" eaLnBrk="0" fontAlgn="base" hangingPunct="0">
        <a:spcBef>
          <a:spcPct val="0"/>
        </a:spcBef>
        <a:spcAft>
          <a:spcPct val="0"/>
        </a:spcAft>
        <a:defRPr sz="4400">
          <a:solidFill>
            <a:schemeClr val="tx2"/>
          </a:solidFill>
          <a:latin typeface="Garamond" charset="0"/>
          <a:ea typeface="ＭＳ Ｐゴシック" charset="-128"/>
        </a:defRPr>
      </a:lvl2pPr>
      <a:lvl3pPr algn="l" rtl="0" eaLnBrk="0" fontAlgn="base" hangingPunct="0">
        <a:spcBef>
          <a:spcPct val="0"/>
        </a:spcBef>
        <a:spcAft>
          <a:spcPct val="0"/>
        </a:spcAft>
        <a:defRPr sz="4400">
          <a:solidFill>
            <a:schemeClr val="tx2"/>
          </a:solidFill>
          <a:latin typeface="Garamond" charset="0"/>
          <a:ea typeface="ＭＳ Ｐゴシック" charset="-128"/>
        </a:defRPr>
      </a:lvl3pPr>
      <a:lvl4pPr algn="l" rtl="0" eaLnBrk="0" fontAlgn="base" hangingPunct="0">
        <a:spcBef>
          <a:spcPct val="0"/>
        </a:spcBef>
        <a:spcAft>
          <a:spcPct val="0"/>
        </a:spcAft>
        <a:defRPr sz="4400">
          <a:solidFill>
            <a:schemeClr val="tx2"/>
          </a:solidFill>
          <a:latin typeface="Garamond" charset="0"/>
          <a:ea typeface="ＭＳ Ｐゴシック" charset="-128"/>
        </a:defRPr>
      </a:lvl4pPr>
      <a:lvl5pPr algn="l" rtl="0" eaLnBrk="0" fontAlgn="base" hangingPunct="0">
        <a:spcBef>
          <a:spcPct val="0"/>
        </a:spcBef>
        <a:spcAft>
          <a:spcPct val="0"/>
        </a:spcAft>
        <a:defRPr sz="4400">
          <a:solidFill>
            <a:schemeClr val="tx2"/>
          </a:solidFill>
          <a:latin typeface="Garamond" charset="0"/>
          <a:ea typeface="ＭＳ Ｐゴシック" charset="-128"/>
        </a:defRPr>
      </a:lvl5pPr>
      <a:lvl6pPr marL="457200" algn="l" rtl="0" fontAlgn="base">
        <a:spcBef>
          <a:spcPct val="0"/>
        </a:spcBef>
        <a:spcAft>
          <a:spcPct val="0"/>
        </a:spcAft>
        <a:defRPr sz="4400">
          <a:solidFill>
            <a:schemeClr val="tx2"/>
          </a:solidFill>
          <a:latin typeface="Garamond" charset="0"/>
        </a:defRPr>
      </a:lvl6pPr>
      <a:lvl7pPr marL="914400" algn="l" rtl="0" fontAlgn="base">
        <a:spcBef>
          <a:spcPct val="0"/>
        </a:spcBef>
        <a:spcAft>
          <a:spcPct val="0"/>
        </a:spcAft>
        <a:defRPr sz="4400">
          <a:solidFill>
            <a:schemeClr val="tx2"/>
          </a:solidFill>
          <a:latin typeface="Garamond" charset="0"/>
        </a:defRPr>
      </a:lvl7pPr>
      <a:lvl8pPr marL="1371600" algn="l" rtl="0" fontAlgn="base">
        <a:spcBef>
          <a:spcPct val="0"/>
        </a:spcBef>
        <a:spcAft>
          <a:spcPct val="0"/>
        </a:spcAft>
        <a:defRPr sz="4400">
          <a:solidFill>
            <a:schemeClr val="tx2"/>
          </a:solidFill>
          <a:latin typeface="Garamond" charset="0"/>
        </a:defRPr>
      </a:lvl8pPr>
      <a:lvl9pPr marL="1828800" algn="l" rtl="0" fontAlgn="base">
        <a:spcBef>
          <a:spcPct val="0"/>
        </a:spcBef>
        <a:spcAft>
          <a:spcPct val="0"/>
        </a:spcAft>
        <a:defRPr sz="4400">
          <a:solidFill>
            <a:schemeClr val="tx2"/>
          </a:solidFill>
          <a:latin typeface="Garamond" charset="0"/>
        </a:defRPr>
      </a:lvl9pPr>
    </p:titleStyle>
    <p:bodyStyle>
      <a:lvl1pPr marL="342900" indent="-342900" algn="l" rtl="0" eaLnBrk="0" fontAlgn="base" hangingPunct="0">
        <a:spcBef>
          <a:spcPct val="20000"/>
        </a:spcBef>
        <a:spcAft>
          <a:spcPct val="0"/>
        </a:spcAft>
        <a:buClr>
          <a:schemeClr val="bg2"/>
        </a:buClr>
        <a:buSzPct val="75000"/>
        <a:buFont typeface="Wingdings" charset="2"/>
        <a:buChar char="p"/>
        <a:defRPr sz="2800">
          <a:solidFill>
            <a:schemeClr val="tx1"/>
          </a:solidFill>
          <a:latin typeface="+mn-lt"/>
          <a:ea typeface="ＭＳ Ｐゴシック" charset="-128"/>
          <a:cs typeface="+mn-cs"/>
        </a:defRPr>
      </a:lvl1pPr>
      <a:lvl2pPr marL="742950" indent="-285750" algn="l" rtl="0" eaLnBrk="0" fontAlgn="base" hangingPunct="0">
        <a:spcBef>
          <a:spcPct val="20000"/>
        </a:spcBef>
        <a:spcAft>
          <a:spcPct val="0"/>
        </a:spcAft>
        <a:buClr>
          <a:schemeClr val="tx2"/>
        </a:buClr>
        <a:buSzPct val="75000"/>
        <a:buFont typeface="Wingdings" charset="2"/>
        <a:buChar char="n"/>
        <a:defRPr sz="2400">
          <a:solidFill>
            <a:schemeClr val="tx1"/>
          </a:solidFill>
          <a:latin typeface="+mn-lt"/>
          <a:ea typeface="ＭＳ Ｐゴシック" charset="-128"/>
        </a:defRPr>
      </a:lvl2pPr>
      <a:lvl3pPr marL="1143000" indent="-228600" algn="l" rtl="0" eaLnBrk="0" fontAlgn="base" hangingPunct="0">
        <a:spcBef>
          <a:spcPct val="20000"/>
        </a:spcBef>
        <a:spcAft>
          <a:spcPct val="0"/>
        </a:spcAft>
        <a:buClr>
          <a:schemeClr val="accent1"/>
        </a:buClr>
        <a:buSzPct val="65000"/>
        <a:buFont typeface="Wingdings" charset="2"/>
        <a:buChar char="p"/>
        <a:defRPr sz="2000">
          <a:solidFill>
            <a:schemeClr val="tx1"/>
          </a:solidFill>
          <a:latin typeface="+mn-lt"/>
          <a:ea typeface="ＭＳ Ｐゴシック" charset="-128"/>
        </a:defRPr>
      </a:lvl3pPr>
      <a:lvl4pPr marL="1600200" indent="-228600" algn="l" rtl="0" eaLnBrk="0" fontAlgn="base" hangingPunct="0">
        <a:spcBef>
          <a:spcPct val="20000"/>
        </a:spcBef>
        <a:spcAft>
          <a:spcPct val="0"/>
        </a:spcAft>
        <a:buClr>
          <a:schemeClr val="bg2"/>
        </a:buClr>
        <a:buFont typeface="Wingdings" charset="2"/>
        <a:buChar char="§"/>
        <a:defRPr>
          <a:solidFill>
            <a:schemeClr val="tx1"/>
          </a:solidFill>
          <a:latin typeface="+mn-lt"/>
          <a:ea typeface="ＭＳ Ｐゴシック" charset="-128"/>
        </a:defRPr>
      </a:lvl4pPr>
      <a:lvl5pPr marL="2057400" indent="-228600" algn="l" rtl="0" eaLnBrk="0" fontAlgn="base" hangingPunct="0">
        <a:spcBef>
          <a:spcPct val="20000"/>
        </a:spcBef>
        <a:spcAft>
          <a:spcPct val="0"/>
        </a:spcAft>
        <a:buClr>
          <a:schemeClr val="tx2"/>
        </a:buClr>
        <a:buSzPct val="80000"/>
        <a:buFont typeface="Wingdings" charset="2"/>
        <a:buChar char="§"/>
        <a:defRPr>
          <a:solidFill>
            <a:schemeClr val="tx1"/>
          </a:solidFill>
          <a:latin typeface="+mn-lt"/>
          <a:ea typeface="ＭＳ Ｐゴシック" charset="-128"/>
        </a:defRPr>
      </a:lvl5pPr>
      <a:lvl6pPr marL="2514600" indent="-228600" algn="l" rtl="0" fontAlgn="base">
        <a:spcBef>
          <a:spcPct val="20000"/>
        </a:spcBef>
        <a:spcAft>
          <a:spcPct val="0"/>
        </a:spcAft>
        <a:buClr>
          <a:schemeClr val="tx2"/>
        </a:buClr>
        <a:buSzPct val="80000"/>
        <a:buFont typeface="Wingdings" charset="2"/>
        <a:buChar char="§"/>
        <a:defRPr>
          <a:solidFill>
            <a:schemeClr val="tx1"/>
          </a:solidFill>
          <a:latin typeface="+mn-lt"/>
          <a:ea typeface="ＭＳ Ｐゴシック" charset="-128"/>
        </a:defRPr>
      </a:lvl6pPr>
      <a:lvl7pPr marL="2971800" indent="-228600" algn="l" rtl="0" fontAlgn="base">
        <a:spcBef>
          <a:spcPct val="20000"/>
        </a:spcBef>
        <a:spcAft>
          <a:spcPct val="0"/>
        </a:spcAft>
        <a:buClr>
          <a:schemeClr val="tx2"/>
        </a:buClr>
        <a:buSzPct val="80000"/>
        <a:buFont typeface="Wingdings" charset="2"/>
        <a:buChar char="§"/>
        <a:defRPr>
          <a:solidFill>
            <a:schemeClr val="tx1"/>
          </a:solidFill>
          <a:latin typeface="+mn-lt"/>
          <a:ea typeface="ＭＳ Ｐゴシック" charset="-128"/>
        </a:defRPr>
      </a:lvl7pPr>
      <a:lvl8pPr marL="3429000" indent="-228600" algn="l" rtl="0" fontAlgn="base">
        <a:spcBef>
          <a:spcPct val="20000"/>
        </a:spcBef>
        <a:spcAft>
          <a:spcPct val="0"/>
        </a:spcAft>
        <a:buClr>
          <a:schemeClr val="tx2"/>
        </a:buClr>
        <a:buSzPct val="80000"/>
        <a:buFont typeface="Wingdings" charset="2"/>
        <a:buChar char="§"/>
        <a:defRPr>
          <a:solidFill>
            <a:schemeClr val="tx1"/>
          </a:solidFill>
          <a:latin typeface="+mn-lt"/>
          <a:ea typeface="ＭＳ Ｐゴシック" charset="-128"/>
        </a:defRPr>
      </a:lvl8pPr>
      <a:lvl9pPr marL="3886200" indent="-228600" algn="l" rtl="0" fontAlgn="base">
        <a:spcBef>
          <a:spcPct val="20000"/>
        </a:spcBef>
        <a:spcAft>
          <a:spcPct val="0"/>
        </a:spcAft>
        <a:buClr>
          <a:schemeClr val="tx2"/>
        </a:buClr>
        <a:buSzPct val="80000"/>
        <a:buFont typeface="Wingdings" charset="2"/>
        <a:buChar char="§"/>
        <a:defRPr>
          <a:solidFill>
            <a:schemeClr val="tx1"/>
          </a:solidFill>
          <a:latin typeface="+mn-lt"/>
          <a:ea typeface="ＭＳ Ｐゴシック"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1.bin"/><Relationship Id="rId4" Type="http://schemas.openxmlformats.org/officeDocument/2006/relationships/image" Target="../media/image5.wmf"/><Relationship Id="rId5" Type="http://schemas.openxmlformats.org/officeDocument/2006/relationships/oleObject" Target="../embeddings/oleObject2.bin"/><Relationship Id="rId6" Type="http://schemas.openxmlformats.org/officeDocument/2006/relationships/image" Target="../media/image6.wmf"/><Relationship Id="rId7" Type="http://schemas.openxmlformats.org/officeDocument/2006/relationships/oleObject" Target="../embeddings/oleObject3.bin"/><Relationship Id="rId8" Type="http://schemas.openxmlformats.org/officeDocument/2006/relationships/image" Target="../media/image7.wmf"/><Relationship Id="rId1" Type="http://schemas.openxmlformats.org/officeDocument/2006/relationships/vmlDrawing" Target="../drawings/vmlDrawing1.vml"/><Relationship Id="rId2"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4.bin"/><Relationship Id="rId4" Type="http://schemas.openxmlformats.org/officeDocument/2006/relationships/image" Target="../media/image8.wmf"/><Relationship Id="rId5" Type="http://schemas.openxmlformats.org/officeDocument/2006/relationships/oleObject" Target="../embeddings/oleObject5.bin"/><Relationship Id="rId6" Type="http://schemas.openxmlformats.org/officeDocument/2006/relationships/image" Target="../media/image9.wmf"/><Relationship Id="rId7" Type="http://schemas.openxmlformats.org/officeDocument/2006/relationships/oleObject" Target="../embeddings/oleObject6.bin"/><Relationship Id="rId8" Type="http://schemas.openxmlformats.org/officeDocument/2006/relationships/image" Target="../media/image10.wmf"/><Relationship Id="rId1" Type="http://schemas.openxmlformats.org/officeDocument/2006/relationships/vmlDrawing" Target="../drawings/vmlDrawing2.vml"/><Relationship Id="rId2"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7.bin"/><Relationship Id="rId4" Type="http://schemas.openxmlformats.org/officeDocument/2006/relationships/image" Target="../media/image11.wmf"/><Relationship Id="rId1" Type="http://schemas.openxmlformats.org/officeDocument/2006/relationships/vmlDrawing" Target="../drawings/vmlDrawing3.vml"/><Relationship Id="rId2"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8.bin"/><Relationship Id="rId4" Type="http://schemas.openxmlformats.org/officeDocument/2006/relationships/image" Target="../media/image13.wmf"/><Relationship Id="rId5" Type="http://schemas.openxmlformats.org/officeDocument/2006/relationships/oleObject" Target="../embeddings/oleObject9.bin"/><Relationship Id="rId6" Type="http://schemas.openxmlformats.org/officeDocument/2006/relationships/image" Target="../media/image14.wmf"/><Relationship Id="rId7" Type="http://schemas.openxmlformats.org/officeDocument/2006/relationships/oleObject" Target="../embeddings/oleObject10.bin"/><Relationship Id="rId8" Type="http://schemas.openxmlformats.org/officeDocument/2006/relationships/image" Target="../media/image15.wmf"/><Relationship Id="rId1" Type="http://schemas.openxmlformats.org/officeDocument/2006/relationships/vmlDrawing" Target="../drawings/vmlDrawing4.vml"/><Relationship Id="rId2"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8.png"/></Relationships>
</file>

<file path=ppt/slides/_rels/slide29.xml.rels><?xml version="1.0" encoding="UTF-8" standalone="yes"?>
<Relationships xmlns="http://schemas.openxmlformats.org/package/2006/relationships"><Relationship Id="rId3" Type="http://schemas.openxmlformats.org/officeDocument/2006/relationships/oleObject" Target="../embeddings/oleObject11.bin"/><Relationship Id="rId4" Type="http://schemas.openxmlformats.org/officeDocument/2006/relationships/image" Target="../media/image19.wmf"/><Relationship Id="rId5" Type="http://schemas.openxmlformats.org/officeDocument/2006/relationships/oleObject" Target="../embeddings/oleObject12.bin"/><Relationship Id="rId6" Type="http://schemas.openxmlformats.org/officeDocument/2006/relationships/image" Target="../media/image20.wmf"/><Relationship Id="rId7" Type="http://schemas.openxmlformats.org/officeDocument/2006/relationships/oleObject" Target="../embeddings/oleObject13.bin"/><Relationship Id="rId8" Type="http://schemas.openxmlformats.org/officeDocument/2006/relationships/image" Target="../media/image21.wmf"/><Relationship Id="rId9" Type="http://schemas.openxmlformats.org/officeDocument/2006/relationships/oleObject" Target="../embeddings/oleObject14.bin"/><Relationship Id="rId10" Type="http://schemas.openxmlformats.org/officeDocument/2006/relationships/image" Target="../media/image22.wmf"/><Relationship Id="rId11" Type="http://schemas.openxmlformats.org/officeDocument/2006/relationships/image" Target="../media/image23.png"/><Relationship Id="rId1" Type="http://schemas.openxmlformats.org/officeDocument/2006/relationships/vmlDrawing" Target="../drawings/vmlDrawing5.vml"/><Relationship Id="rId2"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oleObject" Target="../embeddings/oleObject15.bin"/><Relationship Id="rId4" Type="http://schemas.openxmlformats.org/officeDocument/2006/relationships/image" Target="../media/image24.wmf"/><Relationship Id="rId5" Type="http://schemas.openxmlformats.org/officeDocument/2006/relationships/oleObject" Target="../embeddings/oleObject16.bin"/><Relationship Id="rId6" Type="http://schemas.openxmlformats.org/officeDocument/2006/relationships/image" Target="../media/image25.wmf"/><Relationship Id="rId1" Type="http://schemas.openxmlformats.org/officeDocument/2006/relationships/vmlDrawing" Target="../drawings/vmlDrawing6.vml"/><Relationship Id="rId2"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17.bin"/><Relationship Id="rId4" Type="http://schemas.openxmlformats.org/officeDocument/2006/relationships/image" Target="../media/image26.wmf"/><Relationship Id="rId5" Type="http://schemas.openxmlformats.org/officeDocument/2006/relationships/oleObject" Target="../embeddings/oleObject18.bin"/><Relationship Id="rId6" Type="http://schemas.openxmlformats.org/officeDocument/2006/relationships/image" Target="../media/image27.wmf"/><Relationship Id="rId1" Type="http://schemas.openxmlformats.org/officeDocument/2006/relationships/vmlDrawing" Target="../drawings/vmlDrawing7.vml"/><Relationship Id="rId2"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oleObject" Target="../embeddings/oleObject19.bin"/><Relationship Id="rId4" Type="http://schemas.openxmlformats.org/officeDocument/2006/relationships/image" Target="../media/image28.wmf"/><Relationship Id="rId1" Type="http://schemas.openxmlformats.org/officeDocument/2006/relationships/vmlDrawing" Target="../drawings/vmlDrawing8.vml"/><Relationship Id="rId2"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oleObject" Target="../embeddings/oleObject20.bin"/><Relationship Id="rId4" Type="http://schemas.openxmlformats.org/officeDocument/2006/relationships/image" Target="../media/image29.wmf"/><Relationship Id="rId1" Type="http://schemas.openxmlformats.org/officeDocument/2006/relationships/vmlDrawing" Target="../drawings/vmlDrawing9.vml"/><Relationship Id="rId2"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oleObject" Target="../embeddings/oleObject21.bin"/><Relationship Id="rId4" Type="http://schemas.openxmlformats.org/officeDocument/2006/relationships/image" Target="../media/image30.wmf"/><Relationship Id="rId5" Type="http://schemas.openxmlformats.org/officeDocument/2006/relationships/oleObject" Target="../embeddings/oleObject22.bin"/><Relationship Id="rId6" Type="http://schemas.openxmlformats.org/officeDocument/2006/relationships/image" Target="../media/image31.wmf"/><Relationship Id="rId1" Type="http://schemas.openxmlformats.org/officeDocument/2006/relationships/vmlDrawing" Target="../drawings/vmlDrawing10.vml"/><Relationship Id="rId2"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2.png"/></Relationships>
</file>

<file path=ppt/slides/_rels/slide43.xml.rels><?xml version="1.0" encoding="UTF-8" standalone="yes"?>
<Relationships xmlns="http://schemas.openxmlformats.org/package/2006/relationships"><Relationship Id="rId3" Type="http://schemas.openxmlformats.org/officeDocument/2006/relationships/oleObject" Target="../embeddings/oleObject23.bin"/><Relationship Id="rId4" Type="http://schemas.openxmlformats.org/officeDocument/2006/relationships/image" Target="../media/image33.wmf"/><Relationship Id="rId1" Type="http://schemas.openxmlformats.org/officeDocument/2006/relationships/vmlDrawing" Target="../drawings/vmlDrawing11.vml"/><Relationship Id="rId2"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4.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oleObject" Target="../embeddings/oleObject24.bin"/><Relationship Id="rId4" Type="http://schemas.openxmlformats.org/officeDocument/2006/relationships/image" Target="../media/image35.wmf"/><Relationship Id="rId1" Type="http://schemas.openxmlformats.org/officeDocument/2006/relationships/vmlDrawing" Target="../drawings/vmlDrawing12.vml"/><Relationship Id="rId2"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oleObject" Target="../embeddings/oleObject25.bin"/><Relationship Id="rId4" Type="http://schemas.openxmlformats.org/officeDocument/2006/relationships/image" Target="../media/image36.wmf"/><Relationship Id="rId5" Type="http://schemas.openxmlformats.org/officeDocument/2006/relationships/oleObject" Target="../embeddings/oleObject26.bin"/><Relationship Id="rId6" Type="http://schemas.openxmlformats.org/officeDocument/2006/relationships/image" Target="../media/image37.wmf"/><Relationship Id="rId1" Type="http://schemas.openxmlformats.org/officeDocument/2006/relationships/vmlDrawing" Target="../drawings/vmlDrawing13.vml"/><Relationship Id="rId2"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oleObject" Target="../embeddings/oleObject27.bin"/><Relationship Id="rId4" Type="http://schemas.openxmlformats.org/officeDocument/2006/relationships/image" Target="../media/image38.wmf"/><Relationship Id="rId1" Type="http://schemas.openxmlformats.org/officeDocument/2006/relationships/vmlDrawing" Target="../drawings/vmlDrawing14.vml"/><Relationship Id="rId2"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oleObject" Target="../embeddings/oleObject28.bin"/><Relationship Id="rId4" Type="http://schemas.openxmlformats.org/officeDocument/2006/relationships/image" Target="../media/image39.wmf"/><Relationship Id="rId1" Type="http://schemas.openxmlformats.org/officeDocument/2006/relationships/vmlDrawing" Target="../drawings/vmlDrawing15.vml"/><Relationship Id="rId2"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oleObject" Target="../embeddings/oleObject29.bin"/><Relationship Id="rId4" Type="http://schemas.openxmlformats.org/officeDocument/2006/relationships/image" Target="../media/image40.wmf"/><Relationship Id="rId1" Type="http://schemas.openxmlformats.org/officeDocument/2006/relationships/vmlDrawing" Target="../drawings/vmlDrawing16.vml"/><Relationship Id="rId2"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oleObject" Target="../embeddings/oleObject30.bin"/><Relationship Id="rId4" Type="http://schemas.openxmlformats.org/officeDocument/2006/relationships/image" Target="../media/image41.wmf"/><Relationship Id="rId5" Type="http://schemas.openxmlformats.org/officeDocument/2006/relationships/oleObject" Target="../embeddings/oleObject31.bin"/><Relationship Id="rId6" Type="http://schemas.openxmlformats.org/officeDocument/2006/relationships/image" Target="../media/image42.wmf"/><Relationship Id="rId1" Type="http://schemas.openxmlformats.org/officeDocument/2006/relationships/vmlDrawing" Target="../drawings/vmlDrawing17.vml"/><Relationship Id="rId2"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oleObject" Target="../embeddings/oleObject32.bin"/><Relationship Id="rId4" Type="http://schemas.openxmlformats.org/officeDocument/2006/relationships/image" Target="../media/image43.wmf"/><Relationship Id="rId1" Type="http://schemas.openxmlformats.org/officeDocument/2006/relationships/vmlDrawing" Target="../drawings/vmlDrawing18.vml"/><Relationship Id="rId2"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4.png"/></Relationships>
</file>

<file path=ppt/slides/_rels/slide60.xml.rels><?xml version="1.0" encoding="UTF-8" standalone="yes"?>
<Relationships xmlns="http://schemas.openxmlformats.org/package/2006/relationships"><Relationship Id="rId3" Type="http://schemas.openxmlformats.org/officeDocument/2006/relationships/oleObject" Target="../embeddings/oleObject33.bin"/><Relationship Id="rId4" Type="http://schemas.openxmlformats.org/officeDocument/2006/relationships/image" Target="../media/image45.wmf"/><Relationship Id="rId1" Type="http://schemas.openxmlformats.org/officeDocument/2006/relationships/vmlDrawing" Target="../drawings/vmlDrawing19.vml"/><Relationship Id="rId2"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6.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oleObject" Target="../embeddings/oleObject34.bin"/><Relationship Id="rId4" Type="http://schemas.openxmlformats.org/officeDocument/2006/relationships/image" Target="../media/image47.wmf"/><Relationship Id="rId5" Type="http://schemas.openxmlformats.org/officeDocument/2006/relationships/oleObject" Target="../embeddings/oleObject35.bin"/><Relationship Id="rId6" Type="http://schemas.openxmlformats.org/officeDocument/2006/relationships/image" Target="../media/image48.wmf"/><Relationship Id="rId7" Type="http://schemas.openxmlformats.org/officeDocument/2006/relationships/oleObject" Target="../embeddings/oleObject36.bin"/><Relationship Id="rId8" Type="http://schemas.openxmlformats.org/officeDocument/2006/relationships/image" Target="../media/image49.wmf"/><Relationship Id="rId1" Type="http://schemas.openxmlformats.org/officeDocument/2006/relationships/vmlDrawing" Target="../drawings/vmlDrawing20.vml"/><Relationship Id="rId2"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oleObject" Target="../embeddings/oleObject37.bin"/><Relationship Id="rId4" Type="http://schemas.openxmlformats.org/officeDocument/2006/relationships/image" Target="../media/image50.wmf"/><Relationship Id="rId5" Type="http://schemas.openxmlformats.org/officeDocument/2006/relationships/oleObject" Target="../embeddings/oleObject38.bin"/><Relationship Id="rId6" Type="http://schemas.openxmlformats.org/officeDocument/2006/relationships/image" Target="../media/image51.wmf"/><Relationship Id="rId7" Type="http://schemas.openxmlformats.org/officeDocument/2006/relationships/oleObject" Target="../embeddings/oleObject39.bin"/><Relationship Id="rId8" Type="http://schemas.openxmlformats.org/officeDocument/2006/relationships/image" Target="../media/image52.wmf"/><Relationship Id="rId1" Type="http://schemas.openxmlformats.org/officeDocument/2006/relationships/vmlDrawing" Target="../drawings/vmlDrawing21.vml"/><Relationship Id="rId2" Type="http://schemas.openxmlformats.org/officeDocument/2006/relationships/slideLayout" Target="../slideLayouts/slideLayout12.xml"/></Relationships>
</file>

<file path=ppt/slides/_rels/slide66.xml.rels><?xml version="1.0" encoding="UTF-8" standalone="yes"?>
<Relationships xmlns="http://schemas.openxmlformats.org/package/2006/relationships"><Relationship Id="rId3" Type="http://schemas.openxmlformats.org/officeDocument/2006/relationships/oleObject" Target="../embeddings/oleObject40.bin"/><Relationship Id="rId4" Type="http://schemas.openxmlformats.org/officeDocument/2006/relationships/image" Target="../media/image53.wmf"/><Relationship Id="rId1" Type="http://schemas.openxmlformats.org/officeDocument/2006/relationships/vmlDrawing" Target="../drawings/vmlDrawing22.vml"/><Relationship Id="rId2"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1" Type="http://schemas.openxmlformats.org/officeDocument/2006/relationships/oleObject" Target="../embeddings/oleObject45.bin"/><Relationship Id="rId12" Type="http://schemas.openxmlformats.org/officeDocument/2006/relationships/image" Target="../media/image51.wmf"/><Relationship Id="rId1" Type="http://schemas.openxmlformats.org/officeDocument/2006/relationships/vmlDrawing" Target="../drawings/vmlDrawing23.vml"/><Relationship Id="rId2" Type="http://schemas.openxmlformats.org/officeDocument/2006/relationships/slideLayout" Target="../slideLayouts/slideLayout2.xml"/><Relationship Id="rId3" Type="http://schemas.openxmlformats.org/officeDocument/2006/relationships/oleObject" Target="../embeddings/oleObject41.bin"/><Relationship Id="rId4" Type="http://schemas.openxmlformats.org/officeDocument/2006/relationships/image" Target="../media/image54.wmf"/><Relationship Id="rId5" Type="http://schemas.openxmlformats.org/officeDocument/2006/relationships/oleObject" Target="../embeddings/oleObject42.bin"/><Relationship Id="rId6" Type="http://schemas.openxmlformats.org/officeDocument/2006/relationships/image" Target="../media/image55.wmf"/><Relationship Id="rId7" Type="http://schemas.openxmlformats.org/officeDocument/2006/relationships/oleObject" Target="../embeddings/oleObject43.bin"/><Relationship Id="rId8" Type="http://schemas.openxmlformats.org/officeDocument/2006/relationships/image" Target="../media/image56.wmf"/><Relationship Id="rId9" Type="http://schemas.openxmlformats.org/officeDocument/2006/relationships/oleObject" Target="../embeddings/oleObject44.bin"/><Relationship Id="rId10" Type="http://schemas.openxmlformats.org/officeDocument/2006/relationships/image" Target="../media/image57.wmf"/></Relationships>
</file>

<file path=ppt/slides/_rels/slide68.xml.rels><?xml version="1.0" encoding="UTF-8" standalone="yes"?>
<Relationships xmlns="http://schemas.openxmlformats.org/package/2006/relationships"><Relationship Id="rId3" Type="http://schemas.openxmlformats.org/officeDocument/2006/relationships/oleObject" Target="../embeddings/oleObject46.bin"/><Relationship Id="rId4" Type="http://schemas.openxmlformats.org/officeDocument/2006/relationships/image" Target="../media/image58.wmf"/><Relationship Id="rId5" Type="http://schemas.openxmlformats.org/officeDocument/2006/relationships/oleObject" Target="../embeddings/oleObject47.bin"/><Relationship Id="rId6" Type="http://schemas.openxmlformats.org/officeDocument/2006/relationships/image" Target="../media/image55.wmf"/><Relationship Id="rId1" Type="http://schemas.openxmlformats.org/officeDocument/2006/relationships/vmlDrawing" Target="../drawings/vmlDrawing24.vml"/><Relationship Id="rId2"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9.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0.png"/></Relationships>
</file>

<file path=ppt/slides/_rels/slide72.xml.rels><?xml version="1.0" encoding="UTF-8" standalone="yes"?>
<Relationships xmlns="http://schemas.openxmlformats.org/package/2006/relationships"><Relationship Id="rId3" Type="http://schemas.openxmlformats.org/officeDocument/2006/relationships/oleObject" Target="../embeddings/oleObject48.bin"/><Relationship Id="rId4" Type="http://schemas.openxmlformats.org/officeDocument/2006/relationships/image" Target="../media/image61.wmf"/><Relationship Id="rId1" Type="http://schemas.openxmlformats.org/officeDocument/2006/relationships/vmlDrawing" Target="../drawings/vmlDrawing25.vml"/><Relationship Id="rId2"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oleObject" Target="../embeddings/oleObject49.bin"/><Relationship Id="rId4" Type="http://schemas.openxmlformats.org/officeDocument/2006/relationships/image" Target="../media/image62.wmf"/><Relationship Id="rId1" Type="http://schemas.openxmlformats.org/officeDocument/2006/relationships/vmlDrawing" Target="../drawings/vmlDrawing26.vml"/><Relationship Id="rId2"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oleObject" Target="../embeddings/oleObject50.bin"/><Relationship Id="rId4" Type="http://schemas.openxmlformats.org/officeDocument/2006/relationships/image" Target="../media/image63.wmf"/><Relationship Id="rId5" Type="http://schemas.openxmlformats.org/officeDocument/2006/relationships/oleObject" Target="../embeddings/oleObject51.bin"/><Relationship Id="rId6" Type="http://schemas.openxmlformats.org/officeDocument/2006/relationships/image" Target="../media/image51.wmf"/><Relationship Id="rId7" Type="http://schemas.openxmlformats.org/officeDocument/2006/relationships/oleObject" Target="../embeddings/oleObject52.bin"/><Relationship Id="rId1" Type="http://schemas.openxmlformats.org/officeDocument/2006/relationships/vmlDrawing" Target="../drawings/vmlDrawing27.vml"/><Relationship Id="rId2"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4.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5.png"/></Relationships>
</file>

<file path=ppt/slides/_rels/slide78.xml.rels><?xml version="1.0" encoding="UTF-8" standalone="yes"?>
<Relationships xmlns="http://schemas.openxmlformats.org/package/2006/relationships"><Relationship Id="rId3" Type="http://schemas.openxmlformats.org/officeDocument/2006/relationships/oleObject" Target="../embeddings/oleObject53.bin"/><Relationship Id="rId4" Type="http://schemas.openxmlformats.org/officeDocument/2006/relationships/image" Target="../media/image66.wmf"/><Relationship Id="rId5" Type="http://schemas.openxmlformats.org/officeDocument/2006/relationships/oleObject" Target="../embeddings/oleObject54.bin"/><Relationship Id="rId6" Type="http://schemas.openxmlformats.org/officeDocument/2006/relationships/image" Target="../media/image67.wmf"/><Relationship Id="rId1" Type="http://schemas.openxmlformats.org/officeDocument/2006/relationships/vmlDrawing" Target="../drawings/vmlDrawing28.vml"/><Relationship Id="rId2"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oleObject" Target="../embeddings/oleObject55.bin"/><Relationship Id="rId4" Type="http://schemas.openxmlformats.org/officeDocument/2006/relationships/image" Target="../media/image53.wmf"/><Relationship Id="rId1" Type="http://schemas.openxmlformats.org/officeDocument/2006/relationships/vmlDrawing" Target="../drawings/vmlDrawing29.vml"/><Relationship Id="rId2"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oleObject" Target="../embeddings/oleObject56.bin"/><Relationship Id="rId4" Type="http://schemas.openxmlformats.org/officeDocument/2006/relationships/image" Target="../media/image68.wmf"/><Relationship Id="rId1" Type="http://schemas.openxmlformats.org/officeDocument/2006/relationships/vmlDrawing" Target="../drawings/vmlDrawing30.vml"/><Relationship Id="rId2"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9.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oleObject" Target="../embeddings/oleObject57.bin"/><Relationship Id="rId4" Type="http://schemas.openxmlformats.org/officeDocument/2006/relationships/image" Target="../media/image70.wmf"/><Relationship Id="rId5" Type="http://schemas.openxmlformats.org/officeDocument/2006/relationships/oleObject" Target="../embeddings/oleObject58.bin"/><Relationship Id="rId6" Type="http://schemas.openxmlformats.org/officeDocument/2006/relationships/image" Target="../media/image71.wmf"/><Relationship Id="rId7" Type="http://schemas.openxmlformats.org/officeDocument/2006/relationships/oleObject" Target="../embeddings/oleObject59.bin"/><Relationship Id="rId8" Type="http://schemas.openxmlformats.org/officeDocument/2006/relationships/image" Target="../media/image72.wmf"/><Relationship Id="rId9" Type="http://schemas.openxmlformats.org/officeDocument/2006/relationships/image" Target="../media/image73.png"/><Relationship Id="rId1" Type="http://schemas.openxmlformats.org/officeDocument/2006/relationships/vmlDrawing" Target="../drawings/vmlDrawing31.vml"/><Relationship Id="rId2"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oleObject" Target="../embeddings/oleObject60.bin"/><Relationship Id="rId4" Type="http://schemas.openxmlformats.org/officeDocument/2006/relationships/image" Target="../media/image74.wmf"/><Relationship Id="rId5" Type="http://schemas.openxmlformats.org/officeDocument/2006/relationships/oleObject" Target="../embeddings/oleObject61.bin"/><Relationship Id="rId6" Type="http://schemas.openxmlformats.org/officeDocument/2006/relationships/oleObject" Target="../embeddings/oleObject62.bin"/><Relationship Id="rId7" Type="http://schemas.openxmlformats.org/officeDocument/2006/relationships/image" Target="../media/image75.wmf"/><Relationship Id="rId1" Type="http://schemas.openxmlformats.org/officeDocument/2006/relationships/vmlDrawing" Target="../drawings/vmlDrawing32.vml"/><Relationship Id="rId2"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oleObject" Target="../embeddings/oleObject63.bin"/><Relationship Id="rId4" Type="http://schemas.openxmlformats.org/officeDocument/2006/relationships/image" Target="../media/image76.wmf"/><Relationship Id="rId5" Type="http://schemas.openxmlformats.org/officeDocument/2006/relationships/oleObject" Target="../embeddings/oleObject64.bin"/><Relationship Id="rId6" Type="http://schemas.openxmlformats.org/officeDocument/2006/relationships/image" Target="../media/image77.wmf"/><Relationship Id="rId7" Type="http://schemas.openxmlformats.org/officeDocument/2006/relationships/oleObject" Target="../embeddings/oleObject65.bin"/><Relationship Id="rId8" Type="http://schemas.openxmlformats.org/officeDocument/2006/relationships/image" Target="../media/image78.wmf"/><Relationship Id="rId1" Type="http://schemas.openxmlformats.org/officeDocument/2006/relationships/vmlDrawing" Target="../drawings/vmlDrawing33.vml"/><Relationship Id="rId2"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oleObject" Target="../embeddings/oleObject66.bin"/><Relationship Id="rId4" Type="http://schemas.openxmlformats.org/officeDocument/2006/relationships/image" Target="../media/image79.wmf"/><Relationship Id="rId1" Type="http://schemas.openxmlformats.org/officeDocument/2006/relationships/vmlDrawing" Target="../drawings/vmlDrawing34.vml"/><Relationship Id="rId2"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oleObject" Target="../embeddings/oleObject67.bin"/><Relationship Id="rId4" Type="http://schemas.openxmlformats.org/officeDocument/2006/relationships/image" Target="../media/image74.wmf"/><Relationship Id="rId1" Type="http://schemas.openxmlformats.org/officeDocument/2006/relationships/vmlDrawing" Target="../drawings/vmlDrawing35.vml"/><Relationship Id="rId2"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oleObject" Target="../embeddings/oleObject68.bin"/><Relationship Id="rId4" Type="http://schemas.openxmlformats.org/officeDocument/2006/relationships/image" Target="../media/image80.wmf"/><Relationship Id="rId1" Type="http://schemas.openxmlformats.org/officeDocument/2006/relationships/vmlDrawing" Target="../drawings/vmlDrawing36.vml"/><Relationship Id="rId2"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oleObject" Target="../embeddings/oleObject69.bin"/><Relationship Id="rId4" Type="http://schemas.openxmlformats.org/officeDocument/2006/relationships/image" Target="../media/image81.wmf"/><Relationship Id="rId5" Type="http://schemas.openxmlformats.org/officeDocument/2006/relationships/oleObject" Target="../embeddings/oleObject70.bin"/><Relationship Id="rId6" Type="http://schemas.openxmlformats.org/officeDocument/2006/relationships/image" Target="../media/image82.wmf"/><Relationship Id="rId7" Type="http://schemas.openxmlformats.org/officeDocument/2006/relationships/oleObject" Target="../embeddings/oleObject71.bin"/><Relationship Id="rId8" Type="http://schemas.openxmlformats.org/officeDocument/2006/relationships/image" Target="../media/image74.wmf"/><Relationship Id="rId1" Type="http://schemas.openxmlformats.org/officeDocument/2006/relationships/vmlDrawing" Target="../drawings/vmlDrawing37.vml"/><Relationship Id="rId2"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oleObject" Target="../embeddings/oleObject72.bin"/><Relationship Id="rId4" Type="http://schemas.openxmlformats.org/officeDocument/2006/relationships/image" Target="../media/image74.wmf"/><Relationship Id="rId5" Type="http://schemas.openxmlformats.org/officeDocument/2006/relationships/oleObject" Target="../embeddings/oleObject73.bin"/><Relationship Id="rId6" Type="http://schemas.openxmlformats.org/officeDocument/2006/relationships/oleObject" Target="../embeddings/oleObject74.bin"/><Relationship Id="rId7" Type="http://schemas.openxmlformats.org/officeDocument/2006/relationships/image" Target="../media/image83.wmf"/><Relationship Id="rId1" Type="http://schemas.openxmlformats.org/officeDocument/2006/relationships/vmlDrawing" Target="../drawings/vmlDrawing38.vml"/><Relationship Id="rId2"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oleObject" Target="../embeddings/oleObject75.bin"/><Relationship Id="rId4" Type="http://schemas.openxmlformats.org/officeDocument/2006/relationships/image" Target="../media/image84.wmf"/><Relationship Id="rId5" Type="http://schemas.openxmlformats.org/officeDocument/2006/relationships/oleObject" Target="../embeddings/oleObject76.bin"/><Relationship Id="rId6" Type="http://schemas.openxmlformats.org/officeDocument/2006/relationships/image" Target="../media/image85.wmf"/><Relationship Id="rId7" Type="http://schemas.openxmlformats.org/officeDocument/2006/relationships/oleObject" Target="../embeddings/oleObject77.bin"/><Relationship Id="rId8" Type="http://schemas.openxmlformats.org/officeDocument/2006/relationships/image" Target="../media/image86.wmf"/><Relationship Id="rId1" Type="http://schemas.openxmlformats.org/officeDocument/2006/relationships/vmlDrawing" Target="../drawings/vmlDrawing39.vml"/><Relationship Id="rId2"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oleObject" Target="../embeddings/oleObject78.bin"/><Relationship Id="rId4" Type="http://schemas.openxmlformats.org/officeDocument/2006/relationships/image" Target="../media/image87.wmf"/><Relationship Id="rId1" Type="http://schemas.openxmlformats.org/officeDocument/2006/relationships/vmlDrawing" Target="../drawings/vmlDrawing40.vml"/><Relationship Id="rId2"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3" Type="http://schemas.openxmlformats.org/officeDocument/2006/relationships/oleObject" Target="../embeddings/oleObject79.bin"/><Relationship Id="rId4" Type="http://schemas.openxmlformats.org/officeDocument/2006/relationships/image" Target="../media/image88.wmf"/><Relationship Id="rId5" Type="http://schemas.openxmlformats.org/officeDocument/2006/relationships/oleObject" Target="../embeddings/oleObject80.bin"/><Relationship Id="rId6" Type="http://schemas.openxmlformats.org/officeDocument/2006/relationships/image" Target="../media/image89.wmf"/><Relationship Id="rId7" Type="http://schemas.openxmlformats.org/officeDocument/2006/relationships/oleObject" Target="../embeddings/oleObject81.bin"/><Relationship Id="rId8" Type="http://schemas.openxmlformats.org/officeDocument/2006/relationships/image" Target="../media/image90.wmf"/><Relationship Id="rId9" Type="http://schemas.openxmlformats.org/officeDocument/2006/relationships/oleObject" Target="../embeddings/oleObject82.bin"/><Relationship Id="rId10" Type="http://schemas.openxmlformats.org/officeDocument/2006/relationships/image" Target="../media/image91.wmf"/><Relationship Id="rId1" Type="http://schemas.openxmlformats.org/officeDocument/2006/relationships/vmlDrawing" Target="../drawings/vmlDrawing41.vml"/><Relationship Id="rId2"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2.png"/></Relationships>
</file>

<file path=ppt/slides/_rels/slide103.xml.rels><?xml version="1.0" encoding="UTF-8" standalone="yes"?>
<Relationships xmlns="http://schemas.openxmlformats.org/package/2006/relationships"><Relationship Id="rId3" Type="http://schemas.openxmlformats.org/officeDocument/2006/relationships/oleObject" Target="../embeddings/oleObject83.bin"/><Relationship Id="rId4" Type="http://schemas.openxmlformats.org/officeDocument/2006/relationships/image" Target="../media/image93.wmf"/><Relationship Id="rId1" Type="http://schemas.openxmlformats.org/officeDocument/2006/relationships/vmlDrawing" Target="../drawings/vmlDrawing42.vml"/><Relationship Id="rId2"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3" Type="http://schemas.openxmlformats.org/officeDocument/2006/relationships/image" Target="../media/image95.png"/><Relationship Id="rId4" Type="http://schemas.openxmlformats.org/officeDocument/2006/relationships/image" Target="../media/image96.png"/><Relationship Id="rId1" Type="http://schemas.openxmlformats.org/officeDocument/2006/relationships/slideLayout" Target="../slideLayouts/slideLayout2.xml"/><Relationship Id="rId2" Type="http://schemas.openxmlformats.org/officeDocument/2006/relationships/image" Target="../media/image94.png"/></Relationships>
</file>

<file path=ppt/slides/_rels/slide106.xml.rels><?xml version="1.0" encoding="UTF-8" standalone="yes"?>
<Relationships xmlns="http://schemas.openxmlformats.org/package/2006/relationships"><Relationship Id="rId3" Type="http://schemas.openxmlformats.org/officeDocument/2006/relationships/image" Target="../media/image95.png"/><Relationship Id="rId4" Type="http://schemas.openxmlformats.org/officeDocument/2006/relationships/image" Target="../media/image97.png"/><Relationship Id="rId1" Type="http://schemas.openxmlformats.org/officeDocument/2006/relationships/slideLayout" Target="../slideLayouts/slideLayout2.xml"/><Relationship Id="rId2" Type="http://schemas.openxmlformats.org/officeDocument/2006/relationships/image" Target="../media/image9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ctrTitle"/>
          </p:nvPr>
        </p:nvSpPr>
        <p:spPr/>
        <p:txBody>
          <a:bodyPr/>
          <a:lstStyle/>
          <a:p>
            <a:pPr eaLnBrk="1" hangingPunct="1"/>
            <a:r>
              <a:rPr lang="en-US" smtClean="0"/>
              <a:t>CHAPTER 10</a:t>
            </a:r>
          </a:p>
        </p:txBody>
      </p:sp>
      <p:sp>
        <p:nvSpPr>
          <p:cNvPr id="55299" name="Rectangle 3"/>
          <p:cNvSpPr>
            <a:spLocks noGrp="1" noChangeArrowheads="1"/>
          </p:cNvSpPr>
          <p:nvPr>
            <p:ph type="subTitle" idx="1"/>
          </p:nvPr>
        </p:nvSpPr>
        <p:spPr/>
        <p:txBody>
          <a:bodyPr/>
          <a:lstStyle/>
          <a:p>
            <a:pPr eaLnBrk="1" hangingPunct="1"/>
            <a:r>
              <a:rPr lang="en-GB" sz="3600" b="1" smtClean="0"/>
              <a:t>ESTIMATION AND HYPOTHESIS TESTING: TWO POPULATIONS</a:t>
            </a:r>
            <a:endParaRPr lang="en-US" sz="3600" b="1" smtClean="0"/>
          </a:p>
        </p:txBody>
      </p:sp>
      <p:sp>
        <p:nvSpPr>
          <p:cNvPr id="6" name="Text Box 4"/>
          <p:cNvSpPr txBox="1">
            <a:spLocks noChangeArrowheads="1"/>
          </p:cNvSpPr>
          <p:nvPr/>
        </p:nvSpPr>
        <p:spPr bwMode="auto">
          <a:xfrm>
            <a:off x="4049486" y="6172200"/>
            <a:ext cx="47815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7813"/>
            <a:ext cx="8458200" cy="1139825"/>
          </a:xfrm>
        </p:spPr>
        <p:txBody>
          <a:bodyPr/>
          <a:lstStyle/>
          <a:p>
            <a:r>
              <a:rPr lang="en-US" sz="3600" dirty="0" smtClean="0"/>
              <a:t>Testing Hypothesis about Means: Two Sample</a:t>
            </a:r>
            <a:endParaRPr lang="en-US" sz="3600"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2280" y="1752600"/>
            <a:ext cx="8768039" cy="3886200"/>
          </a:xfrm>
          <a:prstGeom prst="rect">
            <a:avLst/>
          </a:prstGeom>
        </p:spPr>
      </p:pic>
    </p:spTree>
    <p:extLst>
      <p:ext uri="{BB962C8B-B14F-4D97-AF65-F5344CB8AC3E}">
        <p14:creationId xmlns:p14="http://schemas.microsoft.com/office/powerpoint/2010/main" val="9169394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7813"/>
            <a:ext cx="8458200" cy="1139825"/>
          </a:xfrm>
        </p:spPr>
        <p:txBody>
          <a:bodyPr/>
          <a:lstStyle/>
          <a:p>
            <a:r>
              <a:rPr lang="en-US" sz="3600" dirty="0" smtClean="0"/>
              <a:t>Testing Hypothesis about Means: Two Sample</a:t>
            </a:r>
            <a:endParaRPr lang="en-US" sz="3600" dirty="0"/>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800" y="1587523"/>
            <a:ext cx="8686800" cy="5066005"/>
          </a:xfrm>
          <a:prstGeom prst="rect">
            <a:avLst/>
          </a:prstGeom>
        </p:spPr>
      </p:pic>
    </p:spTree>
    <p:extLst>
      <p:ext uri="{BB962C8B-B14F-4D97-AF65-F5344CB8AC3E}">
        <p14:creationId xmlns:p14="http://schemas.microsoft.com/office/powerpoint/2010/main" val="1894349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36700" y="0"/>
            <a:ext cx="6058511" cy="6858000"/>
          </a:xfrm>
          <a:prstGeom prst="rect">
            <a:avLst/>
          </a:prstGeom>
        </p:spPr>
      </p:pic>
    </p:spTree>
    <p:extLst>
      <p:ext uri="{BB962C8B-B14F-4D97-AF65-F5344CB8AC3E}">
        <p14:creationId xmlns:p14="http://schemas.microsoft.com/office/powerpoint/2010/main" val="20198184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p:txBody>
          <a:bodyPr/>
          <a:lstStyle/>
          <a:p>
            <a:pPr eaLnBrk="1" hangingPunct="1"/>
            <a:r>
              <a:rPr lang="en-US" sz="2400" dirty="0" smtClean="0"/>
              <a:t>INFERENCES ABOUT THE DIFFERENCE BETWEEN TWO POPULATION MEANS FOR INDEPENDENT SAMPLES: </a:t>
            </a:r>
            <a:r>
              <a:rPr lang="el-GR" sz="2400" dirty="0" smtClean="0">
                <a:latin typeface="Verdana"/>
                <a:ea typeface="Verdana"/>
                <a:cs typeface="Verdana"/>
              </a:rPr>
              <a:t>σ</a:t>
            </a:r>
            <a:r>
              <a:rPr lang="en-US" sz="2400" baseline="-25000" dirty="0" smtClean="0">
                <a:sym typeface="Mathematica1" pitchFamily="2" charset="2"/>
              </a:rPr>
              <a:t>1 </a:t>
            </a:r>
            <a:r>
              <a:rPr lang="en-US" sz="2400" dirty="0" smtClean="0"/>
              <a:t>AND </a:t>
            </a:r>
            <a:r>
              <a:rPr lang="el-GR" sz="2400" dirty="0" smtClean="0">
                <a:latin typeface="Verdana"/>
                <a:ea typeface="Verdana"/>
                <a:cs typeface="Verdana"/>
              </a:rPr>
              <a:t>σ</a:t>
            </a:r>
            <a:r>
              <a:rPr lang="en-US" sz="2400" baseline="-25000" dirty="0" smtClean="0">
                <a:sym typeface="Mathematica1" pitchFamily="2" charset="2"/>
              </a:rPr>
              <a:t>2 </a:t>
            </a:r>
            <a:r>
              <a:rPr lang="en-US" sz="2400" dirty="0" smtClean="0"/>
              <a:t>KNOWN</a:t>
            </a:r>
          </a:p>
        </p:txBody>
      </p:sp>
      <p:sp>
        <p:nvSpPr>
          <p:cNvPr id="57347" name="Rectangle 3"/>
          <p:cNvSpPr>
            <a:spLocks noGrp="1" noChangeArrowheads="1"/>
          </p:cNvSpPr>
          <p:nvPr>
            <p:ph type="body" idx="1"/>
          </p:nvPr>
        </p:nvSpPr>
        <p:spPr>
          <a:xfrm>
            <a:off x="493712" y="1600200"/>
            <a:ext cx="7431088" cy="4114800"/>
          </a:xfrm>
        </p:spPr>
        <p:txBody>
          <a:bodyPr/>
          <a:lstStyle/>
          <a:p>
            <a:pPr eaLnBrk="1" hangingPunct="1"/>
            <a:r>
              <a:rPr lang="en-US" sz="2000" dirty="0" smtClean="0"/>
              <a:t>Independent versus Dependent Samples</a:t>
            </a:r>
          </a:p>
          <a:p>
            <a:pPr eaLnBrk="1" hangingPunct="1"/>
            <a:r>
              <a:rPr lang="en-US" sz="2000" dirty="0" smtClean="0"/>
              <a:t>Mean, Standard Deviation, and Sampling Distribution of </a:t>
            </a:r>
            <a:r>
              <a:rPr lang="en-US" sz="2000" i="1" dirty="0" smtClean="0">
                <a:latin typeface="Times New Roman" charset="0"/>
              </a:rPr>
              <a:t>x</a:t>
            </a:r>
            <a:r>
              <a:rPr lang="en-US" sz="2000" baseline="-25000" dirty="0" smtClean="0"/>
              <a:t>1</a:t>
            </a:r>
            <a:r>
              <a:rPr lang="en-US" sz="2000" dirty="0" smtClean="0"/>
              <a:t> – </a:t>
            </a:r>
            <a:r>
              <a:rPr lang="en-US" sz="2000" i="1" dirty="0" smtClean="0">
                <a:latin typeface="Times New Roman" charset="0"/>
              </a:rPr>
              <a:t>x</a:t>
            </a:r>
            <a:r>
              <a:rPr lang="en-US" sz="2000" baseline="-25000" dirty="0" smtClean="0"/>
              <a:t>2</a:t>
            </a:r>
          </a:p>
          <a:p>
            <a:pPr eaLnBrk="1" hangingPunct="1"/>
            <a:r>
              <a:rPr lang="en-US" sz="2000" dirty="0" smtClean="0"/>
              <a:t>Interval Estimation of </a:t>
            </a:r>
            <a:r>
              <a:rPr lang="el-GR" sz="2000" dirty="0" smtClean="0">
                <a:latin typeface="Times New Roman" charset="0"/>
                <a:cs typeface="Times New Roman" charset="0"/>
              </a:rPr>
              <a:t>μ</a:t>
            </a:r>
            <a:r>
              <a:rPr lang="en-GB" sz="2000" baseline="-25000" dirty="0" smtClean="0">
                <a:cs typeface="Times New Roman" charset="0"/>
              </a:rPr>
              <a:t>1 </a:t>
            </a:r>
            <a:r>
              <a:rPr lang="en-GB" sz="2000" dirty="0" smtClean="0">
                <a:cs typeface="Times New Roman" charset="0"/>
              </a:rPr>
              <a:t>– </a:t>
            </a:r>
            <a:r>
              <a:rPr lang="el-GR" sz="2000" dirty="0" smtClean="0">
                <a:latin typeface="Times New Roman" charset="0"/>
                <a:cs typeface="Times New Roman" charset="0"/>
              </a:rPr>
              <a:t>μ</a:t>
            </a:r>
            <a:r>
              <a:rPr lang="en-GB" sz="2000" baseline="-25000" dirty="0" smtClean="0">
                <a:cs typeface="Times New Roman" charset="0"/>
              </a:rPr>
              <a:t>2</a:t>
            </a:r>
            <a:endParaRPr lang="en-GB" sz="2000" dirty="0" smtClean="0">
              <a:cs typeface="Times New Roman" charset="0"/>
            </a:endParaRPr>
          </a:p>
          <a:p>
            <a:pPr eaLnBrk="1" hangingPunct="1"/>
            <a:r>
              <a:rPr lang="en-GB" sz="2000" dirty="0" smtClean="0">
                <a:cs typeface="Times New Roman" charset="0"/>
              </a:rPr>
              <a:t>Hypothesis Testing About </a:t>
            </a:r>
            <a:r>
              <a:rPr lang="el-GR" sz="2000" dirty="0" smtClean="0">
                <a:latin typeface="Times New Roman" charset="0"/>
                <a:cs typeface="Times New Roman" charset="0"/>
              </a:rPr>
              <a:t>μ</a:t>
            </a:r>
            <a:r>
              <a:rPr lang="en-GB" sz="2000" baseline="-25000" dirty="0" smtClean="0">
                <a:cs typeface="Times New Roman" charset="0"/>
              </a:rPr>
              <a:t>1 </a:t>
            </a:r>
            <a:r>
              <a:rPr lang="en-GB" sz="2000" dirty="0" smtClean="0">
                <a:cs typeface="Times New Roman" charset="0"/>
              </a:rPr>
              <a:t>– </a:t>
            </a:r>
            <a:r>
              <a:rPr lang="el-GR" sz="2000" dirty="0" smtClean="0">
                <a:latin typeface="Times New Roman" charset="0"/>
                <a:cs typeface="Times New Roman" charset="0"/>
              </a:rPr>
              <a:t>μ</a:t>
            </a:r>
            <a:r>
              <a:rPr lang="en-GB" sz="2000" baseline="-25000" dirty="0" smtClean="0">
                <a:cs typeface="Times New Roman" charset="0"/>
              </a:rPr>
              <a:t>2</a:t>
            </a:r>
            <a:endParaRPr lang="el-GR" sz="2000" dirty="0" smtClean="0">
              <a:cs typeface="Times New Roman" charset="0"/>
            </a:endParaRPr>
          </a:p>
        </p:txBody>
      </p:sp>
      <p:sp>
        <p:nvSpPr>
          <p:cNvPr id="57348" name="Line 4"/>
          <p:cNvSpPr>
            <a:spLocks noChangeShapeType="1"/>
          </p:cNvSpPr>
          <p:nvPr/>
        </p:nvSpPr>
        <p:spPr bwMode="auto">
          <a:xfrm>
            <a:off x="1295400" y="2362200"/>
            <a:ext cx="152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7349" name="Line 5"/>
          <p:cNvSpPr>
            <a:spLocks noChangeShapeType="1"/>
          </p:cNvSpPr>
          <p:nvPr/>
        </p:nvSpPr>
        <p:spPr bwMode="auto">
          <a:xfrm>
            <a:off x="1847850" y="2362200"/>
            <a:ext cx="152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 name="Text Box 4"/>
          <p:cNvSpPr txBox="1">
            <a:spLocks noChangeArrowheads="1"/>
          </p:cNvSpPr>
          <p:nvPr/>
        </p:nvSpPr>
        <p:spPr bwMode="auto">
          <a:xfrm>
            <a:off x="4049486" y="6172200"/>
            <a:ext cx="47815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138293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p:txBody>
          <a:bodyPr/>
          <a:lstStyle/>
          <a:p>
            <a:pPr eaLnBrk="1" hangingPunct="1"/>
            <a:r>
              <a:rPr lang="en-US" sz="2800" dirty="0" smtClean="0"/>
              <a:t>Independent versus Dependent Samples</a:t>
            </a:r>
          </a:p>
        </p:txBody>
      </p:sp>
      <p:sp>
        <p:nvSpPr>
          <p:cNvPr id="58371" name="Rectangle 3"/>
          <p:cNvSpPr>
            <a:spLocks noGrp="1" noChangeArrowheads="1"/>
          </p:cNvSpPr>
          <p:nvPr>
            <p:ph type="body" idx="1"/>
          </p:nvPr>
        </p:nvSpPr>
        <p:spPr>
          <a:xfrm>
            <a:off x="112712" y="1524000"/>
            <a:ext cx="8269288" cy="2362200"/>
          </a:xfrm>
        </p:spPr>
        <p:txBody>
          <a:bodyPr/>
          <a:lstStyle/>
          <a:p>
            <a:pPr eaLnBrk="1" hangingPunct="1">
              <a:buFont typeface="Tahoma" charset="0"/>
              <a:buChar char=" "/>
            </a:pPr>
            <a:r>
              <a:rPr lang="en-US" sz="2000" dirty="0" smtClean="0">
                <a:solidFill>
                  <a:schemeClr val="folHlink"/>
                </a:solidFill>
              </a:rPr>
              <a:t>Definition</a:t>
            </a:r>
          </a:p>
          <a:p>
            <a:pPr eaLnBrk="1" hangingPunct="1">
              <a:buFont typeface="Tahoma" charset="0"/>
              <a:buChar char=" "/>
            </a:pPr>
            <a:r>
              <a:rPr lang="en-GB" sz="2000" dirty="0" smtClean="0"/>
              <a:t>Two samples drawn from two populations are </a:t>
            </a:r>
            <a:r>
              <a:rPr lang="en-GB" sz="2000" b="1" i="1" u="sng" dirty="0" smtClean="0">
                <a:solidFill>
                  <a:schemeClr val="hlink"/>
                </a:solidFill>
              </a:rPr>
              <a:t>independent</a:t>
            </a:r>
            <a:r>
              <a:rPr lang="en-GB" sz="2000" dirty="0" smtClean="0"/>
              <a:t> if the selection of one sample from one population does not affect the selection of the second sample from the second population. Otherwise, the samples are </a:t>
            </a:r>
            <a:r>
              <a:rPr lang="en-GB" sz="2000" b="1" i="1" u="sng" dirty="0" smtClean="0">
                <a:solidFill>
                  <a:schemeClr val="hlink"/>
                </a:solidFill>
              </a:rPr>
              <a:t>dependent</a:t>
            </a:r>
            <a:r>
              <a:rPr lang="en-GB" sz="2000" dirty="0" smtClean="0"/>
              <a:t>.</a:t>
            </a:r>
            <a:endParaRPr lang="en-US" sz="2000" dirty="0" smtClean="0"/>
          </a:p>
        </p:txBody>
      </p:sp>
      <p:sp>
        <p:nvSpPr>
          <p:cNvPr id="6" name="Text Box 4"/>
          <p:cNvSpPr txBox="1">
            <a:spLocks noChangeArrowheads="1"/>
          </p:cNvSpPr>
          <p:nvPr/>
        </p:nvSpPr>
        <p:spPr bwMode="auto">
          <a:xfrm>
            <a:off x="4049486" y="6172200"/>
            <a:ext cx="47815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p:txBody>
          <a:bodyPr/>
          <a:lstStyle/>
          <a:p>
            <a:pPr eaLnBrk="1" hangingPunct="1"/>
            <a:r>
              <a:rPr lang="en-US" sz="2800" dirty="0" smtClean="0"/>
              <a:t>Example 10-1</a:t>
            </a:r>
          </a:p>
        </p:txBody>
      </p:sp>
      <p:sp>
        <p:nvSpPr>
          <p:cNvPr id="59395" name="Rectangle 3"/>
          <p:cNvSpPr>
            <a:spLocks noGrp="1" noChangeArrowheads="1"/>
          </p:cNvSpPr>
          <p:nvPr>
            <p:ph type="body" idx="1"/>
          </p:nvPr>
        </p:nvSpPr>
        <p:spPr>
          <a:xfrm>
            <a:off x="133350" y="1447800"/>
            <a:ext cx="8269288" cy="4114800"/>
          </a:xfrm>
        </p:spPr>
        <p:txBody>
          <a:bodyPr/>
          <a:lstStyle/>
          <a:p>
            <a:pPr eaLnBrk="1" hangingPunct="1">
              <a:buFont typeface="Tahoma" charset="0"/>
              <a:buChar char=" "/>
            </a:pPr>
            <a:r>
              <a:rPr lang="en-GB" sz="2000" dirty="0" smtClean="0"/>
              <a:t>Suppose we want to estimate the difference between the mean salaries of all male and all female executives. To do so, we draw two samples, one from the population of male executives and another from the population of female executives. These two samples are </a:t>
            </a:r>
            <a:r>
              <a:rPr lang="en-GB" sz="2000" b="1" i="1" dirty="0" smtClean="0">
                <a:solidFill>
                  <a:schemeClr val="hlink"/>
                </a:solidFill>
              </a:rPr>
              <a:t>independent</a:t>
            </a:r>
            <a:r>
              <a:rPr lang="en-GB" sz="2000" dirty="0" smtClean="0"/>
              <a:t> because they are drawn from two different populations, and the samples have no effect on each other.</a:t>
            </a:r>
            <a:endParaRPr lang="en-US" sz="2000" dirty="0" smtClean="0"/>
          </a:p>
        </p:txBody>
      </p:sp>
      <p:sp>
        <p:nvSpPr>
          <p:cNvPr id="6" name="Text Box 4"/>
          <p:cNvSpPr txBox="1">
            <a:spLocks noChangeArrowheads="1"/>
          </p:cNvSpPr>
          <p:nvPr/>
        </p:nvSpPr>
        <p:spPr bwMode="auto">
          <a:xfrm>
            <a:off x="4049486" y="6172200"/>
            <a:ext cx="47815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p:txBody>
          <a:bodyPr/>
          <a:lstStyle/>
          <a:p>
            <a:pPr eaLnBrk="1" hangingPunct="1"/>
            <a:r>
              <a:rPr lang="en-US" sz="2800" dirty="0" smtClean="0"/>
              <a:t>Example 10-2</a:t>
            </a:r>
          </a:p>
        </p:txBody>
      </p:sp>
      <p:sp>
        <p:nvSpPr>
          <p:cNvPr id="60419" name="Rectangle 3"/>
          <p:cNvSpPr>
            <a:spLocks noGrp="1" noChangeArrowheads="1"/>
          </p:cNvSpPr>
          <p:nvPr>
            <p:ph type="body" idx="1"/>
          </p:nvPr>
        </p:nvSpPr>
        <p:spPr>
          <a:xfrm>
            <a:off x="133350" y="1466850"/>
            <a:ext cx="8193087" cy="2667000"/>
          </a:xfrm>
        </p:spPr>
        <p:txBody>
          <a:bodyPr/>
          <a:lstStyle/>
          <a:p>
            <a:pPr eaLnBrk="1" hangingPunct="1">
              <a:lnSpc>
                <a:spcPct val="90000"/>
              </a:lnSpc>
              <a:buFont typeface="Tahoma" charset="0"/>
              <a:buChar char=" "/>
            </a:pPr>
            <a:r>
              <a:rPr lang="en-GB" sz="2000" dirty="0" smtClean="0"/>
              <a:t>Suppose we want to estimate the difference between the mean weights of all participants before and after a weight loss program. To accomplish this, suppose we take a sample of 40 participants and measure their weights before and after the completion of this program. Note that these two samples include the same 40 participants. This is an example of two </a:t>
            </a:r>
            <a:r>
              <a:rPr lang="en-GB" sz="2000" b="1" i="1" dirty="0" smtClean="0">
                <a:solidFill>
                  <a:schemeClr val="hlink"/>
                </a:solidFill>
              </a:rPr>
              <a:t>dependent</a:t>
            </a:r>
            <a:r>
              <a:rPr lang="en-GB" sz="2000" dirty="0" smtClean="0"/>
              <a:t> samples. Such samples are also called </a:t>
            </a:r>
            <a:r>
              <a:rPr lang="en-GB" sz="2000" b="1" i="1" dirty="0" smtClean="0">
                <a:solidFill>
                  <a:schemeClr val="hlink"/>
                </a:solidFill>
              </a:rPr>
              <a:t>paired</a:t>
            </a:r>
            <a:r>
              <a:rPr lang="en-GB" sz="2000" dirty="0" smtClean="0"/>
              <a:t> or </a:t>
            </a:r>
            <a:r>
              <a:rPr lang="en-GB" sz="2000" b="1" i="1" dirty="0" smtClean="0">
                <a:solidFill>
                  <a:schemeClr val="hlink"/>
                </a:solidFill>
              </a:rPr>
              <a:t>matched samples</a:t>
            </a:r>
            <a:r>
              <a:rPr lang="en-GB" sz="2000" dirty="0" smtClean="0"/>
              <a:t>.  </a:t>
            </a:r>
            <a:endParaRPr lang="en-US" sz="2000" dirty="0" smtClean="0"/>
          </a:p>
        </p:txBody>
      </p:sp>
      <p:sp>
        <p:nvSpPr>
          <p:cNvPr id="6" name="Text Box 4"/>
          <p:cNvSpPr txBox="1">
            <a:spLocks noChangeArrowheads="1"/>
          </p:cNvSpPr>
          <p:nvPr/>
        </p:nvSpPr>
        <p:spPr bwMode="auto">
          <a:xfrm>
            <a:off x="4049486" y="6172200"/>
            <a:ext cx="47815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a:xfrm>
            <a:off x="457200" y="277813"/>
            <a:ext cx="7772400" cy="1139825"/>
          </a:xfrm>
        </p:spPr>
        <p:txBody>
          <a:bodyPr/>
          <a:lstStyle/>
          <a:p>
            <a:pPr eaLnBrk="1" hangingPunct="1"/>
            <a:r>
              <a:rPr lang="en-US" sz="2800" dirty="0" smtClean="0"/>
              <a:t>Mean, Standard Deviation, and Sampling Distribution of  </a:t>
            </a:r>
            <a:r>
              <a:rPr lang="en-US" sz="2800" i="1" dirty="0" smtClean="0">
                <a:latin typeface="Times New Roman" charset="0"/>
              </a:rPr>
              <a:t>x</a:t>
            </a:r>
            <a:r>
              <a:rPr lang="en-US" sz="2800" baseline="-25000" dirty="0" smtClean="0"/>
              <a:t>1</a:t>
            </a:r>
            <a:r>
              <a:rPr lang="en-US" sz="2800" dirty="0" smtClean="0"/>
              <a:t> – </a:t>
            </a:r>
            <a:r>
              <a:rPr lang="en-US" sz="2800" i="1" dirty="0" smtClean="0">
                <a:latin typeface="Times New Roman" charset="0"/>
              </a:rPr>
              <a:t>x</a:t>
            </a:r>
            <a:r>
              <a:rPr lang="en-US" sz="2800" baseline="-25000" dirty="0" smtClean="0"/>
              <a:t>2</a:t>
            </a:r>
            <a:endParaRPr lang="en-US" sz="2800" dirty="0" smtClean="0"/>
          </a:p>
        </p:txBody>
      </p:sp>
      <p:sp>
        <p:nvSpPr>
          <p:cNvPr id="61443" name="Rectangle 3"/>
          <p:cNvSpPr>
            <a:spLocks noGrp="1" noChangeArrowheads="1"/>
          </p:cNvSpPr>
          <p:nvPr>
            <p:ph type="body" idx="1"/>
          </p:nvPr>
        </p:nvSpPr>
        <p:spPr>
          <a:xfrm>
            <a:off x="493712" y="1581150"/>
            <a:ext cx="8193088" cy="4648200"/>
          </a:xfrm>
        </p:spPr>
        <p:txBody>
          <a:bodyPr/>
          <a:lstStyle/>
          <a:p>
            <a:pPr marL="533400" indent="-533400" eaLnBrk="1" hangingPunct="1">
              <a:lnSpc>
                <a:spcPct val="90000"/>
              </a:lnSpc>
              <a:buFont typeface="Wingdings" charset="2"/>
              <a:buNone/>
            </a:pPr>
            <a:r>
              <a:rPr lang="en-US" sz="2000" b="1" dirty="0" smtClean="0">
                <a:solidFill>
                  <a:schemeClr val="hlink"/>
                </a:solidFill>
              </a:rPr>
              <a:t>Three conditions:</a:t>
            </a:r>
          </a:p>
          <a:p>
            <a:pPr marL="533400" indent="-533400" eaLnBrk="1" hangingPunct="1">
              <a:lnSpc>
                <a:spcPct val="90000"/>
              </a:lnSpc>
              <a:buFont typeface="Wingdings" charset="2"/>
              <a:buAutoNum type="arabicPeriod"/>
            </a:pPr>
            <a:r>
              <a:rPr lang="en-US" sz="2000" dirty="0" smtClean="0"/>
              <a:t>The two samples are independent</a:t>
            </a:r>
          </a:p>
          <a:p>
            <a:pPr marL="533400" indent="-533400" eaLnBrk="1" hangingPunct="1">
              <a:lnSpc>
                <a:spcPct val="90000"/>
              </a:lnSpc>
              <a:buFont typeface="Wingdings" charset="2"/>
              <a:buAutoNum type="arabicPeriod"/>
            </a:pPr>
            <a:r>
              <a:rPr lang="en-US" sz="2000" dirty="0" smtClean="0"/>
              <a:t>The standard deviations σ</a:t>
            </a:r>
            <a:r>
              <a:rPr lang="en-US" sz="2000" baseline="-25000" dirty="0" smtClean="0">
                <a:sym typeface="Mathematica1" pitchFamily="2" charset="2"/>
              </a:rPr>
              <a:t>1</a:t>
            </a:r>
            <a:r>
              <a:rPr lang="en-US" sz="2000" dirty="0" smtClean="0">
                <a:sym typeface="Mathematica1" pitchFamily="2" charset="2"/>
              </a:rPr>
              <a:t> and σ</a:t>
            </a:r>
            <a:r>
              <a:rPr lang="en-US" sz="2000" baseline="-25000" dirty="0" smtClean="0">
                <a:sym typeface="Mathematica1" pitchFamily="2" charset="2"/>
              </a:rPr>
              <a:t>2</a:t>
            </a:r>
            <a:r>
              <a:rPr lang="en-US" sz="2000" dirty="0" smtClean="0">
                <a:sym typeface="Mathematica1" pitchFamily="2" charset="2"/>
              </a:rPr>
              <a:t> of the two populations are known</a:t>
            </a:r>
          </a:p>
          <a:p>
            <a:pPr marL="533400" indent="-533400" eaLnBrk="1" hangingPunct="1">
              <a:lnSpc>
                <a:spcPct val="90000"/>
              </a:lnSpc>
              <a:buFont typeface="Wingdings" charset="2"/>
              <a:buAutoNum type="arabicPeriod"/>
            </a:pPr>
            <a:r>
              <a:rPr lang="en-US" sz="2000" dirty="0" smtClean="0">
                <a:sym typeface="Mathematica1" pitchFamily="2" charset="2"/>
              </a:rPr>
              <a:t>At least one of the following conditions is fulfilled:</a:t>
            </a:r>
          </a:p>
          <a:p>
            <a:pPr marL="533400" indent="-533400" eaLnBrk="1" hangingPunct="1">
              <a:lnSpc>
                <a:spcPct val="90000"/>
              </a:lnSpc>
              <a:buFont typeface="Wingdings" charset="2"/>
              <a:buNone/>
            </a:pPr>
            <a:r>
              <a:rPr lang="en-US" sz="2000" dirty="0" smtClean="0">
                <a:sym typeface="Mathematica1" pitchFamily="2" charset="2"/>
              </a:rPr>
              <a:t>    </a:t>
            </a:r>
            <a:r>
              <a:rPr lang="en-US" sz="2000" dirty="0" err="1" smtClean="0">
                <a:sym typeface="Mathematica1" pitchFamily="2" charset="2"/>
              </a:rPr>
              <a:t>i</a:t>
            </a:r>
            <a:r>
              <a:rPr lang="en-US" sz="2000" dirty="0" smtClean="0">
                <a:sym typeface="Mathematica1" pitchFamily="2" charset="2"/>
              </a:rPr>
              <a:t>. Both samples are large (</a:t>
            </a:r>
            <a:r>
              <a:rPr lang="en-US" sz="2000" dirty="0" err="1" smtClean="0">
                <a:sym typeface="Mathematica1" pitchFamily="2" charset="2"/>
              </a:rPr>
              <a:t>i</a:t>
            </a:r>
            <a:r>
              <a:rPr lang="en-US" sz="2000" dirty="0" smtClean="0">
                <a:sym typeface="Mathematica1" pitchFamily="2" charset="2"/>
              </a:rPr>
              <a:t>..e., </a:t>
            </a:r>
            <a:r>
              <a:rPr lang="en-US" sz="2000" i="1" dirty="0" smtClean="0">
                <a:sym typeface="Mathematica1" pitchFamily="2" charset="2"/>
              </a:rPr>
              <a:t>n</a:t>
            </a:r>
            <a:r>
              <a:rPr lang="en-US" sz="2000" i="1" baseline="-25000" dirty="0" smtClean="0">
                <a:sym typeface="Mathematica1" pitchFamily="2" charset="2"/>
              </a:rPr>
              <a:t>1</a:t>
            </a:r>
            <a:r>
              <a:rPr lang="en-US" sz="2000" dirty="0" smtClean="0">
                <a:sym typeface="Mathematica1" pitchFamily="2" charset="2"/>
              </a:rPr>
              <a:t> ≥ 30 and </a:t>
            </a:r>
            <a:r>
              <a:rPr lang="en-US" sz="2000" i="1" dirty="0" smtClean="0">
                <a:sym typeface="Mathematica1" pitchFamily="2" charset="2"/>
              </a:rPr>
              <a:t>n</a:t>
            </a:r>
            <a:r>
              <a:rPr lang="en-US" sz="2000" i="1" baseline="-25000" dirty="0" smtClean="0">
                <a:sym typeface="Mathematica1" pitchFamily="2" charset="2"/>
              </a:rPr>
              <a:t>2</a:t>
            </a:r>
            <a:r>
              <a:rPr lang="en-US" sz="2000" dirty="0" smtClean="0">
                <a:sym typeface="Mathematica1" pitchFamily="2" charset="2"/>
              </a:rPr>
              <a:t> ≥ 30)</a:t>
            </a:r>
          </a:p>
          <a:p>
            <a:pPr marL="533400" indent="-533400" eaLnBrk="1" hangingPunct="1">
              <a:lnSpc>
                <a:spcPct val="90000"/>
              </a:lnSpc>
              <a:buFont typeface="Wingdings" charset="2"/>
              <a:buNone/>
            </a:pPr>
            <a:r>
              <a:rPr lang="en-US" sz="2000" dirty="0" smtClean="0">
                <a:sym typeface="Mathematica1" pitchFamily="2" charset="2"/>
              </a:rPr>
              <a:t>    ii. If either one or both sample sizes are small, then both populations from which the samples are drawn are normally distributed</a:t>
            </a:r>
          </a:p>
          <a:p>
            <a:pPr marL="533400" indent="-533400" eaLnBrk="1" hangingPunct="1">
              <a:lnSpc>
                <a:spcPct val="90000"/>
              </a:lnSpc>
              <a:buFont typeface="Wingdings" charset="2"/>
              <a:buNone/>
            </a:pPr>
            <a:r>
              <a:rPr lang="en-US" sz="2000" dirty="0" smtClean="0">
                <a:sym typeface="Mathematica1" pitchFamily="2" charset="2"/>
              </a:rPr>
              <a:t>Then the sampling distribution of  </a:t>
            </a:r>
            <a:r>
              <a:rPr lang="en-US" sz="2000" i="1" dirty="0" smtClean="0">
                <a:latin typeface="Times New Roman" charset="0"/>
                <a:sym typeface="Mathematica1" pitchFamily="2" charset="2"/>
              </a:rPr>
              <a:t>x</a:t>
            </a:r>
            <a:r>
              <a:rPr lang="en-US" sz="2000" baseline="-25000" dirty="0" smtClean="0">
                <a:sym typeface="Mathematica1" pitchFamily="2" charset="2"/>
              </a:rPr>
              <a:t>1 </a:t>
            </a:r>
            <a:r>
              <a:rPr lang="en-US" sz="2000" dirty="0" smtClean="0">
                <a:sym typeface="Mathematica1" pitchFamily="2" charset="2"/>
              </a:rPr>
              <a:t>- </a:t>
            </a:r>
            <a:r>
              <a:rPr lang="en-US" sz="2000" i="1" dirty="0" smtClean="0">
                <a:latin typeface="Times New Roman" charset="0"/>
                <a:sym typeface="Mathematica1" pitchFamily="2" charset="2"/>
              </a:rPr>
              <a:t>x</a:t>
            </a:r>
            <a:r>
              <a:rPr lang="en-US" sz="2000" baseline="-25000" dirty="0" smtClean="0">
                <a:sym typeface="Mathematica1" pitchFamily="2" charset="2"/>
              </a:rPr>
              <a:t>2</a:t>
            </a:r>
            <a:r>
              <a:rPr lang="en-US" sz="2000" dirty="0" smtClean="0">
                <a:sym typeface="Mathematica1" pitchFamily="2" charset="2"/>
              </a:rPr>
              <a:t> is (approximately) normally distributed.</a:t>
            </a:r>
          </a:p>
        </p:txBody>
      </p:sp>
      <p:sp>
        <p:nvSpPr>
          <p:cNvPr id="61444" name="Line 4"/>
          <p:cNvSpPr>
            <a:spLocks noChangeShapeType="1"/>
          </p:cNvSpPr>
          <p:nvPr/>
        </p:nvSpPr>
        <p:spPr bwMode="auto">
          <a:xfrm>
            <a:off x="990600" y="1028700"/>
            <a:ext cx="304800" cy="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1445" name="Line 5"/>
          <p:cNvSpPr>
            <a:spLocks noChangeShapeType="1"/>
          </p:cNvSpPr>
          <p:nvPr/>
        </p:nvSpPr>
        <p:spPr bwMode="auto">
          <a:xfrm>
            <a:off x="1657350" y="1028700"/>
            <a:ext cx="304800" cy="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1447" name="Line 9"/>
          <p:cNvSpPr>
            <a:spLocks noChangeShapeType="1"/>
          </p:cNvSpPr>
          <p:nvPr/>
        </p:nvSpPr>
        <p:spPr bwMode="auto">
          <a:xfrm>
            <a:off x="4963008" y="4476750"/>
            <a:ext cx="208183"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1448" name="Line 10"/>
          <p:cNvSpPr>
            <a:spLocks noChangeShapeType="1"/>
          </p:cNvSpPr>
          <p:nvPr/>
        </p:nvSpPr>
        <p:spPr bwMode="auto">
          <a:xfrm>
            <a:off x="5467350" y="4476750"/>
            <a:ext cx="189257"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 name="Text Box 4"/>
          <p:cNvSpPr txBox="1">
            <a:spLocks noChangeArrowheads="1"/>
          </p:cNvSpPr>
          <p:nvPr/>
        </p:nvSpPr>
        <p:spPr bwMode="auto">
          <a:xfrm>
            <a:off x="4049486" y="6172200"/>
            <a:ext cx="47815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9" name="Rectangle 2"/>
          <p:cNvSpPr>
            <a:spLocks noGrp="1" noChangeArrowheads="1"/>
          </p:cNvSpPr>
          <p:nvPr>
            <p:ph type="title"/>
          </p:nvPr>
        </p:nvSpPr>
        <p:spPr>
          <a:xfrm>
            <a:off x="541338" y="304800"/>
            <a:ext cx="7764462" cy="1066800"/>
          </a:xfrm>
        </p:spPr>
        <p:txBody>
          <a:bodyPr/>
          <a:lstStyle/>
          <a:p>
            <a:pPr eaLnBrk="1" hangingPunct="1"/>
            <a:r>
              <a:rPr lang="en-US" sz="2800" dirty="0" smtClean="0"/>
              <a:t>Sampling Distribution, Mean, and Standard Deviation of  </a:t>
            </a:r>
            <a:r>
              <a:rPr lang="en-US" sz="2800" i="1" dirty="0" smtClean="0">
                <a:latin typeface="Times New Roman" charset="0"/>
              </a:rPr>
              <a:t>x</a:t>
            </a:r>
            <a:r>
              <a:rPr lang="en-US" sz="2800" baseline="-25000" dirty="0" smtClean="0"/>
              <a:t>1</a:t>
            </a:r>
            <a:r>
              <a:rPr lang="en-US" sz="2800" dirty="0" smtClean="0"/>
              <a:t> – </a:t>
            </a:r>
            <a:r>
              <a:rPr lang="en-US" sz="2800" i="1" dirty="0" smtClean="0">
                <a:latin typeface="Times New Roman" charset="0"/>
              </a:rPr>
              <a:t>x</a:t>
            </a:r>
            <a:r>
              <a:rPr lang="en-US" sz="2800" baseline="-25000" dirty="0" smtClean="0"/>
              <a:t>2</a:t>
            </a:r>
            <a:endParaRPr lang="en-US" sz="2800" dirty="0" smtClean="0"/>
          </a:p>
        </p:txBody>
      </p:sp>
      <p:sp>
        <p:nvSpPr>
          <p:cNvPr id="1030" name="Rectangle 3"/>
          <p:cNvSpPr>
            <a:spLocks noGrp="1" noChangeArrowheads="1"/>
          </p:cNvSpPr>
          <p:nvPr>
            <p:ph type="body" idx="1"/>
          </p:nvPr>
        </p:nvSpPr>
        <p:spPr>
          <a:xfrm>
            <a:off x="150812" y="1524000"/>
            <a:ext cx="8345488" cy="2133600"/>
          </a:xfrm>
        </p:spPr>
        <p:txBody>
          <a:bodyPr/>
          <a:lstStyle/>
          <a:p>
            <a:pPr eaLnBrk="1" hangingPunct="1">
              <a:buFont typeface="Tahoma" charset="0"/>
              <a:buChar char=" "/>
            </a:pPr>
            <a:r>
              <a:rPr lang="en-GB" sz="2000" dirty="0" smtClean="0"/>
              <a:t>When the conditions listed on the previous page are satisfied, the </a:t>
            </a:r>
            <a:r>
              <a:rPr lang="en-GB" sz="2000" b="1" i="1" u="sng" dirty="0" smtClean="0">
                <a:solidFill>
                  <a:schemeClr val="hlink"/>
                </a:solidFill>
              </a:rPr>
              <a:t>sampling distribution of</a:t>
            </a:r>
            <a:r>
              <a:rPr lang="en-GB" sz="2000" dirty="0" smtClean="0"/>
              <a:t>             is (approximately) normal with its </a:t>
            </a:r>
            <a:r>
              <a:rPr lang="en-GB" sz="2000" b="1" i="1" u="sng" dirty="0" smtClean="0">
                <a:solidFill>
                  <a:schemeClr val="hlink"/>
                </a:solidFill>
              </a:rPr>
              <a:t>mean</a:t>
            </a:r>
            <a:r>
              <a:rPr lang="en-GB" sz="2000" dirty="0" smtClean="0"/>
              <a:t> and </a:t>
            </a:r>
            <a:r>
              <a:rPr lang="en-GB" sz="2000" b="1" i="1" u="sng" dirty="0" smtClean="0">
                <a:solidFill>
                  <a:schemeClr val="hlink"/>
                </a:solidFill>
              </a:rPr>
              <a:t>standard deviation</a:t>
            </a:r>
            <a:r>
              <a:rPr lang="en-GB" sz="2000" dirty="0" smtClean="0"/>
              <a:t> as follows:</a:t>
            </a:r>
            <a:endParaRPr lang="en-US" sz="2000" dirty="0" smtClean="0"/>
          </a:p>
        </p:txBody>
      </p:sp>
      <p:sp>
        <p:nvSpPr>
          <p:cNvPr id="1031" name="Line 4"/>
          <p:cNvSpPr>
            <a:spLocks noChangeShapeType="1"/>
          </p:cNvSpPr>
          <p:nvPr/>
        </p:nvSpPr>
        <p:spPr bwMode="auto">
          <a:xfrm flipV="1">
            <a:off x="1066800" y="990600"/>
            <a:ext cx="208183" cy="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32" name="Line 5"/>
          <p:cNvSpPr>
            <a:spLocks noChangeShapeType="1"/>
          </p:cNvSpPr>
          <p:nvPr/>
        </p:nvSpPr>
        <p:spPr bwMode="auto">
          <a:xfrm flipV="1">
            <a:off x="1714500" y="990600"/>
            <a:ext cx="208183" cy="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en-US"/>
          </a:p>
        </p:txBody>
      </p:sp>
      <p:graphicFrame>
        <p:nvGraphicFramePr>
          <p:cNvPr id="1026" name="Object 2"/>
          <p:cNvGraphicFramePr>
            <a:graphicFrameLocks noChangeAspect="1"/>
          </p:cNvGraphicFramePr>
          <p:nvPr>
            <p:extLst>
              <p:ext uri="{D42A27DB-BD31-4B8C-83A1-F6EECF244321}">
                <p14:modId xmlns:p14="http://schemas.microsoft.com/office/powerpoint/2010/main" val="3986634590"/>
              </p:ext>
            </p:extLst>
          </p:nvPr>
        </p:nvGraphicFramePr>
        <p:xfrm>
          <a:off x="5888037" y="1811033"/>
          <a:ext cx="1025525" cy="474967"/>
        </p:xfrm>
        <a:graphic>
          <a:graphicData uri="http://schemas.openxmlformats.org/presentationml/2006/ole">
            <mc:AlternateContent xmlns:mc="http://schemas.openxmlformats.org/markup-compatibility/2006">
              <mc:Choice xmlns:v="urn:schemas-microsoft-com:vml" Requires="v">
                <p:oleObj spid="_x0000_s1154" name="Equation" r:id="rId3" imgW="495000" imgH="228600" progId="">
                  <p:embed/>
                </p:oleObj>
              </mc:Choice>
              <mc:Fallback>
                <p:oleObj name="Equation" r:id="rId3" imgW="495000" imgH="228600" progId="">
                  <p:embed/>
                  <p:pic>
                    <p:nvPicPr>
                      <p:cNvPr id="0" name="Picture 10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88037" y="1811033"/>
                        <a:ext cx="1025525" cy="47496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27" name="Object 3"/>
          <p:cNvGraphicFramePr>
            <a:graphicFrameLocks noChangeAspect="1"/>
          </p:cNvGraphicFramePr>
          <p:nvPr>
            <p:extLst>
              <p:ext uri="{D42A27DB-BD31-4B8C-83A1-F6EECF244321}">
                <p14:modId xmlns:p14="http://schemas.microsoft.com/office/powerpoint/2010/main" val="1261077131"/>
              </p:ext>
            </p:extLst>
          </p:nvPr>
        </p:nvGraphicFramePr>
        <p:xfrm>
          <a:off x="1123805" y="3200400"/>
          <a:ext cx="2533795" cy="609509"/>
        </p:xfrm>
        <a:graphic>
          <a:graphicData uri="http://schemas.openxmlformats.org/presentationml/2006/ole">
            <mc:AlternateContent xmlns:mc="http://schemas.openxmlformats.org/markup-compatibility/2006">
              <mc:Choice xmlns:v="urn:schemas-microsoft-com:vml" Requires="v">
                <p:oleObj spid="_x0000_s1155" name="Equation" r:id="rId5" imgW="1002960" imgH="241200" progId="">
                  <p:embed/>
                </p:oleObj>
              </mc:Choice>
              <mc:Fallback>
                <p:oleObj name="Equation" r:id="rId5" imgW="1002960" imgH="241200" progId="">
                  <p:embed/>
                  <p:pic>
                    <p:nvPicPr>
                      <p:cNvPr id="0" name="Picture 10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23805" y="3200400"/>
                        <a:ext cx="2533795" cy="60950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28" name="Object 4"/>
          <p:cNvGraphicFramePr>
            <a:graphicFrameLocks noChangeAspect="1"/>
          </p:cNvGraphicFramePr>
          <p:nvPr>
            <p:extLst>
              <p:ext uri="{D42A27DB-BD31-4B8C-83A1-F6EECF244321}">
                <p14:modId xmlns:p14="http://schemas.microsoft.com/office/powerpoint/2010/main" val="3278373150"/>
              </p:ext>
            </p:extLst>
          </p:nvPr>
        </p:nvGraphicFramePr>
        <p:xfrm>
          <a:off x="5410200" y="2971800"/>
          <a:ext cx="2841048" cy="1143000"/>
        </p:xfrm>
        <a:graphic>
          <a:graphicData uri="http://schemas.openxmlformats.org/presentationml/2006/ole">
            <mc:AlternateContent xmlns:mc="http://schemas.openxmlformats.org/markup-compatibility/2006">
              <mc:Choice xmlns:v="urn:schemas-microsoft-com:vml" Requires="v">
                <p:oleObj spid="_x0000_s1156" name="Equation" r:id="rId7" imgW="1231560" imgH="495000" progId="">
                  <p:embed/>
                </p:oleObj>
              </mc:Choice>
              <mc:Fallback>
                <p:oleObj name="Equation" r:id="rId7" imgW="1231560" imgH="495000" progId="">
                  <p:embed/>
                  <p:pic>
                    <p:nvPicPr>
                      <p:cNvPr id="0" name="Picture 10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410200" y="2971800"/>
                        <a:ext cx="2841048" cy="1143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33" name="Text Box 9"/>
          <p:cNvSpPr txBox="1">
            <a:spLocks noChangeArrowheads="1"/>
          </p:cNvSpPr>
          <p:nvPr/>
        </p:nvSpPr>
        <p:spPr bwMode="auto">
          <a:xfrm>
            <a:off x="4177461" y="3276600"/>
            <a:ext cx="132247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charset="0"/>
                <a:ea typeface="ＭＳ Ｐゴシック" charset="-128"/>
              </a:defRPr>
            </a:lvl1pPr>
            <a:lvl2pPr marL="742950" indent="-285750">
              <a:defRPr>
                <a:solidFill>
                  <a:schemeClr val="tx1"/>
                </a:solidFill>
                <a:latin typeface="Verdana" charset="0"/>
                <a:ea typeface="ＭＳ Ｐゴシック" charset="-128"/>
              </a:defRPr>
            </a:lvl2pPr>
            <a:lvl3pPr marL="1143000" indent="-228600">
              <a:defRPr>
                <a:solidFill>
                  <a:schemeClr val="tx1"/>
                </a:solidFill>
                <a:latin typeface="Verdana" charset="0"/>
                <a:ea typeface="ＭＳ Ｐゴシック" charset="-128"/>
              </a:defRPr>
            </a:lvl3pPr>
            <a:lvl4pPr marL="1600200" indent="-228600">
              <a:defRPr>
                <a:solidFill>
                  <a:schemeClr val="tx1"/>
                </a:solidFill>
                <a:latin typeface="Verdana" charset="0"/>
                <a:ea typeface="ＭＳ Ｐゴシック" charset="-128"/>
              </a:defRPr>
            </a:lvl4pPr>
            <a:lvl5pPr marL="2057400" indent="-228600">
              <a:defRPr>
                <a:solidFill>
                  <a:schemeClr val="tx1"/>
                </a:solidFill>
                <a:latin typeface="Verdana" charset="0"/>
                <a:ea typeface="ＭＳ Ｐゴシック" charset="-128"/>
              </a:defRPr>
            </a:lvl5pPr>
            <a:lvl6pPr marL="2514600" indent="-228600" eaLnBrk="0" fontAlgn="base" hangingPunct="0">
              <a:spcBef>
                <a:spcPct val="0"/>
              </a:spcBef>
              <a:spcAft>
                <a:spcPct val="0"/>
              </a:spcAft>
              <a:defRPr>
                <a:solidFill>
                  <a:schemeClr val="tx1"/>
                </a:solidFill>
                <a:latin typeface="Verdana" charset="0"/>
                <a:ea typeface="ＭＳ Ｐゴシック" charset="-128"/>
              </a:defRPr>
            </a:lvl6pPr>
            <a:lvl7pPr marL="2971800" indent="-228600" eaLnBrk="0" fontAlgn="base" hangingPunct="0">
              <a:spcBef>
                <a:spcPct val="0"/>
              </a:spcBef>
              <a:spcAft>
                <a:spcPct val="0"/>
              </a:spcAft>
              <a:defRPr>
                <a:solidFill>
                  <a:schemeClr val="tx1"/>
                </a:solidFill>
                <a:latin typeface="Verdana" charset="0"/>
                <a:ea typeface="ＭＳ Ｐゴシック" charset="-128"/>
              </a:defRPr>
            </a:lvl7pPr>
            <a:lvl8pPr marL="3429000" indent="-228600" eaLnBrk="0" fontAlgn="base" hangingPunct="0">
              <a:spcBef>
                <a:spcPct val="0"/>
              </a:spcBef>
              <a:spcAft>
                <a:spcPct val="0"/>
              </a:spcAft>
              <a:defRPr>
                <a:solidFill>
                  <a:schemeClr val="tx1"/>
                </a:solidFill>
                <a:latin typeface="Verdana" charset="0"/>
                <a:ea typeface="ＭＳ Ｐゴシック" charset="-128"/>
              </a:defRPr>
            </a:lvl8pPr>
            <a:lvl9pPr marL="3886200" indent="-228600" eaLnBrk="0" fontAlgn="base" hangingPunct="0">
              <a:spcBef>
                <a:spcPct val="0"/>
              </a:spcBef>
              <a:spcAft>
                <a:spcPct val="0"/>
              </a:spcAft>
              <a:defRPr>
                <a:solidFill>
                  <a:schemeClr val="tx1"/>
                </a:solidFill>
                <a:latin typeface="Verdana" charset="0"/>
                <a:ea typeface="ＭＳ Ｐゴシック" charset="-128"/>
              </a:defRPr>
            </a:lvl9pPr>
          </a:lstStyle>
          <a:p>
            <a:pPr>
              <a:spcBef>
                <a:spcPct val="50000"/>
              </a:spcBef>
            </a:pPr>
            <a:r>
              <a:rPr lang="en-US" sz="2400" dirty="0">
                <a:latin typeface="Tahoma" charset="0"/>
              </a:rPr>
              <a:t> </a:t>
            </a:r>
            <a:r>
              <a:rPr lang="en-US" sz="2000" dirty="0">
                <a:latin typeface="Tahoma" charset="0"/>
              </a:rPr>
              <a:t>and</a:t>
            </a:r>
          </a:p>
        </p:txBody>
      </p:sp>
      <p:sp>
        <p:nvSpPr>
          <p:cNvPr id="12" name="Text Box 4"/>
          <p:cNvSpPr txBox="1">
            <a:spLocks noChangeArrowheads="1"/>
          </p:cNvSpPr>
          <p:nvPr/>
        </p:nvSpPr>
        <p:spPr bwMode="auto">
          <a:xfrm>
            <a:off x="4049486" y="6172200"/>
            <a:ext cx="47815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3" name="Rectangle 2"/>
          <p:cNvSpPr>
            <a:spLocks noGrp="1" noChangeArrowheads="1"/>
          </p:cNvSpPr>
          <p:nvPr>
            <p:ph type="title"/>
          </p:nvPr>
        </p:nvSpPr>
        <p:spPr/>
        <p:txBody>
          <a:bodyPr/>
          <a:lstStyle/>
          <a:p>
            <a:pPr eaLnBrk="1" hangingPunct="1"/>
            <a:r>
              <a:rPr lang="en-US" sz="2800" dirty="0" smtClean="0"/>
              <a:t>Confidence Interval for </a:t>
            </a:r>
            <a:r>
              <a:rPr lang="el-GR" sz="2800" dirty="0" smtClean="0">
                <a:latin typeface="Times New Roman" charset="0"/>
                <a:cs typeface="Times New Roman" charset="0"/>
              </a:rPr>
              <a:t>μ</a:t>
            </a:r>
            <a:r>
              <a:rPr lang="en-GB" sz="2800" baseline="-25000" dirty="0" smtClean="0">
                <a:cs typeface="Times New Roman" charset="0"/>
              </a:rPr>
              <a:t>1</a:t>
            </a:r>
            <a:r>
              <a:rPr lang="en-GB" sz="2800" dirty="0" smtClean="0">
                <a:cs typeface="Times New Roman" charset="0"/>
              </a:rPr>
              <a:t> – </a:t>
            </a:r>
            <a:r>
              <a:rPr lang="el-GR" sz="2800" dirty="0" smtClean="0">
                <a:latin typeface="Times New Roman" charset="0"/>
                <a:cs typeface="Times New Roman" charset="0"/>
              </a:rPr>
              <a:t>μ</a:t>
            </a:r>
            <a:r>
              <a:rPr lang="en-GB" sz="2800" baseline="-25000" dirty="0" smtClean="0">
                <a:cs typeface="Times New Roman" charset="0"/>
              </a:rPr>
              <a:t>2</a:t>
            </a:r>
            <a:endParaRPr lang="el-GR" sz="2800" dirty="0" smtClean="0">
              <a:latin typeface="Times New Roman" charset="0"/>
              <a:cs typeface="Times New Roman" charset="0"/>
            </a:endParaRPr>
          </a:p>
        </p:txBody>
      </p:sp>
      <p:sp>
        <p:nvSpPr>
          <p:cNvPr id="2054" name="Rectangle 3"/>
          <p:cNvSpPr>
            <a:spLocks noGrp="1" noChangeArrowheads="1"/>
          </p:cNvSpPr>
          <p:nvPr>
            <p:ph type="body" idx="1"/>
          </p:nvPr>
        </p:nvSpPr>
        <p:spPr>
          <a:xfrm>
            <a:off x="131763" y="1560512"/>
            <a:ext cx="8574087" cy="3468688"/>
          </a:xfrm>
        </p:spPr>
        <p:txBody>
          <a:bodyPr/>
          <a:lstStyle/>
          <a:p>
            <a:pPr eaLnBrk="1" hangingPunct="1">
              <a:lnSpc>
                <a:spcPct val="80000"/>
              </a:lnSpc>
              <a:buFont typeface="Tahoma" charset="0"/>
              <a:buChar char=" "/>
            </a:pPr>
            <a:r>
              <a:rPr lang="en-GB" sz="2000" dirty="0" smtClean="0"/>
              <a:t>When using the normal distribution, the (1–</a:t>
            </a:r>
            <a:r>
              <a:rPr lang="el-GR" sz="2000" dirty="0" smtClean="0">
                <a:latin typeface="Times New Roman" charset="0"/>
                <a:cs typeface="Times New Roman" charset="0"/>
              </a:rPr>
              <a:t>α</a:t>
            </a:r>
            <a:r>
              <a:rPr lang="en-GB" sz="2000" dirty="0" smtClean="0">
                <a:cs typeface="Arial" charset="0"/>
              </a:rPr>
              <a:t>)100% </a:t>
            </a:r>
          </a:p>
          <a:p>
            <a:pPr eaLnBrk="1" hangingPunct="1">
              <a:lnSpc>
                <a:spcPct val="80000"/>
              </a:lnSpc>
              <a:buFont typeface="Tahoma" charset="0"/>
              <a:buChar char=" "/>
            </a:pPr>
            <a:r>
              <a:rPr lang="en-GB" sz="2000" b="1" i="1" u="sng" dirty="0" smtClean="0">
                <a:solidFill>
                  <a:schemeClr val="hlink"/>
                </a:solidFill>
                <a:cs typeface="Arial" charset="0"/>
              </a:rPr>
              <a:t>confidence interval for </a:t>
            </a:r>
            <a:r>
              <a:rPr lang="el-GR" sz="2000" b="1" i="1" u="sng" dirty="0" smtClean="0">
                <a:solidFill>
                  <a:schemeClr val="hlink"/>
                </a:solidFill>
                <a:latin typeface="Times New Roman" charset="0"/>
                <a:cs typeface="Times New Roman" charset="0"/>
              </a:rPr>
              <a:t>μ</a:t>
            </a:r>
            <a:r>
              <a:rPr lang="en-GB" sz="2000" b="1" i="1" u="sng" baseline="-25000" dirty="0" smtClean="0">
                <a:solidFill>
                  <a:schemeClr val="hlink"/>
                </a:solidFill>
                <a:cs typeface="Arial" charset="0"/>
              </a:rPr>
              <a:t>1</a:t>
            </a:r>
            <a:r>
              <a:rPr lang="en-GB" sz="2000" b="1" i="1" u="sng" dirty="0" smtClean="0">
                <a:solidFill>
                  <a:schemeClr val="hlink"/>
                </a:solidFill>
                <a:cs typeface="Arial" charset="0"/>
              </a:rPr>
              <a:t> – </a:t>
            </a:r>
            <a:r>
              <a:rPr lang="el-GR" sz="2000" b="1" i="1" u="sng" dirty="0" smtClean="0">
                <a:solidFill>
                  <a:schemeClr val="hlink"/>
                </a:solidFill>
                <a:latin typeface="Times New Roman" charset="0"/>
                <a:cs typeface="Times New Roman" charset="0"/>
              </a:rPr>
              <a:t>μ</a:t>
            </a:r>
            <a:r>
              <a:rPr lang="en-GB" sz="2000" b="1" i="1" u="sng" baseline="-25000" dirty="0" smtClean="0">
                <a:solidFill>
                  <a:schemeClr val="hlink"/>
                </a:solidFill>
                <a:cs typeface="Arial" charset="0"/>
              </a:rPr>
              <a:t>2</a:t>
            </a:r>
            <a:r>
              <a:rPr lang="en-GB" sz="2000" dirty="0" smtClean="0">
                <a:cs typeface="Arial" charset="0"/>
              </a:rPr>
              <a:t> is </a:t>
            </a:r>
          </a:p>
          <a:p>
            <a:pPr algn="ctr" eaLnBrk="1" hangingPunct="1">
              <a:lnSpc>
                <a:spcPct val="80000"/>
              </a:lnSpc>
              <a:buFont typeface="Tahoma" charset="0"/>
              <a:buChar char=" "/>
            </a:pPr>
            <a:r>
              <a:rPr lang="en-GB" sz="2000" dirty="0" smtClean="0">
                <a:cs typeface="Arial" charset="0"/>
              </a:rPr>
              <a:t>                             </a:t>
            </a:r>
          </a:p>
          <a:p>
            <a:pPr algn="ctr" eaLnBrk="1" hangingPunct="1">
              <a:lnSpc>
                <a:spcPct val="80000"/>
              </a:lnSpc>
              <a:buFont typeface="Tahoma" charset="0"/>
              <a:buChar char=" "/>
            </a:pPr>
            <a:r>
              <a:rPr lang="en-GB" sz="2000" dirty="0" smtClean="0">
                <a:cs typeface="Arial" charset="0"/>
              </a:rPr>
              <a:t>                              </a:t>
            </a:r>
            <a:endParaRPr lang="en-GB" sz="2000" dirty="0" smtClean="0">
              <a:cs typeface="Times New Roman" charset="0"/>
            </a:endParaRPr>
          </a:p>
          <a:p>
            <a:pPr eaLnBrk="1" hangingPunct="1">
              <a:lnSpc>
                <a:spcPct val="80000"/>
              </a:lnSpc>
              <a:buFont typeface="Tahoma" charset="0"/>
              <a:buChar char=" "/>
            </a:pPr>
            <a:endParaRPr lang="en-GB" sz="2000" dirty="0" smtClean="0">
              <a:latin typeface="Times New Roman" charset="0"/>
              <a:cs typeface="Times New Roman" charset="0"/>
            </a:endParaRPr>
          </a:p>
          <a:p>
            <a:pPr eaLnBrk="1" hangingPunct="1">
              <a:lnSpc>
                <a:spcPct val="80000"/>
              </a:lnSpc>
              <a:buFont typeface="Tahoma" charset="0"/>
              <a:buChar char=" "/>
            </a:pPr>
            <a:r>
              <a:rPr lang="en-GB" sz="2000" dirty="0" smtClean="0">
                <a:cs typeface="Times New Roman" charset="0"/>
              </a:rPr>
              <a:t>The value of </a:t>
            </a:r>
            <a:r>
              <a:rPr lang="en-GB" sz="2000" i="1" dirty="0" smtClean="0">
                <a:latin typeface="Times New Roman" charset="0"/>
                <a:cs typeface="Times New Roman" charset="0"/>
              </a:rPr>
              <a:t>z</a:t>
            </a:r>
            <a:r>
              <a:rPr lang="en-GB" sz="2000" dirty="0" smtClean="0">
                <a:cs typeface="Times New Roman" charset="0"/>
              </a:rPr>
              <a:t> is obtained from the normal distribution table </a:t>
            </a:r>
          </a:p>
          <a:p>
            <a:pPr eaLnBrk="1" hangingPunct="1">
              <a:lnSpc>
                <a:spcPct val="80000"/>
              </a:lnSpc>
              <a:buFont typeface="Tahoma" charset="0"/>
              <a:buChar char=" "/>
            </a:pPr>
            <a:r>
              <a:rPr lang="en-GB" sz="2000" dirty="0" smtClean="0">
                <a:cs typeface="Times New Roman" charset="0"/>
              </a:rPr>
              <a:t>for the given confidence level. The value of             is </a:t>
            </a:r>
          </a:p>
          <a:p>
            <a:pPr eaLnBrk="1" hangingPunct="1">
              <a:lnSpc>
                <a:spcPct val="80000"/>
              </a:lnSpc>
              <a:buFont typeface="Tahoma" charset="0"/>
              <a:buChar char=" "/>
            </a:pPr>
            <a:r>
              <a:rPr lang="en-GB" sz="2000" dirty="0" smtClean="0">
                <a:cs typeface="Times New Roman" charset="0"/>
              </a:rPr>
              <a:t>calculated as explained earlier. Here             is the point </a:t>
            </a:r>
          </a:p>
          <a:p>
            <a:pPr eaLnBrk="1" hangingPunct="1">
              <a:lnSpc>
                <a:spcPct val="80000"/>
              </a:lnSpc>
              <a:buFont typeface="Tahoma" charset="0"/>
              <a:buChar char=" "/>
            </a:pPr>
            <a:r>
              <a:rPr lang="en-GB" sz="2000" dirty="0" smtClean="0">
                <a:cs typeface="Times New Roman" charset="0"/>
              </a:rPr>
              <a:t>estimator of </a:t>
            </a:r>
            <a:r>
              <a:rPr lang="el-GR" sz="2000" dirty="0" smtClean="0">
                <a:latin typeface="Times New Roman" charset="0"/>
                <a:cs typeface="Times New Roman" charset="0"/>
              </a:rPr>
              <a:t>μ</a:t>
            </a:r>
            <a:r>
              <a:rPr lang="en-GB" sz="2000" baseline="-25000" dirty="0" smtClean="0">
                <a:cs typeface="Times New Roman" charset="0"/>
              </a:rPr>
              <a:t>1</a:t>
            </a:r>
            <a:r>
              <a:rPr lang="en-GB" sz="2000" dirty="0" smtClean="0">
                <a:cs typeface="Times New Roman" charset="0"/>
              </a:rPr>
              <a:t> – </a:t>
            </a:r>
            <a:r>
              <a:rPr lang="el-GR" sz="2000" dirty="0" smtClean="0">
                <a:latin typeface="Times New Roman" charset="0"/>
                <a:cs typeface="Times New Roman" charset="0"/>
              </a:rPr>
              <a:t>μ</a:t>
            </a:r>
            <a:r>
              <a:rPr lang="en-GB" sz="2000" baseline="-25000" dirty="0" smtClean="0">
                <a:cs typeface="Times New Roman" charset="0"/>
              </a:rPr>
              <a:t>2</a:t>
            </a:r>
            <a:endParaRPr lang="el-GR" sz="2000" dirty="0" smtClean="0">
              <a:cs typeface="Times New Roman" charset="0"/>
            </a:endParaRPr>
          </a:p>
          <a:p>
            <a:pPr eaLnBrk="1" hangingPunct="1">
              <a:lnSpc>
                <a:spcPct val="80000"/>
              </a:lnSpc>
              <a:buFont typeface="Tahoma" charset="0"/>
              <a:buChar char=" "/>
            </a:pPr>
            <a:endParaRPr lang="en-US" sz="2000" dirty="0" smtClean="0"/>
          </a:p>
        </p:txBody>
      </p:sp>
      <p:graphicFrame>
        <p:nvGraphicFramePr>
          <p:cNvPr id="2050" name="Object 2"/>
          <p:cNvGraphicFramePr>
            <a:graphicFrameLocks noChangeAspect="1"/>
          </p:cNvGraphicFramePr>
          <p:nvPr>
            <p:extLst>
              <p:ext uri="{D42A27DB-BD31-4B8C-83A1-F6EECF244321}">
                <p14:modId xmlns:p14="http://schemas.microsoft.com/office/powerpoint/2010/main" val="4147251280"/>
              </p:ext>
            </p:extLst>
          </p:nvPr>
        </p:nvGraphicFramePr>
        <p:xfrm>
          <a:off x="2133600" y="2286000"/>
          <a:ext cx="3581400" cy="641602"/>
        </p:xfrm>
        <a:graphic>
          <a:graphicData uri="http://schemas.openxmlformats.org/presentationml/2006/ole">
            <mc:AlternateContent xmlns:mc="http://schemas.openxmlformats.org/markup-compatibility/2006">
              <mc:Choice xmlns:v="urn:schemas-microsoft-com:vml" Requires="v">
                <p:oleObj spid="_x0000_s2175" name="Equation" r:id="rId3" imgW="1346040" imgH="241200" progId="">
                  <p:embed/>
                </p:oleObj>
              </mc:Choice>
              <mc:Fallback>
                <p:oleObj name="Equation" r:id="rId3" imgW="1346040" imgH="241200" progId="">
                  <p:embed/>
                  <p:pic>
                    <p:nvPicPr>
                      <p:cNvPr id="0" name="Picture 9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33600" y="2286000"/>
                        <a:ext cx="3581400" cy="64160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051" name="Object 3"/>
          <p:cNvGraphicFramePr>
            <a:graphicFrameLocks noChangeAspect="1"/>
          </p:cNvGraphicFramePr>
          <p:nvPr>
            <p:extLst>
              <p:ext uri="{D42A27DB-BD31-4B8C-83A1-F6EECF244321}">
                <p14:modId xmlns:p14="http://schemas.microsoft.com/office/powerpoint/2010/main" val="655689871"/>
              </p:ext>
            </p:extLst>
          </p:nvPr>
        </p:nvGraphicFramePr>
        <p:xfrm>
          <a:off x="5334000" y="3600450"/>
          <a:ext cx="1028700" cy="474345"/>
        </p:xfrm>
        <a:graphic>
          <a:graphicData uri="http://schemas.openxmlformats.org/presentationml/2006/ole">
            <mc:AlternateContent xmlns:mc="http://schemas.openxmlformats.org/markup-compatibility/2006">
              <mc:Choice xmlns:v="urn:schemas-microsoft-com:vml" Requires="v">
                <p:oleObj spid="_x0000_s2176" name="Equation" r:id="rId5" imgW="495000" imgH="228600" progId="">
                  <p:embed/>
                </p:oleObj>
              </mc:Choice>
              <mc:Fallback>
                <p:oleObj name="Equation" r:id="rId5" imgW="495000" imgH="228600" progId="">
                  <p:embed/>
                  <p:pic>
                    <p:nvPicPr>
                      <p:cNvPr id="0" name="Picture 9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34000" y="3600450"/>
                        <a:ext cx="1028700" cy="47434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052" name="Object 4"/>
          <p:cNvGraphicFramePr>
            <a:graphicFrameLocks noChangeAspect="1"/>
          </p:cNvGraphicFramePr>
          <p:nvPr>
            <p:extLst>
              <p:ext uri="{D42A27DB-BD31-4B8C-83A1-F6EECF244321}">
                <p14:modId xmlns:p14="http://schemas.microsoft.com/office/powerpoint/2010/main" val="3805640206"/>
              </p:ext>
            </p:extLst>
          </p:nvPr>
        </p:nvGraphicFramePr>
        <p:xfrm>
          <a:off x="6186087" y="3187700"/>
          <a:ext cx="1014813" cy="603250"/>
        </p:xfrm>
        <a:graphic>
          <a:graphicData uri="http://schemas.openxmlformats.org/presentationml/2006/ole">
            <mc:AlternateContent xmlns:mc="http://schemas.openxmlformats.org/markup-compatibility/2006">
              <mc:Choice xmlns:v="urn:schemas-microsoft-com:vml" Requires="v">
                <p:oleObj spid="_x0000_s2177" name="Equation" r:id="rId7" imgW="406080" imgH="241200" progId="">
                  <p:embed/>
                </p:oleObj>
              </mc:Choice>
              <mc:Fallback>
                <p:oleObj name="Equation" r:id="rId7" imgW="406080" imgH="241200" progId="">
                  <p:embed/>
                  <p:pic>
                    <p:nvPicPr>
                      <p:cNvPr id="0" name="Picture 10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186087" y="3187700"/>
                        <a:ext cx="1014813" cy="6032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Text Box 4"/>
          <p:cNvSpPr txBox="1">
            <a:spLocks noChangeArrowheads="1"/>
          </p:cNvSpPr>
          <p:nvPr/>
        </p:nvSpPr>
        <p:spPr bwMode="auto">
          <a:xfrm>
            <a:off x="4049486" y="6172200"/>
            <a:ext cx="47815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p:txBody>
          <a:bodyPr/>
          <a:lstStyle/>
          <a:p>
            <a:pPr eaLnBrk="1" hangingPunct="1"/>
            <a:r>
              <a:rPr lang="en-US" sz="2800" dirty="0" smtClean="0"/>
              <a:t>Example 10-3</a:t>
            </a:r>
          </a:p>
        </p:txBody>
      </p:sp>
      <p:sp>
        <p:nvSpPr>
          <p:cNvPr id="63491" name="Rectangle 3"/>
          <p:cNvSpPr>
            <a:spLocks noGrp="1" noChangeArrowheads="1"/>
          </p:cNvSpPr>
          <p:nvPr>
            <p:ph type="body" idx="1"/>
          </p:nvPr>
        </p:nvSpPr>
        <p:spPr>
          <a:xfrm>
            <a:off x="493712" y="1524000"/>
            <a:ext cx="8040688" cy="4383088"/>
          </a:xfrm>
        </p:spPr>
        <p:txBody>
          <a:bodyPr/>
          <a:lstStyle/>
          <a:p>
            <a:pPr marL="0" indent="0" eaLnBrk="1" hangingPunct="1">
              <a:lnSpc>
                <a:spcPct val="90000"/>
              </a:lnSpc>
              <a:buNone/>
            </a:pPr>
            <a:r>
              <a:rPr lang="en-US" sz="2000" dirty="0" smtClean="0"/>
              <a:t>According to Kaiser Family Foundation survey in 2011 and 2010, the average premium for employer-sponsored health insurance for family coverage was $15,073 in 2011 and $13,770 in 2010 (</a:t>
            </a:r>
            <a:r>
              <a:rPr lang="en-US" sz="2000" i="1" dirty="0" smtClean="0"/>
              <a:t>USA TODAY, </a:t>
            </a:r>
            <a:r>
              <a:rPr lang="en-US" sz="2000" dirty="0" smtClean="0"/>
              <a:t>September 29, 2011</a:t>
            </a:r>
            <a:r>
              <a:rPr lang="en-US" sz="2000" i="1" dirty="0" smtClean="0"/>
              <a:t>). </a:t>
            </a:r>
            <a:r>
              <a:rPr lang="en-US" sz="2000" dirty="0" smtClean="0"/>
              <a:t>Suppose that these averages were based on random samples of 250 and 200 employees who had such employer-sponsored health insurance plans for 2011 and 2010, respectively. Further assume that the population standard deviations for 2011 and 2010 were $2160 and $1990, respectively.  </a:t>
            </a:r>
          </a:p>
        </p:txBody>
      </p:sp>
      <p:sp>
        <p:nvSpPr>
          <p:cNvPr id="6" name="Text Box 4"/>
          <p:cNvSpPr txBox="1">
            <a:spLocks noChangeArrowheads="1"/>
          </p:cNvSpPr>
          <p:nvPr/>
        </p:nvSpPr>
        <p:spPr bwMode="auto">
          <a:xfrm>
            <a:off x="4049486" y="6172200"/>
            <a:ext cx="47815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title"/>
          </p:nvPr>
        </p:nvSpPr>
        <p:spPr/>
        <p:txBody>
          <a:bodyPr/>
          <a:lstStyle/>
          <a:p>
            <a:pPr eaLnBrk="1" hangingPunct="1"/>
            <a:r>
              <a:rPr lang="en-US" sz="2800" dirty="0" smtClean="0"/>
              <a:t>Example 10-3</a:t>
            </a:r>
          </a:p>
        </p:txBody>
      </p:sp>
      <p:sp>
        <p:nvSpPr>
          <p:cNvPr id="64515" name="Rectangle 3"/>
          <p:cNvSpPr>
            <a:spLocks noGrp="1" noChangeArrowheads="1"/>
          </p:cNvSpPr>
          <p:nvPr>
            <p:ph type="body" idx="1"/>
          </p:nvPr>
        </p:nvSpPr>
        <p:spPr>
          <a:xfrm>
            <a:off x="474662" y="1524000"/>
            <a:ext cx="8421688" cy="2495550"/>
          </a:xfrm>
        </p:spPr>
        <p:txBody>
          <a:bodyPr/>
          <a:lstStyle/>
          <a:p>
            <a:pPr marL="0" indent="0" eaLnBrk="1" hangingPunct="1">
              <a:buNone/>
            </a:pPr>
            <a:r>
              <a:rPr lang="en-US" sz="2000" dirty="0" smtClean="0"/>
              <a:t>Let </a:t>
            </a:r>
            <a:r>
              <a:rPr lang="el-GR" sz="2000" dirty="0" smtClean="0">
                <a:latin typeface="Times New Roman" charset="0"/>
                <a:cs typeface="Times New Roman" charset="0"/>
              </a:rPr>
              <a:t>μ</a:t>
            </a:r>
            <a:r>
              <a:rPr lang="en-GB" sz="2000" baseline="-25000" dirty="0" smtClean="0">
                <a:cs typeface="Arial" charset="0"/>
              </a:rPr>
              <a:t>1</a:t>
            </a:r>
            <a:r>
              <a:rPr lang="en-GB" sz="2000" dirty="0" smtClean="0">
                <a:cs typeface="Arial" charset="0"/>
              </a:rPr>
              <a:t> and </a:t>
            </a:r>
            <a:r>
              <a:rPr lang="el-GR" sz="2000" dirty="0" smtClean="0">
                <a:latin typeface="Times New Roman" charset="0"/>
                <a:cs typeface="Times New Roman" charset="0"/>
              </a:rPr>
              <a:t>μ</a:t>
            </a:r>
            <a:r>
              <a:rPr lang="en-GB" sz="2000" baseline="-25000" dirty="0" smtClean="0">
                <a:cs typeface="Arial" charset="0"/>
              </a:rPr>
              <a:t>2</a:t>
            </a:r>
            <a:r>
              <a:rPr lang="en-US" sz="2000" dirty="0" smtClean="0"/>
              <a:t> be the respective population means for such annual premiums for the years 2011 and 2010, respectively.</a:t>
            </a:r>
          </a:p>
          <a:p>
            <a:pPr marL="0" indent="0" eaLnBrk="1" hangingPunct="1">
              <a:buSzPct val="80000"/>
              <a:buNone/>
            </a:pPr>
            <a:r>
              <a:rPr lang="en-US" sz="2000" dirty="0" smtClean="0"/>
              <a:t>(a) What is the point estimate of </a:t>
            </a:r>
            <a:r>
              <a:rPr lang="el-GR" sz="2000" dirty="0" smtClean="0">
                <a:latin typeface="Times New Roman" charset="0"/>
                <a:cs typeface="Times New Roman" charset="0"/>
              </a:rPr>
              <a:t>μ</a:t>
            </a:r>
            <a:r>
              <a:rPr lang="en-GB" sz="2000" baseline="-25000" dirty="0" smtClean="0">
                <a:cs typeface="Arial" charset="0"/>
              </a:rPr>
              <a:t>1</a:t>
            </a:r>
            <a:r>
              <a:rPr lang="en-GB" sz="2000" dirty="0" smtClean="0">
                <a:cs typeface="Arial" charset="0"/>
              </a:rPr>
              <a:t> – </a:t>
            </a:r>
            <a:r>
              <a:rPr lang="el-GR" sz="2000" dirty="0" smtClean="0">
                <a:latin typeface="Times New Roman" charset="0"/>
                <a:cs typeface="Times New Roman" charset="0"/>
              </a:rPr>
              <a:t>μ</a:t>
            </a:r>
            <a:r>
              <a:rPr lang="en-GB" sz="2000" baseline="-25000" dirty="0" smtClean="0">
                <a:cs typeface="Arial" charset="0"/>
              </a:rPr>
              <a:t>2</a:t>
            </a:r>
            <a:r>
              <a:rPr lang="en-GB" sz="2000" dirty="0" smtClean="0">
                <a:cs typeface="Arial" charset="0"/>
              </a:rPr>
              <a:t>? </a:t>
            </a:r>
          </a:p>
          <a:p>
            <a:pPr marL="0" indent="0" eaLnBrk="1" hangingPunct="1">
              <a:buSzPct val="80000"/>
              <a:buNone/>
            </a:pPr>
            <a:r>
              <a:rPr lang="en-GB" sz="2000" dirty="0" smtClean="0">
                <a:cs typeface="Arial" charset="0"/>
              </a:rPr>
              <a:t>(b) Construct a 97% confidence interval for </a:t>
            </a:r>
            <a:r>
              <a:rPr lang="el-GR" sz="2000" dirty="0" smtClean="0">
                <a:latin typeface="Times New Roman" charset="0"/>
                <a:cs typeface="Times New Roman" charset="0"/>
              </a:rPr>
              <a:t>μ</a:t>
            </a:r>
            <a:r>
              <a:rPr lang="en-GB" sz="2000" baseline="-25000" dirty="0" smtClean="0">
                <a:cs typeface="Arial" charset="0"/>
              </a:rPr>
              <a:t>1</a:t>
            </a:r>
            <a:r>
              <a:rPr lang="en-GB" sz="2000" dirty="0" smtClean="0">
                <a:cs typeface="Arial" charset="0"/>
              </a:rPr>
              <a:t> – </a:t>
            </a:r>
            <a:r>
              <a:rPr lang="el-GR" sz="2000" dirty="0" smtClean="0">
                <a:latin typeface="Times New Roman" charset="0"/>
                <a:cs typeface="Times New Roman" charset="0"/>
              </a:rPr>
              <a:t>μ</a:t>
            </a:r>
            <a:r>
              <a:rPr lang="en-GB" sz="2000" baseline="-25000" dirty="0" smtClean="0">
                <a:cs typeface="Arial" charset="0"/>
              </a:rPr>
              <a:t>2</a:t>
            </a:r>
            <a:r>
              <a:rPr lang="en-GB" sz="2000" dirty="0" smtClean="0">
                <a:cs typeface="Arial" charset="0"/>
              </a:rPr>
              <a:t>.</a:t>
            </a:r>
            <a:r>
              <a:rPr lang="en-US" sz="2000" dirty="0" smtClean="0"/>
              <a:t> </a:t>
            </a:r>
          </a:p>
        </p:txBody>
      </p:sp>
      <p:sp>
        <p:nvSpPr>
          <p:cNvPr id="6" name="Text Box 4"/>
          <p:cNvSpPr txBox="1">
            <a:spLocks noChangeArrowheads="1"/>
          </p:cNvSpPr>
          <p:nvPr/>
        </p:nvSpPr>
        <p:spPr bwMode="auto">
          <a:xfrm>
            <a:off x="4049486" y="6172200"/>
            <a:ext cx="47815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2"/>
          <p:cNvSpPr>
            <a:spLocks noGrp="1" noChangeArrowheads="1"/>
          </p:cNvSpPr>
          <p:nvPr>
            <p:ph type="title"/>
          </p:nvPr>
        </p:nvSpPr>
        <p:spPr/>
        <p:txBody>
          <a:bodyPr/>
          <a:lstStyle/>
          <a:p>
            <a:pPr eaLnBrk="1" hangingPunct="1"/>
            <a:r>
              <a:rPr lang="en-US" sz="2800" dirty="0" smtClean="0"/>
              <a:t>Example 10-3: Solution</a:t>
            </a:r>
          </a:p>
        </p:txBody>
      </p:sp>
      <p:sp>
        <p:nvSpPr>
          <p:cNvPr id="3076" name="Rectangle 3"/>
          <p:cNvSpPr>
            <a:spLocks noGrp="1" noChangeArrowheads="1"/>
          </p:cNvSpPr>
          <p:nvPr>
            <p:ph type="body" idx="1"/>
          </p:nvPr>
        </p:nvSpPr>
        <p:spPr>
          <a:xfrm>
            <a:off x="457200" y="1600200"/>
            <a:ext cx="8193088" cy="1752600"/>
          </a:xfrm>
        </p:spPr>
        <p:txBody>
          <a:bodyPr/>
          <a:lstStyle/>
          <a:p>
            <a:pPr marL="609600" indent="-609600" eaLnBrk="1" hangingPunct="1">
              <a:buSzPct val="80000"/>
              <a:buFont typeface="Wingdings" charset="2"/>
              <a:buNone/>
            </a:pPr>
            <a:r>
              <a:rPr lang="en-US" sz="2000" dirty="0" smtClean="0"/>
              <a:t>(a) Point estimate of </a:t>
            </a:r>
            <a:r>
              <a:rPr lang="el-GR" sz="2000" dirty="0" smtClean="0">
                <a:latin typeface="Times New Roman" charset="0"/>
                <a:cs typeface="Times New Roman" charset="0"/>
              </a:rPr>
              <a:t>μ</a:t>
            </a:r>
            <a:r>
              <a:rPr lang="en-GB" sz="2000" baseline="-25000" dirty="0" smtClean="0">
                <a:cs typeface="Arial" charset="0"/>
              </a:rPr>
              <a:t>1</a:t>
            </a:r>
            <a:r>
              <a:rPr lang="en-GB" sz="2000" dirty="0" smtClean="0">
                <a:cs typeface="Arial" charset="0"/>
              </a:rPr>
              <a:t> – </a:t>
            </a:r>
            <a:r>
              <a:rPr lang="el-GR" sz="2000" dirty="0" smtClean="0">
                <a:latin typeface="Times New Roman" charset="0"/>
                <a:cs typeface="Times New Roman" charset="0"/>
              </a:rPr>
              <a:t>μ</a:t>
            </a:r>
            <a:r>
              <a:rPr lang="en-GB" sz="2000" baseline="-25000" dirty="0" smtClean="0">
                <a:cs typeface="Arial" charset="0"/>
              </a:rPr>
              <a:t>2</a:t>
            </a:r>
            <a:r>
              <a:rPr lang="en-GB" sz="2000" dirty="0" smtClean="0">
                <a:cs typeface="Arial" charset="0"/>
              </a:rPr>
              <a:t> = the value of  </a:t>
            </a:r>
          </a:p>
          <a:p>
            <a:pPr marL="609600" indent="-609600" eaLnBrk="1" hangingPunct="1">
              <a:buFont typeface="Wingdings" charset="2"/>
              <a:buNone/>
            </a:pPr>
            <a:r>
              <a:rPr lang="en-GB" sz="2000" dirty="0" smtClean="0">
                <a:cs typeface="Arial" charset="0"/>
              </a:rPr>
              <a:t>                                         = $15,073 - $13,770 = </a:t>
            </a:r>
            <a:r>
              <a:rPr lang="en-GB" sz="2000" b="1" dirty="0" smtClean="0">
                <a:cs typeface="Arial" charset="0"/>
              </a:rPr>
              <a:t>$1303</a:t>
            </a:r>
            <a:r>
              <a:rPr lang="en-GB" sz="2000" dirty="0" smtClean="0">
                <a:cs typeface="Arial" charset="0"/>
              </a:rPr>
              <a:t> </a:t>
            </a:r>
            <a:endParaRPr lang="en-US" sz="2000" dirty="0" smtClean="0">
              <a:cs typeface="Arial" charset="0"/>
            </a:endParaRPr>
          </a:p>
        </p:txBody>
      </p:sp>
      <p:graphicFrame>
        <p:nvGraphicFramePr>
          <p:cNvPr id="3074" name="Object 2"/>
          <p:cNvGraphicFramePr>
            <a:graphicFrameLocks noChangeAspect="1"/>
          </p:cNvGraphicFramePr>
          <p:nvPr>
            <p:extLst>
              <p:ext uri="{D42A27DB-BD31-4B8C-83A1-F6EECF244321}">
                <p14:modId xmlns:p14="http://schemas.microsoft.com/office/powerpoint/2010/main" val="270261309"/>
              </p:ext>
            </p:extLst>
          </p:nvPr>
        </p:nvGraphicFramePr>
        <p:xfrm>
          <a:off x="6126163" y="1619250"/>
          <a:ext cx="1055687" cy="411546"/>
        </p:xfrm>
        <a:graphic>
          <a:graphicData uri="http://schemas.openxmlformats.org/presentationml/2006/ole">
            <mc:AlternateContent xmlns:mc="http://schemas.openxmlformats.org/markup-compatibility/2006">
              <mc:Choice xmlns:v="urn:schemas-microsoft-com:vml" Requires="v">
                <p:oleObj spid="_x0000_s3120" name="Equation" r:id="rId3" imgW="495000" imgH="228600" progId="">
                  <p:embed/>
                </p:oleObj>
              </mc:Choice>
              <mc:Fallback>
                <p:oleObj name="Equation" r:id="rId3" imgW="495000" imgH="228600" progId="">
                  <p:embed/>
                  <p:pic>
                    <p:nvPicPr>
                      <p:cNvPr id="0" name="Picture 3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26163" y="1619250"/>
                        <a:ext cx="1055687" cy="41154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Text Box 4"/>
          <p:cNvSpPr txBox="1">
            <a:spLocks noChangeArrowheads="1"/>
          </p:cNvSpPr>
          <p:nvPr/>
        </p:nvSpPr>
        <p:spPr bwMode="auto">
          <a:xfrm>
            <a:off x="4049486" y="6172200"/>
            <a:ext cx="47815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2"/>
          <p:cNvSpPr>
            <a:spLocks noGrp="1" noChangeArrowheads="1"/>
          </p:cNvSpPr>
          <p:nvPr>
            <p:ph type="title"/>
          </p:nvPr>
        </p:nvSpPr>
        <p:spPr/>
        <p:txBody>
          <a:bodyPr/>
          <a:lstStyle/>
          <a:p>
            <a:pPr eaLnBrk="1" hangingPunct="1"/>
            <a:r>
              <a:rPr lang="en-US" sz="2800" dirty="0" smtClean="0"/>
              <a:t>Example 10-3: Solution</a:t>
            </a:r>
          </a:p>
        </p:txBody>
      </p:sp>
      <p:sp>
        <p:nvSpPr>
          <p:cNvPr id="4100" name="Rectangle 3"/>
          <p:cNvSpPr>
            <a:spLocks noGrp="1" noChangeArrowheads="1"/>
          </p:cNvSpPr>
          <p:nvPr>
            <p:ph type="body" idx="1"/>
          </p:nvPr>
        </p:nvSpPr>
        <p:spPr>
          <a:xfrm>
            <a:off x="419100" y="1504951"/>
            <a:ext cx="5791200" cy="628650"/>
          </a:xfrm>
        </p:spPr>
        <p:txBody>
          <a:bodyPr/>
          <a:lstStyle/>
          <a:p>
            <a:pPr marL="609600" indent="-609600" eaLnBrk="1" hangingPunct="1">
              <a:buSzPct val="95000"/>
              <a:buFont typeface="Wingdings" charset="2"/>
              <a:buNone/>
            </a:pPr>
            <a:r>
              <a:rPr lang="en-US" sz="2000" dirty="0" smtClean="0"/>
              <a:t>(b)  </a:t>
            </a:r>
          </a:p>
        </p:txBody>
      </p:sp>
      <mc:AlternateContent xmlns:mc="http://schemas.openxmlformats.org/markup-compatibility/2006">
        <mc:Choice xmlns:a14="http://schemas.microsoft.com/office/drawing/2010/main" Requires="a14">
          <p:sp>
            <p:nvSpPr>
              <p:cNvPr id="2" name="TextBox 1"/>
              <p:cNvSpPr txBox="1"/>
              <p:nvPr/>
            </p:nvSpPr>
            <p:spPr>
              <a:xfrm>
                <a:off x="1371600" y="2133600"/>
                <a:ext cx="6363494" cy="1595437"/>
              </a:xfrm>
              <a:prstGeom prst="rect">
                <a:avLst/>
              </a:prstGeom>
              <a:noFill/>
            </p:spPr>
            <p:txBody>
              <a:bodyPr wrap="square" rtlCol="0">
                <a:spAutoFit/>
              </a:bodyPr>
              <a:lstStyle/>
              <a:p>
                <a14:m>
                  <m:oMath xmlns:m="http://schemas.openxmlformats.org/officeDocument/2006/math">
                    <m:sSub>
                      <m:sSubPr>
                        <m:ctrlPr>
                          <a:rPr lang="en-US" sz="2400" i="1" smtClean="0">
                            <a:latin typeface="Cambria Math" charset="0"/>
                          </a:rPr>
                        </m:ctrlPr>
                      </m:sSubPr>
                      <m:e>
                        <m:r>
                          <a:rPr lang="en-US" sz="2400" i="1" smtClean="0">
                            <a:latin typeface="Cambria Math"/>
                            <a:ea typeface="Cambria Math"/>
                          </a:rPr>
                          <m:t>𝜎</m:t>
                        </m:r>
                      </m:e>
                      <m:sub>
                        <m:acc>
                          <m:accPr>
                            <m:chr m:val="̅"/>
                            <m:ctrlPr>
                              <a:rPr lang="en-US" sz="2400" i="1" smtClean="0">
                                <a:latin typeface="Cambria Math" charset="0"/>
                              </a:rPr>
                            </m:ctrlPr>
                          </m:accPr>
                          <m:e>
                            <m:sSub>
                              <m:sSubPr>
                                <m:ctrlPr>
                                  <a:rPr lang="en-US" sz="2400" i="1" smtClean="0">
                                    <a:latin typeface="Cambria Math" charset="0"/>
                                  </a:rPr>
                                </m:ctrlPr>
                              </m:sSubPr>
                              <m:e>
                                <m:r>
                                  <a:rPr lang="en-US" sz="2400" b="0" i="1" smtClean="0">
                                    <a:latin typeface="Cambria Math"/>
                                  </a:rPr>
                                  <m:t>𝑥</m:t>
                                </m:r>
                              </m:e>
                              <m:sub>
                                <m:r>
                                  <a:rPr lang="en-US" sz="2400" b="0" i="1" smtClean="0">
                                    <a:latin typeface="Cambria Math"/>
                                  </a:rPr>
                                  <m:t>1</m:t>
                                </m:r>
                              </m:sub>
                            </m:sSub>
                          </m:e>
                        </m:acc>
                        <m:r>
                          <a:rPr lang="en-US" sz="2400" b="0" i="1" smtClean="0">
                            <a:latin typeface="Cambria Math"/>
                          </a:rPr>
                          <m:t>−</m:t>
                        </m:r>
                        <m:acc>
                          <m:accPr>
                            <m:chr m:val="̅"/>
                            <m:ctrlPr>
                              <a:rPr lang="en-US" sz="2400" b="0" i="1" smtClean="0">
                                <a:latin typeface="Cambria Math" charset="0"/>
                              </a:rPr>
                            </m:ctrlPr>
                          </m:accPr>
                          <m:e>
                            <m:sSub>
                              <m:sSubPr>
                                <m:ctrlPr>
                                  <a:rPr lang="en-US" sz="2400" b="0" i="1" smtClean="0">
                                    <a:latin typeface="Cambria Math" charset="0"/>
                                  </a:rPr>
                                </m:ctrlPr>
                              </m:sSubPr>
                              <m:e>
                                <m:r>
                                  <a:rPr lang="en-US" sz="2400" b="0" i="1" smtClean="0">
                                    <a:latin typeface="Cambria Math"/>
                                  </a:rPr>
                                  <m:t>𝑥</m:t>
                                </m:r>
                              </m:e>
                              <m:sub>
                                <m:r>
                                  <a:rPr lang="en-US" sz="2400" b="0" i="1" smtClean="0">
                                    <a:latin typeface="Cambria Math"/>
                                  </a:rPr>
                                  <m:t>2</m:t>
                                </m:r>
                              </m:sub>
                            </m:sSub>
                          </m:e>
                        </m:acc>
                      </m:sub>
                    </m:sSub>
                    <m:r>
                      <a:rPr lang="en-US" sz="2400" i="1" smtClean="0">
                        <a:latin typeface="Cambria Math"/>
                      </a:rPr>
                      <m:t>=</m:t>
                    </m:r>
                    <m:rad>
                      <m:radPr>
                        <m:degHide m:val="on"/>
                        <m:ctrlPr>
                          <a:rPr lang="en-US" sz="2400" i="1" smtClean="0">
                            <a:latin typeface="Cambria Math" charset="0"/>
                          </a:rPr>
                        </m:ctrlPr>
                      </m:radPr>
                      <m:deg/>
                      <m:e>
                        <m:f>
                          <m:fPr>
                            <m:ctrlPr>
                              <a:rPr lang="en-US" sz="2400" i="1" smtClean="0">
                                <a:latin typeface="Cambria Math" charset="0"/>
                              </a:rPr>
                            </m:ctrlPr>
                          </m:fPr>
                          <m:num>
                            <m:sSubSup>
                              <m:sSubSupPr>
                                <m:ctrlPr>
                                  <a:rPr lang="en-US" sz="2400" i="1" smtClean="0">
                                    <a:latin typeface="Cambria Math" charset="0"/>
                                  </a:rPr>
                                </m:ctrlPr>
                              </m:sSubSupPr>
                              <m:e>
                                <m:r>
                                  <a:rPr lang="en-US" sz="2400" i="1" smtClean="0">
                                    <a:latin typeface="Cambria Math"/>
                                    <a:ea typeface="Cambria Math"/>
                                  </a:rPr>
                                  <m:t>𝜎</m:t>
                                </m:r>
                              </m:e>
                              <m:sub>
                                <m:r>
                                  <a:rPr lang="en-US" sz="2400" b="0" i="1" smtClean="0">
                                    <a:latin typeface="Cambria Math"/>
                                  </a:rPr>
                                  <m:t>1</m:t>
                                </m:r>
                              </m:sub>
                              <m:sup/>
                            </m:sSubSup>
                            <m:r>
                              <a:rPr lang="en-US" sz="2400" b="0" i="1" smtClean="0">
                                <a:latin typeface="Cambria Math"/>
                              </a:rPr>
                              <m:t>2</m:t>
                            </m:r>
                          </m:num>
                          <m:den>
                            <m:sSub>
                              <m:sSubPr>
                                <m:ctrlPr>
                                  <a:rPr lang="en-US" sz="2400" i="1" smtClean="0">
                                    <a:latin typeface="Cambria Math" charset="0"/>
                                  </a:rPr>
                                </m:ctrlPr>
                              </m:sSubPr>
                              <m:e>
                                <m:r>
                                  <a:rPr lang="en-US" sz="2400" b="0" i="1" smtClean="0">
                                    <a:latin typeface="Cambria Math"/>
                                  </a:rPr>
                                  <m:t>𝑛</m:t>
                                </m:r>
                              </m:e>
                              <m:sub>
                                <m:r>
                                  <a:rPr lang="en-US" sz="2400" b="0" i="1" smtClean="0">
                                    <a:latin typeface="Cambria Math"/>
                                  </a:rPr>
                                  <m:t>1</m:t>
                                </m:r>
                              </m:sub>
                            </m:sSub>
                          </m:den>
                        </m:f>
                        <m:r>
                          <a:rPr lang="en-US" sz="2400" b="0" i="1" smtClean="0">
                            <a:latin typeface="Cambria Math"/>
                          </a:rPr>
                          <m:t>+</m:t>
                        </m:r>
                        <m:f>
                          <m:fPr>
                            <m:ctrlPr>
                              <a:rPr lang="en-US" sz="2400" i="1">
                                <a:latin typeface="Cambria Math" charset="0"/>
                              </a:rPr>
                            </m:ctrlPr>
                          </m:fPr>
                          <m:num>
                            <m:sSubSup>
                              <m:sSubSupPr>
                                <m:ctrlPr>
                                  <a:rPr lang="en-US" sz="2400" i="1">
                                    <a:latin typeface="Cambria Math" charset="0"/>
                                  </a:rPr>
                                </m:ctrlPr>
                              </m:sSubSupPr>
                              <m:e>
                                <m:r>
                                  <a:rPr lang="en-US" sz="2400" i="1">
                                    <a:latin typeface="Cambria Math"/>
                                    <a:ea typeface="Cambria Math"/>
                                  </a:rPr>
                                  <m:t>𝜎</m:t>
                                </m:r>
                              </m:e>
                              <m:sub>
                                <m:r>
                                  <a:rPr lang="en-US" sz="2400" b="0" i="1" smtClean="0">
                                    <a:latin typeface="Cambria Math" charset="0"/>
                                    <a:ea typeface="Cambria Math"/>
                                  </a:rPr>
                                  <m:t>2</m:t>
                                </m:r>
                              </m:sub>
                              <m:sup/>
                            </m:sSubSup>
                            <m:r>
                              <a:rPr lang="en-US" sz="2400" i="1">
                                <a:latin typeface="Cambria Math"/>
                              </a:rPr>
                              <m:t>2</m:t>
                            </m:r>
                          </m:num>
                          <m:den>
                            <m:sSub>
                              <m:sSubPr>
                                <m:ctrlPr>
                                  <a:rPr lang="en-US" sz="2400" i="1">
                                    <a:latin typeface="Cambria Math" charset="0"/>
                                  </a:rPr>
                                </m:ctrlPr>
                              </m:sSubPr>
                              <m:e>
                                <m:r>
                                  <a:rPr lang="en-US" sz="2400" i="1">
                                    <a:latin typeface="Cambria Math"/>
                                  </a:rPr>
                                  <m:t>𝑛</m:t>
                                </m:r>
                              </m:e>
                              <m:sub>
                                <m:r>
                                  <a:rPr lang="en-US" sz="2400" b="0" i="1" smtClean="0">
                                    <a:latin typeface="Cambria Math" charset="0"/>
                                  </a:rPr>
                                  <m:t>2</m:t>
                                </m:r>
                              </m:sub>
                            </m:sSub>
                          </m:den>
                        </m:f>
                      </m:e>
                    </m:rad>
                  </m:oMath>
                </a14:m>
                <a:r>
                  <a:rPr lang="en-US" sz="2400" i="1" dirty="0" smtClean="0">
                    <a:latin typeface="Cambria Math"/>
                  </a:rPr>
                  <a:t>     </a:t>
                </a:r>
              </a:p>
              <a:p>
                <a14:m>
                  <m:oMath xmlns:m="http://schemas.openxmlformats.org/officeDocument/2006/math">
                    <m:r>
                      <a:rPr lang="en-US" sz="2400" b="0" i="1" smtClean="0">
                        <a:latin typeface="Cambria Math"/>
                      </a:rPr>
                      <m:t>              =</m:t>
                    </m:r>
                  </m:oMath>
                </a14:m>
                <a:r>
                  <a:rPr lang="en-US" sz="2400" b="0" i="1" dirty="0" smtClean="0">
                    <a:latin typeface="Cambria Math"/>
                  </a:rPr>
                  <a:t> </a:t>
                </a:r>
                <a14:m>
                  <m:oMath xmlns:m="http://schemas.openxmlformats.org/officeDocument/2006/math">
                    <m:rad>
                      <m:radPr>
                        <m:degHide m:val="on"/>
                        <m:ctrlPr>
                          <a:rPr lang="en-US" sz="2400" i="1">
                            <a:latin typeface="Cambria Math" charset="0"/>
                          </a:rPr>
                        </m:ctrlPr>
                      </m:radPr>
                      <m:deg/>
                      <m:e>
                        <m:f>
                          <m:fPr>
                            <m:ctrlPr>
                              <a:rPr lang="en-US" sz="2400" i="1">
                                <a:latin typeface="Cambria Math" charset="0"/>
                              </a:rPr>
                            </m:ctrlPr>
                          </m:fPr>
                          <m:num>
                            <m:sSup>
                              <m:sSupPr>
                                <m:ctrlPr>
                                  <a:rPr lang="en-US" sz="2400" i="1" smtClean="0">
                                    <a:latin typeface="Cambria Math" charset="0"/>
                                  </a:rPr>
                                </m:ctrlPr>
                              </m:sSupPr>
                              <m:e>
                                <m:d>
                                  <m:dPr>
                                    <m:ctrlPr>
                                      <a:rPr lang="en-US" sz="2400" i="1" smtClean="0">
                                        <a:latin typeface="Cambria Math" charset="0"/>
                                      </a:rPr>
                                    </m:ctrlPr>
                                  </m:dPr>
                                  <m:e>
                                    <m:r>
                                      <a:rPr lang="en-US" sz="2400" b="0" i="1" smtClean="0">
                                        <a:latin typeface="Cambria Math"/>
                                      </a:rPr>
                                      <m:t>2160</m:t>
                                    </m:r>
                                  </m:e>
                                </m:d>
                              </m:e>
                              <m:sup>
                                <m:r>
                                  <a:rPr lang="en-US" sz="2400" b="0" i="1" smtClean="0">
                                    <a:latin typeface="Cambria Math"/>
                                  </a:rPr>
                                  <m:t>2</m:t>
                                </m:r>
                              </m:sup>
                            </m:sSup>
                          </m:num>
                          <m:den>
                            <m:r>
                              <a:rPr lang="en-US" sz="2400" b="0" i="1" smtClean="0">
                                <a:latin typeface="Cambria Math"/>
                              </a:rPr>
                              <m:t>250</m:t>
                            </m:r>
                          </m:den>
                        </m:f>
                        <m:r>
                          <a:rPr lang="en-US" sz="2400" i="1">
                            <a:latin typeface="Cambria Math"/>
                          </a:rPr>
                          <m:t>+</m:t>
                        </m:r>
                        <m:f>
                          <m:fPr>
                            <m:ctrlPr>
                              <a:rPr lang="en-US" sz="2400" i="1">
                                <a:latin typeface="Cambria Math" charset="0"/>
                              </a:rPr>
                            </m:ctrlPr>
                          </m:fPr>
                          <m:num>
                            <m:sSup>
                              <m:sSupPr>
                                <m:ctrlPr>
                                  <a:rPr lang="en-US" sz="2400" i="1">
                                    <a:latin typeface="Cambria Math" charset="0"/>
                                  </a:rPr>
                                </m:ctrlPr>
                              </m:sSupPr>
                              <m:e>
                                <m:d>
                                  <m:dPr>
                                    <m:ctrlPr>
                                      <a:rPr lang="en-US" sz="2400" i="1">
                                        <a:latin typeface="Cambria Math" charset="0"/>
                                      </a:rPr>
                                    </m:ctrlPr>
                                  </m:dPr>
                                  <m:e>
                                    <m:r>
                                      <a:rPr lang="en-US" sz="2400" b="0" i="1" smtClean="0">
                                        <a:latin typeface="Cambria Math"/>
                                      </a:rPr>
                                      <m:t>1990</m:t>
                                    </m:r>
                                  </m:e>
                                </m:d>
                              </m:e>
                              <m:sup>
                                <m:r>
                                  <a:rPr lang="en-US" sz="2400" i="1">
                                    <a:latin typeface="Cambria Math"/>
                                  </a:rPr>
                                  <m:t>2</m:t>
                                </m:r>
                              </m:sup>
                            </m:sSup>
                          </m:num>
                          <m:den>
                            <m:r>
                              <a:rPr lang="en-US" sz="2400" b="0" i="1" smtClean="0">
                                <a:latin typeface="Cambria Math"/>
                              </a:rPr>
                              <m:t>200</m:t>
                            </m:r>
                          </m:den>
                        </m:f>
                      </m:e>
                    </m:rad>
                    <m:r>
                      <a:rPr lang="en-US" sz="2400" i="1">
                        <a:latin typeface="Cambria Math"/>
                      </a:rPr>
                      <m:t>=</m:t>
                    </m:r>
                    <m:r>
                      <a:rPr lang="en-US" sz="2400" b="0" i="1" smtClean="0">
                        <a:latin typeface="Cambria Math"/>
                      </a:rPr>
                      <m:t>$196.1196064</m:t>
                    </m:r>
                  </m:oMath>
                </a14:m>
                <a:endParaRPr lang="en-US" sz="2400" dirty="0"/>
              </a:p>
            </p:txBody>
          </p:sp>
        </mc:Choice>
        <mc:Fallback>
          <p:sp>
            <p:nvSpPr>
              <p:cNvPr id="2" name="TextBox 1"/>
              <p:cNvSpPr txBox="1">
                <a:spLocks noRot="1" noChangeAspect="1" noMove="1" noResize="1" noEditPoints="1" noAdjustHandles="1" noChangeArrowheads="1" noChangeShapeType="1" noTextEdit="1"/>
              </p:cNvSpPr>
              <p:nvPr/>
            </p:nvSpPr>
            <p:spPr>
              <a:xfrm>
                <a:off x="1371600" y="2133600"/>
                <a:ext cx="6363494" cy="1595437"/>
              </a:xfrm>
              <a:prstGeom prst="rect">
                <a:avLst/>
              </a:prstGeom>
              <a:blipFill rotWithShape="0">
                <a:blip r:embed="rId2"/>
                <a:stretch>
                  <a:fillRect/>
                </a:stretch>
              </a:blipFill>
            </p:spPr>
            <p:txBody>
              <a:bodyPr/>
              <a:lstStyle/>
              <a:p>
                <a:r>
                  <a:rPr lang="en-US">
                    <a:noFill/>
                  </a:rPr>
                  <a:t> </a:t>
                </a:r>
              </a:p>
            </p:txBody>
          </p:sp>
        </mc:Fallback>
      </mc:AlternateContent>
      <p:sp>
        <p:nvSpPr>
          <p:cNvPr id="7" name="Text Box 4"/>
          <p:cNvSpPr txBox="1">
            <a:spLocks noChangeArrowheads="1"/>
          </p:cNvSpPr>
          <p:nvPr/>
        </p:nvSpPr>
        <p:spPr bwMode="auto">
          <a:xfrm>
            <a:off x="4049486" y="6172200"/>
            <a:ext cx="47815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2"/>
          <p:cNvSpPr>
            <a:spLocks noGrp="1" noChangeArrowheads="1"/>
          </p:cNvSpPr>
          <p:nvPr>
            <p:ph type="title"/>
          </p:nvPr>
        </p:nvSpPr>
        <p:spPr/>
        <p:txBody>
          <a:bodyPr/>
          <a:lstStyle/>
          <a:p>
            <a:pPr eaLnBrk="1" hangingPunct="1"/>
            <a:r>
              <a:rPr lang="en-US" sz="2800" dirty="0" smtClean="0"/>
              <a:t>Example 10-3: Solution</a:t>
            </a:r>
          </a:p>
        </p:txBody>
      </p:sp>
      <p:sp>
        <p:nvSpPr>
          <p:cNvPr id="5124" name="Rectangle 3"/>
          <p:cNvSpPr>
            <a:spLocks noGrp="1" noChangeArrowheads="1"/>
          </p:cNvSpPr>
          <p:nvPr>
            <p:ph type="body" idx="1"/>
          </p:nvPr>
        </p:nvSpPr>
        <p:spPr>
          <a:xfrm>
            <a:off x="457200" y="1560512"/>
            <a:ext cx="7772400" cy="4459288"/>
          </a:xfrm>
        </p:spPr>
        <p:txBody>
          <a:bodyPr/>
          <a:lstStyle/>
          <a:p>
            <a:pPr marL="609600" indent="-609600" eaLnBrk="1" hangingPunct="1">
              <a:buSzPct val="80000"/>
              <a:buFont typeface="Wingdings" charset="2"/>
              <a:buNone/>
            </a:pPr>
            <a:r>
              <a:rPr lang="en-US" sz="2000" dirty="0" smtClean="0"/>
              <a:t>(b) 97% confidence level.</a:t>
            </a:r>
            <a:r>
              <a:rPr lang="en-US" sz="2000" dirty="0" smtClean="0">
                <a:sym typeface="Mathematica1" pitchFamily="2" charset="2"/>
              </a:rPr>
              <a:t> T</a:t>
            </a:r>
            <a:r>
              <a:rPr lang="en-US" sz="2000" dirty="0" smtClean="0"/>
              <a:t>he value of</a:t>
            </a:r>
            <a:r>
              <a:rPr lang="en-US" sz="2000" i="1" dirty="0" smtClean="0">
                <a:latin typeface="Times New Roman" charset="0"/>
              </a:rPr>
              <a:t> z</a:t>
            </a:r>
            <a:r>
              <a:rPr lang="en-US" sz="2000" dirty="0" smtClean="0"/>
              <a:t> is 2.17</a:t>
            </a:r>
          </a:p>
          <a:p>
            <a:pPr marL="609600" indent="-609600" eaLnBrk="1" hangingPunct="1"/>
            <a:endParaRPr lang="en-US" sz="2000" dirty="0" smtClean="0"/>
          </a:p>
          <a:p>
            <a:pPr marL="609600" indent="-609600" eaLnBrk="1" hangingPunct="1"/>
            <a:endParaRPr lang="en-US" sz="2000" dirty="0" smtClean="0"/>
          </a:p>
          <a:p>
            <a:pPr marL="609600" indent="-609600" eaLnBrk="1" hangingPunct="1"/>
            <a:endParaRPr lang="en-US" sz="2000" dirty="0" smtClean="0"/>
          </a:p>
          <a:p>
            <a:pPr marL="0" indent="0" eaLnBrk="1" hangingPunct="1">
              <a:buNone/>
            </a:pPr>
            <a:endParaRPr lang="en-US" sz="2000" dirty="0" smtClean="0"/>
          </a:p>
          <a:p>
            <a:pPr marL="0" indent="0" eaLnBrk="1" hangingPunct="1">
              <a:buNone/>
            </a:pPr>
            <a:r>
              <a:rPr lang="en-US" sz="2000" dirty="0" smtClean="0"/>
              <a:t>Thus, with 97% confidence we can state that the difference between the average annual premiums for employer-sponsored health insurance for family coverage in 2011 and 2010 is between $877.42 to $1728.58.</a:t>
            </a:r>
          </a:p>
          <a:p>
            <a:pPr marL="609600" indent="-609600" eaLnBrk="1" hangingPunct="1"/>
            <a:endParaRPr lang="en-US" sz="2400" dirty="0" smtClean="0"/>
          </a:p>
        </p:txBody>
      </p:sp>
      <mc:AlternateContent xmlns:mc="http://schemas.openxmlformats.org/markup-compatibility/2006" xmlns:a14="http://schemas.microsoft.com/office/drawing/2010/main">
        <mc:Choice Requires="a14">
          <p:sp>
            <p:nvSpPr>
              <p:cNvPr id="7" name="TextBox 6"/>
              <p:cNvSpPr txBox="1"/>
              <p:nvPr/>
            </p:nvSpPr>
            <p:spPr>
              <a:xfrm>
                <a:off x="914400" y="2057400"/>
                <a:ext cx="7467600" cy="1235916"/>
              </a:xfrm>
              <a:prstGeom prst="rect">
                <a:avLst/>
              </a:prstGeom>
              <a:noFill/>
            </p:spPr>
            <p:txBody>
              <a:bodyPr wrap="square" rtlCol="0">
                <a:spAutoFit/>
              </a:bodyPr>
              <a:lstStyle/>
              <a:p>
                <a14:m>
                  <m:oMath xmlns:m="http://schemas.openxmlformats.org/officeDocument/2006/math">
                    <m:sSub>
                      <m:sSubPr>
                        <m:ctrlPr>
                          <a:rPr lang="en-US" sz="2400" i="1" smtClean="0">
                            <a:latin typeface="Cambria Math" charset="0"/>
                          </a:rPr>
                        </m:ctrlPr>
                      </m:sSubPr>
                      <m:e>
                        <m:r>
                          <a:rPr lang="en-US" sz="2400" b="0" i="1" smtClean="0">
                            <a:latin typeface="Cambria Math"/>
                          </a:rPr>
                          <m:t> (</m:t>
                        </m:r>
                        <m:acc>
                          <m:accPr>
                            <m:chr m:val="̅"/>
                            <m:ctrlPr>
                              <a:rPr lang="en-US" sz="2400" b="0" i="1" smtClean="0">
                                <a:latin typeface="Cambria Math" charset="0"/>
                              </a:rPr>
                            </m:ctrlPr>
                          </m:accPr>
                          <m:e>
                            <m:sSub>
                              <m:sSubPr>
                                <m:ctrlPr>
                                  <a:rPr lang="en-US" sz="2400" b="0" i="1" smtClean="0">
                                    <a:latin typeface="Cambria Math" charset="0"/>
                                  </a:rPr>
                                </m:ctrlPr>
                              </m:sSubPr>
                              <m:e>
                                <m:r>
                                  <a:rPr lang="en-US" sz="2400" b="0" i="1" smtClean="0">
                                    <a:latin typeface="Cambria Math"/>
                                  </a:rPr>
                                  <m:t>𝑥</m:t>
                                </m:r>
                              </m:e>
                              <m:sub>
                                <m:r>
                                  <a:rPr lang="en-US" sz="2400" b="0" i="1" smtClean="0">
                                    <a:latin typeface="Cambria Math"/>
                                  </a:rPr>
                                  <m:t>1</m:t>
                                </m:r>
                              </m:sub>
                            </m:sSub>
                          </m:e>
                        </m:acc>
                        <m:r>
                          <a:rPr lang="en-US" sz="2400" i="1">
                            <a:latin typeface="Cambria Math"/>
                          </a:rPr>
                          <m:t> −</m:t>
                        </m:r>
                        <m:acc>
                          <m:accPr>
                            <m:chr m:val="̅"/>
                            <m:ctrlPr>
                              <a:rPr lang="en-US" sz="2400" i="1">
                                <a:latin typeface="Cambria Math" charset="0"/>
                              </a:rPr>
                            </m:ctrlPr>
                          </m:accPr>
                          <m:e>
                            <m:sSub>
                              <m:sSubPr>
                                <m:ctrlPr>
                                  <a:rPr lang="en-US" sz="2400" i="1">
                                    <a:latin typeface="Cambria Math" charset="0"/>
                                  </a:rPr>
                                </m:ctrlPr>
                              </m:sSubPr>
                              <m:e>
                                <m:r>
                                  <a:rPr lang="en-US" sz="2400" i="1">
                                    <a:latin typeface="Cambria Math"/>
                                  </a:rPr>
                                  <m:t>𝑥</m:t>
                                </m:r>
                              </m:e>
                              <m:sub>
                                <m:r>
                                  <a:rPr lang="en-US" sz="2400" b="0" i="1" smtClean="0">
                                    <a:latin typeface="Cambria Math"/>
                                  </a:rPr>
                                  <m:t>2</m:t>
                                </m:r>
                              </m:sub>
                            </m:sSub>
                          </m:e>
                        </m:acc>
                        <m:r>
                          <a:rPr lang="en-US" sz="2400" b="0" i="1" smtClean="0">
                            <a:latin typeface="Cambria Math"/>
                          </a:rPr>
                          <m:t>) </m:t>
                        </m:r>
                        <m:r>
                          <a:rPr lang="en-US" sz="2400" i="1" smtClean="0">
                            <a:latin typeface="Cambria Math"/>
                            <a:ea typeface="Cambria Math"/>
                          </a:rPr>
                          <m:t>±</m:t>
                        </m:r>
                        <m:r>
                          <a:rPr lang="en-US" sz="2400" b="0" i="1" smtClean="0">
                            <a:latin typeface="Cambria Math"/>
                            <a:ea typeface="Cambria Math"/>
                          </a:rPr>
                          <m:t>𝑧</m:t>
                        </m:r>
                        <m:r>
                          <a:rPr lang="en-US" sz="2400" b="0" i="1" smtClean="0">
                            <a:latin typeface="Cambria Math"/>
                            <a:ea typeface="Cambria Math"/>
                          </a:rPr>
                          <m:t> </m:t>
                        </m:r>
                        <m:r>
                          <a:rPr lang="en-US" sz="2400" i="1" smtClean="0">
                            <a:latin typeface="Cambria Math"/>
                            <a:ea typeface="Cambria Math"/>
                          </a:rPr>
                          <m:t>𝜎</m:t>
                        </m:r>
                      </m:e>
                      <m:sub>
                        <m:r>
                          <a:rPr lang="en-US" sz="2400" i="1">
                            <a:latin typeface="Cambria Math"/>
                          </a:rPr>
                          <m:t>(</m:t>
                        </m:r>
                        <m:acc>
                          <m:accPr>
                            <m:chr m:val="̅"/>
                            <m:ctrlPr>
                              <a:rPr lang="en-US" sz="2400" i="1">
                                <a:latin typeface="Cambria Math" charset="0"/>
                              </a:rPr>
                            </m:ctrlPr>
                          </m:accPr>
                          <m:e>
                            <m:sSub>
                              <m:sSubPr>
                                <m:ctrlPr>
                                  <a:rPr lang="en-US" sz="2400" i="1">
                                    <a:latin typeface="Cambria Math" charset="0"/>
                                  </a:rPr>
                                </m:ctrlPr>
                              </m:sSubPr>
                              <m:e>
                                <m:r>
                                  <a:rPr lang="en-US" sz="2400" i="1">
                                    <a:latin typeface="Cambria Math"/>
                                  </a:rPr>
                                  <m:t>𝑥</m:t>
                                </m:r>
                              </m:e>
                              <m:sub>
                                <m:r>
                                  <a:rPr lang="en-US" sz="2400" i="1">
                                    <a:latin typeface="Cambria Math"/>
                                  </a:rPr>
                                  <m:t>1</m:t>
                                </m:r>
                              </m:sub>
                            </m:sSub>
                          </m:e>
                        </m:acc>
                        <m:r>
                          <a:rPr lang="en-US" sz="2400" i="1">
                            <a:latin typeface="Cambria Math"/>
                          </a:rPr>
                          <m:t> −</m:t>
                        </m:r>
                        <m:acc>
                          <m:accPr>
                            <m:chr m:val="̅"/>
                            <m:ctrlPr>
                              <a:rPr lang="en-US" sz="2400" i="1">
                                <a:latin typeface="Cambria Math" charset="0"/>
                              </a:rPr>
                            </m:ctrlPr>
                          </m:accPr>
                          <m:e>
                            <m:sSub>
                              <m:sSubPr>
                                <m:ctrlPr>
                                  <a:rPr lang="en-US" sz="2400" i="1">
                                    <a:latin typeface="Cambria Math" charset="0"/>
                                  </a:rPr>
                                </m:ctrlPr>
                              </m:sSubPr>
                              <m:e>
                                <m:r>
                                  <a:rPr lang="en-US" sz="2400" i="1">
                                    <a:latin typeface="Cambria Math"/>
                                  </a:rPr>
                                  <m:t>𝑥</m:t>
                                </m:r>
                              </m:e>
                              <m:sub>
                                <m:r>
                                  <a:rPr lang="en-US" sz="2400" i="1">
                                    <a:latin typeface="Cambria Math"/>
                                  </a:rPr>
                                  <m:t>2</m:t>
                                </m:r>
                              </m:sub>
                            </m:sSub>
                          </m:e>
                        </m:acc>
                        <m:r>
                          <a:rPr lang="en-US" sz="2400" i="1">
                            <a:latin typeface="Cambria Math"/>
                          </a:rPr>
                          <m:t>)</m:t>
                        </m:r>
                      </m:sub>
                    </m:sSub>
                  </m:oMath>
                </a14:m>
                <a:r>
                  <a:rPr lang="en-US" sz="2400" i="1" dirty="0" smtClean="0">
                    <a:latin typeface="Cambria Math"/>
                  </a:rPr>
                  <a:t>   </a:t>
                </a:r>
              </a:p>
              <a:p>
                <a:pPr/>
                <a14:m>
                  <m:oMathPara xmlns:m="http://schemas.openxmlformats.org/officeDocument/2006/math">
                    <m:oMathParaPr>
                      <m:jc m:val="centerGroup"/>
                    </m:oMathParaPr>
                    <m:oMath xmlns:m="http://schemas.openxmlformats.org/officeDocument/2006/math">
                      <m:r>
                        <a:rPr lang="en-US" sz="2400" b="0" i="1" smtClean="0">
                          <a:latin typeface="Cambria Math"/>
                        </a:rPr>
                        <m:t>=($15,073 −$13,770) </m:t>
                      </m:r>
                      <m:r>
                        <a:rPr lang="en-US" sz="2400" b="0" i="1" smtClean="0">
                          <a:latin typeface="Cambria Math"/>
                          <a:ea typeface="Cambria Math"/>
                        </a:rPr>
                        <m:t>±2.17 </m:t>
                      </m:r>
                      <m:d>
                        <m:dPr>
                          <m:ctrlPr>
                            <a:rPr lang="en-US" sz="2400" b="0" i="1" smtClean="0">
                              <a:latin typeface="Cambria Math" charset="0"/>
                              <a:ea typeface="Cambria Math"/>
                            </a:rPr>
                          </m:ctrlPr>
                        </m:dPr>
                        <m:e>
                          <m:r>
                            <a:rPr lang="en-US" sz="2400" b="0" i="1" smtClean="0">
                              <a:latin typeface="Cambria Math"/>
                            </a:rPr>
                            <m:t>196.1196064</m:t>
                          </m:r>
                        </m:e>
                      </m:d>
                    </m:oMath>
                  </m:oMathPara>
                </a14:m>
                <a:endParaRPr lang="en-US" sz="2400" b="0" i="1" dirty="0" smtClean="0">
                  <a:latin typeface="Cambria Math"/>
                </a:endParaRPr>
              </a:p>
              <a:p>
                <a:r>
                  <a:rPr lang="en-US" sz="2400" b="0" dirty="0" smtClean="0"/>
                  <a:t>     </a:t>
                </a:r>
                <a14:m>
                  <m:oMath xmlns:m="http://schemas.openxmlformats.org/officeDocument/2006/math">
                    <m:r>
                      <a:rPr lang="en-US" sz="2400" b="0" i="1" smtClean="0">
                        <a:latin typeface="Cambria Math"/>
                      </a:rPr>
                      <m:t>=1303 </m:t>
                    </m:r>
                    <m:r>
                      <a:rPr lang="en-US" sz="2400" b="0" i="1" smtClean="0">
                        <a:latin typeface="Cambria Math"/>
                        <a:ea typeface="Cambria Math"/>
                      </a:rPr>
                      <m:t>±425.58</m:t>
                    </m:r>
                  </m:oMath>
                </a14:m>
                <a:r>
                  <a:rPr lang="en-US" sz="2400" b="0" i="1" dirty="0" smtClean="0">
                    <a:latin typeface="Cambria Math"/>
                    <a:ea typeface="Cambria Math"/>
                  </a:rPr>
                  <a:t>  </a:t>
                </a:r>
                <a14:m>
                  <m:oMath xmlns:m="http://schemas.openxmlformats.org/officeDocument/2006/math">
                    <m:r>
                      <a:rPr lang="en-US" sz="2400" b="0" i="1" smtClean="0">
                        <a:latin typeface="Cambria Math"/>
                        <a:ea typeface="Cambria Math"/>
                      </a:rPr>
                      <m:t>=$877.42 </m:t>
                    </m:r>
                    <m:r>
                      <a:rPr lang="en-US" sz="2400" b="0" i="1" smtClean="0">
                        <a:latin typeface="Cambria Math"/>
                        <a:ea typeface="Cambria Math"/>
                      </a:rPr>
                      <m:t>𝑡𝑜</m:t>
                    </m:r>
                    <m:r>
                      <a:rPr lang="en-US" sz="2400" b="0" i="1" smtClean="0">
                        <a:latin typeface="Cambria Math"/>
                        <a:ea typeface="Cambria Math"/>
                      </a:rPr>
                      <m:t> $1728.58</m:t>
                    </m:r>
                  </m:oMath>
                </a14:m>
                <a:endParaRPr lang="en-US" sz="2400" dirty="0"/>
              </a:p>
            </p:txBody>
          </p:sp>
        </mc:Choice>
        <mc:Fallback xmlns="" xmlns:mv="urn:schemas-microsoft-com:mac:vml">
          <p:sp>
            <p:nvSpPr>
              <p:cNvPr id="7" name="TextBox 6"/>
              <p:cNvSpPr txBox="1">
                <a:spLocks noRot="1" noChangeAspect="1" noMove="1" noResize="1" noEditPoints="1" noAdjustHandles="1" noChangeArrowheads="1" noChangeShapeType="1" noTextEdit="1"/>
              </p:cNvSpPr>
              <p:nvPr/>
            </p:nvSpPr>
            <p:spPr>
              <a:xfrm>
                <a:off x="914400" y="2057400"/>
                <a:ext cx="7467600" cy="1235916"/>
              </a:xfrm>
              <a:prstGeom prst="rect">
                <a:avLst/>
              </a:prstGeom>
              <a:blipFill rotWithShape="1">
                <a:blip r:embed="rId2"/>
                <a:stretch>
                  <a:fillRect b="-1485"/>
                </a:stretch>
              </a:blipFill>
            </p:spPr>
            <p:txBody>
              <a:bodyPr/>
              <a:lstStyle/>
              <a:p>
                <a:r>
                  <a:rPr lang="en-US">
                    <a:noFill/>
                  </a:rPr>
                  <a:t> </a:t>
                </a:r>
              </a:p>
            </p:txBody>
          </p:sp>
        </mc:Fallback>
      </mc:AlternateContent>
      <p:sp>
        <p:nvSpPr>
          <p:cNvPr id="8" name="Text Box 4"/>
          <p:cNvSpPr txBox="1">
            <a:spLocks noChangeArrowheads="1"/>
          </p:cNvSpPr>
          <p:nvPr/>
        </p:nvSpPr>
        <p:spPr bwMode="auto">
          <a:xfrm>
            <a:off x="4049486" y="6172200"/>
            <a:ext cx="47815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ChangeArrowheads="1"/>
          </p:cNvSpPr>
          <p:nvPr>
            <p:ph type="title"/>
          </p:nvPr>
        </p:nvSpPr>
        <p:spPr/>
        <p:txBody>
          <a:bodyPr/>
          <a:lstStyle/>
          <a:p>
            <a:pPr eaLnBrk="1" hangingPunct="1"/>
            <a:r>
              <a:rPr lang="en-US" sz="2800" dirty="0" smtClean="0"/>
              <a:t>Hypothesis Testing About </a:t>
            </a:r>
            <a:r>
              <a:rPr lang="el-GR" sz="2800" dirty="0" smtClean="0">
                <a:latin typeface="Times New Roman" charset="0"/>
                <a:cs typeface="Times New Roman" charset="0"/>
              </a:rPr>
              <a:t>μ</a:t>
            </a:r>
            <a:r>
              <a:rPr lang="en-GB" sz="2800" baseline="-25000" dirty="0" smtClean="0">
                <a:cs typeface="Times New Roman" charset="0"/>
              </a:rPr>
              <a:t>1</a:t>
            </a:r>
            <a:r>
              <a:rPr lang="en-GB" sz="2800" dirty="0" smtClean="0">
                <a:cs typeface="Times New Roman" charset="0"/>
              </a:rPr>
              <a:t> – </a:t>
            </a:r>
            <a:r>
              <a:rPr lang="el-GR" sz="2800" dirty="0" smtClean="0">
                <a:latin typeface="Times New Roman" charset="0"/>
                <a:cs typeface="Times New Roman" charset="0"/>
              </a:rPr>
              <a:t>μ</a:t>
            </a:r>
            <a:r>
              <a:rPr lang="en-GB" sz="2800" baseline="-25000" dirty="0" smtClean="0">
                <a:cs typeface="Times New Roman" charset="0"/>
              </a:rPr>
              <a:t>2</a:t>
            </a:r>
            <a:r>
              <a:rPr lang="en-US" sz="2800" dirty="0" smtClean="0"/>
              <a:t> </a:t>
            </a:r>
          </a:p>
        </p:txBody>
      </p:sp>
      <p:sp>
        <p:nvSpPr>
          <p:cNvPr id="65539" name="Rectangle 3"/>
          <p:cNvSpPr>
            <a:spLocks noGrp="1" noChangeArrowheads="1"/>
          </p:cNvSpPr>
          <p:nvPr>
            <p:ph type="body" idx="1"/>
          </p:nvPr>
        </p:nvSpPr>
        <p:spPr>
          <a:xfrm>
            <a:off x="457200" y="1524000"/>
            <a:ext cx="8193088" cy="1600200"/>
          </a:xfrm>
        </p:spPr>
        <p:txBody>
          <a:bodyPr/>
          <a:lstStyle/>
          <a:p>
            <a:pPr marL="457200" indent="-457200" eaLnBrk="1" hangingPunct="1">
              <a:buSzPct val="80000"/>
              <a:buAutoNum type="arabicPeriod"/>
            </a:pPr>
            <a:r>
              <a:rPr lang="en-GB" sz="2000" dirty="0" smtClean="0"/>
              <a:t>Testing an alternative hypothesis that the means of two populations are different is equivalent to </a:t>
            </a:r>
            <a:r>
              <a:rPr lang="el-GR" sz="2000" dirty="0" smtClean="0">
                <a:latin typeface="Times New Roman" charset="0"/>
                <a:cs typeface="Times New Roman" charset="0"/>
              </a:rPr>
              <a:t>μ</a:t>
            </a:r>
            <a:r>
              <a:rPr lang="en-US" sz="2000" baseline="-25000" dirty="0" smtClean="0">
                <a:cs typeface="Arial" charset="0"/>
              </a:rPr>
              <a:t>1</a:t>
            </a:r>
            <a:r>
              <a:rPr lang="en-US" sz="2000" dirty="0" smtClean="0">
                <a:cs typeface="Arial" charset="0"/>
              </a:rPr>
              <a:t> ≠ </a:t>
            </a:r>
            <a:r>
              <a:rPr lang="el-GR" sz="2000" dirty="0" smtClean="0">
                <a:latin typeface="Times New Roman" charset="0"/>
                <a:cs typeface="Times New Roman" charset="0"/>
              </a:rPr>
              <a:t>μ</a:t>
            </a:r>
            <a:r>
              <a:rPr lang="en-US" sz="2000" baseline="-25000" dirty="0" smtClean="0">
                <a:cs typeface="Arial" charset="0"/>
              </a:rPr>
              <a:t>2</a:t>
            </a:r>
            <a:r>
              <a:rPr lang="en-US" sz="2000" dirty="0" smtClean="0">
                <a:cs typeface="Arial" charset="0"/>
              </a:rPr>
              <a:t>, which is the same as </a:t>
            </a:r>
            <a:r>
              <a:rPr lang="el-GR" sz="2000" dirty="0" smtClean="0">
                <a:latin typeface="Times New Roman" charset="0"/>
                <a:cs typeface="Times New Roman" charset="0"/>
              </a:rPr>
              <a:t>μ</a:t>
            </a:r>
            <a:r>
              <a:rPr lang="en-US" sz="2000" baseline="-25000" dirty="0" smtClean="0">
                <a:cs typeface="Arial" charset="0"/>
              </a:rPr>
              <a:t>1</a:t>
            </a:r>
            <a:r>
              <a:rPr lang="en-US" sz="2000" dirty="0" smtClean="0">
                <a:cs typeface="Arial" charset="0"/>
              </a:rPr>
              <a:t> - </a:t>
            </a:r>
            <a:r>
              <a:rPr lang="el-GR" sz="2000" dirty="0" smtClean="0">
                <a:latin typeface="Times New Roman" charset="0"/>
                <a:cs typeface="Times New Roman" charset="0"/>
              </a:rPr>
              <a:t>μ</a:t>
            </a:r>
            <a:r>
              <a:rPr lang="en-US" sz="2000" baseline="-25000" dirty="0" smtClean="0">
                <a:cs typeface="Arial" charset="0"/>
              </a:rPr>
              <a:t>2</a:t>
            </a:r>
            <a:r>
              <a:rPr lang="en-US" sz="2000" dirty="0" smtClean="0">
                <a:cs typeface="Arial" charset="0"/>
              </a:rPr>
              <a:t> ≠ 0. </a:t>
            </a:r>
          </a:p>
          <a:p>
            <a:pPr marL="0" indent="0" eaLnBrk="1" hangingPunct="1">
              <a:buSzPct val="80000"/>
              <a:buNone/>
            </a:pPr>
            <a:endParaRPr lang="en-GB" sz="2000" dirty="0" smtClean="0">
              <a:cs typeface="Arial" charset="0"/>
            </a:endParaRPr>
          </a:p>
          <a:p>
            <a:pPr marL="609600" indent="-609600" eaLnBrk="1" hangingPunct="1">
              <a:buFont typeface="Wingdings" charset="2"/>
              <a:buNone/>
            </a:pPr>
            <a:endParaRPr lang="en-US" dirty="0" smtClean="0"/>
          </a:p>
        </p:txBody>
      </p:sp>
      <p:sp>
        <p:nvSpPr>
          <p:cNvPr id="6" name="Text Box 4"/>
          <p:cNvSpPr txBox="1">
            <a:spLocks noChangeArrowheads="1"/>
          </p:cNvSpPr>
          <p:nvPr/>
        </p:nvSpPr>
        <p:spPr bwMode="auto">
          <a:xfrm>
            <a:off x="4049486" y="6172200"/>
            <a:ext cx="47815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ChangeArrowheads="1"/>
          </p:cNvSpPr>
          <p:nvPr>
            <p:ph type="title"/>
          </p:nvPr>
        </p:nvSpPr>
        <p:spPr/>
        <p:txBody>
          <a:bodyPr/>
          <a:lstStyle/>
          <a:p>
            <a:pPr eaLnBrk="1" hangingPunct="1"/>
            <a:r>
              <a:rPr lang="en-US" sz="2800" dirty="0" smtClean="0"/>
              <a:t>HYPOTHESIS TESTING ABOUT </a:t>
            </a:r>
            <a:r>
              <a:rPr lang="el-GR" sz="2800" dirty="0" smtClean="0">
                <a:latin typeface="Times New Roman" charset="0"/>
                <a:cs typeface="Times New Roman" charset="0"/>
              </a:rPr>
              <a:t>μ</a:t>
            </a:r>
            <a:r>
              <a:rPr lang="en-GB" sz="2800" baseline="-25000" dirty="0" smtClean="0">
                <a:cs typeface="Times New Roman" charset="0"/>
              </a:rPr>
              <a:t>1</a:t>
            </a:r>
            <a:r>
              <a:rPr lang="en-GB" sz="2800" dirty="0" smtClean="0">
                <a:cs typeface="Times New Roman" charset="0"/>
              </a:rPr>
              <a:t> – </a:t>
            </a:r>
            <a:r>
              <a:rPr lang="el-GR" sz="2800" dirty="0" smtClean="0">
                <a:latin typeface="Times New Roman" charset="0"/>
                <a:cs typeface="Times New Roman" charset="0"/>
              </a:rPr>
              <a:t>μ</a:t>
            </a:r>
            <a:r>
              <a:rPr lang="en-GB" sz="2800" baseline="-25000" dirty="0" smtClean="0">
                <a:cs typeface="Times New Roman" charset="0"/>
              </a:rPr>
              <a:t>2</a:t>
            </a:r>
            <a:endParaRPr lang="en-US" sz="2800" baseline="-25000" dirty="0" smtClean="0">
              <a:cs typeface="Times New Roman" charset="0"/>
            </a:endParaRPr>
          </a:p>
        </p:txBody>
      </p:sp>
      <p:sp>
        <p:nvSpPr>
          <p:cNvPr id="66563" name="Rectangle 3"/>
          <p:cNvSpPr>
            <a:spLocks noGrp="1" noChangeArrowheads="1"/>
          </p:cNvSpPr>
          <p:nvPr>
            <p:ph type="body" idx="1"/>
          </p:nvPr>
        </p:nvSpPr>
        <p:spPr>
          <a:xfrm>
            <a:off x="493712" y="1524000"/>
            <a:ext cx="7964488" cy="1944687"/>
          </a:xfrm>
        </p:spPr>
        <p:txBody>
          <a:bodyPr/>
          <a:lstStyle/>
          <a:p>
            <a:pPr marL="609600" indent="-609600" eaLnBrk="1" hangingPunct="1">
              <a:buSzPct val="80000"/>
              <a:buFont typeface="Wingdings" charset="2"/>
              <a:buAutoNum type="arabicPeriod" startAt="2"/>
            </a:pPr>
            <a:r>
              <a:rPr lang="en-GB" sz="2000" dirty="0" smtClean="0"/>
              <a:t>Testing an alternative hypothesis that the mean of the first population is greater than the mean of the second population is equivalent to </a:t>
            </a:r>
            <a:r>
              <a:rPr lang="el-GR" sz="2000" dirty="0" smtClean="0">
                <a:latin typeface="Times New Roman" charset="0"/>
                <a:cs typeface="Times New Roman" charset="0"/>
              </a:rPr>
              <a:t>μ</a:t>
            </a:r>
            <a:r>
              <a:rPr lang="en-US" sz="2000" baseline="-25000" dirty="0" smtClean="0">
                <a:cs typeface="Arial" charset="0"/>
              </a:rPr>
              <a:t>1 </a:t>
            </a:r>
            <a:r>
              <a:rPr lang="en-US" sz="2000" dirty="0" smtClean="0">
                <a:cs typeface="Arial" charset="0"/>
              </a:rPr>
              <a:t>&gt; </a:t>
            </a:r>
            <a:r>
              <a:rPr lang="el-GR" sz="2000" dirty="0" smtClean="0">
                <a:latin typeface="Times New Roman" charset="0"/>
                <a:cs typeface="Times New Roman" charset="0"/>
              </a:rPr>
              <a:t>μ</a:t>
            </a:r>
            <a:r>
              <a:rPr lang="en-US" sz="2000" baseline="-25000" dirty="0" smtClean="0">
                <a:cs typeface="Arial" charset="0"/>
              </a:rPr>
              <a:t>2</a:t>
            </a:r>
            <a:r>
              <a:rPr lang="en-US" sz="2000" dirty="0" smtClean="0">
                <a:cs typeface="Arial" charset="0"/>
              </a:rPr>
              <a:t>, which is the same as </a:t>
            </a:r>
            <a:r>
              <a:rPr lang="el-GR" sz="2000" dirty="0" smtClean="0">
                <a:latin typeface="Times New Roman" charset="0"/>
                <a:cs typeface="Times New Roman" charset="0"/>
              </a:rPr>
              <a:t>μ</a:t>
            </a:r>
            <a:r>
              <a:rPr lang="en-US" sz="2000" baseline="-25000" dirty="0" smtClean="0">
                <a:cs typeface="Arial" charset="0"/>
              </a:rPr>
              <a:t>1</a:t>
            </a:r>
            <a:r>
              <a:rPr lang="en-US" sz="2000" dirty="0" smtClean="0">
                <a:cs typeface="Arial" charset="0"/>
              </a:rPr>
              <a:t> - </a:t>
            </a:r>
            <a:r>
              <a:rPr lang="el-GR" sz="2000" dirty="0" smtClean="0">
                <a:latin typeface="Times New Roman" charset="0"/>
                <a:cs typeface="Times New Roman" charset="0"/>
              </a:rPr>
              <a:t>μ</a:t>
            </a:r>
            <a:r>
              <a:rPr lang="en-US" sz="2000" baseline="-25000" dirty="0" smtClean="0">
                <a:cs typeface="Arial" charset="0"/>
              </a:rPr>
              <a:t>2</a:t>
            </a:r>
            <a:r>
              <a:rPr lang="en-US" sz="2000" dirty="0" smtClean="0">
                <a:cs typeface="Arial" charset="0"/>
              </a:rPr>
              <a:t> &gt; 0.</a:t>
            </a:r>
          </a:p>
        </p:txBody>
      </p:sp>
      <p:sp>
        <p:nvSpPr>
          <p:cNvPr id="6" name="Text Box 4"/>
          <p:cNvSpPr txBox="1">
            <a:spLocks noChangeArrowheads="1"/>
          </p:cNvSpPr>
          <p:nvPr/>
        </p:nvSpPr>
        <p:spPr bwMode="auto">
          <a:xfrm>
            <a:off x="4049486" y="6172200"/>
            <a:ext cx="47815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ChangeArrowheads="1"/>
          </p:cNvSpPr>
          <p:nvPr>
            <p:ph type="title"/>
          </p:nvPr>
        </p:nvSpPr>
        <p:spPr/>
        <p:txBody>
          <a:bodyPr/>
          <a:lstStyle/>
          <a:p>
            <a:pPr eaLnBrk="1" hangingPunct="1"/>
            <a:r>
              <a:rPr lang="en-US" sz="2800" dirty="0" smtClean="0"/>
              <a:t>HYPOTHESIS TESTING ABOUT </a:t>
            </a:r>
            <a:r>
              <a:rPr lang="el-GR" sz="2800" dirty="0" smtClean="0">
                <a:latin typeface="Times New Roman" charset="0"/>
                <a:cs typeface="Times New Roman" charset="0"/>
              </a:rPr>
              <a:t>μ</a:t>
            </a:r>
            <a:r>
              <a:rPr lang="en-GB" sz="2800" baseline="-25000" dirty="0" smtClean="0">
                <a:cs typeface="Times New Roman" charset="0"/>
              </a:rPr>
              <a:t>1</a:t>
            </a:r>
            <a:r>
              <a:rPr lang="en-GB" sz="2800" dirty="0" smtClean="0">
                <a:cs typeface="Times New Roman" charset="0"/>
              </a:rPr>
              <a:t> – </a:t>
            </a:r>
            <a:r>
              <a:rPr lang="el-GR" sz="2800" dirty="0" smtClean="0">
                <a:latin typeface="Times New Roman" charset="0"/>
                <a:cs typeface="Times New Roman" charset="0"/>
              </a:rPr>
              <a:t>μ</a:t>
            </a:r>
            <a:r>
              <a:rPr lang="en-GB" sz="2800" baseline="-25000" dirty="0" smtClean="0">
                <a:cs typeface="Times New Roman" charset="0"/>
              </a:rPr>
              <a:t>2</a:t>
            </a:r>
            <a:endParaRPr lang="en-US" sz="2800" baseline="-25000" dirty="0" smtClean="0">
              <a:cs typeface="Times New Roman" charset="0"/>
            </a:endParaRPr>
          </a:p>
        </p:txBody>
      </p:sp>
      <p:sp>
        <p:nvSpPr>
          <p:cNvPr id="67587" name="Rectangle 3"/>
          <p:cNvSpPr>
            <a:spLocks noGrp="1" noChangeArrowheads="1"/>
          </p:cNvSpPr>
          <p:nvPr>
            <p:ph type="body" idx="1"/>
          </p:nvPr>
        </p:nvSpPr>
        <p:spPr>
          <a:xfrm>
            <a:off x="493712" y="1524000"/>
            <a:ext cx="7964488" cy="2249487"/>
          </a:xfrm>
        </p:spPr>
        <p:txBody>
          <a:bodyPr/>
          <a:lstStyle/>
          <a:p>
            <a:pPr marL="609600" indent="-609600" eaLnBrk="1" hangingPunct="1">
              <a:buSzPct val="80000"/>
              <a:buFont typeface="Wingdings" charset="2"/>
              <a:buAutoNum type="arabicPeriod" startAt="3"/>
            </a:pPr>
            <a:r>
              <a:rPr lang="en-GB" sz="2000" dirty="0" smtClean="0"/>
              <a:t>Testing an alternative hypothesis that the mean of the first population is less than the mean of the second population is equivalent to </a:t>
            </a:r>
            <a:r>
              <a:rPr lang="el-GR" sz="2000" dirty="0" smtClean="0">
                <a:latin typeface="Times New Roman" charset="0"/>
                <a:cs typeface="Times New Roman" charset="0"/>
              </a:rPr>
              <a:t>μ</a:t>
            </a:r>
            <a:r>
              <a:rPr lang="en-US" sz="2000" baseline="-25000" dirty="0" smtClean="0">
                <a:cs typeface="Arial" charset="0"/>
              </a:rPr>
              <a:t>1</a:t>
            </a:r>
            <a:r>
              <a:rPr lang="en-US" sz="2000" dirty="0" smtClean="0">
                <a:cs typeface="Arial" charset="0"/>
              </a:rPr>
              <a:t> &lt; </a:t>
            </a:r>
            <a:r>
              <a:rPr lang="el-GR" sz="2000" dirty="0" smtClean="0">
                <a:latin typeface="Times New Roman" charset="0"/>
                <a:cs typeface="Times New Roman" charset="0"/>
              </a:rPr>
              <a:t>μ</a:t>
            </a:r>
            <a:r>
              <a:rPr lang="en-US" sz="2000" baseline="-25000" dirty="0" smtClean="0">
                <a:cs typeface="Arial" charset="0"/>
              </a:rPr>
              <a:t>2</a:t>
            </a:r>
            <a:r>
              <a:rPr lang="en-US" sz="2000" dirty="0" smtClean="0">
                <a:cs typeface="Arial" charset="0"/>
              </a:rPr>
              <a:t>, which is the same as </a:t>
            </a:r>
            <a:r>
              <a:rPr lang="el-GR" sz="2000" dirty="0" smtClean="0">
                <a:latin typeface="Times New Roman" charset="0"/>
                <a:cs typeface="Times New Roman" charset="0"/>
              </a:rPr>
              <a:t>μ</a:t>
            </a:r>
            <a:r>
              <a:rPr lang="en-US" sz="2000" baseline="-25000" dirty="0" smtClean="0">
                <a:cs typeface="Arial" charset="0"/>
              </a:rPr>
              <a:t>1</a:t>
            </a:r>
            <a:r>
              <a:rPr lang="en-US" sz="2000" dirty="0" smtClean="0">
                <a:cs typeface="Arial" charset="0"/>
              </a:rPr>
              <a:t> - </a:t>
            </a:r>
            <a:r>
              <a:rPr lang="el-GR" sz="2000" dirty="0" smtClean="0">
                <a:latin typeface="Times New Roman" charset="0"/>
                <a:cs typeface="Times New Roman" charset="0"/>
              </a:rPr>
              <a:t>μ</a:t>
            </a:r>
            <a:r>
              <a:rPr lang="en-US" sz="2000" baseline="-25000" dirty="0" smtClean="0">
                <a:cs typeface="Arial" charset="0"/>
              </a:rPr>
              <a:t>2</a:t>
            </a:r>
            <a:r>
              <a:rPr lang="en-US" sz="2000" dirty="0" smtClean="0">
                <a:cs typeface="Arial" charset="0"/>
              </a:rPr>
              <a:t> &lt; 0.</a:t>
            </a:r>
          </a:p>
        </p:txBody>
      </p:sp>
      <p:sp>
        <p:nvSpPr>
          <p:cNvPr id="6" name="Text Box 4"/>
          <p:cNvSpPr txBox="1">
            <a:spLocks noChangeArrowheads="1"/>
          </p:cNvSpPr>
          <p:nvPr/>
        </p:nvSpPr>
        <p:spPr bwMode="auto">
          <a:xfrm>
            <a:off x="4049486" y="6172200"/>
            <a:ext cx="47815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9" name="Rectangle 2"/>
          <p:cNvSpPr>
            <a:spLocks noGrp="1" noChangeArrowheads="1"/>
          </p:cNvSpPr>
          <p:nvPr>
            <p:ph type="title"/>
          </p:nvPr>
        </p:nvSpPr>
        <p:spPr/>
        <p:txBody>
          <a:bodyPr/>
          <a:lstStyle/>
          <a:p>
            <a:pPr eaLnBrk="1" hangingPunct="1"/>
            <a:r>
              <a:rPr lang="en-US" sz="2800" dirty="0" smtClean="0"/>
              <a:t>HYPOTHESIS TESTING ABOUT </a:t>
            </a:r>
            <a:r>
              <a:rPr lang="el-GR" sz="2800" dirty="0" smtClean="0">
                <a:latin typeface="Times New Roman" charset="0"/>
                <a:cs typeface="Times New Roman" charset="0"/>
              </a:rPr>
              <a:t>μ</a:t>
            </a:r>
            <a:r>
              <a:rPr lang="en-GB" sz="2800" baseline="-25000" dirty="0" smtClean="0">
                <a:cs typeface="Times New Roman" charset="0"/>
              </a:rPr>
              <a:t>1</a:t>
            </a:r>
            <a:r>
              <a:rPr lang="en-GB" sz="2800" dirty="0" smtClean="0">
                <a:cs typeface="Times New Roman" charset="0"/>
              </a:rPr>
              <a:t> – </a:t>
            </a:r>
            <a:r>
              <a:rPr lang="el-GR" sz="2800" dirty="0" smtClean="0">
                <a:latin typeface="Times New Roman" charset="0"/>
                <a:cs typeface="Times New Roman" charset="0"/>
              </a:rPr>
              <a:t>μ</a:t>
            </a:r>
            <a:r>
              <a:rPr lang="en-GB" sz="2800" baseline="-25000" dirty="0" smtClean="0">
                <a:cs typeface="Times New Roman" charset="0"/>
              </a:rPr>
              <a:t>2</a:t>
            </a:r>
            <a:endParaRPr lang="en-US" sz="2800" dirty="0" smtClean="0">
              <a:cs typeface="Times New Roman" charset="0"/>
            </a:endParaRPr>
          </a:p>
        </p:txBody>
      </p:sp>
      <p:sp>
        <p:nvSpPr>
          <p:cNvPr id="6150" name="Rectangle 3"/>
          <p:cNvSpPr>
            <a:spLocks noGrp="1" noChangeArrowheads="1"/>
          </p:cNvSpPr>
          <p:nvPr>
            <p:ph type="body" idx="1"/>
          </p:nvPr>
        </p:nvSpPr>
        <p:spPr>
          <a:xfrm>
            <a:off x="152400" y="1503362"/>
            <a:ext cx="8650288" cy="3525838"/>
          </a:xfrm>
        </p:spPr>
        <p:txBody>
          <a:bodyPr/>
          <a:lstStyle/>
          <a:p>
            <a:pPr eaLnBrk="1" hangingPunct="1">
              <a:lnSpc>
                <a:spcPct val="90000"/>
              </a:lnSpc>
              <a:buFont typeface="Tahoma" charset="0"/>
              <a:buChar char=" "/>
            </a:pPr>
            <a:r>
              <a:rPr lang="en-US" sz="2000" dirty="0" smtClean="0">
                <a:solidFill>
                  <a:schemeClr val="folHlink"/>
                </a:solidFill>
              </a:rPr>
              <a:t>Test Statistic z for </a:t>
            </a:r>
            <a:r>
              <a:rPr lang="en-US" sz="2000" i="1" dirty="0" smtClean="0">
                <a:solidFill>
                  <a:schemeClr val="folHlink"/>
                </a:solidFill>
                <a:latin typeface="Times New Roman" charset="0"/>
              </a:rPr>
              <a:t>x</a:t>
            </a:r>
            <a:r>
              <a:rPr lang="en-US" sz="2000" baseline="-25000" dirty="0" smtClean="0">
                <a:solidFill>
                  <a:schemeClr val="folHlink"/>
                </a:solidFill>
              </a:rPr>
              <a:t>1</a:t>
            </a:r>
            <a:r>
              <a:rPr lang="en-US" sz="2000" dirty="0" smtClean="0">
                <a:solidFill>
                  <a:schemeClr val="folHlink"/>
                </a:solidFill>
              </a:rPr>
              <a:t> – </a:t>
            </a:r>
            <a:r>
              <a:rPr lang="en-US" sz="2000" i="1" dirty="0" smtClean="0">
                <a:solidFill>
                  <a:schemeClr val="folHlink"/>
                </a:solidFill>
                <a:latin typeface="Times New Roman" charset="0"/>
              </a:rPr>
              <a:t>x</a:t>
            </a:r>
            <a:r>
              <a:rPr lang="en-US" sz="2000" baseline="-25000" dirty="0" smtClean="0">
                <a:solidFill>
                  <a:schemeClr val="folHlink"/>
                </a:solidFill>
              </a:rPr>
              <a:t>2</a:t>
            </a:r>
            <a:r>
              <a:rPr lang="en-US" sz="2000" dirty="0" smtClean="0">
                <a:solidFill>
                  <a:schemeClr val="folHlink"/>
                </a:solidFill>
              </a:rPr>
              <a:t> </a:t>
            </a:r>
          </a:p>
          <a:p>
            <a:pPr eaLnBrk="1" hangingPunct="1">
              <a:lnSpc>
                <a:spcPct val="90000"/>
              </a:lnSpc>
              <a:buFont typeface="Tahoma" charset="0"/>
              <a:buChar char=" "/>
            </a:pPr>
            <a:r>
              <a:rPr lang="en-US" sz="2000" dirty="0" smtClean="0"/>
              <a:t>When using the normal distribution, the value of the </a:t>
            </a:r>
            <a:r>
              <a:rPr lang="en-US" sz="2000" b="1" i="1" u="sng" dirty="0" smtClean="0">
                <a:solidFill>
                  <a:schemeClr val="hlink"/>
                </a:solidFill>
              </a:rPr>
              <a:t>test </a:t>
            </a:r>
          </a:p>
          <a:p>
            <a:pPr eaLnBrk="1" hangingPunct="1">
              <a:lnSpc>
                <a:spcPct val="90000"/>
              </a:lnSpc>
              <a:buFont typeface="Tahoma" charset="0"/>
              <a:buChar char=" "/>
            </a:pPr>
            <a:r>
              <a:rPr lang="en-US" sz="2000" b="1" i="1" u="sng" dirty="0" smtClean="0">
                <a:solidFill>
                  <a:schemeClr val="hlink"/>
                </a:solidFill>
              </a:rPr>
              <a:t>statistic </a:t>
            </a:r>
            <a:r>
              <a:rPr lang="en-US" sz="2000" b="1" i="1" u="sng" dirty="0" smtClean="0">
                <a:solidFill>
                  <a:schemeClr val="hlink"/>
                </a:solidFill>
                <a:latin typeface="Times New Roman" charset="0"/>
              </a:rPr>
              <a:t>z</a:t>
            </a:r>
            <a:r>
              <a:rPr lang="en-US" sz="2000" dirty="0" smtClean="0"/>
              <a:t> for              is computed as</a:t>
            </a:r>
          </a:p>
          <a:p>
            <a:pPr eaLnBrk="1" hangingPunct="1">
              <a:lnSpc>
                <a:spcPct val="90000"/>
              </a:lnSpc>
              <a:buFont typeface="Tahoma" charset="0"/>
              <a:buChar char=" "/>
            </a:pPr>
            <a:endParaRPr lang="en-US" sz="2000" dirty="0" smtClean="0"/>
          </a:p>
          <a:p>
            <a:pPr eaLnBrk="1" hangingPunct="1">
              <a:lnSpc>
                <a:spcPct val="90000"/>
              </a:lnSpc>
              <a:buFont typeface="Tahoma" charset="0"/>
              <a:buChar char=" "/>
            </a:pPr>
            <a:endParaRPr lang="en-US" sz="2000" dirty="0" smtClean="0"/>
          </a:p>
          <a:p>
            <a:pPr eaLnBrk="1" hangingPunct="1">
              <a:lnSpc>
                <a:spcPct val="90000"/>
              </a:lnSpc>
              <a:buFont typeface="Tahoma" charset="0"/>
              <a:buChar char=" "/>
            </a:pPr>
            <a:endParaRPr lang="en-US" sz="2000" dirty="0" smtClean="0"/>
          </a:p>
          <a:p>
            <a:pPr eaLnBrk="1" hangingPunct="1">
              <a:lnSpc>
                <a:spcPct val="90000"/>
              </a:lnSpc>
              <a:buFont typeface="Tahoma" charset="0"/>
              <a:buChar char=" "/>
            </a:pPr>
            <a:endParaRPr lang="en-US" sz="2000" dirty="0" smtClean="0"/>
          </a:p>
          <a:p>
            <a:pPr eaLnBrk="1" hangingPunct="1">
              <a:lnSpc>
                <a:spcPct val="90000"/>
              </a:lnSpc>
              <a:buFont typeface="Tahoma" charset="0"/>
              <a:buChar char=" "/>
            </a:pPr>
            <a:r>
              <a:rPr lang="en-US" sz="2000" dirty="0" smtClean="0"/>
              <a:t>The value of </a:t>
            </a:r>
            <a:r>
              <a:rPr lang="el-GR" sz="2000" dirty="0" smtClean="0">
                <a:latin typeface="Times New Roman" charset="0"/>
                <a:cs typeface="Times New Roman" charset="0"/>
              </a:rPr>
              <a:t>μ</a:t>
            </a:r>
            <a:r>
              <a:rPr lang="en-GB" sz="2000" baseline="-25000" dirty="0" smtClean="0">
                <a:cs typeface="Times New Roman" charset="0"/>
              </a:rPr>
              <a:t>1</a:t>
            </a:r>
            <a:r>
              <a:rPr lang="en-GB" sz="2000" dirty="0" smtClean="0">
                <a:cs typeface="Times New Roman" charset="0"/>
              </a:rPr>
              <a:t> – </a:t>
            </a:r>
            <a:r>
              <a:rPr lang="el-GR" sz="2000" dirty="0" smtClean="0">
                <a:latin typeface="Times New Roman" charset="0"/>
                <a:cs typeface="Times New Roman" charset="0"/>
              </a:rPr>
              <a:t>μ</a:t>
            </a:r>
            <a:r>
              <a:rPr lang="en-GB" sz="2000" baseline="-25000" dirty="0" smtClean="0">
                <a:cs typeface="Times New Roman" charset="0"/>
              </a:rPr>
              <a:t>2 </a:t>
            </a:r>
            <a:r>
              <a:rPr lang="en-GB" sz="2000" dirty="0" smtClean="0">
                <a:cs typeface="Times New Roman" charset="0"/>
              </a:rPr>
              <a:t>is substituted from </a:t>
            </a:r>
            <a:r>
              <a:rPr lang="en-GB" sz="2000" i="1" dirty="0" smtClean="0">
                <a:cs typeface="Times New Roman" charset="0"/>
              </a:rPr>
              <a:t>H</a:t>
            </a:r>
            <a:r>
              <a:rPr lang="en-GB" sz="2000" baseline="-25000" dirty="0" smtClean="0">
                <a:cs typeface="Times New Roman" charset="0"/>
              </a:rPr>
              <a:t>0</a:t>
            </a:r>
            <a:r>
              <a:rPr lang="en-GB" sz="2000" dirty="0" smtClean="0">
                <a:cs typeface="Times New Roman" charset="0"/>
              </a:rPr>
              <a:t>. The value of           </a:t>
            </a:r>
          </a:p>
          <a:p>
            <a:pPr eaLnBrk="1" hangingPunct="1">
              <a:lnSpc>
                <a:spcPct val="90000"/>
              </a:lnSpc>
              <a:buFont typeface="Tahoma" charset="0"/>
              <a:buChar char=" "/>
            </a:pPr>
            <a:r>
              <a:rPr lang="en-GB" sz="2000" dirty="0" smtClean="0">
                <a:cs typeface="Times New Roman" charset="0"/>
              </a:rPr>
              <a:t>is calculated as earlier in this section.</a:t>
            </a:r>
            <a:endParaRPr lang="en-US" sz="2000" dirty="0" smtClean="0"/>
          </a:p>
        </p:txBody>
      </p:sp>
      <p:graphicFrame>
        <p:nvGraphicFramePr>
          <p:cNvPr id="6146" name="Object 2"/>
          <p:cNvGraphicFramePr>
            <a:graphicFrameLocks noChangeAspect="1"/>
          </p:cNvGraphicFramePr>
          <p:nvPr>
            <p:extLst>
              <p:ext uri="{D42A27DB-BD31-4B8C-83A1-F6EECF244321}">
                <p14:modId xmlns:p14="http://schemas.microsoft.com/office/powerpoint/2010/main" val="2736166333"/>
              </p:ext>
            </p:extLst>
          </p:nvPr>
        </p:nvGraphicFramePr>
        <p:xfrm>
          <a:off x="2449513" y="2095500"/>
          <a:ext cx="1055687" cy="488354"/>
        </p:xfrm>
        <a:graphic>
          <a:graphicData uri="http://schemas.openxmlformats.org/presentationml/2006/ole">
            <mc:AlternateContent xmlns:mc="http://schemas.openxmlformats.org/markup-compatibility/2006">
              <mc:Choice xmlns:v="urn:schemas-microsoft-com:vml" Requires="v">
                <p:oleObj spid="_x0000_s6279" name="Equation" r:id="rId3" imgW="495000" imgH="228600" progId="">
                  <p:embed/>
                </p:oleObj>
              </mc:Choice>
              <mc:Fallback>
                <p:oleObj name="Equation" r:id="rId3" imgW="495000" imgH="228600" progId="">
                  <p:embed/>
                  <p:pic>
                    <p:nvPicPr>
                      <p:cNvPr id="0" name="Picture 10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49513" y="2095500"/>
                        <a:ext cx="1055687" cy="48835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147" name="Object 3"/>
          <p:cNvGraphicFramePr>
            <a:graphicFrameLocks noChangeAspect="1"/>
          </p:cNvGraphicFramePr>
          <p:nvPr>
            <p:extLst>
              <p:ext uri="{D42A27DB-BD31-4B8C-83A1-F6EECF244321}">
                <p14:modId xmlns:p14="http://schemas.microsoft.com/office/powerpoint/2010/main" val="2795457736"/>
              </p:ext>
            </p:extLst>
          </p:nvPr>
        </p:nvGraphicFramePr>
        <p:xfrm>
          <a:off x="7715250" y="3710041"/>
          <a:ext cx="990600" cy="627380"/>
        </p:xfrm>
        <a:graphic>
          <a:graphicData uri="http://schemas.openxmlformats.org/presentationml/2006/ole">
            <mc:AlternateContent xmlns:mc="http://schemas.openxmlformats.org/markup-compatibility/2006">
              <mc:Choice xmlns:v="urn:schemas-microsoft-com:vml" Requires="v">
                <p:oleObj spid="_x0000_s6280" name="Equation" r:id="rId5" imgW="380880" imgH="241200" progId="Equation.3">
                  <p:embed/>
                </p:oleObj>
              </mc:Choice>
              <mc:Fallback>
                <p:oleObj name="Equation" r:id="rId5" imgW="380880" imgH="241200" progId="Equation.3">
                  <p:embed/>
                  <p:pic>
                    <p:nvPicPr>
                      <p:cNvPr id="0" name="Picture 10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715250" y="3710041"/>
                        <a:ext cx="990600" cy="62738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148" name="Object 4"/>
          <p:cNvGraphicFramePr>
            <a:graphicFrameLocks noChangeAspect="1"/>
          </p:cNvGraphicFramePr>
          <p:nvPr>
            <p:extLst>
              <p:ext uri="{D42A27DB-BD31-4B8C-83A1-F6EECF244321}">
                <p14:modId xmlns:p14="http://schemas.microsoft.com/office/powerpoint/2010/main" val="737875757"/>
              </p:ext>
            </p:extLst>
          </p:nvPr>
        </p:nvGraphicFramePr>
        <p:xfrm>
          <a:off x="2439591" y="2667000"/>
          <a:ext cx="3544094" cy="1038129"/>
        </p:xfrm>
        <a:graphic>
          <a:graphicData uri="http://schemas.openxmlformats.org/presentationml/2006/ole">
            <mc:AlternateContent xmlns:mc="http://schemas.openxmlformats.org/markup-compatibility/2006">
              <mc:Choice xmlns:v="urn:schemas-microsoft-com:vml" Requires="v">
                <p:oleObj spid="_x0000_s6281" name="Equation" r:id="rId7" imgW="1562040" imgH="457200" progId="">
                  <p:embed/>
                </p:oleObj>
              </mc:Choice>
              <mc:Fallback>
                <p:oleObj name="Equation" r:id="rId7" imgW="1562040" imgH="457200" progId="">
                  <p:embed/>
                  <p:pic>
                    <p:nvPicPr>
                      <p:cNvPr id="0" name="Picture 10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439591" y="2667000"/>
                        <a:ext cx="3544094" cy="103812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151" name="Line 8"/>
          <p:cNvSpPr>
            <a:spLocks noChangeShapeType="1"/>
          </p:cNvSpPr>
          <p:nvPr/>
        </p:nvSpPr>
        <p:spPr bwMode="auto">
          <a:xfrm>
            <a:off x="2992425" y="1562100"/>
            <a:ext cx="188925" cy="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152" name="Line 9"/>
          <p:cNvSpPr>
            <a:spLocks noChangeShapeType="1"/>
          </p:cNvSpPr>
          <p:nvPr/>
        </p:nvSpPr>
        <p:spPr bwMode="auto">
          <a:xfrm>
            <a:off x="3543300" y="1562100"/>
            <a:ext cx="208183" cy="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 name="Text Box 4"/>
          <p:cNvSpPr txBox="1">
            <a:spLocks noChangeArrowheads="1"/>
          </p:cNvSpPr>
          <p:nvPr/>
        </p:nvSpPr>
        <p:spPr bwMode="auto">
          <a:xfrm>
            <a:off x="4049486" y="6172200"/>
            <a:ext cx="47815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ChangeArrowheads="1"/>
          </p:cNvSpPr>
          <p:nvPr>
            <p:ph type="title"/>
          </p:nvPr>
        </p:nvSpPr>
        <p:spPr/>
        <p:txBody>
          <a:bodyPr/>
          <a:lstStyle/>
          <a:p>
            <a:pPr eaLnBrk="1" hangingPunct="1"/>
            <a:r>
              <a:rPr lang="en-US" sz="2800" dirty="0" smtClean="0"/>
              <a:t>Example</a:t>
            </a:r>
            <a:r>
              <a:rPr lang="en-US" sz="3200" dirty="0" smtClean="0"/>
              <a:t> 10-4</a:t>
            </a:r>
          </a:p>
        </p:txBody>
      </p:sp>
      <p:sp>
        <p:nvSpPr>
          <p:cNvPr id="68611" name="Rectangle 3"/>
          <p:cNvSpPr>
            <a:spLocks noGrp="1" noChangeArrowheads="1"/>
          </p:cNvSpPr>
          <p:nvPr>
            <p:ph type="body" idx="1"/>
          </p:nvPr>
        </p:nvSpPr>
        <p:spPr>
          <a:xfrm>
            <a:off x="112712" y="1524001"/>
            <a:ext cx="8497888" cy="2057400"/>
          </a:xfrm>
        </p:spPr>
        <p:txBody>
          <a:bodyPr/>
          <a:lstStyle/>
          <a:p>
            <a:pPr eaLnBrk="1" hangingPunct="1">
              <a:buFont typeface="Tahoma" charset="0"/>
              <a:buChar char=" "/>
            </a:pPr>
            <a:r>
              <a:rPr lang="en-US" sz="2000" dirty="0" smtClean="0"/>
              <a:t>Refer to Example 10-3 about the average annual premiums for employer-sponsored health insurance for family coverage in 2011 and 2010. Test at the 1% significance level whether the population means for the two years are different.</a:t>
            </a:r>
          </a:p>
        </p:txBody>
      </p:sp>
      <p:sp>
        <p:nvSpPr>
          <p:cNvPr id="6" name="Text Box 4"/>
          <p:cNvSpPr txBox="1">
            <a:spLocks noChangeArrowheads="1"/>
          </p:cNvSpPr>
          <p:nvPr/>
        </p:nvSpPr>
        <p:spPr bwMode="auto">
          <a:xfrm>
            <a:off x="4049486" y="6172200"/>
            <a:ext cx="47815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title"/>
          </p:nvPr>
        </p:nvSpPr>
        <p:spPr/>
        <p:txBody>
          <a:bodyPr/>
          <a:lstStyle/>
          <a:p>
            <a:pPr eaLnBrk="1" hangingPunct="1"/>
            <a:r>
              <a:rPr lang="en-US" sz="2800" dirty="0" smtClean="0"/>
              <a:t>Example 10-4: Solution</a:t>
            </a:r>
          </a:p>
        </p:txBody>
      </p:sp>
      <p:sp>
        <p:nvSpPr>
          <p:cNvPr id="69635" name="Rectangle 3"/>
          <p:cNvSpPr>
            <a:spLocks noGrp="1" noChangeArrowheads="1"/>
          </p:cNvSpPr>
          <p:nvPr>
            <p:ph type="body" idx="1"/>
          </p:nvPr>
        </p:nvSpPr>
        <p:spPr>
          <a:xfrm>
            <a:off x="457200" y="1524001"/>
            <a:ext cx="8345488" cy="1905000"/>
          </a:xfrm>
        </p:spPr>
        <p:txBody>
          <a:bodyPr/>
          <a:lstStyle/>
          <a:p>
            <a:pPr marL="0" indent="0" eaLnBrk="1" hangingPunct="1">
              <a:buNone/>
            </a:pPr>
            <a:r>
              <a:rPr lang="en-US" sz="2000" b="1" dirty="0" smtClean="0"/>
              <a:t>Step 1:</a:t>
            </a:r>
          </a:p>
          <a:p>
            <a:pPr marL="0" indent="0" eaLnBrk="1" hangingPunct="1">
              <a:buNone/>
            </a:pPr>
            <a:r>
              <a:rPr lang="en-US" sz="2000" i="1" dirty="0" smtClean="0"/>
              <a:t>   H</a:t>
            </a:r>
            <a:r>
              <a:rPr lang="en-US" sz="2000" baseline="-25000" dirty="0" smtClean="0"/>
              <a:t>0</a:t>
            </a:r>
            <a:r>
              <a:rPr lang="en-US" sz="2000" dirty="0" smtClean="0"/>
              <a:t>: </a:t>
            </a:r>
            <a:r>
              <a:rPr lang="el-GR" sz="2000" dirty="0" smtClean="0">
                <a:latin typeface="Times New Roman" charset="0"/>
                <a:cs typeface="Times New Roman" charset="0"/>
              </a:rPr>
              <a:t>μ</a:t>
            </a:r>
            <a:r>
              <a:rPr lang="en-GB" sz="2000" baseline="-25000" dirty="0" smtClean="0">
                <a:cs typeface="Times New Roman" charset="0"/>
              </a:rPr>
              <a:t>1</a:t>
            </a:r>
            <a:r>
              <a:rPr lang="en-GB" sz="2000" dirty="0" smtClean="0">
                <a:cs typeface="Times New Roman" charset="0"/>
              </a:rPr>
              <a:t> – </a:t>
            </a:r>
            <a:r>
              <a:rPr lang="el-GR" sz="2000" dirty="0" smtClean="0">
                <a:latin typeface="Times New Roman" charset="0"/>
                <a:cs typeface="Times New Roman" charset="0"/>
              </a:rPr>
              <a:t>μ</a:t>
            </a:r>
            <a:r>
              <a:rPr lang="en-GB" sz="2000" baseline="-25000" dirty="0" smtClean="0">
                <a:cs typeface="Times New Roman" charset="0"/>
              </a:rPr>
              <a:t>2</a:t>
            </a:r>
            <a:r>
              <a:rPr lang="en-GB" sz="2000" dirty="0" smtClean="0">
                <a:cs typeface="Times New Roman" charset="0"/>
              </a:rPr>
              <a:t> = 0 (The two population means are not different.)</a:t>
            </a:r>
          </a:p>
          <a:p>
            <a:pPr marL="0" indent="0" eaLnBrk="1" hangingPunct="1">
              <a:buNone/>
            </a:pPr>
            <a:r>
              <a:rPr lang="en-US" sz="2000" i="1" dirty="0" smtClean="0"/>
              <a:t>   H</a:t>
            </a:r>
            <a:r>
              <a:rPr lang="en-US" sz="2000" baseline="-25000" dirty="0" smtClean="0"/>
              <a:t>1</a:t>
            </a:r>
            <a:r>
              <a:rPr lang="en-US" sz="2000" dirty="0" smtClean="0"/>
              <a:t>: </a:t>
            </a:r>
            <a:r>
              <a:rPr lang="el-GR" sz="2000" dirty="0" smtClean="0">
                <a:latin typeface="Times New Roman" charset="0"/>
                <a:cs typeface="Times New Roman" charset="0"/>
              </a:rPr>
              <a:t>μ</a:t>
            </a:r>
            <a:r>
              <a:rPr lang="en-GB" sz="2000" baseline="-25000" dirty="0" smtClean="0">
                <a:cs typeface="Times New Roman" charset="0"/>
              </a:rPr>
              <a:t>1</a:t>
            </a:r>
            <a:r>
              <a:rPr lang="en-GB" sz="2000" dirty="0" smtClean="0">
                <a:cs typeface="Times New Roman" charset="0"/>
              </a:rPr>
              <a:t> – </a:t>
            </a:r>
            <a:r>
              <a:rPr lang="el-GR" sz="2000" dirty="0" smtClean="0">
                <a:latin typeface="Times New Roman" charset="0"/>
                <a:cs typeface="Times New Roman" charset="0"/>
              </a:rPr>
              <a:t>μ</a:t>
            </a:r>
            <a:r>
              <a:rPr lang="en-GB" sz="2000" baseline="-25000" dirty="0" smtClean="0">
                <a:cs typeface="Times New Roman" charset="0"/>
              </a:rPr>
              <a:t>2</a:t>
            </a:r>
            <a:r>
              <a:rPr lang="en-GB" sz="2000" dirty="0" smtClean="0">
                <a:cs typeface="Times New Roman" charset="0"/>
              </a:rPr>
              <a:t> ≠ 0 (The two population means are different.)</a:t>
            </a:r>
            <a:endParaRPr lang="en-GB" sz="2000" dirty="0" smtClean="0"/>
          </a:p>
        </p:txBody>
      </p:sp>
      <p:sp>
        <p:nvSpPr>
          <p:cNvPr id="6" name="Text Box 4"/>
          <p:cNvSpPr txBox="1">
            <a:spLocks noChangeArrowheads="1"/>
          </p:cNvSpPr>
          <p:nvPr/>
        </p:nvSpPr>
        <p:spPr bwMode="auto">
          <a:xfrm>
            <a:off x="4049486" y="6172200"/>
            <a:ext cx="47815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ChangeArrowheads="1"/>
          </p:cNvSpPr>
          <p:nvPr>
            <p:ph type="title"/>
          </p:nvPr>
        </p:nvSpPr>
        <p:spPr/>
        <p:txBody>
          <a:bodyPr/>
          <a:lstStyle/>
          <a:p>
            <a:pPr eaLnBrk="1" hangingPunct="1"/>
            <a:r>
              <a:rPr lang="en-US" sz="2800" dirty="0" smtClean="0"/>
              <a:t>Example 10-4: Solution</a:t>
            </a:r>
          </a:p>
        </p:txBody>
      </p:sp>
      <p:sp>
        <p:nvSpPr>
          <p:cNvPr id="70659" name="Rectangle 3"/>
          <p:cNvSpPr>
            <a:spLocks noGrp="1" noChangeArrowheads="1"/>
          </p:cNvSpPr>
          <p:nvPr>
            <p:ph type="body" idx="1"/>
          </p:nvPr>
        </p:nvSpPr>
        <p:spPr>
          <a:xfrm>
            <a:off x="474662" y="1447801"/>
            <a:ext cx="8345488" cy="2590800"/>
          </a:xfrm>
        </p:spPr>
        <p:txBody>
          <a:bodyPr/>
          <a:lstStyle/>
          <a:p>
            <a:pPr marL="0" indent="0" eaLnBrk="1" hangingPunct="1">
              <a:buNone/>
            </a:pPr>
            <a:r>
              <a:rPr lang="en-US" sz="2000" b="1" dirty="0" smtClean="0"/>
              <a:t>Step 2:</a:t>
            </a:r>
          </a:p>
          <a:p>
            <a:pPr marL="0" indent="0" eaLnBrk="1" hangingPunct="1">
              <a:buNone/>
            </a:pPr>
            <a:r>
              <a:rPr lang="en-US" sz="2000" dirty="0" smtClean="0"/>
              <a:t>  Population standard deviations, σ</a:t>
            </a:r>
            <a:r>
              <a:rPr lang="en-US" sz="2000" baseline="-25000" dirty="0" smtClean="0"/>
              <a:t>1</a:t>
            </a:r>
            <a:r>
              <a:rPr lang="en-US" sz="2000" dirty="0" smtClean="0"/>
              <a:t> and σ</a:t>
            </a:r>
            <a:r>
              <a:rPr lang="en-US" sz="2000" baseline="-25000" dirty="0" smtClean="0"/>
              <a:t>2</a:t>
            </a:r>
            <a:r>
              <a:rPr lang="en-US" sz="2000" dirty="0" smtClean="0"/>
              <a:t>, are known</a:t>
            </a:r>
          </a:p>
          <a:p>
            <a:pPr marL="0" indent="0" eaLnBrk="1" hangingPunct="1">
              <a:buNone/>
            </a:pPr>
            <a:r>
              <a:rPr lang="en-US" sz="2000" dirty="0" smtClean="0"/>
              <a:t>  Both samples are large; </a:t>
            </a:r>
            <a:r>
              <a:rPr lang="en-US" sz="2000" i="1" dirty="0" smtClean="0">
                <a:latin typeface="Times New Roman" charset="0"/>
              </a:rPr>
              <a:t>n</a:t>
            </a:r>
            <a:r>
              <a:rPr lang="en-US" sz="2000" baseline="-25000" dirty="0" smtClean="0"/>
              <a:t>1</a:t>
            </a:r>
            <a:r>
              <a:rPr lang="en-US" sz="2000" dirty="0" smtClean="0"/>
              <a:t> &gt; 30 and </a:t>
            </a:r>
            <a:r>
              <a:rPr lang="en-US" sz="2000" i="1" dirty="0" smtClean="0">
                <a:latin typeface="Times New Roman" charset="0"/>
              </a:rPr>
              <a:t>n</a:t>
            </a:r>
            <a:r>
              <a:rPr lang="en-US" sz="2000" baseline="-25000" dirty="0" smtClean="0"/>
              <a:t>2</a:t>
            </a:r>
            <a:r>
              <a:rPr lang="en-US" sz="2000" dirty="0" smtClean="0"/>
              <a:t> &gt; 30</a:t>
            </a:r>
          </a:p>
          <a:p>
            <a:pPr marL="0" indent="0" eaLnBrk="1" hangingPunct="1">
              <a:buNone/>
            </a:pPr>
            <a:r>
              <a:rPr lang="en-US" sz="2000" dirty="0" smtClean="0"/>
              <a:t>  Therefore, we use the normal distribution to perform the </a:t>
            </a:r>
          </a:p>
          <a:p>
            <a:pPr marL="0" indent="0" eaLnBrk="1" hangingPunct="1">
              <a:buNone/>
            </a:pPr>
            <a:r>
              <a:rPr lang="en-US" sz="2000" dirty="0"/>
              <a:t> </a:t>
            </a:r>
            <a:r>
              <a:rPr lang="en-US" sz="2000" dirty="0" smtClean="0"/>
              <a:t> hypothesis test.</a:t>
            </a:r>
          </a:p>
        </p:txBody>
      </p:sp>
      <p:sp>
        <p:nvSpPr>
          <p:cNvPr id="6" name="Text Box 4"/>
          <p:cNvSpPr txBox="1">
            <a:spLocks noChangeArrowheads="1"/>
          </p:cNvSpPr>
          <p:nvPr/>
        </p:nvSpPr>
        <p:spPr bwMode="auto">
          <a:xfrm>
            <a:off x="4049486" y="6172200"/>
            <a:ext cx="47815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p:txBody>
          <a:bodyPr/>
          <a:lstStyle/>
          <a:p>
            <a:pPr eaLnBrk="1" hangingPunct="1"/>
            <a:r>
              <a:rPr lang="en-US" sz="2800" dirty="0" smtClean="0"/>
              <a:t>Example 10-4: Solution</a:t>
            </a:r>
          </a:p>
        </p:txBody>
      </p:sp>
      <p:sp>
        <p:nvSpPr>
          <p:cNvPr id="71683" name="Rectangle 3"/>
          <p:cNvSpPr>
            <a:spLocks noGrp="1" noChangeArrowheads="1"/>
          </p:cNvSpPr>
          <p:nvPr>
            <p:ph type="body" idx="1"/>
          </p:nvPr>
        </p:nvSpPr>
        <p:spPr>
          <a:xfrm>
            <a:off x="476250" y="1466850"/>
            <a:ext cx="8497888" cy="2630487"/>
          </a:xfrm>
        </p:spPr>
        <p:txBody>
          <a:bodyPr/>
          <a:lstStyle/>
          <a:p>
            <a:pPr marL="0" indent="0" eaLnBrk="1" hangingPunct="1">
              <a:buNone/>
            </a:pPr>
            <a:r>
              <a:rPr lang="en-US" sz="2000" b="1" dirty="0" smtClean="0">
                <a:cs typeface="Times New Roman" charset="0"/>
              </a:rPr>
              <a:t>Step 3:</a:t>
            </a:r>
          </a:p>
          <a:p>
            <a:pPr marL="0" indent="0" eaLnBrk="1" hangingPunct="1">
              <a:buNone/>
            </a:pPr>
            <a:r>
              <a:rPr lang="en-US" sz="2000" dirty="0" smtClean="0">
                <a:latin typeface="Times New Roman" charset="0"/>
                <a:cs typeface="Times New Roman" charset="0"/>
              </a:rPr>
              <a:t>     </a:t>
            </a:r>
            <a:r>
              <a:rPr lang="el-GR" sz="2000" dirty="0" smtClean="0">
                <a:latin typeface="Times New Roman" charset="0"/>
                <a:cs typeface="Times New Roman" charset="0"/>
              </a:rPr>
              <a:t>α</a:t>
            </a:r>
            <a:r>
              <a:rPr lang="en-GB" sz="2000" dirty="0" smtClean="0">
                <a:latin typeface="Times New Roman" charset="0"/>
                <a:cs typeface="Times New Roman" charset="0"/>
              </a:rPr>
              <a:t> </a:t>
            </a:r>
            <a:r>
              <a:rPr lang="en-GB" sz="2000" dirty="0" smtClean="0">
                <a:cs typeface="Times New Roman" charset="0"/>
              </a:rPr>
              <a:t>= .01.</a:t>
            </a:r>
          </a:p>
          <a:p>
            <a:pPr marL="0" indent="0" eaLnBrk="1" hangingPunct="1">
              <a:buNone/>
            </a:pPr>
            <a:r>
              <a:rPr lang="en-GB" sz="2000" dirty="0" smtClean="0">
                <a:cs typeface="Times New Roman" charset="0"/>
              </a:rPr>
              <a:t>    The ≠ sign in the alternative hypothesis indicates that the </a:t>
            </a:r>
          </a:p>
          <a:p>
            <a:pPr marL="0" indent="0" eaLnBrk="1" hangingPunct="1">
              <a:buNone/>
            </a:pPr>
            <a:r>
              <a:rPr lang="en-GB" sz="2000" dirty="0">
                <a:cs typeface="Times New Roman" charset="0"/>
              </a:rPr>
              <a:t> </a:t>
            </a:r>
            <a:r>
              <a:rPr lang="en-GB" sz="2000" dirty="0" smtClean="0">
                <a:cs typeface="Times New Roman" charset="0"/>
              </a:rPr>
              <a:t>   test is two-tailed</a:t>
            </a:r>
          </a:p>
          <a:p>
            <a:pPr marL="0" indent="0" eaLnBrk="1" hangingPunct="1">
              <a:buNone/>
            </a:pPr>
            <a:r>
              <a:rPr lang="en-GB" sz="2000" dirty="0" smtClean="0">
                <a:cs typeface="Times New Roman" charset="0"/>
              </a:rPr>
              <a:t>    Area in each tail = </a:t>
            </a:r>
            <a:r>
              <a:rPr lang="el-GR" sz="2000" dirty="0" smtClean="0">
                <a:latin typeface="Times New Roman" charset="0"/>
                <a:cs typeface="Times New Roman" charset="0"/>
              </a:rPr>
              <a:t>α</a:t>
            </a:r>
            <a:r>
              <a:rPr lang="en-GB" sz="2000" dirty="0" smtClean="0">
                <a:latin typeface="Times New Roman" charset="0"/>
                <a:cs typeface="Times New Roman" charset="0"/>
              </a:rPr>
              <a:t> </a:t>
            </a:r>
            <a:r>
              <a:rPr lang="en-GB" sz="2000" dirty="0" smtClean="0">
                <a:cs typeface="Times New Roman" charset="0"/>
              </a:rPr>
              <a:t>/ 2 </a:t>
            </a:r>
            <a:r>
              <a:rPr lang="en-GB" sz="2000" dirty="0" smtClean="0">
                <a:latin typeface="Times New Roman" charset="0"/>
                <a:cs typeface="Times New Roman" charset="0"/>
              </a:rPr>
              <a:t> </a:t>
            </a:r>
            <a:r>
              <a:rPr lang="en-GB" sz="2000" dirty="0" smtClean="0">
                <a:cs typeface="Times New Roman" charset="0"/>
              </a:rPr>
              <a:t>= .01 / 2 = .005</a:t>
            </a:r>
          </a:p>
          <a:p>
            <a:pPr marL="0" indent="0" eaLnBrk="1" hangingPunct="1">
              <a:buNone/>
            </a:pPr>
            <a:r>
              <a:rPr lang="en-GB" sz="2000" dirty="0" smtClean="0">
                <a:cs typeface="Times New Roman" charset="0"/>
              </a:rPr>
              <a:t>    The critical values of </a:t>
            </a:r>
            <a:r>
              <a:rPr lang="en-GB" sz="2000" i="1" dirty="0" smtClean="0">
                <a:latin typeface="Times New Roman" charset="0"/>
                <a:cs typeface="Times New Roman" charset="0"/>
              </a:rPr>
              <a:t>z</a:t>
            </a:r>
            <a:r>
              <a:rPr lang="en-GB" sz="2000" dirty="0" smtClean="0">
                <a:cs typeface="Times New Roman" charset="0"/>
              </a:rPr>
              <a:t> are 2.58 and -2.58</a:t>
            </a:r>
            <a:r>
              <a:rPr lang="en-GB" sz="2000" dirty="0" smtClean="0">
                <a:latin typeface="Times New Roman" charset="0"/>
                <a:cs typeface="Times New Roman" charset="0"/>
              </a:rPr>
              <a:t> </a:t>
            </a:r>
            <a:endParaRPr lang="el-GR" sz="2000" dirty="0" smtClean="0">
              <a:latin typeface="Times New Roman" charset="0"/>
              <a:cs typeface="Times New Roman" charset="0"/>
            </a:endParaRPr>
          </a:p>
        </p:txBody>
      </p:sp>
      <p:sp>
        <p:nvSpPr>
          <p:cNvPr id="6" name="Text Box 4"/>
          <p:cNvSpPr txBox="1">
            <a:spLocks noChangeArrowheads="1"/>
          </p:cNvSpPr>
          <p:nvPr/>
        </p:nvSpPr>
        <p:spPr bwMode="auto">
          <a:xfrm>
            <a:off x="4049486" y="6172200"/>
            <a:ext cx="47815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title"/>
          </p:nvPr>
        </p:nvSpPr>
        <p:spPr/>
        <p:txBody>
          <a:bodyPr/>
          <a:lstStyle/>
          <a:p>
            <a:pPr eaLnBrk="1" hangingPunct="1"/>
            <a:r>
              <a:rPr lang="en-US" sz="2800" dirty="0" smtClean="0"/>
              <a:t>Figure 10.2</a:t>
            </a:r>
          </a:p>
        </p:txBody>
      </p:sp>
      <p:sp>
        <p:nvSpPr>
          <p:cNvPr id="72707" name="Text Box 9"/>
          <p:cNvSpPr txBox="1">
            <a:spLocks noChangeArrowheads="1"/>
          </p:cNvSpPr>
          <p:nvPr/>
        </p:nvSpPr>
        <p:spPr bwMode="auto">
          <a:xfrm>
            <a:off x="2124075" y="4941888"/>
            <a:ext cx="4318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charset="0"/>
                <a:ea typeface="ＭＳ Ｐゴシック" charset="-128"/>
              </a:defRPr>
            </a:lvl1pPr>
            <a:lvl2pPr marL="742950" indent="-285750">
              <a:defRPr>
                <a:solidFill>
                  <a:schemeClr val="tx1"/>
                </a:solidFill>
                <a:latin typeface="Verdana" charset="0"/>
                <a:ea typeface="ＭＳ Ｐゴシック" charset="-128"/>
              </a:defRPr>
            </a:lvl2pPr>
            <a:lvl3pPr marL="1143000" indent="-228600">
              <a:defRPr>
                <a:solidFill>
                  <a:schemeClr val="tx1"/>
                </a:solidFill>
                <a:latin typeface="Verdana" charset="0"/>
                <a:ea typeface="ＭＳ Ｐゴシック" charset="-128"/>
              </a:defRPr>
            </a:lvl3pPr>
            <a:lvl4pPr marL="1600200" indent="-228600">
              <a:defRPr>
                <a:solidFill>
                  <a:schemeClr val="tx1"/>
                </a:solidFill>
                <a:latin typeface="Verdana" charset="0"/>
                <a:ea typeface="ＭＳ Ｐゴシック" charset="-128"/>
              </a:defRPr>
            </a:lvl4pPr>
            <a:lvl5pPr marL="2057400" indent="-228600">
              <a:defRPr>
                <a:solidFill>
                  <a:schemeClr val="tx1"/>
                </a:solidFill>
                <a:latin typeface="Verdana" charset="0"/>
                <a:ea typeface="ＭＳ Ｐゴシック" charset="-128"/>
              </a:defRPr>
            </a:lvl5pPr>
            <a:lvl6pPr marL="2514600" indent="-228600" eaLnBrk="0" fontAlgn="base" hangingPunct="0">
              <a:spcBef>
                <a:spcPct val="0"/>
              </a:spcBef>
              <a:spcAft>
                <a:spcPct val="0"/>
              </a:spcAft>
              <a:defRPr>
                <a:solidFill>
                  <a:schemeClr val="tx1"/>
                </a:solidFill>
                <a:latin typeface="Verdana" charset="0"/>
                <a:ea typeface="ＭＳ Ｐゴシック" charset="-128"/>
              </a:defRPr>
            </a:lvl6pPr>
            <a:lvl7pPr marL="2971800" indent="-228600" eaLnBrk="0" fontAlgn="base" hangingPunct="0">
              <a:spcBef>
                <a:spcPct val="0"/>
              </a:spcBef>
              <a:spcAft>
                <a:spcPct val="0"/>
              </a:spcAft>
              <a:defRPr>
                <a:solidFill>
                  <a:schemeClr val="tx1"/>
                </a:solidFill>
                <a:latin typeface="Verdana" charset="0"/>
                <a:ea typeface="ＭＳ Ｐゴシック" charset="-128"/>
              </a:defRPr>
            </a:lvl7pPr>
            <a:lvl8pPr marL="3429000" indent="-228600" eaLnBrk="0" fontAlgn="base" hangingPunct="0">
              <a:spcBef>
                <a:spcPct val="0"/>
              </a:spcBef>
              <a:spcAft>
                <a:spcPct val="0"/>
              </a:spcAft>
              <a:defRPr>
                <a:solidFill>
                  <a:schemeClr val="tx1"/>
                </a:solidFill>
                <a:latin typeface="Verdana" charset="0"/>
                <a:ea typeface="ＭＳ Ｐゴシック" charset="-128"/>
              </a:defRPr>
            </a:lvl8pPr>
            <a:lvl9pPr marL="3886200" indent="-228600" eaLnBrk="0" fontAlgn="base" hangingPunct="0">
              <a:spcBef>
                <a:spcPct val="0"/>
              </a:spcBef>
              <a:spcAft>
                <a:spcPct val="0"/>
              </a:spcAft>
              <a:defRPr>
                <a:solidFill>
                  <a:schemeClr val="tx1"/>
                </a:solidFill>
                <a:latin typeface="Verdana" charset="0"/>
                <a:ea typeface="ＭＳ Ｐゴシック" charset="-128"/>
              </a:defRPr>
            </a:lvl9pPr>
          </a:lstStyle>
          <a:p>
            <a:pPr>
              <a:spcBef>
                <a:spcPct val="50000"/>
              </a:spcBef>
            </a:pPr>
            <a:r>
              <a:rPr lang="en-US" sz="2000" b="1" i="1">
                <a:latin typeface="Times New Roman" charset="0"/>
              </a:rPr>
              <a:t> </a:t>
            </a:r>
          </a:p>
        </p:txBody>
      </p:sp>
      <p:sp>
        <p:nvSpPr>
          <p:cNvPr id="7" name="Text Box 4"/>
          <p:cNvSpPr txBox="1">
            <a:spLocks noChangeArrowheads="1"/>
          </p:cNvSpPr>
          <p:nvPr/>
        </p:nvSpPr>
        <p:spPr bwMode="auto">
          <a:xfrm>
            <a:off x="4049486" y="6172200"/>
            <a:ext cx="47815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13495" y="1628183"/>
            <a:ext cx="6839905" cy="4239217"/>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2"/>
          <p:cNvSpPr>
            <a:spLocks noGrp="1" noChangeArrowheads="1"/>
          </p:cNvSpPr>
          <p:nvPr>
            <p:ph type="title"/>
          </p:nvPr>
        </p:nvSpPr>
        <p:spPr/>
        <p:txBody>
          <a:bodyPr/>
          <a:lstStyle/>
          <a:p>
            <a:pPr eaLnBrk="1" hangingPunct="1"/>
            <a:r>
              <a:rPr lang="en-US" sz="3200" smtClean="0"/>
              <a:t>Example 10-4: Solution</a:t>
            </a:r>
          </a:p>
        </p:txBody>
      </p:sp>
      <p:grpSp>
        <p:nvGrpSpPr>
          <p:cNvPr id="7175" name="Group 9"/>
          <p:cNvGrpSpPr>
            <a:grpSpLocks/>
          </p:cNvGrpSpPr>
          <p:nvPr/>
        </p:nvGrpSpPr>
        <p:grpSpPr bwMode="auto">
          <a:xfrm>
            <a:off x="4171122" y="4440169"/>
            <a:ext cx="2133600" cy="1616075"/>
            <a:chOff x="2808" y="2772"/>
            <a:chExt cx="1344" cy="1018"/>
          </a:xfrm>
        </p:grpSpPr>
        <p:sp>
          <p:nvSpPr>
            <p:cNvPr id="7176" name="Line 4"/>
            <p:cNvSpPr>
              <a:spLocks noChangeShapeType="1"/>
            </p:cNvSpPr>
            <p:nvPr/>
          </p:nvSpPr>
          <p:spPr bwMode="auto">
            <a:xfrm flipV="1">
              <a:off x="4152" y="2772"/>
              <a:ext cx="0" cy="91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7177" name="Line 5"/>
            <p:cNvSpPr>
              <a:spLocks noChangeShapeType="1"/>
            </p:cNvSpPr>
            <p:nvPr/>
          </p:nvSpPr>
          <p:spPr bwMode="auto">
            <a:xfrm flipH="1">
              <a:off x="3768" y="3684"/>
              <a:ext cx="38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178" name="Text Box 6"/>
            <p:cNvSpPr txBox="1">
              <a:spLocks noChangeArrowheads="1"/>
            </p:cNvSpPr>
            <p:nvPr/>
          </p:nvSpPr>
          <p:spPr bwMode="auto">
            <a:xfrm>
              <a:off x="2808" y="3540"/>
              <a:ext cx="96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charset="0"/>
                  <a:ea typeface="ＭＳ Ｐゴシック" charset="-128"/>
                </a:defRPr>
              </a:lvl1pPr>
              <a:lvl2pPr marL="742950" indent="-285750">
                <a:defRPr>
                  <a:solidFill>
                    <a:schemeClr val="tx1"/>
                  </a:solidFill>
                  <a:latin typeface="Verdana" charset="0"/>
                  <a:ea typeface="ＭＳ Ｐゴシック" charset="-128"/>
                </a:defRPr>
              </a:lvl2pPr>
              <a:lvl3pPr marL="1143000" indent="-228600">
                <a:defRPr>
                  <a:solidFill>
                    <a:schemeClr val="tx1"/>
                  </a:solidFill>
                  <a:latin typeface="Verdana" charset="0"/>
                  <a:ea typeface="ＭＳ Ｐゴシック" charset="-128"/>
                </a:defRPr>
              </a:lvl3pPr>
              <a:lvl4pPr marL="1600200" indent="-228600">
                <a:defRPr>
                  <a:solidFill>
                    <a:schemeClr val="tx1"/>
                  </a:solidFill>
                  <a:latin typeface="Verdana" charset="0"/>
                  <a:ea typeface="ＭＳ Ｐゴシック" charset="-128"/>
                </a:defRPr>
              </a:lvl4pPr>
              <a:lvl5pPr marL="2057400" indent="-228600">
                <a:defRPr>
                  <a:solidFill>
                    <a:schemeClr val="tx1"/>
                  </a:solidFill>
                  <a:latin typeface="Verdana" charset="0"/>
                  <a:ea typeface="ＭＳ Ｐゴシック" charset="-128"/>
                </a:defRPr>
              </a:lvl5pPr>
              <a:lvl6pPr marL="2514600" indent="-228600" eaLnBrk="0" fontAlgn="base" hangingPunct="0">
                <a:spcBef>
                  <a:spcPct val="0"/>
                </a:spcBef>
                <a:spcAft>
                  <a:spcPct val="0"/>
                </a:spcAft>
                <a:defRPr>
                  <a:solidFill>
                    <a:schemeClr val="tx1"/>
                  </a:solidFill>
                  <a:latin typeface="Verdana" charset="0"/>
                  <a:ea typeface="ＭＳ Ｐゴシック" charset="-128"/>
                </a:defRPr>
              </a:lvl6pPr>
              <a:lvl7pPr marL="2971800" indent="-228600" eaLnBrk="0" fontAlgn="base" hangingPunct="0">
                <a:spcBef>
                  <a:spcPct val="0"/>
                </a:spcBef>
                <a:spcAft>
                  <a:spcPct val="0"/>
                </a:spcAft>
                <a:defRPr>
                  <a:solidFill>
                    <a:schemeClr val="tx1"/>
                  </a:solidFill>
                  <a:latin typeface="Verdana" charset="0"/>
                  <a:ea typeface="ＭＳ Ｐゴシック" charset="-128"/>
                </a:defRPr>
              </a:lvl7pPr>
              <a:lvl8pPr marL="3429000" indent="-228600" eaLnBrk="0" fontAlgn="base" hangingPunct="0">
                <a:spcBef>
                  <a:spcPct val="0"/>
                </a:spcBef>
                <a:spcAft>
                  <a:spcPct val="0"/>
                </a:spcAft>
                <a:defRPr>
                  <a:solidFill>
                    <a:schemeClr val="tx1"/>
                  </a:solidFill>
                  <a:latin typeface="Verdana" charset="0"/>
                  <a:ea typeface="ＭＳ Ｐゴシック" charset="-128"/>
                </a:defRPr>
              </a:lvl8pPr>
              <a:lvl9pPr marL="3886200" indent="-228600" eaLnBrk="0" fontAlgn="base" hangingPunct="0">
                <a:spcBef>
                  <a:spcPct val="0"/>
                </a:spcBef>
                <a:spcAft>
                  <a:spcPct val="0"/>
                </a:spcAft>
                <a:defRPr>
                  <a:solidFill>
                    <a:schemeClr val="tx1"/>
                  </a:solidFill>
                  <a:latin typeface="Verdana" charset="0"/>
                  <a:ea typeface="ＭＳ Ｐゴシック" charset="-128"/>
                </a:defRPr>
              </a:lvl9pPr>
            </a:lstStyle>
            <a:p>
              <a:pPr>
                <a:spcBef>
                  <a:spcPct val="50000"/>
                </a:spcBef>
              </a:pPr>
              <a:r>
                <a:rPr lang="en-US" sz="2000" b="1" dirty="0">
                  <a:latin typeface="Tahoma" charset="0"/>
                </a:rPr>
                <a:t>From </a:t>
              </a:r>
              <a:r>
                <a:rPr lang="en-US" sz="2000" b="1" i="1" dirty="0">
                  <a:latin typeface="Tahoma" charset="0"/>
                </a:rPr>
                <a:t>H</a:t>
              </a:r>
              <a:r>
                <a:rPr lang="en-US" sz="2000" b="1" i="1" baseline="-25000" dirty="0">
                  <a:latin typeface="Tahoma" charset="0"/>
                </a:rPr>
                <a:t>0</a:t>
              </a:r>
              <a:endParaRPr lang="en-US" sz="2000" b="1" i="1" dirty="0">
                <a:latin typeface="Tahoma" charset="0"/>
              </a:endParaRPr>
            </a:p>
          </p:txBody>
        </p:sp>
      </p:grpSp>
      <p:sp>
        <p:nvSpPr>
          <p:cNvPr id="7174" name="Text Box 8"/>
          <p:cNvSpPr txBox="1">
            <a:spLocks noChangeArrowheads="1"/>
          </p:cNvSpPr>
          <p:nvPr/>
        </p:nvSpPr>
        <p:spPr bwMode="auto">
          <a:xfrm>
            <a:off x="533400" y="1600200"/>
            <a:ext cx="22098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charset="0"/>
                <a:ea typeface="ＭＳ Ｐゴシック" charset="-128"/>
              </a:defRPr>
            </a:lvl1pPr>
            <a:lvl2pPr marL="742950" indent="-285750">
              <a:defRPr>
                <a:solidFill>
                  <a:schemeClr val="tx1"/>
                </a:solidFill>
                <a:latin typeface="Verdana" charset="0"/>
                <a:ea typeface="ＭＳ Ｐゴシック" charset="-128"/>
              </a:defRPr>
            </a:lvl2pPr>
            <a:lvl3pPr marL="1143000" indent="-228600">
              <a:defRPr>
                <a:solidFill>
                  <a:schemeClr val="tx1"/>
                </a:solidFill>
                <a:latin typeface="Verdana" charset="0"/>
                <a:ea typeface="ＭＳ Ｐゴシック" charset="-128"/>
              </a:defRPr>
            </a:lvl3pPr>
            <a:lvl4pPr marL="1600200" indent="-228600">
              <a:defRPr>
                <a:solidFill>
                  <a:schemeClr val="tx1"/>
                </a:solidFill>
                <a:latin typeface="Verdana" charset="0"/>
                <a:ea typeface="ＭＳ Ｐゴシック" charset="-128"/>
              </a:defRPr>
            </a:lvl4pPr>
            <a:lvl5pPr marL="2057400" indent="-228600">
              <a:defRPr>
                <a:solidFill>
                  <a:schemeClr val="tx1"/>
                </a:solidFill>
                <a:latin typeface="Verdana" charset="0"/>
                <a:ea typeface="ＭＳ Ｐゴシック" charset="-128"/>
              </a:defRPr>
            </a:lvl5pPr>
            <a:lvl6pPr marL="2514600" indent="-228600" eaLnBrk="0" fontAlgn="base" hangingPunct="0">
              <a:spcBef>
                <a:spcPct val="0"/>
              </a:spcBef>
              <a:spcAft>
                <a:spcPct val="0"/>
              </a:spcAft>
              <a:defRPr>
                <a:solidFill>
                  <a:schemeClr val="tx1"/>
                </a:solidFill>
                <a:latin typeface="Verdana" charset="0"/>
                <a:ea typeface="ＭＳ Ｐゴシック" charset="-128"/>
              </a:defRPr>
            </a:lvl6pPr>
            <a:lvl7pPr marL="2971800" indent="-228600" eaLnBrk="0" fontAlgn="base" hangingPunct="0">
              <a:spcBef>
                <a:spcPct val="0"/>
              </a:spcBef>
              <a:spcAft>
                <a:spcPct val="0"/>
              </a:spcAft>
              <a:defRPr>
                <a:solidFill>
                  <a:schemeClr val="tx1"/>
                </a:solidFill>
                <a:latin typeface="Verdana" charset="0"/>
                <a:ea typeface="ＭＳ Ｐゴシック" charset="-128"/>
              </a:defRPr>
            </a:lvl7pPr>
            <a:lvl8pPr marL="3429000" indent="-228600" eaLnBrk="0" fontAlgn="base" hangingPunct="0">
              <a:spcBef>
                <a:spcPct val="0"/>
              </a:spcBef>
              <a:spcAft>
                <a:spcPct val="0"/>
              </a:spcAft>
              <a:defRPr>
                <a:solidFill>
                  <a:schemeClr val="tx1"/>
                </a:solidFill>
                <a:latin typeface="Verdana" charset="0"/>
                <a:ea typeface="ＭＳ Ｐゴシック" charset="-128"/>
              </a:defRPr>
            </a:lvl8pPr>
            <a:lvl9pPr marL="3886200" indent="-228600" eaLnBrk="0" fontAlgn="base" hangingPunct="0">
              <a:spcBef>
                <a:spcPct val="0"/>
              </a:spcBef>
              <a:spcAft>
                <a:spcPct val="0"/>
              </a:spcAft>
              <a:defRPr>
                <a:solidFill>
                  <a:schemeClr val="tx1"/>
                </a:solidFill>
                <a:latin typeface="Verdana" charset="0"/>
                <a:ea typeface="ＭＳ Ｐゴシック" charset="-128"/>
              </a:defRPr>
            </a:lvl9pPr>
          </a:lstStyle>
          <a:p>
            <a:pPr>
              <a:spcBef>
                <a:spcPct val="50000"/>
              </a:spcBef>
            </a:pPr>
            <a:r>
              <a:rPr lang="en-US" sz="2000" b="1" dirty="0"/>
              <a:t>Step 4:</a:t>
            </a:r>
          </a:p>
        </p:txBody>
      </p:sp>
      <mc:AlternateContent xmlns:mc="http://schemas.openxmlformats.org/markup-compatibility/2006">
        <mc:Choice xmlns:a14="http://schemas.microsoft.com/office/drawing/2010/main" Requires="a14">
          <p:sp>
            <p:nvSpPr>
              <p:cNvPr id="12" name="TextBox 11"/>
              <p:cNvSpPr txBox="1"/>
              <p:nvPr/>
            </p:nvSpPr>
            <p:spPr>
              <a:xfrm>
                <a:off x="1828800" y="1619250"/>
                <a:ext cx="6363494" cy="3688126"/>
              </a:xfrm>
              <a:prstGeom prst="rect">
                <a:avLst/>
              </a:prstGeom>
              <a:noFill/>
            </p:spPr>
            <p:txBody>
              <a:bodyPr wrap="square" rtlCol="0">
                <a:spAutoFit/>
              </a:bodyPr>
              <a:lstStyle/>
              <a:p>
                <a14:m>
                  <m:oMath xmlns:m="http://schemas.openxmlformats.org/officeDocument/2006/math">
                    <m:sSub>
                      <m:sSubPr>
                        <m:ctrlPr>
                          <a:rPr lang="en-US" sz="2400" i="1" smtClean="0">
                            <a:latin typeface="Cambria Math" charset="0"/>
                          </a:rPr>
                        </m:ctrlPr>
                      </m:sSubPr>
                      <m:e>
                        <m:r>
                          <a:rPr lang="en-US" sz="2400" i="1" smtClean="0">
                            <a:latin typeface="Cambria Math"/>
                            <a:ea typeface="Cambria Math"/>
                          </a:rPr>
                          <m:t>𝜎</m:t>
                        </m:r>
                      </m:e>
                      <m:sub>
                        <m:acc>
                          <m:accPr>
                            <m:chr m:val="̅"/>
                            <m:ctrlPr>
                              <a:rPr lang="en-US" sz="2400" i="1" smtClean="0">
                                <a:latin typeface="Cambria Math" charset="0"/>
                              </a:rPr>
                            </m:ctrlPr>
                          </m:accPr>
                          <m:e>
                            <m:sSub>
                              <m:sSubPr>
                                <m:ctrlPr>
                                  <a:rPr lang="en-US" sz="2400" i="1" smtClean="0">
                                    <a:latin typeface="Cambria Math" charset="0"/>
                                  </a:rPr>
                                </m:ctrlPr>
                              </m:sSubPr>
                              <m:e>
                                <m:r>
                                  <a:rPr lang="en-US" sz="2400" b="0" i="1" smtClean="0">
                                    <a:latin typeface="Cambria Math"/>
                                  </a:rPr>
                                  <m:t>𝑥</m:t>
                                </m:r>
                              </m:e>
                              <m:sub>
                                <m:r>
                                  <a:rPr lang="en-US" sz="2400" b="0" i="1" smtClean="0">
                                    <a:latin typeface="Cambria Math"/>
                                  </a:rPr>
                                  <m:t>1</m:t>
                                </m:r>
                              </m:sub>
                            </m:sSub>
                          </m:e>
                        </m:acc>
                        <m:r>
                          <a:rPr lang="en-US" sz="2400" b="0" i="1" smtClean="0">
                            <a:latin typeface="Cambria Math"/>
                          </a:rPr>
                          <m:t>−</m:t>
                        </m:r>
                        <m:acc>
                          <m:accPr>
                            <m:chr m:val="̅"/>
                            <m:ctrlPr>
                              <a:rPr lang="en-US" sz="2400" b="0" i="1" smtClean="0">
                                <a:latin typeface="Cambria Math" charset="0"/>
                              </a:rPr>
                            </m:ctrlPr>
                          </m:accPr>
                          <m:e>
                            <m:sSub>
                              <m:sSubPr>
                                <m:ctrlPr>
                                  <a:rPr lang="en-US" sz="2400" b="0" i="1" smtClean="0">
                                    <a:latin typeface="Cambria Math" charset="0"/>
                                  </a:rPr>
                                </m:ctrlPr>
                              </m:sSubPr>
                              <m:e>
                                <m:r>
                                  <a:rPr lang="en-US" sz="2400" b="0" i="1" smtClean="0">
                                    <a:latin typeface="Cambria Math"/>
                                  </a:rPr>
                                  <m:t>𝑥</m:t>
                                </m:r>
                              </m:e>
                              <m:sub>
                                <m:r>
                                  <a:rPr lang="en-US" sz="2400" b="0" i="1" smtClean="0">
                                    <a:latin typeface="Cambria Math"/>
                                  </a:rPr>
                                  <m:t>2</m:t>
                                </m:r>
                              </m:sub>
                            </m:sSub>
                          </m:e>
                        </m:acc>
                      </m:sub>
                    </m:sSub>
                    <m:r>
                      <a:rPr lang="en-US" sz="2400" i="1" smtClean="0">
                        <a:latin typeface="Cambria Math"/>
                      </a:rPr>
                      <m:t>=</m:t>
                    </m:r>
                    <m:rad>
                      <m:radPr>
                        <m:degHide m:val="on"/>
                        <m:ctrlPr>
                          <a:rPr lang="en-US" sz="2400" i="1" smtClean="0">
                            <a:latin typeface="Cambria Math" charset="0"/>
                          </a:rPr>
                        </m:ctrlPr>
                      </m:radPr>
                      <m:deg/>
                      <m:e>
                        <m:f>
                          <m:fPr>
                            <m:ctrlPr>
                              <a:rPr lang="en-US" sz="2400" i="1" smtClean="0">
                                <a:latin typeface="Cambria Math" charset="0"/>
                              </a:rPr>
                            </m:ctrlPr>
                          </m:fPr>
                          <m:num>
                            <m:sSubSup>
                              <m:sSubSupPr>
                                <m:ctrlPr>
                                  <a:rPr lang="en-US" sz="2400" i="1" smtClean="0">
                                    <a:latin typeface="Cambria Math" charset="0"/>
                                  </a:rPr>
                                </m:ctrlPr>
                              </m:sSubSupPr>
                              <m:e>
                                <m:r>
                                  <a:rPr lang="en-US" sz="2400" i="1" smtClean="0">
                                    <a:latin typeface="Cambria Math"/>
                                    <a:ea typeface="Cambria Math"/>
                                  </a:rPr>
                                  <m:t>𝜎</m:t>
                                </m:r>
                              </m:e>
                              <m:sub>
                                <m:r>
                                  <a:rPr lang="en-US" sz="2400" b="0" i="1" smtClean="0">
                                    <a:latin typeface="Cambria Math"/>
                                  </a:rPr>
                                  <m:t>1</m:t>
                                </m:r>
                              </m:sub>
                              <m:sup/>
                            </m:sSubSup>
                            <m:r>
                              <a:rPr lang="en-US" sz="2400" b="0" i="1" smtClean="0">
                                <a:latin typeface="Cambria Math"/>
                              </a:rPr>
                              <m:t>2</m:t>
                            </m:r>
                          </m:num>
                          <m:den>
                            <m:sSub>
                              <m:sSubPr>
                                <m:ctrlPr>
                                  <a:rPr lang="en-US" sz="2400" i="1" smtClean="0">
                                    <a:latin typeface="Cambria Math" charset="0"/>
                                  </a:rPr>
                                </m:ctrlPr>
                              </m:sSubPr>
                              <m:e>
                                <m:r>
                                  <a:rPr lang="en-US" sz="2400" b="0" i="1" smtClean="0">
                                    <a:latin typeface="Cambria Math"/>
                                  </a:rPr>
                                  <m:t>𝑛</m:t>
                                </m:r>
                              </m:e>
                              <m:sub>
                                <m:r>
                                  <a:rPr lang="en-US" sz="2400" b="0" i="1" smtClean="0">
                                    <a:latin typeface="Cambria Math"/>
                                  </a:rPr>
                                  <m:t>1</m:t>
                                </m:r>
                              </m:sub>
                            </m:sSub>
                          </m:den>
                        </m:f>
                        <m:r>
                          <a:rPr lang="en-US" sz="2400" b="0" i="1" smtClean="0">
                            <a:latin typeface="Cambria Math"/>
                          </a:rPr>
                          <m:t>+</m:t>
                        </m:r>
                        <m:f>
                          <m:fPr>
                            <m:ctrlPr>
                              <a:rPr lang="en-US" sz="2400" i="1">
                                <a:latin typeface="Cambria Math" charset="0"/>
                              </a:rPr>
                            </m:ctrlPr>
                          </m:fPr>
                          <m:num>
                            <m:sSubSup>
                              <m:sSubSupPr>
                                <m:ctrlPr>
                                  <a:rPr lang="en-US" sz="2400" i="1">
                                    <a:latin typeface="Cambria Math" charset="0"/>
                                  </a:rPr>
                                </m:ctrlPr>
                              </m:sSubSupPr>
                              <m:e>
                                <m:r>
                                  <a:rPr lang="en-US" sz="2400" i="1">
                                    <a:latin typeface="Cambria Math"/>
                                    <a:ea typeface="Cambria Math"/>
                                  </a:rPr>
                                  <m:t>𝜎</m:t>
                                </m:r>
                              </m:e>
                              <m:sub>
                                <m:r>
                                  <a:rPr lang="en-US" sz="2400" b="0" i="1" smtClean="0">
                                    <a:latin typeface="Cambria Math" charset="0"/>
                                    <a:ea typeface="Cambria Math"/>
                                  </a:rPr>
                                  <m:t>2</m:t>
                                </m:r>
                              </m:sub>
                              <m:sup/>
                            </m:sSubSup>
                            <m:r>
                              <a:rPr lang="en-US" sz="2400" i="1">
                                <a:latin typeface="Cambria Math"/>
                              </a:rPr>
                              <m:t>2</m:t>
                            </m:r>
                          </m:num>
                          <m:den>
                            <m:sSub>
                              <m:sSubPr>
                                <m:ctrlPr>
                                  <a:rPr lang="en-US" sz="2400" i="1">
                                    <a:latin typeface="Cambria Math" charset="0"/>
                                  </a:rPr>
                                </m:ctrlPr>
                              </m:sSubPr>
                              <m:e>
                                <m:r>
                                  <a:rPr lang="en-US" sz="2400" i="1">
                                    <a:latin typeface="Cambria Math"/>
                                  </a:rPr>
                                  <m:t>𝑛</m:t>
                                </m:r>
                              </m:e>
                              <m:sub>
                                <m:r>
                                  <a:rPr lang="en-US" sz="2400" b="0" i="1" smtClean="0">
                                    <a:latin typeface="Cambria Math" charset="0"/>
                                  </a:rPr>
                                  <m:t>2</m:t>
                                </m:r>
                              </m:sub>
                            </m:sSub>
                          </m:den>
                        </m:f>
                      </m:e>
                    </m:rad>
                  </m:oMath>
                </a14:m>
                <a:r>
                  <a:rPr lang="en-US" sz="2400" i="1" dirty="0" smtClean="0">
                    <a:latin typeface="Cambria Math"/>
                  </a:rPr>
                  <a:t>     </a:t>
                </a:r>
              </a:p>
              <a:p>
                <a14:m>
                  <m:oMath xmlns:m="http://schemas.openxmlformats.org/officeDocument/2006/math">
                    <m:r>
                      <a:rPr lang="en-US" sz="2400" b="0" i="1" smtClean="0">
                        <a:latin typeface="Cambria Math"/>
                      </a:rPr>
                      <m:t>              =</m:t>
                    </m:r>
                  </m:oMath>
                </a14:m>
                <a:r>
                  <a:rPr lang="en-US" sz="2400" b="0" i="1" dirty="0" smtClean="0">
                    <a:latin typeface="Cambria Math"/>
                  </a:rPr>
                  <a:t> </a:t>
                </a:r>
                <a14:m>
                  <m:oMath xmlns:m="http://schemas.openxmlformats.org/officeDocument/2006/math">
                    <m:rad>
                      <m:radPr>
                        <m:degHide m:val="on"/>
                        <m:ctrlPr>
                          <a:rPr lang="en-US" sz="2400" i="1">
                            <a:latin typeface="Cambria Math" charset="0"/>
                          </a:rPr>
                        </m:ctrlPr>
                      </m:radPr>
                      <m:deg/>
                      <m:e>
                        <m:f>
                          <m:fPr>
                            <m:ctrlPr>
                              <a:rPr lang="en-US" sz="2400" i="1">
                                <a:latin typeface="Cambria Math" charset="0"/>
                              </a:rPr>
                            </m:ctrlPr>
                          </m:fPr>
                          <m:num>
                            <m:sSup>
                              <m:sSupPr>
                                <m:ctrlPr>
                                  <a:rPr lang="en-US" sz="2400" i="1" smtClean="0">
                                    <a:latin typeface="Cambria Math" charset="0"/>
                                  </a:rPr>
                                </m:ctrlPr>
                              </m:sSupPr>
                              <m:e>
                                <m:d>
                                  <m:dPr>
                                    <m:ctrlPr>
                                      <a:rPr lang="en-US" sz="2400" i="1" smtClean="0">
                                        <a:latin typeface="Cambria Math" charset="0"/>
                                      </a:rPr>
                                    </m:ctrlPr>
                                  </m:dPr>
                                  <m:e>
                                    <m:r>
                                      <a:rPr lang="en-US" sz="2400" b="0" i="1" smtClean="0">
                                        <a:latin typeface="Cambria Math"/>
                                      </a:rPr>
                                      <m:t>2160</m:t>
                                    </m:r>
                                  </m:e>
                                </m:d>
                              </m:e>
                              <m:sup>
                                <m:r>
                                  <a:rPr lang="en-US" sz="2400" b="0" i="1" smtClean="0">
                                    <a:latin typeface="Cambria Math"/>
                                  </a:rPr>
                                  <m:t>2</m:t>
                                </m:r>
                              </m:sup>
                            </m:sSup>
                          </m:num>
                          <m:den>
                            <m:r>
                              <a:rPr lang="en-US" sz="2400" b="0" i="1" smtClean="0">
                                <a:latin typeface="Cambria Math"/>
                              </a:rPr>
                              <m:t>250</m:t>
                            </m:r>
                          </m:den>
                        </m:f>
                        <m:r>
                          <a:rPr lang="en-US" sz="2400" i="1">
                            <a:latin typeface="Cambria Math"/>
                          </a:rPr>
                          <m:t>+</m:t>
                        </m:r>
                        <m:f>
                          <m:fPr>
                            <m:ctrlPr>
                              <a:rPr lang="en-US" sz="2400" i="1">
                                <a:latin typeface="Cambria Math" charset="0"/>
                              </a:rPr>
                            </m:ctrlPr>
                          </m:fPr>
                          <m:num>
                            <m:sSup>
                              <m:sSupPr>
                                <m:ctrlPr>
                                  <a:rPr lang="en-US" sz="2400" i="1">
                                    <a:latin typeface="Cambria Math" charset="0"/>
                                  </a:rPr>
                                </m:ctrlPr>
                              </m:sSupPr>
                              <m:e>
                                <m:d>
                                  <m:dPr>
                                    <m:ctrlPr>
                                      <a:rPr lang="en-US" sz="2400" i="1">
                                        <a:latin typeface="Cambria Math" charset="0"/>
                                      </a:rPr>
                                    </m:ctrlPr>
                                  </m:dPr>
                                  <m:e>
                                    <m:r>
                                      <a:rPr lang="en-US" sz="2400" b="0" i="1" smtClean="0">
                                        <a:latin typeface="Cambria Math"/>
                                      </a:rPr>
                                      <m:t>1990</m:t>
                                    </m:r>
                                  </m:e>
                                </m:d>
                              </m:e>
                              <m:sup>
                                <m:r>
                                  <a:rPr lang="en-US" sz="2400" i="1">
                                    <a:latin typeface="Cambria Math"/>
                                  </a:rPr>
                                  <m:t>2</m:t>
                                </m:r>
                              </m:sup>
                            </m:sSup>
                          </m:num>
                          <m:den>
                            <m:r>
                              <a:rPr lang="en-US" sz="2400" b="0" i="1" smtClean="0">
                                <a:latin typeface="Cambria Math"/>
                              </a:rPr>
                              <m:t>200</m:t>
                            </m:r>
                          </m:den>
                        </m:f>
                      </m:e>
                    </m:rad>
                    <m:r>
                      <a:rPr lang="en-US" sz="2400" i="1">
                        <a:latin typeface="Cambria Math"/>
                      </a:rPr>
                      <m:t>=</m:t>
                    </m:r>
                    <m:r>
                      <a:rPr lang="en-US" sz="2400" b="0" i="1" smtClean="0">
                        <a:latin typeface="Cambria Math"/>
                      </a:rPr>
                      <m:t>$196.1196064</m:t>
                    </m:r>
                  </m:oMath>
                </a14:m>
                <a:endParaRPr lang="en-US" sz="2400" b="0" i="1" dirty="0" smtClean="0">
                  <a:latin typeface="Cambria Math"/>
                </a:endParaRPr>
              </a:p>
              <a:p>
                <a:pPr/>
                <a14:m>
                  <m:oMathPara xmlns:m="http://schemas.openxmlformats.org/officeDocument/2006/math">
                    <m:oMathParaPr>
                      <m:jc m:val="centerGroup"/>
                    </m:oMathParaPr>
                    <m:oMath xmlns:m="http://schemas.openxmlformats.org/officeDocument/2006/math">
                      <m:r>
                        <a:rPr lang="en-US" sz="2400" b="0" i="1" smtClean="0">
                          <a:latin typeface="Cambria Math"/>
                        </a:rPr>
                        <m:t> </m:t>
                      </m:r>
                    </m:oMath>
                  </m:oMathPara>
                </a14:m>
                <a:endParaRPr lang="en-US" sz="2400" b="0" i="1" dirty="0" smtClean="0">
                  <a:latin typeface="Cambria Math"/>
                </a:endParaRPr>
              </a:p>
              <a:p>
                <a14:m>
                  <m:oMath xmlns:m="http://schemas.openxmlformats.org/officeDocument/2006/math">
                    <m:r>
                      <a:rPr lang="en-US" sz="2400" b="0" i="1" smtClean="0">
                        <a:latin typeface="Cambria Math"/>
                      </a:rPr>
                      <m:t>𝑍</m:t>
                    </m:r>
                    <m:r>
                      <a:rPr lang="en-US" sz="2400" b="0" i="1" smtClean="0">
                        <a:latin typeface="Cambria Math"/>
                      </a:rPr>
                      <m:t>= </m:t>
                    </m:r>
                    <m:f>
                      <m:fPr>
                        <m:ctrlPr>
                          <a:rPr lang="en-US" sz="2400" b="0" i="1" smtClean="0">
                            <a:latin typeface="Cambria Math" charset="0"/>
                          </a:rPr>
                        </m:ctrlPr>
                      </m:fPr>
                      <m:num>
                        <m:d>
                          <m:dPr>
                            <m:ctrlPr>
                              <a:rPr lang="en-US" sz="2400" b="0" i="1" smtClean="0">
                                <a:latin typeface="Cambria Math" charset="0"/>
                              </a:rPr>
                            </m:ctrlPr>
                          </m:dPr>
                          <m:e>
                            <m:acc>
                              <m:accPr>
                                <m:chr m:val="̅"/>
                                <m:ctrlPr>
                                  <a:rPr lang="en-US" sz="2400" i="1">
                                    <a:latin typeface="Cambria Math" charset="0"/>
                                  </a:rPr>
                                </m:ctrlPr>
                              </m:accPr>
                              <m:e>
                                <m:sSub>
                                  <m:sSubPr>
                                    <m:ctrlPr>
                                      <a:rPr lang="en-US" sz="2400" i="1">
                                        <a:latin typeface="Cambria Math" charset="0"/>
                                      </a:rPr>
                                    </m:ctrlPr>
                                  </m:sSubPr>
                                  <m:e>
                                    <m:r>
                                      <a:rPr lang="en-US" sz="2400" i="1">
                                        <a:latin typeface="Cambria Math"/>
                                      </a:rPr>
                                      <m:t>𝑥</m:t>
                                    </m:r>
                                  </m:e>
                                  <m:sub>
                                    <m:r>
                                      <a:rPr lang="en-US" sz="2400" i="1">
                                        <a:latin typeface="Cambria Math"/>
                                      </a:rPr>
                                      <m:t>1</m:t>
                                    </m:r>
                                  </m:sub>
                                </m:sSub>
                              </m:e>
                            </m:acc>
                            <m:r>
                              <a:rPr lang="en-US" sz="2400" i="1">
                                <a:latin typeface="Cambria Math"/>
                              </a:rPr>
                              <m:t>−</m:t>
                            </m:r>
                            <m:acc>
                              <m:accPr>
                                <m:chr m:val="̅"/>
                                <m:ctrlPr>
                                  <a:rPr lang="en-US" sz="2400" i="1">
                                    <a:latin typeface="Cambria Math" charset="0"/>
                                  </a:rPr>
                                </m:ctrlPr>
                              </m:accPr>
                              <m:e>
                                <m:sSub>
                                  <m:sSubPr>
                                    <m:ctrlPr>
                                      <a:rPr lang="en-US" sz="2400" i="1">
                                        <a:latin typeface="Cambria Math" charset="0"/>
                                      </a:rPr>
                                    </m:ctrlPr>
                                  </m:sSubPr>
                                  <m:e>
                                    <m:r>
                                      <a:rPr lang="en-US" sz="2400" i="1">
                                        <a:latin typeface="Cambria Math"/>
                                      </a:rPr>
                                      <m:t>𝑥</m:t>
                                    </m:r>
                                  </m:e>
                                  <m:sub>
                                    <m:r>
                                      <a:rPr lang="en-US" sz="2400" i="1">
                                        <a:latin typeface="Cambria Math"/>
                                      </a:rPr>
                                      <m:t>2</m:t>
                                    </m:r>
                                  </m:sub>
                                </m:sSub>
                              </m:e>
                            </m:acc>
                          </m:e>
                        </m:d>
                        <m:r>
                          <a:rPr lang="en-US" sz="2400" b="0" i="1" smtClean="0">
                            <a:latin typeface="Cambria Math"/>
                          </a:rPr>
                          <m:t>−(</m:t>
                        </m:r>
                        <m:sSub>
                          <m:sSubPr>
                            <m:ctrlPr>
                              <a:rPr lang="en-US" sz="2400" b="0" i="1" smtClean="0">
                                <a:latin typeface="Cambria Math" charset="0"/>
                              </a:rPr>
                            </m:ctrlPr>
                          </m:sSubPr>
                          <m:e>
                            <m:r>
                              <a:rPr lang="en-US" sz="2400" b="0" i="1" smtClean="0">
                                <a:latin typeface="Cambria Math"/>
                                <a:ea typeface="Cambria Math"/>
                              </a:rPr>
                              <m:t>𝜇</m:t>
                            </m:r>
                          </m:e>
                          <m:sub>
                            <m:r>
                              <a:rPr lang="en-US" sz="2400" b="0" i="1" smtClean="0">
                                <a:latin typeface="Cambria Math"/>
                              </a:rPr>
                              <m:t>1</m:t>
                            </m:r>
                          </m:sub>
                        </m:sSub>
                        <m:r>
                          <a:rPr lang="en-US" sz="2400" b="0" i="1" smtClean="0">
                            <a:latin typeface="Cambria Math"/>
                          </a:rPr>
                          <m:t>−</m:t>
                        </m:r>
                        <m:sSub>
                          <m:sSubPr>
                            <m:ctrlPr>
                              <a:rPr lang="en-US" sz="2400" b="0" i="1" smtClean="0">
                                <a:latin typeface="Cambria Math" charset="0"/>
                              </a:rPr>
                            </m:ctrlPr>
                          </m:sSubPr>
                          <m:e>
                            <m:r>
                              <a:rPr lang="en-US" sz="2400" b="0" i="1" smtClean="0">
                                <a:latin typeface="Cambria Math"/>
                                <a:ea typeface="Cambria Math"/>
                              </a:rPr>
                              <m:t>𝜇</m:t>
                            </m:r>
                          </m:e>
                          <m:sub>
                            <m:r>
                              <a:rPr lang="en-US" sz="2400" b="0" i="1" smtClean="0">
                                <a:latin typeface="Cambria Math"/>
                              </a:rPr>
                              <m:t>2</m:t>
                            </m:r>
                          </m:sub>
                        </m:sSub>
                        <m:r>
                          <a:rPr lang="en-US" sz="2400" b="0" i="1" smtClean="0">
                            <a:latin typeface="Cambria Math"/>
                          </a:rPr>
                          <m:t>)</m:t>
                        </m:r>
                      </m:num>
                      <m:den>
                        <m:sSub>
                          <m:sSubPr>
                            <m:ctrlPr>
                              <a:rPr lang="en-US" sz="2400" i="1">
                                <a:latin typeface="Cambria Math" charset="0"/>
                              </a:rPr>
                            </m:ctrlPr>
                          </m:sSubPr>
                          <m:e>
                            <m:r>
                              <a:rPr lang="en-US" sz="2400" i="1">
                                <a:latin typeface="Cambria Math"/>
                                <a:ea typeface="Cambria Math"/>
                              </a:rPr>
                              <m:t>𝜎</m:t>
                            </m:r>
                          </m:e>
                          <m:sub>
                            <m:acc>
                              <m:accPr>
                                <m:chr m:val="̅"/>
                                <m:ctrlPr>
                                  <a:rPr lang="en-US" sz="2400" i="1">
                                    <a:latin typeface="Cambria Math" charset="0"/>
                                  </a:rPr>
                                </m:ctrlPr>
                              </m:accPr>
                              <m:e>
                                <m:sSub>
                                  <m:sSubPr>
                                    <m:ctrlPr>
                                      <a:rPr lang="en-US" sz="2400" i="1">
                                        <a:latin typeface="Cambria Math" charset="0"/>
                                      </a:rPr>
                                    </m:ctrlPr>
                                  </m:sSubPr>
                                  <m:e>
                                    <m:r>
                                      <a:rPr lang="en-US" sz="2400" i="1">
                                        <a:latin typeface="Cambria Math"/>
                                      </a:rPr>
                                      <m:t>𝑥</m:t>
                                    </m:r>
                                  </m:e>
                                  <m:sub>
                                    <m:r>
                                      <a:rPr lang="en-US" sz="2400" i="1">
                                        <a:latin typeface="Cambria Math"/>
                                      </a:rPr>
                                      <m:t>1</m:t>
                                    </m:r>
                                  </m:sub>
                                </m:sSub>
                              </m:e>
                            </m:acc>
                            <m:r>
                              <a:rPr lang="en-US" sz="2400" i="1">
                                <a:latin typeface="Cambria Math"/>
                              </a:rPr>
                              <m:t>−</m:t>
                            </m:r>
                            <m:acc>
                              <m:accPr>
                                <m:chr m:val="̅"/>
                                <m:ctrlPr>
                                  <a:rPr lang="en-US" sz="2400" i="1">
                                    <a:latin typeface="Cambria Math" charset="0"/>
                                  </a:rPr>
                                </m:ctrlPr>
                              </m:accPr>
                              <m:e>
                                <m:sSub>
                                  <m:sSubPr>
                                    <m:ctrlPr>
                                      <a:rPr lang="en-US" sz="2400" i="1">
                                        <a:latin typeface="Cambria Math" charset="0"/>
                                      </a:rPr>
                                    </m:ctrlPr>
                                  </m:sSubPr>
                                  <m:e>
                                    <m:r>
                                      <a:rPr lang="en-US" sz="2400" i="1">
                                        <a:latin typeface="Cambria Math"/>
                                      </a:rPr>
                                      <m:t>𝑥</m:t>
                                    </m:r>
                                  </m:e>
                                  <m:sub>
                                    <m:r>
                                      <a:rPr lang="en-US" sz="2400" i="1">
                                        <a:latin typeface="Cambria Math"/>
                                      </a:rPr>
                                      <m:t>2</m:t>
                                    </m:r>
                                  </m:sub>
                                </m:sSub>
                              </m:e>
                            </m:acc>
                          </m:sub>
                        </m:sSub>
                      </m:den>
                    </m:f>
                  </m:oMath>
                </a14:m>
                <a:r>
                  <a:rPr lang="en-US" sz="2400" b="0" i="1" dirty="0" smtClean="0">
                    <a:latin typeface="Cambria Math"/>
                  </a:rPr>
                  <a:t>   </a:t>
                </a:r>
              </a:p>
              <a:p>
                <a:pPr/>
                <a14:m>
                  <m:oMathPara xmlns:m="http://schemas.openxmlformats.org/officeDocument/2006/math">
                    <m:oMathParaPr>
                      <m:jc m:val="centerGroup"/>
                    </m:oMathParaPr>
                    <m:oMath xmlns:m="http://schemas.openxmlformats.org/officeDocument/2006/math">
                      <m:r>
                        <a:rPr lang="en-US" sz="2400" b="0" i="1" smtClean="0">
                          <a:latin typeface="Cambria Math"/>
                        </a:rPr>
                        <m:t>= </m:t>
                      </m:r>
                      <m:f>
                        <m:fPr>
                          <m:ctrlPr>
                            <a:rPr lang="en-US" sz="2400" b="0" i="1" smtClean="0">
                              <a:latin typeface="Cambria Math" charset="0"/>
                            </a:rPr>
                          </m:ctrlPr>
                        </m:fPr>
                        <m:num>
                          <m:d>
                            <m:dPr>
                              <m:ctrlPr>
                                <a:rPr lang="en-US" sz="2400" b="0" i="1" smtClean="0">
                                  <a:latin typeface="Cambria Math" charset="0"/>
                                </a:rPr>
                              </m:ctrlPr>
                            </m:dPr>
                            <m:e>
                              <m:r>
                                <a:rPr lang="en-US" sz="2400" b="0" i="1" smtClean="0">
                                  <a:latin typeface="Cambria Math"/>
                                </a:rPr>
                                <m:t>$15,073 −$13,770</m:t>
                              </m:r>
                            </m:e>
                          </m:d>
                          <m:r>
                            <a:rPr lang="en-US" sz="2400" b="0" i="1" smtClean="0">
                              <a:latin typeface="Cambria Math"/>
                            </a:rPr>
                            <m:t>−0</m:t>
                          </m:r>
                        </m:num>
                        <m:den>
                          <m:r>
                            <a:rPr lang="en-US" sz="2400" b="0" i="1" smtClean="0">
                              <a:latin typeface="Cambria Math"/>
                            </a:rPr>
                            <m:t>196.1196064</m:t>
                          </m:r>
                        </m:den>
                      </m:f>
                      <m:r>
                        <a:rPr lang="en-US" sz="2400" b="0" i="1" smtClean="0">
                          <a:latin typeface="Cambria Math"/>
                        </a:rPr>
                        <m:t>=6.64</m:t>
                      </m:r>
                    </m:oMath>
                  </m:oMathPara>
                </a14:m>
                <a:endParaRPr lang="en-US" sz="2400" b="0" i="1" dirty="0" smtClean="0">
                  <a:latin typeface="Cambria Math"/>
                </a:endParaRPr>
              </a:p>
              <a:p>
                <a:endParaRPr lang="en-US" sz="2400" dirty="0"/>
              </a:p>
            </p:txBody>
          </p:sp>
        </mc:Choice>
        <mc:Fallback>
          <p:sp>
            <p:nvSpPr>
              <p:cNvPr id="12" name="TextBox 11"/>
              <p:cNvSpPr txBox="1">
                <a:spLocks noRot="1" noChangeAspect="1" noMove="1" noResize="1" noEditPoints="1" noAdjustHandles="1" noChangeArrowheads="1" noChangeShapeType="1" noTextEdit="1"/>
              </p:cNvSpPr>
              <p:nvPr/>
            </p:nvSpPr>
            <p:spPr>
              <a:xfrm>
                <a:off x="1828800" y="1619250"/>
                <a:ext cx="6363494" cy="3688126"/>
              </a:xfrm>
              <a:prstGeom prst="rect">
                <a:avLst/>
              </a:prstGeom>
              <a:blipFill rotWithShape="0">
                <a:blip r:embed="rId2"/>
                <a:stretch>
                  <a:fillRect/>
                </a:stretch>
              </a:blipFill>
            </p:spPr>
            <p:txBody>
              <a:bodyPr/>
              <a:lstStyle/>
              <a:p>
                <a:r>
                  <a:rPr lang="en-US">
                    <a:noFill/>
                  </a:rPr>
                  <a:t> </a:t>
                </a:r>
              </a:p>
            </p:txBody>
          </p:sp>
        </mc:Fallback>
      </mc:AlternateContent>
      <p:sp>
        <p:nvSpPr>
          <p:cNvPr id="10" name="Text Box 4"/>
          <p:cNvSpPr txBox="1">
            <a:spLocks noChangeArrowheads="1"/>
          </p:cNvSpPr>
          <p:nvPr/>
        </p:nvSpPr>
        <p:spPr bwMode="auto">
          <a:xfrm>
            <a:off x="4049486" y="6172200"/>
            <a:ext cx="47815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ChangeArrowheads="1"/>
          </p:cNvSpPr>
          <p:nvPr>
            <p:ph type="title"/>
          </p:nvPr>
        </p:nvSpPr>
        <p:spPr/>
        <p:txBody>
          <a:bodyPr/>
          <a:lstStyle/>
          <a:p>
            <a:pPr eaLnBrk="1" hangingPunct="1"/>
            <a:r>
              <a:rPr lang="en-US" sz="2800" dirty="0" smtClean="0"/>
              <a:t>Example 10-4: Solution</a:t>
            </a:r>
          </a:p>
        </p:txBody>
      </p:sp>
      <p:sp>
        <p:nvSpPr>
          <p:cNvPr id="73731" name="Rectangle 3"/>
          <p:cNvSpPr>
            <a:spLocks noGrp="1" noChangeArrowheads="1"/>
          </p:cNvSpPr>
          <p:nvPr>
            <p:ph type="body" idx="1"/>
          </p:nvPr>
        </p:nvSpPr>
        <p:spPr>
          <a:xfrm>
            <a:off x="533400" y="1600200"/>
            <a:ext cx="8077200" cy="2895600"/>
          </a:xfrm>
        </p:spPr>
        <p:txBody>
          <a:bodyPr/>
          <a:lstStyle/>
          <a:p>
            <a:pPr marL="0" indent="0" eaLnBrk="1" hangingPunct="1">
              <a:lnSpc>
                <a:spcPct val="90000"/>
              </a:lnSpc>
              <a:buNone/>
            </a:pPr>
            <a:r>
              <a:rPr lang="en-US" sz="2000" b="1" dirty="0" smtClean="0"/>
              <a:t>Step 5:</a:t>
            </a:r>
          </a:p>
          <a:p>
            <a:pPr marL="0" indent="0" eaLnBrk="1" hangingPunct="1">
              <a:lnSpc>
                <a:spcPct val="90000"/>
              </a:lnSpc>
              <a:buNone/>
            </a:pPr>
            <a:r>
              <a:rPr lang="en-US" sz="2000" dirty="0" smtClean="0"/>
              <a:t>  Because the value of the test statistic </a:t>
            </a:r>
            <a:r>
              <a:rPr lang="en-US" sz="2000" i="1" dirty="0" smtClean="0"/>
              <a:t>z</a:t>
            </a:r>
            <a:r>
              <a:rPr lang="en-US" sz="2000" dirty="0" smtClean="0"/>
              <a:t> = 6.64 falls in the  </a:t>
            </a:r>
          </a:p>
          <a:p>
            <a:pPr marL="0" indent="0" eaLnBrk="1" hangingPunct="1">
              <a:lnSpc>
                <a:spcPct val="90000"/>
              </a:lnSpc>
              <a:buNone/>
            </a:pPr>
            <a:r>
              <a:rPr lang="en-US" sz="2000" dirty="0"/>
              <a:t> </a:t>
            </a:r>
            <a:r>
              <a:rPr lang="en-US" sz="2000" dirty="0" smtClean="0"/>
              <a:t> rejection region, we reject the null hypothesis </a:t>
            </a:r>
            <a:r>
              <a:rPr lang="en-US" sz="2000" i="1" dirty="0" smtClean="0"/>
              <a:t>H</a:t>
            </a:r>
            <a:r>
              <a:rPr lang="en-US" sz="2000" i="1" baseline="-25000" dirty="0" smtClean="0"/>
              <a:t>0</a:t>
            </a:r>
            <a:r>
              <a:rPr lang="en-US" sz="2000" dirty="0" smtClean="0"/>
              <a:t>.</a:t>
            </a:r>
          </a:p>
          <a:p>
            <a:pPr marL="0" indent="0" eaLnBrk="1" hangingPunct="1">
              <a:lnSpc>
                <a:spcPct val="90000"/>
              </a:lnSpc>
              <a:buNone/>
            </a:pPr>
            <a:r>
              <a:rPr lang="en-US" sz="2000" dirty="0" smtClean="0"/>
              <a:t>  Therefore, we conclude that the average annual premiums </a:t>
            </a:r>
          </a:p>
          <a:p>
            <a:pPr marL="0" indent="0" eaLnBrk="1" hangingPunct="1">
              <a:lnSpc>
                <a:spcPct val="90000"/>
              </a:lnSpc>
              <a:buNone/>
            </a:pPr>
            <a:r>
              <a:rPr lang="en-US" sz="2000" dirty="0"/>
              <a:t> </a:t>
            </a:r>
            <a:r>
              <a:rPr lang="en-US" sz="2000" dirty="0" smtClean="0"/>
              <a:t> for employer-sponsored health insurance for family </a:t>
            </a:r>
          </a:p>
          <a:p>
            <a:pPr marL="0" indent="0" eaLnBrk="1" hangingPunct="1">
              <a:lnSpc>
                <a:spcPct val="90000"/>
              </a:lnSpc>
              <a:buNone/>
            </a:pPr>
            <a:r>
              <a:rPr lang="en-US" sz="2000" dirty="0"/>
              <a:t> </a:t>
            </a:r>
            <a:r>
              <a:rPr lang="en-US" sz="2000" dirty="0" smtClean="0"/>
              <a:t> coverage were different for 2011 and 2010.</a:t>
            </a:r>
          </a:p>
        </p:txBody>
      </p:sp>
      <p:sp>
        <p:nvSpPr>
          <p:cNvPr id="6" name="Text Box 4"/>
          <p:cNvSpPr txBox="1">
            <a:spLocks noChangeArrowheads="1"/>
          </p:cNvSpPr>
          <p:nvPr/>
        </p:nvSpPr>
        <p:spPr bwMode="auto">
          <a:xfrm>
            <a:off x="4049486" y="6172200"/>
            <a:ext cx="47815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noChangeArrowheads="1"/>
          </p:cNvSpPr>
          <p:nvPr>
            <p:ph type="title"/>
          </p:nvPr>
        </p:nvSpPr>
        <p:spPr/>
        <p:txBody>
          <a:bodyPr/>
          <a:lstStyle/>
          <a:p>
            <a:pPr eaLnBrk="1" hangingPunct="1"/>
            <a:r>
              <a:rPr lang="en-GB" sz="2000" dirty="0" smtClean="0"/>
              <a:t>INFERENCES ABOUT THE DIFFERENCE BETWEEN TWO POPULATION MEANS FOR INDEPENDENT SAMPLES: </a:t>
            </a:r>
            <a:r>
              <a:rPr lang="el-GR" sz="2000" dirty="0" smtClean="0">
                <a:latin typeface="Verdana"/>
                <a:ea typeface="Verdana"/>
                <a:cs typeface="Verdana"/>
              </a:rPr>
              <a:t>σ</a:t>
            </a:r>
            <a:r>
              <a:rPr lang="en-GB" sz="2000" baseline="-25000" dirty="0" smtClean="0">
                <a:sym typeface="Mathematica1" pitchFamily="2" charset="2"/>
              </a:rPr>
              <a:t>1</a:t>
            </a:r>
            <a:r>
              <a:rPr lang="en-GB" sz="2000" dirty="0" smtClean="0">
                <a:sym typeface="Mathematica1" pitchFamily="2" charset="2"/>
              </a:rPr>
              <a:t> AND </a:t>
            </a:r>
            <a:r>
              <a:rPr lang="el-GR" sz="2000" dirty="0" smtClean="0">
                <a:latin typeface="Verdana"/>
                <a:ea typeface="Verdana"/>
                <a:cs typeface="Verdana"/>
              </a:rPr>
              <a:t>σ</a:t>
            </a:r>
            <a:r>
              <a:rPr lang="en-GB" sz="2000" baseline="-25000" dirty="0" smtClean="0">
                <a:sym typeface="Mathematica1" pitchFamily="2" charset="2"/>
              </a:rPr>
              <a:t>2</a:t>
            </a:r>
            <a:r>
              <a:rPr lang="en-GB" sz="2000" dirty="0" smtClean="0">
                <a:sym typeface="Mathematica1" pitchFamily="2" charset="2"/>
              </a:rPr>
              <a:t> UNKNOWN BUT </a:t>
            </a:r>
            <a:r>
              <a:rPr lang="en-GB" sz="2000" dirty="0" smtClean="0"/>
              <a:t>EQUAL</a:t>
            </a:r>
            <a:endParaRPr lang="en-US" sz="2000" dirty="0" smtClean="0"/>
          </a:p>
        </p:txBody>
      </p:sp>
      <p:sp>
        <p:nvSpPr>
          <p:cNvPr id="74755" name="Rectangle 3"/>
          <p:cNvSpPr>
            <a:spLocks noGrp="1" noChangeArrowheads="1"/>
          </p:cNvSpPr>
          <p:nvPr>
            <p:ph type="body" idx="1"/>
          </p:nvPr>
        </p:nvSpPr>
        <p:spPr>
          <a:xfrm>
            <a:off x="457200" y="1524000"/>
            <a:ext cx="8269288" cy="2173287"/>
          </a:xfrm>
        </p:spPr>
        <p:txBody>
          <a:bodyPr/>
          <a:lstStyle/>
          <a:p>
            <a:pPr eaLnBrk="1" hangingPunct="1"/>
            <a:r>
              <a:rPr lang="en-US" sz="2000" dirty="0" smtClean="0"/>
              <a:t>Interval Estimation of </a:t>
            </a:r>
            <a:r>
              <a:rPr lang="el-GR" sz="2000" dirty="0" smtClean="0">
                <a:latin typeface="Times New Roman" charset="0"/>
                <a:cs typeface="Times New Roman" charset="0"/>
              </a:rPr>
              <a:t>μ</a:t>
            </a:r>
            <a:r>
              <a:rPr lang="en-US" sz="2000" baseline="-25000" dirty="0" smtClean="0"/>
              <a:t>1</a:t>
            </a:r>
            <a:r>
              <a:rPr lang="en-US" sz="2000" dirty="0" smtClean="0"/>
              <a:t> – </a:t>
            </a:r>
            <a:r>
              <a:rPr lang="el-GR" sz="2000" dirty="0" smtClean="0">
                <a:latin typeface="Times New Roman" charset="0"/>
                <a:cs typeface="Times New Roman" charset="0"/>
              </a:rPr>
              <a:t>μ</a:t>
            </a:r>
            <a:r>
              <a:rPr lang="en-US" sz="2000" baseline="-25000" dirty="0" smtClean="0"/>
              <a:t>2</a:t>
            </a:r>
          </a:p>
          <a:p>
            <a:pPr eaLnBrk="1" hangingPunct="1"/>
            <a:r>
              <a:rPr lang="en-US" sz="2000" dirty="0" smtClean="0"/>
              <a:t>Hypothesis Testing About </a:t>
            </a:r>
            <a:r>
              <a:rPr lang="el-GR" sz="2000" dirty="0" smtClean="0">
                <a:latin typeface="Times New Roman" charset="0"/>
                <a:cs typeface="Times New Roman" charset="0"/>
              </a:rPr>
              <a:t>μ</a:t>
            </a:r>
            <a:r>
              <a:rPr lang="en-US" sz="2000" baseline="-25000" dirty="0" smtClean="0"/>
              <a:t>1</a:t>
            </a:r>
            <a:r>
              <a:rPr lang="en-US" sz="2000" dirty="0" smtClean="0"/>
              <a:t> – </a:t>
            </a:r>
            <a:r>
              <a:rPr lang="el-GR" sz="2000" dirty="0" smtClean="0">
                <a:latin typeface="Times New Roman" charset="0"/>
                <a:cs typeface="Times New Roman" charset="0"/>
              </a:rPr>
              <a:t>μ</a:t>
            </a:r>
            <a:r>
              <a:rPr lang="en-US" sz="2000" baseline="-25000" dirty="0" smtClean="0"/>
              <a:t>2</a:t>
            </a:r>
            <a:endParaRPr lang="en-US" sz="2000" dirty="0" smtClean="0"/>
          </a:p>
        </p:txBody>
      </p:sp>
      <p:sp>
        <p:nvSpPr>
          <p:cNvPr id="7" name="Text Box 4"/>
          <p:cNvSpPr txBox="1">
            <a:spLocks noChangeArrowheads="1"/>
          </p:cNvSpPr>
          <p:nvPr/>
        </p:nvSpPr>
        <p:spPr bwMode="auto">
          <a:xfrm>
            <a:off x="4049486" y="6172200"/>
            <a:ext cx="47815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1403287"/>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8" name="Rectangle 2"/>
          <p:cNvSpPr>
            <a:spLocks noGrp="1" noChangeArrowheads="1"/>
          </p:cNvSpPr>
          <p:nvPr>
            <p:ph type="title"/>
          </p:nvPr>
        </p:nvSpPr>
        <p:spPr/>
        <p:txBody>
          <a:bodyPr/>
          <a:lstStyle/>
          <a:p>
            <a:pPr eaLnBrk="1" hangingPunct="1"/>
            <a:r>
              <a:rPr lang="en-US" sz="2800" dirty="0" smtClean="0"/>
              <a:t>Pooled Standard Deviation for Two Samples</a:t>
            </a:r>
          </a:p>
        </p:txBody>
      </p:sp>
      <p:sp>
        <p:nvSpPr>
          <p:cNvPr id="8199" name="Rectangle 3"/>
          <p:cNvSpPr>
            <a:spLocks noGrp="1" noChangeArrowheads="1"/>
          </p:cNvSpPr>
          <p:nvPr>
            <p:ph type="body" idx="1"/>
          </p:nvPr>
        </p:nvSpPr>
        <p:spPr>
          <a:xfrm>
            <a:off x="76200" y="1524000"/>
            <a:ext cx="8743950" cy="4383088"/>
          </a:xfrm>
        </p:spPr>
        <p:txBody>
          <a:bodyPr/>
          <a:lstStyle/>
          <a:p>
            <a:pPr eaLnBrk="1" hangingPunct="1">
              <a:buFont typeface="Tahoma" charset="0"/>
              <a:buChar char=" "/>
            </a:pPr>
            <a:r>
              <a:rPr lang="en-GB" sz="2000" dirty="0" smtClean="0"/>
              <a:t>The </a:t>
            </a:r>
            <a:r>
              <a:rPr lang="en-GB" sz="2000" b="1" i="1" u="sng" dirty="0" smtClean="0">
                <a:solidFill>
                  <a:schemeClr val="hlink"/>
                </a:solidFill>
              </a:rPr>
              <a:t>pooled standard deviation for two samples</a:t>
            </a:r>
            <a:r>
              <a:rPr lang="en-GB" sz="2000" dirty="0" smtClean="0"/>
              <a:t> is computed as</a:t>
            </a:r>
          </a:p>
          <a:p>
            <a:pPr eaLnBrk="1" hangingPunct="1">
              <a:buFont typeface="Tahoma" charset="0"/>
              <a:buChar char=" "/>
            </a:pPr>
            <a:endParaRPr lang="en-GB" sz="2000" dirty="0" smtClean="0"/>
          </a:p>
          <a:p>
            <a:pPr eaLnBrk="1" hangingPunct="1">
              <a:buFont typeface="Tahoma" charset="0"/>
              <a:buChar char=" "/>
            </a:pPr>
            <a:endParaRPr lang="en-GB" sz="2000" dirty="0" smtClean="0"/>
          </a:p>
          <a:p>
            <a:pPr eaLnBrk="1" hangingPunct="1">
              <a:buFont typeface="Tahoma" charset="0"/>
              <a:buChar char=" "/>
            </a:pPr>
            <a:endParaRPr lang="en-GB" sz="2000" dirty="0" smtClean="0"/>
          </a:p>
          <a:p>
            <a:pPr eaLnBrk="1" hangingPunct="1">
              <a:buFont typeface="Tahoma" charset="0"/>
              <a:buChar char=" "/>
            </a:pPr>
            <a:endParaRPr lang="en-GB" sz="2000" dirty="0" smtClean="0"/>
          </a:p>
          <a:p>
            <a:pPr eaLnBrk="1" hangingPunct="1">
              <a:buFont typeface="Tahoma" charset="0"/>
              <a:buChar char=" "/>
            </a:pPr>
            <a:r>
              <a:rPr lang="en-GB" sz="2000" dirty="0" smtClean="0"/>
              <a:t>where </a:t>
            </a:r>
            <a:r>
              <a:rPr lang="en-GB" sz="2000" i="1" dirty="0" smtClean="0">
                <a:latin typeface="Times New Roman" charset="0"/>
              </a:rPr>
              <a:t>n</a:t>
            </a:r>
            <a:r>
              <a:rPr lang="en-GB" sz="2000" baseline="-25000" dirty="0" smtClean="0"/>
              <a:t>1</a:t>
            </a:r>
            <a:r>
              <a:rPr lang="en-GB" sz="2000" dirty="0" smtClean="0"/>
              <a:t> and </a:t>
            </a:r>
            <a:r>
              <a:rPr lang="en-GB" sz="2000" i="1" dirty="0" smtClean="0">
                <a:latin typeface="Times New Roman" charset="0"/>
              </a:rPr>
              <a:t>n</a:t>
            </a:r>
            <a:r>
              <a:rPr lang="en-GB" sz="2000" baseline="-25000" dirty="0" smtClean="0"/>
              <a:t>2</a:t>
            </a:r>
            <a:r>
              <a:rPr lang="en-GB" sz="2000" dirty="0" smtClean="0"/>
              <a:t> are the sizes of the two samples and      </a:t>
            </a:r>
            <a:r>
              <a:rPr lang="en-GB" sz="2000" dirty="0" err="1" smtClean="0"/>
              <a:t>and</a:t>
            </a:r>
            <a:r>
              <a:rPr lang="en-GB" sz="2000" dirty="0" smtClean="0"/>
              <a:t>      are the variances of the two samples, respectively. Here     is an estimator of </a:t>
            </a:r>
            <a:r>
              <a:rPr lang="el-GR" sz="2000" dirty="0" smtClean="0">
                <a:latin typeface="Times New Roman" charset="0"/>
                <a:cs typeface="Times New Roman" charset="0"/>
              </a:rPr>
              <a:t>σ</a:t>
            </a:r>
            <a:r>
              <a:rPr lang="en-GB" sz="2000" dirty="0" smtClean="0">
                <a:cs typeface="Times New Roman" charset="0"/>
              </a:rPr>
              <a:t>.</a:t>
            </a:r>
            <a:endParaRPr lang="el-GR" sz="2000" dirty="0" smtClean="0">
              <a:latin typeface="Times New Roman" charset="0"/>
              <a:cs typeface="Times New Roman" charset="0"/>
            </a:endParaRPr>
          </a:p>
        </p:txBody>
      </p:sp>
      <p:graphicFrame>
        <p:nvGraphicFramePr>
          <p:cNvPr id="8194" name="Object 2"/>
          <p:cNvGraphicFramePr>
            <a:graphicFrameLocks noChangeAspect="1"/>
          </p:cNvGraphicFramePr>
          <p:nvPr>
            <p:extLst>
              <p:ext uri="{D42A27DB-BD31-4B8C-83A1-F6EECF244321}">
                <p14:modId xmlns:p14="http://schemas.microsoft.com/office/powerpoint/2010/main" val="3483032601"/>
              </p:ext>
            </p:extLst>
          </p:nvPr>
        </p:nvGraphicFramePr>
        <p:xfrm>
          <a:off x="2209800" y="2362200"/>
          <a:ext cx="4003675" cy="1055110"/>
        </p:xfrm>
        <a:graphic>
          <a:graphicData uri="http://schemas.openxmlformats.org/presentationml/2006/ole">
            <mc:AlternateContent xmlns:mc="http://schemas.openxmlformats.org/markup-compatibility/2006">
              <mc:Choice xmlns:v="urn:schemas-microsoft-com:vml" Requires="v">
                <p:oleObj spid="_x0000_s8367" name="Equation" r:id="rId3" imgW="1879560" imgH="495000" progId="">
                  <p:embed/>
                </p:oleObj>
              </mc:Choice>
              <mc:Fallback>
                <p:oleObj name="Equation" r:id="rId3" imgW="1879560" imgH="495000" progId="">
                  <p:embed/>
                  <p:pic>
                    <p:nvPicPr>
                      <p:cNvPr id="0" name="Picture 13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09800" y="2362200"/>
                        <a:ext cx="4003675" cy="105511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195" name="Object 3"/>
          <p:cNvGraphicFramePr>
            <a:graphicFrameLocks noChangeAspect="1"/>
          </p:cNvGraphicFramePr>
          <p:nvPr>
            <p:extLst>
              <p:ext uri="{D42A27DB-BD31-4B8C-83A1-F6EECF244321}">
                <p14:modId xmlns:p14="http://schemas.microsoft.com/office/powerpoint/2010/main" val="3502023344"/>
              </p:ext>
            </p:extLst>
          </p:nvPr>
        </p:nvGraphicFramePr>
        <p:xfrm>
          <a:off x="7764318" y="3949227"/>
          <a:ext cx="331932" cy="451323"/>
        </p:xfrm>
        <a:graphic>
          <a:graphicData uri="http://schemas.openxmlformats.org/presentationml/2006/ole">
            <mc:AlternateContent xmlns:mc="http://schemas.openxmlformats.org/markup-compatibility/2006">
              <mc:Choice xmlns:v="urn:schemas-microsoft-com:vml" Requires="v">
                <p:oleObj spid="_x0000_s8368" name="Equation" r:id="rId5" imgW="177480" imgH="241200" progId="Equation.3">
                  <p:embed/>
                </p:oleObj>
              </mc:Choice>
              <mc:Fallback>
                <p:oleObj name="Equation" r:id="rId5" imgW="177480" imgH="241200" progId="Equation.3">
                  <p:embed/>
                  <p:pic>
                    <p:nvPicPr>
                      <p:cNvPr id="0" name="Picture 13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764318" y="3949227"/>
                        <a:ext cx="331932" cy="451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5921" dir="2700000" algn="ctr" rotWithShape="0">
                                <a:schemeClr val="bg2"/>
                              </a:outerShdw>
                            </a:effectLst>
                          </a14:hiddenEffects>
                        </a:ext>
                      </a:extLst>
                    </p:spPr>
                  </p:pic>
                </p:oleObj>
              </mc:Fallback>
            </mc:AlternateContent>
          </a:graphicData>
        </a:graphic>
      </p:graphicFrame>
      <p:graphicFrame>
        <p:nvGraphicFramePr>
          <p:cNvPr id="8196" name="Object 4"/>
          <p:cNvGraphicFramePr>
            <a:graphicFrameLocks noChangeAspect="1"/>
          </p:cNvGraphicFramePr>
          <p:nvPr>
            <p:extLst>
              <p:ext uri="{D42A27DB-BD31-4B8C-83A1-F6EECF244321}">
                <p14:modId xmlns:p14="http://schemas.microsoft.com/office/powerpoint/2010/main" val="2661279542"/>
              </p:ext>
            </p:extLst>
          </p:nvPr>
        </p:nvGraphicFramePr>
        <p:xfrm>
          <a:off x="7372350" y="3638550"/>
          <a:ext cx="356622" cy="458002"/>
        </p:xfrm>
        <a:graphic>
          <a:graphicData uri="http://schemas.openxmlformats.org/presentationml/2006/ole">
            <mc:AlternateContent xmlns:mc="http://schemas.openxmlformats.org/markup-compatibility/2006">
              <mc:Choice xmlns:v="urn:schemas-microsoft-com:vml" Requires="v">
                <p:oleObj spid="_x0000_s8369" name="Equation" r:id="rId7" imgW="177480" imgH="228600" progId="Equation.3">
                  <p:embed/>
                </p:oleObj>
              </mc:Choice>
              <mc:Fallback>
                <p:oleObj name="Equation" r:id="rId7" imgW="177480" imgH="228600" progId="Equation.3">
                  <p:embed/>
                  <p:pic>
                    <p:nvPicPr>
                      <p:cNvPr id="0" name="Picture 13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372350" y="3638550"/>
                        <a:ext cx="356622" cy="4580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5921" dir="2700000" algn="ctr" rotWithShape="0">
                                <a:schemeClr val="bg2"/>
                              </a:outerShdw>
                            </a:effectLst>
                          </a14:hiddenEffects>
                        </a:ext>
                      </a:extLst>
                    </p:spPr>
                  </p:pic>
                </p:oleObj>
              </mc:Fallback>
            </mc:AlternateContent>
          </a:graphicData>
        </a:graphic>
      </p:graphicFrame>
      <p:graphicFrame>
        <p:nvGraphicFramePr>
          <p:cNvPr id="8197" name="Object 5"/>
          <p:cNvGraphicFramePr>
            <a:graphicFrameLocks noChangeAspect="1"/>
          </p:cNvGraphicFramePr>
          <p:nvPr>
            <p:extLst>
              <p:ext uri="{D42A27DB-BD31-4B8C-83A1-F6EECF244321}">
                <p14:modId xmlns:p14="http://schemas.microsoft.com/office/powerpoint/2010/main" val="3255129244"/>
              </p:ext>
            </p:extLst>
          </p:nvPr>
        </p:nvGraphicFramePr>
        <p:xfrm>
          <a:off x="8324850" y="3638550"/>
          <a:ext cx="356622" cy="458002"/>
        </p:xfrm>
        <a:graphic>
          <a:graphicData uri="http://schemas.openxmlformats.org/presentationml/2006/ole">
            <mc:AlternateContent xmlns:mc="http://schemas.openxmlformats.org/markup-compatibility/2006">
              <mc:Choice xmlns:v="urn:schemas-microsoft-com:vml" Requires="v">
                <p:oleObj spid="_x0000_s8370" name="Equation" r:id="rId9" imgW="177480" imgH="228600" progId="Equation.3">
                  <p:embed/>
                </p:oleObj>
              </mc:Choice>
              <mc:Fallback>
                <p:oleObj name="Equation" r:id="rId9" imgW="177480" imgH="228600" progId="Equation.3">
                  <p:embed/>
                  <p:pic>
                    <p:nvPicPr>
                      <p:cNvPr id="0" name="Picture 14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324850" y="3638550"/>
                        <a:ext cx="356622" cy="4580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5921" dir="2700000" algn="ctr" rotWithShape="0">
                                <a:schemeClr val="bg2"/>
                              </a:outerShdw>
                            </a:effectLst>
                          </a14:hiddenEffects>
                        </a:ext>
                      </a:extLst>
                    </p:spPr>
                  </p:pic>
                </p:oleObj>
              </mc:Fallback>
            </mc:AlternateContent>
          </a:graphicData>
        </a:graphic>
      </p:graphicFrame>
      <p:sp>
        <p:nvSpPr>
          <p:cNvPr id="10" name="Text Box 4"/>
          <p:cNvSpPr txBox="1">
            <a:spLocks noChangeArrowheads="1"/>
          </p:cNvSpPr>
          <p:nvPr/>
        </p:nvSpPr>
        <p:spPr bwMode="auto">
          <a:xfrm>
            <a:off x="4049486" y="6172200"/>
            <a:ext cx="47815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pic>
        <p:nvPicPr>
          <p:cNvPr id="2" name="Picture 1"/>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1119187" y="4953000"/>
            <a:ext cx="6184900" cy="49530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0" name="Rectangle 2"/>
          <p:cNvSpPr>
            <a:spLocks noGrp="1" noChangeArrowheads="1"/>
          </p:cNvSpPr>
          <p:nvPr>
            <p:ph type="title"/>
          </p:nvPr>
        </p:nvSpPr>
        <p:spPr/>
        <p:txBody>
          <a:bodyPr/>
          <a:lstStyle/>
          <a:p>
            <a:pPr eaLnBrk="1" hangingPunct="1"/>
            <a:r>
              <a:rPr lang="en-US" sz="2800" dirty="0" smtClean="0"/>
              <a:t>Estimator of the Standard Deviation of  </a:t>
            </a:r>
            <a:r>
              <a:rPr lang="en-US" sz="2800" i="1" dirty="0" smtClean="0">
                <a:latin typeface="Times New Roman" charset="0"/>
              </a:rPr>
              <a:t>x</a:t>
            </a:r>
            <a:r>
              <a:rPr lang="en-US" sz="2800" baseline="-25000" dirty="0" smtClean="0"/>
              <a:t>1</a:t>
            </a:r>
            <a:r>
              <a:rPr lang="en-US" sz="2800" dirty="0" smtClean="0"/>
              <a:t> – </a:t>
            </a:r>
            <a:r>
              <a:rPr lang="en-US" sz="2800" i="1" dirty="0" smtClean="0">
                <a:latin typeface="Times New Roman" charset="0"/>
              </a:rPr>
              <a:t>x</a:t>
            </a:r>
            <a:r>
              <a:rPr lang="en-US" sz="2800" baseline="-25000" dirty="0" smtClean="0"/>
              <a:t>2</a:t>
            </a:r>
            <a:r>
              <a:rPr lang="en-US" sz="2800" dirty="0" smtClean="0"/>
              <a:t> </a:t>
            </a:r>
          </a:p>
        </p:txBody>
      </p:sp>
      <p:sp>
        <p:nvSpPr>
          <p:cNvPr id="9221" name="Rectangle 3"/>
          <p:cNvSpPr>
            <a:spLocks noGrp="1" noChangeArrowheads="1"/>
          </p:cNvSpPr>
          <p:nvPr>
            <p:ph type="body" idx="1"/>
          </p:nvPr>
        </p:nvSpPr>
        <p:spPr>
          <a:xfrm>
            <a:off x="114300" y="1543050"/>
            <a:ext cx="8497888" cy="4114800"/>
          </a:xfrm>
        </p:spPr>
        <p:txBody>
          <a:bodyPr/>
          <a:lstStyle/>
          <a:p>
            <a:pPr eaLnBrk="1" hangingPunct="1">
              <a:buFont typeface="Tahoma" charset="0"/>
              <a:buChar char=" "/>
            </a:pPr>
            <a:r>
              <a:rPr lang="en-US" sz="2000" dirty="0" smtClean="0">
                <a:solidFill>
                  <a:schemeClr val="folHlink"/>
                </a:solidFill>
              </a:rPr>
              <a:t>Estimator of the Standard Deviation of </a:t>
            </a:r>
            <a:r>
              <a:rPr lang="en-US" sz="2000" i="1" dirty="0" smtClean="0">
                <a:solidFill>
                  <a:schemeClr val="folHlink"/>
                </a:solidFill>
                <a:latin typeface="Times New Roman" charset="0"/>
              </a:rPr>
              <a:t>x</a:t>
            </a:r>
            <a:r>
              <a:rPr lang="en-US" sz="2000" baseline="-25000" dirty="0" smtClean="0">
                <a:solidFill>
                  <a:schemeClr val="folHlink"/>
                </a:solidFill>
              </a:rPr>
              <a:t>1</a:t>
            </a:r>
            <a:r>
              <a:rPr lang="en-US" sz="2000" dirty="0" smtClean="0">
                <a:solidFill>
                  <a:schemeClr val="folHlink"/>
                </a:solidFill>
              </a:rPr>
              <a:t> – </a:t>
            </a:r>
            <a:r>
              <a:rPr lang="en-US" sz="2000" i="1" dirty="0" smtClean="0">
                <a:solidFill>
                  <a:schemeClr val="folHlink"/>
                </a:solidFill>
                <a:latin typeface="Times New Roman" charset="0"/>
              </a:rPr>
              <a:t>x</a:t>
            </a:r>
            <a:r>
              <a:rPr lang="en-US" sz="2000" baseline="-25000" dirty="0" smtClean="0">
                <a:solidFill>
                  <a:schemeClr val="folHlink"/>
                </a:solidFill>
              </a:rPr>
              <a:t>2</a:t>
            </a:r>
            <a:r>
              <a:rPr lang="en-US" sz="2000" dirty="0" smtClean="0">
                <a:solidFill>
                  <a:schemeClr val="folHlink"/>
                </a:solidFill>
              </a:rPr>
              <a:t> </a:t>
            </a:r>
          </a:p>
          <a:p>
            <a:pPr eaLnBrk="1" hangingPunct="1">
              <a:buFont typeface="Tahoma" charset="0"/>
              <a:buChar char=" "/>
            </a:pPr>
            <a:r>
              <a:rPr lang="en-US" sz="2000" dirty="0" smtClean="0"/>
              <a:t>The </a:t>
            </a:r>
            <a:r>
              <a:rPr lang="en-US" sz="2000" b="1" i="1" u="sng" dirty="0" smtClean="0">
                <a:solidFill>
                  <a:schemeClr val="hlink"/>
                </a:solidFill>
              </a:rPr>
              <a:t>estimator of the standard deviation of</a:t>
            </a:r>
            <a:r>
              <a:rPr lang="en-US" sz="2000" dirty="0" smtClean="0"/>
              <a:t>              is </a:t>
            </a:r>
          </a:p>
        </p:txBody>
      </p:sp>
      <p:graphicFrame>
        <p:nvGraphicFramePr>
          <p:cNvPr id="9218" name="Object 2"/>
          <p:cNvGraphicFramePr>
            <a:graphicFrameLocks noChangeAspect="1"/>
          </p:cNvGraphicFramePr>
          <p:nvPr>
            <p:extLst>
              <p:ext uri="{D42A27DB-BD31-4B8C-83A1-F6EECF244321}">
                <p14:modId xmlns:p14="http://schemas.microsoft.com/office/powerpoint/2010/main" val="970377484"/>
              </p:ext>
            </p:extLst>
          </p:nvPr>
        </p:nvGraphicFramePr>
        <p:xfrm>
          <a:off x="6735198" y="1877610"/>
          <a:ext cx="1007604" cy="464855"/>
        </p:xfrm>
        <a:graphic>
          <a:graphicData uri="http://schemas.openxmlformats.org/presentationml/2006/ole">
            <mc:AlternateContent xmlns:mc="http://schemas.openxmlformats.org/markup-compatibility/2006">
              <mc:Choice xmlns:v="urn:schemas-microsoft-com:vml" Requires="v">
                <p:oleObj spid="_x0000_s9313" name="Equation" r:id="rId3" imgW="495000" imgH="228600" progId="">
                  <p:embed/>
                </p:oleObj>
              </mc:Choice>
              <mc:Fallback>
                <p:oleObj name="Equation" r:id="rId3" imgW="495000" imgH="228600" progId="">
                  <p:embed/>
                  <p:pic>
                    <p:nvPicPr>
                      <p:cNvPr id="0" name="Picture 7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35198" y="1877610"/>
                        <a:ext cx="1007604" cy="46485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219" name="Object 3"/>
          <p:cNvGraphicFramePr>
            <a:graphicFrameLocks noChangeAspect="1"/>
          </p:cNvGraphicFramePr>
          <p:nvPr>
            <p:extLst>
              <p:ext uri="{D42A27DB-BD31-4B8C-83A1-F6EECF244321}">
                <p14:modId xmlns:p14="http://schemas.microsoft.com/office/powerpoint/2010/main" val="1987041455"/>
              </p:ext>
            </p:extLst>
          </p:nvPr>
        </p:nvGraphicFramePr>
        <p:xfrm>
          <a:off x="2341418" y="2514600"/>
          <a:ext cx="3448050" cy="1248263"/>
        </p:xfrm>
        <a:graphic>
          <a:graphicData uri="http://schemas.openxmlformats.org/presentationml/2006/ole">
            <mc:AlternateContent xmlns:mc="http://schemas.openxmlformats.org/markup-compatibility/2006">
              <mc:Choice xmlns:v="urn:schemas-microsoft-com:vml" Requires="v">
                <p:oleObj spid="_x0000_s9314" name="Equation" r:id="rId5" imgW="1333440" imgH="482400" progId="">
                  <p:embed/>
                </p:oleObj>
              </mc:Choice>
              <mc:Fallback>
                <p:oleObj name="Equation" r:id="rId5" imgW="1333440" imgH="482400" progId="">
                  <p:embed/>
                  <p:pic>
                    <p:nvPicPr>
                      <p:cNvPr id="0" name="Picture 7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341418" y="2514600"/>
                        <a:ext cx="3448050" cy="12482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222" name="Line 8"/>
          <p:cNvSpPr>
            <a:spLocks noChangeShapeType="1"/>
          </p:cNvSpPr>
          <p:nvPr/>
        </p:nvSpPr>
        <p:spPr bwMode="auto">
          <a:xfrm>
            <a:off x="6172200" y="1619250"/>
            <a:ext cx="152400" cy="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23" name="Line 9"/>
          <p:cNvSpPr>
            <a:spLocks noChangeShapeType="1"/>
          </p:cNvSpPr>
          <p:nvPr/>
        </p:nvSpPr>
        <p:spPr bwMode="auto">
          <a:xfrm>
            <a:off x="5581650" y="1619250"/>
            <a:ext cx="207818" cy="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25" name="Line 11"/>
          <p:cNvSpPr>
            <a:spLocks noChangeShapeType="1"/>
          </p:cNvSpPr>
          <p:nvPr/>
        </p:nvSpPr>
        <p:spPr bwMode="auto">
          <a:xfrm>
            <a:off x="6210300" y="1047750"/>
            <a:ext cx="152400" cy="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26" name="Line 12"/>
          <p:cNvSpPr>
            <a:spLocks noChangeShapeType="1"/>
          </p:cNvSpPr>
          <p:nvPr/>
        </p:nvSpPr>
        <p:spPr bwMode="auto">
          <a:xfrm>
            <a:off x="6781800" y="1047750"/>
            <a:ext cx="188925" cy="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 name="Text Box 4"/>
          <p:cNvSpPr txBox="1">
            <a:spLocks noChangeArrowheads="1"/>
          </p:cNvSpPr>
          <p:nvPr/>
        </p:nvSpPr>
        <p:spPr bwMode="auto">
          <a:xfrm>
            <a:off x="4049486" y="6172200"/>
            <a:ext cx="47815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4" name="Rectangle 2"/>
          <p:cNvSpPr>
            <a:spLocks noGrp="1" noChangeArrowheads="1"/>
          </p:cNvSpPr>
          <p:nvPr>
            <p:ph type="title"/>
          </p:nvPr>
        </p:nvSpPr>
        <p:spPr/>
        <p:txBody>
          <a:bodyPr/>
          <a:lstStyle/>
          <a:p>
            <a:pPr eaLnBrk="1" hangingPunct="1"/>
            <a:r>
              <a:rPr lang="en-US" sz="2800" dirty="0" smtClean="0"/>
              <a:t>Interval Estimation of </a:t>
            </a:r>
            <a:r>
              <a:rPr lang="el-GR" sz="2800" dirty="0" smtClean="0">
                <a:latin typeface="Times New Roman" charset="0"/>
                <a:cs typeface="Times New Roman" charset="0"/>
              </a:rPr>
              <a:t>μ</a:t>
            </a:r>
            <a:r>
              <a:rPr lang="en-US" sz="2800" baseline="-25000" dirty="0" smtClean="0"/>
              <a:t>1</a:t>
            </a:r>
            <a:r>
              <a:rPr lang="en-US" sz="2800" dirty="0" smtClean="0"/>
              <a:t> – </a:t>
            </a:r>
            <a:r>
              <a:rPr lang="el-GR" sz="2800" dirty="0" smtClean="0">
                <a:latin typeface="Times New Roman" charset="0"/>
                <a:cs typeface="Times New Roman" charset="0"/>
              </a:rPr>
              <a:t>μ</a:t>
            </a:r>
            <a:r>
              <a:rPr lang="en-US" sz="2800" baseline="-25000" dirty="0" smtClean="0"/>
              <a:t>2</a:t>
            </a:r>
          </a:p>
        </p:txBody>
      </p:sp>
      <p:sp>
        <p:nvSpPr>
          <p:cNvPr id="10245" name="Rectangle 3"/>
          <p:cNvSpPr>
            <a:spLocks noGrp="1" noChangeArrowheads="1"/>
          </p:cNvSpPr>
          <p:nvPr>
            <p:ph type="body" idx="1"/>
          </p:nvPr>
        </p:nvSpPr>
        <p:spPr>
          <a:xfrm>
            <a:off x="114300" y="1543050"/>
            <a:ext cx="8421688" cy="4114800"/>
          </a:xfrm>
        </p:spPr>
        <p:txBody>
          <a:bodyPr/>
          <a:lstStyle/>
          <a:p>
            <a:pPr eaLnBrk="1" hangingPunct="1">
              <a:lnSpc>
                <a:spcPct val="90000"/>
              </a:lnSpc>
              <a:buFont typeface="Tahoma" charset="0"/>
              <a:buChar char=" "/>
            </a:pPr>
            <a:r>
              <a:rPr lang="en-US" sz="2000" dirty="0" smtClean="0">
                <a:solidFill>
                  <a:schemeClr val="folHlink"/>
                </a:solidFill>
              </a:rPr>
              <a:t>Confidence Interval for </a:t>
            </a:r>
            <a:r>
              <a:rPr lang="el-GR" sz="2000" dirty="0" smtClean="0">
                <a:solidFill>
                  <a:schemeClr val="folHlink"/>
                </a:solidFill>
                <a:latin typeface="Times New Roman" charset="0"/>
                <a:cs typeface="Times New Roman" charset="0"/>
              </a:rPr>
              <a:t>μ</a:t>
            </a:r>
            <a:r>
              <a:rPr lang="en-GB" sz="2000" baseline="-25000" dirty="0" smtClean="0">
                <a:solidFill>
                  <a:schemeClr val="folHlink"/>
                </a:solidFill>
                <a:cs typeface="Times New Roman" charset="0"/>
              </a:rPr>
              <a:t>1</a:t>
            </a:r>
            <a:r>
              <a:rPr lang="en-GB" sz="2000" dirty="0" smtClean="0">
                <a:solidFill>
                  <a:schemeClr val="folHlink"/>
                </a:solidFill>
                <a:cs typeface="Times New Roman" charset="0"/>
              </a:rPr>
              <a:t> – </a:t>
            </a:r>
            <a:r>
              <a:rPr lang="el-GR" sz="2000" dirty="0" smtClean="0">
                <a:solidFill>
                  <a:schemeClr val="folHlink"/>
                </a:solidFill>
                <a:latin typeface="Times New Roman" charset="0"/>
                <a:cs typeface="Times New Roman" charset="0"/>
              </a:rPr>
              <a:t>μ</a:t>
            </a:r>
            <a:r>
              <a:rPr lang="en-GB" sz="2000" baseline="-25000" dirty="0" smtClean="0">
                <a:solidFill>
                  <a:schemeClr val="folHlink"/>
                </a:solidFill>
                <a:cs typeface="Times New Roman" charset="0"/>
              </a:rPr>
              <a:t>2</a:t>
            </a:r>
            <a:endParaRPr lang="en-GB" sz="2000" dirty="0" smtClean="0">
              <a:solidFill>
                <a:schemeClr val="folHlink"/>
              </a:solidFill>
            </a:endParaRPr>
          </a:p>
          <a:p>
            <a:pPr eaLnBrk="1" hangingPunct="1">
              <a:lnSpc>
                <a:spcPct val="90000"/>
              </a:lnSpc>
              <a:buFont typeface="Tahoma" charset="0"/>
              <a:buChar char=" "/>
            </a:pPr>
            <a:r>
              <a:rPr lang="en-GB" sz="2000" dirty="0" smtClean="0"/>
              <a:t>The (1 – </a:t>
            </a:r>
            <a:r>
              <a:rPr lang="el-GR" sz="2000" dirty="0" smtClean="0">
                <a:latin typeface="Times New Roman" charset="0"/>
                <a:cs typeface="Times New Roman" charset="0"/>
              </a:rPr>
              <a:t>α</a:t>
            </a:r>
            <a:r>
              <a:rPr lang="en-GB" sz="2000" dirty="0" smtClean="0">
                <a:cs typeface="Arial" charset="0"/>
              </a:rPr>
              <a:t>)100% </a:t>
            </a:r>
            <a:r>
              <a:rPr lang="en-GB" sz="2000" b="1" i="1" u="sng" dirty="0" smtClean="0">
                <a:solidFill>
                  <a:schemeClr val="hlink"/>
                </a:solidFill>
                <a:cs typeface="Arial" charset="0"/>
              </a:rPr>
              <a:t>confidence interval</a:t>
            </a:r>
            <a:r>
              <a:rPr lang="en-GB" sz="2000" dirty="0" smtClean="0">
                <a:cs typeface="Arial" charset="0"/>
              </a:rPr>
              <a:t>  for </a:t>
            </a:r>
            <a:r>
              <a:rPr lang="el-GR" sz="2000" dirty="0" smtClean="0">
                <a:latin typeface="Times New Roman" charset="0"/>
                <a:cs typeface="Times New Roman" charset="0"/>
              </a:rPr>
              <a:t>μ</a:t>
            </a:r>
            <a:r>
              <a:rPr lang="en-GB" sz="2000" baseline="-25000" dirty="0" smtClean="0">
                <a:cs typeface="Arial" charset="0"/>
              </a:rPr>
              <a:t>1</a:t>
            </a:r>
            <a:r>
              <a:rPr lang="en-GB" sz="2000" dirty="0" smtClean="0">
                <a:cs typeface="Arial" charset="0"/>
              </a:rPr>
              <a:t> – </a:t>
            </a:r>
            <a:r>
              <a:rPr lang="el-GR" sz="2000" dirty="0" smtClean="0">
                <a:latin typeface="Times New Roman" charset="0"/>
                <a:cs typeface="Times New Roman" charset="0"/>
              </a:rPr>
              <a:t>μ</a:t>
            </a:r>
            <a:r>
              <a:rPr lang="en-GB" sz="2000" baseline="-25000" dirty="0" smtClean="0">
                <a:cs typeface="Arial" charset="0"/>
              </a:rPr>
              <a:t>2</a:t>
            </a:r>
            <a:r>
              <a:rPr lang="en-GB" sz="2000" dirty="0" smtClean="0">
                <a:cs typeface="Arial" charset="0"/>
              </a:rPr>
              <a:t> is</a:t>
            </a:r>
          </a:p>
          <a:p>
            <a:pPr eaLnBrk="1" hangingPunct="1">
              <a:lnSpc>
                <a:spcPct val="90000"/>
              </a:lnSpc>
              <a:buFont typeface="Tahoma" charset="0"/>
              <a:buChar char=" "/>
            </a:pPr>
            <a:endParaRPr lang="en-GB" sz="2000" dirty="0" smtClean="0">
              <a:cs typeface="Arial" charset="0"/>
            </a:endParaRPr>
          </a:p>
          <a:p>
            <a:pPr eaLnBrk="1" hangingPunct="1">
              <a:lnSpc>
                <a:spcPct val="90000"/>
              </a:lnSpc>
              <a:buFont typeface="Tahoma" charset="0"/>
              <a:buChar char=" "/>
            </a:pPr>
            <a:endParaRPr lang="en-GB" sz="2000" dirty="0" smtClean="0">
              <a:cs typeface="Arial" charset="0"/>
            </a:endParaRPr>
          </a:p>
          <a:p>
            <a:pPr eaLnBrk="1" hangingPunct="1">
              <a:lnSpc>
                <a:spcPct val="90000"/>
              </a:lnSpc>
              <a:buFont typeface="Tahoma" charset="0"/>
              <a:buChar char=" "/>
            </a:pPr>
            <a:endParaRPr lang="en-GB" sz="2000" dirty="0" smtClean="0">
              <a:cs typeface="Arial" charset="0"/>
            </a:endParaRPr>
          </a:p>
          <a:p>
            <a:pPr eaLnBrk="1" hangingPunct="1">
              <a:lnSpc>
                <a:spcPct val="90000"/>
              </a:lnSpc>
              <a:buFont typeface="Tahoma" charset="0"/>
              <a:buChar char=" "/>
            </a:pPr>
            <a:endParaRPr lang="en-GB" sz="2000" dirty="0">
              <a:cs typeface="Arial" charset="0"/>
            </a:endParaRPr>
          </a:p>
          <a:p>
            <a:pPr eaLnBrk="1" hangingPunct="1">
              <a:lnSpc>
                <a:spcPct val="90000"/>
              </a:lnSpc>
              <a:buFont typeface="Tahoma" charset="0"/>
              <a:buChar char=" "/>
            </a:pPr>
            <a:r>
              <a:rPr lang="en-GB" sz="2000" dirty="0" smtClean="0">
                <a:cs typeface="Arial" charset="0"/>
              </a:rPr>
              <a:t>where the value of </a:t>
            </a:r>
            <a:r>
              <a:rPr lang="en-GB" sz="2000" i="1" dirty="0" smtClean="0">
                <a:cs typeface="Arial" charset="0"/>
              </a:rPr>
              <a:t>t</a:t>
            </a:r>
            <a:r>
              <a:rPr lang="en-GB" sz="2000" dirty="0" smtClean="0">
                <a:cs typeface="Arial" charset="0"/>
              </a:rPr>
              <a:t> is obtained from the </a:t>
            </a:r>
            <a:r>
              <a:rPr lang="en-GB" sz="2000" i="1" dirty="0" smtClean="0">
                <a:latin typeface="Times New Roman" charset="0"/>
                <a:cs typeface="Arial" charset="0"/>
              </a:rPr>
              <a:t>t </a:t>
            </a:r>
            <a:r>
              <a:rPr lang="en-GB" sz="2000" dirty="0" smtClean="0">
                <a:cs typeface="Arial" charset="0"/>
              </a:rPr>
              <a:t>distribution table </a:t>
            </a:r>
          </a:p>
          <a:p>
            <a:pPr eaLnBrk="1" hangingPunct="1">
              <a:lnSpc>
                <a:spcPct val="90000"/>
              </a:lnSpc>
              <a:buFont typeface="Tahoma" charset="0"/>
              <a:buChar char=" "/>
            </a:pPr>
            <a:r>
              <a:rPr lang="en-GB" sz="2000" dirty="0" smtClean="0">
                <a:cs typeface="Arial" charset="0"/>
              </a:rPr>
              <a:t>for the given confidence level and </a:t>
            </a:r>
            <a:r>
              <a:rPr lang="en-GB" sz="2000" i="1" dirty="0" smtClean="0">
                <a:latin typeface="Times New Roman" charset="0"/>
                <a:cs typeface="Arial" charset="0"/>
              </a:rPr>
              <a:t>n</a:t>
            </a:r>
            <a:r>
              <a:rPr lang="en-GB" sz="2000" baseline="-25000" dirty="0" smtClean="0">
                <a:cs typeface="Arial" charset="0"/>
              </a:rPr>
              <a:t>1</a:t>
            </a:r>
            <a:r>
              <a:rPr lang="en-GB" sz="2000" dirty="0" smtClean="0">
                <a:cs typeface="Arial" charset="0"/>
              </a:rPr>
              <a:t> + </a:t>
            </a:r>
            <a:r>
              <a:rPr lang="en-GB" sz="2000" i="1" dirty="0" smtClean="0">
                <a:latin typeface="Times New Roman" charset="0"/>
                <a:cs typeface="Arial" charset="0"/>
              </a:rPr>
              <a:t>n</a:t>
            </a:r>
            <a:r>
              <a:rPr lang="en-GB" sz="2000" baseline="-25000" dirty="0" smtClean="0">
                <a:cs typeface="Arial" charset="0"/>
              </a:rPr>
              <a:t>2</a:t>
            </a:r>
            <a:r>
              <a:rPr lang="en-GB" sz="2000" dirty="0" smtClean="0">
                <a:cs typeface="Arial" charset="0"/>
              </a:rPr>
              <a:t> – 2 degrees of </a:t>
            </a:r>
          </a:p>
          <a:p>
            <a:pPr eaLnBrk="1" hangingPunct="1">
              <a:lnSpc>
                <a:spcPct val="90000"/>
              </a:lnSpc>
              <a:buFont typeface="Tahoma" charset="0"/>
              <a:buChar char=" "/>
            </a:pPr>
            <a:r>
              <a:rPr lang="en-GB" sz="2000" dirty="0" smtClean="0">
                <a:cs typeface="Arial" charset="0"/>
              </a:rPr>
              <a:t>freedom, and             is calculated as explained earlier.</a:t>
            </a:r>
            <a:endParaRPr lang="en-US" sz="2000" dirty="0" smtClean="0">
              <a:cs typeface="Arial" charset="0"/>
            </a:endParaRPr>
          </a:p>
        </p:txBody>
      </p:sp>
      <p:graphicFrame>
        <p:nvGraphicFramePr>
          <p:cNvPr id="10242" name="Object 2"/>
          <p:cNvGraphicFramePr>
            <a:graphicFrameLocks noChangeAspect="1"/>
          </p:cNvGraphicFramePr>
          <p:nvPr>
            <p:extLst>
              <p:ext uri="{D42A27DB-BD31-4B8C-83A1-F6EECF244321}">
                <p14:modId xmlns:p14="http://schemas.microsoft.com/office/powerpoint/2010/main" val="2799320193"/>
              </p:ext>
            </p:extLst>
          </p:nvPr>
        </p:nvGraphicFramePr>
        <p:xfrm>
          <a:off x="2380227" y="4060150"/>
          <a:ext cx="897396" cy="568089"/>
        </p:xfrm>
        <a:graphic>
          <a:graphicData uri="http://schemas.openxmlformats.org/presentationml/2006/ole">
            <mc:AlternateContent xmlns:mc="http://schemas.openxmlformats.org/markup-compatibility/2006">
              <mc:Choice xmlns:v="urn:schemas-microsoft-com:vml" Requires="v">
                <p:oleObj spid="_x0000_s10331" name="Equation" r:id="rId3" imgW="342720" imgH="241200" progId="Equation.3">
                  <p:embed/>
                </p:oleObj>
              </mc:Choice>
              <mc:Fallback>
                <p:oleObj name="Equation" r:id="rId3" imgW="342720" imgH="241200" progId="Equation.3">
                  <p:embed/>
                  <p:pic>
                    <p:nvPicPr>
                      <p:cNvPr id="0" name="Picture 7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80227" y="4060150"/>
                        <a:ext cx="897396" cy="5680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5921" dir="2700000" algn="ctr" rotWithShape="0">
                                <a:schemeClr val="bg2"/>
                              </a:outerShdw>
                            </a:effectLst>
                          </a14:hiddenEffects>
                        </a:ext>
                      </a:extLst>
                    </p:spPr>
                  </p:pic>
                </p:oleObj>
              </mc:Fallback>
            </mc:AlternateContent>
          </a:graphicData>
        </a:graphic>
      </p:graphicFrame>
      <p:graphicFrame>
        <p:nvGraphicFramePr>
          <p:cNvPr id="10243" name="Object 3"/>
          <p:cNvGraphicFramePr>
            <a:graphicFrameLocks noChangeAspect="1"/>
          </p:cNvGraphicFramePr>
          <p:nvPr>
            <p:extLst>
              <p:ext uri="{D42A27DB-BD31-4B8C-83A1-F6EECF244321}">
                <p14:modId xmlns:p14="http://schemas.microsoft.com/office/powerpoint/2010/main" val="1579691386"/>
              </p:ext>
            </p:extLst>
          </p:nvPr>
        </p:nvGraphicFramePr>
        <p:xfrm>
          <a:off x="3172142" y="2573005"/>
          <a:ext cx="2633725" cy="556238"/>
        </p:xfrm>
        <a:graphic>
          <a:graphicData uri="http://schemas.openxmlformats.org/presentationml/2006/ole">
            <mc:AlternateContent xmlns:mc="http://schemas.openxmlformats.org/markup-compatibility/2006">
              <mc:Choice xmlns:v="urn:schemas-microsoft-com:vml" Requires="v">
                <p:oleObj spid="_x0000_s10332" name="Equation" r:id="rId5" imgW="1143000" imgH="241200" progId="">
                  <p:embed/>
                </p:oleObj>
              </mc:Choice>
              <mc:Fallback>
                <p:oleObj name="Equation" r:id="rId5" imgW="1143000" imgH="241200" progId="">
                  <p:embed/>
                  <p:pic>
                    <p:nvPicPr>
                      <p:cNvPr id="0" name="Picture 7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172142" y="2573005"/>
                        <a:ext cx="2633725" cy="556238"/>
                      </a:xfrm>
                      <a:prstGeom prst="rect">
                        <a:avLst/>
                      </a:prstGeom>
                      <a:noFill/>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5921" dir="2700000" algn="ctr" rotWithShape="0">
                                <a:srgbClr val="808080"/>
                              </a:outerShdw>
                            </a:effectLst>
                          </a14:hiddenEffects>
                        </a:ext>
                      </a:extLst>
                    </p:spPr>
                  </p:pic>
                </p:oleObj>
              </mc:Fallback>
            </mc:AlternateContent>
          </a:graphicData>
        </a:graphic>
      </p:graphicFrame>
      <p:sp>
        <p:nvSpPr>
          <p:cNvPr id="8" name="Text Box 4"/>
          <p:cNvSpPr txBox="1">
            <a:spLocks noChangeArrowheads="1"/>
          </p:cNvSpPr>
          <p:nvPr/>
        </p:nvSpPr>
        <p:spPr bwMode="auto">
          <a:xfrm>
            <a:off x="4049486" y="6172200"/>
            <a:ext cx="47815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ChangeArrowheads="1"/>
          </p:cNvSpPr>
          <p:nvPr>
            <p:ph type="title"/>
          </p:nvPr>
        </p:nvSpPr>
        <p:spPr/>
        <p:txBody>
          <a:bodyPr/>
          <a:lstStyle/>
          <a:p>
            <a:pPr eaLnBrk="1" hangingPunct="1"/>
            <a:r>
              <a:rPr lang="en-US" sz="2800" dirty="0" smtClean="0"/>
              <a:t>Example 10-5</a:t>
            </a:r>
          </a:p>
        </p:txBody>
      </p:sp>
      <p:sp>
        <p:nvSpPr>
          <p:cNvPr id="75779" name="Rectangle 3"/>
          <p:cNvSpPr>
            <a:spLocks noGrp="1" noChangeArrowheads="1"/>
          </p:cNvSpPr>
          <p:nvPr>
            <p:ph type="body" idx="1"/>
          </p:nvPr>
        </p:nvSpPr>
        <p:spPr>
          <a:xfrm>
            <a:off x="133350" y="1447800"/>
            <a:ext cx="8248650" cy="4383088"/>
          </a:xfrm>
        </p:spPr>
        <p:txBody>
          <a:bodyPr/>
          <a:lstStyle/>
          <a:p>
            <a:pPr eaLnBrk="1" hangingPunct="1">
              <a:buFont typeface="Tahoma" charset="0"/>
              <a:buChar char=" "/>
            </a:pPr>
            <a:r>
              <a:rPr lang="en-GB" sz="2000" dirty="0" smtClean="0"/>
              <a:t>A consumer agency wanted to estimate the difference in the mean amounts of caffeine in two brands of coffee. The agency took a sample of 15 one-pound jars of Brand I coffee that showed the mean amount of caffeine in these jars to be 80 milligrams per jar with a standard deviation of  5 milligrams. Another sample of 12 one-pound jars of Brand II coffee gave a mean amount of caffeine equal to 77 milligrams per jar with a standard deviation of 6 milligrams. </a:t>
            </a:r>
            <a:endParaRPr lang="en-US" sz="2000" dirty="0" smtClean="0"/>
          </a:p>
        </p:txBody>
      </p:sp>
      <p:sp>
        <p:nvSpPr>
          <p:cNvPr id="6" name="Text Box 4"/>
          <p:cNvSpPr txBox="1">
            <a:spLocks noChangeArrowheads="1"/>
          </p:cNvSpPr>
          <p:nvPr/>
        </p:nvSpPr>
        <p:spPr bwMode="auto">
          <a:xfrm>
            <a:off x="4049486" y="6172200"/>
            <a:ext cx="47815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ChangeArrowheads="1"/>
          </p:cNvSpPr>
          <p:nvPr>
            <p:ph type="title"/>
          </p:nvPr>
        </p:nvSpPr>
        <p:spPr/>
        <p:txBody>
          <a:bodyPr/>
          <a:lstStyle/>
          <a:p>
            <a:pPr eaLnBrk="1" hangingPunct="1"/>
            <a:r>
              <a:rPr lang="en-US" sz="2800" dirty="0" smtClean="0"/>
              <a:t>Example 10-5</a:t>
            </a:r>
          </a:p>
        </p:txBody>
      </p:sp>
      <p:sp>
        <p:nvSpPr>
          <p:cNvPr id="76803" name="Rectangle 3"/>
          <p:cNvSpPr>
            <a:spLocks noGrp="1" noChangeArrowheads="1"/>
          </p:cNvSpPr>
          <p:nvPr>
            <p:ph type="body" idx="1"/>
          </p:nvPr>
        </p:nvSpPr>
        <p:spPr>
          <a:xfrm>
            <a:off x="95250" y="1466850"/>
            <a:ext cx="8193088" cy="2133600"/>
          </a:xfrm>
        </p:spPr>
        <p:txBody>
          <a:bodyPr/>
          <a:lstStyle/>
          <a:p>
            <a:pPr eaLnBrk="1" hangingPunct="1">
              <a:buFont typeface="Tahoma" charset="0"/>
              <a:buChar char=" "/>
            </a:pPr>
            <a:r>
              <a:rPr lang="en-GB" sz="2000" dirty="0" smtClean="0"/>
              <a:t>Construct a 95% confidence interval for the difference between the mean amounts of caffeine in one-pound jars of these two brands of coffee. Assume that the two populations are normally distributed and that the standard deviations of the two populations are equal.</a:t>
            </a:r>
            <a:endParaRPr lang="en-US" sz="2000" dirty="0" smtClean="0"/>
          </a:p>
        </p:txBody>
      </p:sp>
      <p:sp>
        <p:nvSpPr>
          <p:cNvPr id="6" name="Text Box 4"/>
          <p:cNvSpPr txBox="1">
            <a:spLocks noChangeArrowheads="1"/>
          </p:cNvSpPr>
          <p:nvPr/>
        </p:nvSpPr>
        <p:spPr bwMode="auto">
          <a:xfrm>
            <a:off x="4049486" y="6172200"/>
            <a:ext cx="47815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2"/>
          <p:cNvSpPr>
            <a:spLocks noGrp="1" noChangeArrowheads="1"/>
          </p:cNvSpPr>
          <p:nvPr>
            <p:ph type="title"/>
          </p:nvPr>
        </p:nvSpPr>
        <p:spPr/>
        <p:txBody>
          <a:bodyPr/>
          <a:lstStyle/>
          <a:p>
            <a:pPr eaLnBrk="1" hangingPunct="1"/>
            <a:r>
              <a:rPr lang="en-US" sz="2800" dirty="0" smtClean="0"/>
              <a:t>Example 10-5: Solution</a:t>
            </a:r>
          </a:p>
        </p:txBody>
      </p:sp>
      <p:graphicFrame>
        <p:nvGraphicFramePr>
          <p:cNvPr id="11266" name="Object 2"/>
          <p:cNvGraphicFramePr>
            <a:graphicFrameLocks noChangeAspect="1"/>
          </p:cNvGraphicFramePr>
          <p:nvPr>
            <p:extLst>
              <p:ext uri="{D42A27DB-BD31-4B8C-83A1-F6EECF244321}">
                <p14:modId xmlns:p14="http://schemas.microsoft.com/office/powerpoint/2010/main" val="836229376"/>
              </p:ext>
            </p:extLst>
          </p:nvPr>
        </p:nvGraphicFramePr>
        <p:xfrm>
          <a:off x="990600" y="1905000"/>
          <a:ext cx="6996545" cy="2147455"/>
        </p:xfrm>
        <a:graphic>
          <a:graphicData uri="http://schemas.openxmlformats.org/presentationml/2006/ole">
            <mc:AlternateContent xmlns:mc="http://schemas.openxmlformats.org/markup-compatibility/2006">
              <mc:Choice xmlns:v="urn:schemas-microsoft-com:vml" Requires="v">
                <p:oleObj spid="_x0000_s11311" name="Equation" r:id="rId3" imgW="4000320" imgH="1218960" progId="">
                  <p:embed/>
                </p:oleObj>
              </mc:Choice>
              <mc:Fallback>
                <p:oleObj name="Equation" r:id="rId3" imgW="4000320" imgH="1218960" progId="">
                  <p:embed/>
                  <p:pic>
                    <p:nvPicPr>
                      <p:cNvPr id="0" name="Picture 3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90600" y="1905000"/>
                        <a:ext cx="6996545" cy="2147455"/>
                      </a:xfrm>
                      <a:prstGeom prst="rect">
                        <a:avLst/>
                      </a:prstGeom>
                      <a:noFill/>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5921" dir="2700000" algn="ctr" rotWithShape="0">
                                <a:srgbClr val="808080"/>
                              </a:outerShdw>
                            </a:effectLst>
                          </a14:hiddenEffects>
                        </a:ext>
                      </a:extLst>
                    </p:spPr>
                  </p:pic>
                </p:oleObj>
              </mc:Fallback>
            </mc:AlternateContent>
          </a:graphicData>
        </a:graphic>
      </p:graphicFrame>
      <p:sp>
        <p:nvSpPr>
          <p:cNvPr id="6" name="Text Box 4"/>
          <p:cNvSpPr txBox="1">
            <a:spLocks noChangeArrowheads="1"/>
          </p:cNvSpPr>
          <p:nvPr/>
        </p:nvSpPr>
        <p:spPr bwMode="auto">
          <a:xfrm>
            <a:off x="4049486" y="6172200"/>
            <a:ext cx="47815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Rectangle 2"/>
          <p:cNvSpPr>
            <a:spLocks noGrp="1" noChangeArrowheads="1"/>
          </p:cNvSpPr>
          <p:nvPr>
            <p:ph type="title"/>
          </p:nvPr>
        </p:nvSpPr>
        <p:spPr/>
        <p:txBody>
          <a:bodyPr/>
          <a:lstStyle/>
          <a:p>
            <a:pPr eaLnBrk="1" hangingPunct="1"/>
            <a:r>
              <a:rPr lang="en-US" sz="2800" dirty="0" smtClean="0"/>
              <a:t>Example 10-5: Solution</a:t>
            </a:r>
          </a:p>
        </p:txBody>
      </p:sp>
      <p:graphicFrame>
        <p:nvGraphicFramePr>
          <p:cNvPr id="12290" name="Object 2"/>
          <p:cNvGraphicFramePr>
            <a:graphicFrameLocks noChangeAspect="1"/>
          </p:cNvGraphicFramePr>
          <p:nvPr>
            <p:extLst>
              <p:ext uri="{D42A27DB-BD31-4B8C-83A1-F6EECF244321}">
                <p14:modId xmlns:p14="http://schemas.microsoft.com/office/powerpoint/2010/main" val="1007277366"/>
              </p:ext>
            </p:extLst>
          </p:nvPr>
        </p:nvGraphicFramePr>
        <p:xfrm>
          <a:off x="762000" y="1676400"/>
          <a:ext cx="6927273" cy="2840182"/>
        </p:xfrm>
        <a:graphic>
          <a:graphicData uri="http://schemas.openxmlformats.org/presentationml/2006/ole">
            <mc:AlternateContent xmlns:mc="http://schemas.openxmlformats.org/markup-compatibility/2006">
              <mc:Choice xmlns:v="urn:schemas-microsoft-com:vml" Requires="v">
                <p:oleObj spid="_x0000_s12335" name="Equation" r:id="rId3" imgW="3327120" imgH="1371600" progId="">
                  <p:embed/>
                </p:oleObj>
              </mc:Choice>
              <mc:Fallback>
                <p:oleObj name="Equation" r:id="rId3" imgW="3327120" imgH="1371600" progId="">
                  <p:embed/>
                  <p:pic>
                    <p:nvPicPr>
                      <p:cNvPr id="0" name="Picture 3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0" y="1676400"/>
                        <a:ext cx="6927273" cy="28401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5921" dir="2700000" algn="ctr" rotWithShape="0">
                                <a:schemeClr val="bg2"/>
                              </a:outerShdw>
                            </a:effectLst>
                          </a14:hiddenEffects>
                        </a:ext>
                      </a:extLst>
                    </p:spPr>
                  </p:pic>
                </p:oleObj>
              </mc:Fallback>
            </mc:AlternateContent>
          </a:graphicData>
        </a:graphic>
      </p:graphicFrame>
      <p:sp>
        <p:nvSpPr>
          <p:cNvPr id="6" name="Text Box 4"/>
          <p:cNvSpPr txBox="1">
            <a:spLocks noChangeArrowheads="1"/>
          </p:cNvSpPr>
          <p:nvPr/>
        </p:nvSpPr>
        <p:spPr bwMode="auto">
          <a:xfrm>
            <a:off x="4049486" y="6172200"/>
            <a:ext cx="47815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6" name="Rectangle 2"/>
          <p:cNvSpPr>
            <a:spLocks noGrp="1" noChangeArrowheads="1"/>
          </p:cNvSpPr>
          <p:nvPr>
            <p:ph type="title"/>
          </p:nvPr>
        </p:nvSpPr>
        <p:spPr/>
        <p:txBody>
          <a:bodyPr/>
          <a:lstStyle/>
          <a:p>
            <a:pPr eaLnBrk="1" hangingPunct="1"/>
            <a:r>
              <a:rPr lang="en-US" sz="2800" dirty="0" smtClean="0"/>
              <a:t>Hypothesis Testing About </a:t>
            </a:r>
            <a:r>
              <a:rPr lang="el-GR" sz="2800" dirty="0" smtClean="0">
                <a:latin typeface="Times New Roman" charset="0"/>
                <a:cs typeface="Times New Roman" charset="0"/>
              </a:rPr>
              <a:t>μ</a:t>
            </a:r>
            <a:r>
              <a:rPr lang="en-GB" sz="2800" baseline="-25000" dirty="0" smtClean="0">
                <a:cs typeface="Times New Roman" charset="0"/>
              </a:rPr>
              <a:t>1</a:t>
            </a:r>
            <a:r>
              <a:rPr lang="en-GB" sz="2800" dirty="0" smtClean="0">
                <a:cs typeface="Times New Roman" charset="0"/>
              </a:rPr>
              <a:t> – </a:t>
            </a:r>
            <a:r>
              <a:rPr lang="el-GR" sz="2800" dirty="0" smtClean="0">
                <a:latin typeface="Times New Roman" charset="0"/>
                <a:cs typeface="Times New Roman" charset="0"/>
              </a:rPr>
              <a:t>μ</a:t>
            </a:r>
            <a:r>
              <a:rPr lang="en-GB" sz="2800" baseline="-25000" dirty="0" smtClean="0">
                <a:cs typeface="Times New Roman" charset="0"/>
              </a:rPr>
              <a:t>2</a:t>
            </a:r>
            <a:endParaRPr lang="en-US" sz="2800" baseline="-25000" dirty="0" smtClean="0">
              <a:cs typeface="Times New Roman" charset="0"/>
            </a:endParaRPr>
          </a:p>
        </p:txBody>
      </p:sp>
      <p:sp>
        <p:nvSpPr>
          <p:cNvPr id="13317" name="Rectangle 3"/>
          <p:cNvSpPr>
            <a:spLocks noGrp="1" noChangeArrowheads="1"/>
          </p:cNvSpPr>
          <p:nvPr>
            <p:ph type="body" idx="1"/>
          </p:nvPr>
        </p:nvSpPr>
        <p:spPr>
          <a:xfrm>
            <a:off x="114300" y="1543050"/>
            <a:ext cx="8650288" cy="3257550"/>
          </a:xfrm>
        </p:spPr>
        <p:txBody>
          <a:bodyPr/>
          <a:lstStyle/>
          <a:p>
            <a:pPr eaLnBrk="1" hangingPunct="1">
              <a:lnSpc>
                <a:spcPct val="90000"/>
              </a:lnSpc>
              <a:buFont typeface="Wingdings" charset="2"/>
              <a:buChar char=" "/>
            </a:pPr>
            <a:r>
              <a:rPr lang="en-US" sz="2000" dirty="0" smtClean="0">
                <a:solidFill>
                  <a:schemeClr val="folHlink"/>
                </a:solidFill>
              </a:rPr>
              <a:t>Test Statistic </a:t>
            </a:r>
            <a:r>
              <a:rPr lang="en-US" sz="2000" i="1" dirty="0" smtClean="0">
                <a:solidFill>
                  <a:schemeClr val="folHlink"/>
                </a:solidFill>
                <a:latin typeface="Times New Roman" charset="0"/>
              </a:rPr>
              <a:t>t</a:t>
            </a:r>
            <a:r>
              <a:rPr lang="en-US" sz="2000" dirty="0" smtClean="0">
                <a:solidFill>
                  <a:schemeClr val="folHlink"/>
                </a:solidFill>
              </a:rPr>
              <a:t> for  </a:t>
            </a:r>
            <a:r>
              <a:rPr lang="en-US" sz="2000" i="1" dirty="0" smtClean="0">
                <a:solidFill>
                  <a:schemeClr val="folHlink"/>
                </a:solidFill>
                <a:latin typeface="Times New Roman" charset="0"/>
              </a:rPr>
              <a:t>x</a:t>
            </a:r>
            <a:r>
              <a:rPr lang="en-US" sz="2000" baseline="-25000" dirty="0" smtClean="0">
                <a:solidFill>
                  <a:schemeClr val="folHlink"/>
                </a:solidFill>
              </a:rPr>
              <a:t>1</a:t>
            </a:r>
            <a:r>
              <a:rPr lang="en-US" sz="2000" dirty="0" smtClean="0">
                <a:solidFill>
                  <a:schemeClr val="folHlink"/>
                </a:solidFill>
              </a:rPr>
              <a:t> – </a:t>
            </a:r>
            <a:r>
              <a:rPr lang="en-US" sz="2000" i="1" dirty="0" smtClean="0">
                <a:solidFill>
                  <a:schemeClr val="folHlink"/>
                </a:solidFill>
                <a:latin typeface="Times New Roman" charset="0"/>
              </a:rPr>
              <a:t>x</a:t>
            </a:r>
            <a:r>
              <a:rPr lang="en-US" sz="2000" baseline="-25000" dirty="0" smtClean="0">
                <a:solidFill>
                  <a:schemeClr val="folHlink"/>
                </a:solidFill>
              </a:rPr>
              <a:t>2</a:t>
            </a:r>
            <a:r>
              <a:rPr lang="en-US" sz="2000" dirty="0" smtClean="0">
                <a:solidFill>
                  <a:schemeClr val="folHlink"/>
                </a:solidFill>
              </a:rPr>
              <a:t> </a:t>
            </a:r>
          </a:p>
          <a:p>
            <a:pPr eaLnBrk="1" hangingPunct="1">
              <a:lnSpc>
                <a:spcPct val="90000"/>
              </a:lnSpc>
              <a:buFont typeface="Wingdings" charset="2"/>
              <a:buChar char=" "/>
            </a:pPr>
            <a:r>
              <a:rPr lang="en-US" sz="2000" dirty="0" smtClean="0"/>
              <a:t>The value of the </a:t>
            </a:r>
            <a:r>
              <a:rPr lang="en-US" sz="2000" b="1" i="1" u="sng" dirty="0" smtClean="0">
                <a:solidFill>
                  <a:schemeClr val="hlink"/>
                </a:solidFill>
              </a:rPr>
              <a:t>test statistic t for  </a:t>
            </a:r>
            <a:r>
              <a:rPr lang="en-US" sz="2000" b="1" i="1" u="sng" dirty="0" smtClean="0">
                <a:solidFill>
                  <a:schemeClr val="hlink"/>
                </a:solidFill>
                <a:latin typeface="Times New Roman" charset="0"/>
              </a:rPr>
              <a:t>x</a:t>
            </a:r>
            <a:r>
              <a:rPr lang="en-US" sz="2000" b="1" i="1" u="sng" baseline="-25000" dirty="0" smtClean="0">
                <a:solidFill>
                  <a:schemeClr val="hlink"/>
                </a:solidFill>
              </a:rPr>
              <a:t>1</a:t>
            </a:r>
            <a:r>
              <a:rPr lang="en-US" sz="2000" b="1" i="1" u="sng" dirty="0" smtClean="0">
                <a:solidFill>
                  <a:schemeClr val="hlink"/>
                </a:solidFill>
              </a:rPr>
              <a:t> – </a:t>
            </a:r>
            <a:r>
              <a:rPr lang="en-US" sz="2000" b="1" i="1" u="sng" dirty="0" smtClean="0">
                <a:solidFill>
                  <a:schemeClr val="hlink"/>
                </a:solidFill>
                <a:latin typeface="Times New Roman" charset="0"/>
              </a:rPr>
              <a:t>x</a:t>
            </a:r>
            <a:r>
              <a:rPr lang="en-US" sz="2000" b="1" i="1" u="sng" baseline="-25000" dirty="0" smtClean="0">
                <a:solidFill>
                  <a:schemeClr val="hlink"/>
                </a:solidFill>
              </a:rPr>
              <a:t>2</a:t>
            </a:r>
            <a:r>
              <a:rPr lang="en-US" sz="2000" dirty="0" smtClean="0"/>
              <a:t> is computed as</a:t>
            </a:r>
          </a:p>
          <a:p>
            <a:pPr eaLnBrk="1" hangingPunct="1">
              <a:lnSpc>
                <a:spcPct val="90000"/>
              </a:lnSpc>
              <a:buFont typeface="Wingdings" charset="2"/>
              <a:buChar char=" "/>
            </a:pPr>
            <a:endParaRPr lang="en-US" sz="2000" dirty="0" smtClean="0"/>
          </a:p>
          <a:p>
            <a:pPr eaLnBrk="1" hangingPunct="1">
              <a:lnSpc>
                <a:spcPct val="90000"/>
              </a:lnSpc>
              <a:buFont typeface="Wingdings" charset="2"/>
              <a:buChar char=" "/>
            </a:pPr>
            <a:endParaRPr lang="en-US" sz="2000" dirty="0" smtClean="0"/>
          </a:p>
          <a:p>
            <a:pPr eaLnBrk="1" hangingPunct="1">
              <a:lnSpc>
                <a:spcPct val="90000"/>
              </a:lnSpc>
              <a:buFont typeface="Wingdings" charset="2"/>
              <a:buChar char=" "/>
            </a:pPr>
            <a:endParaRPr lang="en-US" sz="2000" dirty="0" smtClean="0"/>
          </a:p>
          <a:p>
            <a:pPr eaLnBrk="1" hangingPunct="1">
              <a:lnSpc>
                <a:spcPct val="90000"/>
              </a:lnSpc>
              <a:buFont typeface="Wingdings" charset="2"/>
              <a:buChar char=" "/>
            </a:pPr>
            <a:endParaRPr lang="en-US" sz="2000" dirty="0" smtClean="0"/>
          </a:p>
          <a:p>
            <a:pPr eaLnBrk="1" hangingPunct="1">
              <a:lnSpc>
                <a:spcPct val="90000"/>
              </a:lnSpc>
              <a:buFont typeface="Wingdings" charset="2"/>
              <a:buChar char=" "/>
            </a:pPr>
            <a:r>
              <a:rPr lang="en-US" sz="2000" dirty="0" smtClean="0"/>
              <a:t>The value of </a:t>
            </a:r>
            <a:r>
              <a:rPr lang="el-GR" sz="2000" dirty="0" smtClean="0">
                <a:latin typeface="Times New Roman" charset="0"/>
                <a:cs typeface="Times New Roman" charset="0"/>
              </a:rPr>
              <a:t>μ</a:t>
            </a:r>
            <a:r>
              <a:rPr lang="en-GB" sz="2000" baseline="-25000" dirty="0" smtClean="0">
                <a:cs typeface="Times New Roman" charset="0"/>
              </a:rPr>
              <a:t>1</a:t>
            </a:r>
            <a:r>
              <a:rPr lang="en-GB" sz="2000" dirty="0" smtClean="0">
                <a:cs typeface="Times New Roman" charset="0"/>
              </a:rPr>
              <a:t> – </a:t>
            </a:r>
            <a:r>
              <a:rPr lang="el-GR" sz="2000" dirty="0" smtClean="0">
                <a:latin typeface="Times New Roman" charset="0"/>
                <a:cs typeface="Times New Roman" charset="0"/>
              </a:rPr>
              <a:t>μ</a:t>
            </a:r>
            <a:r>
              <a:rPr lang="en-GB" sz="2000" baseline="-25000" dirty="0" smtClean="0">
                <a:cs typeface="Times New Roman" charset="0"/>
              </a:rPr>
              <a:t>2  </a:t>
            </a:r>
            <a:r>
              <a:rPr lang="en-GB" sz="2000" dirty="0" smtClean="0">
                <a:cs typeface="Times New Roman" charset="0"/>
              </a:rPr>
              <a:t>in this formula is substituted from the null </a:t>
            </a:r>
          </a:p>
          <a:p>
            <a:pPr eaLnBrk="1" hangingPunct="1">
              <a:lnSpc>
                <a:spcPct val="90000"/>
              </a:lnSpc>
              <a:buFont typeface="Wingdings" charset="2"/>
              <a:buChar char=" "/>
            </a:pPr>
            <a:r>
              <a:rPr lang="en-GB" sz="2000" dirty="0" smtClean="0">
                <a:cs typeface="Times New Roman" charset="0"/>
              </a:rPr>
              <a:t>hypothesis and             is calculated as explained earlier. </a:t>
            </a:r>
            <a:r>
              <a:rPr lang="en-US" sz="2000" dirty="0" smtClean="0"/>
              <a:t> </a:t>
            </a:r>
          </a:p>
        </p:txBody>
      </p:sp>
      <p:graphicFrame>
        <p:nvGraphicFramePr>
          <p:cNvPr id="13314" name="Object 2"/>
          <p:cNvGraphicFramePr>
            <a:graphicFrameLocks noChangeAspect="1"/>
          </p:cNvGraphicFramePr>
          <p:nvPr>
            <p:extLst>
              <p:ext uri="{D42A27DB-BD31-4B8C-83A1-F6EECF244321}">
                <p14:modId xmlns:p14="http://schemas.microsoft.com/office/powerpoint/2010/main" val="3773419245"/>
              </p:ext>
            </p:extLst>
          </p:nvPr>
        </p:nvGraphicFramePr>
        <p:xfrm>
          <a:off x="2573796" y="3657600"/>
          <a:ext cx="1007604" cy="683544"/>
        </p:xfrm>
        <a:graphic>
          <a:graphicData uri="http://schemas.openxmlformats.org/presentationml/2006/ole">
            <mc:AlternateContent xmlns:mc="http://schemas.openxmlformats.org/markup-compatibility/2006">
              <mc:Choice xmlns:v="urn:schemas-microsoft-com:vml" Requires="v">
                <p:oleObj spid="_x0000_s13407" name="Equation" r:id="rId3" imgW="342720" imgH="241200" progId="Equation.3">
                  <p:embed/>
                </p:oleObj>
              </mc:Choice>
              <mc:Fallback>
                <p:oleObj name="Equation" r:id="rId3" imgW="342720" imgH="241200" progId="Equation.3">
                  <p:embed/>
                  <p:pic>
                    <p:nvPicPr>
                      <p:cNvPr id="0" name="Picture 7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73796" y="3657600"/>
                        <a:ext cx="1007604" cy="6835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5921" dir="2700000" algn="ctr" rotWithShape="0">
                                <a:schemeClr val="bg2"/>
                              </a:outerShdw>
                            </a:effectLst>
                          </a14:hiddenEffects>
                        </a:ext>
                      </a:extLst>
                    </p:spPr>
                  </p:pic>
                </p:oleObj>
              </mc:Fallback>
            </mc:AlternateContent>
          </a:graphicData>
        </a:graphic>
      </p:graphicFrame>
      <p:graphicFrame>
        <p:nvGraphicFramePr>
          <p:cNvPr id="13315" name="Object 3"/>
          <p:cNvGraphicFramePr>
            <a:graphicFrameLocks noChangeAspect="1"/>
          </p:cNvGraphicFramePr>
          <p:nvPr>
            <p:extLst>
              <p:ext uri="{D42A27DB-BD31-4B8C-83A1-F6EECF244321}">
                <p14:modId xmlns:p14="http://schemas.microsoft.com/office/powerpoint/2010/main" val="1427830896"/>
              </p:ext>
            </p:extLst>
          </p:nvPr>
        </p:nvGraphicFramePr>
        <p:xfrm>
          <a:off x="2514600" y="2441575"/>
          <a:ext cx="3704647" cy="1063625"/>
        </p:xfrm>
        <a:graphic>
          <a:graphicData uri="http://schemas.openxmlformats.org/presentationml/2006/ole">
            <mc:AlternateContent xmlns:mc="http://schemas.openxmlformats.org/markup-compatibility/2006">
              <mc:Choice xmlns:v="urn:schemas-microsoft-com:vml" Requires="v">
                <p:oleObj spid="_x0000_s13408" name="Equation" r:id="rId5" imgW="1536480" imgH="457200" progId="">
                  <p:embed/>
                </p:oleObj>
              </mc:Choice>
              <mc:Fallback>
                <p:oleObj name="Equation" r:id="rId5" imgW="1536480" imgH="457200" progId="">
                  <p:embed/>
                  <p:pic>
                    <p:nvPicPr>
                      <p:cNvPr id="0" name="Picture 7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14600" y="2441575"/>
                        <a:ext cx="3704647" cy="1063625"/>
                      </a:xfrm>
                      <a:prstGeom prst="rect">
                        <a:avLst/>
                      </a:prstGeom>
                      <a:noFill/>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5921" dir="2700000" algn="ctr" rotWithShape="0">
                                <a:srgbClr val="808080"/>
                              </a:outerShdw>
                            </a:effectLst>
                          </a14:hiddenEffects>
                        </a:ext>
                      </a:extLst>
                    </p:spPr>
                  </p:pic>
                </p:oleObj>
              </mc:Fallback>
            </mc:AlternateContent>
          </a:graphicData>
        </a:graphic>
      </p:graphicFrame>
      <p:sp>
        <p:nvSpPr>
          <p:cNvPr id="13318" name="Line 6"/>
          <p:cNvSpPr>
            <a:spLocks noChangeShapeType="1"/>
          </p:cNvSpPr>
          <p:nvPr/>
        </p:nvSpPr>
        <p:spPr bwMode="auto">
          <a:xfrm>
            <a:off x="2990850" y="1600200"/>
            <a:ext cx="158750" cy="1588"/>
          </a:xfrm>
          <a:prstGeom prst="line">
            <a:avLst/>
          </a:prstGeom>
          <a:noFill/>
          <a:ln w="19050">
            <a:solidFill>
              <a:schemeClr val="folHlink"/>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319" name="Line 7"/>
          <p:cNvSpPr>
            <a:spLocks noChangeShapeType="1"/>
          </p:cNvSpPr>
          <p:nvPr/>
        </p:nvSpPr>
        <p:spPr bwMode="auto">
          <a:xfrm>
            <a:off x="3562350" y="1600200"/>
            <a:ext cx="158750" cy="158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320" name="Line 8"/>
          <p:cNvSpPr>
            <a:spLocks noChangeShapeType="1"/>
          </p:cNvSpPr>
          <p:nvPr/>
        </p:nvSpPr>
        <p:spPr bwMode="auto">
          <a:xfrm>
            <a:off x="5403850" y="1924050"/>
            <a:ext cx="158750" cy="1588"/>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321" name="Line 9"/>
          <p:cNvSpPr>
            <a:spLocks noChangeShapeType="1"/>
          </p:cNvSpPr>
          <p:nvPr/>
        </p:nvSpPr>
        <p:spPr bwMode="auto">
          <a:xfrm>
            <a:off x="6019800" y="1924050"/>
            <a:ext cx="158750" cy="1588"/>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 name="Text Box 4"/>
          <p:cNvSpPr txBox="1">
            <a:spLocks noChangeArrowheads="1"/>
          </p:cNvSpPr>
          <p:nvPr/>
        </p:nvSpPr>
        <p:spPr bwMode="auto">
          <a:xfrm>
            <a:off x="4049486" y="6172200"/>
            <a:ext cx="47815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ChangeArrowheads="1"/>
          </p:cNvSpPr>
          <p:nvPr>
            <p:ph type="title"/>
          </p:nvPr>
        </p:nvSpPr>
        <p:spPr/>
        <p:txBody>
          <a:bodyPr/>
          <a:lstStyle/>
          <a:p>
            <a:pPr eaLnBrk="1" hangingPunct="1"/>
            <a:r>
              <a:rPr lang="en-US" sz="2800" dirty="0" smtClean="0"/>
              <a:t>Example 10-6</a:t>
            </a:r>
          </a:p>
        </p:txBody>
      </p:sp>
      <p:sp>
        <p:nvSpPr>
          <p:cNvPr id="77827" name="Rectangle 3"/>
          <p:cNvSpPr>
            <a:spLocks noGrp="1" noChangeArrowheads="1"/>
          </p:cNvSpPr>
          <p:nvPr>
            <p:ph type="body" idx="1"/>
          </p:nvPr>
        </p:nvSpPr>
        <p:spPr>
          <a:xfrm>
            <a:off x="133350" y="1524000"/>
            <a:ext cx="8269288" cy="1981200"/>
          </a:xfrm>
        </p:spPr>
        <p:txBody>
          <a:bodyPr/>
          <a:lstStyle/>
          <a:p>
            <a:pPr eaLnBrk="1" hangingPunct="1">
              <a:buFont typeface="Wingdings" charset="2"/>
              <a:buChar char=" "/>
            </a:pPr>
            <a:r>
              <a:rPr lang="en-GB" sz="2000" dirty="0" smtClean="0"/>
              <a:t>A sample of 14 cans of Brand I diet soda gave the mean number of calories of 23 per can with a standard deviation of 3 calories. Another sample of 16 cans of Brand II diet soda gave the mean number of calories of 25 per can with a standard deviation of 4 calories. </a:t>
            </a:r>
            <a:endParaRPr lang="en-US" sz="2000" dirty="0" smtClean="0"/>
          </a:p>
        </p:txBody>
      </p:sp>
      <p:sp>
        <p:nvSpPr>
          <p:cNvPr id="6" name="Text Box 4"/>
          <p:cNvSpPr txBox="1">
            <a:spLocks noChangeArrowheads="1"/>
          </p:cNvSpPr>
          <p:nvPr/>
        </p:nvSpPr>
        <p:spPr bwMode="auto">
          <a:xfrm>
            <a:off x="4049486" y="6172200"/>
            <a:ext cx="47815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ChangeArrowheads="1"/>
          </p:cNvSpPr>
          <p:nvPr>
            <p:ph type="title"/>
          </p:nvPr>
        </p:nvSpPr>
        <p:spPr/>
        <p:txBody>
          <a:bodyPr/>
          <a:lstStyle/>
          <a:p>
            <a:pPr eaLnBrk="1" hangingPunct="1"/>
            <a:r>
              <a:rPr lang="en-US" sz="2800" dirty="0" smtClean="0"/>
              <a:t>Example 10-6</a:t>
            </a:r>
          </a:p>
        </p:txBody>
      </p:sp>
      <p:sp>
        <p:nvSpPr>
          <p:cNvPr id="78851" name="Rectangle 3"/>
          <p:cNvSpPr>
            <a:spLocks noGrp="1" noChangeArrowheads="1"/>
          </p:cNvSpPr>
          <p:nvPr>
            <p:ph type="body" idx="1"/>
          </p:nvPr>
        </p:nvSpPr>
        <p:spPr>
          <a:xfrm>
            <a:off x="112712" y="1466850"/>
            <a:ext cx="8345488" cy="2325687"/>
          </a:xfrm>
        </p:spPr>
        <p:txBody>
          <a:bodyPr/>
          <a:lstStyle/>
          <a:p>
            <a:pPr eaLnBrk="1" hangingPunct="1">
              <a:buFont typeface="Wingdings" charset="2"/>
              <a:buChar char=" "/>
            </a:pPr>
            <a:r>
              <a:rPr lang="en-GB" sz="2000" dirty="0" smtClean="0"/>
              <a:t>At the 1% significance level, can you conclude that the mean number of calories per can are different for these two brands of diet soda? Assume that the calories per can of diet soda are normally distributed for each of the two brands and that the standard deviations for the two populations are equal.</a:t>
            </a:r>
            <a:endParaRPr lang="en-US" sz="2000" dirty="0" smtClean="0"/>
          </a:p>
        </p:txBody>
      </p:sp>
      <p:sp>
        <p:nvSpPr>
          <p:cNvPr id="6" name="Text Box 4"/>
          <p:cNvSpPr txBox="1">
            <a:spLocks noChangeArrowheads="1"/>
          </p:cNvSpPr>
          <p:nvPr/>
        </p:nvSpPr>
        <p:spPr bwMode="auto">
          <a:xfrm>
            <a:off x="4049486" y="6172200"/>
            <a:ext cx="47815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ChangeArrowheads="1"/>
          </p:cNvSpPr>
          <p:nvPr>
            <p:ph type="title"/>
          </p:nvPr>
        </p:nvSpPr>
        <p:spPr/>
        <p:txBody>
          <a:bodyPr/>
          <a:lstStyle/>
          <a:p>
            <a:pPr eaLnBrk="1" hangingPunct="1"/>
            <a:r>
              <a:rPr lang="en-US" sz="2800" dirty="0" smtClean="0"/>
              <a:t>Example 10-6: Solution</a:t>
            </a:r>
          </a:p>
        </p:txBody>
      </p:sp>
      <p:sp>
        <p:nvSpPr>
          <p:cNvPr id="79875" name="Rectangle 3"/>
          <p:cNvSpPr>
            <a:spLocks noGrp="1" noChangeArrowheads="1"/>
          </p:cNvSpPr>
          <p:nvPr>
            <p:ph type="body" idx="1"/>
          </p:nvPr>
        </p:nvSpPr>
        <p:spPr>
          <a:xfrm>
            <a:off x="476250" y="1524000"/>
            <a:ext cx="8345488" cy="2554287"/>
          </a:xfrm>
        </p:spPr>
        <p:txBody>
          <a:bodyPr/>
          <a:lstStyle/>
          <a:p>
            <a:pPr marL="0" indent="0" eaLnBrk="1" hangingPunct="1">
              <a:buNone/>
            </a:pPr>
            <a:r>
              <a:rPr lang="en-US" sz="2000" b="1" dirty="0" smtClean="0"/>
              <a:t>Step 1:</a:t>
            </a:r>
          </a:p>
          <a:p>
            <a:pPr marL="0" indent="0" eaLnBrk="1" hangingPunct="1">
              <a:buNone/>
            </a:pPr>
            <a:r>
              <a:rPr lang="en-US" sz="2000" i="1" dirty="0" smtClean="0"/>
              <a:t>   H</a:t>
            </a:r>
            <a:r>
              <a:rPr lang="en-US" sz="2000" baseline="-25000" dirty="0" smtClean="0"/>
              <a:t>0</a:t>
            </a:r>
            <a:r>
              <a:rPr lang="en-US" sz="2000" dirty="0" smtClean="0"/>
              <a:t>: </a:t>
            </a:r>
            <a:r>
              <a:rPr lang="el-GR" sz="2000" dirty="0" smtClean="0">
                <a:latin typeface="Times New Roman" charset="0"/>
                <a:cs typeface="Times New Roman" charset="0"/>
              </a:rPr>
              <a:t>μ</a:t>
            </a:r>
            <a:r>
              <a:rPr lang="en-GB" sz="2000" baseline="-25000" dirty="0" smtClean="0"/>
              <a:t>1</a:t>
            </a:r>
            <a:r>
              <a:rPr lang="en-GB" sz="2000" dirty="0" smtClean="0"/>
              <a:t> – </a:t>
            </a:r>
            <a:r>
              <a:rPr lang="el-GR" sz="2000" dirty="0" smtClean="0">
                <a:latin typeface="Times New Roman" charset="0"/>
                <a:cs typeface="Times New Roman" charset="0"/>
              </a:rPr>
              <a:t>μ</a:t>
            </a:r>
            <a:r>
              <a:rPr lang="en-GB" sz="2000" baseline="-25000" dirty="0" smtClean="0"/>
              <a:t>2</a:t>
            </a:r>
            <a:r>
              <a:rPr lang="en-GB" sz="2000" dirty="0" smtClean="0"/>
              <a:t> = 0 </a:t>
            </a:r>
          </a:p>
          <a:p>
            <a:pPr marL="0" indent="0" eaLnBrk="1" hangingPunct="1">
              <a:buNone/>
            </a:pPr>
            <a:r>
              <a:rPr lang="en-GB" sz="2000" dirty="0"/>
              <a:t> </a:t>
            </a:r>
            <a:r>
              <a:rPr lang="en-GB" sz="2000" dirty="0" smtClean="0"/>
              <a:t>        (The mean numbers of calories are not different.)</a:t>
            </a:r>
          </a:p>
          <a:p>
            <a:pPr marL="0" indent="0" eaLnBrk="1" hangingPunct="1">
              <a:buNone/>
            </a:pPr>
            <a:r>
              <a:rPr lang="en-GB" sz="2000" i="1" dirty="0" smtClean="0"/>
              <a:t>   H</a:t>
            </a:r>
            <a:r>
              <a:rPr lang="en-GB" sz="2000" baseline="-25000" dirty="0" smtClean="0"/>
              <a:t>1</a:t>
            </a:r>
            <a:r>
              <a:rPr lang="en-GB" sz="2000" dirty="0" smtClean="0"/>
              <a:t>: </a:t>
            </a:r>
            <a:r>
              <a:rPr lang="el-GR" sz="2000" dirty="0" smtClean="0">
                <a:latin typeface="Times New Roman" charset="0"/>
                <a:cs typeface="Times New Roman" charset="0"/>
              </a:rPr>
              <a:t>μ</a:t>
            </a:r>
            <a:r>
              <a:rPr lang="en-GB" sz="2000" baseline="-25000" dirty="0" smtClean="0"/>
              <a:t>1</a:t>
            </a:r>
            <a:r>
              <a:rPr lang="en-GB" sz="2000" dirty="0" smtClean="0"/>
              <a:t> – </a:t>
            </a:r>
            <a:r>
              <a:rPr lang="el-GR" sz="2000" dirty="0" smtClean="0">
                <a:latin typeface="Times New Roman" charset="0"/>
                <a:cs typeface="Times New Roman" charset="0"/>
              </a:rPr>
              <a:t>μ</a:t>
            </a:r>
            <a:r>
              <a:rPr lang="en-GB" sz="2000" baseline="-25000" dirty="0" smtClean="0"/>
              <a:t>2 </a:t>
            </a:r>
            <a:r>
              <a:rPr lang="en-GB" sz="2000" dirty="0" smtClean="0">
                <a:cs typeface="Arial" charset="0"/>
              </a:rPr>
              <a:t>≠</a:t>
            </a:r>
            <a:r>
              <a:rPr lang="en-GB" sz="2000" dirty="0" smtClean="0"/>
              <a:t> 0 </a:t>
            </a:r>
          </a:p>
          <a:p>
            <a:pPr marL="0" indent="0" eaLnBrk="1" hangingPunct="1">
              <a:buNone/>
            </a:pPr>
            <a:r>
              <a:rPr lang="en-GB" sz="2000" dirty="0"/>
              <a:t> </a:t>
            </a:r>
            <a:r>
              <a:rPr lang="en-GB" sz="2000" dirty="0" smtClean="0"/>
              <a:t>        (The mean numbers of calories are different.)</a:t>
            </a:r>
            <a:endParaRPr lang="en-US" sz="2000" dirty="0" smtClean="0"/>
          </a:p>
        </p:txBody>
      </p:sp>
      <p:sp>
        <p:nvSpPr>
          <p:cNvPr id="6" name="Text Box 4"/>
          <p:cNvSpPr txBox="1">
            <a:spLocks noChangeArrowheads="1"/>
          </p:cNvSpPr>
          <p:nvPr/>
        </p:nvSpPr>
        <p:spPr bwMode="auto">
          <a:xfrm>
            <a:off x="4049486" y="6172200"/>
            <a:ext cx="47815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ChangeArrowheads="1"/>
          </p:cNvSpPr>
          <p:nvPr>
            <p:ph type="title"/>
          </p:nvPr>
        </p:nvSpPr>
        <p:spPr/>
        <p:txBody>
          <a:bodyPr/>
          <a:lstStyle/>
          <a:p>
            <a:pPr eaLnBrk="1" hangingPunct="1"/>
            <a:r>
              <a:rPr lang="en-US" sz="2800" dirty="0" smtClean="0"/>
              <a:t>Example 10-6: Solution</a:t>
            </a:r>
          </a:p>
        </p:txBody>
      </p:sp>
      <p:sp>
        <p:nvSpPr>
          <p:cNvPr id="80899" name="Rectangle 3"/>
          <p:cNvSpPr>
            <a:spLocks noGrp="1" noChangeArrowheads="1"/>
          </p:cNvSpPr>
          <p:nvPr>
            <p:ph type="body" idx="1"/>
          </p:nvPr>
        </p:nvSpPr>
        <p:spPr>
          <a:xfrm>
            <a:off x="476250" y="1543050"/>
            <a:ext cx="7924800" cy="2743200"/>
          </a:xfrm>
        </p:spPr>
        <p:txBody>
          <a:bodyPr/>
          <a:lstStyle/>
          <a:p>
            <a:pPr marL="0" indent="0" eaLnBrk="1" hangingPunct="1">
              <a:buNone/>
            </a:pPr>
            <a:r>
              <a:rPr lang="en-US" sz="2000" b="1" dirty="0" smtClean="0"/>
              <a:t>Step 2:</a:t>
            </a:r>
          </a:p>
          <a:p>
            <a:pPr marL="0" indent="0" eaLnBrk="1" hangingPunct="1">
              <a:buNone/>
            </a:pPr>
            <a:r>
              <a:rPr lang="en-US" sz="2000" dirty="0" smtClean="0"/>
              <a:t>  The two samples are independent</a:t>
            </a:r>
          </a:p>
          <a:p>
            <a:pPr marL="0" indent="0" eaLnBrk="1" hangingPunct="1">
              <a:buNone/>
            </a:pPr>
            <a:r>
              <a:rPr lang="en-US" sz="2000" dirty="0"/>
              <a:t> </a:t>
            </a:r>
            <a:r>
              <a:rPr lang="en-US" sz="2000" dirty="0" smtClean="0"/>
              <a:t>  σ</a:t>
            </a:r>
            <a:r>
              <a:rPr lang="en-US" sz="2000" baseline="-25000" dirty="0" smtClean="0">
                <a:sym typeface="Mathematica1" pitchFamily="2" charset="2"/>
              </a:rPr>
              <a:t>1</a:t>
            </a:r>
            <a:r>
              <a:rPr lang="en-US" sz="2000" dirty="0" smtClean="0">
                <a:sym typeface="Mathematica1" pitchFamily="2" charset="2"/>
              </a:rPr>
              <a:t> and σ</a:t>
            </a:r>
            <a:r>
              <a:rPr lang="en-US" sz="2000" baseline="-25000" dirty="0" smtClean="0">
                <a:sym typeface="Mathematica1" pitchFamily="2" charset="2"/>
              </a:rPr>
              <a:t>2 </a:t>
            </a:r>
            <a:r>
              <a:rPr lang="en-US" sz="2000" dirty="0" smtClean="0"/>
              <a:t>are unknown but equal</a:t>
            </a:r>
          </a:p>
          <a:p>
            <a:pPr marL="0" indent="0" eaLnBrk="1" hangingPunct="1">
              <a:buNone/>
            </a:pPr>
            <a:r>
              <a:rPr lang="en-US" sz="2000" dirty="0"/>
              <a:t> </a:t>
            </a:r>
            <a:r>
              <a:rPr lang="en-US" sz="2000" dirty="0" smtClean="0"/>
              <a:t>  The sample sizes are small but both populations are </a:t>
            </a:r>
          </a:p>
          <a:p>
            <a:pPr marL="0" indent="0" eaLnBrk="1" hangingPunct="1">
              <a:buNone/>
            </a:pPr>
            <a:r>
              <a:rPr lang="en-US" sz="2000" dirty="0"/>
              <a:t> </a:t>
            </a:r>
            <a:r>
              <a:rPr lang="en-US" sz="2000" dirty="0" smtClean="0"/>
              <a:t>  normally distributed</a:t>
            </a:r>
          </a:p>
          <a:p>
            <a:pPr marL="0" indent="0" eaLnBrk="1" hangingPunct="1">
              <a:buNone/>
            </a:pPr>
            <a:r>
              <a:rPr lang="en-US" sz="2000" dirty="0" smtClean="0"/>
              <a:t>   We will use the </a:t>
            </a:r>
            <a:r>
              <a:rPr lang="en-US" sz="2000" i="1" dirty="0" smtClean="0">
                <a:latin typeface="Times New Roman" charset="0"/>
              </a:rPr>
              <a:t>t</a:t>
            </a:r>
            <a:r>
              <a:rPr lang="en-US" sz="2000" dirty="0" smtClean="0"/>
              <a:t> distribution</a:t>
            </a:r>
          </a:p>
          <a:p>
            <a:pPr eaLnBrk="1" hangingPunct="1"/>
            <a:endParaRPr lang="en-US" dirty="0" smtClean="0"/>
          </a:p>
        </p:txBody>
      </p:sp>
      <p:sp>
        <p:nvSpPr>
          <p:cNvPr id="6" name="Text Box 4"/>
          <p:cNvSpPr txBox="1">
            <a:spLocks noChangeArrowheads="1"/>
          </p:cNvSpPr>
          <p:nvPr/>
        </p:nvSpPr>
        <p:spPr bwMode="auto">
          <a:xfrm>
            <a:off x="4049486" y="6172200"/>
            <a:ext cx="47815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ChangeArrowheads="1"/>
          </p:cNvSpPr>
          <p:nvPr>
            <p:ph type="title"/>
          </p:nvPr>
        </p:nvSpPr>
        <p:spPr/>
        <p:txBody>
          <a:bodyPr/>
          <a:lstStyle/>
          <a:p>
            <a:pPr eaLnBrk="1" hangingPunct="1"/>
            <a:r>
              <a:rPr lang="en-US" sz="2800" dirty="0" smtClean="0"/>
              <a:t>Example 10-6: Solution</a:t>
            </a:r>
          </a:p>
        </p:txBody>
      </p:sp>
      <p:sp>
        <p:nvSpPr>
          <p:cNvPr id="81923" name="Rectangle 3"/>
          <p:cNvSpPr>
            <a:spLocks noGrp="1" noChangeArrowheads="1"/>
          </p:cNvSpPr>
          <p:nvPr>
            <p:ph type="body" idx="1"/>
          </p:nvPr>
        </p:nvSpPr>
        <p:spPr>
          <a:xfrm>
            <a:off x="455612" y="1485900"/>
            <a:ext cx="8345488" cy="2706687"/>
          </a:xfrm>
        </p:spPr>
        <p:txBody>
          <a:bodyPr/>
          <a:lstStyle/>
          <a:p>
            <a:pPr marL="0" indent="0" eaLnBrk="1" hangingPunct="1">
              <a:buNone/>
            </a:pPr>
            <a:r>
              <a:rPr lang="en-US" sz="2000" b="1" dirty="0" smtClean="0"/>
              <a:t>Step 3:</a:t>
            </a:r>
          </a:p>
          <a:p>
            <a:pPr marL="0" indent="0" eaLnBrk="1" hangingPunct="1">
              <a:buNone/>
            </a:pPr>
            <a:r>
              <a:rPr lang="en-US" sz="2000" dirty="0" smtClean="0"/>
              <a:t>   The ≠ sign in the alternative hypothesis indicates that the </a:t>
            </a:r>
          </a:p>
          <a:p>
            <a:pPr marL="0" indent="0" eaLnBrk="1" hangingPunct="1">
              <a:buNone/>
            </a:pPr>
            <a:r>
              <a:rPr lang="en-US" sz="2000" dirty="0"/>
              <a:t> </a:t>
            </a:r>
            <a:r>
              <a:rPr lang="en-US" sz="2000" dirty="0" smtClean="0"/>
              <a:t>  test is two-tailed.</a:t>
            </a:r>
          </a:p>
          <a:p>
            <a:pPr marL="0" indent="0" eaLnBrk="1" hangingPunct="1">
              <a:buNone/>
            </a:pPr>
            <a:r>
              <a:rPr lang="en-US" sz="2000" dirty="0" smtClean="0">
                <a:latin typeface="Times New Roman" charset="0"/>
                <a:cs typeface="Times New Roman" charset="0"/>
              </a:rPr>
              <a:t>    </a:t>
            </a:r>
            <a:r>
              <a:rPr lang="el-GR" sz="2000" dirty="0" smtClean="0">
                <a:latin typeface="Times New Roman" charset="0"/>
                <a:cs typeface="Times New Roman" charset="0"/>
              </a:rPr>
              <a:t>α</a:t>
            </a:r>
            <a:r>
              <a:rPr lang="en-GB" sz="2000" dirty="0" smtClean="0">
                <a:latin typeface="Times New Roman" charset="0"/>
                <a:cs typeface="Times New Roman" charset="0"/>
              </a:rPr>
              <a:t> </a:t>
            </a:r>
            <a:r>
              <a:rPr lang="en-GB" sz="2000" dirty="0" smtClean="0">
                <a:cs typeface="Times New Roman" charset="0"/>
              </a:rPr>
              <a:t>= .01.</a:t>
            </a:r>
          </a:p>
          <a:p>
            <a:pPr marL="0" indent="0" eaLnBrk="1" hangingPunct="1">
              <a:buNone/>
            </a:pPr>
            <a:r>
              <a:rPr lang="en-GB" sz="2000" dirty="0" smtClean="0">
                <a:cs typeface="Times New Roman" charset="0"/>
              </a:rPr>
              <a:t>   Area in each tail = </a:t>
            </a:r>
            <a:r>
              <a:rPr lang="el-GR" sz="2000" dirty="0" smtClean="0">
                <a:latin typeface="Times New Roman" charset="0"/>
                <a:cs typeface="Times New Roman" charset="0"/>
              </a:rPr>
              <a:t>α</a:t>
            </a:r>
            <a:r>
              <a:rPr lang="en-GB" sz="2000" dirty="0" smtClean="0">
                <a:cs typeface="Times New Roman" charset="0"/>
              </a:rPr>
              <a:t> / 2</a:t>
            </a:r>
            <a:r>
              <a:rPr lang="en-GB" sz="2000" dirty="0" smtClean="0">
                <a:latin typeface="Times New Roman" charset="0"/>
                <a:cs typeface="Times New Roman" charset="0"/>
              </a:rPr>
              <a:t> </a:t>
            </a:r>
            <a:r>
              <a:rPr lang="en-GB" sz="2000" dirty="0" smtClean="0">
                <a:cs typeface="Times New Roman" charset="0"/>
              </a:rPr>
              <a:t>= .01 / 2 = .005</a:t>
            </a:r>
          </a:p>
          <a:p>
            <a:pPr marL="0" indent="0" eaLnBrk="1" hangingPunct="1">
              <a:buNone/>
            </a:pPr>
            <a:r>
              <a:rPr lang="en-GB" sz="2000" i="1" dirty="0" smtClean="0">
                <a:latin typeface="Times New Roman" charset="0"/>
                <a:cs typeface="Times New Roman" charset="0"/>
              </a:rPr>
              <a:t>    </a:t>
            </a:r>
            <a:r>
              <a:rPr lang="en-GB" sz="2000" i="1" dirty="0" err="1" smtClean="0">
                <a:latin typeface="Times New Roman" charset="0"/>
                <a:cs typeface="Times New Roman" charset="0"/>
              </a:rPr>
              <a:t>df</a:t>
            </a:r>
            <a:r>
              <a:rPr lang="en-GB" sz="2000" dirty="0" smtClean="0">
                <a:cs typeface="Times New Roman" charset="0"/>
              </a:rPr>
              <a:t> = </a:t>
            </a:r>
            <a:r>
              <a:rPr lang="en-GB" sz="2000" i="1" dirty="0" smtClean="0">
                <a:latin typeface="Times New Roman" charset="0"/>
                <a:cs typeface="Times New Roman" charset="0"/>
              </a:rPr>
              <a:t>n</a:t>
            </a:r>
            <a:r>
              <a:rPr lang="en-GB" sz="2000" baseline="-25000" dirty="0" smtClean="0">
                <a:cs typeface="Times New Roman" charset="0"/>
              </a:rPr>
              <a:t>1</a:t>
            </a:r>
            <a:r>
              <a:rPr lang="en-GB" sz="2000" dirty="0" smtClean="0">
                <a:cs typeface="Times New Roman" charset="0"/>
              </a:rPr>
              <a:t> + </a:t>
            </a:r>
            <a:r>
              <a:rPr lang="en-GB" sz="2000" i="1" dirty="0" smtClean="0">
                <a:latin typeface="Times New Roman" charset="0"/>
                <a:cs typeface="Times New Roman" charset="0"/>
              </a:rPr>
              <a:t>n</a:t>
            </a:r>
            <a:r>
              <a:rPr lang="en-GB" sz="2000" baseline="-25000" dirty="0" smtClean="0">
                <a:cs typeface="Times New Roman" charset="0"/>
              </a:rPr>
              <a:t>2</a:t>
            </a:r>
            <a:r>
              <a:rPr lang="en-GB" sz="2000" dirty="0" smtClean="0">
                <a:cs typeface="Times New Roman" charset="0"/>
              </a:rPr>
              <a:t> – 2 = 14 + 16 – 2 = 28</a:t>
            </a:r>
          </a:p>
          <a:p>
            <a:pPr marL="0" indent="0" eaLnBrk="1" hangingPunct="1">
              <a:buNone/>
            </a:pPr>
            <a:r>
              <a:rPr lang="en-GB" sz="2000" dirty="0" smtClean="0">
                <a:cs typeface="Times New Roman" charset="0"/>
              </a:rPr>
              <a:t>   Critical values of </a:t>
            </a:r>
            <a:r>
              <a:rPr lang="en-GB" sz="2000" i="1" dirty="0" smtClean="0">
                <a:latin typeface="Times New Roman" charset="0"/>
                <a:cs typeface="Times New Roman" charset="0"/>
              </a:rPr>
              <a:t>t</a:t>
            </a:r>
            <a:r>
              <a:rPr lang="en-GB" sz="2000" dirty="0" smtClean="0">
                <a:cs typeface="Times New Roman" charset="0"/>
              </a:rPr>
              <a:t> are -2.763 and 2.763.</a:t>
            </a:r>
            <a:endParaRPr lang="en-US" sz="2000" dirty="0" smtClean="0">
              <a:cs typeface="Times New Roman" charset="0"/>
            </a:endParaRPr>
          </a:p>
        </p:txBody>
      </p:sp>
      <p:sp>
        <p:nvSpPr>
          <p:cNvPr id="6" name="Text Box 4"/>
          <p:cNvSpPr txBox="1">
            <a:spLocks noChangeArrowheads="1"/>
          </p:cNvSpPr>
          <p:nvPr/>
        </p:nvSpPr>
        <p:spPr bwMode="auto">
          <a:xfrm>
            <a:off x="4049486" y="6172200"/>
            <a:ext cx="47815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3"/>
          <p:cNvSpPr>
            <a:spLocks noGrp="1" noChangeArrowheads="1"/>
          </p:cNvSpPr>
          <p:nvPr>
            <p:ph type="title"/>
          </p:nvPr>
        </p:nvSpPr>
        <p:spPr/>
        <p:txBody>
          <a:bodyPr/>
          <a:lstStyle/>
          <a:p>
            <a:pPr eaLnBrk="1" hangingPunct="1"/>
            <a:r>
              <a:rPr lang="en-US" sz="2800" dirty="0" smtClean="0"/>
              <a:t>Figure 10.3</a:t>
            </a:r>
          </a:p>
        </p:txBody>
      </p:sp>
      <p:sp>
        <p:nvSpPr>
          <p:cNvPr id="6" name="Text Box 4"/>
          <p:cNvSpPr txBox="1">
            <a:spLocks noChangeArrowheads="1"/>
          </p:cNvSpPr>
          <p:nvPr/>
        </p:nvSpPr>
        <p:spPr bwMode="auto">
          <a:xfrm>
            <a:off x="4049486" y="6172200"/>
            <a:ext cx="47815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04442" y="1871445"/>
            <a:ext cx="6735115" cy="3115110"/>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2"/>
          <p:cNvSpPr>
            <a:spLocks noGrp="1" noChangeArrowheads="1"/>
          </p:cNvSpPr>
          <p:nvPr>
            <p:ph type="title"/>
          </p:nvPr>
        </p:nvSpPr>
        <p:spPr/>
        <p:txBody>
          <a:bodyPr/>
          <a:lstStyle/>
          <a:p>
            <a:pPr eaLnBrk="1" hangingPunct="1"/>
            <a:r>
              <a:rPr lang="en-US" sz="2800" dirty="0" smtClean="0"/>
              <a:t>Example 10-6: Solution</a:t>
            </a:r>
          </a:p>
        </p:txBody>
      </p:sp>
      <p:graphicFrame>
        <p:nvGraphicFramePr>
          <p:cNvPr id="14338" name="Object 2"/>
          <p:cNvGraphicFramePr>
            <a:graphicFrameLocks noGrp="1" noChangeAspect="1"/>
          </p:cNvGraphicFramePr>
          <p:nvPr>
            <p:ph type="body" idx="1"/>
            <p:extLst>
              <p:ext uri="{D42A27DB-BD31-4B8C-83A1-F6EECF244321}">
                <p14:modId xmlns:p14="http://schemas.microsoft.com/office/powerpoint/2010/main" val="2579396580"/>
              </p:ext>
            </p:extLst>
          </p:nvPr>
        </p:nvGraphicFramePr>
        <p:xfrm>
          <a:off x="914400" y="2209800"/>
          <a:ext cx="7204364" cy="2632364"/>
        </p:xfrm>
        <a:graphic>
          <a:graphicData uri="http://schemas.openxmlformats.org/presentationml/2006/ole">
            <mc:AlternateContent xmlns:mc="http://schemas.openxmlformats.org/markup-compatibility/2006">
              <mc:Choice xmlns:v="urn:schemas-microsoft-com:vml" Requires="v">
                <p:oleObj spid="_x0000_s14386" name="Equation" r:id="rId3" imgW="4711680" imgH="1460160" progId="">
                  <p:embed/>
                </p:oleObj>
              </mc:Choice>
              <mc:Fallback>
                <p:oleObj name="Equation" r:id="rId3" imgW="4711680" imgH="1460160" progId="">
                  <p:embed/>
                  <p:pic>
                    <p:nvPicPr>
                      <p:cNvPr id="0" name="Picture 39"/>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4400" y="2209800"/>
                        <a:ext cx="7204364" cy="2632364"/>
                      </a:xfrm>
                      <a:prstGeom prst="rect">
                        <a:avLst/>
                      </a:prstGeom>
                      <a:noFill/>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5921" dir="2700000" algn="ctr" rotWithShape="0">
                                <a:srgbClr val="808080"/>
                              </a:outerShdw>
                            </a:effectLst>
                          </a14:hiddenEffects>
                        </a:ext>
                      </a:extLst>
                    </p:spPr>
                  </p:pic>
                </p:oleObj>
              </mc:Fallback>
            </mc:AlternateContent>
          </a:graphicData>
        </a:graphic>
      </p:graphicFrame>
      <p:sp>
        <p:nvSpPr>
          <p:cNvPr id="14341" name="Text Box 8"/>
          <p:cNvSpPr txBox="1">
            <a:spLocks noChangeArrowheads="1"/>
          </p:cNvSpPr>
          <p:nvPr/>
        </p:nvSpPr>
        <p:spPr bwMode="auto">
          <a:xfrm>
            <a:off x="533400" y="1600200"/>
            <a:ext cx="20574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charset="0"/>
                <a:ea typeface="ＭＳ Ｐゴシック" charset="-128"/>
              </a:defRPr>
            </a:lvl1pPr>
            <a:lvl2pPr marL="742950" indent="-285750">
              <a:defRPr>
                <a:solidFill>
                  <a:schemeClr val="tx1"/>
                </a:solidFill>
                <a:latin typeface="Verdana" charset="0"/>
                <a:ea typeface="ＭＳ Ｐゴシック" charset="-128"/>
              </a:defRPr>
            </a:lvl2pPr>
            <a:lvl3pPr marL="1143000" indent="-228600">
              <a:defRPr>
                <a:solidFill>
                  <a:schemeClr val="tx1"/>
                </a:solidFill>
                <a:latin typeface="Verdana" charset="0"/>
                <a:ea typeface="ＭＳ Ｐゴシック" charset="-128"/>
              </a:defRPr>
            </a:lvl3pPr>
            <a:lvl4pPr marL="1600200" indent="-228600">
              <a:defRPr>
                <a:solidFill>
                  <a:schemeClr val="tx1"/>
                </a:solidFill>
                <a:latin typeface="Verdana" charset="0"/>
                <a:ea typeface="ＭＳ Ｐゴシック" charset="-128"/>
              </a:defRPr>
            </a:lvl4pPr>
            <a:lvl5pPr marL="2057400" indent="-228600">
              <a:defRPr>
                <a:solidFill>
                  <a:schemeClr val="tx1"/>
                </a:solidFill>
                <a:latin typeface="Verdana" charset="0"/>
                <a:ea typeface="ＭＳ Ｐゴシック" charset="-128"/>
              </a:defRPr>
            </a:lvl5pPr>
            <a:lvl6pPr marL="2514600" indent="-228600" eaLnBrk="0" fontAlgn="base" hangingPunct="0">
              <a:spcBef>
                <a:spcPct val="0"/>
              </a:spcBef>
              <a:spcAft>
                <a:spcPct val="0"/>
              </a:spcAft>
              <a:defRPr>
                <a:solidFill>
                  <a:schemeClr val="tx1"/>
                </a:solidFill>
                <a:latin typeface="Verdana" charset="0"/>
                <a:ea typeface="ＭＳ Ｐゴシック" charset="-128"/>
              </a:defRPr>
            </a:lvl6pPr>
            <a:lvl7pPr marL="2971800" indent="-228600" eaLnBrk="0" fontAlgn="base" hangingPunct="0">
              <a:spcBef>
                <a:spcPct val="0"/>
              </a:spcBef>
              <a:spcAft>
                <a:spcPct val="0"/>
              </a:spcAft>
              <a:defRPr>
                <a:solidFill>
                  <a:schemeClr val="tx1"/>
                </a:solidFill>
                <a:latin typeface="Verdana" charset="0"/>
                <a:ea typeface="ＭＳ Ｐゴシック" charset="-128"/>
              </a:defRPr>
            </a:lvl7pPr>
            <a:lvl8pPr marL="3429000" indent="-228600" eaLnBrk="0" fontAlgn="base" hangingPunct="0">
              <a:spcBef>
                <a:spcPct val="0"/>
              </a:spcBef>
              <a:spcAft>
                <a:spcPct val="0"/>
              </a:spcAft>
              <a:defRPr>
                <a:solidFill>
                  <a:schemeClr val="tx1"/>
                </a:solidFill>
                <a:latin typeface="Verdana" charset="0"/>
                <a:ea typeface="ＭＳ Ｐゴシック" charset="-128"/>
              </a:defRPr>
            </a:lvl8pPr>
            <a:lvl9pPr marL="3886200" indent="-228600" eaLnBrk="0" fontAlgn="base" hangingPunct="0">
              <a:spcBef>
                <a:spcPct val="0"/>
              </a:spcBef>
              <a:spcAft>
                <a:spcPct val="0"/>
              </a:spcAft>
              <a:defRPr>
                <a:solidFill>
                  <a:schemeClr val="tx1"/>
                </a:solidFill>
                <a:latin typeface="Verdana" charset="0"/>
                <a:ea typeface="ＭＳ Ｐゴシック" charset="-128"/>
              </a:defRPr>
            </a:lvl9pPr>
          </a:lstStyle>
          <a:p>
            <a:pPr>
              <a:spcBef>
                <a:spcPct val="50000"/>
              </a:spcBef>
            </a:pPr>
            <a:r>
              <a:rPr lang="en-US" sz="2000" b="1" dirty="0"/>
              <a:t>Step 4:</a:t>
            </a:r>
          </a:p>
        </p:txBody>
      </p:sp>
      <p:sp>
        <p:nvSpPr>
          <p:cNvPr id="7" name="Text Box 4"/>
          <p:cNvSpPr txBox="1">
            <a:spLocks noChangeArrowheads="1"/>
          </p:cNvSpPr>
          <p:nvPr/>
        </p:nvSpPr>
        <p:spPr bwMode="auto">
          <a:xfrm>
            <a:off x="4049486" y="6172200"/>
            <a:ext cx="47815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ChangeArrowheads="1"/>
          </p:cNvSpPr>
          <p:nvPr>
            <p:ph type="title"/>
          </p:nvPr>
        </p:nvSpPr>
        <p:spPr/>
        <p:txBody>
          <a:bodyPr/>
          <a:lstStyle/>
          <a:p>
            <a:pPr eaLnBrk="1" hangingPunct="1"/>
            <a:r>
              <a:rPr lang="en-US" sz="2800" dirty="0" smtClean="0"/>
              <a:t>Example 10-6: Solution</a:t>
            </a:r>
          </a:p>
        </p:txBody>
      </p:sp>
      <p:sp>
        <p:nvSpPr>
          <p:cNvPr id="83971" name="Rectangle 3"/>
          <p:cNvSpPr>
            <a:spLocks noGrp="1" noChangeArrowheads="1"/>
          </p:cNvSpPr>
          <p:nvPr>
            <p:ph type="body" idx="1"/>
          </p:nvPr>
        </p:nvSpPr>
        <p:spPr>
          <a:xfrm>
            <a:off x="476250" y="1485900"/>
            <a:ext cx="8134350" cy="3238500"/>
          </a:xfrm>
        </p:spPr>
        <p:txBody>
          <a:bodyPr/>
          <a:lstStyle/>
          <a:p>
            <a:pPr marL="0" indent="0" eaLnBrk="1" hangingPunct="1">
              <a:buNone/>
            </a:pPr>
            <a:r>
              <a:rPr lang="en-US" sz="2000" b="1" dirty="0" smtClean="0"/>
              <a:t>Step 5:</a:t>
            </a:r>
          </a:p>
          <a:p>
            <a:pPr marL="0" indent="0" eaLnBrk="1" hangingPunct="1">
              <a:buNone/>
            </a:pPr>
            <a:r>
              <a:rPr lang="en-US" sz="2000" dirty="0" smtClean="0"/>
              <a:t>   The value of the test statistic</a:t>
            </a:r>
            <a:r>
              <a:rPr lang="en-US" sz="2000" i="1" dirty="0" smtClean="0"/>
              <a:t> t</a:t>
            </a:r>
            <a:r>
              <a:rPr lang="en-US" sz="2000" dirty="0" smtClean="0"/>
              <a:t> = -1.531 </a:t>
            </a:r>
          </a:p>
          <a:p>
            <a:pPr lvl="1" eaLnBrk="1" hangingPunct="1"/>
            <a:r>
              <a:rPr lang="en-US" sz="2000" dirty="0" smtClean="0"/>
              <a:t>It falls in the </a:t>
            </a:r>
            <a:r>
              <a:rPr lang="en-US" sz="2000" dirty="0" err="1" smtClean="0"/>
              <a:t>nonrejection</a:t>
            </a:r>
            <a:r>
              <a:rPr lang="en-US" sz="2000" dirty="0" smtClean="0"/>
              <a:t> region</a:t>
            </a:r>
          </a:p>
          <a:p>
            <a:pPr marL="0" indent="0" eaLnBrk="1" hangingPunct="1">
              <a:buNone/>
            </a:pPr>
            <a:r>
              <a:rPr lang="en-US" sz="2000" dirty="0" smtClean="0"/>
              <a:t>   Therefore, we fail to reject the null hypothesis</a:t>
            </a:r>
          </a:p>
          <a:p>
            <a:pPr marL="0" indent="0" eaLnBrk="1" hangingPunct="1">
              <a:buNone/>
            </a:pPr>
            <a:endParaRPr lang="en-US" sz="2000" dirty="0" smtClean="0"/>
          </a:p>
          <a:p>
            <a:pPr marL="0" indent="0" eaLnBrk="1" hangingPunct="1">
              <a:buNone/>
            </a:pPr>
            <a:r>
              <a:rPr lang="en-US" sz="2000" dirty="0" smtClean="0"/>
              <a:t>   Consequently, we conclude that there is no difference in </a:t>
            </a:r>
          </a:p>
          <a:p>
            <a:pPr marL="0" indent="0" eaLnBrk="1" hangingPunct="1">
              <a:buNone/>
            </a:pPr>
            <a:r>
              <a:rPr lang="en-US" sz="2000" dirty="0"/>
              <a:t> </a:t>
            </a:r>
            <a:r>
              <a:rPr lang="en-US" sz="2000" dirty="0" smtClean="0"/>
              <a:t>  the mean numbers of calories per can for the two brands of </a:t>
            </a:r>
          </a:p>
          <a:p>
            <a:pPr marL="0" indent="0" eaLnBrk="1" hangingPunct="1">
              <a:buNone/>
            </a:pPr>
            <a:r>
              <a:rPr lang="en-US" sz="2000" dirty="0"/>
              <a:t> </a:t>
            </a:r>
            <a:r>
              <a:rPr lang="en-US" sz="2000" dirty="0" smtClean="0"/>
              <a:t>  diet soda.</a:t>
            </a:r>
          </a:p>
        </p:txBody>
      </p:sp>
      <p:sp>
        <p:nvSpPr>
          <p:cNvPr id="6" name="Text Box 4"/>
          <p:cNvSpPr txBox="1">
            <a:spLocks noChangeArrowheads="1"/>
          </p:cNvSpPr>
          <p:nvPr/>
        </p:nvSpPr>
        <p:spPr bwMode="auto">
          <a:xfrm>
            <a:off x="4049486" y="6172200"/>
            <a:ext cx="47815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p:cNvSpPr>
            <a:spLocks noGrp="1" noChangeArrowheads="1"/>
          </p:cNvSpPr>
          <p:nvPr>
            <p:ph type="title"/>
          </p:nvPr>
        </p:nvSpPr>
        <p:spPr/>
        <p:txBody>
          <a:bodyPr/>
          <a:lstStyle/>
          <a:p>
            <a:pPr eaLnBrk="1" hangingPunct="1"/>
            <a:r>
              <a:rPr lang="en-GB" sz="2000" dirty="0" smtClean="0"/>
              <a:t>INFERENCES ABOUT THE DIFFERENCE BETWEEN TWO POPULATION MEANS FOR INDEPENDENT SAMPLES: </a:t>
            </a:r>
            <a:r>
              <a:rPr lang="el-GR" sz="2000" dirty="0" smtClean="0">
                <a:latin typeface="Verdana"/>
                <a:ea typeface="Verdana"/>
                <a:cs typeface="Verdana"/>
              </a:rPr>
              <a:t>σ</a:t>
            </a:r>
            <a:r>
              <a:rPr lang="en-GB" sz="2000" baseline="-25000" dirty="0" smtClean="0">
                <a:sym typeface="Mathematica1" pitchFamily="2" charset="2"/>
              </a:rPr>
              <a:t>1</a:t>
            </a:r>
            <a:r>
              <a:rPr lang="en-GB" sz="2000" dirty="0" smtClean="0">
                <a:sym typeface="Mathematica1" pitchFamily="2" charset="2"/>
              </a:rPr>
              <a:t> AND </a:t>
            </a:r>
            <a:r>
              <a:rPr lang="el-GR" sz="2000" dirty="0" smtClean="0">
                <a:latin typeface="Verdana"/>
                <a:ea typeface="Verdana"/>
                <a:cs typeface="Verdana"/>
              </a:rPr>
              <a:t>σ</a:t>
            </a:r>
            <a:r>
              <a:rPr lang="en-GB" sz="2000" baseline="-25000" dirty="0" smtClean="0">
                <a:sym typeface="Mathematica1" pitchFamily="2" charset="2"/>
              </a:rPr>
              <a:t>2</a:t>
            </a:r>
            <a:r>
              <a:rPr lang="en-GB" sz="2000" dirty="0" smtClean="0">
                <a:sym typeface="Mathematica1" pitchFamily="2" charset="2"/>
              </a:rPr>
              <a:t> UNKNOWN AND UN</a:t>
            </a:r>
            <a:r>
              <a:rPr lang="en-GB" sz="2000" dirty="0" smtClean="0"/>
              <a:t>EQUAL</a:t>
            </a:r>
            <a:endParaRPr lang="en-US" sz="2000" dirty="0" smtClean="0"/>
          </a:p>
        </p:txBody>
      </p:sp>
      <p:sp>
        <p:nvSpPr>
          <p:cNvPr id="93187" name="Rectangle 3"/>
          <p:cNvSpPr>
            <a:spLocks noGrp="1" noChangeArrowheads="1"/>
          </p:cNvSpPr>
          <p:nvPr>
            <p:ph type="body" idx="1"/>
          </p:nvPr>
        </p:nvSpPr>
        <p:spPr>
          <a:xfrm>
            <a:off x="381000" y="1563687"/>
            <a:ext cx="8116888" cy="2779713"/>
          </a:xfrm>
        </p:spPr>
        <p:txBody>
          <a:bodyPr/>
          <a:lstStyle/>
          <a:p>
            <a:pPr eaLnBrk="1" hangingPunct="1"/>
            <a:r>
              <a:rPr lang="en-US" sz="2000" dirty="0" smtClean="0"/>
              <a:t>Interval Estimation of </a:t>
            </a:r>
            <a:r>
              <a:rPr lang="el-GR" sz="2000" dirty="0" smtClean="0">
                <a:latin typeface="Times New Roman" charset="0"/>
                <a:cs typeface="Times New Roman" charset="0"/>
              </a:rPr>
              <a:t>μ</a:t>
            </a:r>
            <a:r>
              <a:rPr lang="en-US" sz="2000" baseline="-25000" dirty="0" smtClean="0"/>
              <a:t>1</a:t>
            </a:r>
            <a:r>
              <a:rPr lang="en-US" sz="2000" dirty="0" smtClean="0"/>
              <a:t> – </a:t>
            </a:r>
            <a:r>
              <a:rPr lang="el-GR" sz="2000" dirty="0" smtClean="0">
                <a:latin typeface="Times New Roman" charset="0"/>
                <a:cs typeface="Times New Roman" charset="0"/>
              </a:rPr>
              <a:t>μ</a:t>
            </a:r>
            <a:r>
              <a:rPr lang="en-US" sz="2000" baseline="-25000" dirty="0" smtClean="0"/>
              <a:t>2</a:t>
            </a:r>
          </a:p>
          <a:p>
            <a:pPr eaLnBrk="1" hangingPunct="1"/>
            <a:r>
              <a:rPr lang="en-US" sz="2000" dirty="0" smtClean="0"/>
              <a:t>Hypothesis Testing About </a:t>
            </a:r>
            <a:r>
              <a:rPr lang="el-GR" sz="2000" dirty="0" smtClean="0">
                <a:latin typeface="Times New Roman" charset="0"/>
                <a:cs typeface="Times New Roman" charset="0"/>
              </a:rPr>
              <a:t>μ</a:t>
            </a:r>
            <a:r>
              <a:rPr lang="en-US" sz="2000" baseline="-25000" dirty="0" smtClean="0"/>
              <a:t>1</a:t>
            </a:r>
            <a:r>
              <a:rPr lang="en-US" sz="2000" dirty="0" smtClean="0"/>
              <a:t> – </a:t>
            </a:r>
            <a:r>
              <a:rPr lang="el-GR" sz="2000" dirty="0" smtClean="0">
                <a:latin typeface="Times New Roman" charset="0"/>
                <a:cs typeface="Times New Roman" charset="0"/>
              </a:rPr>
              <a:t>μ</a:t>
            </a:r>
            <a:r>
              <a:rPr lang="en-US" sz="2000" baseline="-25000" dirty="0" smtClean="0"/>
              <a:t>2</a:t>
            </a:r>
            <a:endParaRPr lang="en-US" sz="2000" dirty="0" smtClean="0"/>
          </a:p>
        </p:txBody>
      </p:sp>
      <p:sp>
        <p:nvSpPr>
          <p:cNvPr id="7" name="Text Box 4"/>
          <p:cNvSpPr txBox="1">
            <a:spLocks noChangeArrowheads="1"/>
          </p:cNvSpPr>
          <p:nvPr/>
        </p:nvSpPr>
        <p:spPr bwMode="auto">
          <a:xfrm>
            <a:off x="4049486" y="6172200"/>
            <a:ext cx="47815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pic>
        <p:nvPicPr>
          <p:cNvPr id="2" name="Picture 1"/>
          <p:cNvPicPr>
            <a:picLocks noChangeAspect="1"/>
          </p:cNvPicPr>
          <p:nvPr/>
        </p:nvPicPr>
        <p:blipFill rotWithShape="1">
          <a:blip r:embed="rId2">
            <a:extLst>
              <a:ext uri="{28A0092B-C50C-407E-A947-70E740481C1C}">
                <a14:useLocalDpi xmlns:a14="http://schemas.microsoft.com/office/drawing/2010/main" val="0"/>
              </a:ext>
            </a:extLst>
          </a:blip>
          <a:srcRect t="10152"/>
          <a:stretch/>
        </p:blipFill>
        <p:spPr>
          <a:xfrm>
            <a:off x="0" y="42992"/>
            <a:ext cx="9144000" cy="1328608"/>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ChangeArrowheads="1"/>
          </p:cNvSpPr>
          <p:nvPr>
            <p:ph type="title"/>
          </p:nvPr>
        </p:nvSpPr>
        <p:spPr/>
        <p:txBody>
          <a:bodyPr/>
          <a:lstStyle/>
          <a:p>
            <a:pPr eaLnBrk="1" hangingPunct="1"/>
            <a:r>
              <a:rPr lang="en-GB" sz="2000" smtClean="0"/>
              <a:t>INFERENCES ABOUT THE DIFFERENCE BETWEEN TWO POPULATION MEANS FOR INDEPENDENT SAMPLES: σ</a:t>
            </a:r>
            <a:r>
              <a:rPr lang="en-GB" sz="2000" baseline="-25000" smtClean="0">
                <a:sym typeface="Mathematica1" pitchFamily="2" charset="2"/>
              </a:rPr>
              <a:t>1</a:t>
            </a:r>
            <a:r>
              <a:rPr lang="en-GB" sz="2000" smtClean="0">
                <a:sym typeface="Mathematica1" pitchFamily="2" charset="2"/>
              </a:rPr>
              <a:t> AND σ</a:t>
            </a:r>
            <a:r>
              <a:rPr lang="en-GB" sz="2000" baseline="-25000" smtClean="0">
                <a:sym typeface="Mathematica1" pitchFamily="2" charset="2"/>
              </a:rPr>
              <a:t>2</a:t>
            </a:r>
            <a:r>
              <a:rPr lang="en-GB" sz="2000" smtClean="0">
                <a:sym typeface="Mathematica1" pitchFamily="2" charset="2"/>
              </a:rPr>
              <a:t> UNKNOWN AND UN</a:t>
            </a:r>
            <a:r>
              <a:rPr lang="en-GB" sz="2000" smtClean="0"/>
              <a:t>EQUAL</a:t>
            </a:r>
            <a:endParaRPr lang="en-US" sz="2000" smtClean="0"/>
          </a:p>
        </p:txBody>
      </p:sp>
      <p:sp>
        <p:nvSpPr>
          <p:cNvPr id="94211" name="Rectangle 3"/>
          <p:cNvSpPr>
            <a:spLocks noGrp="1" noChangeArrowheads="1"/>
          </p:cNvSpPr>
          <p:nvPr>
            <p:ph type="body" idx="1"/>
          </p:nvPr>
        </p:nvSpPr>
        <p:spPr>
          <a:xfrm>
            <a:off x="533400" y="1543050"/>
            <a:ext cx="8286750" cy="3486150"/>
          </a:xfrm>
        </p:spPr>
        <p:txBody>
          <a:bodyPr/>
          <a:lstStyle/>
          <a:p>
            <a:pPr eaLnBrk="1" hangingPunct="1">
              <a:lnSpc>
                <a:spcPct val="90000"/>
              </a:lnSpc>
              <a:buFont typeface="Tahoma" charset="0"/>
              <a:buNone/>
            </a:pPr>
            <a:r>
              <a:rPr lang="en-US" sz="2000" dirty="0" smtClean="0">
                <a:solidFill>
                  <a:schemeClr val="folHlink"/>
                </a:solidFill>
              </a:rPr>
              <a:t>Degrees of Freedom   </a:t>
            </a:r>
            <a:r>
              <a:rPr lang="en-US" sz="2000" dirty="0" smtClean="0"/>
              <a:t>If</a:t>
            </a:r>
          </a:p>
          <a:p>
            <a:pPr eaLnBrk="1" hangingPunct="1">
              <a:lnSpc>
                <a:spcPct val="90000"/>
              </a:lnSpc>
              <a:buFont typeface="Tahoma" charset="0"/>
              <a:buNone/>
            </a:pPr>
            <a:r>
              <a:rPr lang="en-US" sz="2000" dirty="0" smtClean="0"/>
              <a:t>   1. The two samples are independent </a:t>
            </a:r>
          </a:p>
          <a:p>
            <a:pPr eaLnBrk="1" hangingPunct="1">
              <a:lnSpc>
                <a:spcPct val="90000"/>
              </a:lnSpc>
              <a:buFont typeface="Tahoma" charset="0"/>
              <a:buNone/>
            </a:pPr>
            <a:r>
              <a:rPr lang="en-US" sz="2000" dirty="0"/>
              <a:t> </a:t>
            </a:r>
            <a:r>
              <a:rPr lang="en-US" sz="2000" dirty="0" smtClean="0"/>
              <a:t>  2. The standard deviations σ</a:t>
            </a:r>
            <a:r>
              <a:rPr lang="en-GB" sz="2000" baseline="-25000" dirty="0" smtClean="0">
                <a:sym typeface="Mathematica1" pitchFamily="2" charset="2"/>
              </a:rPr>
              <a:t>1</a:t>
            </a:r>
            <a:r>
              <a:rPr lang="en-GB" sz="2000" dirty="0" smtClean="0">
                <a:sym typeface="Mathematica1" pitchFamily="2" charset="2"/>
              </a:rPr>
              <a:t> and σ</a:t>
            </a:r>
            <a:r>
              <a:rPr lang="en-GB" sz="2000" baseline="-25000" dirty="0" smtClean="0">
                <a:sym typeface="Mathematica1" pitchFamily="2" charset="2"/>
              </a:rPr>
              <a:t>2</a:t>
            </a:r>
            <a:r>
              <a:rPr lang="en-GB" sz="2000" dirty="0" smtClean="0">
                <a:sym typeface="Mathematica1" pitchFamily="2" charset="2"/>
              </a:rPr>
              <a:t> </a:t>
            </a:r>
            <a:r>
              <a:rPr lang="en-US" sz="2000" dirty="0" smtClean="0"/>
              <a:t>of the two populations are unknown and unequal</a:t>
            </a:r>
          </a:p>
          <a:p>
            <a:pPr eaLnBrk="1" hangingPunct="1">
              <a:lnSpc>
                <a:spcPct val="90000"/>
              </a:lnSpc>
              <a:buFont typeface="Tahoma" charset="0"/>
              <a:buNone/>
            </a:pPr>
            <a:r>
              <a:rPr lang="en-US" sz="2000" dirty="0"/>
              <a:t> </a:t>
            </a:r>
            <a:r>
              <a:rPr lang="en-US" sz="2000" dirty="0" smtClean="0"/>
              <a:t>  3. At least one of the following two conditions is fulfilled:</a:t>
            </a:r>
          </a:p>
          <a:p>
            <a:pPr lvl="1" eaLnBrk="1" hangingPunct="1">
              <a:lnSpc>
                <a:spcPct val="90000"/>
              </a:lnSpc>
              <a:buFont typeface="Wingdings" charset="2"/>
              <a:buNone/>
            </a:pPr>
            <a:r>
              <a:rPr lang="en-US" sz="2000" dirty="0" smtClean="0"/>
              <a:t>    </a:t>
            </a:r>
            <a:r>
              <a:rPr lang="en-US" sz="2000" dirty="0" err="1" smtClean="0"/>
              <a:t>i</a:t>
            </a:r>
            <a:r>
              <a:rPr lang="en-US" sz="2000" dirty="0" smtClean="0"/>
              <a:t>. Both samples are large (i.e., </a:t>
            </a:r>
            <a:r>
              <a:rPr lang="en-US" sz="2000" i="1" dirty="0" smtClean="0">
                <a:latin typeface="Times New Roman" charset="0"/>
              </a:rPr>
              <a:t>n</a:t>
            </a:r>
            <a:r>
              <a:rPr lang="en-US" sz="2000" baseline="-25000" dirty="0" smtClean="0"/>
              <a:t>1</a:t>
            </a:r>
            <a:r>
              <a:rPr lang="en-US" sz="2000" dirty="0" smtClean="0"/>
              <a:t> ≥</a:t>
            </a:r>
            <a:r>
              <a:rPr lang="en-US" sz="2000" dirty="0" smtClean="0">
                <a:sym typeface="Mathematica1" pitchFamily="2" charset="2"/>
              </a:rPr>
              <a:t> </a:t>
            </a:r>
            <a:r>
              <a:rPr lang="en-US" sz="2000" dirty="0" smtClean="0"/>
              <a:t>30 and </a:t>
            </a:r>
            <a:r>
              <a:rPr lang="en-US" sz="2000" i="1" dirty="0" smtClean="0">
                <a:latin typeface="Times New Roman" charset="0"/>
              </a:rPr>
              <a:t>n</a:t>
            </a:r>
            <a:r>
              <a:rPr lang="en-US" sz="2000" baseline="-25000" dirty="0" smtClean="0"/>
              <a:t>2</a:t>
            </a:r>
            <a:r>
              <a:rPr lang="en-US" sz="2000" dirty="0" smtClean="0"/>
              <a:t> ≥</a:t>
            </a:r>
            <a:r>
              <a:rPr lang="en-US" sz="2000" dirty="0" smtClean="0">
                <a:sym typeface="Mathematica1" pitchFamily="2" charset="2"/>
              </a:rPr>
              <a:t> </a:t>
            </a:r>
            <a:r>
              <a:rPr lang="en-US" sz="2000" dirty="0" smtClean="0"/>
              <a:t>30) </a:t>
            </a:r>
          </a:p>
          <a:p>
            <a:pPr lvl="1" eaLnBrk="1" hangingPunct="1">
              <a:lnSpc>
                <a:spcPct val="90000"/>
              </a:lnSpc>
              <a:buFont typeface="Wingdings" charset="2"/>
              <a:buNone/>
            </a:pPr>
            <a:r>
              <a:rPr lang="en-US" sz="2000" dirty="0" smtClean="0"/>
              <a:t>    ii. If either one or both sample sizes are small, then </a:t>
            </a:r>
          </a:p>
          <a:p>
            <a:pPr lvl="1" eaLnBrk="1" hangingPunct="1">
              <a:lnSpc>
                <a:spcPct val="90000"/>
              </a:lnSpc>
              <a:buFont typeface="Wingdings" charset="2"/>
              <a:buNone/>
            </a:pPr>
            <a:r>
              <a:rPr lang="en-US" sz="2000" dirty="0"/>
              <a:t> </a:t>
            </a:r>
            <a:r>
              <a:rPr lang="en-US" sz="2000" dirty="0" smtClean="0"/>
              <a:t>      both populations from which the samples are drawn </a:t>
            </a:r>
          </a:p>
          <a:p>
            <a:pPr lvl="1" eaLnBrk="1" hangingPunct="1">
              <a:lnSpc>
                <a:spcPct val="90000"/>
              </a:lnSpc>
              <a:buFont typeface="Wingdings" charset="2"/>
              <a:buNone/>
            </a:pPr>
            <a:r>
              <a:rPr lang="en-US" sz="2000" dirty="0"/>
              <a:t> </a:t>
            </a:r>
            <a:r>
              <a:rPr lang="en-US" sz="2000" dirty="0" smtClean="0"/>
              <a:t>      are normally distributed… (continued on next slide)</a:t>
            </a:r>
          </a:p>
        </p:txBody>
      </p:sp>
      <p:sp>
        <p:nvSpPr>
          <p:cNvPr id="6" name="Text Box 4"/>
          <p:cNvSpPr txBox="1">
            <a:spLocks noChangeArrowheads="1"/>
          </p:cNvSpPr>
          <p:nvPr/>
        </p:nvSpPr>
        <p:spPr bwMode="auto">
          <a:xfrm>
            <a:off x="4049486" y="6172200"/>
            <a:ext cx="47815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2"/>
          <p:cNvSpPr>
            <a:spLocks noGrp="1" noChangeArrowheads="1"/>
          </p:cNvSpPr>
          <p:nvPr>
            <p:ph type="title"/>
          </p:nvPr>
        </p:nvSpPr>
        <p:spPr/>
        <p:txBody>
          <a:bodyPr/>
          <a:lstStyle/>
          <a:p>
            <a:pPr eaLnBrk="1" hangingPunct="1"/>
            <a:r>
              <a:rPr lang="en-GB" sz="2000" smtClean="0"/>
              <a:t>INFERENCES ABOUT THE DIFFERENCE BETWEEN TWO POPULATION MEANS FOR INDEPENDENT SAMPLES: σ</a:t>
            </a:r>
            <a:r>
              <a:rPr lang="en-GB" sz="2000" baseline="-25000" smtClean="0">
                <a:sym typeface="Mathematica1" pitchFamily="2" charset="2"/>
              </a:rPr>
              <a:t>1</a:t>
            </a:r>
            <a:r>
              <a:rPr lang="en-GB" sz="2000" smtClean="0">
                <a:sym typeface="Mathematica1" pitchFamily="2" charset="2"/>
              </a:rPr>
              <a:t> AND σ</a:t>
            </a:r>
            <a:r>
              <a:rPr lang="en-GB" sz="2000" baseline="-25000" smtClean="0">
                <a:sym typeface="Mathematica1" pitchFamily="2" charset="2"/>
              </a:rPr>
              <a:t>2</a:t>
            </a:r>
            <a:r>
              <a:rPr lang="en-GB" sz="2000" smtClean="0">
                <a:sym typeface="Mathematica1" pitchFamily="2" charset="2"/>
              </a:rPr>
              <a:t> UNKNOWN AND UN</a:t>
            </a:r>
            <a:r>
              <a:rPr lang="en-GB" sz="2000" smtClean="0"/>
              <a:t>EQUAL</a:t>
            </a:r>
            <a:endParaRPr lang="en-US" sz="2000" smtClean="0"/>
          </a:p>
        </p:txBody>
      </p:sp>
      <p:sp>
        <p:nvSpPr>
          <p:cNvPr id="16388" name="Rectangle 3"/>
          <p:cNvSpPr>
            <a:spLocks noGrp="1" noChangeArrowheads="1"/>
          </p:cNvSpPr>
          <p:nvPr>
            <p:ph type="body" idx="1"/>
          </p:nvPr>
        </p:nvSpPr>
        <p:spPr>
          <a:xfrm>
            <a:off x="131762" y="1524000"/>
            <a:ext cx="8555038" cy="4840288"/>
          </a:xfrm>
        </p:spPr>
        <p:txBody>
          <a:bodyPr/>
          <a:lstStyle/>
          <a:p>
            <a:pPr eaLnBrk="1" hangingPunct="1">
              <a:buFont typeface="Wingdings" charset="2"/>
              <a:buChar char=" "/>
            </a:pPr>
            <a:r>
              <a:rPr lang="en-US" sz="2000" dirty="0" smtClean="0">
                <a:solidFill>
                  <a:schemeClr val="folHlink"/>
                </a:solidFill>
              </a:rPr>
              <a:t>Degrees of Freedom</a:t>
            </a:r>
            <a:endParaRPr lang="en-US" sz="2000" dirty="0" smtClean="0"/>
          </a:p>
          <a:p>
            <a:pPr eaLnBrk="1" hangingPunct="1">
              <a:buFont typeface="Wingdings" charset="2"/>
              <a:buChar char=" "/>
            </a:pPr>
            <a:r>
              <a:rPr lang="en-US" sz="2000" dirty="0" smtClean="0"/>
              <a:t>then the </a:t>
            </a:r>
            <a:r>
              <a:rPr lang="en-US" sz="2000" i="1" dirty="0" smtClean="0">
                <a:latin typeface="Times New Roman" charset="0"/>
              </a:rPr>
              <a:t>t </a:t>
            </a:r>
            <a:r>
              <a:rPr lang="en-US" sz="2000" dirty="0" smtClean="0"/>
              <a:t>distribution is used to make inferences about </a:t>
            </a:r>
            <a:r>
              <a:rPr lang="el-GR" sz="2000" dirty="0" smtClean="0">
                <a:latin typeface="Times New Roman" charset="0"/>
                <a:cs typeface="Times New Roman" charset="0"/>
              </a:rPr>
              <a:t>μ</a:t>
            </a:r>
            <a:r>
              <a:rPr lang="en-GB" sz="2000" baseline="-25000" dirty="0" smtClean="0">
                <a:cs typeface="Times New Roman" charset="0"/>
              </a:rPr>
              <a:t>1</a:t>
            </a:r>
            <a:r>
              <a:rPr lang="en-GB" sz="2000" dirty="0" smtClean="0">
                <a:cs typeface="Times New Roman" charset="0"/>
              </a:rPr>
              <a:t> – </a:t>
            </a:r>
            <a:r>
              <a:rPr lang="el-GR" sz="2000" dirty="0" smtClean="0">
                <a:latin typeface="Times New Roman" charset="0"/>
                <a:cs typeface="Times New Roman" charset="0"/>
              </a:rPr>
              <a:t>μ</a:t>
            </a:r>
            <a:r>
              <a:rPr lang="en-GB" sz="2000" baseline="-25000" dirty="0" smtClean="0">
                <a:cs typeface="Times New Roman" charset="0"/>
              </a:rPr>
              <a:t>2 </a:t>
            </a:r>
            <a:r>
              <a:rPr lang="en-GB" sz="2000" dirty="0" smtClean="0">
                <a:cs typeface="Times New Roman" charset="0"/>
              </a:rPr>
              <a:t>and the </a:t>
            </a:r>
            <a:r>
              <a:rPr lang="en-GB" sz="2000" b="1" i="1" u="sng" dirty="0" smtClean="0">
                <a:solidFill>
                  <a:schemeClr val="hlink"/>
                </a:solidFill>
                <a:cs typeface="Times New Roman" charset="0"/>
              </a:rPr>
              <a:t>degrees of freedom</a:t>
            </a:r>
            <a:r>
              <a:rPr lang="en-GB" sz="2000" dirty="0" smtClean="0">
                <a:cs typeface="Times New Roman" charset="0"/>
              </a:rPr>
              <a:t> for the </a:t>
            </a:r>
            <a:r>
              <a:rPr lang="en-GB" sz="2000" i="1" dirty="0" smtClean="0">
                <a:latin typeface="Times New Roman" charset="0"/>
                <a:cs typeface="Times New Roman" charset="0"/>
              </a:rPr>
              <a:t>t</a:t>
            </a:r>
            <a:r>
              <a:rPr lang="en-GB" sz="2000" dirty="0" smtClean="0">
                <a:cs typeface="Times New Roman" charset="0"/>
              </a:rPr>
              <a:t> distribution are given by</a:t>
            </a:r>
          </a:p>
          <a:p>
            <a:pPr eaLnBrk="1" hangingPunct="1">
              <a:buFont typeface="Wingdings" charset="2"/>
              <a:buChar char=" "/>
            </a:pPr>
            <a:endParaRPr lang="en-GB" sz="2000" dirty="0" smtClean="0">
              <a:cs typeface="Times New Roman" charset="0"/>
            </a:endParaRPr>
          </a:p>
          <a:p>
            <a:pPr eaLnBrk="1" hangingPunct="1">
              <a:buFont typeface="Wingdings" charset="2"/>
              <a:buChar char=" "/>
            </a:pPr>
            <a:endParaRPr lang="en-GB" sz="2000" dirty="0" smtClean="0">
              <a:cs typeface="Times New Roman" charset="0"/>
            </a:endParaRPr>
          </a:p>
          <a:p>
            <a:pPr eaLnBrk="1" hangingPunct="1">
              <a:buFont typeface="Wingdings" charset="2"/>
              <a:buChar char=" "/>
            </a:pPr>
            <a:endParaRPr lang="en-GB" sz="2000" dirty="0" smtClean="0">
              <a:cs typeface="Times New Roman" charset="0"/>
            </a:endParaRPr>
          </a:p>
          <a:p>
            <a:pPr eaLnBrk="1" hangingPunct="1">
              <a:buFont typeface="Wingdings" charset="2"/>
              <a:buChar char=" "/>
            </a:pPr>
            <a:endParaRPr lang="en-GB" sz="2000" dirty="0" smtClean="0">
              <a:cs typeface="Times New Roman" charset="0"/>
            </a:endParaRPr>
          </a:p>
          <a:p>
            <a:pPr eaLnBrk="1" hangingPunct="1">
              <a:buFont typeface="Wingdings" charset="2"/>
              <a:buChar char=" "/>
            </a:pPr>
            <a:endParaRPr lang="en-GB" sz="2000" dirty="0" smtClean="0">
              <a:cs typeface="Times New Roman" charset="0"/>
            </a:endParaRPr>
          </a:p>
          <a:p>
            <a:pPr eaLnBrk="1" hangingPunct="1">
              <a:buFont typeface="Wingdings" charset="2"/>
              <a:buChar char=" "/>
            </a:pPr>
            <a:endParaRPr lang="en-GB" sz="2000" dirty="0" smtClean="0">
              <a:cs typeface="Times New Roman" charset="0"/>
            </a:endParaRPr>
          </a:p>
          <a:p>
            <a:pPr eaLnBrk="1" hangingPunct="1">
              <a:buFont typeface="Wingdings" charset="2"/>
              <a:buChar char=" "/>
            </a:pPr>
            <a:endParaRPr lang="en-GB" sz="2000" dirty="0" smtClean="0">
              <a:cs typeface="Times New Roman" charset="0"/>
            </a:endParaRPr>
          </a:p>
          <a:p>
            <a:pPr eaLnBrk="1" hangingPunct="1">
              <a:buFont typeface="Wingdings" charset="2"/>
              <a:buChar char=" "/>
            </a:pPr>
            <a:r>
              <a:rPr lang="en-GB" sz="2000" dirty="0" smtClean="0">
                <a:cs typeface="Times New Roman" charset="0"/>
              </a:rPr>
              <a:t>The number given by this formula is always rounded down for </a:t>
            </a:r>
            <a:r>
              <a:rPr lang="en-GB" sz="2000" i="1" dirty="0" err="1" smtClean="0">
                <a:latin typeface="Times New Roman" charset="0"/>
                <a:cs typeface="Times New Roman" charset="0"/>
              </a:rPr>
              <a:t>df</a:t>
            </a:r>
            <a:r>
              <a:rPr lang="en-GB" sz="2000" dirty="0" smtClean="0">
                <a:cs typeface="Times New Roman" charset="0"/>
              </a:rPr>
              <a:t>.</a:t>
            </a:r>
            <a:endParaRPr lang="en-US" sz="2000" dirty="0" smtClean="0">
              <a:cs typeface="Times New Roman" charset="0"/>
            </a:endParaRPr>
          </a:p>
        </p:txBody>
      </p:sp>
      <p:graphicFrame>
        <p:nvGraphicFramePr>
          <p:cNvPr id="16386" name="Object 2"/>
          <p:cNvGraphicFramePr>
            <a:graphicFrameLocks noChangeAspect="1"/>
          </p:cNvGraphicFramePr>
          <p:nvPr>
            <p:extLst>
              <p:ext uri="{D42A27DB-BD31-4B8C-83A1-F6EECF244321}">
                <p14:modId xmlns:p14="http://schemas.microsoft.com/office/powerpoint/2010/main" val="2718128618"/>
              </p:ext>
            </p:extLst>
          </p:nvPr>
        </p:nvGraphicFramePr>
        <p:xfrm>
          <a:off x="2863850" y="2895600"/>
          <a:ext cx="3079750" cy="2291368"/>
        </p:xfrm>
        <a:graphic>
          <a:graphicData uri="http://schemas.openxmlformats.org/presentationml/2006/ole">
            <mc:AlternateContent xmlns:mc="http://schemas.openxmlformats.org/markup-compatibility/2006">
              <mc:Choice xmlns:v="urn:schemas-microsoft-com:vml" Requires="v">
                <p:oleObj spid="_x0000_s16432" name="Equation" r:id="rId3" imgW="1396800" imgH="1193760" progId="">
                  <p:embed/>
                </p:oleObj>
              </mc:Choice>
              <mc:Fallback>
                <p:oleObj name="Equation" r:id="rId3" imgW="1396800" imgH="1193760" progId="">
                  <p:embed/>
                  <p:pic>
                    <p:nvPicPr>
                      <p:cNvPr id="0" name="Picture 3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63850" y="2895600"/>
                        <a:ext cx="3079750" cy="229136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Text Box 4"/>
          <p:cNvSpPr txBox="1">
            <a:spLocks noChangeArrowheads="1"/>
          </p:cNvSpPr>
          <p:nvPr/>
        </p:nvSpPr>
        <p:spPr bwMode="auto">
          <a:xfrm>
            <a:off x="4049486" y="6172200"/>
            <a:ext cx="47815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2" name="Rectangle 2"/>
          <p:cNvSpPr>
            <a:spLocks noGrp="1" noChangeArrowheads="1"/>
          </p:cNvSpPr>
          <p:nvPr>
            <p:ph type="title"/>
          </p:nvPr>
        </p:nvSpPr>
        <p:spPr/>
        <p:txBody>
          <a:bodyPr/>
          <a:lstStyle/>
          <a:p>
            <a:pPr eaLnBrk="1" hangingPunct="1"/>
            <a:r>
              <a:rPr lang="en-GB" sz="2000" smtClean="0"/>
              <a:t>INFERENCES ABOUT THE DIFFERENCE BETWEEN TWO POPULATION MEANS FOR INDEPENDENT SAMPLES: σ</a:t>
            </a:r>
            <a:r>
              <a:rPr lang="en-GB" sz="2000" baseline="-25000" smtClean="0">
                <a:sym typeface="Mathematica1" pitchFamily="2" charset="2"/>
              </a:rPr>
              <a:t>1</a:t>
            </a:r>
            <a:r>
              <a:rPr lang="en-GB" sz="2000" smtClean="0">
                <a:sym typeface="Mathematica1" pitchFamily="2" charset="2"/>
              </a:rPr>
              <a:t> AND σ</a:t>
            </a:r>
            <a:r>
              <a:rPr lang="en-GB" sz="2000" baseline="-25000" smtClean="0">
                <a:sym typeface="Mathematica1" pitchFamily="2" charset="2"/>
              </a:rPr>
              <a:t>2</a:t>
            </a:r>
            <a:r>
              <a:rPr lang="en-GB" sz="2000" smtClean="0">
                <a:sym typeface="Mathematica1" pitchFamily="2" charset="2"/>
              </a:rPr>
              <a:t> UNKNOWN AND UN</a:t>
            </a:r>
            <a:r>
              <a:rPr lang="en-GB" sz="2000" smtClean="0"/>
              <a:t>EQUAL</a:t>
            </a:r>
            <a:endParaRPr lang="en-US" sz="2000" smtClean="0"/>
          </a:p>
        </p:txBody>
      </p:sp>
      <p:sp>
        <p:nvSpPr>
          <p:cNvPr id="17413" name="Rectangle 3"/>
          <p:cNvSpPr>
            <a:spLocks noGrp="1" noChangeArrowheads="1"/>
          </p:cNvSpPr>
          <p:nvPr>
            <p:ph type="body" idx="1"/>
          </p:nvPr>
        </p:nvSpPr>
        <p:spPr>
          <a:xfrm>
            <a:off x="476250" y="1524000"/>
            <a:ext cx="8153400" cy="4114800"/>
          </a:xfrm>
        </p:spPr>
        <p:txBody>
          <a:bodyPr/>
          <a:lstStyle/>
          <a:p>
            <a:pPr eaLnBrk="1" hangingPunct="1">
              <a:buFont typeface="Wingdings" charset="2"/>
              <a:buNone/>
            </a:pPr>
            <a:r>
              <a:rPr lang="en-US" sz="2000" dirty="0" smtClean="0">
                <a:solidFill>
                  <a:schemeClr val="folHlink"/>
                </a:solidFill>
              </a:rPr>
              <a:t>Estimate of the Standard Deviation of  x</a:t>
            </a:r>
            <a:r>
              <a:rPr lang="en-US" sz="2000" baseline="-25000" dirty="0" smtClean="0">
                <a:solidFill>
                  <a:schemeClr val="folHlink"/>
                </a:solidFill>
              </a:rPr>
              <a:t>1</a:t>
            </a:r>
            <a:r>
              <a:rPr lang="en-US" sz="2000" dirty="0" smtClean="0">
                <a:solidFill>
                  <a:schemeClr val="folHlink"/>
                </a:solidFill>
              </a:rPr>
              <a:t> – x</a:t>
            </a:r>
            <a:r>
              <a:rPr lang="en-US" sz="2000" baseline="-25000" dirty="0" smtClean="0">
                <a:solidFill>
                  <a:schemeClr val="folHlink"/>
                </a:solidFill>
              </a:rPr>
              <a:t>2</a:t>
            </a:r>
            <a:endParaRPr lang="en-US" sz="2000" dirty="0" smtClean="0">
              <a:solidFill>
                <a:schemeClr val="folHlink"/>
              </a:solidFill>
            </a:endParaRPr>
          </a:p>
          <a:p>
            <a:pPr eaLnBrk="1" hangingPunct="1">
              <a:buFont typeface="Wingdings" charset="2"/>
              <a:buNone/>
            </a:pPr>
            <a:r>
              <a:rPr lang="en-US" sz="2000" dirty="0" smtClean="0"/>
              <a:t>The value of             , is calculated as</a:t>
            </a:r>
          </a:p>
          <a:p>
            <a:pPr eaLnBrk="1" hangingPunct="1"/>
            <a:endParaRPr lang="en-US" sz="2000" dirty="0" smtClean="0"/>
          </a:p>
          <a:p>
            <a:pPr eaLnBrk="1" hangingPunct="1"/>
            <a:endParaRPr lang="en-US" sz="2000" dirty="0" smtClean="0"/>
          </a:p>
          <a:p>
            <a:pPr eaLnBrk="1" hangingPunct="1"/>
            <a:endParaRPr lang="en-US" sz="2000" dirty="0" smtClean="0"/>
          </a:p>
        </p:txBody>
      </p:sp>
      <p:graphicFrame>
        <p:nvGraphicFramePr>
          <p:cNvPr id="17410" name="Object 2"/>
          <p:cNvGraphicFramePr>
            <a:graphicFrameLocks noChangeAspect="1"/>
          </p:cNvGraphicFramePr>
          <p:nvPr>
            <p:extLst>
              <p:ext uri="{D42A27DB-BD31-4B8C-83A1-F6EECF244321}">
                <p14:modId xmlns:p14="http://schemas.microsoft.com/office/powerpoint/2010/main" val="420364926"/>
              </p:ext>
            </p:extLst>
          </p:nvPr>
        </p:nvGraphicFramePr>
        <p:xfrm>
          <a:off x="2743200" y="2514600"/>
          <a:ext cx="2694781" cy="1118211"/>
        </p:xfrm>
        <a:graphic>
          <a:graphicData uri="http://schemas.openxmlformats.org/presentationml/2006/ole">
            <mc:AlternateContent xmlns:mc="http://schemas.openxmlformats.org/markup-compatibility/2006">
              <mc:Choice xmlns:v="urn:schemas-microsoft-com:vml" Requires="v">
                <p:oleObj spid="_x0000_s17501" name="Equation" r:id="rId3" imgW="1193760" imgH="495000" progId="">
                  <p:embed/>
                </p:oleObj>
              </mc:Choice>
              <mc:Fallback>
                <p:oleObj name="Equation" r:id="rId3" imgW="1193760" imgH="495000" progId="">
                  <p:embed/>
                  <p:pic>
                    <p:nvPicPr>
                      <p:cNvPr id="0" name="Picture 7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43200" y="2514600"/>
                        <a:ext cx="2694781" cy="111821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7411" name="Object 3"/>
          <p:cNvGraphicFramePr>
            <a:graphicFrameLocks noChangeAspect="1"/>
          </p:cNvGraphicFramePr>
          <p:nvPr>
            <p:extLst>
              <p:ext uri="{D42A27DB-BD31-4B8C-83A1-F6EECF244321}">
                <p14:modId xmlns:p14="http://schemas.microsoft.com/office/powerpoint/2010/main" val="2777057709"/>
              </p:ext>
            </p:extLst>
          </p:nvPr>
        </p:nvGraphicFramePr>
        <p:xfrm>
          <a:off x="2305050" y="1752600"/>
          <a:ext cx="1031153" cy="631054"/>
        </p:xfrm>
        <a:graphic>
          <a:graphicData uri="http://schemas.openxmlformats.org/presentationml/2006/ole">
            <mc:AlternateContent xmlns:mc="http://schemas.openxmlformats.org/markup-compatibility/2006">
              <mc:Choice xmlns:v="urn:schemas-microsoft-com:vml" Requires="v">
                <p:oleObj spid="_x0000_s17502" name="Equation" r:id="rId5" imgW="393480" imgH="241200" progId="">
                  <p:embed/>
                </p:oleObj>
              </mc:Choice>
              <mc:Fallback>
                <p:oleObj name="Equation" r:id="rId5" imgW="393480" imgH="241200" progId="">
                  <p:embed/>
                  <p:pic>
                    <p:nvPicPr>
                      <p:cNvPr id="0" name="Picture 7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305050" y="1752600"/>
                        <a:ext cx="1031153" cy="631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5921" dir="2700000" algn="ctr" rotWithShape="0">
                                <a:schemeClr val="bg2"/>
                              </a:outerShdw>
                            </a:effectLst>
                          </a14:hiddenEffects>
                        </a:ext>
                      </a:extLst>
                    </p:spPr>
                  </p:pic>
                </p:oleObj>
              </mc:Fallback>
            </mc:AlternateContent>
          </a:graphicData>
        </a:graphic>
      </p:graphicFrame>
      <p:sp>
        <p:nvSpPr>
          <p:cNvPr id="17414" name="Line 6"/>
          <p:cNvSpPr>
            <a:spLocks noChangeShapeType="1"/>
          </p:cNvSpPr>
          <p:nvPr/>
        </p:nvSpPr>
        <p:spPr bwMode="auto">
          <a:xfrm>
            <a:off x="5562600" y="1619250"/>
            <a:ext cx="207818" cy="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415" name="Line 7"/>
          <p:cNvSpPr>
            <a:spLocks noChangeShapeType="1"/>
          </p:cNvSpPr>
          <p:nvPr/>
        </p:nvSpPr>
        <p:spPr bwMode="auto">
          <a:xfrm>
            <a:off x="6172200" y="1619250"/>
            <a:ext cx="207818" cy="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 name="Text Box 4"/>
          <p:cNvSpPr txBox="1">
            <a:spLocks noChangeArrowheads="1"/>
          </p:cNvSpPr>
          <p:nvPr/>
        </p:nvSpPr>
        <p:spPr bwMode="auto">
          <a:xfrm>
            <a:off x="4049486" y="6172200"/>
            <a:ext cx="47815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2"/>
          <p:cNvSpPr>
            <a:spLocks noGrp="1" noChangeArrowheads="1"/>
          </p:cNvSpPr>
          <p:nvPr>
            <p:ph type="title"/>
          </p:nvPr>
        </p:nvSpPr>
        <p:spPr/>
        <p:txBody>
          <a:bodyPr/>
          <a:lstStyle/>
          <a:p>
            <a:pPr eaLnBrk="1" hangingPunct="1"/>
            <a:r>
              <a:rPr lang="en-US" sz="2800" dirty="0" smtClean="0"/>
              <a:t>Confidence Interval for </a:t>
            </a:r>
            <a:r>
              <a:rPr lang="el-GR" sz="2800" dirty="0" smtClean="0">
                <a:latin typeface="Times New Roman" charset="0"/>
                <a:cs typeface="Times New Roman" charset="0"/>
              </a:rPr>
              <a:t>μ</a:t>
            </a:r>
            <a:r>
              <a:rPr lang="en-GB" sz="2800" baseline="-25000" dirty="0" smtClean="0">
                <a:cs typeface="Times New Roman" charset="0"/>
              </a:rPr>
              <a:t>1</a:t>
            </a:r>
            <a:r>
              <a:rPr lang="en-GB" sz="2800" dirty="0" smtClean="0">
                <a:cs typeface="Times New Roman" charset="0"/>
              </a:rPr>
              <a:t> – </a:t>
            </a:r>
            <a:r>
              <a:rPr lang="el-GR" sz="2800" dirty="0" smtClean="0">
                <a:latin typeface="Times New Roman" charset="0"/>
                <a:cs typeface="Times New Roman" charset="0"/>
              </a:rPr>
              <a:t>μ</a:t>
            </a:r>
            <a:r>
              <a:rPr lang="en-GB" sz="2800" baseline="-25000" dirty="0" smtClean="0">
                <a:cs typeface="Times New Roman" charset="0"/>
              </a:rPr>
              <a:t>2</a:t>
            </a:r>
            <a:endParaRPr lang="en-US" sz="2800" baseline="-25000" dirty="0" smtClean="0">
              <a:cs typeface="Times New Roman" charset="0"/>
            </a:endParaRPr>
          </a:p>
        </p:txBody>
      </p:sp>
      <p:sp>
        <p:nvSpPr>
          <p:cNvPr id="18436" name="Rectangle 3"/>
          <p:cNvSpPr>
            <a:spLocks noGrp="1" noChangeArrowheads="1"/>
          </p:cNvSpPr>
          <p:nvPr>
            <p:ph type="body" idx="1"/>
          </p:nvPr>
        </p:nvSpPr>
        <p:spPr>
          <a:xfrm>
            <a:off x="133350" y="1504950"/>
            <a:ext cx="8421688" cy="2838450"/>
          </a:xfrm>
        </p:spPr>
        <p:txBody>
          <a:bodyPr/>
          <a:lstStyle/>
          <a:p>
            <a:pPr eaLnBrk="1" hangingPunct="1">
              <a:buFont typeface="Tahoma" charset="0"/>
              <a:buChar char=" "/>
            </a:pPr>
            <a:r>
              <a:rPr lang="en-GB" sz="2000" dirty="0" smtClean="0"/>
              <a:t>The (1 – </a:t>
            </a:r>
            <a:r>
              <a:rPr lang="el-GR" sz="2000" dirty="0" smtClean="0">
                <a:latin typeface="Times New Roman" charset="0"/>
                <a:cs typeface="Times New Roman" charset="0"/>
              </a:rPr>
              <a:t>α</a:t>
            </a:r>
            <a:r>
              <a:rPr lang="en-GB" sz="2000" dirty="0" smtClean="0">
                <a:cs typeface="Arial" charset="0"/>
              </a:rPr>
              <a:t>)100% </a:t>
            </a:r>
            <a:r>
              <a:rPr lang="en-GB" sz="2000" b="1" i="1" u="sng" dirty="0" smtClean="0">
                <a:solidFill>
                  <a:schemeClr val="hlink"/>
                </a:solidFill>
                <a:cs typeface="Arial" charset="0"/>
              </a:rPr>
              <a:t>confidence interval</a:t>
            </a:r>
            <a:r>
              <a:rPr lang="en-GB" sz="2000" dirty="0" smtClean="0">
                <a:cs typeface="Arial" charset="0"/>
              </a:rPr>
              <a:t>  for </a:t>
            </a:r>
            <a:r>
              <a:rPr lang="el-GR" sz="2000" dirty="0" smtClean="0">
                <a:latin typeface="Times New Roman" charset="0"/>
                <a:cs typeface="Times New Roman" charset="0"/>
              </a:rPr>
              <a:t>μ</a:t>
            </a:r>
            <a:r>
              <a:rPr lang="en-GB" sz="2000" baseline="-25000" dirty="0" smtClean="0">
                <a:cs typeface="Arial" charset="0"/>
              </a:rPr>
              <a:t>1</a:t>
            </a:r>
            <a:r>
              <a:rPr lang="en-GB" sz="2000" dirty="0" smtClean="0">
                <a:cs typeface="Arial" charset="0"/>
              </a:rPr>
              <a:t> – </a:t>
            </a:r>
            <a:r>
              <a:rPr lang="el-GR" sz="2000" dirty="0" smtClean="0">
                <a:latin typeface="Times New Roman" charset="0"/>
                <a:cs typeface="Times New Roman" charset="0"/>
              </a:rPr>
              <a:t>μ</a:t>
            </a:r>
            <a:r>
              <a:rPr lang="en-GB" sz="2000" baseline="-25000" dirty="0" smtClean="0">
                <a:cs typeface="Arial" charset="0"/>
              </a:rPr>
              <a:t>2</a:t>
            </a:r>
            <a:r>
              <a:rPr lang="en-GB" sz="2000" dirty="0" smtClean="0">
                <a:cs typeface="Arial" charset="0"/>
              </a:rPr>
              <a:t> is</a:t>
            </a:r>
          </a:p>
          <a:p>
            <a:pPr eaLnBrk="1" hangingPunct="1">
              <a:buFont typeface="Tahoma" charset="0"/>
              <a:buChar char=" "/>
            </a:pPr>
            <a:endParaRPr lang="en-GB" sz="2000" dirty="0" smtClean="0">
              <a:cs typeface="Arial" charset="0"/>
            </a:endParaRPr>
          </a:p>
          <a:p>
            <a:pPr eaLnBrk="1" hangingPunct="1">
              <a:buFont typeface="Tahoma" charset="0"/>
              <a:buChar char=" "/>
            </a:pPr>
            <a:endParaRPr lang="en-GB" sz="2000" dirty="0" smtClean="0">
              <a:cs typeface="Arial" charset="0"/>
            </a:endParaRPr>
          </a:p>
          <a:p>
            <a:pPr eaLnBrk="1" hangingPunct="1">
              <a:buFont typeface="Tahoma" charset="0"/>
              <a:buChar char=" "/>
            </a:pPr>
            <a:endParaRPr lang="en-GB" sz="2000" dirty="0" smtClean="0">
              <a:cs typeface="Arial" charset="0"/>
            </a:endParaRPr>
          </a:p>
          <a:p>
            <a:pPr eaLnBrk="1" hangingPunct="1">
              <a:buFont typeface="Tahoma" charset="0"/>
              <a:buChar char=" "/>
            </a:pPr>
            <a:r>
              <a:rPr lang="en-GB" sz="2000" dirty="0" smtClean="0">
                <a:cs typeface="Arial" charset="0"/>
              </a:rPr>
              <a:t>where the value of </a:t>
            </a:r>
            <a:r>
              <a:rPr lang="en-GB" sz="2000" i="1" dirty="0" smtClean="0">
                <a:cs typeface="Arial" charset="0"/>
              </a:rPr>
              <a:t>t</a:t>
            </a:r>
            <a:r>
              <a:rPr lang="en-GB" sz="2000" dirty="0" smtClean="0">
                <a:cs typeface="Arial" charset="0"/>
              </a:rPr>
              <a:t> is obtained from the </a:t>
            </a:r>
            <a:r>
              <a:rPr lang="en-GB" sz="2000" i="1" dirty="0" smtClean="0">
                <a:cs typeface="Arial" charset="0"/>
              </a:rPr>
              <a:t>t</a:t>
            </a:r>
            <a:r>
              <a:rPr lang="en-GB" sz="2000" dirty="0" smtClean="0">
                <a:cs typeface="Arial" charset="0"/>
              </a:rPr>
              <a:t> distribution table for a given confidence level and the degrees of freedom are given by the formula mentioned earlier.</a:t>
            </a:r>
          </a:p>
        </p:txBody>
      </p:sp>
      <p:graphicFrame>
        <p:nvGraphicFramePr>
          <p:cNvPr id="18434" name="Object 2"/>
          <p:cNvGraphicFramePr>
            <a:graphicFrameLocks noChangeAspect="1"/>
          </p:cNvGraphicFramePr>
          <p:nvPr>
            <p:extLst>
              <p:ext uri="{D42A27DB-BD31-4B8C-83A1-F6EECF244321}">
                <p14:modId xmlns:p14="http://schemas.microsoft.com/office/powerpoint/2010/main" val="2577382264"/>
              </p:ext>
            </p:extLst>
          </p:nvPr>
        </p:nvGraphicFramePr>
        <p:xfrm>
          <a:off x="2756713" y="2116912"/>
          <a:ext cx="3401974" cy="566777"/>
        </p:xfrm>
        <a:graphic>
          <a:graphicData uri="http://schemas.openxmlformats.org/presentationml/2006/ole">
            <mc:AlternateContent xmlns:mc="http://schemas.openxmlformats.org/markup-compatibility/2006">
              <mc:Choice xmlns:v="urn:schemas-microsoft-com:vml" Requires="v">
                <p:oleObj spid="_x0000_s18481" name="Equation" r:id="rId3" imgW="1143000" imgH="241200" progId="">
                  <p:embed/>
                </p:oleObj>
              </mc:Choice>
              <mc:Fallback>
                <p:oleObj name="Equation" r:id="rId3" imgW="1143000" imgH="241200" progId="">
                  <p:embed/>
                  <p:pic>
                    <p:nvPicPr>
                      <p:cNvPr id="0" name="Picture 3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56713" y="2116912"/>
                        <a:ext cx="3401974" cy="566777"/>
                      </a:xfrm>
                      <a:prstGeom prst="rect">
                        <a:avLst/>
                      </a:prstGeom>
                      <a:noFill/>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5921" dir="2700000" algn="ctr" rotWithShape="0">
                                <a:srgbClr val="808080"/>
                              </a:outerShdw>
                            </a:effectLst>
                          </a14:hiddenEffects>
                        </a:ext>
                      </a:extLst>
                    </p:spPr>
                  </p:pic>
                </p:oleObj>
              </mc:Fallback>
            </mc:AlternateContent>
          </a:graphicData>
        </a:graphic>
      </p:graphicFrame>
      <p:sp>
        <p:nvSpPr>
          <p:cNvPr id="7" name="Text Box 4"/>
          <p:cNvSpPr txBox="1">
            <a:spLocks noChangeArrowheads="1"/>
          </p:cNvSpPr>
          <p:nvPr/>
        </p:nvSpPr>
        <p:spPr bwMode="auto">
          <a:xfrm>
            <a:off x="4049486" y="6172200"/>
            <a:ext cx="47815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p:cNvSpPr>
            <a:spLocks noGrp="1" noChangeArrowheads="1"/>
          </p:cNvSpPr>
          <p:nvPr>
            <p:ph type="title"/>
          </p:nvPr>
        </p:nvSpPr>
        <p:spPr/>
        <p:txBody>
          <a:bodyPr/>
          <a:lstStyle/>
          <a:p>
            <a:pPr eaLnBrk="1" hangingPunct="1"/>
            <a:r>
              <a:rPr lang="en-US" sz="2800" dirty="0" smtClean="0"/>
              <a:t>Example 10-8</a:t>
            </a:r>
          </a:p>
        </p:txBody>
      </p:sp>
      <p:sp>
        <p:nvSpPr>
          <p:cNvPr id="95235" name="Rectangle 3"/>
          <p:cNvSpPr>
            <a:spLocks noGrp="1" noChangeArrowheads="1"/>
          </p:cNvSpPr>
          <p:nvPr>
            <p:ph type="body" idx="1"/>
          </p:nvPr>
        </p:nvSpPr>
        <p:spPr>
          <a:xfrm>
            <a:off x="112712" y="1524000"/>
            <a:ext cx="8421688" cy="4267200"/>
          </a:xfrm>
        </p:spPr>
        <p:txBody>
          <a:bodyPr/>
          <a:lstStyle/>
          <a:p>
            <a:pPr eaLnBrk="1" hangingPunct="1">
              <a:lnSpc>
                <a:spcPct val="90000"/>
              </a:lnSpc>
              <a:buFont typeface="Wingdings" charset="2"/>
              <a:buChar char=" "/>
            </a:pPr>
            <a:r>
              <a:rPr lang="en-GB" sz="2000" dirty="0" smtClean="0"/>
              <a:t>According to Example 10-5 of Section 10.2.1, a sample of 15 one-pound jars of coffee of Brand I showed that the mean amount of caffeine in these jars is 80 milligrams per jar with a standard deviation of 5 milligrams. Another sample of 12 one-pound coffee jars of Brand II gave a mean amount of caffeine equal to 77 milligrams per jar with a standard deviation of 6 milligrams. </a:t>
            </a:r>
          </a:p>
          <a:p>
            <a:pPr eaLnBrk="1" hangingPunct="1">
              <a:lnSpc>
                <a:spcPct val="90000"/>
              </a:lnSpc>
              <a:buFont typeface="Wingdings" charset="2"/>
              <a:buChar char=" "/>
            </a:pPr>
            <a:r>
              <a:rPr lang="en-GB" sz="2000" dirty="0"/>
              <a:t>Construct a 95% confidence interval for the difference between the mean amounts of caffeine in one-pound coffee jars of these two brands. </a:t>
            </a:r>
            <a:r>
              <a:rPr lang="en-GB" sz="2000" dirty="0" smtClean="0"/>
              <a:t>Assume </a:t>
            </a:r>
            <a:r>
              <a:rPr lang="en-GB" sz="2000" dirty="0"/>
              <a:t>that the two populations are normally distributed and that the standard deviations of the two populations are not equal. </a:t>
            </a:r>
            <a:endParaRPr lang="en-US" sz="2000" dirty="0"/>
          </a:p>
          <a:p>
            <a:pPr marL="0" indent="0" eaLnBrk="1" hangingPunct="1">
              <a:lnSpc>
                <a:spcPct val="90000"/>
              </a:lnSpc>
              <a:buNone/>
            </a:pPr>
            <a:endParaRPr lang="en-US" sz="2000" dirty="0" smtClean="0"/>
          </a:p>
        </p:txBody>
      </p:sp>
      <p:sp>
        <p:nvSpPr>
          <p:cNvPr id="6" name="Text Box 4"/>
          <p:cNvSpPr txBox="1">
            <a:spLocks noChangeArrowheads="1"/>
          </p:cNvSpPr>
          <p:nvPr/>
        </p:nvSpPr>
        <p:spPr bwMode="auto">
          <a:xfrm>
            <a:off x="4049486" y="6172200"/>
            <a:ext cx="47815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2"/>
          <p:cNvSpPr>
            <a:spLocks noGrp="1" noChangeArrowheads="1"/>
          </p:cNvSpPr>
          <p:nvPr>
            <p:ph type="title"/>
          </p:nvPr>
        </p:nvSpPr>
        <p:spPr/>
        <p:txBody>
          <a:bodyPr/>
          <a:lstStyle/>
          <a:p>
            <a:pPr eaLnBrk="1" hangingPunct="1"/>
            <a:r>
              <a:rPr lang="en-US" sz="2800" dirty="0" smtClean="0"/>
              <a:t>Example 10-8: Solution</a:t>
            </a:r>
          </a:p>
        </p:txBody>
      </p:sp>
      <p:graphicFrame>
        <p:nvGraphicFramePr>
          <p:cNvPr id="19458" name="Object 2"/>
          <p:cNvGraphicFramePr>
            <a:graphicFrameLocks noGrp="1" noChangeAspect="1"/>
          </p:cNvGraphicFramePr>
          <p:nvPr>
            <p:ph type="body" idx="1"/>
            <p:extLst>
              <p:ext uri="{D42A27DB-BD31-4B8C-83A1-F6EECF244321}">
                <p14:modId xmlns:p14="http://schemas.microsoft.com/office/powerpoint/2010/main" val="3711575857"/>
              </p:ext>
            </p:extLst>
          </p:nvPr>
        </p:nvGraphicFramePr>
        <p:xfrm>
          <a:off x="838200" y="1676400"/>
          <a:ext cx="6172200" cy="3325091"/>
        </p:xfrm>
        <a:graphic>
          <a:graphicData uri="http://schemas.openxmlformats.org/presentationml/2006/ole">
            <mc:AlternateContent xmlns:mc="http://schemas.openxmlformats.org/markup-compatibility/2006">
              <mc:Choice xmlns:v="urn:schemas-microsoft-com:vml" Requires="v">
                <p:oleObj spid="_x0000_s19504" name="Equation" r:id="rId3" imgW="3606480" imgH="1942920" progId="">
                  <p:embed/>
                </p:oleObj>
              </mc:Choice>
              <mc:Fallback>
                <p:oleObj name="Equation" r:id="rId3" imgW="3606480" imgH="1942920" progId="">
                  <p:embed/>
                  <p:pic>
                    <p:nvPicPr>
                      <p:cNvPr id="0" name="Picture 37"/>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8200" y="1676400"/>
                        <a:ext cx="6172200" cy="332509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Text Box 4"/>
          <p:cNvSpPr txBox="1">
            <a:spLocks noChangeArrowheads="1"/>
          </p:cNvSpPr>
          <p:nvPr/>
        </p:nvSpPr>
        <p:spPr bwMode="auto">
          <a:xfrm>
            <a:off x="4049486" y="6172200"/>
            <a:ext cx="47815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2"/>
          <p:cNvSpPr>
            <a:spLocks noGrp="1" noChangeArrowheads="1"/>
          </p:cNvSpPr>
          <p:nvPr>
            <p:ph type="title"/>
          </p:nvPr>
        </p:nvSpPr>
        <p:spPr/>
        <p:txBody>
          <a:bodyPr/>
          <a:lstStyle/>
          <a:p>
            <a:pPr eaLnBrk="1" hangingPunct="1"/>
            <a:r>
              <a:rPr lang="en-US" sz="2800" dirty="0" smtClean="0"/>
              <a:t>Example 10-8: Solution</a:t>
            </a:r>
          </a:p>
        </p:txBody>
      </p:sp>
      <p:sp>
        <p:nvSpPr>
          <p:cNvPr id="20484" name="Rectangle 3"/>
          <p:cNvSpPr>
            <a:spLocks noGrp="1" noChangeArrowheads="1"/>
          </p:cNvSpPr>
          <p:nvPr>
            <p:ph type="body" idx="1"/>
          </p:nvPr>
        </p:nvSpPr>
        <p:spPr>
          <a:xfrm>
            <a:off x="685800" y="2017713"/>
            <a:ext cx="8269288" cy="4535487"/>
          </a:xfrm>
        </p:spPr>
        <p:txBody>
          <a:bodyPr/>
          <a:lstStyle/>
          <a:p>
            <a:pPr eaLnBrk="1" hangingPunct="1"/>
            <a:endParaRPr lang="en-US" smtClean="0"/>
          </a:p>
          <a:p>
            <a:pPr eaLnBrk="1" hangingPunct="1"/>
            <a:endParaRPr lang="en-US" smtClean="0"/>
          </a:p>
          <a:p>
            <a:pPr eaLnBrk="1" hangingPunct="1"/>
            <a:endParaRPr lang="en-US" smtClean="0"/>
          </a:p>
          <a:p>
            <a:pPr eaLnBrk="1" hangingPunct="1"/>
            <a:endParaRPr lang="en-US" smtClean="0"/>
          </a:p>
        </p:txBody>
      </p:sp>
      <p:graphicFrame>
        <p:nvGraphicFramePr>
          <p:cNvPr id="20482" name="Object 2"/>
          <p:cNvGraphicFramePr>
            <a:graphicFrameLocks noChangeAspect="1"/>
          </p:cNvGraphicFramePr>
          <p:nvPr>
            <p:extLst>
              <p:ext uri="{D42A27DB-BD31-4B8C-83A1-F6EECF244321}">
                <p14:modId xmlns:p14="http://schemas.microsoft.com/office/powerpoint/2010/main" val="3238260399"/>
              </p:ext>
            </p:extLst>
          </p:nvPr>
        </p:nvGraphicFramePr>
        <p:xfrm>
          <a:off x="762000" y="1752600"/>
          <a:ext cx="5753894" cy="1278643"/>
        </p:xfrm>
        <a:graphic>
          <a:graphicData uri="http://schemas.openxmlformats.org/presentationml/2006/ole">
            <mc:AlternateContent xmlns:mc="http://schemas.openxmlformats.org/markup-compatibility/2006">
              <mc:Choice xmlns:v="urn:schemas-microsoft-com:vml" Requires="v">
                <p:oleObj spid="_x0000_s20529" name="Equation" r:id="rId3" imgW="3327120" imgH="660240" progId="">
                  <p:embed/>
                </p:oleObj>
              </mc:Choice>
              <mc:Fallback>
                <p:oleObj name="Equation" r:id="rId3" imgW="3327120" imgH="660240" progId="">
                  <p:embed/>
                  <p:pic>
                    <p:nvPicPr>
                      <p:cNvPr id="0" name="Picture 3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0" y="1752600"/>
                        <a:ext cx="5753894" cy="127864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Text Box 4"/>
          <p:cNvSpPr txBox="1">
            <a:spLocks noChangeArrowheads="1"/>
          </p:cNvSpPr>
          <p:nvPr/>
        </p:nvSpPr>
        <p:spPr bwMode="auto">
          <a:xfrm>
            <a:off x="4049486" y="6172200"/>
            <a:ext cx="47815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8" name="Rectangle 2"/>
          <p:cNvSpPr>
            <a:spLocks noGrp="1" noChangeArrowheads="1"/>
          </p:cNvSpPr>
          <p:nvPr>
            <p:ph type="title"/>
          </p:nvPr>
        </p:nvSpPr>
        <p:spPr/>
        <p:txBody>
          <a:bodyPr/>
          <a:lstStyle/>
          <a:p>
            <a:pPr eaLnBrk="1" hangingPunct="1"/>
            <a:r>
              <a:rPr lang="en-US" sz="2800" dirty="0" smtClean="0"/>
              <a:t>Hypothesis Testing About </a:t>
            </a:r>
            <a:r>
              <a:rPr lang="el-GR" sz="2800" dirty="0" smtClean="0">
                <a:latin typeface="Times New Roman" charset="0"/>
                <a:cs typeface="Times New Roman" charset="0"/>
              </a:rPr>
              <a:t>μ</a:t>
            </a:r>
            <a:r>
              <a:rPr lang="en-GB" sz="2800" baseline="-25000" dirty="0" smtClean="0">
                <a:cs typeface="Times New Roman" charset="0"/>
              </a:rPr>
              <a:t>1</a:t>
            </a:r>
            <a:r>
              <a:rPr lang="en-GB" sz="2800" dirty="0" smtClean="0">
                <a:cs typeface="Times New Roman" charset="0"/>
              </a:rPr>
              <a:t> – </a:t>
            </a:r>
            <a:r>
              <a:rPr lang="el-GR" sz="2800" dirty="0" smtClean="0">
                <a:latin typeface="Times New Roman" charset="0"/>
                <a:cs typeface="Times New Roman" charset="0"/>
              </a:rPr>
              <a:t>μ</a:t>
            </a:r>
            <a:r>
              <a:rPr lang="en-GB" sz="2800" baseline="-25000" dirty="0" smtClean="0">
                <a:cs typeface="Times New Roman" charset="0"/>
              </a:rPr>
              <a:t>2</a:t>
            </a:r>
            <a:endParaRPr lang="en-US" sz="2800" baseline="-25000" dirty="0" smtClean="0">
              <a:cs typeface="Times New Roman" charset="0"/>
            </a:endParaRPr>
          </a:p>
        </p:txBody>
      </p:sp>
      <p:sp>
        <p:nvSpPr>
          <p:cNvPr id="21509" name="Rectangle 3"/>
          <p:cNvSpPr>
            <a:spLocks noGrp="1" noChangeArrowheads="1"/>
          </p:cNvSpPr>
          <p:nvPr>
            <p:ph type="body" idx="1"/>
          </p:nvPr>
        </p:nvSpPr>
        <p:spPr>
          <a:xfrm>
            <a:off x="114300" y="1543050"/>
            <a:ext cx="8726488" cy="3562350"/>
          </a:xfrm>
        </p:spPr>
        <p:txBody>
          <a:bodyPr/>
          <a:lstStyle/>
          <a:p>
            <a:pPr eaLnBrk="1" hangingPunct="1">
              <a:lnSpc>
                <a:spcPct val="90000"/>
              </a:lnSpc>
              <a:buFont typeface="Wingdings" charset="2"/>
              <a:buChar char=" "/>
            </a:pPr>
            <a:r>
              <a:rPr lang="en-US" sz="2000" dirty="0" smtClean="0">
                <a:solidFill>
                  <a:schemeClr val="folHlink"/>
                </a:solidFill>
              </a:rPr>
              <a:t>Test Statistic </a:t>
            </a:r>
            <a:r>
              <a:rPr lang="en-US" sz="2000" i="1" dirty="0" smtClean="0">
                <a:solidFill>
                  <a:schemeClr val="folHlink"/>
                </a:solidFill>
                <a:latin typeface="Times New Roman" charset="0"/>
              </a:rPr>
              <a:t>t</a:t>
            </a:r>
            <a:r>
              <a:rPr lang="en-US" sz="2000" dirty="0" smtClean="0">
                <a:solidFill>
                  <a:schemeClr val="folHlink"/>
                </a:solidFill>
              </a:rPr>
              <a:t> for  </a:t>
            </a:r>
            <a:r>
              <a:rPr lang="en-US" sz="2000" i="1" dirty="0" smtClean="0">
                <a:solidFill>
                  <a:schemeClr val="folHlink"/>
                </a:solidFill>
                <a:latin typeface="Times New Roman" charset="0"/>
              </a:rPr>
              <a:t>x</a:t>
            </a:r>
            <a:r>
              <a:rPr lang="en-US" sz="2000" baseline="-25000" dirty="0" smtClean="0">
                <a:solidFill>
                  <a:schemeClr val="folHlink"/>
                </a:solidFill>
              </a:rPr>
              <a:t>1</a:t>
            </a:r>
            <a:r>
              <a:rPr lang="en-US" sz="2000" dirty="0" smtClean="0">
                <a:solidFill>
                  <a:schemeClr val="folHlink"/>
                </a:solidFill>
              </a:rPr>
              <a:t> – </a:t>
            </a:r>
            <a:r>
              <a:rPr lang="en-US" sz="2000" i="1" dirty="0" smtClean="0">
                <a:solidFill>
                  <a:schemeClr val="folHlink"/>
                </a:solidFill>
                <a:latin typeface="Times New Roman" charset="0"/>
              </a:rPr>
              <a:t>x</a:t>
            </a:r>
            <a:r>
              <a:rPr lang="en-US" sz="2000" baseline="-25000" dirty="0" smtClean="0">
                <a:solidFill>
                  <a:schemeClr val="folHlink"/>
                </a:solidFill>
              </a:rPr>
              <a:t>2</a:t>
            </a:r>
            <a:r>
              <a:rPr lang="en-US" sz="2000" dirty="0" smtClean="0">
                <a:solidFill>
                  <a:schemeClr val="folHlink"/>
                </a:solidFill>
              </a:rPr>
              <a:t> </a:t>
            </a:r>
          </a:p>
          <a:p>
            <a:pPr eaLnBrk="1" hangingPunct="1">
              <a:lnSpc>
                <a:spcPct val="90000"/>
              </a:lnSpc>
              <a:buFont typeface="Wingdings" charset="2"/>
              <a:buChar char=" "/>
            </a:pPr>
            <a:r>
              <a:rPr lang="en-US" sz="2000" dirty="0" smtClean="0"/>
              <a:t>The value of the </a:t>
            </a:r>
            <a:r>
              <a:rPr lang="en-US" sz="2000" b="1" i="1" u="sng" dirty="0" smtClean="0">
                <a:solidFill>
                  <a:schemeClr val="hlink"/>
                </a:solidFill>
              </a:rPr>
              <a:t>test statistic </a:t>
            </a:r>
            <a:r>
              <a:rPr lang="en-US" sz="2000" b="1" i="1" u="sng" dirty="0" smtClean="0">
                <a:solidFill>
                  <a:schemeClr val="hlink"/>
                </a:solidFill>
                <a:latin typeface="Times New Roman" charset="0"/>
              </a:rPr>
              <a:t>t</a:t>
            </a:r>
            <a:r>
              <a:rPr lang="en-US" sz="2000" b="1" i="1" u="sng" dirty="0" smtClean="0">
                <a:solidFill>
                  <a:schemeClr val="hlink"/>
                </a:solidFill>
              </a:rPr>
              <a:t> for </a:t>
            </a:r>
            <a:r>
              <a:rPr lang="en-US" sz="2000" b="1" i="1" u="sng" dirty="0" smtClean="0">
                <a:solidFill>
                  <a:schemeClr val="hlink"/>
                </a:solidFill>
                <a:latin typeface="Times New Roman" charset="0"/>
              </a:rPr>
              <a:t>x</a:t>
            </a:r>
            <a:r>
              <a:rPr lang="en-US" sz="2000" b="1" i="1" u="sng" baseline="-25000" dirty="0" smtClean="0">
                <a:solidFill>
                  <a:schemeClr val="hlink"/>
                </a:solidFill>
              </a:rPr>
              <a:t>1</a:t>
            </a:r>
            <a:r>
              <a:rPr lang="en-US" sz="2000" b="1" i="1" u="sng" dirty="0" smtClean="0">
                <a:solidFill>
                  <a:schemeClr val="hlink"/>
                </a:solidFill>
              </a:rPr>
              <a:t> – </a:t>
            </a:r>
            <a:r>
              <a:rPr lang="en-US" sz="2000" b="1" i="1" u="sng" dirty="0" smtClean="0">
                <a:solidFill>
                  <a:schemeClr val="hlink"/>
                </a:solidFill>
                <a:latin typeface="Times New Roman" charset="0"/>
              </a:rPr>
              <a:t>x</a:t>
            </a:r>
            <a:r>
              <a:rPr lang="en-US" sz="2000" b="1" i="1" u="sng" baseline="-25000" dirty="0" smtClean="0">
                <a:solidFill>
                  <a:schemeClr val="hlink"/>
                </a:solidFill>
              </a:rPr>
              <a:t>2</a:t>
            </a:r>
            <a:r>
              <a:rPr lang="en-US" sz="2000" dirty="0" smtClean="0"/>
              <a:t> is computed as</a:t>
            </a:r>
          </a:p>
          <a:p>
            <a:pPr eaLnBrk="1" hangingPunct="1">
              <a:lnSpc>
                <a:spcPct val="90000"/>
              </a:lnSpc>
              <a:buFont typeface="Wingdings" charset="2"/>
              <a:buChar char=" "/>
            </a:pPr>
            <a:endParaRPr lang="en-US" sz="2000" dirty="0" smtClean="0"/>
          </a:p>
          <a:p>
            <a:pPr eaLnBrk="1" hangingPunct="1">
              <a:lnSpc>
                <a:spcPct val="90000"/>
              </a:lnSpc>
              <a:buFont typeface="Wingdings" charset="2"/>
              <a:buChar char=" "/>
            </a:pPr>
            <a:endParaRPr lang="en-US" sz="2000" dirty="0" smtClean="0"/>
          </a:p>
          <a:p>
            <a:pPr eaLnBrk="1" hangingPunct="1">
              <a:lnSpc>
                <a:spcPct val="90000"/>
              </a:lnSpc>
              <a:buFont typeface="Wingdings" charset="2"/>
              <a:buChar char=" "/>
            </a:pPr>
            <a:endParaRPr lang="en-US" sz="2000" dirty="0" smtClean="0"/>
          </a:p>
          <a:p>
            <a:pPr eaLnBrk="1" hangingPunct="1">
              <a:lnSpc>
                <a:spcPct val="90000"/>
              </a:lnSpc>
              <a:buFont typeface="Wingdings" charset="2"/>
              <a:buChar char=" "/>
            </a:pPr>
            <a:endParaRPr lang="en-US" sz="2000" dirty="0" smtClean="0"/>
          </a:p>
          <a:p>
            <a:pPr eaLnBrk="1" hangingPunct="1">
              <a:lnSpc>
                <a:spcPct val="90000"/>
              </a:lnSpc>
              <a:buFont typeface="Wingdings" charset="2"/>
              <a:buChar char=" "/>
            </a:pPr>
            <a:r>
              <a:rPr lang="en-US" sz="2000" dirty="0" smtClean="0"/>
              <a:t>The value of </a:t>
            </a:r>
            <a:r>
              <a:rPr lang="el-GR" sz="2000" dirty="0" smtClean="0">
                <a:latin typeface="Times New Roman" charset="0"/>
                <a:cs typeface="Times New Roman" charset="0"/>
              </a:rPr>
              <a:t>μ</a:t>
            </a:r>
            <a:r>
              <a:rPr lang="en-GB" sz="2000" baseline="-25000" dirty="0" smtClean="0">
                <a:cs typeface="Times New Roman" charset="0"/>
              </a:rPr>
              <a:t>1</a:t>
            </a:r>
            <a:r>
              <a:rPr lang="en-GB" sz="2000" dirty="0" smtClean="0">
                <a:cs typeface="Times New Roman" charset="0"/>
              </a:rPr>
              <a:t> – </a:t>
            </a:r>
            <a:r>
              <a:rPr lang="el-GR" sz="2000" dirty="0" smtClean="0">
                <a:latin typeface="Times New Roman" charset="0"/>
                <a:cs typeface="Times New Roman" charset="0"/>
              </a:rPr>
              <a:t>μ</a:t>
            </a:r>
            <a:r>
              <a:rPr lang="en-GB" sz="2000" baseline="-25000" dirty="0" smtClean="0">
                <a:cs typeface="Times New Roman" charset="0"/>
              </a:rPr>
              <a:t>2 </a:t>
            </a:r>
            <a:r>
              <a:rPr lang="en-GB" sz="2000" dirty="0" smtClean="0">
                <a:cs typeface="Times New Roman" charset="0"/>
              </a:rPr>
              <a:t>in this formula is substituted from the null </a:t>
            </a:r>
          </a:p>
          <a:p>
            <a:pPr eaLnBrk="1" hangingPunct="1">
              <a:lnSpc>
                <a:spcPct val="90000"/>
              </a:lnSpc>
              <a:buFont typeface="Wingdings" charset="2"/>
              <a:buChar char=" "/>
            </a:pPr>
            <a:r>
              <a:rPr lang="en-GB" sz="2000" dirty="0" smtClean="0">
                <a:cs typeface="Times New Roman" charset="0"/>
              </a:rPr>
              <a:t>hypothesis and             is calculated as explained earlier. </a:t>
            </a:r>
            <a:r>
              <a:rPr lang="en-US" sz="2000" dirty="0" smtClean="0"/>
              <a:t> </a:t>
            </a:r>
          </a:p>
        </p:txBody>
      </p:sp>
      <p:graphicFrame>
        <p:nvGraphicFramePr>
          <p:cNvPr id="21506" name="Object 2"/>
          <p:cNvGraphicFramePr>
            <a:graphicFrameLocks noChangeAspect="1"/>
          </p:cNvGraphicFramePr>
          <p:nvPr>
            <p:extLst>
              <p:ext uri="{D42A27DB-BD31-4B8C-83A1-F6EECF244321}">
                <p14:modId xmlns:p14="http://schemas.microsoft.com/office/powerpoint/2010/main" val="2170282272"/>
              </p:ext>
            </p:extLst>
          </p:nvPr>
        </p:nvGraphicFramePr>
        <p:xfrm>
          <a:off x="2514600" y="3736686"/>
          <a:ext cx="1085011" cy="663864"/>
        </p:xfrm>
        <a:graphic>
          <a:graphicData uri="http://schemas.openxmlformats.org/presentationml/2006/ole">
            <mc:AlternateContent xmlns:mc="http://schemas.openxmlformats.org/markup-compatibility/2006">
              <mc:Choice xmlns:v="urn:schemas-microsoft-com:vml" Requires="v">
                <p:oleObj spid="_x0000_s21601" name="Equation" r:id="rId3" imgW="393480" imgH="241200" progId="">
                  <p:embed/>
                </p:oleObj>
              </mc:Choice>
              <mc:Fallback>
                <p:oleObj name="Equation" r:id="rId3" imgW="393480" imgH="241200" progId="">
                  <p:embed/>
                  <p:pic>
                    <p:nvPicPr>
                      <p:cNvPr id="0" name="Picture 7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14600" y="3736686"/>
                        <a:ext cx="1085011" cy="6638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5921" dir="2700000" algn="ctr" rotWithShape="0">
                                <a:schemeClr val="bg2"/>
                              </a:outerShdw>
                            </a:effectLst>
                          </a14:hiddenEffects>
                        </a:ext>
                      </a:extLst>
                    </p:spPr>
                  </p:pic>
                </p:oleObj>
              </mc:Fallback>
            </mc:AlternateContent>
          </a:graphicData>
        </a:graphic>
      </p:graphicFrame>
      <p:graphicFrame>
        <p:nvGraphicFramePr>
          <p:cNvPr id="21507" name="Object 3"/>
          <p:cNvGraphicFramePr>
            <a:graphicFrameLocks noChangeAspect="1"/>
          </p:cNvGraphicFramePr>
          <p:nvPr>
            <p:extLst>
              <p:ext uri="{D42A27DB-BD31-4B8C-83A1-F6EECF244321}">
                <p14:modId xmlns:p14="http://schemas.microsoft.com/office/powerpoint/2010/main" val="3348566486"/>
              </p:ext>
            </p:extLst>
          </p:nvPr>
        </p:nvGraphicFramePr>
        <p:xfrm>
          <a:off x="2632075" y="2362200"/>
          <a:ext cx="3254375" cy="1072091"/>
        </p:xfrm>
        <a:graphic>
          <a:graphicData uri="http://schemas.openxmlformats.org/presentationml/2006/ole">
            <mc:AlternateContent xmlns:mc="http://schemas.openxmlformats.org/markup-compatibility/2006">
              <mc:Choice xmlns:v="urn:schemas-microsoft-com:vml" Requires="v">
                <p:oleObj spid="_x0000_s21602" name="Equation" r:id="rId5" imgW="1536480" imgH="457200" progId="">
                  <p:embed/>
                </p:oleObj>
              </mc:Choice>
              <mc:Fallback>
                <p:oleObj name="Equation" r:id="rId5" imgW="1536480" imgH="457200" progId="">
                  <p:embed/>
                  <p:pic>
                    <p:nvPicPr>
                      <p:cNvPr id="0" name="Picture 7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632075" y="2362200"/>
                        <a:ext cx="3254375" cy="107209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1510" name="Line 6"/>
          <p:cNvSpPr>
            <a:spLocks noChangeShapeType="1"/>
          </p:cNvSpPr>
          <p:nvPr/>
        </p:nvSpPr>
        <p:spPr bwMode="auto">
          <a:xfrm>
            <a:off x="2971800" y="1619250"/>
            <a:ext cx="152400" cy="0"/>
          </a:xfrm>
          <a:prstGeom prst="line">
            <a:avLst/>
          </a:prstGeom>
          <a:noFill/>
          <a:ln w="19050">
            <a:solidFill>
              <a:schemeClr val="folHlink"/>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511" name="Line 7"/>
          <p:cNvSpPr>
            <a:spLocks noChangeShapeType="1"/>
          </p:cNvSpPr>
          <p:nvPr/>
        </p:nvSpPr>
        <p:spPr bwMode="auto">
          <a:xfrm>
            <a:off x="3581400" y="1619250"/>
            <a:ext cx="152400" cy="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512" name="Line 8"/>
          <p:cNvSpPr>
            <a:spLocks noChangeShapeType="1"/>
          </p:cNvSpPr>
          <p:nvPr/>
        </p:nvSpPr>
        <p:spPr bwMode="auto">
          <a:xfrm>
            <a:off x="5257800" y="1924050"/>
            <a:ext cx="152400"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513" name="Line 9"/>
          <p:cNvSpPr>
            <a:spLocks noChangeShapeType="1"/>
          </p:cNvSpPr>
          <p:nvPr/>
        </p:nvSpPr>
        <p:spPr bwMode="auto">
          <a:xfrm>
            <a:off x="5886450" y="1924050"/>
            <a:ext cx="152400"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 name="Text Box 4"/>
          <p:cNvSpPr txBox="1">
            <a:spLocks noChangeArrowheads="1"/>
          </p:cNvSpPr>
          <p:nvPr/>
        </p:nvSpPr>
        <p:spPr bwMode="auto">
          <a:xfrm>
            <a:off x="4049486" y="6172200"/>
            <a:ext cx="47815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p:cNvSpPr>
            <a:spLocks noGrp="1" noChangeArrowheads="1"/>
          </p:cNvSpPr>
          <p:nvPr>
            <p:ph type="title"/>
          </p:nvPr>
        </p:nvSpPr>
        <p:spPr/>
        <p:txBody>
          <a:bodyPr/>
          <a:lstStyle/>
          <a:p>
            <a:pPr eaLnBrk="1" hangingPunct="1"/>
            <a:r>
              <a:rPr lang="en-US" sz="2800" dirty="0" smtClean="0"/>
              <a:t>Example 10-9</a:t>
            </a:r>
          </a:p>
        </p:txBody>
      </p:sp>
      <p:sp>
        <p:nvSpPr>
          <p:cNvPr id="97283" name="Rectangle 3"/>
          <p:cNvSpPr>
            <a:spLocks noGrp="1" noChangeArrowheads="1"/>
          </p:cNvSpPr>
          <p:nvPr>
            <p:ph type="body" idx="1"/>
          </p:nvPr>
        </p:nvSpPr>
        <p:spPr>
          <a:xfrm>
            <a:off x="152400" y="1524000"/>
            <a:ext cx="8421688" cy="4343400"/>
          </a:xfrm>
        </p:spPr>
        <p:txBody>
          <a:bodyPr/>
          <a:lstStyle/>
          <a:p>
            <a:pPr eaLnBrk="1" hangingPunct="1">
              <a:buFont typeface="Wingdings" charset="2"/>
              <a:buChar char=" "/>
            </a:pPr>
            <a:r>
              <a:rPr lang="en-GB" sz="2000" dirty="0" smtClean="0"/>
              <a:t>According to Example 10-6 of Section 10.2.2, a sample of 14 cans of Brand I diet soda gave the mean number of calories per can of 23 with a standard deviation of 3 calories.  Another sample of 16 cans of Brand II diet soda gave the mean number of calories as 25 per can with a standard deviation of 4 calories. </a:t>
            </a:r>
          </a:p>
          <a:p>
            <a:pPr eaLnBrk="1" hangingPunct="1">
              <a:buFont typeface="Wingdings" charset="2"/>
              <a:buChar char=" "/>
            </a:pPr>
            <a:r>
              <a:rPr lang="en-GB" sz="2000" dirty="0"/>
              <a:t>Test at the 1% significance level whether the mean numbers of calories per can of diet soda are different for these two brands. Assume that the calories per can of diet soda are normally distributed for each of these two brands and that the standard deviations for the two populations are not equal</a:t>
            </a:r>
            <a:r>
              <a:rPr lang="en-GB" sz="2000" dirty="0" smtClean="0"/>
              <a:t>.</a:t>
            </a:r>
            <a:endParaRPr lang="en-US" sz="2000" dirty="0" smtClean="0"/>
          </a:p>
        </p:txBody>
      </p:sp>
      <p:sp>
        <p:nvSpPr>
          <p:cNvPr id="6" name="Text Box 4"/>
          <p:cNvSpPr txBox="1">
            <a:spLocks noChangeArrowheads="1"/>
          </p:cNvSpPr>
          <p:nvPr/>
        </p:nvSpPr>
        <p:spPr bwMode="auto">
          <a:xfrm>
            <a:off x="4049486" y="6172200"/>
            <a:ext cx="47815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p:cNvSpPr>
            <a:spLocks noGrp="1" noChangeArrowheads="1"/>
          </p:cNvSpPr>
          <p:nvPr>
            <p:ph type="title"/>
          </p:nvPr>
        </p:nvSpPr>
        <p:spPr/>
        <p:txBody>
          <a:bodyPr/>
          <a:lstStyle/>
          <a:p>
            <a:pPr eaLnBrk="1" hangingPunct="1"/>
            <a:r>
              <a:rPr lang="en-US" sz="2800" dirty="0" smtClean="0"/>
              <a:t>Example 10-9: Solution</a:t>
            </a:r>
          </a:p>
        </p:txBody>
      </p:sp>
      <p:sp>
        <p:nvSpPr>
          <p:cNvPr id="99331" name="Rectangle 3"/>
          <p:cNvSpPr>
            <a:spLocks noGrp="1" noChangeArrowheads="1"/>
          </p:cNvSpPr>
          <p:nvPr>
            <p:ph type="body" idx="1"/>
          </p:nvPr>
        </p:nvSpPr>
        <p:spPr>
          <a:xfrm>
            <a:off x="495300" y="1504950"/>
            <a:ext cx="8193088" cy="2706687"/>
          </a:xfrm>
        </p:spPr>
        <p:txBody>
          <a:bodyPr/>
          <a:lstStyle/>
          <a:p>
            <a:pPr marL="0" indent="0" eaLnBrk="1" hangingPunct="1">
              <a:buNone/>
            </a:pPr>
            <a:r>
              <a:rPr lang="en-US" sz="2000" b="1" dirty="0" smtClean="0"/>
              <a:t>Step 1:</a:t>
            </a:r>
          </a:p>
          <a:p>
            <a:pPr marL="0" indent="0" eaLnBrk="1" hangingPunct="1">
              <a:buNone/>
            </a:pPr>
            <a:r>
              <a:rPr lang="en-US" sz="2000" i="1" dirty="0" smtClean="0"/>
              <a:t>    H</a:t>
            </a:r>
            <a:r>
              <a:rPr lang="en-US" sz="2000" baseline="-25000" dirty="0" smtClean="0"/>
              <a:t>0</a:t>
            </a:r>
            <a:r>
              <a:rPr lang="en-US" sz="2000" dirty="0" smtClean="0"/>
              <a:t>: </a:t>
            </a:r>
            <a:r>
              <a:rPr lang="el-GR" sz="2000" dirty="0" smtClean="0">
                <a:latin typeface="Times New Roman" charset="0"/>
                <a:cs typeface="Times New Roman" charset="0"/>
              </a:rPr>
              <a:t>μ</a:t>
            </a:r>
            <a:r>
              <a:rPr lang="en-GB" sz="2000" baseline="-25000" dirty="0" smtClean="0"/>
              <a:t>1</a:t>
            </a:r>
            <a:r>
              <a:rPr lang="en-GB" sz="2000" dirty="0" smtClean="0"/>
              <a:t> – </a:t>
            </a:r>
            <a:r>
              <a:rPr lang="el-GR" sz="2000" dirty="0" smtClean="0">
                <a:latin typeface="Times New Roman" charset="0"/>
                <a:cs typeface="Times New Roman" charset="0"/>
              </a:rPr>
              <a:t>μ</a:t>
            </a:r>
            <a:r>
              <a:rPr lang="en-GB" sz="2000" baseline="-25000" dirty="0" smtClean="0"/>
              <a:t>2</a:t>
            </a:r>
            <a:r>
              <a:rPr lang="en-GB" sz="2000" dirty="0" smtClean="0"/>
              <a:t> = 0   </a:t>
            </a:r>
          </a:p>
          <a:p>
            <a:pPr marL="457200" lvl="1" indent="0" eaLnBrk="1" hangingPunct="1">
              <a:buNone/>
            </a:pPr>
            <a:r>
              <a:rPr lang="en-GB" sz="2000" dirty="0" smtClean="0"/>
              <a:t>    (The mean numbers of calories are not different)</a:t>
            </a:r>
          </a:p>
          <a:p>
            <a:pPr marL="0" indent="0" eaLnBrk="1" hangingPunct="1">
              <a:buNone/>
            </a:pPr>
            <a:r>
              <a:rPr lang="en-GB" sz="2000" i="1" dirty="0" smtClean="0"/>
              <a:t>    H</a:t>
            </a:r>
            <a:r>
              <a:rPr lang="en-GB" sz="2000" baseline="-25000" dirty="0" smtClean="0"/>
              <a:t>1</a:t>
            </a:r>
            <a:r>
              <a:rPr lang="en-GB" sz="2000" dirty="0" smtClean="0"/>
              <a:t>: </a:t>
            </a:r>
            <a:r>
              <a:rPr lang="el-GR" sz="2000" dirty="0" smtClean="0">
                <a:latin typeface="Times New Roman" charset="0"/>
                <a:cs typeface="Times New Roman" charset="0"/>
              </a:rPr>
              <a:t>μ</a:t>
            </a:r>
            <a:r>
              <a:rPr lang="en-GB" sz="2000" baseline="-25000" dirty="0" smtClean="0"/>
              <a:t>1</a:t>
            </a:r>
            <a:r>
              <a:rPr lang="en-GB" sz="2000" dirty="0" smtClean="0"/>
              <a:t> – </a:t>
            </a:r>
            <a:r>
              <a:rPr lang="el-GR" sz="2000" dirty="0" smtClean="0">
                <a:latin typeface="Times New Roman" charset="0"/>
                <a:cs typeface="Times New Roman" charset="0"/>
              </a:rPr>
              <a:t>μ</a:t>
            </a:r>
            <a:r>
              <a:rPr lang="en-GB" sz="2000" baseline="-25000" dirty="0" smtClean="0"/>
              <a:t>2 </a:t>
            </a:r>
            <a:r>
              <a:rPr lang="en-GB" sz="2000" dirty="0" smtClean="0">
                <a:cs typeface="Arial" charset="0"/>
              </a:rPr>
              <a:t>≠</a:t>
            </a:r>
            <a:r>
              <a:rPr lang="en-GB" sz="2000" dirty="0" smtClean="0"/>
              <a:t> 0    </a:t>
            </a:r>
          </a:p>
          <a:p>
            <a:pPr marL="457200" lvl="1" indent="0" eaLnBrk="1" hangingPunct="1">
              <a:buNone/>
            </a:pPr>
            <a:r>
              <a:rPr lang="en-GB" sz="2000" dirty="0" smtClean="0"/>
              <a:t>    (The mean numbers of calories are different)</a:t>
            </a:r>
            <a:endParaRPr lang="en-US" sz="2000" dirty="0" smtClean="0"/>
          </a:p>
          <a:p>
            <a:pPr eaLnBrk="1" hangingPunct="1">
              <a:buFont typeface="Wingdings" charset="2"/>
              <a:buNone/>
            </a:pPr>
            <a:endParaRPr lang="en-US" dirty="0" smtClean="0"/>
          </a:p>
        </p:txBody>
      </p:sp>
      <p:sp>
        <p:nvSpPr>
          <p:cNvPr id="6" name="Text Box 4"/>
          <p:cNvSpPr txBox="1">
            <a:spLocks noChangeArrowheads="1"/>
          </p:cNvSpPr>
          <p:nvPr/>
        </p:nvSpPr>
        <p:spPr bwMode="auto">
          <a:xfrm>
            <a:off x="4049486" y="6172200"/>
            <a:ext cx="47815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p:cNvSpPr>
            <a:spLocks noGrp="1" noChangeArrowheads="1"/>
          </p:cNvSpPr>
          <p:nvPr>
            <p:ph type="title"/>
          </p:nvPr>
        </p:nvSpPr>
        <p:spPr/>
        <p:txBody>
          <a:bodyPr/>
          <a:lstStyle/>
          <a:p>
            <a:pPr eaLnBrk="1" hangingPunct="1"/>
            <a:r>
              <a:rPr lang="en-US" sz="2800" dirty="0" smtClean="0"/>
              <a:t>Example 10-9: Solution</a:t>
            </a:r>
          </a:p>
        </p:txBody>
      </p:sp>
      <p:sp>
        <p:nvSpPr>
          <p:cNvPr id="100355" name="Rectangle 3"/>
          <p:cNvSpPr>
            <a:spLocks noGrp="1" noChangeArrowheads="1"/>
          </p:cNvSpPr>
          <p:nvPr>
            <p:ph type="body" idx="1"/>
          </p:nvPr>
        </p:nvSpPr>
        <p:spPr>
          <a:xfrm>
            <a:off x="476250" y="1504950"/>
            <a:ext cx="8345488" cy="2706687"/>
          </a:xfrm>
        </p:spPr>
        <p:txBody>
          <a:bodyPr/>
          <a:lstStyle/>
          <a:p>
            <a:pPr marL="0" indent="0" eaLnBrk="1" hangingPunct="1">
              <a:buNone/>
            </a:pPr>
            <a:r>
              <a:rPr lang="en-US" sz="2000" b="1" dirty="0" smtClean="0"/>
              <a:t>Step 2:</a:t>
            </a:r>
          </a:p>
          <a:p>
            <a:pPr marL="0" indent="0" eaLnBrk="1" hangingPunct="1">
              <a:buNone/>
            </a:pPr>
            <a:r>
              <a:rPr lang="en-US" sz="2000" dirty="0" smtClean="0"/>
              <a:t>  The two samples are independent</a:t>
            </a:r>
          </a:p>
          <a:p>
            <a:pPr marL="0" indent="0" eaLnBrk="1" hangingPunct="1">
              <a:buNone/>
            </a:pPr>
            <a:r>
              <a:rPr lang="en-US" sz="2000" dirty="0" smtClean="0"/>
              <a:t>   Standard deviations of the two populations are unknown and </a:t>
            </a:r>
          </a:p>
          <a:p>
            <a:pPr marL="0" indent="0" eaLnBrk="1" hangingPunct="1">
              <a:buNone/>
            </a:pPr>
            <a:r>
              <a:rPr lang="en-US" sz="2000" dirty="0"/>
              <a:t> </a:t>
            </a:r>
            <a:r>
              <a:rPr lang="en-US" sz="2000" dirty="0" smtClean="0"/>
              <a:t>  unequal</a:t>
            </a:r>
          </a:p>
          <a:p>
            <a:pPr marL="0" indent="0" eaLnBrk="1" hangingPunct="1">
              <a:buNone/>
            </a:pPr>
            <a:r>
              <a:rPr lang="en-US" sz="2000" dirty="0" smtClean="0"/>
              <a:t>   Both populations are normally distributed</a:t>
            </a:r>
          </a:p>
          <a:p>
            <a:pPr marL="0" indent="0" eaLnBrk="1" hangingPunct="1">
              <a:buNone/>
            </a:pPr>
            <a:r>
              <a:rPr lang="en-US" sz="2000" dirty="0" smtClean="0"/>
              <a:t>   We use the </a:t>
            </a:r>
            <a:r>
              <a:rPr lang="en-US" sz="2000" i="1" dirty="0" smtClean="0">
                <a:latin typeface="Times New Roman" charset="0"/>
              </a:rPr>
              <a:t>t</a:t>
            </a:r>
            <a:r>
              <a:rPr lang="en-US" sz="2000" dirty="0" smtClean="0"/>
              <a:t> distribution to make the test</a:t>
            </a:r>
          </a:p>
          <a:p>
            <a:pPr eaLnBrk="1" hangingPunct="1"/>
            <a:endParaRPr lang="en-US" dirty="0" smtClean="0"/>
          </a:p>
        </p:txBody>
      </p:sp>
      <p:sp>
        <p:nvSpPr>
          <p:cNvPr id="6" name="Text Box 4"/>
          <p:cNvSpPr txBox="1">
            <a:spLocks noChangeArrowheads="1"/>
          </p:cNvSpPr>
          <p:nvPr/>
        </p:nvSpPr>
        <p:spPr bwMode="auto">
          <a:xfrm>
            <a:off x="4049486" y="6172200"/>
            <a:ext cx="47815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p:cNvSpPr>
            <a:spLocks noGrp="1" noChangeArrowheads="1"/>
          </p:cNvSpPr>
          <p:nvPr>
            <p:ph type="title"/>
          </p:nvPr>
        </p:nvSpPr>
        <p:spPr/>
        <p:txBody>
          <a:bodyPr/>
          <a:lstStyle/>
          <a:p>
            <a:pPr eaLnBrk="1" hangingPunct="1"/>
            <a:r>
              <a:rPr lang="en-US" sz="2800" dirty="0" smtClean="0"/>
              <a:t>Example 10-9: Solution</a:t>
            </a:r>
          </a:p>
        </p:txBody>
      </p:sp>
      <p:sp>
        <p:nvSpPr>
          <p:cNvPr id="101379" name="Rectangle 3"/>
          <p:cNvSpPr>
            <a:spLocks noGrp="1" noChangeArrowheads="1"/>
          </p:cNvSpPr>
          <p:nvPr>
            <p:ph type="body" idx="1"/>
          </p:nvPr>
        </p:nvSpPr>
        <p:spPr>
          <a:xfrm>
            <a:off x="495300" y="1524000"/>
            <a:ext cx="8345488" cy="2478087"/>
          </a:xfrm>
        </p:spPr>
        <p:txBody>
          <a:bodyPr/>
          <a:lstStyle/>
          <a:p>
            <a:pPr marL="0" indent="0" eaLnBrk="1" hangingPunct="1">
              <a:buNone/>
            </a:pPr>
            <a:r>
              <a:rPr lang="en-US" sz="2000" b="1" dirty="0" smtClean="0"/>
              <a:t>Step 3:</a:t>
            </a:r>
          </a:p>
          <a:p>
            <a:pPr marL="0" indent="0" eaLnBrk="1" hangingPunct="1">
              <a:buNone/>
            </a:pPr>
            <a:r>
              <a:rPr lang="en-US" sz="2000" dirty="0" smtClean="0"/>
              <a:t>   The ≠ in the alternative hypothesis indicates that the test is </a:t>
            </a:r>
          </a:p>
          <a:p>
            <a:pPr marL="0" indent="0" eaLnBrk="1" hangingPunct="1">
              <a:buNone/>
            </a:pPr>
            <a:r>
              <a:rPr lang="en-US" sz="2000" dirty="0"/>
              <a:t> </a:t>
            </a:r>
            <a:r>
              <a:rPr lang="en-US" sz="2000" dirty="0" smtClean="0"/>
              <a:t>  two-tailed.</a:t>
            </a:r>
          </a:p>
          <a:p>
            <a:pPr marL="0" indent="0" eaLnBrk="1" hangingPunct="1">
              <a:buNone/>
            </a:pPr>
            <a:r>
              <a:rPr lang="en-US" sz="2000" dirty="0" smtClean="0">
                <a:latin typeface="Times New Roman" charset="0"/>
                <a:cs typeface="Times New Roman" charset="0"/>
              </a:rPr>
              <a:t>     </a:t>
            </a:r>
            <a:r>
              <a:rPr lang="el-GR" sz="2000" dirty="0" smtClean="0">
                <a:latin typeface="Times New Roman" charset="0"/>
                <a:cs typeface="Times New Roman" charset="0"/>
              </a:rPr>
              <a:t>α</a:t>
            </a:r>
            <a:r>
              <a:rPr lang="en-GB" sz="2000" dirty="0" smtClean="0">
                <a:latin typeface="Times New Roman" charset="0"/>
                <a:cs typeface="Times New Roman" charset="0"/>
              </a:rPr>
              <a:t> </a:t>
            </a:r>
            <a:r>
              <a:rPr lang="en-GB" sz="2000" dirty="0" smtClean="0">
                <a:cs typeface="Times New Roman" charset="0"/>
              </a:rPr>
              <a:t>= .01</a:t>
            </a:r>
          </a:p>
          <a:p>
            <a:pPr marL="0" indent="0" eaLnBrk="1" hangingPunct="1">
              <a:buNone/>
            </a:pPr>
            <a:r>
              <a:rPr lang="en-GB" sz="2000" dirty="0" smtClean="0">
                <a:cs typeface="Times New Roman" charset="0"/>
              </a:rPr>
              <a:t>   Area in each tail = </a:t>
            </a:r>
            <a:r>
              <a:rPr lang="el-GR" sz="2000" dirty="0" smtClean="0">
                <a:latin typeface="Times New Roman" charset="0"/>
                <a:cs typeface="Times New Roman" charset="0"/>
              </a:rPr>
              <a:t>α</a:t>
            </a:r>
            <a:r>
              <a:rPr lang="en-GB" sz="2000" dirty="0" smtClean="0">
                <a:latin typeface="Times New Roman" charset="0"/>
                <a:cs typeface="Times New Roman" charset="0"/>
              </a:rPr>
              <a:t> </a:t>
            </a:r>
            <a:r>
              <a:rPr lang="en-GB" sz="2000" dirty="0" smtClean="0">
                <a:cs typeface="Times New Roman" charset="0"/>
              </a:rPr>
              <a:t>/ 2 = .01 / 2 =.005</a:t>
            </a:r>
            <a:endParaRPr lang="en-US" sz="2000" dirty="0" smtClean="0">
              <a:cs typeface="Times New Roman" charset="0"/>
            </a:endParaRPr>
          </a:p>
          <a:p>
            <a:pPr marL="0" indent="0" eaLnBrk="1" hangingPunct="1">
              <a:buNone/>
            </a:pPr>
            <a:r>
              <a:rPr lang="en-US" sz="2000" dirty="0" smtClean="0">
                <a:cs typeface="Times New Roman" charset="0"/>
              </a:rPr>
              <a:t>   The critical values of t are  -2.771  and 2.771</a:t>
            </a:r>
          </a:p>
        </p:txBody>
      </p:sp>
      <p:sp>
        <p:nvSpPr>
          <p:cNvPr id="6" name="Text Box 4"/>
          <p:cNvSpPr txBox="1">
            <a:spLocks noChangeArrowheads="1"/>
          </p:cNvSpPr>
          <p:nvPr/>
        </p:nvSpPr>
        <p:spPr bwMode="auto">
          <a:xfrm>
            <a:off x="4049486" y="6172200"/>
            <a:ext cx="47815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Rectangle 2"/>
          <p:cNvSpPr>
            <a:spLocks noGrp="1" noChangeArrowheads="1"/>
          </p:cNvSpPr>
          <p:nvPr>
            <p:ph type="title"/>
          </p:nvPr>
        </p:nvSpPr>
        <p:spPr/>
        <p:txBody>
          <a:bodyPr/>
          <a:lstStyle/>
          <a:p>
            <a:pPr eaLnBrk="1" hangingPunct="1"/>
            <a:r>
              <a:rPr lang="en-US" sz="2800" dirty="0" smtClean="0"/>
              <a:t>Example 10-9: Solution</a:t>
            </a:r>
          </a:p>
        </p:txBody>
      </p:sp>
      <p:graphicFrame>
        <p:nvGraphicFramePr>
          <p:cNvPr id="22530" name="Object 2"/>
          <p:cNvGraphicFramePr>
            <a:graphicFrameLocks noChangeAspect="1"/>
          </p:cNvGraphicFramePr>
          <p:nvPr>
            <p:extLst>
              <p:ext uri="{D42A27DB-BD31-4B8C-83A1-F6EECF244321}">
                <p14:modId xmlns:p14="http://schemas.microsoft.com/office/powerpoint/2010/main" val="2677122003"/>
              </p:ext>
            </p:extLst>
          </p:nvPr>
        </p:nvGraphicFramePr>
        <p:xfrm>
          <a:off x="762000" y="1752600"/>
          <a:ext cx="6335712" cy="2098110"/>
        </p:xfrm>
        <a:graphic>
          <a:graphicData uri="http://schemas.openxmlformats.org/presentationml/2006/ole">
            <mc:AlternateContent xmlns:mc="http://schemas.openxmlformats.org/markup-compatibility/2006">
              <mc:Choice xmlns:v="urn:schemas-microsoft-com:vml" Requires="v">
                <p:oleObj spid="_x0000_s22576" name="Equation" r:id="rId3" imgW="3606480" imgH="1193760" progId="">
                  <p:embed/>
                </p:oleObj>
              </mc:Choice>
              <mc:Fallback>
                <p:oleObj name="Equation" r:id="rId3" imgW="3606480" imgH="1193760" progId="">
                  <p:embed/>
                  <p:pic>
                    <p:nvPicPr>
                      <p:cNvPr id="0" name="Picture 3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0" y="1752600"/>
                        <a:ext cx="6335712" cy="209811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Text Box 4"/>
          <p:cNvSpPr txBox="1">
            <a:spLocks noChangeArrowheads="1"/>
          </p:cNvSpPr>
          <p:nvPr/>
        </p:nvSpPr>
        <p:spPr bwMode="auto">
          <a:xfrm>
            <a:off x="4049486" y="6172200"/>
            <a:ext cx="47815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3"/>
          <p:cNvSpPr>
            <a:spLocks noGrp="1" noChangeArrowheads="1"/>
          </p:cNvSpPr>
          <p:nvPr>
            <p:ph type="title"/>
          </p:nvPr>
        </p:nvSpPr>
        <p:spPr/>
        <p:txBody>
          <a:bodyPr/>
          <a:lstStyle/>
          <a:p>
            <a:pPr eaLnBrk="1" hangingPunct="1"/>
            <a:r>
              <a:rPr lang="en-US" sz="2800" dirty="0" smtClean="0"/>
              <a:t>Figure 10.5</a:t>
            </a:r>
          </a:p>
        </p:txBody>
      </p:sp>
      <p:sp>
        <p:nvSpPr>
          <p:cNvPr id="6" name="Text Box 4"/>
          <p:cNvSpPr txBox="1">
            <a:spLocks noChangeArrowheads="1"/>
          </p:cNvSpPr>
          <p:nvPr/>
        </p:nvSpPr>
        <p:spPr bwMode="auto">
          <a:xfrm>
            <a:off x="4049486" y="6172200"/>
            <a:ext cx="47815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99679" y="1671392"/>
            <a:ext cx="6744642" cy="3515216"/>
          </a:xfrm>
          <a:prstGeom prst="rect">
            <a:avLst/>
          </a:prstGeom>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Rectangle 2"/>
          <p:cNvSpPr>
            <a:spLocks noGrp="1" noChangeArrowheads="1"/>
          </p:cNvSpPr>
          <p:nvPr>
            <p:ph type="title"/>
          </p:nvPr>
        </p:nvSpPr>
        <p:spPr/>
        <p:txBody>
          <a:bodyPr/>
          <a:lstStyle/>
          <a:p>
            <a:pPr eaLnBrk="1" hangingPunct="1"/>
            <a:r>
              <a:rPr lang="en-US" sz="2800" dirty="0" smtClean="0"/>
              <a:t>Example 10-9: Solution</a:t>
            </a:r>
          </a:p>
        </p:txBody>
      </p:sp>
      <p:graphicFrame>
        <p:nvGraphicFramePr>
          <p:cNvPr id="23554" name="Object 2"/>
          <p:cNvGraphicFramePr>
            <a:graphicFrameLocks noChangeAspect="1"/>
          </p:cNvGraphicFramePr>
          <p:nvPr>
            <p:extLst>
              <p:ext uri="{D42A27DB-BD31-4B8C-83A1-F6EECF244321}">
                <p14:modId xmlns:p14="http://schemas.microsoft.com/office/powerpoint/2010/main" val="3064679481"/>
              </p:ext>
            </p:extLst>
          </p:nvPr>
        </p:nvGraphicFramePr>
        <p:xfrm>
          <a:off x="990600" y="2133600"/>
          <a:ext cx="5525294" cy="1756124"/>
        </p:xfrm>
        <a:graphic>
          <a:graphicData uri="http://schemas.openxmlformats.org/presentationml/2006/ole">
            <mc:AlternateContent xmlns:mc="http://schemas.openxmlformats.org/markup-compatibility/2006">
              <mc:Choice xmlns:v="urn:schemas-microsoft-com:vml" Requires="v">
                <p:oleObj spid="_x0000_s23601" name="Equation" r:id="rId3" imgW="3213000" imgH="965160" progId="">
                  <p:embed/>
                </p:oleObj>
              </mc:Choice>
              <mc:Fallback>
                <p:oleObj name="Equation" r:id="rId3" imgW="3213000" imgH="965160" progId="">
                  <p:embed/>
                  <p:pic>
                    <p:nvPicPr>
                      <p:cNvPr id="0" name="Picture 3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90600" y="2133600"/>
                        <a:ext cx="5525294" cy="175612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3557" name="Text Box 8"/>
          <p:cNvSpPr txBox="1">
            <a:spLocks noChangeArrowheads="1"/>
          </p:cNvSpPr>
          <p:nvPr/>
        </p:nvSpPr>
        <p:spPr bwMode="auto">
          <a:xfrm>
            <a:off x="457200" y="1447800"/>
            <a:ext cx="22098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charset="0"/>
                <a:ea typeface="ＭＳ Ｐゴシック" charset="-128"/>
              </a:defRPr>
            </a:lvl1pPr>
            <a:lvl2pPr marL="742950" indent="-285750">
              <a:defRPr>
                <a:solidFill>
                  <a:schemeClr val="tx1"/>
                </a:solidFill>
                <a:latin typeface="Verdana" charset="0"/>
                <a:ea typeface="ＭＳ Ｐゴシック" charset="-128"/>
              </a:defRPr>
            </a:lvl2pPr>
            <a:lvl3pPr marL="1143000" indent="-228600">
              <a:defRPr>
                <a:solidFill>
                  <a:schemeClr val="tx1"/>
                </a:solidFill>
                <a:latin typeface="Verdana" charset="0"/>
                <a:ea typeface="ＭＳ Ｐゴシック" charset="-128"/>
              </a:defRPr>
            </a:lvl3pPr>
            <a:lvl4pPr marL="1600200" indent="-228600">
              <a:defRPr>
                <a:solidFill>
                  <a:schemeClr val="tx1"/>
                </a:solidFill>
                <a:latin typeface="Verdana" charset="0"/>
                <a:ea typeface="ＭＳ Ｐゴシック" charset="-128"/>
              </a:defRPr>
            </a:lvl4pPr>
            <a:lvl5pPr marL="2057400" indent="-228600">
              <a:defRPr>
                <a:solidFill>
                  <a:schemeClr val="tx1"/>
                </a:solidFill>
                <a:latin typeface="Verdana" charset="0"/>
                <a:ea typeface="ＭＳ Ｐゴシック" charset="-128"/>
              </a:defRPr>
            </a:lvl5pPr>
            <a:lvl6pPr marL="2514600" indent="-228600" eaLnBrk="0" fontAlgn="base" hangingPunct="0">
              <a:spcBef>
                <a:spcPct val="0"/>
              </a:spcBef>
              <a:spcAft>
                <a:spcPct val="0"/>
              </a:spcAft>
              <a:defRPr>
                <a:solidFill>
                  <a:schemeClr val="tx1"/>
                </a:solidFill>
                <a:latin typeface="Verdana" charset="0"/>
                <a:ea typeface="ＭＳ Ｐゴシック" charset="-128"/>
              </a:defRPr>
            </a:lvl6pPr>
            <a:lvl7pPr marL="2971800" indent="-228600" eaLnBrk="0" fontAlgn="base" hangingPunct="0">
              <a:spcBef>
                <a:spcPct val="0"/>
              </a:spcBef>
              <a:spcAft>
                <a:spcPct val="0"/>
              </a:spcAft>
              <a:defRPr>
                <a:solidFill>
                  <a:schemeClr val="tx1"/>
                </a:solidFill>
                <a:latin typeface="Verdana" charset="0"/>
                <a:ea typeface="ＭＳ Ｐゴシック" charset="-128"/>
              </a:defRPr>
            </a:lvl7pPr>
            <a:lvl8pPr marL="3429000" indent="-228600" eaLnBrk="0" fontAlgn="base" hangingPunct="0">
              <a:spcBef>
                <a:spcPct val="0"/>
              </a:spcBef>
              <a:spcAft>
                <a:spcPct val="0"/>
              </a:spcAft>
              <a:defRPr>
                <a:solidFill>
                  <a:schemeClr val="tx1"/>
                </a:solidFill>
                <a:latin typeface="Verdana" charset="0"/>
                <a:ea typeface="ＭＳ Ｐゴシック" charset="-128"/>
              </a:defRPr>
            </a:lvl8pPr>
            <a:lvl9pPr marL="3886200" indent="-228600" eaLnBrk="0" fontAlgn="base" hangingPunct="0">
              <a:spcBef>
                <a:spcPct val="0"/>
              </a:spcBef>
              <a:spcAft>
                <a:spcPct val="0"/>
              </a:spcAft>
              <a:defRPr>
                <a:solidFill>
                  <a:schemeClr val="tx1"/>
                </a:solidFill>
                <a:latin typeface="Verdana" charset="0"/>
                <a:ea typeface="ＭＳ Ｐゴシック" charset="-128"/>
              </a:defRPr>
            </a:lvl9pPr>
          </a:lstStyle>
          <a:p>
            <a:pPr>
              <a:spcBef>
                <a:spcPct val="50000"/>
              </a:spcBef>
            </a:pPr>
            <a:r>
              <a:rPr lang="en-US" sz="2000" b="1" dirty="0"/>
              <a:t>Step 4:</a:t>
            </a:r>
          </a:p>
        </p:txBody>
      </p:sp>
      <p:sp>
        <p:nvSpPr>
          <p:cNvPr id="7" name="Text Box 4"/>
          <p:cNvSpPr txBox="1">
            <a:spLocks noChangeArrowheads="1"/>
          </p:cNvSpPr>
          <p:nvPr/>
        </p:nvSpPr>
        <p:spPr bwMode="auto">
          <a:xfrm>
            <a:off x="4049486" y="6172200"/>
            <a:ext cx="47815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p:cNvSpPr>
            <a:spLocks noGrp="1" noChangeArrowheads="1"/>
          </p:cNvSpPr>
          <p:nvPr>
            <p:ph type="title"/>
          </p:nvPr>
        </p:nvSpPr>
        <p:spPr/>
        <p:txBody>
          <a:bodyPr/>
          <a:lstStyle/>
          <a:p>
            <a:pPr eaLnBrk="1" hangingPunct="1"/>
            <a:r>
              <a:rPr lang="en-US" sz="2800" dirty="0" smtClean="0"/>
              <a:t>Example 10-9: Solution</a:t>
            </a:r>
          </a:p>
        </p:txBody>
      </p:sp>
      <p:sp>
        <p:nvSpPr>
          <p:cNvPr id="103427" name="Rectangle 3"/>
          <p:cNvSpPr>
            <a:spLocks noGrp="1" noChangeArrowheads="1"/>
          </p:cNvSpPr>
          <p:nvPr>
            <p:ph type="body" idx="1"/>
          </p:nvPr>
        </p:nvSpPr>
        <p:spPr>
          <a:xfrm>
            <a:off x="476250" y="1543050"/>
            <a:ext cx="8269288" cy="2876550"/>
          </a:xfrm>
        </p:spPr>
        <p:txBody>
          <a:bodyPr/>
          <a:lstStyle/>
          <a:p>
            <a:pPr marL="0" indent="0" eaLnBrk="1" hangingPunct="1">
              <a:buNone/>
            </a:pPr>
            <a:r>
              <a:rPr lang="en-US" sz="2000" b="1" dirty="0" smtClean="0"/>
              <a:t>Step 5: </a:t>
            </a:r>
          </a:p>
          <a:p>
            <a:pPr marL="0" indent="0" eaLnBrk="1" hangingPunct="1">
              <a:buNone/>
            </a:pPr>
            <a:r>
              <a:rPr lang="en-US" sz="2000" dirty="0" smtClean="0"/>
              <a:t>   The test statistic </a:t>
            </a:r>
            <a:r>
              <a:rPr lang="en-US" sz="2000" i="1" dirty="0" smtClean="0"/>
              <a:t>t</a:t>
            </a:r>
            <a:r>
              <a:rPr lang="en-US" sz="2000" dirty="0" smtClean="0"/>
              <a:t> = -1.560 </a:t>
            </a:r>
          </a:p>
          <a:p>
            <a:pPr lvl="1" eaLnBrk="1" hangingPunct="1"/>
            <a:r>
              <a:rPr lang="en-US" sz="2000" dirty="0" smtClean="0"/>
              <a:t>It falls in the </a:t>
            </a:r>
            <a:r>
              <a:rPr lang="en-US" sz="2000" dirty="0" err="1" smtClean="0"/>
              <a:t>nonrejection</a:t>
            </a:r>
            <a:r>
              <a:rPr lang="en-US" sz="2000" dirty="0" smtClean="0"/>
              <a:t> region</a:t>
            </a:r>
          </a:p>
          <a:p>
            <a:pPr marL="0" indent="0" eaLnBrk="1" hangingPunct="1">
              <a:buNone/>
            </a:pPr>
            <a:r>
              <a:rPr lang="en-US" sz="2000" dirty="0" smtClean="0"/>
              <a:t>   Therefore, we fail to reject the null hypothesis</a:t>
            </a:r>
          </a:p>
          <a:p>
            <a:pPr marL="0" indent="0" eaLnBrk="1" hangingPunct="1">
              <a:buNone/>
            </a:pPr>
            <a:r>
              <a:rPr lang="en-US" sz="2000" dirty="0" smtClean="0"/>
              <a:t>   </a:t>
            </a:r>
          </a:p>
          <a:p>
            <a:pPr marL="0" indent="0" eaLnBrk="1" hangingPunct="1">
              <a:buNone/>
            </a:pPr>
            <a:r>
              <a:rPr lang="en-US" sz="2000" dirty="0"/>
              <a:t> </a:t>
            </a:r>
            <a:r>
              <a:rPr lang="en-US" sz="2000" dirty="0" smtClean="0"/>
              <a:t>  Hence, there is no difference in the mean numbers of </a:t>
            </a:r>
          </a:p>
          <a:p>
            <a:pPr marL="0" indent="0" eaLnBrk="1" hangingPunct="1">
              <a:buNone/>
            </a:pPr>
            <a:r>
              <a:rPr lang="en-US" sz="2000" dirty="0"/>
              <a:t> </a:t>
            </a:r>
            <a:r>
              <a:rPr lang="en-US" sz="2000" dirty="0" smtClean="0"/>
              <a:t>  calories per can for the two brands of diet soda.</a:t>
            </a:r>
          </a:p>
        </p:txBody>
      </p:sp>
      <p:sp>
        <p:nvSpPr>
          <p:cNvPr id="6" name="Text Box 4"/>
          <p:cNvSpPr txBox="1">
            <a:spLocks noChangeArrowheads="1"/>
          </p:cNvSpPr>
          <p:nvPr/>
        </p:nvSpPr>
        <p:spPr bwMode="auto">
          <a:xfrm>
            <a:off x="4049486" y="6172200"/>
            <a:ext cx="47815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
          <p:cNvSpPr>
            <a:spLocks noGrp="1" noChangeArrowheads="1"/>
          </p:cNvSpPr>
          <p:nvPr>
            <p:ph type="title"/>
          </p:nvPr>
        </p:nvSpPr>
        <p:spPr/>
        <p:txBody>
          <a:bodyPr/>
          <a:lstStyle/>
          <a:p>
            <a:pPr eaLnBrk="1" hangingPunct="1"/>
            <a:r>
              <a:rPr lang="en-GB" sz="2400" dirty="0" smtClean="0"/>
              <a:t>INFERENCES ABOUT THE DIFFERENCE BETWEEN </a:t>
            </a:r>
            <a:br>
              <a:rPr lang="en-GB" sz="2400" dirty="0" smtClean="0"/>
            </a:br>
            <a:r>
              <a:rPr lang="en-GB" sz="2400" dirty="0" smtClean="0"/>
              <a:t>TWO POPULATION MEANS FOR PAIRED SAMPLES</a:t>
            </a:r>
            <a:endParaRPr lang="en-US" sz="2400" dirty="0" smtClean="0"/>
          </a:p>
        </p:txBody>
      </p:sp>
      <p:sp>
        <p:nvSpPr>
          <p:cNvPr id="104451" name="Rectangle 3"/>
          <p:cNvSpPr>
            <a:spLocks noGrp="1" noChangeArrowheads="1"/>
          </p:cNvSpPr>
          <p:nvPr>
            <p:ph type="body" idx="1"/>
          </p:nvPr>
        </p:nvSpPr>
        <p:spPr>
          <a:xfrm>
            <a:off x="438150" y="1560513"/>
            <a:ext cx="7486650" cy="2173287"/>
          </a:xfrm>
        </p:spPr>
        <p:txBody>
          <a:bodyPr/>
          <a:lstStyle/>
          <a:p>
            <a:pPr eaLnBrk="1" hangingPunct="1"/>
            <a:r>
              <a:rPr lang="en-US" sz="2000" dirty="0" smtClean="0"/>
              <a:t>Interval Estimation of </a:t>
            </a:r>
            <a:r>
              <a:rPr lang="el-GR" sz="2000" dirty="0" smtClean="0">
                <a:latin typeface="Times New Roman" charset="0"/>
                <a:cs typeface="Times New Roman" charset="0"/>
              </a:rPr>
              <a:t>μ</a:t>
            </a:r>
            <a:r>
              <a:rPr lang="en-GB" sz="2000" i="1" baseline="-25000" dirty="0" smtClean="0">
                <a:latin typeface="Times New Roman" charset="0"/>
                <a:cs typeface="Times New Roman" charset="0"/>
              </a:rPr>
              <a:t>d</a:t>
            </a:r>
          </a:p>
          <a:p>
            <a:pPr eaLnBrk="1" hangingPunct="1"/>
            <a:r>
              <a:rPr lang="en-GB" sz="2000" dirty="0" smtClean="0">
                <a:cs typeface="Times New Roman" charset="0"/>
              </a:rPr>
              <a:t>Hypothesis Testing About </a:t>
            </a:r>
            <a:r>
              <a:rPr lang="el-GR" sz="2000" dirty="0" smtClean="0">
                <a:latin typeface="Times New Roman" charset="0"/>
                <a:cs typeface="Times New Roman" charset="0"/>
              </a:rPr>
              <a:t>μ</a:t>
            </a:r>
            <a:r>
              <a:rPr lang="en-GB" sz="2000" i="1" baseline="-25000" dirty="0" smtClean="0">
                <a:latin typeface="Times New Roman" charset="0"/>
                <a:cs typeface="Times New Roman" charset="0"/>
              </a:rPr>
              <a:t>d</a:t>
            </a:r>
          </a:p>
          <a:p>
            <a:pPr eaLnBrk="1" hangingPunct="1">
              <a:buFont typeface="Wingdings" charset="2"/>
              <a:buNone/>
            </a:pPr>
            <a:endParaRPr lang="el-GR" dirty="0" smtClean="0">
              <a:cs typeface="Times New Roman" charset="0"/>
            </a:endParaRPr>
          </a:p>
        </p:txBody>
      </p:sp>
      <p:sp>
        <p:nvSpPr>
          <p:cNvPr id="7" name="Text Box 4"/>
          <p:cNvSpPr txBox="1">
            <a:spLocks noChangeArrowheads="1"/>
          </p:cNvSpPr>
          <p:nvPr/>
        </p:nvSpPr>
        <p:spPr bwMode="auto">
          <a:xfrm>
            <a:off x="4049486" y="6172200"/>
            <a:ext cx="47815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381000"/>
            <a:ext cx="9144000" cy="1004427"/>
          </a:xfrm>
          <a:prstGeom prst="rect">
            <a:avLst/>
          </a:prstGeom>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p:cNvSpPr>
            <a:spLocks noGrp="1" noChangeArrowheads="1"/>
          </p:cNvSpPr>
          <p:nvPr>
            <p:ph type="title"/>
          </p:nvPr>
        </p:nvSpPr>
        <p:spPr>
          <a:xfrm>
            <a:off x="457200" y="277813"/>
            <a:ext cx="7848600" cy="1139825"/>
          </a:xfrm>
        </p:spPr>
        <p:txBody>
          <a:bodyPr/>
          <a:lstStyle/>
          <a:p>
            <a:pPr eaLnBrk="1" hangingPunct="1"/>
            <a:r>
              <a:rPr lang="en-GB" sz="2400" dirty="0" smtClean="0"/>
              <a:t>INFERENCES ABOUT THE DIFFERENCE BETWEEN TWO POPULATION MEANS FOR PAIRED SAMPLES</a:t>
            </a:r>
            <a:endParaRPr lang="en-US" sz="2400" dirty="0" smtClean="0"/>
          </a:p>
        </p:txBody>
      </p:sp>
      <p:sp>
        <p:nvSpPr>
          <p:cNvPr id="105475" name="Rectangle 3"/>
          <p:cNvSpPr>
            <a:spLocks noGrp="1" noChangeArrowheads="1"/>
          </p:cNvSpPr>
          <p:nvPr>
            <p:ph type="body" idx="1"/>
          </p:nvPr>
        </p:nvSpPr>
        <p:spPr>
          <a:xfrm>
            <a:off x="152400" y="1524000"/>
            <a:ext cx="8269288" cy="2438400"/>
          </a:xfrm>
        </p:spPr>
        <p:txBody>
          <a:bodyPr/>
          <a:lstStyle/>
          <a:p>
            <a:pPr eaLnBrk="1" hangingPunct="1">
              <a:buFont typeface="Wingdings" charset="2"/>
              <a:buChar char=" "/>
            </a:pPr>
            <a:r>
              <a:rPr lang="en-US" sz="2000" dirty="0" smtClean="0">
                <a:solidFill>
                  <a:schemeClr val="folHlink"/>
                </a:solidFill>
              </a:rPr>
              <a:t>Definition </a:t>
            </a:r>
          </a:p>
          <a:p>
            <a:pPr eaLnBrk="1" hangingPunct="1">
              <a:buFont typeface="Wingdings" charset="2"/>
              <a:buChar char=" "/>
            </a:pPr>
            <a:r>
              <a:rPr lang="en-US" sz="2000" dirty="0" smtClean="0"/>
              <a:t>Two samples are said to be </a:t>
            </a:r>
            <a:r>
              <a:rPr lang="en-US" sz="2000" b="1" i="1" u="sng" dirty="0" smtClean="0">
                <a:solidFill>
                  <a:schemeClr val="hlink"/>
                </a:solidFill>
              </a:rPr>
              <a:t>paired</a:t>
            </a:r>
            <a:r>
              <a:rPr lang="en-US" sz="2000" dirty="0" smtClean="0"/>
              <a:t> or </a:t>
            </a:r>
            <a:r>
              <a:rPr lang="en-US" sz="2000" b="1" i="1" u="sng" dirty="0" smtClean="0">
                <a:solidFill>
                  <a:schemeClr val="hlink"/>
                </a:solidFill>
              </a:rPr>
              <a:t>matched samples</a:t>
            </a:r>
            <a:r>
              <a:rPr lang="en-US" sz="2000" dirty="0" smtClean="0"/>
              <a:t> when for each data value collected from one sample there is a corresponding data value collected from the second sample, and both these data values are collected from the same source.</a:t>
            </a:r>
          </a:p>
        </p:txBody>
      </p:sp>
      <p:sp>
        <p:nvSpPr>
          <p:cNvPr id="6" name="Text Box 4"/>
          <p:cNvSpPr txBox="1">
            <a:spLocks noChangeArrowheads="1"/>
          </p:cNvSpPr>
          <p:nvPr/>
        </p:nvSpPr>
        <p:spPr bwMode="auto">
          <a:xfrm>
            <a:off x="4049486" y="6172200"/>
            <a:ext cx="47815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81" name="Rectangle 2"/>
          <p:cNvSpPr>
            <a:spLocks noGrp="1" noChangeArrowheads="1"/>
          </p:cNvSpPr>
          <p:nvPr>
            <p:ph type="title"/>
          </p:nvPr>
        </p:nvSpPr>
        <p:spPr>
          <a:xfrm>
            <a:off x="457200" y="277813"/>
            <a:ext cx="8001000" cy="1139825"/>
          </a:xfrm>
        </p:spPr>
        <p:txBody>
          <a:bodyPr/>
          <a:lstStyle/>
          <a:p>
            <a:pPr eaLnBrk="1" hangingPunct="1"/>
            <a:r>
              <a:rPr lang="en-GB" sz="2400" dirty="0" smtClean="0"/>
              <a:t>INFERENCES ABOUT THE DIFFERENCE BETWEEN TWO POPULATION MEANS FOR PAIRED SAMPLES</a:t>
            </a:r>
            <a:endParaRPr lang="en-US" sz="2400" dirty="0" smtClean="0"/>
          </a:p>
        </p:txBody>
      </p:sp>
      <p:sp>
        <p:nvSpPr>
          <p:cNvPr id="24582" name="Rectangle 3"/>
          <p:cNvSpPr>
            <a:spLocks noGrp="1" noChangeArrowheads="1"/>
          </p:cNvSpPr>
          <p:nvPr>
            <p:ph type="body" idx="1"/>
          </p:nvPr>
        </p:nvSpPr>
        <p:spPr>
          <a:xfrm>
            <a:off x="133350" y="1485900"/>
            <a:ext cx="8477250" cy="4114800"/>
          </a:xfrm>
        </p:spPr>
        <p:txBody>
          <a:bodyPr/>
          <a:lstStyle/>
          <a:p>
            <a:pPr eaLnBrk="1" hangingPunct="1">
              <a:buFont typeface="Wingdings" charset="2"/>
              <a:buChar char=" "/>
            </a:pPr>
            <a:r>
              <a:rPr lang="en-US" sz="2000" dirty="0" smtClean="0">
                <a:solidFill>
                  <a:schemeClr val="folHlink"/>
                </a:solidFill>
              </a:rPr>
              <a:t>Mean and Standard Deviation of the Paired Differences for Two Samples</a:t>
            </a:r>
          </a:p>
          <a:p>
            <a:pPr eaLnBrk="1" hangingPunct="1">
              <a:buFont typeface="Wingdings" charset="2"/>
              <a:buChar char=" "/>
            </a:pPr>
            <a:r>
              <a:rPr lang="en-US" sz="2000" dirty="0" smtClean="0"/>
              <a:t>The values of the mean and standard deviation,     and      , respectively, of paired differences for two samples are calculated as</a:t>
            </a:r>
          </a:p>
        </p:txBody>
      </p:sp>
      <p:graphicFrame>
        <p:nvGraphicFramePr>
          <p:cNvPr id="24578" name="Object 2"/>
          <p:cNvGraphicFramePr>
            <a:graphicFrameLocks noChangeAspect="1"/>
          </p:cNvGraphicFramePr>
          <p:nvPr>
            <p:extLst>
              <p:ext uri="{D42A27DB-BD31-4B8C-83A1-F6EECF244321}">
                <p14:modId xmlns:p14="http://schemas.microsoft.com/office/powerpoint/2010/main" val="2156231666"/>
              </p:ext>
            </p:extLst>
          </p:nvPr>
        </p:nvGraphicFramePr>
        <p:xfrm>
          <a:off x="2895600" y="3352800"/>
          <a:ext cx="3200400" cy="2064237"/>
        </p:xfrm>
        <a:graphic>
          <a:graphicData uri="http://schemas.openxmlformats.org/presentationml/2006/ole">
            <mc:AlternateContent xmlns:mc="http://schemas.openxmlformats.org/markup-compatibility/2006">
              <mc:Choice xmlns:v="urn:schemas-microsoft-com:vml" Requires="v">
                <p:oleObj spid="_x0000_s24709" name="Equation" r:id="rId3" imgW="1485720" imgH="1091880" progId="">
                  <p:embed/>
                </p:oleObj>
              </mc:Choice>
              <mc:Fallback>
                <p:oleObj name="Equation" r:id="rId3" imgW="1485720" imgH="1091880" progId="">
                  <p:embed/>
                  <p:pic>
                    <p:nvPicPr>
                      <p:cNvPr id="0" name="Picture 10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95600" y="3352800"/>
                        <a:ext cx="3200400" cy="20642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579" name="Object 3"/>
          <p:cNvGraphicFramePr>
            <a:graphicFrameLocks noChangeAspect="1"/>
          </p:cNvGraphicFramePr>
          <p:nvPr>
            <p:extLst>
              <p:ext uri="{D42A27DB-BD31-4B8C-83A1-F6EECF244321}">
                <p14:modId xmlns:p14="http://schemas.microsoft.com/office/powerpoint/2010/main" val="764395172"/>
              </p:ext>
            </p:extLst>
          </p:nvPr>
        </p:nvGraphicFramePr>
        <p:xfrm>
          <a:off x="6858000" y="2133600"/>
          <a:ext cx="286251" cy="381668"/>
        </p:xfrm>
        <a:graphic>
          <a:graphicData uri="http://schemas.openxmlformats.org/presentationml/2006/ole">
            <mc:AlternateContent xmlns:mc="http://schemas.openxmlformats.org/markup-compatibility/2006">
              <mc:Choice xmlns:v="urn:schemas-microsoft-com:vml" Requires="v">
                <p:oleObj spid="_x0000_s24710" name="Equation" r:id="rId5" imgW="152280" imgH="203040" progId="">
                  <p:embed/>
                </p:oleObj>
              </mc:Choice>
              <mc:Fallback>
                <p:oleObj name="Equation" r:id="rId5" imgW="152280" imgH="203040" progId="">
                  <p:embed/>
                  <p:pic>
                    <p:nvPicPr>
                      <p:cNvPr id="0" name="Picture 10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858000" y="2133600"/>
                        <a:ext cx="286251" cy="3816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5921" dir="2700000" algn="ctr" rotWithShape="0">
                                <a:schemeClr val="bg2"/>
                              </a:outerShdw>
                            </a:effectLst>
                          </a14:hiddenEffects>
                        </a:ext>
                      </a:extLst>
                    </p:spPr>
                  </p:pic>
                </p:oleObj>
              </mc:Fallback>
            </mc:AlternateContent>
          </a:graphicData>
        </a:graphic>
      </p:graphicFrame>
      <p:graphicFrame>
        <p:nvGraphicFramePr>
          <p:cNvPr id="24580" name="Object 4"/>
          <p:cNvGraphicFramePr>
            <a:graphicFrameLocks noChangeAspect="1"/>
          </p:cNvGraphicFramePr>
          <p:nvPr>
            <p:extLst>
              <p:ext uri="{D42A27DB-BD31-4B8C-83A1-F6EECF244321}">
                <p14:modId xmlns:p14="http://schemas.microsoft.com/office/powerpoint/2010/main" val="1526466977"/>
              </p:ext>
            </p:extLst>
          </p:nvPr>
        </p:nvGraphicFramePr>
        <p:xfrm>
          <a:off x="7696200" y="2106583"/>
          <a:ext cx="416365" cy="468411"/>
        </p:xfrm>
        <a:graphic>
          <a:graphicData uri="http://schemas.openxmlformats.org/presentationml/2006/ole">
            <mc:AlternateContent xmlns:mc="http://schemas.openxmlformats.org/markup-compatibility/2006">
              <mc:Choice xmlns:v="urn:schemas-microsoft-com:vml" Requires="v">
                <p:oleObj spid="_x0000_s24711" name="Equation" r:id="rId7" imgW="203040" imgH="228600" progId="">
                  <p:embed/>
                </p:oleObj>
              </mc:Choice>
              <mc:Fallback>
                <p:oleObj name="Equation" r:id="rId7" imgW="203040" imgH="228600" progId="">
                  <p:embed/>
                  <p:pic>
                    <p:nvPicPr>
                      <p:cNvPr id="0" name="Picture 10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696200" y="2106583"/>
                        <a:ext cx="416365" cy="4684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5921" dir="2700000" algn="ctr" rotWithShape="0">
                                <a:schemeClr val="bg2"/>
                              </a:outerShdw>
                            </a:effectLst>
                          </a14:hiddenEffects>
                        </a:ext>
                      </a:extLst>
                    </p:spPr>
                  </p:pic>
                </p:oleObj>
              </mc:Fallback>
            </mc:AlternateContent>
          </a:graphicData>
        </a:graphic>
      </p:graphicFrame>
      <p:sp>
        <p:nvSpPr>
          <p:cNvPr id="9" name="Text Box 4"/>
          <p:cNvSpPr txBox="1">
            <a:spLocks noChangeArrowheads="1"/>
          </p:cNvSpPr>
          <p:nvPr/>
        </p:nvSpPr>
        <p:spPr bwMode="auto">
          <a:xfrm>
            <a:off x="4049486" y="6172200"/>
            <a:ext cx="47815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5" name="Rectangle 2"/>
          <p:cNvSpPr>
            <a:spLocks noGrp="1" noChangeArrowheads="1"/>
          </p:cNvSpPr>
          <p:nvPr>
            <p:ph type="title"/>
          </p:nvPr>
        </p:nvSpPr>
        <p:spPr>
          <a:xfrm>
            <a:off x="533400" y="277813"/>
            <a:ext cx="8077200" cy="1139825"/>
          </a:xfrm>
        </p:spPr>
        <p:txBody>
          <a:bodyPr/>
          <a:lstStyle/>
          <a:p>
            <a:pPr eaLnBrk="1" hangingPunct="1"/>
            <a:r>
              <a:rPr lang="en-GB" sz="2400" dirty="0" smtClean="0"/>
              <a:t>INFERENCES ABOUT THE DIFFERENCE BETWEEN TWO POPULATION MEANS FOR PAIRED SAMPLES</a:t>
            </a:r>
            <a:endParaRPr lang="en-US" sz="2400" dirty="0" smtClean="0"/>
          </a:p>
        </p:txBody>
      </p:sp>
      <p:sp>
        <p:nvSpPr>
          <p:cNvPr id="25606" name="Rectangle 3"/>
          <p:cNvSpPr>
            <a:spLocks noGrp="1" noChangeArrowheads="1"/>
          </p:cNvSpPr>
          <p:nvPr>
            <p:ph type="body" sz="half" idx="1"/>
          </p:nvPr>
        </p:nvSpPr>
        <p:spPr>
          <a:xfrm>
            <a:off x="209550" y="1466850"/>
            <a:ext cx="8229600" cy="3082925"/>
          </a:xfrm>
        </p:spPr>
        <p:txBody>
          <a:bodyPr/>
          <a:lstStyle/>
          <a:p>
            <a:pPr eaLnBrk="1" hangingPunct="1">
              <a:buFont typeface="Wingdings" charset="2"/>
              <a:buChar char=" "/>
            </a:pPr>
            <a:r>
              <a:rPr lang="en-GB" sz="2000" dirty="0" smtClean="0">
                <a:solidFill>
                  <a:schemeClr val="folHlink"/>
                </a:solidFill>
              </a:rPr>
              <a:t>Sampling Distribution, Mean, and Standard Deviation of </a:t>
            </a:r>
            <a:r>
              <a:rPr lang="en-GB" sz="2000" i="1" dirty="0" smtClean="0">
                <a:solidFill>
                  <a:schemeClr val="folHlink"/>
                </a:solidFill>
                <a:latin typeface="Times New Roman" charset="0"/>
              </a:rPr>
              <a:t>d</a:t>
            </a:r>
          </a:p>
          <a:p>
            <a:pPr eaLnBrk="1" hangingPunct="1">
              <a:buFont typeface="Wingdings" charset="2"/>
              <a:buChar char=" "/>
            </a:pPr>
            <a:r>
              <a:rPr lang="en-GB" sz="2000" dirty="0" smtClean="0"/>
              <a:t>If       is known and either the sample size is large (</a:t>
            </a:r>
            <a:r>
              <a:rPr lang="en-GB" sz="2000" i="1" dirty="0" smtClean="0">
                <a:latin typeface="Times New Roman" charset="0"/>
              </a:rPr>
              <a:t>n</a:t>
            </a:r>
            <a:r>
              <a:rPr lang="en-GB" sz="2000" dirty="0" smtClean="0"/>
              <a:t> ≥ 30) or the population is normally distributed, then the </a:t>
            </a:r>
            <a:r>
              <a:rPr lang="en-GB" sz="2000" b="1" i="1" u="sng" dirty="0" smtClean="0">
                <a:solidFill>
                  <a:schemeClr val="hlink"/>
                </a:solidFill>
              </a:rPr>
              <a:t>sampling distribution of</a:t>
            </a:r>
            <a:r>
              <a:rPr lang="en-GB" sz="2000" dirty="0" smtClean="0"/>
              <a:t>       is approximately normal with its </a:t>
            </a:r>
            <a:r>
              <a:rPr lang="en-GB" sz="2000" b="1" i="1" u="sng" dirty="0" smtClean="0">
                <a:solidFill>
                  <a:schemeClr val="hlink"/>
                </a:solidFill>
              </a:rPr>
              <a:t>mean</a:t>
            </a:r>
            <a:r>
              <a:rPr lang="en-GB" sz="2000" dirty="0" smtClean="0"/>
              <a:t> and </a:t>
            </a:r>
            <a:r>
              <a:rPr lang="en-GB" sz="2000" b="1" i="1" u="sng" dirty="0" smtClean="0">
                <a:solidFill>
                  <a:schemeClr val="hlink"/>
                </a:solidFill>
              </a:rPr>
              <a:t>standard deviation</a:t>
            </a:r>
            <a:r>
              <a:rPr lang="en-GB" sz="2000" dirty="0" smtClean="0"/>
              <a:t> given as, respectively</a:t>
            </a:r>
            <a:endParaRPr lang="en-US" sz="2000" dirty="0" smtClean="0"/>
          </a:p>
        </p:txBody>
      </p:sp>
      <p:graphicFrame>
        <p:nvGraphicFramePr>
          <p:cNvPr id="25602" name="Object 2"/>
          <p:cNvGraphicFramePr>
            <a:graphicFrameLocks noChangeAspect="1"/>
          </p:cNvGraphicFramePr>
          <p:nvPr>
            <p:extLst>
              <p:ext uri="{D42A27DB-BD31-4B8C-83A1-F6EECF244321}">
                <p14:modId xmlns:p14="http://schemas.microsoft.com/office/powerpoint/2010/main" val="604659663"/>
              </p:ext>
            </p:extLst>
          </p:nvPr>
        </p:nvGraphicFramePr>
        <p:xfrm>
          <a:off x="2667000" y="3657600"/>
          <a:ext cx="4038600" cy="1009650"/>
        </p:xfrm>
        <a:graphic>
          <a:graphicData uri="http://schemas.openxmlformats.org/presentationml/2006/ole">
            <mc:AlternateContent xmlns:mc="http://schemas.openxmlformats.org/markup-compatibility/2006">
              <mc:Choice xmlns:v="urn:schemas-microsoft-com:vml" Requires="v">
                <p:oleObj spid="_x0000_s25734" name="Equation" r:id="rId3" imgW="1676160" imgH="419040" progId="">
                  <p:embed/>
                </p:oleObj>
              </mc:Choice>
              <mc:Fallback>
                <p:oleObj name="Equation" r:id="rId3" imgW="1676160" imgH="419040" progId="">
                  <p:embed/>
                  <p:pic>
                    <p:nvPicPr>
                      <p:cNvPr id="0" name="Picture 10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67000" y="3657600"/>
                        <a:ext cx="4038600" cy="10096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5603" name="Object 3"/>
          <p:cNvGraphicFramePr>
            <a:graphicFrameLocks noChangeAspect="1"/>
          </p:cNvGraphicFramePr>
          <p:nvPr>
            <p:extLst>
              <p:ext uri="{D42A27DB-BD31-4B8C-83A1-F6EECF244321}">
                <p14:modId xmlns:p14="http://schemas.microsoft.com/office/powerpoint/2010/main" val="3225875197"/>
              </p:ext>
            </p:extLst>
          </p:nvPr>
        </p:nvGraphicFramePr>
        <p:xfrm>
          <a:off x="4324350" y="2419350"/>
          <a:ext cx="295714" cy="394285"/>
        </p:xfrm>
        <a:graphic>
          <a:graphicData uri="http://schemas.openxmlformats.org/presentationml/2006/ole">
            <mc:AlternateContent xmlns:mc="http://schemas.openxmlformats.org/markup-compatibility/2006">
              <mc:Choice xmlns:v="urn:schemas-microsoft-com:vml" Requires="v">
                <p:oleObj spid="_x0000_s25735" name="Equation" r:id="rId5" imgW="152280" imgH="203040" progId="Equation.3">
                  <p:embed/>
                </p:oleObj>
              </mc:Choice>
              <mc:Fallback>
                <p:oleObj name="Equation" r:id="rId5" imgW="152280" imgH="203040" progId="Equation.3">
                  <p:embed/>
                  <p:pic>
                    <p:nvPicPr>
                      <p:cNvPr id="0" name="Picture 10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324350" y="2419350"/>
                        <a:ext cx="295714" cy="394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5921" dir="2700000" algn="ctr" rotWithShape="0">
                                <a:schemeClr val="bg2"/>
                              </a:outerShdw>
                            </a:effectLst>
                          </a14:hiddenEffects>
                        </a:ext>
                      </a:extLst>
                    </p:spPr>
                  </p:pic>
                </p:oleObj>
              </mc:Fallback>
            </mc:AlternateContent>
          </a:graphicData>
        </a:graphic>
      </p:graphicFrame>
      <p:sp>
        <p:nvSpPr>
          <p:cNvPr id="25607" name="Line 6"/>
          <p:cNvSpPr>
            <a:spLocks noChangeShapeType="1"/>
          </p:cNvSpPr>
          <p:nvPr/>
        </p:nvSpPr>
        <p:spPr bwMode="auto">
          <a:xfrm>
            <a:off x="7924800" y="1524000"/>
            <a:ext cx="188925" cy="0"/>
          </a:xfrm>
          <a:prstGeom prst="line">
            <a:avLst/>
          </a:prstGeom>
          <a:noFill/>
          <a:ln w="25400">
            <a:solidFill>
              <a:schemeClr val="folHlink"/>
            </a:solidFill>
            <a:round/>
            <a:headEnd/>
            <a:tailEnd/>
          </a:ln>
          <a:extLst>
            <a:ext uri="{909E8E84-426E-40DD-AFC4-6F175D3DCCD1}">
              <a14:hiddenFill xmlns:a14="http://schemas.microsoft.com/office/drawing/2010/main">
                <a:noFill/>
              </a14:hiddenFill>
            </a:ext>
          </a:extLst>
        </p:spPr>
        <p:txBody>
          <a:bodyPr/>
          <a:lstStyle/>
          <a:p>
            <a:endParaRPr lang="en-US"/>
          </a:p>
        </p:txBody>
      </p:sp>
      <p:graphicFrame>
        <p:nvGraphicFramePr>
          <p:cNvPr id="25604" name="Object 4"/>
          <p:cNvGraphicFramePr>
            <a:graphicFrameLocks noGrp="1" noChangeAspect="1"/>
          </p:cNvGraphicFramePr>
          <p:nvPr>
            <p:ph sz="half" idx="2"/>
            <p:extLst>
              <p:ext uri="{D42A27DB-BD31-4B8C-83A1-F6EECF244321}">
                <p14:modId xmlns:p14="http://schemas.microsoft.com/office/powerpoint/2010/main" val="3126444309"/>
              </p:ext>
            </p:extLst>
          </p:nvPr>
        </p:nvGraphicFramePr>
        <p:xfrm>
          <a:off x="935037" y="1714500"/>
          <a:ext cx="474663" cy="533400"/>
        </p:xfrm>
        <a:graphic>
          <a:graphicData uri="http://schemas.openxmlformats.org/presentationml/2006/ole">
            <mc:AlternateContent xmlns:mc="http://schemas.openxmlformats.org/markup-compatibility/2006">
              <mc:Choice xmlns:v="urn:schemas-microsoft-com:vml" Requires="v">
                <p:oleObj spid="_x0000_s25736" name="Equation" r:id="rId7" imgW="203040" imgH="228600" progId="">
                  <p:embed/>
                </p:oleObj>
              </mc:Choice>
              <mc:Fallback>
                <p:oleObj name="Equation" r:id="rId7" imgW="203040" imgH="228600" progId="">
                  <p:embed/>
                  <p:pic>
                    <p:nvPicPr>
                      <p:cNvPr id="0" name="Picture 107"/>
                      <p:cNvPicPr>
                        <a:picLocks noGrp="1"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35037" y="1714500"/>
                        <a:ext cx="474663" cy="533400"/>
                      </a:xfrm>
                      <a:prstGeom prst="rect">
                        <a:avLst/>
                      </a:prstGeom>
                      <a:noFill/>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5921" dir="2700000" algn="ctr" rotWithShape="0">
                                <a:srgbClr val="808080"/>
                              </a:outerShdw>
                            </a:effectLst>
                          </a14:hiddenEffects>
                        </a:ext>
                      </a:extLst>
                    </p:spPr>
                  </p:pic>
                </p:oleObj>
              </mc:Fallback>
            </mc:AlternateContent>
          </a:graphicData>
        </a:graphic>
      </p:graphicFrame>
      <p:sp>
        <p:nvSpPr>
          <p:cNvPr id="10" name="Text Box 4"/>
          <p:cNvSpPr txBox="1">
            <a:spLocks noChangeArrowheads="1"/>
          </p:cNvSpPr>
          <p:nvPr/>
        </p:nvSpPr>
        <p:spPr bwMode="auto">
          <a:xfrm>
            <a:off x="4049486" y="6172200"/>
            <a:ext cx="47815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Rectangle 2"/>
          <p:cNvSpPr>
            <a:spLocks noGrp="1" noChangeArrowheads="1"/>
          </p:cNvSpPr>
          <p:nvPr>
            <p:ph type="title"/>
          </p:nvPr>
        </p:nvSpPr>
        <p:spPr>
          <a:xfrm>
            <a:off x="457200" y="277813"/>
            <a:ext cx="8077200" cy="1139825"/>
          </a:xfrm>
        </p:spPr>
        <p:txBody>
          <a:bodyPr/>
          <a:lstStyle/>
          <a:p>
            <a:pPr eaLnBrk="1" hangingPunct="1"/>
            <a:r>
              <a:rPr lang="en-GB" sz="2400" dirty="0" smtClean="0"/>
              <a:t>INFERENCES ABOUT THE DIFFERENCE BETWEEN TWO POPULATION MEANS FOR PAIRED SAMPLES</a:t>
            </a:r>
            <a:endParaRPr lang="en-US" sz="2400" dirty="0" smtClean="0"/>
          </a:p>
        </p:txBody>
      </p:sp>
      <p:sp>
        <p:nvSpPr>
          <p:cNvPr id="26628" name="Rectangle 3"/>
          <p:cNvSpPr>
            <a:spLocks noGrp="1" noChangeArrowheads="1"/>
          </p:cNvSpPr>
          <p:nvPr>
            <p:ph type="body" idx="1"/>
          </p:nvPr>
        </p:nvSpPr>
        <p:spPr>
          <a:xfrm>
            <a:off x="131762" y="1504950"/>
            <a:ext cx="8345488" cy="2914650"/>
          </a:xfrm>
        </p:spPr>
        <p:txBody>
          <a:bodyPr/>
          <a:lstStyle/>
          <a:p>
            <a:pPr eaLnBrk="1" hangingPunct="1">
              <a:buFont typeface="Tahoma" charset="0"/>
              <a:buChar char=" "/>
            </a:pPr>
            <a:r>
              <a:rPr lang="en-US" sz="2000" dirty="0" smtClean="0">
                <a:solidFill>
                  <a:schemeClr val="folHlink"/>
                </a:solidFill>
              </a:rPr>
              <a:t>Estimate of the Standard Deviation of Paired Differences   </a:t>
            </a:r>
            <a:r>
              <a:rPr lang="en-US" sz="2000" dirty="0" smtClean="0"/>
              <a:t>If</a:t>
            </a:r>
          </a:p>
          <a:p>
            <a:pPr marL="457200" lvl="1" indent="0" eaLnBrk="1" hangingPunct="1">
              <a:buNone/>
            </a:pPr>
            <a:r>
              <a:rPr lang="en-US" sz="2000" dirty="0" smtClean="0"/>
              <a:t>1. The standard deviation       of the population of paired differences is unknown</a:t>
            </a:r>
          </a:p>
          <a:p>
            <a:pPr marL="457200" lvl="1" indent="0" eaLnBrk="1" hangingPunct="1">
              <a:buNone/>
            </a:pPr>
            <a:r>
              <a:rPr lang="en-US" sz="2000" dirty="0" smtClean="0"/>
              <a:t>2. At least one of the following two conditions is fulfilled: </a:t>
            </a:r>
          </a:p>
          <a:p>
            <a:pPr lvl="1" eaLnBrk="1" hangingPunct="1">
              <a:buFont typeface="Wingdings" charset="2"/>
              <a:buNone/>
            </a:pPr>
            <a:r>
              <a:rPr lang="en-US" sz="2000" i="1" dirty="0" smtClean="0">
                <a:latin typeface="Times New Roman" charset="0"/>
              </a:rPr>
              <a:t>    </a:t>
            </a:r>
            <a:r>
              <a:rPr lang="en-US" sz="2000" dirty="0" err="1" smtClean="0"/>
              <a:t>i</a:t>
            </a:r>
            <a:r>
              <a:rPr lang="en-US" sz="2000" dirty="0" smtClean="0"/>
              <a:t>. The sample size is large (i.e., </a:t>
            </a:r>
            <a:r>
              <a:rPr lang="en-US" sz="2000" i="1" dirty="0" smtClean="0"/>
              <a:t>n</a:t>
            </a:r>
            <a:r>
              <a:rPr lang="en-US" sz="2000" dirty="0" smtClean="0"/>
              <a:t> ≥</a:t>
            </a:r>
            <a:r>
              <a:rPr lang="en-US" sz="2000" dirty="0" smtClean="0">
                <a:sym typeface="Mathematica1" pitchFamily="2" charset="2"/>
              </a:rPr>
              <a:t> </a:t>
            </a:r>
            <a:r>
              <a:rPr lang="en-US" sz="2000" dirty="0" smtClean="0"/>
              <a:t>30)</a:t>
            </a:r>
          </a:p>
          <a:p>
            <a:pPr lvl="1" eaLnBrk="1" hangingPunct="1">
              <a:buFont typeface="Wingdings" charset="2"/>
              <a:buNone/>
            </a:pPr>
            <a:r>
              <a:rPr lang="en-US" sz="2000" dirty="0" smtClean="0"/>
              <a:t>   ii. If the sample size is small, then the population of paired differences is normally distributed… (continued on next slide)</a:t>
            </a:r>
          </a:p>
        </p:txBody>
      </p:sp>
      <p:graphicFrame>
        <p:nvGraphicFramePr>
          <p:cNvPr id="26626" name="Object 2"/>
          <p:cNvGraphicFramePr>
            <a:graphicFrameLocks noChangeAspect="1"/>
          </p:cNvGraphicFramePr>
          <p:nvPr>
            <p:extLst>
              <p:ext uri="{D42A27DB-BD31-4B8C-83A1-F6EECF244321}">
                <p14:modId xmlns:p14="http://schemas.microsoft.com/office/powerpoint/2010/main" val="1210547219"/>
              </p:ext>
            </p:extLst>
          </p:nvPr>
        </p:nvGraphicFramePr>
        <p:xfrm>
          <a:off x="4038600" y="1752600"/>
          <a:ext cx="461818" cy="519545"/>
        </p:xfrm>
        <a:graphic>
          <a:graphicData uri="http://schemas.openxmlformats.org/presentationml/2006/ole">
            <mc:AlternateContent xmlns:mc="http://schemas.openxmlformats.org/markup-compatibility/2006">
              <mc:Choice xmlns:v="urn:schemas-microsoft-com:vml" Requires="v">
                <p:oleObj spid="_x0000_s26672" name="Equation" r:id="rId3" imgW="203040" imgH="228600" progId="Equation.3">
                  <p:embed/>
                </p:oleObj>
              </mc:Choice>
              <mc:Fallback>
                <p:oleObj name="Equation" r:id="rId3" imgW="203040" imgH="228600" progId="Equation.3">
                  <p:embed/>
                  <p:pic>
                    <p:nvPicPr>
                      <p:cNvPr id="0" name="Picture 3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38600" y="1752600"/>
                        <a:ext cx="461818" cy="519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5921" dir="2700000" algn="ctr" rotWithShape="0">
                                <a:schemeClr val="bg2"/>
                              </a:outerShdw>
                            </a:effectLst>
                          </a14:hiddenEffects>
                        </a:ext>
                      </a:extLst>
                    </p:spPr>
                  </p:pic>
                </p:oleObj>
              </mc:Fallback>
            </mc:AlternateContent>
          </a:graphicData>
        </a:graphic>
      </p:graphicFrame>
      <p:sp>
        <p:nvSpPr>
          <p:cNvPr id="7" name="Text Box 4"/>
          <p:cNvSpPr txBox="1">
            <a:spLocks noChangeArrowheads="1"/>
          </p:cNvSpPr>
          <p:nvPr/>
        </p:nvSpPr>
        <p:spPr bwMode="auto">
          <a:xfrm>
            <a:off x="4049486" y="6172200"/>
            <a:ext cx="47815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5" name="Rectangle 2"/>
          <p:cNvSpPr>
            <a:spLocks noGrp="1" noChangeArrowheads="1"/>
          </p:cNvSpPr>
          <p:nvPr>
            <p:ph type="title"/>
          </p:nvPr>
        </p:nvSpPr>
        <p:spPr>
          <a:xfrm>
            <a:off x="457200" y="277813"/>
            <a:ext cx="8001000" cy="1139825"/>
          </a:xfrm>
        </p:spPr>
        <p:txBody>
          <a:bodyPr/>
          <a:lstStyle/>
          <a:p>
            <a:pPr eaLnBrk="1" hangingPunct="1"/>
            <a:r>
              <a:rPr lang="en-GB" sz="2400" dirty="0" smtClean="0"/>
              <a:t>INFERENCES ABOUT THE DIFFERENCE BETWEEN TWO POPULATION MEANS FOR PAIRED SAMPLES</a:t>
            </a:r>
            <a:endParaRPr lang="en-US" sz="2400" dirty="0" smtClean="0"/>
          </a:p>
        </p:txBody>
      </p:sp>
      <p:sp>
        <p:nvSpPr>
          <p:cNvPr id="27656" name="Rectangle 3"/>
          <p:cNvSpPr>
            <a:spLocks noGrp="1" noChangeArrowheads="1"/>
          </p:cNvSpPr>
          <p:nvPr>
            <p:ph type="body" idx="1"/>
          </p:nvPr>
        </p:nvSpPr>
        <p:spPr>
          <a:xfrm>
            <a:off x="133350" y="1503363"/>
            <a:ext cx="8553450" cy="2173287"/>
          </a:xfrm>
        </p:spPr>
        <p:txBody>
          <a:bodyPr/>
          <a:lstStyle/>
          <a:p>
            <a:pPr eaLnBrk="1" hangingPunct="1">
              <a:buFont typeface="Tahoma" charset="0"/>
              <a:buChar char=" "/>
            </a:pPr>
            <a:r>
              <a:rPr lang="en-US" sz="2000" dirty="0" smtClean="0">
                <a:solidFill>
                  <a:schemeClr val="folHlink"/>
                </a:solidFill>
              </a:rPr>
              <a:t>Estimate of the Standard Deviation of Paired Differences</a:t>
            </a:r>
            <a:endParaRPr lang="en-US" sz="2000" dirty="0" smtClean="0"/>
          </a:p>
          <a:p>
            <a:pPr eaLnBrk="1" hangingPunct="1">
              <a:buFont typeface="Tahoma" charset="0"/>
              <a:buChar char=" "/>
            </a:pPr>
            <a:r>
              <a:rPr lang="en-US" sz="2000" dirty="0" smtClean="0"/>
              <a:t>then the t distribution is used to make inferences about        .  The standard deviation of        </a:t>
            </a:r>
            <a:r>
              <a:rPr lang="en-US" sz="2000" dirty="0" err="1" smtClean="0"/>
              <a:t>of</a:t>
            </a:r>
            <a:r>
              <a:rPr lang="en-US" sz="2000" dirty="0" smtClean="0"/>
              <a:t>        is estimated by       , which is calculated as</a:t>
            </a:r>
          </a:p>
        </p:txBody>
      </p:sp>
      <p:graphicFrame>
        <p:nvGraphicFramePr>
          <p:cNvPr id="27650" name="Object 2"/>
          <p:cNvGraphicFramePr>
            <a:graphicFrameLocks noChangeAspect="1"/>
          </p:cNvGraphicFramePr>
          <p:nvPr>
            <p:extLst>
              <p:ext uri="{D42A27DB-BD31-4B8C-83A1-F6EECF244321}">
                <p14:modId xmlns:p14="http://schemas.microsoft.com/office/powerpoint/2010/main" val="3506313955"/>
              </p:ext>
            </p:extLst>
          </p:nvPr>
        </p:nvGraphicFramePr>
        <p:xfrm>
          <a:off x="3124200" y="3124200"/>
          <a:ext cx="1770062" cy="1061271"/>
        </p:xfrm>
        <a:graphic>
          <a:graphicData uri="http://schemas.openxmlformats.org/presentationml/2006/ole">
            <mc:AlternateContent xmlns:mc="http://schemas.openxmlformats.org/markup-compatibility/2006">
              <mc:Choice xmlns:v="urn:schemas-microsoft-com:vml" Requires="v">
                <p:oleObj spid="_x0000_s27860" name="Equation" r:id="rId3" imgW="698400" imgH="419040" progId="">
                  <p:embed/>
                </p:oleObj>
              </mc:Choice>
              <mc:Fallback>
                <p:oleObj name="Equation" r:id="rId3" imgW="698400" imgH="419040" progId="">
                  <p:embed/>
                  <p:pic>
                    <p:nvPicPr>
                      <p:cNvPr id="0" name="Picture 16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24200" y="3124200"/>
                        <a:ext cx="1770062" cy="106127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7651" name="Object 3"/>
          <p:cNvGraphicFramePr>
            <a:graphicFrameLocks noChangeAspect="1"/>
          </p:cNvGraphicFramePr>
          <p:nvPr>
            <p:extLst>
              <p:ext uri="{D42A27DB-BD31-4B8C-83A1-F6EECF244321}">
                <p14:modId xmlns:p14="http://schemas.microsoft.com/office/powerpoint/2010/main" val="3210444667"/>
              </p:ext>
            </p:extLst>
          </p:nvPr>
        </p:nvGraphicFramePr>
        <p:xfrm>
          <a:off x="7543800" y="2057400"/>
          <a:ext cx="490205" cy="629752"/>
        </p:xfrm>
        <a:graphic>
          <a:graphicData uri="http://schemas.openxmlformats.org/presentationml/2006/ole">
            <mc:AlternateContent xmlns:mc="http://schemas.openxmlformats.org/markup-compatibility/2006">
              <mc:Choice xmlns:v="urn:schemas-microsoft-com:vml" Requires="v">
                <p:oleObj spid="_x0000_s27861" name="Equation" r:id="rId5" imgW="177480" imgH="228600" progId="Equation.3">
                  <p:embed/>
                </p:oleObj>
              </mc:Choice>
              <mc:Fallback>
                <p:oleObj name="Equation" r:id="rId5" imgW="177480" imgH="228600" progId="Equation.3">
                  <p:embed/>
                  <p:pic>
                    <p:nvPicPr>
                      <p:cNvPr id="0" name="Picture 16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543800" y="2057400"/>
                        <a:ext cx="490205" cy="629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5921" dir="2700000" algn="ctr" rotWithShape="0">
                                <a:schemeClr val="bg2"/>
                              </a:outerShdw>
                            </a:effectLst>
                          </a14:hiddenEffects>
                        </a:ext>
                      </a:extLst>
                    </p:spPr>
                  </p:pic>
                </p:oleObj>
              </mc:Fallback>
            </mc:AlternateContent>
          </a:graphicData>
        </a:graphic>
      </p:graphicFrame>
      <p:graphicFrame>
        <p:nvGraphicFramePr>
          <p:cNvPr id="27652" name="Object 4"/>
          <p:cNvGraphicFramePr>
            <a:graphicFrameLocks noChangeAspect="1"/>
          </p:cNvGraphicFramePr>
          <p:nvPr>
            <p:extLst>
              <p:ext uri="{D42A27DB-BD31-4B8C-83A1-F6EECF244321}">
                <p14:modId xmlns:p14="http://schemas.microsoft.com/office/powerpoint/2010/main" val="2520866959"/>
              </p:ext>
            </p:extLst>
          </p:nvPr>
        </p:nvGraphicFramePr>
        <p:xfrm>
          <a:off x="7848600" y="1752600"/>
          <a:ext cx="431762" cy="486626"/>
        </p:xfrm>
        <a:graphic>
          <a:graphicData uri="http://schemas.openxmlformats.org/presentationml/2006/ole">
            <mc:AlternateContent xmlns:mc="http://schemas.openxmlformats.org/markup-compatibility/2006">
              <mc:Choice xmlns:v="urn:schemas-microsoft-com:vml" Requires="v">
                <p:oleObj spid="_x0000_s27862" name="Equation" r:id="rId7" imgW="203040" imgH="228600" progId="Equation.3">
                  <p:embed/>
                </p:oleObj>
              </mc:Choice>
              <mc:Fallback>
                <p:oleObj name="Equation" r:id="rId7" imgW="203040" imgH="228600" progId="Equation.3">
                  <p:embed/>
                  <p:pic>
                    <p:nvPicPr>
                      <p:cNvPr id="0" name="Picture 16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848600" y="1752600"/>
                        <a:ext cx="431762" cy="4866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5921" dir="2700000" algn="ctr" rotWithShape="0">
                                <a:schemeClr val="bg2"/>
                              </a:outerShdw>
                            </a:effectLst>
                          </a14:hiddenEffects>
                        </a:ext>
                      </a:extLst>
                    </p:spPr>
                  </p:pic>
                </p:oleObj>
              </mc:Fallback>
            </mc:AlternateContent>
          </a:graphicData>
        </a:graphic>
      </p:graphicFrame>
      <p:graphicFrame>
        <p:nvGraphicFramePr>
          <p:cNvPr id="27653" name="Object 5"/>
          <p:cNvGraphicFramePr>
            <a:graphicFrameLocks noChangeAspect="1"/>
          </p:cNvGraphicFramePr>
          <p:nvPr>
            <p:extLst>
              <p:ext uri="{D42A27DB-BD31-4B8C-83A1-F6EECF244321}">
                <p14:modId xmlns:p14="http://schemas.microsoft.com/office/powerpoint/2010/main" val="3313493285"/>
              </p:ext>
            </p:extLst>
          </p:nvPr>
        </p:nvGraphicFramePr>
        <p:xfrm>
          <a:off x="4008876" y="2133600"/>
          <a:ext cx="405523" cy="429376"/>
        </p:xfrm>
        <a:graphic>
          <a:graphicData uri="http://schemas.openxmlformats.org/presentationml/2006/ole">
            <mc:AlternateContent xmlns:mc="http://schemas.openxmlformats.org/markup-compatibility/2006">
              <mc:Choice xmlns:v="urn:schemas-microsoft-com:vml" Requires="v">
                <p:oleObj spid="_x0000_s27863" name="Equation" r:id="rId9" imgW="215640" imgH="228600" progId="Equation.3">
                  <p:embed/>
                </p:oleObj>
              </mc:Choice>
              <mc:Fallback>
                <p:oleObj name="Equation" r:id="rId9" imgW="215640" imgH="228600" progId="Equation.3">
                  <p:embed/>
                  <p:pic>
                    <p:nvPicPr>
                      <p:cNvPr id="0" name="Picture 16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008876" y="2133600"/>
                        <a:ext cx="405523" cy="429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5921" dir="2700000" algn="ctr" rotWithShape="0">
                                <a:schemeClr val="bg2"/>
                              </a:outerShdw>
                            </a:effectLst>
                          </a14:hiddenEffects>
                        </a:ext>
                      </a:extLst>
                    </p:spPr>
                  </p:pic>
                </p:oleObj>
              </mc:Fallback>
            </mc:AlternateContent>
          </a:graphicData>
        </a:graphic>
      </p:graphicFrame>
      <p:graphicFrame>
        <p:nvGraphicFramePr>
          <p:cNvPr id="27654" name="Object 6"/>
          <p:cNvGraphicFramePr>
            <a:graphicFrameLocks noChangeAspect="1"/>
          </p:cNvGraphicFramePr>
          <p:nvPr>
            <p:extLst>
              <p:ext uri="{D42A27DB-BD31-4B8C-83A1-F6EECF244321}">
                <p14:modId xmlns:p14="http://schemas.microsoft.com/office/powerpoint/2010/main" val="3387628602"/>
              </p:ext>
            </p:extLst>
          </p:nvPr>
        </p:nvGraphicFramePr>
        <p:xfrm>
          <a:off x="5026009" y="2155285"/>
          <a:ext cx="325285" cy="433714"/>
        </p:xfrm>
        <a:graphic>
          <a:graphicData uri="http://schemas.openxmlformats.org/presentationml/2006/ole">
            <mc:AlternateContent xmlns:mc="http://schemas.openxmlformats.org/markup-compatibility/2006">
              <mc:Choice xmlns:v="urn:schemas-microsoft-com:vml" Requires="v">
                <p:oleObj spid="_x0000_s27864" name="Equation" r:id="rId11" imgW="152280" imgH="203040" progId="Equation.3">
                  <p:embed/>
                </p:oleObj>
              </mc:Choice>
              <mc:Fallback>
                <p:oleObj name="Equation" r:id="rId11" imgW="152280" imgH="203040" progId="Equation.3">
                  <p:embed/>
                  <p:pic>
                    <p:nvPicPr>
                      <p:cNvPr id="0" name="Picture 16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026009" y="2155285"/>
                        <a:ext cx="325285" cy="4337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5921" dir="2700000" algn="ctr" rotWithShape="0">
                                <a:schemeClr val="bg2"/>
                              </a:outerShdw>
                            </a:effectLst>
                          </a14:hiddenEffects>
                        </a:ext>
                      </a:extLst>
                    </p:spPr>
                  </p:pic>
                </p:oleObj>
              </mc:Fallback>
            </mc:AlternateContent>
          </a:graphicData>
        </a:graphic>
      </p:graphicFrame>
      <p:sp>
        <p:nvSpPr>
          <p:cNvPr id="11" name="Text Box 4"/>
          <p:cNvSpPr txBox="1">
            <a:spLocks noChangeArrowheads="1"/>
          </p:cNvSpPr>
          <p:nvPr/>
        </p:nvSpPr>
        <p:spPr bwMode="auto">
          <a:xfrm>
            <a:off x="4049486" y="6172200"/>
            <a:ext cx="47815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6" name="Rectangle 2"/>
          <p:cNvSpPr>
            <a:spLocks noGrp="1" noChangeArrowheads="1"/>
          </p:cNvSpPr>
          <p:nvPr>
            <p:ph type="title"/>
          </p:nvPr>
        </p:nvSpPr>
        <p:spPr/>
        <p:txBody>
          <a:bodyPr/>
          <a:lstStyle/>
          <a:p>
            <a:pPr eaLnBrk="1" hangingPunct="1"/>
            <a:r>
              <a:rPr lang="en-US" sz="2800" dirty="0" smtClean="0"/>
              <a:t>Interval Estimation of </a:t>
            </a:r>
            <a:r>
              <a:rPr lang="el-GR" sz="2800" dirty="0" smtClean="0">
                <a:latin typeface="Times New Roman" charset="0"/>
                <a:cs typeface="Times New Roman" charset="0"/>
              </a:rPr>
              <a:t>μ</a:t>
            </a:r>
            <a:r>
              <a:rPr lang="en-GB" sz="2800" i="1" baseline="-25000" dirty="0" smtClean="0">
                <a:latin typeface="Times New Roman" charset="0"/>
                <a:cs typeface="Times New Roman" charset="0"/>
              </a:rPr>
              <a:t>d</a:t>
            </a:r>
            <a:endParaRPr lang="en-US" sz="2800" i="1" baseline="-25000" dirty="0" smtClean="0">
              <a:cs typeface="Times New Roman" charset="0"/>
            </a:endParaRPr>
          </a:p>
        </p:txBody>
      </p:sp>
      <p:sp>
        <p:nvSpPr>
          <p:cNvPr id="28677" name="Rectangle 3"/>
          <p:cNvSpPr>
            <a:spLocks noGrp="1" noChangeArrowheads="1"/>
          </p:cNvSpPr>
          <p:nvPr>
            <p:ph type="body" idx="1"/>
          </p:nvPr>
        </p:nvSpPr>
        <p:spPr>
          <a:xfrm>
            <a:off x="95250" y="1504950"/>
            <a:ext cx="8421688" cy="4572000"/>
          </a:xfrm>
        </p:spPr>
        <p:txBody>
          <a:bodyPr/>
          <a:lstStyle/>
          <a:p>
            <a:pPr eaLnBrk="1" hangingPunct="1">
              <a:buFont typeface="Tahoma" charset="0"/>
              <a:buChar char=" "/>
            </a:pPr>
            <a:r>
              <a:rPr lang="en-GB" sz="2000" dirty="0" smtClean="0">
                <a:solidFill>
                  <a:schemeClr val="folHlink"/>
                </a:solidFill>
              </a:rPr>
              <a:t>Confidence Interval for </a:t>
            </a:r>
            <a:r>
              <a:rPr lang="el-GR" sz="2000" dirty="0" smtClean="0">
                <a:solidFill>
                  <a:schemeClr val="folHlink"/>
                </a:solidFill>
                <a:latin typeface="Times New Roman" charset="0"/>
                <a:cs typeface="Times New Roman" charset="0"/>
              </a:rPr>
              <a:t>μ</a:t>
            </a:r>
            <a:r>
              <a:rPr lang="en-GB" sz="2000" i="1" baseline="-25000" dirty="0" smtClean="0">
                <a:solidFill>
                  <a:schemeClr val="folHlink"/>
                </a:solidFill>
                <a:latin typeface="Times New Roman" charset="0"/>
                <a:cs typeface="Times New Roman" charset="0"/>
              </a:rPr>
              <a:t>d</a:t>
            </a:r>
            <a:r>
              <a:rPr lang="en-GB" sz="2000" dirty="0" smtClean="0"/>
              <a:t> </a:t>
            </a:r>
          </a:p>
          <a:p>
            <a:pPr eaLnBrk="1" hangingPunct="1">
              <a:buFont typeface="Tahoma" charset="0"/>
              <a:buChar char=" "/>
            </a:pPr>
            <a:r>
              <a:rPr lang="en-GB" sz="2000" dirty="0" smtClean="0"/>
              <a:t>The (1 – </a:t>
            </a:r>
            <a:r>
              <a:rPr lang="el-GR" sz="2000" dirty="0" smtClean="0">
                <a:latin typeface="Times New Roman" charset="0"/>
                <a:cs typeface="Times New Roman" charset="0"/>
              </a:rPr>
              <a:t>α</a:t>
            </a:r>
            <a:r>
              <a:rPr lang="en-GB" sz="2000" dirty="0" smtClean="0">
                <a:cs typeface="Arial" charset="0"/>
              </a:rPr>
              <a:t>)100% </a:t>
            </a:r>
            <a:r>
              <a:rPr lang="en-GB" sz="2000" b="1" i="1" u="sng" dirty="0" smtClean="0">
                <a:solidFill>
                  <a:schemeClr val="hlink"/>
                </a:solidFill>
                <a:cs typeface="Arial" charset="0"/>
              </a:rPr>
              <a:t>confidence interval</a:t>
            </a:r>
            <a:r>
              <a:rPr lang="en-GB" sz="2000" dirty="0" smtClean="0">
                <a:cs typeface="Arial" charset="0"/>
              </a:rPr>
              <a:t> for </a:t>
            </a:r>
            <a:r>
              <a:rPr lang="el-GR" sz="2000" dirty="0" smtClean="0">
                <a:latin typeface="Times New Roman" charset="0"/>
                <a:cs typeface="Times New Roman" charset="0"/>
              </a:rPr>
              <a:t>μ</a:t>
            </a:r>
            <a:r>
              <a:rPr lang="en-GB" sz="2000" i="1" baseline="-25000" dirty="0" smtClean="0">
                <a:latin typeface="Times New Roman" charset="0"/>
                <a:cs typeface="Times New Roman" charset="0"/>
              </a:rPr>
              <a:t>d</a:t>
            </a:r>
            <a:r>
              <a:rPr lang="en-GB" sz="2000" dirty="0" smtClean="0">
                <a:cs typeface="Arial" charset="0"/>
              </a:rPr>
              <a:t> is</a:t>
            </a:r>
          </a:p>
          <a:p>
            <a:pPr eaLnBrk="1" hangingPunct="1">
              <a:buFont typeface="Tahoma" charset="0"/>
              <a:buChar char=" "/>
            </a:pPr>
            <a:endParaRPr lang="en-GB" sz="2000" dirty="0" smtClean="0">
              <a:cs typeface="Arial" charset="0"/>
            </a:endParaRPr>
          </a:p>
          <a:p>
            <a:pPr eaLnBrk="1" hangingPunct="1">
              <a:buFont typeface="Tahoma" charset="0"/>
              <a:buChar char=" "/>
            </a:pPr>
            <a:endParaRPr lang="en-GB" sz="2000" dirty="0">
              <a:cs typeface="Arial" charset="0"/>
            </a:endParaRPr>
          </a:p>
          <a:p>
            <a:pPr eaLnBrk="1" hangingPunct="1">
              <a:buFont typeface="Tahoma" charset="0"/>
              <a:buChar char=" "/>
            </a:pPr>
            <a:endParaRPr lang="en-GB" sz="2000" dirty="0" smtClean="0">
              <a:cs typeface="Arial" charset="0"/>
            </a:endParaRPr>
          </a:p>
          <a:p>
            <a:pPr eaLnBrk="1" hangingPunct="1">
              <a:buFont typeface="Tahoma" charset="0"/>
              <a:buChar char=" "/>
            </a:pPr>
            <a:r>
              <a:rPr lang="en-GB" sz="2000" dirty="0" smtClean="0">
                <a:cs typeface="Arial" charset="0"/>
              </a:rPr>
              <a:t>where the value of </a:t>
            </a:r>
            <a:r>
              <a:rPr lang="en-GB" sz="2000" i="1" dirty="0" smtClean="0">
                <a:latin typeface="Times New Roman" charset="0"/>
                <a:cs typeface="Arial" charset="0"/>
              </a:rPr>
              <a:t>t</a:t>
            </a:r>
            <a:r>
              <a:rPr lang="en-GB" sz="2000" dirty="0" smtClean="0">
                <a:cs typeface="Arial" charset="0"/>
              </a:rPr>
              <a:t> is obtained from the </a:t>
            </a:r>
            <a:r>
              <a:rPr lang="en-GB" sz="2000" i="1" dirty="0" smtClean="0">
                <a:latin typeface="Times New Roman" charset="0"/>
                <a:cs typeface="Arial" charset="0"/>
              </a:rPr>
              <a:t>t</a:t>
            </a:r>
            <a:r>
              <a:rPr lang="en-GB" sz="2000" dirty="0" smtClean="0">
                <a:cs typeface="Arial" charset="0"/>
              </a:rPr>
              <a:t> distribution table for the given confidence level and </a:t>
            </a:r>
            <a:r>
              <a:rPr lang="en-GB" sz="2000" i="1" dirty="0" smtClean="0">
                <a:latin typeface="Times New Roman" charset="0"/>
                <a:cs typeface="Arial" charset="0"/>
              </a:rPr>
              <a:t>n</a:t>
            </a:r>
            <a:r>
              <a:rPr lang="en-GB" sz="2000" dirty="0" smtClean="0">
                <a:cs typeface="Arial" charset="0"/>
              </a:rPr>
              <a:t> – 1 degrees of freedom, and        is calculated as explained earlier.</a:t>
            </a:r>
            <a:endParaRPr lang="en-US" sz="2000" dirty="0" smtClean="0">
              <a:cs typeface="Arial" charset="0"/>
            </a:endParaRPr>
          </a:p>
        </p:txBody>
      </p:sp>
      <p:graphicFrame>
        <p:nvGraphicFramePr>
          <p:cNvPr id="28674" name="Object 2"/>
          <p:cNvGraphicFramePr>
            <a:graphicFrameLocks noChangeAspect="1"/>
          </p:cNvGraphicFramePr>
          <p:nvPr>
            <p:extLst>
              <p:ext uri="{D42A27DB-BD31-4B8C-83A1-F6EECF244321}">
                <p14:modId xmlns:p14="http://schemas.microsoft.com/office/powerpoint/2010/main" val="3768848055"/>
              </p:ext>
            </p:extLst>
          </p:nvPr>
        </p:nvGraphicFramePr>
        <p:xfrm>
          <a:off x="3505200" y="2514600"/>
          <a:ext cx="1660255" cy="644065"/>
        </p:xfrm>
        <a:graphic>
          <a:graphicData uri="http://schemas.openxmlformats.org/presentationml/2006/ole">
            <mc:AlternateContent xmlns:mc="http://schemas.openxmlformats.org/markup-compatibility/2006">
              <mc:Choice xmlns:v="urn:schemas-microsoft-com:vml" Requires="v">
                <p:oleObj spid="_x0000_s28759" name="Equation" r:id="rId3" imgW="495000" imgH="253800" progId="">
                  <p:embed/>
                </p:oleObj>
              </mc:Choice>
              <mc:Fallback>
                <p:oleObj name="Equation" r:id="rId3" imgW="495000" imgH="253800" progId="">
                  <p:embed/>
                  <p:pic>
                    <p:nvPicPr>
                      <p:cNvPr id="0" name="Picture 6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05200" y="2514600"/>
                        <a:ext cx="1660255" cy="644065"/>
                      </a:xfrm>
                      <a:prstGeom prst="rect">
                        <a:avLst/>
                      </a:prstGeom>
                      <a:noFill/>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5921" dir="2700000" algn="ctr" rotWithShape="0">
                                <a:srgbClr val="808080"/>
                              </a:outerShdw>
                            </a:effectLst>
                          </a14:hiddenEffects>
                        </a:ext>
                      </a:extLst>
                    </p:spPr>
                  </p:pic>
                </p:oleObj>
              </mc:Fallback>
            </mc:AlternateContent>
          </a:graphicData>
        </a:graphic>
      </p:graphicFrame>
      <p:graphicFrame>
        <p:nvGraphicFramePr>
          <p:cNvPr id="28675" name="Object 3"/>
          <p:cNvGraphicFramePr>
            <a:graphicFrameLocks noChangeAspect="1"/>
          </p:cNvGraphicFramePr>
          <p:nvPr>
            <p:extLst>
              <p:ext uri="{D42A27DB-BD31-4B8C-83A1-F6EECF244321}">
                <p14:modId xmlns:p14="http://schemas.microsoft.com/office/powerpoint/2010/main" val="919435768"/>
              </p:ext>
            </p:extLst>
          </p:nvPr>
        </p:nvGraphicFramePr>
        <p:xfrm>
          <a:off x="1148095" y="3771900"/>
          <a:ext cx="490205" cy="629752"/>
        </p:xfrm>
        <a:graphic>
          <a:graphicData uri="http://schemas.openxmlformats.org/presentationml/2006/ole">
            <mc:AlternateContent xmlns:mc="http://schemas.openxmlformats.org/markup-compatibility/2006">
              <mc:Choice xmlns:v="urn:schemas-microsoft-com:vml" Requires="v">
                <p:oleObj spid="_x0000_s28760" name="Equation" r:id="rId5" imgW="177480" imgH="228600" progId="Equation.3">
                  <p:embed/>
                </p:oleObj>
              </mc:Choice>
              <mc:Fallback>
                <p:oleObj name="Equation" r:id="rId5" imgW="177480" imgH="228600" progId="Equation.3">
                  <p:embed/>
                  <p:pic>
                    <p:nvPicPr>
                      <p:cNvPr id="0" name="Picture 6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48095" y="3771900"/>
                        <a:ext cx="490205" cy="629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5921" dir="2700000" algn="ctr" rotWithShape="0">
                                <a:schemeClr val="bg2"/>
                              </a:outerShdw>
                            </a:effectLst>
                          </a14:hiddenEffects>
                        </a:ext>
                      </a:extLst>
                    </p:spPr>
                  </p:pic>
                </p:oleObj>
              </mc:Fallback>
            </mc:AlternateContent>
          </a:graphicData>
        </a:graphic>
      </p:graphicFrame>
      <p:sp>
        <p:nvSpPr>
          <p:cNvPr id="8" name="Text Box 4"/>
          <p:cNvSpPr txBox="1">
            <a:spLocks noChangeArrowheads="1"/>
          </p:cNvSpPr>
          <p:nvPr/>
        </p:nvSpPr>
        <p:spPr bwMode="auto">
          <a:xfrm>
            <a:off x="4049486" y="6172200"/>
            <a:ext cx="47815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p:cNvSpPr>
            <a:spLocks noGrp="1" noChangeArrowheads="1"/>
          </p:cNvSpPr>
          <p:nvPr>
            <p:ph type="title"/>
          </p:nvPr>
        </p:nvSpPr>
        <p:spPr/>
        <p:txBody>
          <a:bodyPr/>
          <a:lstStyle/>
          <a:p>
            <a:pPr eaLnBrk="1" hangingPunct="1"/>
            <a:r>
              <a:rPr lang="en-US" sz="2800" dirty="0" smtClean="0"/>
              <a:t>Example 10-10</a:t>
            </a:r>
          </a:p>
        </p:txBody>
      </p:sp>
      <p:sp>
        <p:nvSpPr>
          <p:cNvPr id="106499" name="Rectangle 3"/>
          <p:cNvSpPr>
            <a:spLocks noGrp="1" noChangeArrowheads="1"/>
          </p:cNvSpPr>
          <p:nvPr>
            <p:ph type="body" idx="1"/>
          </p:nvPr>
        </p:nvSpPr>
        <p:spPr>
          <a:xfrm>
            <a:off x="152400" y="1447800"/>
            <a:ext cx="8269288" cy="2590800"/>
          </a:xfrm>
        </p:spPr>
        <p:txBody>
          <a:bodyPr/>
          <a:lstStyle/>
          <a:p>
            <a:pPr eaLnBrk="1" hangingPunct="1">
              <a:buFont typeface="Wingdings" charset="2"/>
              <a:buChar char=" "/>
            </a:pPr>
            <a:r>
              <a:rPr lang="en-US" sz="2000" dirty="0" smtClean="0"/>
              <a:t>A researcher wanted to find the effect of a special diet on systolic blood pressure. She selected a sample of seven adults and put them on this dietary plan for 3 months. The following table gives the systolic blood pressures (in mm Hg) of these seven adults before and after the completion of this plan.</a:t>
            </a:r>
          </a:p>
        </p:txBody>
      </p:sp>
      <p:sp>
        <p:nvSpPr>
          <p:cNvPr id="6" name="Text Box 4"/>
          <p:cNvSpPr txBox="1">
            <a:spLocks noChangeArrowheads="1"/>
          </p:cNvSpPr>
          <p:nvPr/>
        </p:nvSpPr>
        <p:spPr bwMode="auto">
          <a:xfrm>
            <a:off x="4049486" y="6172200"/>
            <a:ext cx="47815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p:cNvSpPr>
            <a:spLocks noGrp="1" noChangeArrowheads="1"/>
          </p:cNvSpPr>
          <p:nvPr>
            <p:ph type="title"/>
          </p:nvPr>
        </p:nvSpPr>
        <p:spPr/>
        <p:txBody>
          <a:bodyPr/>
          <a:lstStyle/>
          <a:p>
            <a:pPr eaLnBrk="1" hangingPunct="1"/>
            <a:r>
              <a:rPr lang="en-US" sz="2800" dirty="0" smtClean="0"/>
              <a:t>Example 10-10</a:t>
            </a:r>
          </a:p>
        </p:txBody>
      </p:sp>
      <p:sp>
        <p:nvSpPr>
          <p:cNvPr id="107523" name="Rectangle 3"/>
          <p:cNvSpPr>
            <a:spLocks noGrp="1" noChangeArrowheads="1"/>
          </p:cNvSpPr>
          <p:nvPr>
            <p:ph type="body" idx="1"/>
          </p:nvPr>
        </p:nvSpPr>
        <p:spPr>
          <a:xfrm>
            <a:off x="152400" y="3124200"/>
            <a:ext cx="8345488" cy="3087688"/>
          </a:xfrm>
        </p:spPr>
        <p:txBody>
          <a:bodyPr/>
          <a:lstStyle/>
          <a:p>
            <a:pPr eaLnBrk="1" hangingPunct="1">
              <a:spcBef>
                <a:spcPct val="50000"/>
              </a:spcBef>
              <a:buClrTx/>
              <a:buSzTx/>
              <a:buFont typeface="Wingdings" charset="2"/>
              <a:buChar char=" "/>
            </a:pPr>
            <a:r>
              <a:rPr lang="en-US" sz="2000" dirty="0" smtClean="0"/>
              <a:t>Let </a:t>
            </a:r>
            <a:r>
              <a:rPr lang="el-GR" sz="2000" dirty="0" smtClean="0">
                <a:latin typeface="Times New Roman" charset="0"/>
                <a:cs typeface="Times New Roman" charset="0"/>
              </a:rPr>
              <a:t>μ</a:t>
            </a:r>
            <a:r>
              <a:rPr lang="en-GB" sz="2000" i="1" baseline="-25000" dirty="0" smtClean="0">
                <a:latin typeface="Times New Roman" charset="0"/>
                <a:cs typeface="Times New Roman" charset="0"/>
              </a:rPr>
              <a:t>d</a:t>
            </a:r>
            <a:r>
              <a:rPr lang="en-GB" sz="2000" dirty="0" smtClean="0"/>
              <a:t> be the mean reduction in the systolic blood pressure due to this special dietary plan for the population of all adults. Construct a 95% confidence interval for </a:t>
            </a:r>
            <a:r>
              <a:rPr lang="el-GR" sz="2000" dirty="0" smtClean="0">
                <a:latin typeface="Times New Roman" charset="0"/>
              </a:rPr>
              <a:t>μ</a:t>
            </a:r>
            <a:r>
              <a:rPr lang="en-GB" sz="2000" i="1" baseline="-25000" dirty="0" smtClean="0">
                <a:latin typeface="Times New Roman" charset="0"/>
              </a:rPr>
              <a:t>d</a:t>
            </a:r>
            <a:r>
              <a:rPr lang="en-GB" sz="2000" dirty="0" smtClean="0"/>
              <a:t>. Assume that the population of paired differences is (approximately) normally distributed. </a:t>
            </a:r>
            <a:endParaRPr lang="en-US" sz="2000" dirty="0" smtClean="0"/>
          </a:p>
        </p:txBody>
      </p:sp>
      <p:sp>
        <p:nvSpPr>
          <p:cNvPr id="7" name="Text Box 4"/>
          <p:cNvSpPr txBox="1">
            <a:spLocks noChangeArrowheads="1"/>
          </p:cNvSpPr>
          <p:nvPr/>
        </p:nvSpPr>
        <p:spPr bwMode="auto">
          <a:xfrm>
            <a:off x="4049486" y="6172200"/>
            <a:ext cx="47815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5945" y="1666714"/>
            <a:ext cx="8811855" cy="1152686"/>
          </a:xfrm>
          <a:prstGeom prst="rect">
            <a:avLst/>
          </a:prstGeom>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p:cNvSpPr>
            <a:spLocks noGrp="1" noChangeArrowheads="1"/>
          </p:cNvSpPr>
          <p:nvPr>
            <p:ph type="title"/>
          </p:nvPr>
        </p:nvSpPr>
        <p:spPr/>
        <p:txBody>
          <a:bodyPr/>
          <a:lstStyle/>
          <a:p>
            <a:pPr eaLnBrk="1" hangingPunct="1"/>
            <a:r>
              <a:rPr lang="en-US" sz="2800" dirty="0" smtClean="0"/>
              <a:t>Example 10-10: Solution</a:t>
            </a:r>
          </a:p>
        </p:txBody>
      </p:sp>
      <p:sp>
        <p:nvSpPr>
          <p:cNvPr id="108547" name="Rectangle 3"/>
          <p:cNvSpPr>
            <a:spLocks noGrp="1" noChangeArrowheads="1"/>
          </p:cNvSpPr>
          <p:nvPr>
            <p:ph type="body" idx="1"/>
          </p:nvPr>
        </p:nvSpPr>
        <p:spPr>
          <a:xfrm>
            <a:off x="457200" y="1504544"/>
            <a:ext cx="7772400" cy="381000"/>
          </a:xfrm>
        </p:spPr>
        <p:txBody>
          <a:bodyPr/>
          <a:lstStyle/>
          <a:p>
            <a:pPr eaLnBrk="1" hangingPunct="1">
              <a:buFont typeface="Wingdings" charset="2"/>
              <a:buNone/>
            </a:pPr>
            <a:r>
              <a:rPr lang="en-US" sz="2000" dirty="0" smtClean="0">
                <a:solidFill>
                  <a:schemeClr val="folHlink"/>
                </a:solidFill>
              </a:rPr>
              <a:t>Table 10.1</a:t>
            </a:r>
          </a:p>
        </p:txBody>
      </p:sp>
      <p:sp>
        <p:nvSpPr>
          <p:cNvPr id="7" name="Text Box 4"/>
          <p:cNvSpPr txBox="1">
            <a:spLocks noChangeArrowheads="1"/>
          </p:cNvSpPr>
          <p:nvPr/>
        </p:nvSpPr>
        <p:spPr bwMode="auto">
          <a:xfrm>
            <a:off x="4049486" y="6172200"/>
            <a:ext cx="47815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99658" y="1824856"/>
            <a:ext cx="6801342" cy="4347344"/>
          </a:xfrm>
          <a:prstGeom prst="rect">
            <a:avLst/>
          </a:prstGeom>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Rectangle 2"/>
          <p:cNvSpPr>
            <a:spLocks noGrp="1" noChangeArrowheads="1"/>
          </p:cNvSpPr>
          <p:nvPr>
            <p:ph type="title"/>
          </p:nvPr>
        </p:nvSpPr>
        <p:spPr/>
        <p:txBody>
          <a:bodyPr/>
          <a:lstStyle/>
          <a:p>
            <a:pPr eaLnBrk="1" hangingPunct="1"/>
            <a:r>
              <a:rPr lang="en-US" sz="2800" dirty="0" smtClean="0"/>
              <a:t>Example 10-10: Solution</a:t>
            </a:r>
          </a:p>
        </p:txBody>
      </p:sp>
      <p:graphicFrame>
        <p:nvGraphicFramePr>
          <p:cNvPr id="29698" name="Object 2"/>
          <p:cNvGraphicFramePr>
            <a:graphicFrameLocks noChangeAspect="1"/>
          </p:cNvGraphicFramePr>
          <p:nvPr>
            <p:extLst>
              <p:ext uri="{D42A27DB-BD31-4B8C-83A1-F6EECF244321}">
                <p14:modId xmlns:p14="http://schemas.microsoft.com/office/powerpoint/2010/main" val="1395044732"/>
              </p:ext>
            </p:extLst>
          </p:nvPr>
        </p:nvGraphicFramePr>
        <p:xfrm>
          <a:off x="609600" y="1752600"/>
          <a:ext cx="6553200" cy="1991047"/>
        </p:xfrm>
        <a:graphic>
          <a:graphicData uri="http://schemas.openxmlformats.org/presentationml/2006/ole">
            <mc:AlternateContent xmlns:mc="http://schemas.openxmlformats.org/markup-compatibility/2006">
              <mc:Choice xmlns:v="urn:schemas-microsoft-com:vml" Requires="v">
                <p:oleObj spid="_x0000_s29743" name="Equation" r:id="rId3" imgW="3593880" imgH="1091880" progId="">
                  <p:embed/>
                </p:oleObj>
              </mc:Choice>
              <mc:Fallback>
                <p:oleObj name="Equation" r:id="rId3" imgW="3593880" imgH="1091880" progId="">
                  <p:embed/>
                  <p:pic>
                    <p:nvPicPr>
                      <p:cNvPr id="0" name="Picture 3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 y="1752600"/>
                        <a:ext cx="6553200" cy="199104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Text Box 4"/>
          <p:cNvSpPr txBox="1">
            <a:spLocks noChangeArrowheads="1"/>
          </p:cNvSpPr>
          <p:nvPr/>
        </p:nvSpPr>
        <p:spPr bwMode="auto">
          <a:xfrm>
            <a:off x="4049486" y="6172200"/>
            <a:ext cx="47815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Rectangle 2"/>
          <p:cNvSpPr>
            <a:spLocks noGrp="1" noChangeArrowheads="1"/>
          </p:cNvSpPr>
          <p:nvPr>
            <p:ph type="title"/>
          </p:nvPr>
        </p:nvSpPr>
        <p:spPr/>
        <p:txBody>
          <a:bodyPr/>
          <a:lstStyle/>
          <a:p>
            <a:pPr eaLnBrk="1" hangingPunct="1"/>
            <a:r>
              <a:rPr lang="en-US" sz="2800" dirty="0" smtClean="0"/>
              <a:t>Example 10-10: Solution</a:t>
            </a:r>
          </a:p>
        </p:txBody>
      </p:sp>
      <p:sp>
        <p:nvSpPr>
          <p:cNvPr id="30724" name="Rectangle 3"/>
          <p:cNvSpPr>
            <a:spLocks noGrp="1" noChangeArrowheads="1"/>
          </p:cNvSpPr>
          <p:nvPr>
            <p:ph type="body" idx="1"/>
          </p:nvPr>
        </p:nvSpPr>
        <p:spPr>
          <a:xfrm>
            <a:off x="457200" y="1524000"/>
            <a:ext cx="8421688" cy="685800"/>
          </a:xfrm>
        </p:spPr>
        <p:txBody>
          <a:bodyPr/>
          <a:lstStyle/>
          <a:p>
            <a:pPr eaLnBrk="1" hangingPunct="1">
              <a:buFont typeface="Wingdings" charset="2"/>
              <a:buNone/>
            </a:pPr>
            <a:r>
              <a:rPr lang="en-US" sz="2000" dirty="0" smtClean="0"/>
              <a:t>Hence,</a:t>
            </a:r>
          </a:p>
          <a:p>
            <a:pPr eaLnBrk="1" hangingPunct="1"/>
            <a:endParaRPr lang="en-US" dirty="0" smtClean="0"/>
          </a:p>
        </p:txBody>
      </p:sp>
      <p:graphicFrame>
        <p:nvGraphicFramePr>
          <p:cNvPr id="30722" name="Object 2"/>
          <p:cNvGraphicFramePr>
            <a:graphicFrameLocks noChangeAspect="1"/>
          </p:cNvGraphicFramePr>
          <p:nvPr>
            <p:extLst>
              <p:ext uri="{D42A27DB-BD31-4B8C-83A1-F6EECF244321}">
                <p14:modId xmlns:p14="http://schemas.microsoft.com/office/powerpoint/2010/main" val="3348261134"/>
              </p:ext>
            </p:extLst>
          </p:nvPr>
        </p:nvGraphicFramePr>
        <p:xfrm>
          <a:off x="896938" y="2209801"/>
          <a:ext cx="6113462" cy="2821598"/>
        </p:xfrm>
        <a:graphic>
          <a:graphicData uri="http://schemas.openxmlformats.org/presentationml/2006/ole">
            <mc:AlternateContent xmlns:mc="http://schemas.openxmlformats.org/markup-compatibility/2006">
              <mc:Choice xmlns:v="urn:schemas-microsoft-com:vml" Requires="v">
                <p:oleObj spid="_x0000_s30768" name="Equation" r:id="rId3" imgW="3288960" imgH="1574640" progId="">
                  <p:embed/>
                </p:oleObj>
              </mc:Choice>
              <mc:Fallback>
                <p:oleObj name="Equation" r:id="rId3" imgW="3288960" imgH="1574640" progId="">
                  <p:embed/>
                  <p:pic>
                    <p:nvPicPr>
                      <p:cNvPr id="0" name="Picture 3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6938" y="2209801"/>
                        <a:ext cx="6113462" cy="282159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Text Box 4"/>
          <p:cNvSpPr txBox="1">
            <a:spLocks noChangeArrowheads="1"/>
          </p:cNvSpPr>
          <p:nvPr/>
        </p:nvSpPr>
        <p:spPr bwMode="auto">
          <a:xfrm>
            <a:off x="4049486" y="6172200"/>
            <a:ext cx="47815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9" name="Rectangle 2"/>
          <p:cNvSpPr>
            <a:spLocks noGrp="1" noChangeArrowheads="1"/>
          </p:cNvSpPr>
          <p:nvPr>
            <p:ph type="title"/>
          </p:nvPr>
        </p:nvSpPr>
        <p:spPr/>
        <p:txBody>
          <a:bodyPr/>
          <a:lstStyle/>
          <a:p>
            <a:pPr eaLnBrk="1" hangingPunct="1"/>
            <a:r>
              <a:rPr lang="en-US" sz="2800" dirty="0" smtClean="0"/>
              <a:t>Hypothesis Testing About </a:t>
            </a:r>
            <a:r>
              <a:rPr lang="el-GR" sz="2800" dirty="0" smtClean="0">
                <a:latin typeface="Times New Roman" charset="0"/>
                <a:cs typeface="Times New Roman" charset="0"/>
              </a:rPr>
              <a:t>μ</a:t>
            </a:r>
            <a:r>
              <a:rPr lang="en-GB" sz="2800" i="1" baseline="-25000" dirty="0" smtClean="0">
                <a:latin typeface="Times New Roman" charset="0"/>
                <a:cs typeface="Times New Roman" charset="0"/>
              </a:rPr>
              <a:t>d</a:t>
            </a:r>
            <a:endParaRPr lang="en-US" sz="3600" b="1" i="1" baseline="-25000" dirty="0" smtClean="0">
              <a:solidFill>
                <a:srgbClr val="FF0000"/>
              </a:solidFill>
              <a:latin typeface="Times New Roman" charset="0"/>
              <a:cs typeface="Times New Roman" charset="0"/>
            </a:endParaRPr>
          </a:p>
        </p:txBody>
      </p:sp>
      <p:sp>
        <p:nvSpPr>
          <p:cNvPr id="31750" name="Rectangle 3"/>
          <p:cNvSpPr>
            <a:spLocks noGrp="1" noChangeArrowheads="1"/>
          </p:cNvSpPr>
          <p:nvPr>
            <p:ph type="body" idx="1"/>
          </p:nvPr>
        </p:nvSpPr>
        <p:spPr>
          <a:xfrm>
            <a:off x="131763" y="1524000"/>
            <a:ext cx="8345487" cy="1828800"/>
          </a:xfrm>
        </p:spPr>
        <p:txBody>
          <a:bodyPr/>
          <a:lstStyle/>
          <a:p>
            <a:pPr eaLnBrk="1" hangingPunct="1">
              <a:buFont typeface="Wingdings" charset="2"/>
              <a:buChar char=" "/>
            </a:pPr>
            <a:r>
              <a:rPr lang="en-US" sz="2000" dirty="0" smtClean="0">
                <a:solidFill>
                  <a:schemeClr val="folHlink"/>
                </a:solidFill>
              </a:rPr>
              <a:t>Test Statistic </a:t>
            </a:r>
            <a:r>
              <a:rPr lang="en-US" sz="2000" i="1" dirty="0" smtClean="0">
                <a:solidFill>
                  <a:schemeClr val="folHlink"/>
                </a:solidFill>
                <a:latin typeface="Times New Roman" charset="0"/>
              </a:rPr>
              <a:t>t</a:t>
            </a:r>
            <a:r>
              <a:rPr lang="en-US" sz="2000" dirty="0" smtClean="0">
                <a:solidFill>
                  <a:schemeClr val="folHlink"/>
                </a:solidFill>
              </a:rPr>
              <a:t> for</a:t>
            </a:r>
          </a:p>
          <a:p>
            <a:pPr eaLnBrk="1" hangingPunct="1">
              <a:buFont typeface="Wingdings" charset="2"/>
              <a:buChar char=" "/>
            </a:pPr>
            <a:r>
              <a:rPr lang="en-US" sz="2000" dirty="0" smtClean="0"/>
              <a:t>The value of the </a:t>
            </a:r>
            <a:r>
              <a:rPr lang="en-US" sz="2000" b="1" i="1" u="sng" dirty="0" smtClean="0">
                <a:solidFill>
                  <a:schemeClr val="hlink"/>
                </a:solidFill>
              </a:rPr>
              <a:t>test statistic </a:t>
            </a:r>
            <a:r>
              <a:rPr lang="en-US" sz="2000" b="1" i="1" u="sng" dirty="0" smtClean="0">
                <a:solidFill>
                  <a:schemeClr val="hlink"/>
                </a:solidFill>
                <a:latin typeface="Times New Roman" charset="0"/>
              </a:rPr>
              <a:t>t</a:t>
            </a:r>
            <a:r>
              <a:rPr lang="en-US" sz="2000" b="1" i="1" u="sng" dirty="0" smtClean="0">
                <a:solidFill>
                  <a:schemeClr val="hlink"/>
                </a:solidFill>
              </a:rPr>
              <a:t> for</a:t>
            </a:r>
            <a:r>
              <a:rPr lang="en-US" sz="2000" i="1" dirty="0" smtClean="0">
                <a:solidFill>
                  <a:schemeClr val="hlink"/>
                </a:solidFill>
              </a:rPr>
              <a:t>       </a:t>
            </a:r>
            <a:r>
              <a:rPr lang="en-US" sz="2000" dirty="0" smtClean="0"/>
              <a:t>is computed as follows:</a:t>
            </a:r>
          </a:p>
          <a:p>
            <a:pPr eaLnBrk="1" hangingPunct="1">
              <a:buFont typeface="Wingdings" charset="2"/>
              <a:buChar char=" "/>
            </a:pPr>
            <a:endParaRPr lang="en-US" sz="2000" dirty="0" smtClean="0"/>
          </a:p>
          <a:p>
            <a:pPr eaLnBrk="1" hangingPunct="1">
              <a:buFont typeface="Wingdings" charset="2"/>
              <a:buChar char=" "/>
            </a:pPr>
            <a:endParaRPr lang="en-US" sz="2000" dirty="0" smtClean="0"/>
          </a:p>
          <a:p>
            <a:pPr eaLnBrk="1" hangingPunct="1">
              <a:buFont typeface="Wingdings" charset="2"/>
              <a:buChar char=" "/>
            </a:pPr>
            <a:endParaRPr lang="en-US" sz="2000" dirty="0" smtClean="0"/>
          </a:p>
        </p:txBody>
      </p:sp>
      <p:graphicFrame>
        <p:nvGraphicFramePr>
          <p:cNvPr id="31746" name="Object 2"/>
          <p:cNvGraphicFramePr>
            <a:graphicFrameLocks noChangeAspect="1"/>
          </p:cNvGraphicFramePr>
          <p:nvPr>
            <p:extLst>
              <p:ext uri="{D42A27DB-BD31-4B8C-83A1-F6EECF244321}">
                <p14:modId xmlns:p14="http://schemas.microsoft.com/office/powerpoint/2010/main" val="4102981575"/>
              </p:ext>
            </p:extLst>
          </p:nvPr>
        </p:nvGraphicFramePr>
        <p:xfrm>
          <a:off x="2971800" y="2743201"/>
          <a:ext cx="2286000" cy="1298864"/>
        </p:xfrm>
        <a:graphic>
          <a:graphicData uri="http://schemas.openxmlformats.org/presentationml/2006/ole">
            <mc:AlternateContent xmlns:mc="http://schemas.openxmlformats.org/markup-compatibility/2006">
              <mc:Choice xmlns:v="urn:schemas-microsoft-com:vml" Requires="v">
                <p:oleObj spid="_x0000_s31874" name="Equation" r:id="rId3" imgW="711000" imgH="469800" progId="">
                  <p:embed/>
                </p:oleObj>
              </mc:Choice>
              <mc:Fallback>
                <p:oleObj name="Equation" r:id="rId3" imgW="711000" imgH="469800" progId="">
                  <p:embed/>
                  <p:pic>
                    <p:nvPicPr>
                      <p:cNvPr id="0" name="Picture 10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71800" y="2743201"/>
                        <a:ext cx="2286000" cy="129886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1747" name="Object 3"/>
          <p:cNvGraphicFramePr>
            <a:graphicFrameLocks noChangeAspect="1"/>
          </p:cNvGraphicFramePr>
          <p:nvPr>
            <p:extLst>
              <p:ext uri="{D42A27DB-BD31-4B8C-83A1-F6EECF244321}">
                <p14:modId xmlns:p14="http://schemas.microsoft.com/office/powerpoint/2010/main" val="1631433290"/>
              </p:ext>
            </p:extLst>
          </p:nvPr>
        </p:nvGraphicFramePr>
        <p:xfrm>
          <a:off x="5376236" y="1866900"/>
          <a:ext cx="357814" cy="477085"/>
        </p:xfrm>
        <a:graphic>
          <a:graphicData uri="http://schemas.openxmlformats.org/presentationml/2006/ole">
            <mc:AlternateContent xmlns:mc="http://schemas.openxmlformats.org/markup-compatibility/2006">
              <mc:Choice xmlns:v="urn:schemas-microsoft-com:vml" Requires="v">
                <p:oleObj spid="_x0000_s31875" name="Equation" r:id="rId5" imgW="152280" imgH="203040" progId="Equation.3">
                  <p:embed/>
                </p:oleObj>
              </mc:Choice>
              <mc:Fallback>
                <p:oleObj name="Equation" r:id="rId5" imgW="152280" imgH="203040" progId="Equation.3">
                  <p:embed/>
                  <p:pic>
                    <p:nvPicPr>
                      <p:cNvPr id="0" name="Picture 10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76236" y="1866900"/>
                        <a:ext cx="357814" cy="4770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5921" dir="2700000" algn="ctr" rotWithShape="0">
                                <a:schemeClr val="bg2"/>
                              </a:outerShdw>
                            </a:effectLst>
                          </a14:hiddenEffects>
                        </a:ext>
                      </a:extLst>
                    </p:spPr>
                  </p:pic>
                </p:oleObj>
              </mc:Fallback>
            </mc:AlternateContent>
          </a:graphicData>
        </a:graphic>
      </p:graphicFrame>
      <p:graphicFrame>
        <p:nvGraphicFramePr>
          <p:cNvPr id="31748" name="Object 4"/>
          <p:cNvGraphicFramePr>
            <a:graphicFrameLocks noChangeAspect="1"/>
          </p:cNvGraphicFramePr>
          <p:nvPr>
            <p:extLst>
              <p:ext uri="{D42A27DB-BD31-4B8C-83A1-F6EECF244321}">
                <p14:modId xmlns:p14="http://schemas.microsoft.com/office/powerpoint/2010/main" val="1574865881"/>
              </p:ext>
            </p:extLst>
          </p:nvPr>
        </p:nvGraphicFramePr>
        <p:xfrm>
          <a:off x="2918786" y="1524000"/>
          <a:ext cx="357814" cy="477085"/>
        </p:xfrm>
        <a:graphic>
          <a:graphicData uri="http://schemas.openxmlformats.org/presentationml/2006/ole">
            <mc:AlternateContent xmlns:mc="http://schemas.openxmlformats.org/markup-compatibility/2006">
              <mc:Choice xmlns:v="urn:schemas-microsoft-com:vml" Requires="v">
                <p:oleObj spid="_x0000_s31876" name="Equation" r:id="rId7" imgW="152280" imgH="203040" progId="Equation.3">
                  <p:embed/>
                </p:oleObj>
              </mc:Choice>
              <mc:Fallback>
                <p:oleObj name="Equation" r:id="rId7" imgW="152280" imgH="203040" progId="Equation.3">
                  <p:embed/>
                  <p:pic>
                    <p:nvPicPr>
                      <p:cNvPr id="0" name="Picture 10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18786" y="1524000"/>
                        <a:ext cx="357814" cy="4770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5921" dir="2700000" algn="ctr" rotWithShape="0">
                                <a:schemeClr val="bg2"/>
                              </a:outerShdw>
                            </a:effectLst>
                          </a14:hiddenEffects>
                        </a:ext>
                      </a:extLst>
                    </p:spPr>
                  </p:pic>
                </p:oleObj>
              </mc:Fallback>
            </mc:AlternateContent>
          </a:graphicData>
        </a:graphic>
      </p:graphicFrame>
      <p:sp>
        <p:nvSpPr>
          <p:cNvPr id="9" name="Text Box 4"/>
          <p:cNvSpPr txBox="1">
            <a:spLocks noChangeArrowheads="1"/>
          </p:cNvSpPr>
          <p:nvPr/>
        </p:nvSpPr>
        <p:spPr bwMode="auto">
          <a:xfrm>
            <a:off x="4049486" y="6172200"/>
            <a:ext cx="47815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2"/>
          <p:cNvSpPr>
            <a:spLocks noGrp="1" noChangeArrowheads="1"/>
          </p:cNvSpPr>
          <p:nvPr>
            <p:ph type="title"/>
          </p:nvPr>
        </p:nvSpPr>
        <p:spPr/>
        <p:txBody>
          <a:bodyPr/>
          <a:lstStyle/>
          <a:p>
            <a:pPr eaLnBrk="1" hangingPunct="1"/>
            <a:r>
              <a:rPr lang="en-US" sz="2800" dirty="0" smtClean="0"/>
              <a:t>Example 10-12</a:t>
            </a:r>
          </a:p>
        </p:txBody>
      </p:sp>
      <p:sp>
        <p:nvSpPr>
          <p:cNvPr id="116739" name="Rectangle 3"/>
          <p:cNvSpPr>
            <a:spLocks noGrp="1" noChangeArrowheads="1"/>
          </p:cNvSpPr>
          <p:nvPr>
            <p:ph type="body" idx="1"/>
          </p:nvPr>
        </p:nvSpPr>
        <p:spPr>
          <a:xfrm>
            <a:off x="131762" y="1485900"/>
            <a:ext cx="8421688" cy="1257300"/>
          </a:xfrm>
        </p:spPr>
        <p:txBody>
          <a:bodyPr/>
          <a:lstStyle/>
          <a:p>
            <a:pPr eaLnBrk="1" hangingPunct="1">
              <a:buFont typeface="Tahoma" charset="0"/>
              <a:buChar char=" "/>
            </a:pPr>
            <a:r>
              <a:rPr lang="en-US" sz="2000" dirty="0" smtClean="0"/>
              <a:t>Refer to Example 10-10. The table that gives the blood pressures (in mm Hg) of seven adults before and after the completion of a special dietary plan is reproduced here.</a:t>
            </a:r>
          </a:p>
        </p:txBody>
      </p:sp>
      <p:sp>
        <p:nvSpPr>
          <p:cNvPr id="7" name="Text Box 4"/>
          <p:cNvSpPr txBox="1">
            <a:spLocks noChangeArrowheads="1"/>
          </p:cNvSpPr>
          <p:nvPr/>
        </p:nvSpPr>
        <p:spPr bwMode="auto">
          <a:xfrm>
            <a:off x="4049486" y="6172200"/>
            <a:ext cx="47815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4987" y="2890762"/>
            <a:ext cx="8869013" cy="1076475"/>
          </a:xfrm>
          <a:prstGeom prst="rect">
            <a:avLst/>
          </a:prstGeom>
        </p:spPr>
      </p:pic>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2"/>
          <p:cNvSpPr>
            <a:spLocks noGrp="1" noChangeArrowheads="1"/>
          </p:cNvSpPr>
          <p:nvPr>
            <p:ph type="title"/>
          </p:nvPr>
        </p:nvSpPr>
        <p:spPr/>
        <p:txBody>
          <a:bodyPr/>
          <a:lstStyle/>
          <a:p>
            <a:pPr eaLnBrk="1" hangingPunct="1"/>
            <a:r>
              <a:rPr lang="en-US" sz="2800" dirty="0" smtClean="0"/>
              <a:t>Example 10-12</a:t>
            </a:r>
          </a:p>
        </p:txBody>
      </p:sp>
      <p:sp>
        <p:nvSpPr>
          <p:cNvPr id="117763" name="Rectangle 3"/>
          <p:cNvSpPr>
            <a:spLocks noGrp="1" noChangeArrowheads="1"/>
          </p:cNvSpPr>
          <p:nvPr>
            <p:ph type="body" idx="1"/>
          </p:nvPr>
        </p:nvSpPr>
        <p:spPr>
          <a:xfrm>
            <a:off x="152400" y="1447800"/>
            <a:ext cx="8345488" cy="2706687"/>
          </a:xfrm>
        </p:spPr>
        <p:txBody>
          <a:bodyPr/>
          <a:lstStyle/>
          <a:p>
            <a:pPr eaLnBrk="1" hangingPunct="1">
              <a:buFont typeface="Tahoma" charset="0"/>
              <a:buChar char=" "/>
            </a:pPr>
            <a:r>
              <a:rPr lang="en-GB" sz="2000" dirty="0" smtClean="0"/>
              <a:t>Let </a:t>
            </a:r>
            <a:r>
              <a:rPr lang="el-GR" sz="2000" dirty="0" smtClean="0">
                <a:latin typeface="Times New Roman" charset="0"/>
                <a:cs typeface="Times New Roman" charset="0"/>
              </a:rPr>
              <a:t>μ</a:t>
            </a:r>
            <a:r>
              <a:rPr lang="en-GB" sz="2000" i="1" baseline="-25000" dirty="0" smtClean="0">
                <a:latin typeface="Times New Roman" charset="0"/>
              </a:rPr>
              <a:t>d</a:t>
            </a:r>
            <a:r>
              <a:rPr lang="en-GB" sz="2000" dirty="0" smtClean="0"/>
              <a:t> be the mean of the differences between the systolic blood pressures before and after completing this special dietary plan for the population of all adults. Using the 5% significance level, can we conclude that the mean of the paired differences </a:t>
            </a:r>
            <a:r>
              <a:rPr lang="el-GR" sz="2000" dirty="0" smtClean="0">
                <a:latin typeface="Times New Roman" charset="0"/>
                <a:cs typeface="Times New Roman" charset="0"/>
              </a:rPr>
              <a:t>μ</a:t>
            </a:r>
            <a:r>
              <a:rPr lang="en-GB" sz="2000" i="1" baseline="-25000" dirty="0" smtClean="0">
                <a:latin typeface="Times New Roman" charset="0"/>
              </a:rPr>
              <a:t>d</a:t>
            </a:r>
            <a:r>
              <a:rPr lang="en-GB" sz="2000" dirty="0" smtClean="0"/>
              <a:t> is difference from zero? Assume that the population of paired differences is (approximately) normally distributed.</a:t>
            </a:r>
            <a:endParaRPr lang="en-US" sz="2000" dirty="0" smtClean="0"/>
          </a:p>
        </p:txBody>
      </p:sp>
      <p:sp>
        <p:nvSpPr>
          <p:cNvPr id="6" name="Text Box 4"/>
          <p:cNvSpPr txBox="1">
            <a:spLocks noChangeArrowheads="1"/>
          </p:cNvSpPr>
          <p:nvPr/>
        </p:nvSpPr>
        <p:spPr bwMode="auto">
          <a:xfrm>
            <a:off x="4049486" y="6172200"/>
            <a:ext cx="47815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2"/>
          <p:cNvSpPr>
            <a:spLocks noGrp="1" noChangeArrowheads="1"/>
          </p:cNvSpPr>
          <p:nvPr>
            <p:ph type="title"/>
          </p:nvPr>
        </p:nvSpPr>
        <p:spPr/>
        <p:txBody>
          <a:bodyPr/>
          <a:lstStyle/>
          <a:p>
            <a:pPr eaLnBrk="1" hangingPunct="1"/>
            <a:r>
              <a:rPr lang="en-US" sz="2800" dirty="0" smtClean="0"/>
              <a:t>Example 10-12: Solution</a:t>
            </a:r>
          </a:p>
        </p:txBody>
      </p:sp>
      <p:sp>
        <p:nvSpPr>
          <p:cNvPr id="118787" name="Rectangle 3"/>
          <p:cNvSpPr>
            <a:spLocks noGrp="1" noChangeArrowheads="1"/>
          </p:cNvSpPr>
          <p:nvPr>
            <p:ph type="body" idx="1"/>
          </p:nvPr>
        </p:nvSpPr>
        <p:spPr>
          <a:xfrm>
            <a:off x="533400" y="1524000"/>
            <a:ext cx="7772400" cy="698500"/>
          </a:xfrm>
        </p:spPr>
        <p:txBody>
          <a:bodyPr/>
          <a:lstStyle/>
          <a:p>
            <a:pPr eaLnBrk="1" hangingPunct="1">
              <a:buFont typeface="Wingdings" charset="2"/>
              <a:buNone/>
            </a:pPr>
            <a:r>
              <a:rPr lang="en-US" sz="2000" dirty="0" smtClean="0">
                <a:solidFill>
                  <a:schemeClr val="folHlink"/>
                </a:solidFill>
              </a:rPr>
              <a:t>Table 10-3</a:t>
            </a:r>
          </a:p>
        </p:txBody>
      </p:sp>
      <p:sp>
        <p:nvSpPr>
          <p:cNvPr id="8" name="Text Box 4"/>
          <p:cNvSpPr txBox="1">
            <a:spLocks noChangeArrowheads="1"/>
          </p:cNvSpPr>
          <p:nvPr/>
        </p:nvSpPr>
        <p:spPr bwMode="auto">
          <a:xfrm>
            <a:off x="4049486" y="6172200"/>
            <a:ext cx="47815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61595" y="1936114"/>
            <a:ext cx="6563205" cy="4236086"/>
          </a:xfrm>
          <a:prstGeom prst="rect">
            <a:avLst/>
          </a:prstGeom>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4" name="Rectangle 2"/>
          <p:cNvSpPr>
            <a:spLocks noGrp="1" noChangeArrowheads="1"/>
          </p:cNvSpPr>
          <p:nvPr>
            <p:ph type="title"/>
          </p:nvPr>
        </p:nvSpPr>
        <p:spPr/>
        <p:txBody>
          <a:bodyPr/>
          <a:lstStyle/>
          <a:p>
            <a:pPr eaLnBrk="1" hangingPunct="1"/>
            <a:r>
              <a:rPr lang="en-US" sz="2800" dirty="0" smtClean="0"/>
              <a:t>Example 10-12: Solution</a:t>
            </a:r>
          </a:p>
        </p:txBody>
      </p:sp>
      <p:graphicFrame>
        <p:nvGraphicFramePr>
          <p:cNvPr id="35842" name="Object 2"/>
          <p:cNvGraphicFramePr>
            <a:graphicFrameLocks noChangeAspect="1"/>
          </p:cNvGraphicFramePr>
          <p:nvPr>
            <p:extLst>
              <p:ext uri="{D42A27DB-BD31-4B8C-83A1-F6EECF244321}">
                <p14:modId xmlns:p14="http://schemas.microsoft.com/office/powerpoint/2010/main" val="3405856761"/>
              </p:ext>
            </p:extLst>
          </p:nvPr>
        </p:nvGraphicFramePr>
        <p:xfrm>
          <a:off x="533400" y="1752600"/>
          <a:ext cx="6019191" cy="1828800"/>
        </p:xfrm>
        <a:graphic>
          <a:graphicData uri="http://schemas.openxmlformats.org/presentationml/2006/ole">
            <mc:AlternateContent xmlns:mc="http://schemas.openxmlformats.org/markup-compatibility/2006">
              <mc:Choice xmlns:v="urn:schemas-microsoft-com:vml" Requires="v">
                <p:oleObj spid="_x0000_s35930" name="Equation" r:id="rId3" imgW="3593880" imgH="1091880" progId="">
                  <p:embed/>
                </p:oleObj>
              </mc:Choice>
              <mc:Fallback>
                <p:oleObj name="Equation" r:id="rId3" imgW="3593880" imgH="1091880" progId="">
                  <p:embed/>
                  <p:pic>
                    <p:nvPicPr>
                      <p:cNvPr id="0" name="Picture 7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3400" y="1752600"/>
                        <a:ext cx="6019191" cy="1828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5843" name="Object 3"/>
          <p:cNvGraphicFramePr>
            <a:graphicFrameLocks noChangeAspect="1"/>
          </p:cNvGraphicFramePr>
          <p:nvPr>
            <p:extLst>
              <p:ext uri="{D42A27DB-BD31-4B8C-83A1-F6EECF244321}">
                <p14:modId xmlns:p14="http://schemas.microsoft.com/office/powerpoint/2010/main" val="2954122997"/>
              </p:ext>
            </p:extLst>
          </p:nvPr>
        </p:nvGraphicFramePr>
        <p:xfrm>
          <a:off x="533400" y="3810000"/>
          <a:ext cx="4495800" cy="713728"/>
        </p:xfrm>
        <a:graphic>
          <a:graphicData uri="http://schemas.openxmlformats.org/presentationml/2006/ole">
            <mc:AlternateContent xmlns:mc="http://schemas.openxmlformats.org/markup-compatibility/2006">
              <mc:Choice xmlns:v="urn:schemas-microsoft-com:vml" Requires="v">
                <p:oleObj spid="_x0000_s35931" name="Equation" r:id="rId5" imgW="2641320" imgH="419040" progId="">
                  <p:embed/>
                </p:oleObj>
              </mc:Choice>
              <mc:Fallback>
                <p:oleObj name="Equation" r:id="rId5" imgW="2641320" imgH="419040" progId="">
                  <p:embed/>
                  <p:pic>
                    <p:nvPicPr>
                      <p:cNvPr id="0" name="Picture 7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3400" y="3810000"/>
                        <a:ext cx="4495800" cy="71372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Text Box 4"/>
          <p:cNvSpPr txBox="1">
            <a:spLocks noChangeArrowheads="1"/>
          </p:cNvSpPr>
          <p:nvPr/>
        </p:nvSpPr>
        <p:spPr bwMode="auto">
          <a:xfrm>
            <a:off x="4049486" y="6172200"/>
            <a:ext cx="47815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2"/>
          <p:cNvSpPr>
            <a:spLocks noGrp="1" noChangeArrowheads="1"/>
          </p:cNvSpPr>
          <p:nvPr>
            <p:ph type="title"/>
          </p:nvPr>
        </p:nvSpPr>
        <p:spPr/>
        <p:txBody>
          <a:bodyPr/>
          <a:lstStyle/>
          <a:p>
            <a:pPr eaLnBrk="1" hangingPunct="1"/>
            <a:r>
              <a:rPr lang="en-US" sz="2800" dirty="0" smtClean="0"/>
              <a:t>Example 10-12: Solution</a:t>
            </a:r>
          </a:p>
        </p:txBody>
      </p:sp>
      <p:sp>
        <p:nvSpPr>
          <p:cNvPr id="119811" name="Rectangle 3"/>
          <p:cNvSpPr>
            <a:spLocks noGrp="1" noChangeArrowheads="1"/>
          </p:cNvSpPr>
          <p:nvPr>
            <p:ph type="body" idx="1"/>
          </p:nvPr>
        </p:nvSpPr>
        <p:spPr>
          <a:xfrm>
            <a:off x="474662" y="1485900"/>
            <a:ext cx="8059738" cy="2706687"/>
          </a:xfrm>
        </p:spPr>
        <p:txBody>
          <a:bodyPr/>
          <a:lstStyle/>
          <a:p>
            <a:pPr marL="0" indent="0" eaLnBrk="1" hangingPunct="1">
              <a:buNone/>
            </a:pPr>
            <a:r>
              <a:rPr lang="en-GB" sz="2000" b="1" dirty="0" smtClean="0"/>
              <a:t>Step 1:</a:t>
            </a:r>
          </a:p>
          <a:p>
            <a:pPr marL="0" indent="0" eaLnBrk="1" hangingPunct="1">
              <a:buNone/>
            </a:pPr>
            <a:r>
              <a:rPr lang="en-GB" sz="2000" i="1" dirty="0" smtClean="0"/>
              <a:t>    H</a:t>
            </a:r>
            <a:r>
              <a:rPr lang="en-GB" sz="2000" baseline="-25000" dirty="0" smtClean="0"/>
              <a:t>0</a:t>
            </a:r>
            <a:r>
              <a:rPr lang="en-GB" sz="2000" dirty="0" smtClean="0"/>
              <a:t>: </a:t>
            </a:r>
            <a:r>
              <a:rPr lang="el-GR" sz="2000" dirty="0" smtClean="0">
                <a:latin typeface="Times New Roman" charset="0"/>
                <a:cs typeface="Times New Roman" charset="0"/>
              </a:rPr>
              <a:t>μ</a:t>
            </a:r>
            <a:r>
              <a:rPr lang="en-GB" sz="2000" i="1" baseline="-25000" dirty="0" smtClean="0">
                <a:latin typeface="Times New Roman" charset="0"/>
              </a:rPr>
              <a:t>d</a:t>
            </a:r>
            <a:r>
              <a:rPr lang="en-GB" sz="2000" dirty="0" smtClean="0"/>
              <a:t> = 0    </a:t>
            </a:r>
          </a:p>
          <a:p>
            <a:pPr marL="457200" lvl="1" indent="0" eaLnBrk="1" hangingPunct="1">
              <a:buNone/>
            </a:pPr>
            <a:r>
              <a:rPr lang="en-GB" sz="2000" dirty="0" smtClean="0">
                <a:cs typeface="Times New Roman" charset="0"/>
              </a:rPr>
              <a:t>    (The </a:t>
            </a:r>
            <a:r>
              <a:rPr lang="en-GB" sz="2000" dirty="0" smtClean="0"/>
              <a:t>mean of the paired differences is not different </a:t>
            </a:r>
          </a:p>
          <a:p>
            <a:pPr marL="457200" lvl="1" indent="0" eaLnBrk="1" hangingPunct="1">
              <a:buNone/>
            </a:pPr>
            <a:r>
              <a:rPr lang="en-GB" sz="2000" dirty="0"/>
              <a:t> </a:t>
            </a:r>
            <a:r>
              <a:rPr lang="en-GB" sz="2000" dirty="0" smtClean="0"/>
              <a:t>    from zero)</a:t>
            </a:r>
          </a:p>
          <a:p>
            <a:pPr marL="0" indent="0" eaLnBrk="1" hangingPunct="1">
              <a:buNone/>
            </a:pPr>
            <a:r>
              <a:rPr lang="en-GB" sz="2000" i="1" dirty="0" smtClean="0"/>
              <a:t>    H</a:t>
            </a:r>
            <a:r>
              <a:rPr lang="en-GB" sz="2000" baseline="-25000" dirty="0" smtClean="0"/>
              <a:t>1</a:t>
            </a:r>
            <a:r>
              <a:rPr lang="en-GB" sz="2000" dirty="0" smtClean="0"/>
              <a:t>: </a:t>
            </a:r>
            <a:r>
              <a:rPr lang="el-GR" sz="2000" dirty="0" smtClean="0">
                <a:latin typeface="Times New Roman" charset="0"/>
                <a:cs typeface="Times New Roman" charset="0"/>
              </a:rPr>
              <a:t>μ</a:t>
            </a:r>
            <a:r>
              <a:rPr lang="en-GB" sz="2000" i="1" baseline="-25000" dirty="0" smtClean="0">
                <a:latin typeface="Times New Roman" charset="0"/>
              </a:rPr>
              <a:t>d</a:t>
            </a:r>
            <a:r>
              <a:rPr lang="en-GB" sz="2000" dirty="0" smtClean="0"/>
              <a:t> ≠ 0    </a:t>
            </a:r>
          </a:p>
          <a:p>
            <a:pPr marL="457200" lvl="1" indent="0" eaLnBrk="1" hangingPunct="1">
              <a:buNone/>
            </a:pPr>
            <a:r>
              <a:rPr lang="en-GB" sz="2000" dirty="0" smtClean="0">
                <a:cs typeface="Times New Roman" charset="0"/>
              </a:rPr>
              <a:t>    (The</a:t>
            </a:r>
            <a:r>
              <a:rPr lang="en-GB" sz="2000" dirty="0" smtClean="0"/>
              <a:t> mean of the paired differences is different from </a:t>
            </a:r>
          </a:p>
          <a:p>
            <a:pPr marL="457200" lvl="1" indent="0" eaLnBrk="1" hangingPunct="1">
              <a:buNone/>
            </a:pPr>
            <a:r>
              <a:rPr lang="en-GB" sz="2000" dirty="0"/>
              <a:t> </a:t>
            </a:r>
            <a:r>
              <a:rPr lang="en-GB" sz="2000" dirty="0" smtClean="0"/>
              <a:t>     zero)</a:t>
            </a:r>
          </a:p>
          <a:p>
            <a:pPr eaLnBrk="1" hangingPunct="1">
              <a:buFont typeface="Wingdings" charset="2"/>
              <a:buNone/>
            </a:pPr>
            <a:endParaRPr lang="en-US" dirty="0" smtClean="0"/>
          </a:p>
        </p:txBody>
      </p:sp>
      <p:sp>
        <p:nvSpPr>
          <p:cNvPr id="6" name="Text Box 4"/>
          <p:cNvSpPr txBox="1">
            <a:spLocks noChangeArrowheads="1"/>
          </p:cNvSpPr>
          <p:nvPr/>
        </p:nvSpPr>
        <p:spPr bwMode="auto">
          <a:xfrm>
            <a:off x="4049486" y="6172200"/>
            <a:ext cx="47815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ChangeArrowheads="1"/>
          </p:cNvSpPr>
          <p:nvPr>
            <p:ph type="title"/>
          </p:nvPr>
        </p:nvSpPr>
        <p:spPr/>
        <p:txBody>
          <a:bodyPr/>
          <a:lstStyle/>
          <a:p>
            <a:pPr eaLnBrk="1" hangingPunct="1"/>
            <a:r>
              <a:rPr lang="en-US" sz="2800" dirty="0" smtClean="0"/>
              <a:t>Example 10-12: Solution</a:t>
            </a:r>
          </a:p>
        </p:txBody>
      </p:sp>
      <p:sp>
        <p:nvSpPr>
          <p:cNvPr id="36868" name="Rectangle 3"/>
          <p:cNvSpPr>
            <a:spLocks noGrp="1" noChangeArrowheads="1"/>
          </p:cNvSpPr>
          <p:nvPr>
            <p:ph type="body" idx="1"/>
          </p:nvPr>
        </p:nvSpPr>
        <p:spPr>
          <a:xfrm>
            <a:off x="447472" y="1447800"/>
            <a:ext cx="8193088" cy="4114800"/>
          </a:xfrm>
        </p:spPr>
        <p:txBody>
          <a:bodyPr/>
          <a:lstStyle/>
          <a:p>
            <a:pPr marL="0" indent="0" eaLnBrk="1" hangingPunct="1">
              <a:buNone/>
            </a:pPr>
            <a:r>
              <a:rPr lang="en-US" sz="2000" b="1" dirty="0" smtClean="0"/>
              <a:t>Step 2:</a:t>
            </a:r>
          </a:p>
          <a:p>
            <a:pPr marL="0" indent="0" eaLnBrk="1" hangingPunct="1">
              <a:buNone/>
            </a:pPr>
            <a:r>
              <a:rPr lang="en-US" sz="2000" dirty="0" smtClean="0"/>
              <a:t>           is unknown</a:t>
            </a:r>
          </a:p>
          <a:p>
            <a:pPr marL="0" indent="0" eaLnBrk="1" hangingPunct="1">
              <a:buNone/>
            </a:pPr>
            <a:r>
              <a:rPr lang="en-US" sz="2000" dirty="0" smtClean="0"/>
              <a:t>    The sample size is small</a:t>
            </a:r>
          </a:p>
          <a:p>
            <a:pPr marL="0" indent="0" eaLnBrk="1" hangingPunct="1">
              <a:buNone/>
            </a:pPr>
            <a:r>
              <a:rPr lang="en-US" sz="2000" dirty="0" smtClean="0"/>
              <a:t>    The population of paired differences is (approximately) </a:t>
            </a:r>
          </a:p>
          <a:p>
            <a:pPr marL="0" indent="0" eaLnBrk="1" hangingPunct="1">
              <a:buNone/>
            </a:pPr>
            <a:r>
              <a:rPr lang="en-US" sz="2000" dirty="0"/>
              <a:t> </a:t>
            </a:r>
            <a:r>
              <a:rPr lang="en-US" sz="2000" dirty="0" smtClean="0"/>
              <a:t>   normal</a:t>
            </a:r>
          </a:p>
          <a:p>
            <a:pPr marL="0" indent="0" eaLnBrk="1" hangingPunct="1">
              <a:buNone/>
            </a:pPr>
            <a:r>
              <a:rPr lang="en-US" sz="2000" dirty="0" smtClean="0"/>
              <a:t>    We use the </a:t>
            </a:r>
            <a:r>
              <a:rPr lang="en-US" sz="2000" i="1" dirty="0" smtClean="0">
                <a:latin typeface="Times New Roman" charset="0"/>
              </a:rPr>
              <a:t>t</a:t>
            </a:r>
            <a:r>
              <a:rPr lang="en-US" sz="2000" dirty="0" smtClean="0"/>
              <a:t> distribution to make the test.</a:t>
            </a:r>
          </a:p>
        </p:txBody>
      </p:sp>
      <p:graphicFrame>
        <p:nvGraphicFramePr>
          <p:cNvPr id="36866" name="Object 2"/>
          <p:cNvGraphicFramePr>
            <a:graphicFrameLocks noChangeAspect="1"/>
          </p:cNvGraphicFramePr>
          <p:nvPr>
            <p:extLst>
              <p:ext uri="{D42A27DB-BD31-4B8C-83A1-F6EECF244321}">
                <p14:modId xmlns:p14="http://schemas.microsoft.com/office/powerpoint/2010/main" val="2560220945"/>
              </p:ext>
            </p:extLst>
          </p:nvPr>
        </p:nvGraphicFramePr>
        <p:xfrm>
          <a:off x="989665" y="1676400"/>
          <a:ext cx="534335" cy="601127"/>
        </p:xfrm>
        <a:graphic>
          <a:graphicData uri="http://schemas.openxmlformats.org/presentationml/2006/ole">
            <mc:AlternateContent xmlns:mc="http://schemas.openxmlformats.org/markup-compatibility/2006">
              <mc:Choice xmlns:v="urn:schemas-microsoft-com:vml" Requires="v">
                <p:oleObj spid="_x0000_s36914" name="Equation" r:id="rId3" imgW="203040" imgH="228600" progId="Equation.3">
                  <p:embed/>
                </p:oleObj>
              </mc:Choice>
              <mc:Fallback>
                <p:oleObj name="Equation" r:id="rId3" imgW="203040" imgH="228600" progId="Equation.3">
                  <p:embed/>
                  <p:pic>
                    <p:nvPicPr>
                      <p:cNvPr id="0" name="Picture 3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89665" y="1676400"/>
                        <a:ext cx="534335" cy="6011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5921" dir="2700000" algn="ctr" rotWithShape="0">
                                <a:schemeClr val="bg2"/>
                              </a:outerShdw>
                            </a:effectLst>
                          </a14:hiddenEffects>
                        </a:ext>
                      </a:extLst>
                    </p:spPr>
                  </p:pic>
                </p:oleObj>
              </mc:Fallback>
            </mc:AlternateContent>
          </a:graphicData>
        </a:graphic>
      </p:graphicFrame>
      <p:sp>
        <p:nvSpPr>
          <p:cNvPr id="7" name="Text Box 4"/>
          <p:cNvSpPr txBox="1">
            <a:spLocks noChangeArrowheads="1"/>
          </p:cNvSpPr>
          <p:nvPr/>
        </p:nvSpPr>
        <p:spPr bwMode="auto">
          <a:xfrm>
            <a:off x="4049486" y="6172200"/>
            <a:ext cx="47815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2"/>
          <p:cNvSpPr>
            <a:spLocks noGrp="1" noChangeArrowheads="1"/>
          </p:cNvSpPr>
          <p:nvPr>
            <p:ph type="title"/>
          </p:nvPr>
        </p:nvSpPr>
        <p:spPr/>
        <p:txBody>
          <a:bodyPr/>
          <a:lstStyle/>
          <a:p>
            <a:pPr eaLnBrk="1" hangingPunct="1"/>
            <a:r>
              <a:rPr lang="en-US" sz="2800" dirty="0" smtClean="0"/>
              <a:t>Example 10-12: Solution</a:t>
            </a:r>
          </a:p>
        </p:txBody>
      </p:sp>
      <p:sp>
        <p:nvSpPr>
          <p:cNvPr id="120835" name="Rectangle 3"/>
          <p:cNvSpPr>
            <a:spLocks noGrp="1" noChangeArrowheads="1"/>
          </p:cNvSpPr>
          <p:nvPr>
            <p:ph type="body" idx="1"/>
          </p:nvPr>
        </p:nvSpPr>
        <p:spPr>
          <a:xfrm>
            <a:off x="457200" y="1466850"/>
            <a:ext cx="7391400" cy="4114800"/>
          </a:xfrm>
        </p:spPr>
        <p:txBody>
          <a:bodyPr/>
          <a:lstStyle/>
          <a:p>
            <a:pPr marL="0" indent="0" eaLnBrk="1" hangingPunct="1">
              <a:buNone/>
            </a:pPr>
            <a:r>
              <a:rPr lang="en-GB" sz="2000" b="1" dirty="0" smtClean="0">
                <a:cs typeface="Times New Roman" charset="0"/>
              </a:rPr>
              <a:t>Step 3: </a:t>
            </a:r>
            <a:endParaRPr lang="en-US" sz="2000" b="1" dirty="0" smtClean="0">
              <a:latin typeface="Times New Roman" charset="0"/>
              <a:cs typeface="Times New Roman" charset="0"/>
            </a:endParaRPr>
          </a:p>
          <a:p>
            <a:pPr marL="0" indent="0" eaLnBrk="1" hangingPunct="1">
              <a:buNone/>
            </a:pPr>
            <a:r>
              <a:rPr lang="en-US" sz="2000" dirty="0" smtClean="0">
                <a:latin typeface="Times New Roman" charset="0"/>
                <a:cs typeface="Times New Roman" charset="0"/>
              </a:rPr>
              <a:t>      </a:t>
            </a:r>
            <a:r>
              <a:rPr lang="el-GR" sz="2000" dirty="0" smtClean="0">
                <a:latin typeface="Times New Roman" charset="0"/>
                <a:cs typeface="Times New Roman" charset="0"/>
              </a:rPr>
              <a:t>α</a:t>
            </a:r>
            <a:r>
              <a:rPr lang="en-GB" sz="2000" dirty="0" smtClean="0">
                <a:latin typeface="Times New Roman" charset="0"/>
                <a:cs typeface="Times New Roman" charset="0"/>
              </a:rPr>
              <a:t> </a:t>
            </a:r>
            <a:r>
              <a:rPr lang="en-GB" sz="2000" dirty="0" smtClean="0">
                <a:cs typeface="Times New Roman" charset="0"/>
              </a:rPr>
              <a:t>= .05</a:t>
            </a:r>
          </a:p>
          <a:p>
            <a:pPr marL="0" indent="0" eaLnBrk="1" hangingPunct="1">
              <a:buNone/>
            </a:pPr>
            <a:r>
              <a:rPr lang="en-GB" sz="2000" dirty="0" smtClean="0">
                <a:cs typeface="Times New Roman" charset="0"/>
              </a:rPr>
              <a:t>    Area in each tail  = </a:t>
            </a:r>
            <a:r>
              <a:rPr lang="el-GR" sz="2000" dirty="0" smtClean="0">
                <a:latin typeface="Times New Roman" charset="0"/>
                <a:cs typeface="Times New Roman" charset="0"/>
              </a:rPr>
              <a:t>α</a:t>
            </a:r>
            <a:r>
              <a:rPr lang="en-GB" sz="2000" dirty="0" smtClean="0">
                <a:latin typeface="Times New Roman" charset="0"/>
                <a:cs typeface="Times New Roman" charset="0"/>
              </a:rPr>
              <a:t> </a:t>
            </a:r>
            <a:r>
              <a:rPr lang="en-GB" sz="2000" dirty="0" smtClean="0">
                <a:cs typeface="Times New Roman" charset="0"/>
              </a:rPr>
              <a:t>/ 2 = .05 / 2 = .025</a:t>
            </a:r>
          </a:p>
          <a:p>
            <a:pPr marL="0" indent="0" eaLnBrk="1" hangingPunct="1">
              <a:buNone/>
            </a:pPr>
            <a:r>
              <a:rPr lang="en-GB" sz="2000" dirty="0" smtClean="0">
                <a:cs typeface="Times New Roman" charset="0"/>
              </a:rPr>
              <a:t>    </a:t>
            </a:r>
            <a:r>
              <a:rPr lang="en-GB" sz="2000" dirty="0" err="1" smtClean="0">
                <a:cs typeface="Times New Roman" charset="0"/>
              </a:rPr>
              <a:t>df</a:t>
            </a:r>
            <a:r>
              <a:rPr lang="en-GB" sz="2000" dirty="0" smtClean="0">
                <a:cs typeface="Times New Roman" charset="0"/>
              </a:rPr>
              <a:t> = n – 1 = 7 – 1 = 6</a:t>
            </a:r>
          </a:p>
          <a:p>
            <a:pPr marL="0" indent="0" eaLnBrk="1" hangingPunct="1">
              <a:buNone/>
            </a:pPr>
            <a:r>
              <a:rPr lang="en-GB" sz="2000" dirty="0" smtClean="0">
                <a:cs typeface="Times New Roman" charset="0"/>
              </a:rPr>
              <a:t>    The two critical values of </a:t>
            </a:r>
            <a:r>
              <a:rPr lang="en-GB" sz="2000" i="1" dirty="0" smtClean="0">
                <a:latin typeface="Times New Roman" charset="0"/>
                <a:cs typeface="Times New Roman" charset="0"/>
              </a:rPr>
              <a:t>t</a:t>
            </a:r>
            <a:r>
              <a:rPr lang="en-GB" sz="2000" dirty="0" smtClean="0">
                <a:cs typeface="Times New Roman" charset="0"/>
              </a:rPr>
              <a:t> are -2.447 and 2.447</a:t>
            </a:r>
            <a:endParaRPr lang="en-US" sz="2000" dirty="0" smtClean="0">
              <a:cs typeface="Times New Roman" charset="0"/>
            </a:endParaRPr>
          </a:p>
        </p:txBody>
      </p:sp>
      <p:sp>
        <p:nvSpPr>
          <p:cNvPr id="6" name="Text Box 4"/>
          <p:cNvSpPr txBox="1">
            <a:spLocks noChangeArrowheads="1"/>
          </p:cNvSpPr>
          <p:nvPr/>
        </p:nvSpPr>
        <p:spPr bwMode="auto">
          <a:xfrm>
            <a:off x="4049486" y="6172200"/>
            <a:ext cx="47815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Rectangle 2"/>
          <p:cNvSpPr>
            <a:spLocks noGrp="1" noChangeArrowheads="1"/>
          </p:cNvSpPr>
          <p:nvPr>
            <p:ph type="title"/>
          </p:nvPr>
        </p:nvSpPr>
        <p:spPr/>
        <p:txBody>
          <a:bodyPr/>
          <a:lstStyle/>
          <a:p>
            <a:pPr eaLnBrk="1" hangingPunct="1"/>
            <a:r>
              <a:rPr lang="en-US" sz="2800" dirty="0" smtClean="0"/>
              <a:t>Example 10-12: Solution</a:t>
            </a:r>
          </a:p>
        </p:txBody>
      </p:sp>
      <p:graphicFrame>
        <p:nvGraphicFramePr>
          <p:cNvPr id="37890" name="Object 2"/>
          <p:cNvGraphicFramePr>
            <a:graphicFrameLocks noGrp="1" noChangeAspect="1"/>
          </p:cNvGraphicFramePr>
          <p:nvPr>
            <p:ph type="body" idx="1"/>
            <p:extLst>
              <p:ext uri="{D42A27DB-BD31-4B8C-83A1-F6EECF244321}">
                <p14:modId xmlns:p14="http://schemas.microsoft.com/office/powerpoint/2010/main" val="2690538166"/>
              </p:ext>
            </p:extLst>
          </p:nvPr>
        </p:nvGraphicFramePr>
        <p:xfrm>
          <a:off x="1295400" y="2057400"/>
          <a:ext cx="4800600" cy="1078787"/>
        </p:xfrm>
        <a:graphic>
          <a:graphicData uri="http://schemas.openxmlformats.org/presentationml/2006/ole">
            <mc:AlternateContent xmlns:mc="http://schemas.openxmlformats.org/markup-compatibility/2006">
              <mc:Choice xmlns:v="urn:schemas-microsoft-com:vml" Requires="v">
                <p:oleObj spid="_x0000_s37937" name="Equation" r:id="rId3" imgW="2234880" imgH="469800" progId="">
                  <p:embed/>
                </p:oleObj>
              </mc:Choice>
              <mc:Fallback>
                <p:oleObj name="Equation" r:id="rId3" imgW="2234880" imgH="469800" progId="">
                  <p:embed/>
                  <p:pic>
                    <p:nvPicPr>
                      <p:cNvPr id="0" name="Picture 38"/>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95400" y="2057400"/>
                        <a:ext cx="4800600" cy="10787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7893" name="Text Box 8"/>
          <p:cNvSpPr txBox="1">
            <a:spLocks noChangeArrowheads="1"/>
          </p:cNvSpPr>
          <p:nvPr/>
        </p:nvSpPr>
        <p:spPr bwMode="auto">
          <a:xfrm>
            <a:off x="457200" y="1524000"/>
            <a:ext cx="21336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charset="0"/>
                <a:ea typeface="ＭＳ Ｐゴシック" charset="-128"/>
              </a:defRPr>
            </a:lvl1pPr>
            <a:lvl2pPr marL="742950" indent="-285750">
              <a:defRPr>
                <a:solidFill>
                  <a:schemeClr val="tx1"/>
                </a:solidFill>
                <a:latin typeface="Verdana" charset="0"/>
                <a:ea typeface="ＭＳ Ｐゴシック" charset="-128"/>
              </a:defRPr>
            </a:lvl2pPr>
            <a:lvl3pPr marL="1143000" indent="-228600">
              <a:defRPr>
                <a:solidFill>
                  <a:schemeClr val="tx1"/>
                </a:solidFill>
                <a:latin typeface="Verdana" charset="0"/>
                <a:ea typeface="ＭＳ Ｐゴシック" charset="-128"/>
              </a:defRPr>
            </a:lvl3pPr>
            <a:lvl4pPr marL="1600200" indent="-228600">
              <a:defRPr>
                <a:solidFill>
                  <a:schemeClr val="tx1"/>
                </a:solidFill>
                <a:latin typeface="Verdana" charset="0"/>
                <a:ea typeface="ＭＳ Ｐゴシック" charset="-128"/>
              </a:defRPr>
            </a:lvl4pPr>
            <a:lvl5pPr marL="2057400" indent="-228600">
              <a:defRPr>
                <a:solidFill>
                  <a:schemeClr val="tx1"/>
                </a:solidFill>
                <a:latin typeface="Verdana" charset="0"/>
                <a:ea typeface="ＭＳ Ｐゴシック" charset="-128"/>
              </a:defRPr>
            </a:lvl5pPr>
            <a:lvl6pPr marL="2514600" indent="-228600" eaLnBrk="0" fontAlgn="base" hangingPunct="0">
              <a:spcBef>
                <a:spcPct val="0"/>
              </a:spcBef>
              <a:spcAft>
                <a:spcPct val="0"/>
              </a:spcAft>
              <a:defRPr>
                <a:solidFill>
                  <a:schemeClr val="tx1"/>
                </a:solidFill>
                <a:latin typeface="Verdana" charset="0"/>
                <a:ea typeface="ＭＳ Ｐゴシック" charset="-128"/>
              </a:defRPr>
            </a:lvl6pPr>
            <a:lvl7pPr marL="2971800" indent="-228600" eaLnBrk="0" fontAlgn="base" hangingPunct="0">
              <a:spcBef>
                <a:spcPct val="0"/>
              </a:spcBef>
              <a:spcAft>
                <a:spcPct val="0"/>
              </a:spcAft>
              <a:defRPr>
                <a:solidFill>
                  <a:schemeClr val="tx1"/>
                </a:solidFill>
                <a:latin typeface="Verdana" charset="0"/>
                <a:ea typeface="ＭＳ Ｐゴシック" charset="-128"/>
              </a:defRPr>
            </a:lvl7pPr>
            <a:lvl8pPr marL="3429000" indent="-228600" eaLnBrk="0" fontAlgn="base" hangingPunct="0">
              <a:spcBef>
                <a:spcPct val="0"/>
              </a:spcBef>
              <a:spcAft>
                <a:spcPct val="0"/>
              </a:spcAft>
              <a:defRPr>
                <a:solidFill>
                  <a:schemeClr val="tx1"/>
                </a:solidFill>
                <a:latin typeface="Verdana" charset="0"/>
                <a:ea typeface="ＭＳ Ｐゴシック" charset="-128"/>
              </a:defRPr>
            </a:lvl8pPr>
            <a:lvl9pPr marL="3886200" indent="-228600" eaLnBrk="0" fontAlgn="base" hangingPunct="0">
              <a:spcBef>
                <a:spcPct val="0"/>
              </a:spcBef>
              <a:spcAft>
                <a:spcPct val="0"/>
              </a:spcAft>
              <a:defRPr>
                <a:solidFill>
                  <a:schemeClr val="tx1"/>
                </a:solidFill>
                <a:latin typeface="Verdana" charset="0"/>
                <a:ea typeface="ＭＳ Ｐゴシック" charset="-128"/>
              </a:defRPr>
            </a:lvl9pPr>
          </a:lstStyle>
          <a:p>
            <a:pPr>
              <a:spcBef>
                <a:spcPct val="50000"/>
              </a:spcBef>
            </a:pPr>
            <a:r>
              <a:rPr lang="en-US" sz="2000" b="1" dirty="0"/>
              <a:t>Step 4:</a:t>
            </a:r>
          </a:p>
        </p:txBody>
      </p:sp>
      <p:sp>
        <p:nvSpPr>
          <p:cNvPr id="7" name="Text Box 4"/>
          <p:cNvSpPr txBox="1">
            <a:spLocks noChangeArrowheads="1"/>
          </p:cNvSpPr>
          <p:nvPr/>
        </p:nvSpPr>
        <p:spPr bwMode="auto">
          <a:xfrm>
            <a:off x="4049486" y="6172200"/>
            <a:ext cx="47815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3"/>
          <p:cNvSpPr>
            <a:spLocks noGrp="1" noChangeArrowheads="1"/>
          </p:cNvSpPr>
          <p:nvPr>
            <p:ph type="title"/>
          </p:nvPr>
        </p:nvSpPr>
        <p:spPr/>
        <p:txBody>
          <a:bodyPr/>
          <a:lstStyle/>
          <a:p>
            <a:pPr eaLnBrk="1" hangingPunct="1"/>
            <a:r>
              <a:rPr lang="en-US" sz="2800" dirty="0" smtClean="0"/>
              <a:t>Figure 10.7</a:t>
            </a:r>
          </a:p>
        </p:txBody>
      </p:sp>
      <p:sp>
        <p:nvSpPr>
          <p:cNvPr id="6" name="Text Box 4"/>
          <p:cNvSpPr txBox="1">
            <a:spLocks noChangeArrowheads="1"/>
          </p:cNvSpPr>
          <p:nvPr/>
        </p:nvSpPr>
        <p:spPr bwMode="auto">
          <a:xfrm>
            <a:off x="4049486" y="6172200"/>
            <a:ext cx="47815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75863" y="1890497"/>
            <a:ext cx="6792273" cy="3077005"/>
          </a:xfrm>
          <a:prstGeom prst="rect">
            <a:avLst/>
          </a:prstGeom>
        </p:spPr>
      </p:pic>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2"/>
          <p:cNvSpPr>
            <a:spLocks noGrp="1" noChangeArrowheads="1"/>
          </p:cNvSpPr>
          <p:nvPr>
            <p:ph type="title"/>
          </p:nvPr>
        </p:nvSpPr>
        <p:spPr/>
        <p:txBody>
          <a:bodyPr/>
          <a:lstStyle/>
          <a:p>
            <a:pPr eaLnBrk="1" hangingPunct="1"/>
            <a:r>
              <a:rPr lang="en-US" sz="2800" dirty="0" smtClean="0"/>
              <a:t>Example 10-12: Solution</a:t>
            </a:r>
          </a:p>
        </p:txBody>
      </p:sp>
      <p:sp>
        <p:nvSpPr>
          <p:cNvPr id="122883" name="Rectangle 3"/>
          <p:cNvSpPr>
            <a:spLocks noGrp="1" noChangeArrowheads="1"/>
          </p:cNvSpPr>
          <p:nvPr>
            <p:ph type="body" idx="1"/>
          </p:nvPr>
        </p:nvSpPr>
        <p:spPr>
          <a:xfrm>
            <a:off x="476250" y="1504950"/>
            <a:ext cx="8269288" cy="2609850"/>
          </a:xfrm>
        </p:spPr>
        <p:txBody>
          <a:bodyPr/>
          <a:lstStyle/>
          <a:p>
            <a:pPr marL="0" indent="0" eaLnBrk="1" hangingPunct="1">
              <a:buNone/>
            </a:pPr>
            <a:r>
              <a:rPr lang="en-US" sz="2000" b="1" dirty="0" smtClean="0"/>
              <a:t>Step 5: </a:t>
            </a:r>
          </a:p>
          <a:p>
            <a:pPr marL="0" indent="0" eaLnBrk="1" hangingPunct="1">
              <a:buNone/>
            </a:pPr>
            <a:r>
              <a:rPr lang="en-US" sz="2000" dirty="0" smtClean="0"/>
              <a:t>    The value of the test statistic </a:t>
            </a:r>
            <a:r>
              <a:rPr lang="en-US" sz="2000" i="1" dirty="0" smtClean="0">
                <a:latin typeface="Times New Roman" charset="0"/>
              </a:rPr>
              <a:t>t</a:t>
            </a:r>
            <a:r>
              <a:rPr lang="en-US" sz="2000" dirty="0" smtClean="0"/>
              <a:t> = 1.226 </a:t>
            </a:r>
          </a:p>
          <a:p>
            <a:pPr marL="0" indent="0" eaLnBrk="1" hangingPunct="1">
              <a:buNone/>
            </a:pPr>
            <a:r>
              <a:rPr lang="en-US" sz="2000" dirty="0" smtClean="0"/>
              <a:t>    It falls in the </a:t>
            </a:r>
            <a:r>
              <a:rPr lang="en-US" sz="2000" dirty="0" err="1" smtClean="0"/>
              <a:t>nonrejection</a:t>
            </a:r>
            <a:r>
              <a:rPr lang="en-US" sz="2000" dirty="0" smtClean="0"/>
              <a:t> region</a:t>
            </a:r>
          </a:p>
          <a:p>
            <a:pPr marL="0" indent="0" eaLnBrk="1" hangingPunct="1">
              <a:buNone/>
            </a:pPr>
            <a:r>
              <a:rPr lang="en-US" sz="2000" dirty="0" smtClean="0"/>
              <a:t>    Therefore, we fail to reject the null hypothesis</a:t>
            </a:r>
          </a:p>
          <a:p>
            <a:pPr marL="0" indent="0" eaLnBrk="1" hangingPunct="1">
              <a:buNone/>
            </a:pPr>
            <a:r>
              <a:rPr lang="en-US" sz="2000" dirty="0" smtClean="0"/>
              <a:t>    Hence, we conclude that the mean of the population paired </a:t>
            </a:r>
          </a:p>
          <a:p>
            <a:pPr marL="0" indent="0" eaLnBrk="1" hangingPunct="1">
              <a:buNone/>
            </a:pPr>
            <a:r>
              <a:rPr lang="en-US" sz="2000" dirty="0"/>
              <a:t> </a:t>
            </a:r>
            <a:r>
              <a:rPr lang="en-US" sz="2000" dirty="0" smtClean="0"/>
              <a:t>   differences is not different from zero.</a:t>
            </a:r>
          </a:p>
        </p:txBody>
      </p:sp>
      <p:sp>
        <p:nvSpPr>
          <p:cNvPr id="6" name="Text Box 4"/>
          <p:cNvSpPr txBox="1">
            <a:spLocks noChangeArrowheads="1"/>
          </p:cNvSpPr>
          <p:nvPr/>
        </p:nvSpPr>
        <p:spPr bwMode="auto">
          <a:xfrm>
            <a:off x="4049486" y="6172200"/>
            <a:ext cx="47815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7" name="Rectangle 2"/>
          <p:cNvSpPr>
            <a:spLocks noGrp="1" noChangeArrowheads="1"/>
          </p:cNvSpPr>
          <p:nvPr>
            <p:ph type="title"/>
          </p:nvPr>
        </p:nvSpPr>
        <p:spPr/>
        <p:txBody>
          <a:bodyPr/>
          <a:lstStyle/>
          <a:p>
            <a:pPr eaLnBrk="1" hangingPunct="1"/>
            <a:r>
              <a:rPr lang="en-GB" sz="2400" dirty="0" smtClean="0"/>
              <a:t>INFERENCES ABOUT THE DIFFERENCE BETWEEN TWO POPULATION PROPORTIONS FOR LARGE AND INDEPENDENT SAMPLES</a:t>
            </a:r>
            <a:endParaRPr lang="en-US" sz="2400" dirty="0" smtClean="0"/>
          </a:p>
        </p:txBody>
      </p:sp>
      <p:sp>
        <p:nvSpPr>
          <p:cNvPr id="38918" name="Rectangle 3"/>
          <p:cNvSpPr>
            <a:spLocks noGrp="1" noChangeArrowheads="1"/>
          </p:cNvSpPr>
          <p:nvPr>
            <p:ph type="body" idx="1"/>
          </p:nvPr>
        </p:nvSpPr>
        <p:spPr>
          <a:xfrm>
            <a:off x="473834" y="1563756"/>
            <a:ext cx="8116888" cy="2017644"/>
          </a:xfrm>
        </p:spPr>
        <p:txBody>
          <a:bodyPr/>
          <a:lstStyle/>
          <a:p>
            <a:pPr eaLnBrk="1" hangingPunct="1"/>
            <a:r>
              <a:rPr lang="en-US" sz="2000" dirty="0" smtClean="0"/>
              <a:t>Mean, Standard Deviation, and Sampling Distribution </a:t>
            </a:r>
          </a:p>
          <a:p>
            <a:pPr marL="0" indent="0" eaLnBrk="1" hangingPunct="1">
              <a:buNone/>
            </a:pPr>
            <a:r>
              <a:rPr lang="en-US" sz="2000" dirty="0"/>
              <a:t> </a:t>
            </a:r>
            <a:r>
              <a:rPr lang="en-US" sz="2000" dirty="0" smtClean="0"/>
              <a:t>   of</a:t>
            </a:r>
          </a:p>
          <a:p>
            <a:pPr eaLnBrk="1" hangingPunct="1"/>
            <a:r>
              <a:rPr lang="en-US" sz="2000" dirty="0" smtClean="0"/>
              <a:t>Interval Estimation of</a:t>
            </a:r>
          </a:p>
          <a:p>
            <a:pPr eaLnBrk="1" hangingPunct="1"/>
            <a:r>
              <a:rPr lang="en-US" sz="2000" dirty="0" smtClean="0"/>
              <a:t>Hypothesis Testing About  </a:t>
            </a:r>
          </a:p>
        </p:txBody>
      </p:sp>
      <p:graphicFrame>
        <p:nvGraphicFramePr>
          <p:cNvPr id="38914" name="Object 2"/>
          <p:cNvGraphicFramePr>
            <a:graphicFrameLocks noChangeAspect="1"/>
          </p:cNvGraphicFramePr>
          <p:nvPr>
            <p:extLst>
              <p:ext uri="{D42A27DB-BD31-4B8C-83A1-F6EECF244321}">
                <p14:modId xmlns:p14="http://schemas.microsoft.com/office/powerpoint/2010/main" val="2690160325"/>
              </p:ext>
            </p:extLst>
          </p:nvPr>
        </p:nvGraphicFramePr>
        <p:xfrm>
          <a:off x="1295400" y="1931473"/>
          <a:ext cx="897396" cy="390971"/>
        </p:xfrm>
        <a:graphic>
          <a:graphicData uri="http://schemas.openxmlformats.org/presentationml/2006/ole">
            <mc:AlternateContent xmlns:mc="http://schemas.openxmlformats.org/markup-compatibility/2006">
              <mc:Choice xmlns:v="urn:schemas-microsoft-com:vml" Requires="v">
                <p:oleObj spid="_x0000_s39046" name="Equation" r:id="rId3" imgW="495000" imgH="215640" progId="">
                  <p:embed/>
                </p:oleObj>
              </mc:Choice>
              <mc:Fallback>
                <p:oleObj name="Equation" r:id="rId3" imgW="495000" imgH="215640" progId="">
                  <p:embed/>
                  <p:pic>
                    <p:nvPicPr>
                      <p:cNvPr id="0" name="Picture 10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95400" y="1931473"/>
                        <a:ext cx="897396" cy="390971"/>
                      </a:xfrm>
                      <a:prstGeom prst="rect">
                        <a:avLst/>
                      </a:prstGeom>
                      <a:noFill/>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5921" dir="2700000" algn="ctr" rotWithShape="0">
                                <a:srgbClr val="808080"/>
                              </a:outerShdw>
                            </a:effectLst>
                          </a14:hiddenEffects>
                        </a:ext>
                      </a:extLst>
                    </p:spPr>
                  </p:pic>
                </p:oleObj>
              </mc:Fallback>
            </mc:AlternateContent>
          </a:graphicData>
        </a:graphic>
      </p:graphicFrame>
      <p:graphicFrame>
        <p:nvGraphicFramePr>
          <p:cNvPr id="38915" name="Object 3"/>
          <p:cNvGraphicFramePr>
            <a:graphicFrameLocks noChangeAspect="1"/>
          </p:cNvGraphicFramePr>
          <p:nvPr>
            <p:extLst>
              <p:ext uri="{D42A27DB-BD31-4B8C-83A1-F6EECF244321}">
                <p14:modId xmlns:p14="http://schemas.microsoft.com/office/powerpoint/2010/main" val="3914246167"/>
              </p:ext>
            </p:extLst>
          </p:nvPr>
        </p:nvGraphicFramePr>
        <p:xfrm>
          <a:off x="3733800" y="2276857"/>
          <a:ext cx="897397" cy="390971"/>
        </p:xfrm>
        <a:graphic>
          <a:graphicData uri="http://schemas.openxmlformats.org/presentationml/2006/ole">
            <mc:AlternateContent xmlns:mc="http://schemas.openxmlformats.org/markup-compatibility/2006">
              <mc:Choice xmlns:v="urn:schemas-microsoft-com:vml" Requires="v">
                <p:oleObj spid="_x0000_s39047" name="Equation" r:id="rId5" imgW="495000" imgH="215640" progId="Equation.3">
                  <p:embed/>
                </p:oleObj>
              </mc:Choice>
              <mc:Fallback>
                <p:oleObj name="Equation" r:id="rId5" imgW="495000" imgH="215640" progId="Equation.3">
                  <p:embed/>
                  <p:pic>
                    <p:nvPicPr>
                      <p:cNvPr id="0" name="Picture 10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733800" y="2276857"/>
                        <a:ext cx="897397" cy="390971"/>
                      </a:xfrm>
                      <a:prstGeom prst="rect">
                        <a:avLst/>
                      </a:prstGeom>
                      <a:noFill/>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5921" dir="2700000" algn="ctr" rotWithShape="0">
                                <a:srgbClr val="808080"/>
                              </a:outerShdw>
                            </a:effectLst>
                          </a14:hiddenEffects>
                        </a:ext>
                      </a:extLst>
                    </p:spPr>
                  </p:pic>
                </p:oleObj>
              </mc:Fallback>
            </mc:AlternateContent>
          </a:graphicData>
        </a:graphic>
      </p:graphicFrame>
      <p:graphicFrame>
        <p:nvGraphicFramePr>
          <p:cNvPr id="38916" name="Object 4"/>
          <p:cNvGraphicFramePr>
            <a:graphicFrameLocks noChangeAspect="1"/>
          </p:cNvGraphicFramePr>
          <p:nvPr>
            <p:extLst>
              <p:ext uri="{D42A27DB-BD31-4B8C-83A1-F6EECF244321}">
                <p14:modId xmlns:p14="http://schemas.microsoft.com/office/powerpoint/2010/main" val="461102957"/>
              </p:ext>
            </p:extLst>
          </p:nvPr>
        </p:nvGraphicFramePr>
        <p:xfrm>
          <a:off x="4267200" y="2647122"/>
          <a:ext cx="897397" cy="390971"/>
        </p:xfrm>
        <a:graphic>
          <a:graphicData uri="http://schemas.openxmlformats.org/presentationml/2006/ole">
            <mc:AlternateContent xmlns:mc="http://schemas.openxmlformats.org/markup-compatibility/2006">
              <mc:Choice xmlns:v="urn:schemas-microsoft-com:vml" Requires="v">
                <p:oleObj spid="_x0000_s39048" name="Equation" r:id="rId7" imgW="495000" imgH="215640" progId="Equation.3">
                  <p:embed/>
                </p:oleObj>
              </mc:Choice>
              <mc:Fallback>
                <p:oleObj name="Equation" r:id="rId7" imgW="495000" imgH="215640" progId="Equation.3">
                  <p:embed/>
                  <p:pic>
                    <p:nvPicPr>
                      <p:cNvPr id="0" name="Picture 10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267200" y="2647122"/>
                        <a:ext cx="897397" cy="390971"/>
                      </a:xfrm>
                      <a:prstGeom prst="rect">
                        <a:avLst/>
                      </a:prstGeom>
                      <a:noFill/>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5921" dir="2700000" algn="ctr" rotWithShape="0">
                                <a:srgbClr val="808080"/>
                              </a:outerShdw>
                            </a:effectLst>
                          </a14:hiddenEffects>
                        </a:ext>
                      </a:extLst>
                    </p:spPr>
                  </p:pic>
                </p:oleObj>
              </mc:Fallback>
            </mc:AlternateContent>
          </a:graphicData>
        </a:graphic>
      </p:graphicFrame>
      <p:sp>
        <p:nvSpPr>
          <p:cNvPr id="10" name="Text Box 4"/>
          <p:cNvSpPr txBox="1">
            <a:spLocks noChangeArrowheads="1"/>
          </p:cNvSpPr>
          <p:nvPr/>
        </p:nvSpPr>
        <p:spPr bwMode="auto">
          <a:xfrm>
            <a:off x="4049486" y="6172200"/>
            <a:ext cx="47815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pic>
        <p:nvPicPr>
          <p:cNvPr id="2" name="Picture 1"/>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0" y="0"/>
            <a:ext cx="9144000" cy="1409669"/>
          </a:xfrm>
          <a:prstGeom prst="rect">
            <a:avLst/>
          </a:prstGeom>
        </p:spPr>
      </p:pic>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41" name="Rectangle 2"/>
          <p:cNvSpPr>
            <a:spLocks noGrp="1" noChangeArrowheads="1"/>
          </p:cNvSpPr>
          <p:nvPr>
            <p:ph type="title"/>
          </p:nvPr>
        </p:nvSpPr>
        <p:spPr>
          <a:xfrm>
            <a:off x="457200" y="277813"/>
            <a:ext cx="7696200" cy="1139825"/>
          </a:xfrm>
        </p:spPr>
        <p:txBody>
          <a:bodyPr/>
          <a:lstStyle/>
          <a:p>
            <a:pPr eaLnBrk="1" hangingPunct="1"/>
            <a:r>
              <a:rPr lang="en-US" sz="2800" dirty="0" smtClean="0"/>
              <a:t>Mean, Standard Deviation, and Sampling Distribution of</a:t>
            </a:r>
          </a:p>
        </p:txBody>
      </p:sp>
      <p:sp>
        <p:nvSpPr>
          <p:cNvPr id="39942" name="Rectangle 3"/>
          <p:cNvSpPr>
            <a:spLocks noGrp="1" noChangeArrowheads="1"/>
          </p:cNvSpPr>
          <p:nvPr>
            <p:ph type="body" idx="1"/>
          </p:nvPr>
        </p:nvSpPr>
        <p:spPr>
          <a:xfrm>
            <a:off x="114300" y="1466850"/>
            <a:ext cx="8650288" cy="4459288"/>
          </a:xfrm>
        </p:spPr>
        <p:txBody>
          <a:bodyPr/>
          <a:lstStyle/>
          <a:p>
            <a:pPr eaLnBrk="1" hangingPunct="1">
              <a:lnSpc>
                <a:spcPct val="90000"/>
              </a:lnSpc>
              <a:buFont typeface="Tahoma" charset="0"/>
              <a:buChar char=" "/>
            </a:pPr>
            <a:r>
              <a:rPr lang="en-GB" sz="2000" dirty="0" smtClean="0"/>
              <a:t>For two large and independent samples, the </a:t>
            </a:r>
            <a:r>
              <a:rPr lang="en-GB" sz="2000" b="1" i="1" u="sng" dirty="0" smtClean="0">
                <a:solidFill>
                  <a:schemeClr val="hlink"/>
                </a:solidFill>
              </a:rPr>
              <a:t>sampling </a:t>
            </a:r>
          </a:p>
          <a:p>
            <a:pPr eaLnBrk="1" hangingPunct="1">
              <a:lnSpc>
                <a:spcPct val="90000"/>
              </a:lnSpc>
              <a:buFont typeface="Tahoma" charset="0"/>
              <a:buChar char=" "/>
            </a:pPr>
            <a:r>
              <a:rPr lang="en-GB" sz="2000" b="1" i="1" u="sng" dirty="0" smtClean="0">
                <a:solidFill>
                  <a:schemeClr val="hlink"/>
                </a:solidFill>
              </a:rPr>
              <a:t>distribution</a:t>
            </a:r>
            <a:r>
              <a:rPr lang="en-GB" sz="2000" dirty="0" smtClean="0"/>
              <a:t> of             is (approximately) normal with its </a:t>
            </a:r>
          </a:p>
          <a:p>
            <a:pPr eaLnBrk="1" hangingPunct="1">
              <a:lnSpc>
                <a:spcPct val="90000"/>
              </a:lnSpc>
              <a:buFont typeface="Tahoma" charset="0"/>
              <a:buChar char=" "/>
            </a:pPr>
            <a:r>
              <a:rPr lang="en-GB" sz="2000" b="1" i="1" u="sng" dirty="0" smtClean="0">
                <a:solidFill>
                  <a:schemeClr val="hlink"/>
                </a:solidFill>
              </a:rPr>
              <a:t>mean</a:t>
            </a:r>
            <a:r>
              <a:rPr lang="en-GB" sz="2000" dirty="0" smtClean="0"/>
              <a:t> and </a:t>
            </a:r>
            <a:r>
              <a:rPr lang="en-GB" sz="2000" b="1" i="1" u="sng" dirty="0" smtClean="0">
                <a:solidFill>
                  <a:schemeClr val="hlink"/>
                </a:solidFill>
              </a:rPr>
              <a:t>standard deviation</a:t>
            </a:r>
            <a:r>
              <a:rPr lang="en-GB" sz="2000" dirty="0" smtClean="0"/>
              <a:t> given as</a:t>
            </a:r>
          </a:p>
          <a:p>
            <a:pPr eaLnBrk="1" hangingPunct="1">
              <a:lnSpc>
                <a:spcPct val="90000"/>
              </a:lnSpc>
              <a:buFont typeface="Wingdings" charset="2"/>
              <a:buNone/>
            </a:pPr>
            <a:endParaRPr lang="en-GB" sz="2000" dirty="0" smtClean="0"/>
          </a:p>
          <a:p>
            <a:pPr eaLnBrk="1" hangingPunct="1">
              <a:lnSpc>
                <a:spcPct val="90000"/>
              </a:lnSpc>
              <a:buFont typeface="Wingdings" charset="2"/>
              <a:buNone/>
            </a:pPr>
            <a:endParaRPr lang="en-GB" sz="2000" dirty="0" smtClean="0"/>
          </a:p>
          <a:p>
            <a:pPr eaLnBrk="1" hangingPunct="1">
              <a:lnSpc>
                <a:spcPct val="90000"/>
              </a:lnSpc>
              <a:buFont typeface="Wingdings" charset="2"/>
              <a:buNone/>
            </a:pPr>
            <a:r>
              <a:rPr lang="en-GB" sz="2000" dirty="0" smtClean="0"/>
              <a:t>   and</a:t>
            </a:r>
          </a:p>
          <a:p>
            <a:pPr eaLnBrk="1" hangingPunct="1">
              <a:lnSpc>
                <a:spcPct val="90000"/>
              </a:lnSpc>
              <a:buFont typeface="Wingdings" charset="2"/>
              <a:buNone/>
            </a:pPr>
            <a:endParaRPr lang="en-GB" sz="2000" dirty="0" smtClean="0"/>
          </a:p>
          <a:p>
            <a:pPr eaLnBrk="1" hangingPunct="1">
              <a:lnSpc>
                <a:spcPct val="90000"/>
              </a:lnSpc>
              <a:buFont typeface="Wingdings" charset="2"/>
              <a:buNone/>
            </a:pPr>
            <a:endParaRPr lang="en-GB" sz="2000" dirty="0" smtClean="0"/>
          </a:p>
          <a:p>
            <a:pPr eaLnBrk="1" hangingPunct="1">
              <a:lnSpc>
                <a:spcPct val="90000"/>
              </a:lnSpc>
              <a:buFont typeface="Wingdings" charset="2"/>
              <a:buNone/>
            </a:pPr>
            <a:r>
              <a:rPr lang="en-GB" sz="2000" dirty="0" smtClean="0"/>
              <a:t>   respectively, where </a:t>
            </a:r>
            <a:r>
              <a:rPr lang="en-GB" sz="2000" i="1" dirty="0" smtClean="0">
                <a:latin typeface="Times New Roman" charset="0"/>
              </a:rPr>
              <a:t>q</a:t>
            </a:r>
            <a:r>
              <a:rPr lang="en-GB" sz="2000" baseline="-25000" dirty="0" smtClean="0"/>
              <a:t>1</a:t>
            </a:r>
            <a:r>
              <a:rPr lang="en-GB" sz="2000" dirty="0" smtClean="0"/>
              <a:t> = 1 – </a:t>
            </a:r>
            <a:r>
              <a:rPr lang="en-GB" sz="2000" i="1" dirty="0" smtClean="0">
                <a:latin typeface="Times New Roman" charset="0"/>
              </a:rPr>
              <a:t>p</a:t>
            </a:r>
            <a:r>
              <a:rPr lang="en-GB" sz="2000" baseline="-25000" dirty="0" smtClean="0"/>
              <a:t>1</a:t>
            </a:r>
            <a:r>
              <a:rPr lang="en-GB" sz="2000" dirty="0" smtClean="0"/>
              <a:t> and </a:t>
            </a:r>
            <a:r>
              <a:rPr lang="en-GB" sz="2000" i="1" dirty="0" smtClean="0">
                <a:latin typeface="Times New Roman" charset="0"/>
              </a:rPr>
              <a:t>q</a:t>
            </a:r>
            <a:r>
              <a:rPr lang="en-GB" sz="2000" baseline="-25000" dirty="0" smtClean="0"/>
              <a:t>2</a:t>
            </a:r>
            <a:r>
              <a:rPr lang="en-GB" sz="2000" dirty="0" smtClean="0"/>
              <a:t> = 1 – </a:t>
            </a:r>
            <a:r>
              <a:rPr lang="en-GB" sz="2000" i="1" dirty="0" smtClean="0">
                <a:latin typeface="Times New Roman" charset="0"/>
              </a:rPr>
              <a:t>p</a:t>
            </a:r>
            <a:r>
              <a:rPr lang="en-GB" sz="2000" baseline="-25000" dirty="0" smtClean="0"/>
              <a:t>2</a:t>
            </a:r>
            <a:r>
              <a:rPr lang="en-GB" sz="2000" dirty="0" smtClean="0"/>
              <a:t>.</a:t>
            </a:r>
            <a:endParaRPr lang="en-US" sz="2000" dirty="0" smtClean="0"/>
          </a:p>
        </p:txBody>
      </p:sp>
      <p:graphicFrame>
        <p:nvGraphicFramePr>
          <p:cNvPr id="39938" name="Object 2"/>
          <p:cNvGraphicFramePr>
            <a:graphicFrameLocks noChangeAspect="1"/>
          </p:cNvGraphicFramePr>
          <p:nvPr>
            <p:extLst>
              <p:ext uri="{D42A27DB-BD31-4B8C-83A1-F6EECF244321}">
                <p14:modId xmlns:p14="http://schemas.microsoft.com/office/powerpoint/2010/main" val="3232181964"/>
              </p:ext>
            </p:extLst>
          </p:nvPr>
        </p:nvGraphicFramePr>
        <p:xfrm>
          <a:off x="1040640" y="956272"/>
          <a:ext cx="1040914" cy="453428"/>
        </p:xfrm>
        <a:graphic>
          <a:graphicData uri="http://schemas.openxmlformats.org/presentationml/2006/ole">
            <mc:AlternateContent xmlns:mc="http://schemas.openxmlformats.org/markup-compatibility/2006">
              <mc:Choice xmlns:v="urn:schemas-microsoft-com:vml" Requires="v">
                <p:oleObj spid="_x0000_s40069" name="Equation" r:id="rId3" imgW="495000" imgH="215640" progId="Equation.3">
                  <p:embed/>
                </p:oleObj>
              </mc:Choice>
              <mc:Fallback>
                <p:oleObj name="Equation" r:id="rId3" imgW="495000" imgH="215640" progId="Equation.3">
                  <p:embed/>
                  <p:pic>
                    <p:nvPicPr>
                      <p:cNvPr id="0" name="Picture 10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40640" y="956272"/>
                        <a:ext cx="1040914" cy="453428"/>
                      </a:xfrm>
                      <a:prstGeom prst="rect">
                        <a:avLst/>
                      </a:prstGeom>
                      <a:noFill/>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5921" dir="2700000" algn="ctr" rotWithShape="0">
                                <a:srgbClr val="808080"/>
                              </a:outerShdw>
                            </a:effectLst>
                          </a14:hiddenEffects>
                        </a:ext>
                      </a:extLst>
                    </p:spPr>
                  </p:pic>
                </p:oleObj>
              </mc:Fallback>
            </mc:AlternateContent>
          </a:graphicData>
        </a:graphic>
      </p:graphicFrame>
      <p:graphicFrame>
        <p:nvGraphicFramePr>
          <p:cNvPr id="39939" name="Object 3"/>
          <p:cNvGraphicFramePr>
            <a:graphicFrameLocks noChangeAspect="1"/>
          </p:cNvGraphicFramePr>
          <p:nvPr>
            <p:extLst>
              <p:ext uri="{D42A27DB-BD31-4B8C-83A1-F6EECF244321}">
                <p14:modId xmlns:p14="http://schemas.microsoft.com/office/powerpoint/2010/main" val="1854823231"/>
              </p:ext>
            </p:extLst>
          </p:nvPr>
        </p:nvGraphicFramePr>
        <p:xfrm>
          <a:off x="2667000" y="1752600"/>
          <a:ext cx="973253" cy="423414"/>
        </p:xfrm>
        <a:graphic>
          <a:graphicData uri="http://schemas.openxmlformats.org/presentationml/2006/ole">
            <mc:AlternateContent xmlns:mc="http://schemas.openxmlformats.org/markup-compatibility/2006">
              <mc:Choice xmlns:v="urn:schemas-microsoft-com:vml" Requires="v">
                <p:oleObj spid="_x0000_s40070" name="Equation" r:id="rId5" imgW="495000" imgH="215640" progId="Equation.3">
                  <p:embed/>
                </p:oleObj>
              </mc:Choice>
              <mc:Fallback>
                <p:oleObj name="Equation" r:id="rId5" imgW="495000" imgH="215640" progId="Equation.3">
                  <p:embed/>
                  <p:pic>
                    <p:nvPicPr>
                      <p:cNvPr id="0" name="Picture 10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67000" y="1752600"/>
                        <a:ext cx="973253" cy="423414"/>
                      </a:xfrm>
                      <a:prstGeom prst="rect">
                        <a:avLst/>
                      </a:prstGeom>
                      <a:noFill/>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5921" dir="2700000" algn="ctr" rotWithShape="0">
                                <a:srgbClr val="808080"/>
                              </a:outerShdw>
                            </a:effectLst>
                          </a14:hiddenEffects>
                        </a:ext>
                      </a:extLst>
                    </p:spPr>
                  </p:pic>
                </p:oleObj>
              </mc:Fallback>
            </mc:AlternateContent>
          </a:graphicData>
        </a:graphic>
      </p:graphicFrame>
      <p:graphicFrame>
        <p:nvGraphicFramePr>
          <p:cNvPr id="39940" name="Object 4"/>
          <p:cNvGraphicFramePr>
            <a:graphicFrameLocks noChangeAspect="1"/>
          </p:cNvGraphicFramePr>
          <p:nvPr>
            <p:extLst>
              <p:ext uri="{D42A27DB-BD31-4B8C-83A1-F6EECF244321}">
                <p14:modId xmlns:p14="http://schemas.microsoft.com/office/powerpoint/2010/main" val="4241485249"/>
              </p:ext>
            </p:extLst>
          </p:nvPr>
        </p:nvGraphicFramePr>
        <p:xfrm>
          <a:off x="750665" y="2609850"/>
          <a:ext cx="3211735" cy="1574381"/>
        </p:xfrm>
        <a:graphic>
          <a:graphicData uri="http://schemas.openxmlformats.org/presentationml/2006/ole">
            <mc:AlternateContent xmlns:mc="http://schemas.openxmlformats.org/markup-compatibility/2006">
              <mc:Choice xmlns:v="urn:schemas-microsoft-com:vml" Requires="v">
                <p:oleObj spid="_x0000_s40071" name="Equation" r:id="rId6" imgW="1460160" imgH="812520" progId="">
                  <p:embed/>
                </p:oleObj>
              </mc:Choice>
              <mc:Fallback>
                <p:oleObj name="Equation" r:id="rId6" imgW="1460160" imgH="812520" progId="">
                  <p:embed/>
                  <p:pic>
                    <p:nvPicPr>
                      <p:cNvPr id="0" name="Picture 10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50665" y="2609850"/>
                        <a:ext cx="3211735" cy="1574381"/>
                      </a:xfrm>
                      <a:prstGeom prst="rect">
                        <a:avLst/>
                      </a:prstGeom>
                      <a:noFill/>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5921" dir="2700000" algn="ctr" rotWithShape="0">
                                <a:srgbClr val="808080"/>
                              </a:outerShdw>
                            </a:effectLst>
                          </a14:hiddenEffects>
                        </a:ext>
                      </a:extLst>
                    </p:spPr>
                  </p:pic>
                </p:oleObj>
              </mc:Fallback>
            </mc:AlternateContent>
          </a:graphicData>
        </a:graphic>
      </p:graphicFrame>
      <p:sp>
        <p:nvSpPr>
          <p:cNvPr id="9" name="Text Box 4"/>
          <p:cNvSpPr txBox="1">
            <a:spLocks noChangeArrowheads="1"/>
          </p:cNvSpPr>
          <p:nvPr/>
        </p:nvSpPr>
        <p:spPr bwMode="auto">
          <a:xfrm>
            <a:off x="4049486" y="6172200"/>
            <a:ext cx="47815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5" name="Rectangle 2"/>
          <p:cNvSpPr>
            <a:spLocks noGrp="1" noChangeArrowheads="1"/>
          </p:cNvSpPr>
          <p:nvPr>
            <p:ph type="title"/>
          </p:nvPr>
        </p:nvSpPr>
        <p:spPr/>
        <p:txBody>
          <a:bodyPr/>
          <a:lstStyle/>
          <a:p>
            <a:pPr eaLnBrk="1" hangingPunct="1"/>
            <a:r>
              <a:rPr lang="en-US" sz="2800" dirty="0" smtClean="0"/>
              <a:t>Interval Estimation of </a:t>
            </a:r>
            <a:r>
              <a:rPr lang="en-US" sz="2800" i="1" dirty="0" smtClean="0">
                <a:latin typeface="Times New Roman" charset="0"/>
              </a:rPr>
              <a:t>p</a:t>
            </a:r>
            <a:r>
              <a:rPr lang="en-US" sz="2800" baseline="-25000" dirty="0" smtClean="0"/>
              <a:t>1</a:t>
            </a:r>
            <a:r>
              <a:rPr lang="en-US" sz="2800" baseline="30000" dirty="0" smtClean="0"/>
              <a:t> </a:t>
            </a:r>
            <a:r>
              <a:rPr lang="en-US" sz="2800" dirty="0" smtClean="0"/>
              <a:t>– </a:t>
            </a:r>
            <a:r>
              <a:rPr lang="en-US" sz="2800" i="1" dirty="0" smtClean="0">
                <a:latin typeface="Times New Roman" charset="0"/>
              </a:rPr>
              <a:t>p</a:t>
            </a:r>
            <a:r>
              <a:rPr lang="en-US" sz="2800" baseline="-25000" dirty="0" smtClean="0"/>
              <a:t>2</a:t>
            </a:r>
          </a:p>
        </p:txBody>
      </p:sp>
      <p:sp>
        <p:nvSpPr>
          <p:cNvPr id="40966" name="Rectangle 3"/>
          <p:cNvSpPr>
            <a:spLocks noGrp="1" noChangeArrowheads="1"/>
          </p:cNvSpPr>
          <p:nvPr>
            <p:ph type="body" idx="1"/>
          </p:nvPr>
        </p:nvSpPr>
        <p:spPr>
          <a:xfrm>
            <a:off x="115956" y="1543878"/>
            <a:ext cx="8497888" cy="4114800"/>
          </a:xfrm>
        </p:spPr>
        <p:txBody>
          <a:bodyPr/>
          <a:lstStyle/>
          <a:p>
            <a:pPr eaLnBrk="1" hangingPunct="1">
              <a:buFont typeface="Tahoma" charset="0"/>
              <a:buChar char=" "/>
            </a:pPr>
            <a:r>
              <a:rPr lang="en-GB" sz="2000" dirty="0" smtClean="0"/>
              <a:t>The (1 – </a:t>
            </a:r>
            <a:r>
              <a:rPr lang="el-GR" sz="2000" dirty="0" smtClean="0">
                <a:latin typeface="Times New Roman" charset="0"/>
                <a:cs typeface="Times New Roman" charset="0"/>
              </a:rPr>
              <a:t>α</a:t>
            </a:r>
            <a:r>
              <a:rPr lang="en-GB" sz="2000" dirty="0" smtClean="0">
                <a:cs typeface="Arial" charset="0"/>
              </a:rPr>
              <a:t>)100% </a:t>
            </a:r>
            <a:r>
              <a:rPr lang="en-GB" sz="2000" b="1" i="1" u="sng" dirty="0" smtClean="0">
                <a:solidFill>
                  <a:schemeClr val="hlink"/>
                </a:solidFill>
                <a:cs typeface="Arial" charset="0"/>
              </a:rPr>
              <a:t>confidence interval</a:t>
            </a:r>
            <a:r>
              <a:rPr lang="en-GB" sz="2000" dirty="0" smtClean="0">
                <a:cs typeface="Arial" charset="0"/>
              </a:rPr>
              <a:t> for  </a:t>
            </a:r>
            <a:r>
              <a:rPr lang="en-GB" sz="2000" i="1" dirty="0" smtClean="0">
                <a:latin typeface="Times New Roman" charset="0"/>
                <a:cs typeface="Arial" charset="0"/>
              </a:rPr>
              <a:t>p</a:t>
            </a:r>
            <a:r>
              <a:rPr lang="en-GB" sz="2000" baseline="-25000" dirty="0" smtClean="0">
                <a:cs typeface="Arial" charset="0"/>
              </a:rPr>
              <a:t>1</a:t>
            </a:r>
            <a:r>
              <a:rPr lang="en-GB" sz="2000" dirty="0" smtClean="0">
                <a:cs typeface="Arial" charset="0"/>
              </a:rPr>
              <a:t> – </a:t>
            </a:r>
            <a:r>
              <a:rPr lang="en-GB" sz="2000" i="1" dirty="0" smtClean="0">
                <a:latin typeface="Times New Roman" charset="0"/>
                <a:cs typeface="Arial" charset="0"/>
              </a:rPr>
              <a:t>p</a:t>
            </a:r>
            <a:r>
              <a:rPr lang="en-GB" sz="2000" baseline="-25000" dirty="0" smtClean="0">
                <a:cs typeface="Arial" charset="0"/>
              </a:rPr>
              <a:t>2 </a:t>
            </a:r>
            <a:r>
              <a:rPr lang="en-GB" sz="2000" dirty="0" smtClean="0">
                <a:cs typeface="Arial" charset="0"/>
              </a:rPr>
              <a:t> is </a:t>
            </a:r>
          </a:p>
          <a:p>
            <a:pPr eaLnBrk="1" hangingPunct="1">
              <a:buFont typeface="Tahoma" charset="0"/>
              <a:buChar char=" "/>
            </a:pPr>
            <a:endParaRPr lang="en-GB" sz="2000" dirty="0" smtClean="0">
              <a:cs typeface="Arial" charset="0"/>
            </a:endParaRPr>
          </a:p>
          <a:p>
            <a:pPr eaLnBrk="1" hangingPunct="1">
              <a:buFont typeface="Tahoma" charset="0"/>
              <a:buChar char=" "/>
            </a:pPr>
            <a:endParaRPr lang="en-GB" sz="2000" dirty="0">
              <a:cs typeface="Arial" charset="0"/>
            </a:endParaRPr>
          </a:p>
          <a:p>
            <a:pPr eaLnBrk="1" hangingPunct="1">
              <a:buFont typeface="Tahoma" charset="0"/>
              <a:buChar char=" "/>
            </a:pPr>
            <a:endParaRPr lang="en-GB" sz="2000" dirty="0" smtClean="0">
              <a:cs typeface="Arial" charset="0"/>
            </a:endParaRPr>
          </a:p>
          <a:p>
            <a:pPr eaLnBrk="1" hangingPunct="1">
              <a:buFont typeface="Tahoma" charset="0"/>
              <a:buChar char=" "/>
            </a:pPr>
            <a:r>
              <a:rPr lang="en-GB" sz="2000" dirty="0" smtClean="0">
                <a:cs typeface="Arial" charset="0"/>
              </a:rPr>
              <a:t>where the value of </a:t>
            </a:r>
            <a:r>
              <a:rPr lang="en-GB" sz="2000" i="1" dirty="0" smtClean="0">
                <a:latin typeface="Times New Roman" charset="0"/>
                <a:cs typeface="Arial" charset="0"/>
              </a:rPr>
              <a:t>z</a:t>
            </a:r>
            <a:r>
              <a:rPr lang="en-GB" sz="2000" dirty="0" smtClean="0">
                <a:cs typeface="Arial" charset="0"/>
              </a:rPr>
              <a:t> is read from the normal distribution table for the given confidence level, and               is calculated as</a:t>
            </a:r>
            <a:r>
              <a:rPr lang="en-GB" sz="2000" dirty="0" smtClean="0"/>
              <a:t> </a:t>
            </a:r>
            <a:endParaRPr lang="en-US" sz="2000" dirty="0" smtClean="0"/>
          </a:p>
        </p:txBody>
      </p:sp>
      <p:graphicFrame>
        <p:nvGraphicFramePr>
          <p:cNvPr id="40962" name="Object 2"/>
          <p:cNvGraphicFramePr>
            <a:graphicFrameLocks noChangeAspect="1"/>
          </p:cNvGraphicFramePr>
          <p:nvPr>
            <p:extLst>
              <p:ext uri="{D42A27DB-BD31-4B8C-83A1-F6EECF244321}">
                <p14:modId xmlns:p14="http://schemas.microsoft.com/office/powerpoint/2010/main" val="1034818670"/>
              </p:ext>
            </p:extLst>
          </p:nvPr>
        </p:nvGraphicFramePr>
        <p:xfrm>
          <a:off x="2819400" y="4246418"/>
          <a:ext cx="3615171" cy="1108364"/>
        </p:xfrm>
        <a:graphic>
          <a:graphicData uri="http://schemas.openxmlformats.org/presentationml/2006/ole">
            <mc:AlternateContent xmlns:mc="http://schemas.openxmlformats.org/markup-compatibility/2006">
              <mc:Choice xmlns:v="urn:schemas-microsoft-com:vml" Requires="v">
                <p:oleObj spid="_x0000_s41093" name="Equation" r:id="rId3" imgW="1447560" imgH="482400" progId="">
                  <p:embed/>
                </p:oleObj>
              </mc:Choice>
              <mc:Fallback>
                <p:oleObj name="Equation" r:id="rId3" imgW="1447560" imgH="482400" progId="">
                  <p:embed/>
                  <p:pic>
                    <p:nvPicPr>
                      <p:cNvPr id="0" name="Picture 10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19400" y="4246418"/>
                        <a:ext cx="3615171" cy="11083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5921" dir="2700000" algn="ctr" rotWithShape="0">
                                <a:schemeClr val="bg2"/>
                              </a:outerShdw>
                            </a:effectLst>
                          </a14:hiddenEffects>
                        </a:ext>
                      </a:extLst>
                    </p:spPr>
                  </p:pic>
                </p:oleObj>
              </mc:Fallback>
            </mc:AlternateContent>
          </a:graphicData>
        </a:graphic>
      </p:graphicFrame>
      <p:graphicFrame>
        <p:nvGraphicFramePr>
          <p:cNvPr id="40963" name="Object 3"/>
          <p:cNvGraphicFramePr>
            <a:graphicFrameLocks noChangeAspect="1"/>
          </p:cNvGraphicFramePr>
          <p:nvPr>
            <p:extLst>
              <p:ext uri="{D42A27DB-BD31-4B8C-83A1-F6EECF244321}">
                <p14:modId xmlns:p14="http://schemas.microsoft.com/office/powerpoint/2010/main" val="4165910065"/>
              </p:ext>
            </p:extLst>
          </p:nvPr>
        </p:nvGraphicFramePr>
        <p:xfrm>
          <a:off x="5152987" y="3165262"/>
          <a:ext cx="1039091" cy="681182"/>
        </p:xfrm>
        <a:graphic>
          <a:graphicData uri="http://schemas.openxmlformats.org/presentationml/2006/ole">
            <mc:AlternateContent xmlns:mc="http://schemas.openxmlformats.org/markup-compatibility/2006">
              <mc:Choice xmlns:v="urn:schemas-microsoft-com:vml" Requires="v">
                <p:oleObj spid="_x0000_s41094" name="Equation" r:id="rId5" imgW="368280" imgH="241200" progId="Equation.3">
                  <p:embed/>
                </p:oleObj>
              </mc:Choice>
              <mc:Fallback>
                <p:oleObj name="Equation" r:id="rId5" imgW="368280" imgH="241200" progId="Equation.3">
                  <p:embed/>
                  <p:pic>
                    <p:nvPicPr>
                      <p:cNvPr id="0" name="Picture 10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152987" y="3165262"/>
                        <a:ext cx="1039091" cy="6811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5921" dir="2700000" algn="ctr" rotWithShape="0">
                                <a:schemeClr val="bg2"/>
                              </a:outerShdw>
                            </a:effectLst>
                          </a14:hiddenEffects>
                        </a:ext>
                      </a:extLst>
                    </p:spPr>
                  </p:pic>
                </p:oleObj>
              </mc:Fallback>
            </mc:AlternateContent>
          </a:graphicData>
        </a:graphic>
      </p:graphicFrame>
      <p:graphicFrame>
        <p:nvGraphicFramePr>
          <p:cNvPr id="40964" name="Object 4"/>
          <p:cNvGraphicFramePr>
            <a:graphicFrameLocks noChangeAspect="1"/>
          </p:cNvGraphicFramePr>
          <p:nvPr>
            <p:extLst>
              <p:ext uri="{D42A27DB-BD31-4B8C-83A1-F6EECF244321}">
                <p14:modId xmlns:p14="http://schemas.microsoft.com/office/powerpoint/2010/main" val="1558967734"/>
              </p:ext>
            </p:extLst>
          </p:nvPr>
        </p:nvGraphicFramePr>
        <p:xfrm>
          <a:off x="2272723" y="2133600"/>
          <a:ext cx="3518477" cy="637886"/>
        </p:xfrm>
        <a:graphic>
          <a:graphicData uri="http://schemas.openxmlformats.org/presentationml/2006/ole">
            <mc:AlternateContent xmlns:mc="http://schemas.openxmlformats.org/markup-compatibility/2006">
              <mc:Choice xmlns:v="urn:schemas-microsoft-com:vml" Requires="v">
                <p:oleObj spid="_x0000_s41095" name="Equation" r:id="rId7" imgW="1155600" imgH="253800" progId="">
                  <p:embed/>
                </p:oleObj>
              </mc:Choice>
              <mc:Fallback>
                <p:oleObj name="Equation" r:id="rId7" imgW="1155600" imgH="253800" progId="">
                  <p:embed/>
                  <p:pic>
                    <p:nvPicPr>
                      <p:cNvPr id="0" name="Picture 10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272723" y="2133600"/>
                        <a:ext cx="3518477" cy="637886"/>
                      </a:xfrm>
                      <a:prstGeom prst="rect">
                        <a:avLst/>
                      </a:prstGeom>
                      <a:noFill/>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5921" dir="2700000" algn="ctr" rotWithShape="0">
                                <a:srgbClr val="808080"/>
                              </a:outerShdw>
                            </a:effectLst>
                          </a14:hiddenEffects>
                        </a:ext>
                      </a:extLst>
                    </p:spPr>
                  </p:pic>
                </p:oleObj>
              </mc:Fallback>
            </mc:AlternateContent>
          </a:graphicData>
        </a:graphic>
      </p:graphicFrame>
      <p:sp>
        <p:nvSpPr>
          <p:cNvPr id="9" name="Text Box 4"/>
          <p:cNvSpPr txBox="1">
            <a:spLocks noChangeArrowheads="1"/>
          </p:cNvSpPr>
          <p:nvPr/>
        </p:nvSpPr>
        <p:spPr bwMode="auto">
          <a:xfrm>
            <a:off x="4049486" y="6172200"/>
            <a:ext cx="47815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2"/>
          <p:cNvSpPr>
            <a:spLocks noGrp="1" noChangeArrowheads="1"/>
          </p:cNvSpPr>
          <p:nvPr>
            <p:ph type="title"/>
          </p:nvPr>
        </p:nvSpPr>
        <p:spPr/>
        <p:txBody>
          <a:bodyPr/>
          <a:lstStyle/>
          <a:p>
            <a:pPr eaLnBrk="1" hangingPunct="1"/>
            <a:r>
              <a:rPr lang="en-US" sz="2800" dirty="0" smtClean="0"/>
              <a:t>Example 10-13</a:t>
            </a:r>
          </a:p>
        </p:txBody>
      </p:sp>
      <p:sp>
        <p:nvSpPr>
          <p:cNvPr id="123907" name="Rectangle 3"/>
          <p:cNvSpPr>
            <a:spLocks noGrp="1" noChangeArrowheads="1"/>
          </p:cNvSpPr>
          <p:nvPr>
            <p:ph type="body" idx="1"/>
          </p:nvPr>
        </p:nvSpPr>
        <p:spPr>
          <a:xfrm>
            <a:off x="112712" y="1485900"/>
            <a:ext cx="8345488" cy="2247900"/>
          </a:xfrm>
        </p:spPr>
        <p:txBody>
          <a:bodyPr/>
          <a:lstStyle/>
          <a:p>
            <a:pPr eaLnBrk="1" hangingPunct="1">
              <a:buFont typeface="Tahoma" charset="0"/>
              <a:buChar char=" "/>
            </a:pPr>
            <a:r>
              <a:rPr lang="en-GB" sz="2000" dirty="0" smtClean="0"/>
              <a:t>A researcher wanted to estimate the difference between the percentages of users of two toothpastes who will never switch to another toothpaste. In a sample of 500 users of Toothpaste A taken by this researcher, 100 said that they will never switch to another toothpaste. In another sample of 400 users of Toothpaste B taken by the same researcher, 68 said that they will never switch to another toothpaste.</a:t>
            </a:r>
            <a:endParaRPr lang="en-US" sz="2000" dirty="0" smtClean="0"/>
          </a:p>
        </p:txBody>
      </p:sp>
      <p:sp>
        <p:nvSpPr>
          <p:cNvPr id="6" name="Text Box 4"/>
          <p:cNvSpPr txBox="1">
            <a:spLocks noChangeArrowheads="1"/>
          </p:cNvSpPr>
          <p:nvPr/>
        </p:nvSpPr>
        <p:spPr bwMode="auto">
          <a:xfrm>
            <a:off x="4049486" y="6172200"/>
            <a:ext cx="47815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2"/>
          <p:cNvSpPr>
            <a:spLocks noGrp="1" noChangeArrowheads="1"/>
          </p:cNvSpPr>
          <p:nvPr>
            <p:ph type="title"/>
          </p:nvPr>
        </p:nvSpPr>
        <p:spPr/>
        <p:txBody>
          <a:bodyPr/>
          <a:lstStyle/>
          <a:p>
            <a:pPr eaLnBrk="1" hangingPunct="1"/>
            <a:r>
              <a:rPr lang="en-US" sz="2800" dirty="0" smtClean="0"/>
              <a:t>Example 10-13</a:t>
            </a:r>
          </a:p>
        </p:txBody>
      </p:sp>
      <p:sp>
        <p:nvSpPr>
          <p:cNvPr id="124931" name="Rectangle 3"/>
          <p:cNvSpPr>
            <a:spLocks noGrp="1" noChangeArrowheads="1"/>
          </p:cNvSpPr>
          <p:nvPr>
            <p:ph type="body" idx="1"/>
          </p:nvPr>
        </p:nvSpPr>
        <p:spPr>
          <a:xfrm>
            <a:off x="400050" y="1485900"/>
            <a:ext cx="8421688" cy="2554287"/>
          </a:xfrm>
        </p:spPr>
        <p:txBody>
          <a:bodyPr/>
          <a:lstStyle/>
          <a:p>
            <a:pPr marL="0" indent="0" eaLnBrk="1" hangingPunct="1">
              <a:buSzPct val="90000"/>
              <a:buNone/>
            </a:pPr>
            <a:r>
              <a:rPr lang="en-GB" sz="2000" dirty="0" smtClean="0"/>
              <a:t>(a) Let p</a:t>
            </a:r>
            <a:r>
              <a:rPr lang="en-GB" sz="2000" baseline="-25000" dirty="0" smtClean="0"/>
              <a:t>1</a:t>
            </a:r>
            <a:r>
              <a:rPr lang="en-GB" sz="2000" dirty="0" smtClean="0"/>
              <a:t> and p</a:t>
            </a:r>
            <a:r>
              <a:rPr lang="en-GB" sz="2000" baseline="-25000" dirty="0" smtClean="0"/>
              <a:t>2</a:t>
            </a:r>
            <a:r>
              <a:rPr lang="en-GB" sz="2000" dirty="0" smtClean="0"/>
              <a:t> be the proportions of all users of Toothpastes A and B, respectively, who will never switch to another toothpaste. What is the point estimate of p</a:t>
            </a:r>
            <a:r>
              <a:rPr lang="en-GB" sz="2000" baseline="-25000" dirty="0" smtClean="0"/>
              <a:t>1</a:t>
            </a:r>
            <a:r>
              <a:rPr lang="en-GB" sz="2000" dirty="0" smtClean="0"/>
              <a:t> – p</a:t>
            </a:r>
            <a:r>
              <a:rPr lang="en-GB" sz="2000" baseline="-25000" dirty="0" smtClean="0"/>
              <a:t>2</a:t>
            </a:r>
            <a:r>
              <a:rPr lang="en-GB" sz="2000" dirty="0" smtClean="0"/>
              <a:t>?</a:t>
            </a:r>
          </a:p>
          <a:p>
            <a:pPr marL="0" indent="0" eaLnBrk="1" hangingPunct="1">
              <a:buSzPct val="90000"/>
              <a:buNone/>
            </a:pPr>
            <a:r>
              <a:rPr lang="en-GB" sz="2000" dirty="0" smtClean="0"/>
              <a:t>(b) Construct a 97% confidence interval for the difference between the proportions of all users of the two toothpastes who will never switch. </a:t>
            </a:r>
            <a:endParaRPr lang="en-US" sz="2000" dirty="0" smtClean="0"/>
          </a:p>
        </p:txBody>
      </p:sp>
      <p:sp>
        <p:nvSpPr>
          <p:cNvPr id="6" name="Text Box 4"/>
          <p:cNvSpPr txBox="1">
            <a:spLocks noChangeArrowheads="1"/>
          </p:cNvSpPr>
          <p:nvPr/>
        </p:nvSpPr>
        <p:spPr bwMode="auto">
          <a:xfrm>
            <a:off x="4049486" y="6172200"/>
            <a:ext cx="47815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7" name="Rectangle 2"/>
          <p:cNvSpPr>
            <a:spLocks noGrp="1" noChangeArrowheads="1"/>
          </p:cNvSpPr>
          <p:nvPr>
            <p:ph type="title"/>
          </p:nvPr>
        </p:nvSpPr>
        <p:spPr/>
        <p:txBody>
          <a:bodyPr/>
          <a:lstStyle/>
          <a:p>
            <a:pPr eaLnBrk="1" hangingPunct="1"/>
            <a:r>
              <a:rPr lang="en-US" sz="2800" dirty="0" smtClean="0"/>
              <a:t>Example 10-13: Solution</a:t>
            </a:r>
          </a:p>
        </p:txBody>
      </p:sp>
      <p:graphicFrame>
        <p:nvGraphicFramePr>
          <p:cNvPr id="41986" name="Object 2"/>
          <p:cNvGraphicFramePr>
            <a:graphicFrameLocks noChangeAspect="1"/>
          </p:cNvGraphicFramePr>
          <p:nvPr>
            <p:extLst>
              <p:ext uri="{D42A27DB-BD31-4B8C-83A1-F6EECF244321}">
                <p14:modId xmlns:p14="http://schemas.microsoft.com/office/powerpoint/2010/main" val="35352941"/>
              </p:ext>
            </p:extLst>
          </p:nvPr>
        </p:nvGraphicFramePr>
        <p:xfrm>
          <a:off x="799307" y="2133600"/>
          <a:ext cx="5716587" cy="1948331"/>
        </p:xfrm>
        <a:graphic>
          <a:graphicData uri="http://schemas.openxmlformats.org/presentationml/2006/ole">
            <mc:AlternateContent xmlns:mc="http://schemas.openxmlformats.org/markup-compatibility/2006">
              <mc:Choice xmlns:v="urn:schemas-microsoft-com:vml" Requires="v">
                <p:oleObj spid="_x0000_s42034" name="Equation" r:id="rId3" imgW="2755800" imgH="939600" progId="">
                  <p:embed/>
                </p:oleObj>
              </mc:Choice>
              <mc:Fallback>
                <p:oleObj name="Equation" r:id="rId3" imgW="2755800" imgH="939600" progId="">
                  <p:embed/>
                  <p:pic>
                    <p:nvPicPr>
                      <p:cNvPr id="0" name="Picture 3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9307" y="2133600"/>
                        <a:ext cx="5716587" cy="194833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1988" name="Text Box 4"/>
          <p:cNvSpPr txBox="1">
            <a:spLocks noChangeArrowheads="1"/>
          </p:cNvSpPr>
          <p:nvPr/>
        </p:nvSpPr>
        <p:spPr bwMode="auto">
          <a:xfrm>
            <a:off x="457200" y="3200400"/>
            <a:ext cx="20574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charset="0"/>
                <a:ea typeface="ＭＳ Ｐゴシック" charset="-128"/>
              </a:defRPr>
            </a:lvl1pPr>
            <a:lvl2pPr marL="742950" indent="-285750">
              <a:defRPr>
                <a:solidFill>
                  <a:schemeClr val="tx1"/>
                </a:solidFill>
                <a:latin typeface="Verdana" charset="0"/>
                <a:ea typeface="ＭＳ Ｐゴシック" charset="-128"/>
              </a:defRPr>
            </a:lvl2pPr>
            <a:lvl3pPr marL="1143000" indent="-228600">
              <a:defRPr>
                <a:solidFill>
                  <a:schemeClr val="tx1"/>
                </a:solidFill>
                <a:latin typeface="Verdana" charset="0"/>
                <a:ea typeface="ＭＳ Ｐゴシック" charset="-128"/>
              </a:defRPr>
            </a:lvl3pPr>
            <a:lvl4pPr marL="1600200" indent="-228600">
              <a:defRPr>
                <a:solidFill>
                  <a:schemeClr val="tx1"/>
                </a:solidFill>
                <a:latin typeface="Verdana" charset="0"/>
                <a:ea typeface="ＭＳ Ｐゴシック" charset="-128"/>
              </a:defRPr>
            </a:lvl4pPr>
            <a:lvl5pPr marL="2057400" indent="-228600">
              <a:defRPr>
                <a:solidFill>
                  <a:schemeClr val="tx1"/>
                </a:solidFill>
                <a:latin typeface="Verdana" charset="0"/>
                <a:ea typeface="ＭＳ Ｐゴシック" charset="-128"/>
              </a:defRPr>
            </a:lvl5pPr>
            <a:lvl6pPr marL="2514600" indent="-228600" eaLnBrk="0" fontAlgn="base" hangingPunct="0">
              <a:spcBef>
                <a:spcPct val="0"/>
              </a:spcBef>
              <a:spcAft>
                <a:spcPct val="0"/>
              </a:spcAft>
              <a:defRPr>
                <a:solidFill>
                  <a:schemeClr val="tx1"/>
                </a:solidFill>
                <a:latin typeface="Verdana" charset="0"/>
                <a:ea typeface="ＭＳ Ｐゴシック" charset="-128"/>
              </a:defRPr>
            </a:lvl6pPr>
            <a:lvl7pPr marL="2971800" indent="-228600" eaLnBrk="0" fontAlgn="base" hangingPunct="0">
              <a:spcBef>
                <a:spcPct val="0"/>
              </a:spcBef>
              <a:spcAft>
                <a:spcPct val="0"/>
              </a:spcAft>
              <a:defRPr>
                <a:solidFill>
                  <a:schemeClr val="tx1"/>
                </a:solidFill>
                <a:latin typeface="Verdana" charset="0"/>
                <a:ea typeface="ＭＳ Ｐゴシック" charset="-128"/>
              </a:defRPr>
            </a:lvl7pPr>
            <a:lvl8pPr marL="3429000" indent="-228600" eaLnBrk="0" fontAlgn="base" hangingPunct="0">
              <a:spcBef>
                <a:spcPct val="0"/>
              </a:spcBef>
              <a:spcAft>
                <a:spcPct val="0"/>
              </a:spcAft>
              <a:defRPr>
                <a:solidFill>
                  <a:schemeClr val="tx1"/>
                </a:solidFill>
                <a:latin typeface="Verdana" charset="0"/>
                <a:ea typeface="ＭＳ Ｐゴシック" charset="-128"/>
              </a:defRPr>
            </a:lvl8pPr>
            <a:lvl9pPr marL="3886200" indent="-228600" eaLnBrk="0" fontAlgn="base" hangingPunct="0">
              <a:spcBef>
                <a:spcPct val="0"/>
              </a:spcBef>
              <a:spcAft>
                <a:spcPct val="0"/>
              </a:spcAft>
              <a:defRPr>
                <a:solidFill>
                  <a:schemeClr val="tx1"/>
                </a:solidFill>
                <a:latin typeface="Verdana" charset="0"/>
                <a:ea typeface="ＭＳ Ｐゴシック" charset="-128"/>
              </a:defRPr>
            </a:lvl9pPr>
          </a:lstStyle>
          <a:p>
            <a:pPr>
              <a:spcBef>
                <a:spcPct val="50000"/>
              </a:spcBef>
            </a:pPr>
            <a:r>
              <a:rPr lang="en-US" sz="2000" dirty="0">
                <a:latin typeface="Tahoma" charset="0"/>
              </a:rPr>
              <a:t>Then,</a:t>
            </a:r>
          </a:p>
        </p:txBody>
      </p:sp>
      <p:sp>
        <p:nvSpPr>
          <p:cNvPr id="41990" name="Text Box 6"/>
          <p:cNvSpPr txBox="1">
            <a:spLocks noChangeArrowheads="1"/>
          </p:cNvSpPr>
          <p:nvPr/>
        </p:nvSpPr>
        <p:spPr bwMode="auto">
          <a:xfrm>
            <a:off x="476250" y="1524000"/>
            <a:ext cx="76200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charset="0"/>
                <a:ea typeface="ＭＳ Ｐゴシック" charset="-128"/>
              </a:defRPr>
            </a:lvl1pPr>
            <a:lvl2pPr marL="742950" indent="-285750">
              <a:defRPr>
                <a:solidFill>
                  <a:schemeClr val="tx1"/>
                </a:solidFill>
                <a:latin typeface="Verdana" charset="0"/>
                <a:ea typeface="ＭＳ Ｐゴシック" charset="-128"/>
              </a:defRPr>
            </a:lvl2pPr>
            <a:lvl3pPr marL="1143000" indent="-228600">
              <a:defRPr>
                <a:solidFill>
                  <a:schemeClr val="tx1"/>
                </a:solidFill>
                <a:latin typeface="Verdana" charset="0"/>
                <a:ea typeface="ＭＳ Ｐゴシック" charset="-128"/>
              </a:defRPr>
            </a:lvl3pPr>
            <a:lvl4pPr marL="1600200" indent="-228600">
              <a:defRPr>
                <a:solidFill>
                  <a:schemeClr val="tx1"/>
                </a:solidFill>
                <a:latin typeface="Verdana" charset="0"/>
                <a:ea typeface="ＭＳ Ｐゴシック" charset="-128"/>
              </a:defRPr>
            </a:lvl4pPr>
            <a:lvl5pPr marL="2057400" indent="-228600">
              <a:defRPr>
                <a:solidFill>
                  <a:schemeClr val="tx1"/>
                </a:solidFill>
                <a:latin typeface="Verdana" charset="0"/>
                <a:ea typeface="ＭＳ Ｐゴシック" charset="-128"/>
              </a:defRPr>
            </a:lvl5pPr>
            <a:lvl6pPr marL="2514600" indent="-228600" eaLnBrk="0" fontAlgn="base" hangingPunct="0">
              <a:spcBef>
                <a:spcPct val="0"/>
              </a:spcBef>
              <a:spcAft>
                <a:spcPct val="0"/>
              </a:spcAft>
              <a:defRPr>
                <a:solidFill>
                  <a:schemeClr val="tx1"/>
                </a:solidFill>
                <a:latin typeface="Verdana" charset="0"/>
                <a:ea typeface="ＭＳ Ｐゴシック" charset="-128"/>
              </a:defRPr>
            </a:lvl6pPr>
            <a:lvl7pPr marL="2971800" indent="-228600" eaLnBrk="0" fontAlgn="base" hangingPunct="0">
              <a:spcBef>
                <a:spcPct val="0"/>
              </a:spcBef>
              <a:spcAft>
                <a:spcPct val="0"/>
              </a:spcAft>
              <a:defRPr>
                <a:solidFill>
                  <a:schemeClr val="tx1"/>
                </a:solidFill>
                <a:latin typeface="Verdana" charset="0"/>
                <a:ea typeface="ＭＳ Ｐゴシック" charset="-128"/>
              </a:defRPr>
            </a:lvl7pPr>
            <a:lvl8pPr marL="3429000" indent="-228600" eaLnBrk="0" fontAlgn="base" hangingPunct="0">
              <a:spcBef>
                <a:spcPct val="0"/>
              </a:spcBef>
              <a:spcAft>
                <a:spcPct val="0"/>
              </a:spcAft>
              <a:defRPr>
                <a:solidFill>
                  <a:schemeClr val="tx1"/>
                </a:solidFill>
                <a:latin typeface="Verdana" charset="0"/>
                <a:ea typeface="ＭＳ Ｐゴシック" charset="-128"/>
              </a:defRPr>
            </a:lvl8pPr>
            <a:lvl9pPr marL="3886200" indent="-228600" eaLnBrk="0" fontAlgn="base" hangingPunct="0">
              <a:spcBef>
                <a:spcPct val="0"/>
              </a:spcBef>
              <a:spcAft>
                <a:spcPct val="0"/>
              </a:spcAft>
              <a:defRPr>
                <a:solidFill>
                  <a:schemeClr val="tx1"/>
                </a:solidFill>
                <a:latin typeface="Verdana" charset="0"/>
                <a:ea typeface="ＭＳ Ｐゴシック" charset="-128"/>
              </a:defRPr>
            </a:lvl9pPr>
          </a:lstStyle>
          <a:p>
            <a:pPr>
              <a:spcBef>
                <a:spcPct val="50000"/>
              </a:spcBef>
            </a:pPr>
            <a:r>
              <a:rPr lang="en-US" sz="2000" dirty="0">
                <a:latin typeface="Tahoma" charset="0"/>
              </a:rPr>
              <a:t>The two sample proportions are calculated as follows: </a:t>
            </a:r>
          </a:p>
        </p:txBody>
      </p:sp>
      <p:sp>
        <p:nvSpPr>
          <p:cNvPr id="8" name="Text Box 4"/>
          <p:cNvSpPr txBox="1">
            <a:spLocks noChangeArrowheads="1"/>
          </p:cNvSpPr>
          <p:nvPr/>
        </p:nvSpPr>
        <p:spPr bwMode="auto">
          <a:xfrm>
            <a:off x="4049486" y="6172200"/>
            <a:ext cx="47815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1" name="Rectangle 2"/>
          <p:cNvSpPr>
            <a:spLocks noGrp="1" noChangeArrowheads="1"/>
          </p:cNvSpPr>
          <p:nvPr>
            <p:ph type="title"/>
          </p:nvPr>
        </p:nvSpPr>
        <p:spPr/>
        <p:txBody>
          <a:bodyPr/>
          <a:lstStyle/>
          <a:p>
            <a:pPr eaLnBrk="1" hangingPunct="1"/>
            <a:r>
              <a:rPr lang="en-US" sz="2800" dirty="0" smtClean="0"/>
              <a:t>Example 10-13: Solution</a:t>
            </a:r>
          </a:p>
        </p:txBody>
      </p:sp>
      <p:sp>
        <p:nvSpPr>
          <p:cNvPr id="43012" name="Rectangle 3"/>
          <p:cNvSpPr>
            <a:spLocks noGrp="1" noChangeArrowheads="1"/>
          </p:cNvSpPr>
          <p:nvPr>
            <p:ph type="body" idx="1"/>
          </p:nvPr>
        </p:nvSpPr>
        <p:spPr>
          <a:xfrm>
            <a:off x="457200" y="1562100"/>
            <a:ext cx="8269288" cy="4114800"/>
          </a:xfrm>
        </p:spPr>
        <p:txBody>
          <a:bodyPr/>
          <a:lstStyle/>
          <a:p>
            <a:pPr marL="0" indent="0" eaLnBrk="1" hangingPunct="1">
              <a:buSzPct val="80000"/>
              <a:buNone/>
            </a:pPr>
            <a:r>
              <a:rPr lang="en-US" sz="2000" dirty="0" smtClean="0"/>
              <a:t>(a) Point estimate of </a:t>
            </a:r>
            <a:r>
              <a:rPr lang="en-GB" sz="2000" i="1" dirty="0" smtClean="0">
                <a:latin typeface="Times New Roman" charset="0"/>
                <a:cs typeface="Arial" charset="0"/>
              </a:rPr>
              <a:t>p</a:t>
            </a:r>
            <a:r>
              <a:rPr lang="en-US" sz="2000" baseline="-25000" dirty="0" smtClean="0"/>
              <a:t>1</a:t>
            </a:r>
            <a:r>
              <a:rPr lang="en-US" sz="2000" dirty="0" smtClean="0"/>
              <a:t> – </a:t>
            </a:r>
            <a:r>
              <a:rPr lang="en-GB" sz="2000" i="1" dirty="0" smtClean="0">
                <a:latin typeface="Times New Roman" charset="0"/>
                <a:cs typeface="Arial" charset="0"/>
              </a:rPr>
              <a:t>p</a:t>
            </a:r>
            <a:r>
              <a:rPr lang="en-US" sz="2000" baseline="-25000" dirty="0" smtClean="0"/>
              <a:t>2    </a:t>
            </a:r>
          </a:p>
          <a:p>
            <a:pPr marL="0" indent="0" eaLnBrk="1" hangingPunct="1">
              <a:buSzPct val="80000"/>
              <a:buNone/>
            </a:pPr>
            <a:r>
              <a:rPr lang="en-US" sz="2000" dirty="0" smtClean="0"/>
              <a:t>      =						           </a:t>
            </a:r>
          </a:p>
          <a:p>
            <a:pPr marL="0" indent="0" eaLnBrk="1" hangingPunct="1">
              <a:buSzPct val="80000"/>
              <a:buNone/>
            </a:pPr>
            <a:r>
              <a:rPr lang="en-US" sz="2000" dirty="0"/>
              <a:t> </a:t>
            </a:r>
            <a:r>
              <a:rPr lang="en-US" sz="2000" dirty="0" smtClean="0"/>
              <a:t>     = .20 – .17 = .03</a:t>
            </a:r>
          </a:p>
        </p:txBody>
      </p:sp>
      <p:graphicFrame>
        <p:nvGraphicFramePr>
          <p:cNvPr id="43010" name="Object 2"/>
          <p:cNvGraphicFramePr>
            <a:graphicFrameLocks noChangeAspect="1"/>
          </p:cNvGraphicFramePr>
          <p:nvPr>
            <p:extLst>
              <p:ext uri="{D42A27DB-BD31-4B8C-83A1-F6EECF244321}">
                <p14:modId xmlns:p14="http://schemas.microsoft.com/office/powerpoint/2010/main" val="380494819"/>
              </p:ext>
            </p:extLst>
          </p:nvPr>
        </p:nvGraphicFramePr>
        <p:xfrm>
          <a:off x="1447800" y="1905000"/>
          <a:ext cx="973253" cy="423414"/>
        </p:xfrm>
        <a:graphic>
          <a:graphicData uri="http://schemas.openxmlformats.org/presentationml/2006/ole">
            <mc:AlternateContent xmlns:mc="http://schemas.openxmlformats.org/markup-compatibility/2006">
              <mc:Choice xmlns:v="urn:schemas-microsoft-com:vml" Requires="v">
                <p:oleObj spid="_x0000_s43056" name="Equation" r:id="rId3" imgW="495000" imgH="215640" progId="Equation.3">
                  <p:embed/>
                </p:oleObj>
              </mc:Choice>
              <mc:Fallback>
                <p:oleObj name="Equation" r:id="rId3" imgW="495000" imgH="215640" progId="Equation.3">
                  <p:embed/>
                  <p:pic>
                    <p:nvPicPr>
                      <p:cNvPr id="0" name="Picture 3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47800" y="1905000"/>
                        <a:ext cx="973253" cy="423414"/>
                      </a:xfrm>
                      <a:prstGeom prst="rect">
                        <a:avLst/>
                      </a:prstGeom>
                      <a:noFill/>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5921" dir="2700000" algn="ctr" rotWithShape="0">
                                <a:srgbClr val="808080"/>
                              </a:outerShdw>
                            </a:effectLst>
                          </a14:hiddenEffects>
                        </a:ext>
                      </a:extLst>
                    </p:spPr>
                  </p:pic>
                </p:oleObj>
              </mc:Fallback>
            </mc:AlternateContent>
          </a:graphicData>
        </a:graphic>
      </p:graphicFrame>
      <p:sp>
        <p:nvSpPr>
          <p:cNvPr id="7" name="Text Box 4"/>
          <p:cNvSpPr txBox="1">
            <a:spLocks noChangeArrowheads="1"/>
          </p:cNvSpPr>
          <p:nvPr/>
        </p:nvSpPr>
        <p:spPr bwMode="auto">
          <a:xfrm>
            <a:off x="4049486" y="6172200"/>
            <a:ext cx="47815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5" name="Rectangle 2"/>
          <p:cNvSpPr>
            <a:spLocks noGrp="1" noChangeArrowheads="1"/>
          </p:cNvSpPr>
          <p:nvPr>
            <p:ph type="title"/>
          </p:nvPr>
        </p:nvSpPr>
        <p:spPr/>
        <p:txBody>
          <a:bodyPr/>
          <a:lstStyle/>
          <a:p>
            <a:pPr eaLnBrk="1" hangingPunct="1"/>
            <a:r>
              <a:rPr lang="en-US" sz="2800" dirty="0" smtClean="0"/>
              <a:t>Example 10-13: Solution</a:t>
            </a:r>
          </a:p>
        </p:txBody>
      </p:sp>
      <p:sp>
        <p:nvSpPr>
          <p:cNvPr id="44036" name="Rectangle 3"/>
          <p:cNvSpPr>
            <a:spLocks noGrp="1" noChangeArrowheads="1"/>
          </p:cNvSpPr>
          <p:nvPr>
            <p:ph type="body" idx="1"/>
          </p:nvPr>
        </p:nvSpPr>
        <p:spPr>
          <a:xfrm>
            <a:off x="457200" y="1524000"/>
            <a:ext cx="6248400" cy="457200"/>
          </a:xfrm>
        </p:spPr>
        <p:txBody>
          <a:bodyPr/>
          <a:lstStyle/>
          <a:p>
            <a:pPr marL="0" indent="0" eaLnBrk="1" hangingPunct="1">
              <a:buNone/>
            </a:pPr>
            <a:r>
              <a:rPr lang="en-US" sz="2000" dirty="0" smtClean="0"/>
              <a:t>(b)</a:t>
            </a:r>
          </a:p>
        </p:txBody>
      </p:sp>
      <p:graphicFrame>
        <p:nvGraphicFramePr>
          <p:cNvPr id="44034" name="Object 2"/>
          <p:cNvGraphicFramePr>
            <a:graphicFrameLocks noChangeAspect="1"/>
          </p:cNvGraphicFramePr>
          <p:nvPr>
            <p:extLst>
              <p:ext uri="{D42A27DB-BD31-4B8C-83A1-F6EECF244321}">
                <p14:modId xmlns:p14="http://schemas.microsoft.com/office/powerpoint/2010/main" val="1269002887"/>
              </p:ext>
            </p:extLst>
          </p:nvPr>
        </p:nvGraphicFramePr>
        <p:xfrm>
          <a:off x="1371600" y="1905000"/>
          <a:ext cx="3581400" cy="1912793"/>
        </p:xfrm>
        <a:graphic>
          <a:graphicData uri="http://schemas.openxmlformats.org/presentationml/2006/ole">
            <mc:AlternateContent xmlns:mc="http://schemas.openxmlformats.org/markup-compatibility/2006">
              <mc:Choice xmlns:v="urn:schemas-microsoft-com:vml" Requires="v">
                <p:oleObj spid="_x0000_s44081" name="Equation" r:id="rId3" imgW="1688760" imgH="965160" progId="">
                  <p:embed/>
                </p:oleObj>
              </mc:Choice>
              <mc:Fallback>
                <p:oleObj name="Equation" r:id="rId3" imgW="1688760" imgH="965160" progId="">
                  <p:embed/>
                  <p:pic>
                    <p:nvPicPr>
                      <p:cNvPr id="0" name="Picture 3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71600" y="1905000"/>
                        <a:ext cx="3581400" cy="191279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Text Box 4"/>
          <p:cNvSpPr txBox="1">
            <a:spLocks noChangeArrowheads="1"/>
          </p:cNvSpPr>
          <p:nvPr/>
        </p:nvSpPr>
        <p:spPr bwMode="auto">
          <a:xfrm>
            <a:off x="4049486" y="6172200"/>
            <a:ext cx="47815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2"/>
          <p:cNvSpPr>
            <a:spLocks noGrp="1" noChangeArrowheads="1"/>
          </p:cNvSpPr>
          <p:nvPr>
            <p:ph type="title"/>
          </p:nvPr>
        </p:nvSpPr>
        <p:spPr/>
        <p:txBody>
          <a:bodyPr/>
          <a:lstStyle/>
          <a:p>
            <a:pPr eaLnBrk="1" hangingPunct="1"/>
            <a:r>
              <a:rPr lang="en-US" sz="2800" dirty="0" smtClean="0"/>
              <a:t>Example 10-13: Solution</a:t>
            </a:r>
          </a:p>
        </p:txBody>
      </p:sp>
      <p:sp>
        <p:nvSpPr>
          <p:cNvPr id="125955" name="Rectangle 3"/>
          <p:cNvSpPr>
            <a:spLocks noGrp="1" noChangeArrowheads="1"/>
          </p:cNvSpPr>
          <p:nvPr>
            <p:ph type="body" idx="1"/>
          </p:nvPr>
        </p:nvSpPr>
        <p:spPr>
          <a:xfrm>
            <a:off x="438150" y="1504950"/>
            <a:ext cx="8421688" cy="2173287"/>
          </a:xfrm>
        </p:spPr>
        <p:txBody>
          <a:bodyPr/>
          <a:lstStyle/>
          <a:p>
            <a:pPr marL="0" indent="0" eaLnBrk="1" hangingPunct="1">
              <a:buSzPct val="95000"/>
              <a:buNone/>
            </a:pPr>
            <a:r>
              <a:rPr lang="en-US" sz="2000" dirty="0" smtClean="0"/>
              <a:t>(b) </a:t>
            </a:r>
          </a:p>
          <a:p>
            <a:pPr marL="0" indent="0" eaLnBrk="1" hangingPunct="1">
              <a:buSzPct val="95000"/>
              <a:buNone/>
            </a:pPr>
            <a:r>
              <a:rPr lang="en-US" sz="2000" dirty="0" smtClean="0"/>
              <a:t>Each of these values is greater than 5.</a:t>
            </a:r>
          </a:p>
          <a:p>
            <a:pPr marL="0" indent="0" eaLnBrk="1" hangingPunct="1">
              <a:buNone/>
            </a:pPr>
            <a:r>
              <a:rPr lang="en-US" sz="2000" dirty="0" smtClean="0"/>
              <a:t>Both sample sizes are large.</a:t>
            </a:r>
          </a:p>
          <a:p>
            <a:pPr marL="0" indent="0" eaLnBrk="1" hangingPunct="1">
              <a:buNone/>
            </a:pPr>
            <a:r>
              <a:rPr lang="en-US" sz="2000" dirty="0" smtClean="0"/>
              <a:t>Consequently, we use the normal distribution to make a confidence interval for </a:t>
            </a:r>
            <a:r>
              <a:rPr lang="en-GB" sz="2000" i="1" dirty="0" smtClean="0">
                <a:latin typeface="Times New Roman" charset="0"/>
                <a:cs typeface="Arial" charset="0"/>
              </a:rPr>
              <a:t>p</a:t>
            </a:r>
            <a:r>
              <a:rPr lang="en-US" sz="2000" baseline="-25000" dirty="0" smtClean="0"/>
              <a:t>1</a:t>
            </a:r>
            <a:r>
              <a:rPr lang="en-US" sz="2000" dirty="0" smtClean="0"/>
              <a:t> – </a:t>
            </a:r>
            <a:r>
              <a:rPr lang="en-GB" sz="2000" i="1" dirty="0" smtClean="0">
                <a:latin typeface="Times New Roman" charset="0"/>
                <a:cs typeface="Arial" charset="0"/>
              </a:rPr>
              <a:t>p</a:t>
            </a:r>
            <a:r>
              <a:rPr lang="en-US" sz="2000" baseline="-25000" dirty="0" smtClean="0"/>
              <a:t>2</a:t>
            </a:r>
            <a:r>
              <a:rPr lang="en-US" sz="2000" dirty="0" smtClean="0"/>
              <a:t>.</a:t>
            </a:r>
          </a:p>
          <a:p>
            <a:pPr marL="609600" indent="-609600" eaLnBrk="1" hangingPunct="1">
              <a:buFont typeface="Wingdings" charset="2"/>
              <a:buNone/>
            </a:pPr>
            <a:endParaRPr lang="en-US" dirty="0" smtClean="0"/>
          </a:p>
        </p:txBody>
      </p:sp>
      <p:sp>
        <p:nvSpPr>
          <p:cNvPr id="6" name="Text Box 4"/>
          <p:cNvSpPr txBox="1">
            <a:spLocks noChangeArrowheads="1"/>
          </p:cNvSpPr>
          <p:nvPr/>
        </p:nvSpPr>
        <p:spPr bwMode="auto">
          <a:xfrm>
            <a:off x="4049486" y="6172200"/>
            <a:ext cx="47815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61" name="Rectangle 2"/>
          <p:cNvSpPr>
            <a:spLocks noGrp="1" noChangeArrowheads="1"/>
          </p:cNvSpPr>
          <p:nvPr>
            <p:ph type="title"/>
          </p:nvPr>
        </p:nvSpPr>
        <p:spPr/>
        <p:txBody>
          <a:bodyPr/>
          <a:lstStyle/>
          <a:p>
            <a:pPr eaLnBrk="1" hangingPunct="1"/>
            <a:r>
              <a:rPr lang="en-US" sz="2800" dirty="0" smtClean="0"/>
              <a:t>Example 10-13: Solution</a:t>
            </a:r>
          </a:p>
        </p:txBody>
      </p:sp>
      <p:graphicFrame>
        <p:nvGraphicFramePr>
          <p:cNvPr id="45058" name="Object 2"/>
          <p:cNvGraphicFramePr>
            <a:graphicFrameLocks noChangeAspect="1"/>
          </p:cNvGraphicFramePr>
          <p:nvPr>
            <p:extLst>
              <p:ext uri="{D42A27DB-BD31-4B8C-83A1-F6EECF244321}">
                <p14:modId xmlns:p14="http://schemas.microsoft.com/office/powerpoint/2010/main" val="2051570473"/>
              </p:ext>
            </p:extLst>
          </p:nvPr>
        </p:nvGraphicFramePr>
        <p:xfrm>
          <a:off x="990601" y="4296201"/>
          <a:ext cx="6324599" cy="877063"/>
        </p:xfrm>
        <a:graphic>
          <a:graphicData uri="http://schemas.openxmlformats.org/presentationml/2006/ole">
            <mc:AlternateContent xmlns:mc="http://schemas.openxmlformats.org/markup-compatibility/2006">
              <mc:Choice xmlns:v="urn:schemas-microsoft-com:vml" Requires="v">
                <p:oleObj spid="_x0000_s45193" name="Equation" r:id="rId3" imgW="3327120" imgH="457200" progId="">
                  <p:embed/>
                </p:oleObj>
              </mc:Choice>
              <mc:Fallback>
                <p:oleObj name="Equation" r:id="rId3" imgW="3327120" imgH="457200" progId="">
                  <p:embed/>
                  <p:pic>
                    <p:nvPicPr>
                      <p:cNvPr id="0" name="Picture 10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90601" y="4296201"/>
                        <a:ext cx="6324599" cy="8770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5059" name="Object 3"/>
          <p:cNvGraphicFramePr>
            <a:graphicFrameLocks noChangeAspect="1"/>
          </p:cNvGraphicFramePr>
          <p:nvPr>
            <p:extLst>
              <p:ext uri="{D42A27DB-BD31-4B8C-83A1-F6EECF244321}">
                <p14:modId xmlns:p14="http://schemas.microsoft.com/office/powerpoint/2010/main" val="2062521542"/>
              </p:ext>
            </p:extLst>
          </p:nvPr>
        </p:nvGraphicFramePr>
        <p:xfrm>
          <a:off x="1657743" y="2133601"/>
          <a:ext cx="4743058" cy="1003890"/>
        </p:xfrm>
        <a:graphic>
          <a:graphicData uri="http://schemas.openxmlformats.org/presentationml/2006/ole">
            <mc:AlternateContent xmlns:mc="http://schemas.openxmlformats.org/markup-compatibility/2006">
              <mc:Choice xmlns:v="urn:schemas-microsoft-com:vml" Requires="v">
                <p:oleObj spid="_x0000_s45194" name="Equation" r:id="rId5" imgW="2336760" imgH="495000" progId="">
                  <p:embed/>
                </p:oleObj>
              </mc:Choice>
              <mc:Fallback>
                <p:oleObj name="Equation" r:id="rId5" imgW="2336760" imgH="495000" progId="">
                  <p:embed/>
                  <p:pic>
                    <p:nvPicPr>
                      <p:cNvPr id="0" name="Picture 10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57743" y="2133601"/>
                        <a:ext cx="4743058" cy="100389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5063" name="Rectangle 6"/>
          <p:cNvSpPr>
            <a:spLocks noGrp="1" noChangeArrowheads="1"/>
          </p:cNvSpPr>
          <p:nvPr>
            <p:ph type="body" idx="1"/>
          </p:nvPr>
        </p:nvSpPr>
        <p:spPr>
          <a:xfrm>
            <a:off x="381000" y="1485900"/>
            <a:ext cx="8269288" cy="952500"/>
          </a:xfrm>
        </p:spPr>
        <p:txBody>
          <a:bodyPr/>
          <a:lstStyle/>
          <a:p>
            <a:pPr marL="0" indent="0" eaLnBrk="1" hangingPunct="1">
              <a:buSzPct val="80000"/>
              <a:buNone/>
            </a:pPr>
            <a:r>
              <a:rPr lang="en-US" sz="2000" dirty="0" smtClean="0"/>
              <a:t>(b) The standard deviation of               is</a:t>
            </a:r>
          </a:p>
          <a:p>
            <a:pPr marL="0" indent="0" eaLnBrk="1" hangingPunct="1">
              <a:buNone/>
            </a:pPr>
            <a:endParaRPr lang="en-US" sz="2000" dirty="0" smtClean="0"/>
          </a:p>
        </p:txBody>
      </p:sp>
      <p:graphicFrame>
        <p:nvGraphicFramePr>
          <p:cNvPr id="45060" name="Object 4"/>
          <p:cNvGraphicFramePr>
            <a:graphicFrameLocks noChangeAspect="1"/>
          </p:cNvGraphicFramePr>
          <p:nvPr>
            <p:extLst>
              <p:ext uri="{D42A27DB-BD31-4B8C-83A1-F6EECF244321}">
                <p14:modId xmlns:p14="http://schemas.microsoft.com/office/powerpoint/2010/main" val="751255975"/>
              </p:ext>
            </p:extLst>
          </p:nvPr>
        </p:nvGraphicFramePr>
        <p:xfrm>
          <a:off x="4494097" y="1447800"/>
          <a:ext cx="973253" cy="423414"/>
        </p:xfrm>
        <a:graphic>
          <a:graphicData uri="http://schemas.openxmlformats.org/presentationml/2006/ole">
            <mc:AlternateContent xmlns:mc="http://schemas.openxmlformats.org/markup-compatibility/2006">
              <mc:Choice xmlns:v="urn:schemas-microsoft-com:vml" Requires="v">
                <p:oleObj spid="_x0000_s45195" name="Equation" r:id="rId7" imgW="495000" imgH="215640" progId="Equation.3">
                  <p:embed/>
                </p:oleObj>
              </mc:Choice>
              <mc:Fallback>
                <p:oleObj name="Equation" r:id="rId7" imgW="495000" imgH="215640" progId="Equation.3">
                  <p:embed/>
                  <p:pic>
                    <p:nvPicPr>
                      <p:cNvPr id="0" name="Picture 1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494097" y="1447800"/>
                        <a:ext cx="973253" cy="423414"/>
                      </a:xfrm>
                      <a:prstGeom prst="rect">
                        <a:avLst/>
                      </a:prstGeom>
                      <a:noFill/>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5921" dir="2700000" algn="ctr" rotWithShape="0">
                                <a:srgbClr val="808080"/>
                              </a:outerShdw>
                            </a:effectLst>
                          </a14:hiddenEffects>
                        </a:ext>
                      </a:extLst>
                    </p:spPr>
                  </p:pic>
                </p:oleObj>
              </mc:Fallback>
            </mc:AlternateContent>
          </a:graphicData>
        </a:graphic>
      </p:graphicFrame>
      <p:sp>
        <p:nvSpPr>
          <p:cNvPr id="10" name="Rectangle 6"/>
          <p:cNvSpPr txBox="1">
            <a:spLocks noChangeArrowheads="1"/>
          </p:cNvSpPr>
          <p:nvPr/>
        </p:nvSpPr>
        <p:spPr bwMode="auto">
          <a:xfrm>
            <a:off x="304800" y="3638550"/>
            <a:ext cx="2895600" cy="781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bg2"/>
              </a:buClr>
              <a:buSzPct val="75000"/>
              <a:buFont typeface="Wingdings" charset="2"/>
              <a:buChar char="p"/>
              <a:defRPr sz="2800">
                <a:solidFill>
                  <a:schemeClr val="tx1"/>
                </a:solidFill>
                <a:latin typeface="+mn-lt"/>
                <a:ea typeface="ＭＳ Ｐゴシック" charset="-128"/>
                <a:cs typeface="+mn-cs"/>
              </a:defRPr>
            </a:lvl1pPr>
            <a:lvl2pPr marL="742950" indent="-285750" algn="l" rtl="0" eaLnBrk="0" fontAlgn="base" hangingPunct="0">
              <a:spcBef>
                <a:spcPct val="20000"/>
              </a:spcBef>
              <a:spcAft>
                <a:spcPct val="0"/>
              </a:spcAft>
              <a:buClr>
                <a:schemeClr val="tx2"/>
              </a:buClr>
              <a:buSzPct val="75000"/>
              <a:buFont typeface="Wingdings" charset="2"/>
              <a:buChar char="n"/>
              <a:defRPr sz="2400">
                <a:solidFill>
                  <a:schemeClr val="tx1"/>
                </a:solidFill>
                <a:latin typeface="+mn-lt"/>
                <a:ea typeface="ＭＳ Ｐゴシック" charset="-128"/>
              </a:defRPr>
            </a:lvl2pPr>
            <a:lvl3pPr marL="1143000" indent="-228600" algn="l" rtl="0" eaLnBrk="0" fontAlgn="base" hangingPunct="0">
              <a:spcBef>
                <a:spcPct val="20000"/>
              </a:spcBef>
              <a:spcAft>
                <a:spcPct val="0"/>
              </a:spcAft>
              <a:buClr>
                <a:schemeClr val="accent1"/>
              </a:buClr>
              <a:buSzPct val="65000"/>
              <a:buFont typeface="Wingdings" charset="2"/>
              <a:buChar char="p"/>
              <a:defRPr sz="2000">
                <a:solidFill>
                  <a:schemeClr val="tx1"/>
                </a:solidFill>
                <a:latin typeface="+mn-lt"/>
                <a:ea typeface="ＭＳ Ｐゴシック" charset="-128"/>
              </a:defRPr>
            </a:lvl3pPr>
            <a:lvl4pPr marL="1600200" indent="-228600" algn="l" rtl="0" eaLnBrk="0" fontAlgn="base" hangingPunct="0">
              <a:spcBef>
                <a:spcPct val="20000"/>
              </a:spcBef>
              <a:spcAft>
                <a:spcPct val="0"/>
              </a:spcAft>
              <a:buClr>
                <a:schemeClr val="bg2"/>
              </a:buClr>
              <a:buFont typeface="Wingdings" charset="2"/>
              <a:buChar char="§"/>
              <a:defRPr>
                <a:solidFill>
                  <a:schemeClr val="tx1"/>
                </a:solidFill>
                <a:latin typeface="+mn-lt"/>
                <a:ea typeface="ＭＳ Ｐゴシック" charset="-128"/>
              </a:defRPr>
            </a:lvl4pPr>
            <a:lvl5pPr marL="2057400" indent="-228600" algn="l" rtl="0" eaLnBrk="0" fontAlgn="base" hangingPunct="0">
              <a:spcBef>
                <a:spcPct val="20000"/>
              </a:spcBef>
              <a:spcAft>
                <a:spcPct val="0"/>
              </a:spcAft>
              <a:buClr>
                <a:schemeClr val="tx2"/>
              </a:buClr>
              <a:buSzPct val="80000"/>
              <a:buFont typeface="Wingdings" charset="2"/>
              <a:buChar char="§"/>
              <a:defRPr>
                <a:solidFill>
                  <a:schemeClr val="tx1"/>
                </a:solidFill>
                <a:latin typeface="+mn-lt"/>
                <a:ea typeface="ＭＳ Ｐゴシック" charset="-128"/>
              </a:defRPr>
            </a:lvl5pPr>
            <a:lvl6pPr marL="2514600" indent="-228600" algn="l" rtl="0" fontAlgn="base">
              <a:spcBef>
                <a:spcPct val="20000"/>
              </a:spcBef>
              <a:spcAft>
                <a:spcPct val="0"/>
              </a:spcAft>
              <a:buClr>
                <a:schemeClr val="tx2"/>
              </a:buClr>
              <a:buSzPct val="80000"/>
              <a:buFont typeface="Wingdings" charset="2"/>
              <a:buChar char="§"/>
              <a:defRPr>
                <a:solidFill>
                  <a:schemeClr val="tx1"/>
                </a:solidFill>
                <a:latin typeface="+mn-lt"/>
                <a:ea typeface="ＭＳ Ｐゴシック" charset="-128"/>
              </a:defRPr>
            </a:lvl6pPr>
            <a:lvl7pPr marL="2971800" indent="-228600" algn="l" rtl="0" fontAlgn="base">
              <a:spcBef>
                <a:spcPct val="20000"/>
              </a:spcBef>
              <a:spcAft>
                <a:spcPct val="0"/>
              </a:spcAft>
              <a:buClr>
                <a:schemeClr val="tx2"/>
              </a:buClr>
              <a:buSzPct val="80000"/>
              <a:buFont typeface="Wingdings" charset="2"/>
              <a:buChar char="§"/>
              <a:defRPr>
                <a:solidFill>
                  <a:schemeClr val="tx1"/>
                </a:solidFill>
                <a:latin typeface="+mn-lt"/>
                <a:ea typeface="ＭＳ Ｐゴシック" charset="-128"/>
              </a:defRPr>
            </a:lvl7pPr>
            <a:lvl8pPr marL="3429000" indent="-228600" algn="l" rtl="0" fontAlgn="base">
              <a:spcBef>
                <a:spcPct val="20000"/>
              </a:spcBef>
              <a:spcAft>
                <a:spcPct val="0"/>
              </a:spcAft>
              <a:buClr>
                <a:schemeClr val="tx2"/>
              </a:buClr>
              <a:buSzPct val="80000"/>
              <a:buFont typeface="Wingdings" charset="2"/>
              <a:buChar char="§"/>
              <a:defRPr>
                <a:solidFill>
                  <a:schemeClr val="tx1"/>
                </a:solidFill>
                <a:latin typeface="+mn-lt"/>
                <a:ea typeface="ＭＳ Ｐゴシック" charset="-128"/>
              </a:defRPr>
            </a:lvl8pPr>
            <a:lvl9pPr marL="3886200" indent="-228600" algn="l" rtl="0" fontAlgn="base">
              <a:spcBef>
                <a:spcPct val="20000"/>
              </a:spcBef>
              <a:spcAft>
                <a:spcPct val="0"/>
              </a:spcAft>
              <a:buClr>
                <a:schemeClr val="tx2"/>
              </a:buClr>
              <a:buSzPct val="80000"/>
              <a:buFont typeface="Wingdings" charset="2"/>
              <a:buChar char="§"/>
              <a:defRPr>
                <a:solidFill>
                  <a:schemeClr val="tx1"/>
                </a:solidFill>
                <a:latin typeface="+mn-lt"/>
                <a:ea typeface="ＭＳ Ｐゴシック" charset="-128"/>
              </a:defRPr>
            </a:lvl9pPr>
          </a:lstStyle>
          <a:p>
            <a:pPr marL="609600" indent="-609600" eaLnBrk="1" hangingPunct="1">
              <a:buFont typeface="Wingdings" charset="2"/>
              <a:buNone/>
            </a:pPr>
            <a:r>
              <a:rPr lang="en-US" sz="2000" dirty="0" smtClean="0"/>
              <a:t>      With </a:t>
            </a:r>
            <a:r>
              <a:rPr lang="en-US" sz="2000" i="1" dirty="0" smtClean="0"/>
              <a:t>z</a:t>
            </a:r>
            <a:r>
              <a:rPr lang="en-US" sz="2000" dirty="0" smtClean="0"/>
              <a:t> = 2.17,</a:t>
            </a:r>
          </a:p>
        </p:txBody>
      </p:sp>
      <p:sp>
        <p:nvSpPr>
          <p:cNvPr id="11" name="Text Box 4"/>
          <p:cNvSpPr txBox="1">
            <a:spLocks noChangeArrowheads="1"/>
          </p:cNvSpPr>
          <p:nvPr/>
        </p:nvSpPr>
        <p:spPr bwMode="auto">
          <a:xfrm>
            <a:off x="4049486" y="6172200"/>
            <a:ext cx="47815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5" name="Rectangle 2"/>
          <p:cNvSpPr>
            <a:spLocks noGrp="1" noChangeArrowheads="1"/>
          </p:cNvSpPr>
          <p:nvPr>
            <p:ph type="title"/>
          </p:nvPr>
        </p:nvSpPr>
        <p:spPr/>
        <p:txBody>
          <a:bodyPr/>
          <a:lstStyle/>
          <a:p>
            <a:pPr eaLnBrk="1" hangingPunct="1"/>
            <a:r>
              <a:rPr lang="en-US" sz="2800" dirty="0" smtClean="0"/>
              <a:t>Hypothesis Testing About  </a:t>
            </a:r>
            <a:r>
              <a:rPr lang="en-US" sz="2800" i="1" dirty="0" smtClean="0">
                <a:latin typeface="Times New Roman" charset="0"/>
              </a:rPr>
              <a:t>p</a:t>
            </a:r>
            <a:r>
              <a:rPr lang="en-US" sz="2800" baseline="-25000" dirty="0" smtClean="0"/>
              <a:t>1</a:t>
            </a:r>
            <a:r>
              <a:rPr lang="en-US" sz="2800" dirty="0" smtClean="0"/>
              <a:t> – </a:t>
            </a:r>
            <a:r>
              <a:rPr lang="en-US" sz="2800" i="1" dirty="0" smtClean="0">
                <a:latin typeface="Times New Roman" charset="0"/>
              </a:rPr>
              <a:t>p</a:t>
            </a:r>
            <a:r>
              <a:rPr lang="en-US" sz="2800" baseline="-25000" dirty="0" smtClean="0"/>
              <a:t>2</a:t>
            </a:r>
          </a:p>
        </p:txBody>
      </p:sp>
      <p:sp>
        <p:nvSpPr>
          <p:cNvPr id="46086" name="Rectangle 3"/>
          <p:cNvSpPr>
            <a:spLocks noGrp="1" noChangeArrowheads="1"/>
          </p:cNvSpPr>
          <p:nvPr>
            <p:ph type="body" idx="1"/>
          </p:nvPr>
        </p:nvSpPr>
        <p:spPr>
          <a:xfrm>
            <a:off x="114300" y="1562100"/>
            <a:ext cx="8345488" cy="4648200"/>
          </a:xfrm>
        </p:spPr>
        <p:txBody>
          <a:bodyPr/>
          <a:lstStyle/>
          <a:p>
            <a:pPr eaLnBrk="1" hangingPunct="1">
              <a:buFont typeface="Tahoma" charset="0"/>
              <a:buChar char=" "/>
            </a:pPr>
            <a:r>
              <a:rPr lang="en-US" sz="2000" dirty="0" smtClean="0">
                <a:solidFill>
                  <a:schemeClr val="folHlink"/>
                </a:solidFill>
              </a:rPr>
              <a:t>Test Statistic </a:t>
            </a:r>
            <a:r>
              <a:rPr lang="en-US" sz="2000" i="1" dirty="0" smtClean="0">
                <a:solidFill>
                  <a:schemeClr val="folHlink"/>
                </a:solidFill>
                <a:latin typeface="Times New Roman" charset="0"/>
              </a:rPr>
              <a:t>z</a:t>
            </a:r>
            <a:r>
              <a:rPr lang="en-US" sz="2000" dirty="0" smtClean="0">
                <a:solidFill>
                  <a:schemeClr val="folHlink"/>
                </a:solidFill>
              </a:rPr>
              <a:t> for</a:t>
            </a:r>
            <a:r>
              <a:rPr lang="en-US" sz="2000" dirty="0" smtClean="0"/>
              <a:t> </a:t>
            </a:r>
          </a:p>
          <a:p>
            <a:pPr eaLnBrk="1" hangingPunct="1">
              <a:buFont typeface="Tahoma" charset="0"/>
              <a:buChar char=" "/>
            </a:pPr>
            <a:r>
              <a:rPr lang="en-US" sz="2000" dirty="0" smtClean="0"/>
              <a:t>The value of the </a:t>
            </a:r>
            <a:r>
              <a:rPr lang="en-US" sz="2000" b="1" i="1" u="sng" dirty="0" smtClean="0">
                <a:solidFill>
                  <a:schemeClr val="hlink"/>
                </a:solidFill>
              </a:rPr>
              <a:t>test statistic </a:t>
            </a:r>
            <a:r>
              <a:rPr lang="en-US" sz="2000" b="1" i="1" u="sng" dirty="0" smtClean="0">
                <a:solidFill>
                  <a:schemeClr val="hlink"/>
                </a:solidFill>
                <a:latin typeface="Times New Roman" charset="0"/>
              </a:rPr>
              <a:t>z</a:t>
            </a:r>
            <a:r>
              <a:rPr lang="en-US" sz="2000" b="1" i="1" u="sng" dirty="0" smtClean="0">
                <a:solidFill>
                  <a:schemeClr val="hlink"/>
                </a:solidFill>
              </a:rPr>
              <a:t> for</a:t>
            </a:r>
            <a:r>
              <a:rPr lang="en-US" sz="2000" dirty="0" smtClean="0"/>
              <a:t>             is calculated as</a:t>
            </a:r>
          </a:p>
          <a:p>
            <a:pPr eaLnBrk="1" hangingPunct="1">
              <a:buFont typeface="Tahoma" charset="0"/>
              <a:buChar char=" "/>
            </a:pPr>
            <a:endParaRPr lang="en-US" sz="2000" dirty="0" smtClean="0"/>
          </a:p>
          <a:p>
            <a:pPr eaLnBrk="1" hangingPunct="1">
              <a:buFont typeface="Tahoma" charset="0"/>
              <a:buChar char=" "/>
            </a:pPr>
            <a:endParaRPr lang="en-US" sz="2000" dirty="0" smtClean="0"/>
          </a:p>
          <a:p>
            <a:pPr eaLnBrk="1" hangingPunct="1">
              <a:buFont typeface="Tahoma" charset="0"/>
              <a:buChar char=" "/>
            </a:pPr>
            <a:endParaRPr lang="en-US" sz="2000" dirty="0" smtClean="0"/>
          </a:p>
          <a:p>
            <a:pPr eaLnBrk="1" hangingPunct="1">
              <a:buFont typeface="Tahoma" charset="0"/>
              <a:buChar char=" "/>
            </a:pPr>
            <a:endParaRPr lang="en-US" sz="2000" dirty="0" smtClean="0"/>
          </a:p>
          <a:p>
            <a:pPr eaLnBrk="1" hangingPunct="1">
              <a:buFont typeface="Tahoma" charset="0"/>
              <a:buChar char=" "/>
            </a:pPr>
            <a:r>
              <a:rPr lang="en-US" sz="2000" dirty="0" smtClean="0"/>
              <a:t>The value of p</a:t>
            </a:r>
            <a:r>
              <a:rPr lang="en-US" sz="2000" baseline="-25000" dirty="0" smtClean="0"/>
              <a:t>1</a:t>
            </a:r>
            <a:r>
              <a:rPr lang="en-US" sz="2000" dirty="0" smtClean="0"/>
              <a:t> – p</a:t>
            </a:r>
            <a:r>
              <a:rPr lang="en-US" sz="2000" baseline="-25000" dirty="0" smtClean="0"/>
              <a:t>2</a:t>
            </a:r>
            <a:r>
              <a:rPr lang="en-US" sz="2000" dirty="0" smtClean="0"/>
              <a:t> is substituted from </a:t>
            </a:r>
            <a:r>
              <a:rPr lang="en-US" sz="2000" i="1" dirty="0" smtClean="0"/>
              <a:t>H</a:t>
            </a:r>
            <a:r>
              <a:rPr lang="en-US" sz="2000" i="1" baseline="-25000" dirty="0" smtClean="0"/>
              <a:t>0</a:t>
            </a:r>
            <a:r>
              <a:rPr lang="en-US" sz="2000" dirty="0" smtClean="0"/>
              <a:t>, which is usually zero.</a:t>
            </a:r>
          </a:p>
        </p:txBody>
      </p:sp>
      <p:graphicFrame>
        <p:nvGraphicFramePr>
          <p:cNvPr id="46082" name="Object 2"/>
          <p:cNvGraphicFramePr>
            <a:graphicFrameLocks noChangeAspect="1"/>
          </p:cNvGraphicFramePr>
          <p:nvPr>
            <p:extLst>
              <p:ext uri="{D42A27DB-BD31-4B8C-83A1-F6EECF244321}">
                <p14:modId xmlns:p14="http://schemas.microsoft.com/office/powerpoint/2010/main" val="1780490321"/>
              </p:ext>
            </p:extLst>
          </p:nvPr>
        </p:nvGraphicFramePr>
        <p:xfrm>
          <a:off x="2914650" y="1562100"/>
          <a:ext cx="973253" cy="423413"/>
        </p:xfrm>
        <a:graphic>
          <a:graphicData uri="http://schemas.openxmlformats.org/presentationml/2006/ole">
            <mc:AlternateContent xmlns:mc="http://schemas.openxmlformats.org/markup-compatibility/2006">
              <mc:Choice xmlns:v="urn:schemas-microsoft-com:vml" Requires="v">
                <p:oleObj spid="_x0000_s46210" name="Equation" r:id="rId3" imgW="495000" imgH="215640" progId="Equation.3">
                  <p:embed/>
                </p:oleObj>
              </mc:Choice>
              <mc:Fallback>
                <p:oleObj name="Equation" r:id="rId3" imgW="495000" imgH="215640" progId="Equation.3">
                  <p:embed/>
                  <p:pic>
                    <p:nvPicPr>
                      <p:cNvPr id="0" name="Picture 10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14650" y="1562100"/>
                        <a:ext cx="973253" cy="423413"/>
                      </a:xfrm>
                      <a:prstGeom prst="rect">
                        <a:avLst/>
                      </a:prstGeom>
                      <a:noFill/>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5921" dir="2700000" algn="ctr" rotWithShape="0">
                                <a:srgbClr val="808080"/>
                              </a:outerShdw>
                            </a:effectLst>
                          </a14:hiddenEffects>
                        </a:ext>
                      </a:extLst>
                    </p:spPr>
                  </p:pic>
                </p:oleObj>
              </mc:Fallback>
            </mc:AlternateContent>
          </a:graphicData>
        </a:graphic>
      </p:graphicFrame>
      <p:graphicFrame>
        <p:nvGraphicFramePr>
          <p:cNvPr id="46083" name="Object 3"/>
          <p:cNvGraphicFramePr>
            <a:graphicFrameLocks noChangeAspect="1"/>
          </p:cNvGraphicFramePr>
          <p:nvPr>
            <p:extLst>
              <p:ext uri="{D42A27DB-BD31-4B8C-83A1-F6EECF244321}">
                <p14:modId xmlns:p14="http://schemas.microsoft.com/office/powerpoint/2010/main" val="3586618637"/>
              </p:ext>
            </p:extLst>
          </p:nvPr>
        </p:nvGraphicFramePr>
        <p:xfrm>
          <a:off x="5334000" y="1905000"/>
          <a:ext cx="973253" cy="423413"/>
        </p:xfrm>
        <a:graphic>
          <a:graphicData uri="http://schemas.openxmlformats.org/presentationml/2006/ole">
            <mc:AlternateContent xmlns:mc="http://schemas.openxmlformats.org/markup-compatibility/2006">
              <mc:Choice xmlns:v="urn:schemas-microsoft-com:vml" Requires="v">
                <p:oleObj spid="_x0000_s46211" name="Equation" r:id="rId5" imgW="495000" imgH="215640" progId="Equation.3">
                  <p:embed/>
                </p:oleObj>
              </mc:Choice>
              <mc:Fallback>
                <p:oleObj name="Equation" r:id="rId5" imgW="495000" imgH="215640" progId="Equation.3">
                  <p:embed/>
                  <p:pic>
                    <p:nvPicPr>
                      <p:cNvPr id="0" name="Picture 10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34000" y="1905000"/>
                        <a:ext cx="973253" cy="423413"/>
                      </a:xfrm>
                      <a:prstGeom prst="rect">
                        <a:avLst/>
                      </a:prstGeom>
                      <a:noFill/>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5921" dir="2700000" algn="ctr" rotWithShape="0">
                                <a:srgbClr val="808080"/>
                              </a:outerShdw>
                            </a:effectLst>
                          </a14:hiddenEffects>
                        </a:ext>
                      </a:extLst>
                    </p:spPr>
                  </p:pic>
                </p:oleObj>
              </mc:Fallback>
            </mc:AlternateContent>
          </a:graphicData>
        </a:graphic>
      </p:graphicFrame>
      <p:graphicFrame>
        <p:nvGraphicFramePr>
          <p:cNvPr id="46084" name="Object 4"/>
          <p:cNvGraphicFramePr>
            <a:graphicFrameLocks noChangeAspect="1"/>
          </p:cNvGraphicFramePr>
          <p:nvPr>
            <p:extLst>
              <p:ext uri="{D42A27DB-BD31-4B8C-83A1-F6EECF244321}">
                <p14:modId xmlns:p14="http://schemas.microsoft.com/office/powerpoint/2010/main" val="1264599857"/>
              </p:ext>
            </p:extLst>
          </p:nvPr>
        </p:nvGraphicFramePr>
        <p:xfrm>
          <a:off x="2819400" y="2609850"/>
          <a:ext cx="3733800" cy="1123407"/>
        </p:xfrm>
        <a:graphic>
          <a:graphicData uri="http://schemas.openxmlformats.org/presentationml/2006/ole">
            <mc:AlternateContent xmlns:mc="http://schemas.openxmlformats.org/markup-compatibility/2006">
              <mc:Choice xmlns:v="urn:schemas-microsoft-com:vml" Requires="v">
                <p:oleObj spid="_x0000_s46212" name="Equation" r:id="rId6" imgW="1562040" imgH="469800" progId="">
                  <p:embed/>
                </p:oleObj>
              </mc:Choice>
              <mc:Fallback>
                <p:oleObj name="Equation" r:id="rId6" imgW="1562040" imgH="469800" progId="">
                  <p:embed/>
                  <p:pic>
                    <p:nvPicPr>
                      <p:cNvPr id="0" name="Picture 10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819400" y="2609850"/>
                        <a:ext cx="3733800" cy="112340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Text Box 4"/>
          <p:cNvSpPr txBox="1">
            <a:spLocks noChangeArrowheads="1"/>
          </p:cNvSpPr>
          <p:nvPr/>
        </p:nvSpPr>
        <p:spPr bwMode="auto">
          <a:xfrm>
            <a:off x="4049486" y="6172200"/>
            <a:ext cx="47815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9" name="Rectangle 2"/>
          <p:cNvSpPr>
            <a:spLocks noGrp="1" noChangeArrowheads="1"/>
          </p:cNvSpPr>
          <p:nvPr>
            <p:ph type="title"/>
          </p:nvPr>
        </p:nvSpPr>
        <p:spPr/>
        <p:txBody>
          <a:bodyPr/>
          <a:lstStyle/>
          <a:p>
            <a:pPr eaLnBrk="1" hangingPunct="1"/>
            <a:r>
              <a:rPr lang="en-US" sz="2800" dirty="0" smtClean="0"/>
              <a:t>Hypothesis Testing About p</a:t>
            </a:r>
            <a:r>
              <a:rPr lang="en-US" sz="2800" baseline="-25000" dirty="0" smtClean="0"/>
              <a:t>1</a:t>
            </a:r>
            <a:r>
              <a:rPr lang="en-US" sz="2800" dirty="0" smtClean="0"/>
              <a:t> – p</a:t>
            </a:r>
            <a:r>
              <a:rPr lang="en-US" sz="2800" baseline="-25000" dirty="0" smtClean="0"/>
              <a:t>2</a:t>
            </a:r>
          </a:p>
        </p:txBody>
      </p:sp>
      <p:graphicFrame>
        <p:nvGraphicFramePr>
          <p:cNvPr id="47106" name="Object 2"/>
          <p:cNvGraphicFramePr>
            <a:graphicFrameLocks noChangeAspect="1"/>
          </p:cNvGraphicFramePr>
          <p:nvPr>
            <p:extLst>
              <p:ext uri="{D42A27DB-BD31-4B8C-83A1-F6EECF244321}">
                <p14:modId xmlns:p14="http://schemas.microsoft.com/office/powerpoint/2010/main" val="2013001526"/>
              </p:ext>
            </p:extLst>
          </p:nvPr>
        </p:nvGraphicFramePr>
        <p:xfrm>
          <a:off x="1600200" y="4114800"/>
          <a:ext cx="3505200" cy="1681018"/>
        </p:xfrm>
        <a:graphic>
          <a:graphicData uri="http://schemas.openxmlformats.org/presentationml/2006/ole">
            <mc:AlternateContent xmlns:mc="http://schemas.openxmlformats.org/markup-compatibility/2006">
              <mc:Choice xmlns:v="urn:schemas-microsoft-com:vml" Requires="v">
                <p:oleObj spid="_x0000_s47236" name="Equation" r:id="rId3" imgW="1536480" imgH="761760" progId="">
                  <p:embed/>
                </p:oleObj>
              </mc:Choice>
              <mc:Fallback>
                <p:oleObj name="Equation" r:id="rId3" imgW="1536480" imgH="761760" progId="">
                  <p:embed/>
                  <p:pic>
                    <p:nvPicPr>
                      <p:cNvPr id="0" name="Picture 10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00200" y="4114800"/>
                        <a:ext cx="3505200" cy="168101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7107" name="Object 3"/>
          <p:cNvGraphicFramePr>
            <a:graphicFrameLocks noChangeAspect="1"/>
          </p:cNvGraphicFramePr>
          <p:nvPr>
            <p:extLst>
              <p:ext uri="{D42A27DB-BD31-4B8C-83A1-F6EECF244321}">
                <p14:modId xmlns:p14="http://schemas.microsoft.com/office/powerpoint/2010/main" val="1734838053"/>
              </p:ext>
            </p:extLst>
          </p:nvPr>
        </p:nvGraphicFramePr>
        <p:xfrm>
          <a:off x="1524001" y="2964310"/>
          <a:ext cx="3809999" cy="921890"/>
        </p:xfrm>
        <a:graphic>
          <a:graphicData uri="http://schemas.openxmlformats.org/presentationml/2006/ole">
            <mc:AlternateContent xmlns:mc="http://schemas.openxmlformats.org/markup-compatibility/2006">
              <mc:Choice xmlns:v="urn:schemas-microsoft-com:vml" Requires="v">
                <p:oleObj spid="_x0000_s47237" name="Equation" r:id="rId5" imgW="2057400" imgH="444240" progId="">
                  <p:embed/>
                </p:oleObj>
              </mc:Choice>
              <mc:Fallback>
                <p:oleObj name="Equation" r:id="rId5" imgW="2057400" imgH="444240" progId="">
                  <p:embed/>
                  <p:pic>
                    <p:nvPicPr>
                      <p:cNvPr id="0" name="Picture 10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24001" y="2964310"/>
                        <a:ext cx="3809999" cy="92189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7108" name="Object 4"/>
          <p:cNvGraphicFramePr>
            <a:graphicFrameLocks noChangeAspect="1"/>
          </p:cNvGraphicFramePr>
          <p:nvPr>
            <p:extLst>
              <p:ext uri="{D42A27DB-BD31-4B8C-83A1-F6EECF244321}">
                <p14:modId xmlns:p14="http://schemas.microsoft.com/office/powerpoint/2010/main" val="1953098735"/>
              </p:ext>
            </p:extLst>
          </p:nvPr>
        </p:nvGraphicFramePr>
        <p:xfrm>
          <a:off x="1524001" y="1676400"/>
          <a:ext cx="3657600" cy="1064459"/>
        </p:xfrm>
        <a:graphic>
          <a:graphicData uri="http://schemas.openxmlformats.org/presentationml/2006/ole">
            <mc:AlternateContent xmlns:mc="http://schemas.openxmlformats.org/markup-compatibility/2006">
              <mc:Choice xmlns:v="urn:schemas-microsoft-com:vml" Requires="v">
                <p:oleObj spid="_x0000_s47238" name="Equation" r:id="rId7" imgW="1460160" imgH="482400" progId="">
                  <p:embed/>
                </p:oleObj>
              </mc:Choice>
              <mc:Fallback>
                <p:oleObj name="Equation" r:id="rId7" imgW="1460160" imgH="482400" progId="">
                  <p:embed/>
                  <p:pic>
                    <p:nvPicPr>
                      <p:cNvPr id="0" name="Picture 10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524001" y="1676400"/>
                        <a:ext cx="3657600" cy="106445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Text Box 4"/>
          <p:cNvSpPr txBox="1">
            <a:spLocks noChangeArrowheads="1"/>
          </p:cNvSpPr>
          <p:nvPr/>
        </p:nvSpPr>
        <p:spPr bwMode="auto">
          <a:xfrm>
            <a:off x="4049486" y="6172200"/>
            <a:ext cx="47815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2"/>
          <p:cNvSpPr>
            <a:spLocks noGrp="1" noChangeArrowheads="1"/>
          </p:cNvSpPr>
          <p:nvPr>
            <p:ph type="title"/>
          </p:nvPr>
        </p:nvSpPr>
        <p:spPr/>
        <p:txBody>
          <a:bodyPr/>
          <a:lstStyle/>
          <a:p>
            <a:pPr eaLnBrk="1" hangingPunct="1"/>
            <a:r>
              <a:rPr lang="en-US" sz="2800" dirty="0" smtClean="0"/>
              <a:t>Example 10-14</a:t>
            </a:r>
          </a:p>
        </p:txBody>
      </p:sp>
      <p:sp>
        <p:nvSpPr>
          <p:cNvPr id="126979" name="Rectangle 3"/>
          <p:cNvSpPr>
            <a:spLocks noGrp="1" noChangeArrowheads="1"/>
          </p:cNvSpPr>
          <p:nvPr>
            <p:ph type="body" idx="1"/>
          </p:nvPr>
        </p:nvSpPr>
        <p:spPr>
          <a:xfrm>
            <a:off x="93662" y="1524000"/>
            <a:ext cx="8193088" cy="2895600"/>
          </a:xfrm>
        </p:spPr>
        <p:txBody>
          <a:bodyPr/>
          <a:lstStyle/>
          <a:p>
            <a:pPr eaLnBrk="1" hangingPunct="1">
              <a:buFont typeface="Tahoma" charset="0"/>
              <a:buChar char=" "/>
            </a:pPr>
            <a:r>
              <a:rPr lang="en-GB" sz="2000" dirty="0" smtClean="0"/>
              <a:t>Reconsider Example 10-13 about the percentages of users of two toothpastes who will never switch to another toothpaste. At the 1% significance level, can we conclude that the proportion of users of Toothpaste A who will never switch to another toothpaste is higher than the proportion of users of Toothpaste B who will never switch to another toothpaste?</a:t>
            </a:r>
            <a:endParaRPr lang="en-US" sz="2000" dirty="0" smtClean="0"/>
          </a:p>
        </p:txBody>
      </p:sp>
      <p:sp>
        <p:nvSpPr>
          <p:cNvPr id="6" name="Text Box 4"/>
          <p:cNvSpPr txBox="1">
            <a:spLocks noChangeArrowheads="1"/>
          </p:cNvSpPr>
          <p:nvPr/>
        </p:nvSpPr>
        <p:spPr bwMode="auto">
          <a:xfrm>
            <a:off x="4049486" y="6172200"/>
            <a:ext cx="47815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1" name="Rectangle 2"/>
          <p:cNvSpPr>
            <a:spLocks noGrp="1" noChangeArrowheads="1"/>
          </p:cNvSpPr>
          <p:nvPr>
            <p:ph type="title"/>
          </p:nvPr>
        </p:nvSpPr>
        <p:spPr/>
        <p:txBody>
          <a:bodyPr/>
          <a:lstStyle/>
          <a:p>
            <a:pPr eaLnBrk="1" hangingPunct="1"/>
            <a:r>
              <a:rPr lang="en-US" sz="2800" dirty="0" smtClean="0"/>
              <a:t>Example 10-14: Solution</a:t>
            </a:r>
          </a:p>
        </p:txBody>
      </p:sp>
      <p:graphicFrame>
        <p:nvGraphicFramePr>
          <p:cNvPr id="48130" name="Object 2"/>
          <p:cNvGraphicFramePr>
            <a:graphicFrameLocks noGrp="1" noChangeAspect="1"/>
          </p:cNvGraphicFramePr>
          <p:nvPr>
            <p:ph type="body" idx="1"/>
            <p:extLst>
              <p:ext uri="{D42A27DB-BD31-4B8C-83A1-F6EECF244321}">
                <p14:modId xmlns:p14="http://schemas.microsoft.com/office/powerpoint/2010/main" val="3388779800"/>
              </p:ext>
            </p:extLst>
          </p:nvPr>
        </p:nvGraphicFramePr>
        <p:xfrm>
          <a:off x="609600" y="1828800"/>
          <a:ext cx="4343400" cy="1025222"/>
        </p:xfrm>
        <a:graphic>
          <a:graphicData uri="http://schemas.openxmlformats.org/presentationml/2006/ole">
            <mc:AlternateContent xmlns:mc="http://schemas.openxmlformats.org/markup-compatibility/2006">
              <mc:Choice xmlns:v="urn:schemas-microsoft-com:vml" Requires="v">
                <p:oleObj spid="_x0000_s48176" name="Equation" r:id="rId3" imgW="2044440" imgH="482400" progId="">
                  <p:embed/>
                </p:oleObj>
              </mc:Choice>
              <mc:Fallback>
                <p:oleObj name="Equation" r:id="rId3" imgW="2044440" imgH="482400" progId="">
                  <p:embed/>
                  <p:pic>
                    <p:nvPicPr>
                      <p:cNvPr id="0" name="Picture 37"/>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 y="1828800"/>
                        <a:ext cx="4343400" cy="102522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Text Box 4"/>
          <p:cNvSpPr txBox="1">
            <a:spLocks noChangeArrowheads="1"/>
          </p:cNvSpPr>
          <p:nvPr/>
        </p:nvSpPr>
        <p:spPr bwMode="auto">
          <a:xfrm>
            <a:off x="4049486" y="6172200"/>
            <a:ext cx="47815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2"/>
          <p:cNvSpPr>
            <a:spLocks noGrp="1" noChangeArrowheads="1"/>
          </p:cNvSpPr>
          <p:nvPr>
            <p:ph type="title"/>
          </p:nvPr>
        </p:nvSpPr>
        <p:spPr/>
        <p:txBody>
          <a:bodyPr/>
          <a:lstStyle/>
          <a:p>
            <a:pPr eaLnBrk="1" hangingPunct="1"/>
            <a:r>
              <a:rPr lang="en-US" sz="2800" dirty="0" smtClean="0"/>
              <a:t>Example 10-14: Solution</a:t>
            </a:r>
          </a:p>
        </p:txBody>
      </p:sp>
      <p:sp>
        <p:nvSpPr>
          <p:cNvPr id="128003" name="Rectangle 3"/>
          <p:cNvSpPr>
            <a:spLocks noGrp="1" noChangeArrowheads="1"/>
          </p:cNvSpPr>
          <p:nvPr>
            <p:ph type="body" idx="1"/>
          </p:nvPr>
        </p:nvSpPr>
        <p:spPr>
          <a:xfrm>
            <a:off x="474663" y="1485900"/>
            <a:ext cx="7126287" cy="2438400"/>
          </a:xfrm>
        </p:spPr>
        <p:txBody>
          <a:bodyPr/>
          <a:lstStyle/>
          <a:p>
            <a:pPr marL="0" indent="0" eaLnBrk="1" hangingPunct="1">
              <a:buNone/>
            </a:pPr>
            <a:r>
              <a:rPr lang="en-GB" sz="2000" b="1" dirty="0" smtClean="0"/>
              <a:t>Step 1:</a:t>
            </a:r>
          </a:p>
          <a:p>
            <a:pPr marL="0" indent="0" eaLnBrk="1" hangingPunct="1">
              <a:buNone/>
            </a:pPr>
            <a:r>
              <a:rPr lang="en-GB" sz="2000" i="1" dirty="0" smtClean="0"/>
              <a:t>    H</a:t>
            </a:r>
            <a:r>
              <a:rPr lang="en-GB" sz="2000" baseline="-25000" dirty="0" smtClean="0"/>
              <a:t>0</a:t>
            </a:r>
            <a:r>
              <a:rPr lang="en-GB" sz="2000" dirty="0" smtClean="0"/>
              <a:t>: </a:t>
            </a:r>
            <a:r>
              <a:rPr lang="en-GB" sz="2000" i="1" dirty="0" smtClean="0">
                <a:latin typeface="Times New Roman" charset="0"/>
              </a:rPr>
              <a:t>p</a:t>
            </a:r>
            <a:r>
              <a:rPr lang="en-GB" sz="2000" baseline="-25000" dirty="0" smtClean="0"/>
              <a:t>1</a:t>
            </a:r>
            <a:r>
              <a:rPr lang="en-GB" sz="2000" dirty="0" smtClean="0"/>
              <a:t> – </a:t>
            </a:r>
            <a:r>
              <a:rPr lang="en-GB" sz="2000" i="1" dirty="0" smtClean="0">
                <a:latin typeface="Times New Roman" charset="0"/>
              </a:rPr>
              <a:t>p</a:t>
            </a:r>
            <a:r>
              <a:rPr lang="en-GB" sz="2000" baseline="-25000" dirty="0" smtClean="0"/>
              <a:t>2</a:t>
            </a:r>
            <a:r>
              <a:rPr lang="en-GB" sz="2000" dirty="0" smtClean="0"/>
              <a:t> = 0   </a:t>
            </a:r>
          </a:p>
          <a:p>
            <a:pPr marL="457200" lvl="1" indent="0" eaLnBrk="1" hangingPunct="1">
              <a:buNone/>
            </a:pPr>
            <a:r>
              <a:rPr lang="en-GB" sz="2000" dirty="0">
                <a:latin typeface="Times New Roman" charset="0"/>
              </a:rPr>
              <a:t> </a:t>
            </a:r>
            <a:r>
              <a:rPr lang="en-GB" sz="2000" dirty="0" smtClean="0">
                <a:latin typeface="Times New Roman" charset="0"/>
              </a:rPr>
              <a:t>    (</a:t>
            </a:r>
            <a:r>
              <a:rPr lang="en-GB" sz="2000" i="1" dirty="0" smtClean="0">
                <a:latin typeface="Times New Roman" charset="0"/>
              </a:rPr>
              <a:t>p</a:t>
            </a:r>
            <a:r>
              <a:rPr lang="en-GB" sz="2000" baseline="-25000" dirty="0" smtClean="0"/>
              <a:t>1 </a:t>
            </a:r>
            <a:r>
              <a:rPr lang="en-GB" sz="2000" dirty="0" smtClean="0"/>
              <a:t>is not greater than </a:t>
            </a:r>
            <a:r>
              <a:rPr lang="en-GB" sz="2000" i="1" dirty="0" smtClean="0">
                <a:latin typeface="Times New Roman" charset="0"/>
              </a:rPr>
              <a:t>p</a:t>
            </a:r>
            <a:r>
              <a:rPr lang="en-GB" sz="2000" baseline="-25000" dirty="0" smtClean="0"/>
              <a:t>2)</a:t>
            </a:r>
            <a:endParaRPr lang="en-GB" sz="2000" dirty="0" smtClean="0"/>
          </a:p>
          <a:p>
            <a:pPr marL="0" indent="0" eaLnBrk="1" hangingPunct="1">
              <a:buNone/>
            </a:pPr>
            <a:r>
              <a:rPr lang="en-GB" sz="2000" i="1" dirty="0" smtClean="0"/>
              <a:t>    H</a:t>
            </a:r>
            <a:r>
              <a:rPr lang="en-GB" sz="2000" baseline="-25000" dirty="0" smtClean="0"/>
              <a:t>1</a:t>
            </a:r>
            <a:r>
              <a:rPr lang="en-GB" sz="2000" dirty="0" smtClean="0"/>
              <a:t>: </a:t>
            </a:r>
            <a:r>
              <a:rPr lang="en-GB" sz="2000" i="1" dirty="0" smtClean="0">
                <a:latin typeface="Times New Roman" charset="0"/>
              </a:rPr>
              <a:t>p</a:t>
            </a:r>
            <a:r>
              <a:rPr lang="en-GB" sz="2000" baseline="-25000" dirty="0" smtClean="0"/>
              <a:t>1</a:t>
            </a:r>
            <a:r>
              <a:rPr lang="en-GB" sz="2000" dirty="0" smtClean="0"/>
              <a:t> – </a:t>
            </a:r>
            <a:r>
              <a:rPr lang="en-GB" sz="2000" i="1" dirty="0" smtClean="0">
                <a:latin typeface="Times New Roman" charset="0"/>
              </a:rPr>
              <a:t>p</a:t>
            </a:r>
            <a:r>
              <a:rPr lang="en-GB" sz="2000" baseline="-25000" dirty="0" smtClean="0"/>
              <a:t>2</a:t>
            </a:r>
            <a:r>
              <a:rPr lang="en-GB" sz="2000" dirty="0" smtClean="0"/>
              <a:t> &gt; 0   </a:t>
            </a:r>
          </a:p>
          <a:p>
            <a:pPr marL="457200" lvl="1" indent="0" eaLnBrk="1" hangingPunct="1">
              <a:buNone/>
            </a:pPr>
            <a:r>
              <a:rPr lang="en-GB" sz="2000" dirty="0" smtClean="0">
                <a:latin typeface="Times New Roman" charset="0"/>
              </a:rPr>
              <a:t>     (</a:t>
            </a:r>
            <a:r>
              <a:rPr lang="en-GB" sz="2000" i="1" dirty="0" smtClean="0">
                <a:latin typeface="Times New Roman" charset="0"/>
              </a:rPr>
              <a:t>p</a:t>
            </a:r>
            <a:r>
              <a:rPr lang="en-GB" sz="2000" baseline="-25000" dirty="0" smtClean="0"/>
              <a:t>1</a:t>
            </a:r>
            <a:r>
              <a:rPr lang="en-GB" sz="2000" dirty="0" smtClean="0"/>
              <a:t> is greater than </a:t>
            </a:r>
            <a:r>
              <a:rPr lang="en-GB" sz="2000" i="1" dirty="0" smtClean="0">
                <a:latin typeface="Times New Roman" charset="0"/>
              </a:rPr>
              <a:t>p</a:t>
            </a:r>
            <a:r>
              <a:rPr lang="en-GB" sz="2000" baseline="-25000" dirty="0" smtClean="0"/>
              <a:t>2)</a:t>
            </a:r>
            <a:endParaRPr lang="en-GB" sz="2000" dirty="0" smtClean="0"/>
          </a:p>
          <a:p>
            <a:pPr eaLnBrk="1" hangingPunct="1"/>
            <a:endParaRPr lang="en-US" dirty="0" smtClean="0"/>
          </a:p>
        </p:txBody>
      </p:sp>
      <p:sp>
        <p:nvSpPr>
          <p:cNvPr id="6" name="Text Box 4"/>
          <p:cNvSpPr txBox="1">
            <a:spLocks noChangeArrowheads="1"/>
          </p:cNvSpPr>
          <p:nvPr/>
        </p:nvSpPr>
        <p:spPr bwMode="auto">
          <a:xfrm>
            <a:off x="4049486" y="6172200"/>
            <a:ext cx="47815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8" name="Rectangle 2"/>
          <p:cNvSpPr>
            <a:spLocks noGrp="1" noChangeArrowheads="1"/>
          </p:cNvSpPr>
          <p:nvPr>
            <p:ph type="title"/>
          </p:nvPr>
        </p:nvSpPr>
        <p:spPr/>
        <p:txBody>
          <a:bodyPr/>
          <a:lstStyle/>
          <a:p>
            <a:pPr eaLnBrk="1" hangingPunct="1"/>
            <a:r>
              <a:rPr lang="en-US" sz="2800" dirty="0" smtClean="0"/>
              <a:t>Example 10-14: Solution</a:t>
            </a:r>
          </a:p>
        </p:txBody>
      </p:sp>
      <p:sp>
        <p:nvSpPr>
          <p:cNvPr id="49159" name="Rectangle 3"/>
          <p:cNvSpPr>
            <a:spLocks noGrp="1" noChangeArrowheads="1"/>
          </p:cNvSpPr>
          <p:nvPr>
            <p:ph type="body" idx="1"/>
          </p:nvPr>
        </p:nvSpPr>
        <p:spPr>
          <a:xfrm>
            <a:off x="476250" y="1485900"/>
            <a:ext cx="8193088" cy="2514600"/>
          </a:xfrm>
        </p:spPr>
        <p:txBody>
          <a:bodyPr/>
          <a:lstStyle/>
          <a:p>
            <a:pPr marL="0" indent="0" eaLnBrk="1" hangingPunct="1">
              <a:buNone/>
            </a:pPr>
            <a:r>
              <a:rPr lang="en-US" sz="2000" b="1" dirty="0" smtClean="0"/>
              <a:t>Step 2: </a:t>
            </a:r>
          </a:p>
          <a:p>
            <a:pPr marL="0" indent="0" eaLnBrk="1" hangingPunct="1">
              <a:buNone/>
            </a:pPr>
            <a:r>
              <a:rPr lang="en-US" sz="2000" dirty="0" smtClean="0"/>
              <a:t>          ,        ,        , and          are all greater than 5</a:t>
            </a:r>
          </a:p>
          <a:p>
            <a:pPr marL="0" indent="0" eaLnBrk="1" hangingPunct="1">
              <a:buNone/>
            </a:pPr>
            <a:r>
              <a:rPr lang="en-US" sz="2000" dirty="0" smtClean="0"/>
              <a:t>    Both samples sizes are large</a:t>
            </a:r>
          </a:p>
          <a:p>
            <a:pPr marL="0" indent="0" eaLnBrk="1" hangingPunct="1">
              <a:buNone/>
            </a:pPr>
            <a:r>
              <a:rPr lang="en-US" sz="2000" dirty="0" smtClean="0"/>
              <a:t>    We use the normal distribution to make the test</a:t>
            </a:r>
          </a:p>
        </p:txBody>
      </p:sp>
      <p:graphicFrame>
        <p:nvGraphicFramePr>
          <p:cNvPr id="49154" name="Object 2"/>
          <p:cNvGraphicFramePr>
            <a:graphicFrameLocks noChangeAspect="1"/>
          </p:cNvGraphicFramePr>
          <p:nvPr>
            <p:extLst>
              <p:ext uri="{D42A27DB-BD31-4B8C-83A1-F6EECF244321}">
                <p14:modId xmlns:p14="http://schemas.microsoft.com/office/powerpoint/2010/main" val="1044759043"/>
              </p:ext>
            </p:extLst>
          </p:nvPr>
        </p:nvGraphicFramePr>
        <p:xfrm>
          <a:off x="888934" y="1809750"/>
          <a:ext cx="604825" cy="429019"/>
        </p:xfrm>
        <a:graphic>
          <a:graphicData uri="http://schemas.openxmlformats.org/presentationml/2006/ole">
            <mc:AlternateContent xmlns:mc="http://schemas.openxmlformats.org/markup-compatibility/2006">
              <mc:Choice xmlns:v="urn:schemas-microsoft-com:vml" Requires="v">
                <p:oleObj spid="_x0000_s49327" name="Equation" r:id="rId3" imgW="304560" imgH="215640" progId="Equation.3">
                  <p:embed/>
                </p:oleObj>
              </mc:Choice>
              <mc:Fallback>
                <p:oleObj name="Equation" r:id="rId3" imgW="304560" imgH="215640" progId="Equation.3">
                  <p:embed/>
                  <p:pic>
                    <p:nvPicPr>
                      <p:cNvPr id="0" name="Picture 13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88934" y="1809750"/>
                        <a:ext cx="604825" cy="4290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5921" dir="2700000" algn="ctr" rotWithShape="0">
                                <a:schemeClr val="bg2"/>
                              </a:outerShdw>
                            </a:effectLst>
                          </a14:hiddenEffects>
                        </a:ext>
                      </a:extLst>
                    </p:spPr>
                  </p:pic>
                </p:oleObj>
              </mc:Fallback>
            </mc:AlternateContent>
          </a:graphicData>
        </a:graphic>
      </p:graphicFrame>
      <p:graphicFrame>
        <p:nvGraphicFramePr>
          <p:cNvPr id="49155" name="Object 3"/>
          <p:cNvGraphicFramePr>
            <a:graphicFrameLocks noChangeAspect="1"/>
          </p:cNvGraphicFramePr>
          <p:nvPr>
            <p:extLst>
              <p:ext uri="{D42A27DB-BD31-4B8C-83A1-F6EECF244321}">
                <p14:modId xmlns:p14="http://schemas.microsoft.com/office/powerpoint/2010/main" val="3475791675"/>
              </p:ext>
            </p:extLst>
          </p:nvPr>
        </p:nvGraphicFramePr>
        <p:xfrm>
          <a:off x="1637198" y="1752600"/>
          <a:ext cx="629752" cy="486746"/>
        </p:xfrm>
        <a:graphic>
          <a:graphicData uri="http://schemas.openxmlformats.org/presentationml/2006/ole">
            <mc:AlternateContent xmlns:mc="http://schemas.openxmlformats.org/markup-compatibility/2006">
              <mc:Choice xmlns:v="urn:schemas-microsoft-com:vml" Requires="v">
                <p:oleObj spid="_x0000_s49328" name="Equation" r:id="rId5" imgW="279360" imgH="215640" progId="Equation.3">
                  <p:embed/>
                </p:oleObj>
              </mc:Choice>
              <mc:Fallback>
                <p:oleObj name="Equation" r:id="rId5" imgW="279360" imgH="215640" progId="Equation.3">
                  <p:embed/>
                  <p:pic>
                    <p:nvPicPr>
                      <p:cNvPr id="0" name="Picture 13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37198" y="1752600"/>
                        <a:ext cx="629752" cy="4867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5921" dir="2700000" algn="ctr" rotWithShape="0">
                                <a:schemeClr val="bg2"/>
                              </a:outerShdw>
                            </a:effectLst>
                          </a14:hiddenEffects>
                        </a:ext>
                      </a:extLst>
                    </p:spPr>
                  </p:pic>
                </p:oleObj>
              </mc:Fallback>
            </mc:AlternateContent>
          </a:graphicData>
        </a:graphic>
      </p:graphicFrame>
      <p:graphicFrame>
        <p:nvGraphicFramePr>
          <p:cNvPr id="49156" name="Object 4"/>
          <p:cNvGraphicFramePr>
            <a:graphicFrameLocks noChangeAspect="1"/>
          </p:cNvGraphicFramePr>
          <p:nvPr>
            <p:extLst>
              <p:ext uri="{D42A27DB-BD31-4B8C-83A1-F6EECF244321}">
                <p14:modId xmlns:p14="http://schemas.microsoft.com/office/powerpoint/2010/main" val="4062950248"/>
              </p:ext>
            </p:extLst>
          </p:nvPr>
        </p:nvGraphicFramePr>
        <p:xfrm>
          <a:off x="2381250" y="1790700"/>
          <a:ext cx="687003" cy="449653"/>
        </p:xfrm>
        <a:graphic>
          <a:graphicData uri="http://schemas.openxmlformats.org/presentationml/2006/ole">
            <mc:AlternateContent xmlns:mc="http://schemas.openxmlformats.org/markup-compatibility/2006">
              <mc:Choice xmlns:v="urn:schemas-microsoft-com:vml" Requires="v">
                <p:oleObj spid="_x0000_s49329" name="Equation" r:id="rId7" imgW="330120" imgH="215640" progId="Equation.3">
                  <p:embed/>
                </p:oleObj>
              </mc:Choice>
              <mc:Fallback>
                <p:oleObj name="Equation" r:id="rId7" imgW="330120" imgH="215640" progId="Equation.3">
                  <p:embed/>
                  <p:pic>
                    <p:nvPicPr>
                      <p:cNvPr id="0" name="Picture 13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381250" y="1790700"/>
                        <a:ext cx="687003" cy="4496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5921" dir="2700000" algn="ctr" rotWithShape="0">
                                <a:schemeClr val="bg2"/>
                              </a:outerShdw>
                            </a:effectLst>
                          </a14:hiddenEffects>
                        </a:ext>
                      </a:extLst>
                    </p:spPr>
                  </p:pic>
                </p:oleObj>
              </mc:Fallback>
            </mc:AlternateContent>
          </a:graphicData>
        </a:graphic>
      </p:graphicFrame>
      <p:graphicFrame>
        <p:nvGraphicFramePr>
          <p:cNvPr id="49157" name="Object 5"/>
          <p:cNvGraphicFramePr>
            <a:graphicFrameLocks noChangeAspect="1"/>
          </p:cNvGraphicFramePr>
          <p:nvPr>
            <p:extLst>
              <p:ext uri="{D42A27DB-BD31-4B8C-83A1-F6EECF244321}">
                <p14:modId xmlns:p14="http://schemas.microsoft.com/office/powerpoint/2010/main" val="1907164459"/>
              </p:ext>
            </p:extLst>
          </p:nvPr>
        </p:nvGraphicFramePr>
        <p:xfrm>
          <a:off x="3766140" y="1790700"/>
          <a:ext cx="776695" cy="471003"/>
        </p:xfrm>
        <a:graphic>
          <a:graphicData uri="http://schemas.openxmlformats.org/presentationml/2006/ole">
            <mc:AlternateContent xmlns:mc="http://schemas.openxmlformats.org/markup-compatibility/2006">
              <mc:Choice xmlns:v="urn:schemas-microsoft-com:vml" Requires="v">
                <p:oleObj spid="_x0000_s49330" name="Equation" r:id="rId9" imgW="355320" imgH="215640" progId="Equation.3">
                  <p:embed/>
                </p:oleObj>
              </mc:Choice>
              <mc:Fallback>
                <p:oleObj name="Equation" r:id="rId9" imgW="355320" imgH="215640" progId="Equation.3">
                  <p:embed/>
                  <p:pic>
                    <p:nvPicPr>
                      <p:cNvPr id="0" name="Picture 14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766140" y="1790700"/>
                        <a:ext cx="776695" cy="4710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5921" dir="2700000" algn="ctr" rotWithShape="0">
                                <a:schemeClr val="bg2"/>
                              </a:outerShdw>
                            </a:effectLst>
                          </a14:hiddenEffects>
                        </a:ext>
                      </a:extLst>
                    </p:spPr>
                  </p:pic>
                </p:oleObj>
              </mc:Fallback>
            </mc:AlternateContent>
          </a:graphicData>
        </a:graphic>
      </p:graphicFrame>
      <p:sp>
        <p:nvSpPr>
          <p:cNvPr id="10" name="Text Box 4"/>
          <p:cNvSpPr txBox="1">
            <a:spLocks noChangeArrowheads="1"/>
          </p:cNvSpPr>
          <p:nvPr/>
        </p:nvSpPr>
        <p:spPr bwMode="auto">
          <a:xfrm>
            <a:off x="4049486" y="6172200"/>
            <a:ext cx="47815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2"/>
          <p:cNvSpPr>
            <a:spLocks noGrp="1" noChangeArrowheads="1"/>
          </p:cNvSpPr>
          <p:nvPr>
            <p:ph type="title"/>
          </p:nvPr>
        </p:nvSpPr>
        <p:spPr/>
        <p:txBody>
          <a:bodyPr/>
          <a:lstStyle/>
          <a:p>
            <a:pPr eaLnBrk="1" hangingPunct="1"/>
            <a:r>
              <a:rPr lang="en-US" sz="2800" dirty="0" smtClean="0"/>
              <a:t>Example 10-14: Solution</a:t>
            </a:r>
          </a:p>
        </p:txBody>
      </p:sp>
      <p:sp>
        <p:nvSpPr>
          <p:cNvPr id="129027" name="Rectangle 3"/>
          <p:cNvSpPr>
            <a:spLocks noGrp="1" noChangeArrowheads="1"/>
          </p:cNvSpPr>
          <p:nvPr>
            <p:ph type="body" idx="1"/>
          </p:nvPr>
        </p:nvSpPr>
        <p:spPr>
          <a:xfrm>
            <a:off x="476250" y="1524000"/>
            <a:ext cx="8193088" cy="2133600"/>
          </a:xfrm>
        </p:spPr>
        <p:txBody>
          <a:bodyPr/>
          <a:lstStyle/>
          <a:p>
            <a:pPr marL="0" indent="0" eaLnBrk="1" hangingPunct="1">
              <a:buNone/>
            </a:pPr>
            <a:r>
              <a:rPr lang="en-US" sz="2000" b="1" dirty="0" smtClean="0"/>
              <a:t>Step 3: </a:t>
            </a:r>
          </a:p>
          <a:p>
            <a:pPr marL="0" indent="0" eaLnBrk="1" hangingPunct="1">
              <a:buNone/>
            </a:pPr>
            <a:r>
              <a:rPr lang="en-US" sz="2000" dirty="0" smtClean="0">
                <a:cs typeface="Times New Roman" charset="0"/>
              </a:rPr>
              <a:t>    The &gt; sign in the alternative hypothesis indicates that the </a:t>
            </a:r>
          </a:p>
          <a:p>
            <a:pPr marL="0" indent="0" eaLnBrk="1" hangingPunct="1">
              <a:buNone/>
            </a:pPr>
            <a:r>
              <a:rPr lang="en-US" sz="2000" dirty="0">
                <a:cs typeface="Times New Roman" charset="0"/>
              </a:rPr>
              <a:t> </a:t>
            </a:r>
            <a:r>
              <a:rPr lang="en-US" sz="2000" dirty="0" smtClean="0">
                <a:cs typeface="Times New Roman" charset="0"/>
              </a:rPr>
              <a:t>   test is right-tailed.</a:t>
            </a:r>
            <a:r>
              <a:rPr lang="en-US" sz="2000" dirty="0" smtClean="0">
                <a:latin typeface="Times New Roman" charset="0"/>
                <a:cs typeface="Times New Roman" charset="0"/>
              </a:rPr>
              <a:t> </a:t>
            </a:r>
          </a:p>
          <a:p>
            <a:pPr marL="0" indent="0" eaLnBrk="1" hangingPunct="1">
              <a:buNone/>
            </a:pPr>
            <a:r>
              <a:rPr lang="en-US" sz="2000" dirty="0" smtClean="0">
                <a:latin typeface="Times New Roman" charset="0"/>
                <a:cs typeface="Times New Roman" charset="0"/>
              </a:rPr>
              <a:t>     </a:t>
            </a:r>
            <a:r>
              <a:rPr lang="el-GR" sz="2000" dirty="0" smtClean="0">
                <a:latin typeface="Times New Roman" charset="0"/>
                <a:cs typeface="Times New Roman" charset="0"/>
              </a:rPr>
              <a:t>α</a:t>
            </a:r>
            <a:r>
              <a:rPr lang="en-GB" sz="2000" dirty="0" smtClean="0">
                <a:latin typeface="Times New Roman" charset="0"/>
                <a:cs typeface="Times New Roman" charset="0"/>
              </a:rPr>
              <a:t> </a:t>
            </a:r>
            <a:r>
              <a:rPr lang="en-GB" sz="2000" dirty="0" smtClean="0">
                <a:cs typeface="Times New Roman" charset="0"/>
              </a:rPr>
              <a:t>= .01</a:t>
            </a:r>
          </a:p>
          <a:p>
            <a:pPr marL="0" indent="0" eaLnBrk="1" hangingPunct="1">
              <a:buNone/>
            </a:pPr>
            <a:r>
              <a:rPr lang="en-GB" sz="2000" dirty="0" smtClean="0">
                <a:cs typeface="Times New Roman" charset="0"/>
              </a:rPr>
              <a:t>    The critical value of z is 2.33</a:t>
            </a:r>
            <a:endParaRPr lang="en-US" sz="2000" dirty="0" smtClean="0">
              <a:cs typeface="Times New Roman" charset="0"/>
            </a:endParaRPr>
          </a:p>
        </p:txBody>
      </p:sp>
      <p:sp>
        <p:nvSpPr>
          <p:cNvPr id="6" name="Text Box 4"/>
          <p:cNvSpPr txBox="1">
            <a:spLocks noChangeArrowheads="1"/>
          </p:cNvSpPr>
          <p:nvPr/>
        </p:nvSpPr>
        <p:spPr bwMode="auto">
          <a:xfrm>
            <a:off x="4049486" y="6172200"/>
            <a:ext cx="47815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2"/>
          <p:cNvSpPr>
            <a:spLocks noGrp="1" noChangeArrowheads="1"/>
          </p:cNvSpPr>
          <p:nvPr>
            <p:ph type="title"/>
          </p:nvPr>
        </p:nvSpPr>
        <p:spPr/>
        <p:txBody>
          <a:bodyPr/>
          <a:lstStyle/>
          <a:p>
            <a:pPr eaLnBrk="1" hangingPunct="1"/>
            <a:r>
              <a:rPr lang="en-US" sz="2800" dirty="0" smtClean="0"/>
              <a:t>Figure 10.8</a:t>
            </a:r>
          </a:p>
        </p:txBody>
      </p:sp>
      <p:sp>
        <p:nvSpPr>
          <p:cNvPr id="130051" name="Text Box 7"/>
          <p:cNvSpPr txBox="1">
            <a:spLocks noChangeArrowheads="1"/>
          </p:cNvSpPr>
          <p:nvPr/>
        </p:nvSpPr>
        <p:spPr bwMode="auto">
          <a:xfrm>
            <a:off x="2124075" y="4941888"/>
            <a:ext cx="4318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charset="0"/>
                <a:ea typeface="ＭＳ Ｐゴシック" charset="-128"/>
              </a:defRPr>
            </a:lvl1pPr>
            <a:lvl2pPr marL="742950" indent="-285750">
              <a:defRPr>
                <a:solidFill>
                  <a:schemeClr val="tx1"/>
                </a:solidFill>
                <a:latin typeface="Verdana" charset="0"/>
                <a:ea typeface="ＭＳ Ｐゴシック" charset="-128"/>
              </a:defRPr>
            </a:lvl2pPr>
            <a:lvl3pPr marL="1143000" indent="-228600">
              <a:defRPr>
                <a:solidFill>
                  <a:schemeClr val="tx1"/>
                </a:solidFill>
                <a:latin typeface="Verdana" charset="0"/>
                <a:ea typeface="ＭＳ Ｐゴシック" charset="-128"/>
              </a:defRPr>
            </a:lvl3pPr>
            <a:lvl4pPr marL="1600200" indent="-228600">
              <a:defRPr>
                <a:solidFill>
                  <a:schemeClr val="tx1"/>
                </a:solidFill>
                <a:latin typeface="Verdana" charset="0"/>
                <a:ea typeface="ＭＳ Ｐゴシック" charset="-128"/>
              </a:defRPr>
            </a:lvl4pPr>
            <a:lvl5pPr marL="2057400" indent="-228600">
              <a:defRPr>
                <a:solidFill>
                  <a:schemeClr val="tx1"/>
                </a:solidFill>
                <a:latin typeface="Verdana" charset="0"/>
                <a:ea typeface="ＭＳ Ｐゴシック" charset="-128"/>
              </a:defRPr>
            </a:lvl5pPr>
            <a:lvl6pPr marL="2514600" indent="-228600" eaLnBrk="0" fontAlgn="base" hangingPunct="0">
              <a:spcBef>
                <a:spcPct val="0"/>
              </a:spcBef>
              <a:spcAft>
                <a:spcPct val="0"/>
              </a:spcAft>
              <a:defRPr>
                <a:solidFill>
                  <a:schemeClr val="tx1"/>
                </a:solidFill>
                <a:latin typeface="Verdana" charset="0"/>
                <a:ea typeface="ＭＳ Ｐゴシック" charset="-128"/>
              </a:defRPr>
            </a:lvl6pPr>
            <a:lvl7pPr marL="2971800" indent="-228600" eaLnBrk="0" fontAlgn="base" hangingPunct="0">
              <a:spcBef>
                <a:spcPct val="0"/>
              </a:spcBef>
              <a:spcAft>
                <a:spcPct val="0"/>
              </a:spcAft>
              <a:defRPr>
                <a:solidFill>
                  <a:schemeClr val="tx1"/>
                </a:solidFill>
                <a:latin typeface="Verdana" charset="0"/>
                <a:ea typeface="ＭＳ Ｐゴシック" charset="-128"/>
              </a:defRPr>
            </a:lvl7pPr>
            <a:lvl8pPr marL="3429000" indent="-228600" eaLnBrk="0" fontAlgn="base" hangingPunct="0">
              <a:spcBef>
                <a:spcPct val="0"/>
              </a:spcBef>
              <a:spcAft>
                <a:spcPct val="0"/>
              </a:spcAft>
              <a:defRPr>
                <a:solidFill>
                  <a:schemeClr val="tx1"/>
                </a:solidFill>
                <a:latin typeface="Verdana" charset="0"/>
                <a:ea typeface="ＭＳ Ｐゴシック" charset="-128"/>
              </a:defRPr>
            </a:lvl8pPr>
            <a:lvl9pPr marL="3886200" indent="-228600" eaLnBrk="0" fontAlgn="base" hangingPunct="0">
              <a:spcBef>
                <a:spcPct val="0"/>
              </a:spcBef>
              <a:spcAft>
                <a:spcPct val="0"/>
              </a:spcAft>
              <a:defRPr>
                <a:solidFill>
                  <a:schemeClr val="tx1"/>
                </a:solidFill>
                <a:latin typeface="Verdana" charset="0"/>
                <a:ea typeface="ＭＳ Ｐゴシック" charset="-128"/>
              </a:defRPr>
            </a:lvl9pPr>
          </a:lstStyle>
          <a:p>
            <a:pPr>
              <a:spcBef>
                <a:spcPct val="50000"/>
              </a:spcBef>
            </a:pPr>
            <a:r>
              <a:rPr lang="en-US" sz="2000" b="1" i="1">
                <a:latin typeface="Times New Roman" charset="0"/>
              </a:rPr>
              <a:t> </a:t>
            </a:r>
          </a:p>
        </p:txBody>
      </p:sp>
      <p:sp>
        <p:nvSpPr>
          <p:cNvPr id="7" name="Text Box 4"/>
          <p:cNvSpPr txBox="1">
            <a:spLocks noChangeArrowheads="1"/>
          </p:cNvSpPr>
          <p:nvPr/>
        </p:nvSpPr>
        <p:spPr bwMode="auto">
          <a:xfrm>
            <a:off x="4049486" y="6172200"/>
            <a:ext cx="47815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37306" y="1656783"/>
            <a:ext cx="6763694" cy="4058217"/>
          </a:xfrm>
          <a:prstGeom prst="rect">
            <a:avLst/>
          </a:prstGeom>
        </p:spPr>
      </p:pic>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9" name="Rectangle 2"/>
          <p:cNvSpPr>
            <a:spLocks noGrp="1" noChangeArrowheads="1"/>
          </p:cNvSpPr>
          <p:nvPr>
            <p:ph type="title"/>
          </p:nvPr>
        </p:nvSpPr>
        <p:spPr/>
        <p:txBody>
          <a:bodyPr/>
          <a:lstStyle/>
          <a:p>
            <a:pPr eaLnBrk="1" hangingPunct="1"/>
            <a:r>
              <a:rPr lang="en-US" sz="2800" dirty="0" smtClean="0"/>
              <a:t>Example 10-14: Solution</a:t>
            </a:r>
          </a:p>
        </p:txBody>
      </p:sp>
      <p:graphicFrame>
        <p:nvGraphicFramePr>
          <p:cNvPr id="50178" name="Object 2"/>
          <p:cNvGraphicFramePr>
            <a:graphicFrameLocks noGrp="1" noChangeAspect="1"/>
          </p:cNvGraphicFramePr>
          <p:nvPr>
            <p:ph type="body" idx="1"/>
            <p:extLst>
              <p:ext uri="{D42A27DB-BD31-4B8C-83A1-F6EECF244321}">
                <p14:modId xmlns:p14="http://schemas.microsoft.com/office/powerpoint/2010/main" val="250097845"/>
              </p:ext>
            </p:extLst>
          </p:nvPr>
        </p:nvGraphicFramePr>
        <p:xfrm>
          <a:off x="744538" y="2133600"/>
          <a:ext cx="6934200" cy="2744788"/>
        </p:xfrm>
        <a:graphic>
          <a:graphicData uri="http://schemas.openxmlformats.org/presentationml/2006/ole">
            <mc:AlternateContent xmlns:mc="http://schemas.openxmlformats.org/markup-compatibility/2006">
              <mc:Choice xmlns:v="urn:schemas-microsoft-com:vml" Requires="v">
                <p:oleObj spid="_x0000_s50225" name="Equation" r:id="rId3" imgW="4368600" imgH="1676160" progId="">
                  <p:embed/>
                </p:oleObj>
              </mc:Choice>
              <mc:Fallback>
                <p:oleObj name="Equation" r:id="rId3" imgW="4368600" imgH="1676160" progId="">
                  <p:embed/>
                  <p:pic>
                    <p:nvPicPr>
                      <p:cNvPr id="0" name="Picture 38"/>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4538" y="2133600"/>
                        <a:ext cx="6934200" cy="27447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0181" name="Text Box 8"/>
          <p:cNvSpPr txBox="1">
            <a:spLocks noChangeArrowheads="1"/>
          </p:cNvSpPr>
          <p:nvPr/>
        </p:nvSpPr>
        <p:spPr bwMode="auto">
          <a:xfrm>
            <a:off x="485166" y="1524000"/>
            <a:ext cx="22098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charset="0"/>
                <a:ea typeface="ＭＳ Ｐゴシック" charset="-128"/>
              </a:defRPr>
            </a:lvl1pPr>
            <a:lvl2pPr marL="742950" indent="-285750">
              <a:defRPr>
                <a:solidFill>
                  <a:schemeClr val="tx1"/>
                </a:solidFill>
                <a:latin typeface="Verdana" charset="0"/>
                <a:ea typeface="ＭＳ Ｐゴシック" charset="-128"/>
              </a:defRPr>
            </a:lvl2pPr>
            <a:lvl3pPr marL="1143000" indent="-228600">
              <a:defRPr>
                <a:solidFill>
                  <a:schemeClr val="tx1"/>
                </a:solidFill>
                <a:latin typeface="Verdana" charset="0"/>
                <a:ea typeface="ＭＳ Ｐゴシック" charset="-128"/>
              </a:defRPr>
            </a:lvl3pPr>
            <a:lvl4pPr marL="1600200" indent="-228600">
              <a:defRPr>
                <a:solidFill>
                  <a:schemeClr val="tx1"/>
                </a:solidFill>
                <a:latin typeface="Verdana" charset="0"/>
                <a:ea typeface="ＭＳ Ｐゴシック" charset="-128"/>
              </a:defRPr>
            </a:lvl4pPr>
            <a:lvl5pPr marL="2057400" indent="-228600">
              <a:defRPr>
                <a:solidFill>
                  <a:schemeClr val="tx1"/>
                </a:solidFill>
                <a:latin typeface="Verdana" charset="0"/>
                <a:ea typeface="ＭＳ Ｐゴシック" charset="-128"/>
              </a:defRPr>
            </a:lvl5pPr>
            <a:lvl6pPr marL="2514600" indent="-228600" eaLnBrk="0" fontAlgn="base" hangingPunct="0">
              <a:spcBef>
                <a:spcPct val="0"/>
              </a:spcBef>
              <a:spcAft>
                <a:spcPct val="0"/>
              </a:spcAft>
              <a:defRPr>
                <a:solidFill>
                  <a:schemeClr val="tx1"/>
                </a:solidFill>
                <a:latin typeface="Verdana" charset="0"/>
                <a:ea typeface="ＭＳ Ｐゴシック" charset="-128"/>
              </a:defRPr>
            </a:lvl6pPr>
            <a:lvl7pPr marL="2971800" indent="-228600" eaLnBrk="0" fontAlgn="base" hangingPunct="0">
              <a:spcBef>
                <a:spcPct val="0"/>
              </a:spcBef>
              <a:spcAft>
                <a:spcPct val="0"/>
              </a:spcAft>
              <a:defRPr>
                <a:solidFill>
                  <a:schemeClr val="tx1"/>
                </a:solidFill>
                <a:latin typeface="Verdana" charset="0"/>
                <a:ea typeface="ＭＳ Ｐゴシック" charset="-128"/>
              </a:defRPr>
            </a:lvl7pPr>
            <a:lvl8pPr marL="3429000" indent="-228600" eaLnBrk="0" fontAlgn="base" hangingPunct="0">
              <a:spcBef>
                <a:spcPct val="0"/>
              </a:spcBef>
              <a:spcAft>
                <a:spcPct val="0"/>
              </a:spcAft>
              <a:defRPr>
                <a:solidFill>
                  <a:schemeClr val="tx1"/>
                </a:solidFill>
                <a:latin typeface="Verdana" charset="0"/>
                <a:ea typeface="ＭＳ Ｐゴシック" charset="-128"/>
              </a:defRPr>
            </a:lvl8pPr>
            <a:lvl9pPr marL="3886200" indent="-228600" eaLnBrk="0" fontAlgn="base" hangingPunct="0">
              <a:spcBef>
                <a:spcPct val="0"/>
              </a:spcBef>
              <a:spcAft>
                <a:spcPct val="0"/>
              </a:spcAft>
              <a:defRPr>
                <a:solidFill>
                  <a:schemeClr val="tx1"/>
                </a:solidFill>
                <a:latin typeface="Verdana" charset="0"/>
                <a:ea typeface="ＭＳ Ｐゴシック" charset="-128"/>
              </a:defRPr>
            </a:lvl9pPr>
          </a:lstStyle>
          <a:p>
            <a:pPr eaLnBrk="1" hangingPunct="1">
              <a:spcBef>
                <a:spcPct val="20000"/>
              </a:spcBef>
              <a:buClr>
                <a:schemeClr val="bg2"/>
              </a:buClr>
              <a:buSzPct val="75000"/>
            </a:pPr>
            <a:r>
              <a:rPr lang="en-US" sz="2000" b="1" dirty="0" smtClean="0"/>
              <a:t>Step </a:t>
            </a:r>
            <a:r>
              <a:rPr lang="en-US" sz="2000" b="1" dirty="0"/>
              <a:t>4:</a:t>
            </a:r>
          </a:p>
        </p:txBody>
      </p:sp>
      <p:sp>
        <p:nvSpPr>
          <p:cNvPr id="7" name="Text Box 4"/>
          <p:cNvSpPr txBox="1">
            <a:spLocks noChangeArrowheads="1"/>
          </p:cNvSpPr>
          <p:nvPr/>
        </p:nvSpPr>
        <p:spPr bwMode="auto">
          <a:xfrm>
            <a:off x="4049486" y="6172200"/>
            <a:ext cx="47815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2"/>
          <p:cNvSpPr>
            <a:spLocks noGrp="1" noChangeArrowheads="1"/>
          </p:cNvSpPr>
          <p:nvPr>
            <p:ph type="title"/>
          </p:nvPr>
        </p:nvSpPr>
        <p:spPr/>
        <p:txBody>
          <a:bodyPr/>
          <a:lstStyle/>
          <a:p>
            <a:pPr eaLnBrk="1" hangingPunct="1"/>
            <a:r>
              <a:rPr lang="en-US" sz="2800" dirty="0" smtClean="0"/>
              <a:t>Example 10-14: Solution</a:t>
            </a:r>
          </a:p>
        </p:txBody>
      </p:sp>
      <p:sp>
        <p:nvSpPr>
          <p:cNvPr id="131075" name="Rectangle 3"/>
          <p:cNvSpPr>
            <a:spLocks noGrp="1" noChangeArrowheads="1"/>
          </p:cNvSpPr>
          <p:nvPr>
            <p:ph type="body" idx="1"/>
          </p:nvPr>
        </p:nvSpPr>
        <p:spPr>
          <a:xfrm>
            <a:off x="474662" y="1504950"/>
            <a:ext cx="8059738" cy="3124200"/>
          </a:xfrm>
        </p:spPr>
        <p:txBody>
          <a:bodyPr/>
          <a:lstStyle/>
          <a:p>
            <a:pPr marL="0" indent="0" eaLnBrk="1" hangingPunct="1">
              <a:lnSpc>
                <a:spcPct val="90000"/>
              </a:lnSpc>
              <a:buNone/>
            </a:pPr>
            <a:r>
              <a:rPr lang="en-US" sz="2000" b="1" dirty="0" smtClean="0"/>
              <a:t>Step 5:</a:t>
            </a:r>
          </a:p>
          <a:p>
            <a:pPr marL="0" indent="0" eaLnBrk="1" hangingPunct="1">
              <a:lnSpc>
                <a:spcPct val="90000"/>
              </a:lnSpc>
              <a:buNone/>
            </a:pPr>
            <a:r>
              <a:rPr lang="en-US" sz="2000" dirty="0" smtClean="0"/>
              <a:t>    The value of the test statistic </a:t>
            </a:r>
            <a:r>
              <a:rPr lang="en-US" sz="2000" i="1" dirty="0" smtClean="0">
                <a:latin typeface="Times New Roman" charset="0"/>
              </a:rPr>
              <a:t>z</a:t>
            </a:r>
            <a:r>
              <a:rPr lang="en-US" sz="2000" dirty="0" smtClean="0"/>
              <a:t> = 1.15 </a:t>
            </a:r>
          </a:p>
          <a:p>
            <a:pPr lvl="1" eaLnBrk="1" hangingPunct="1">
              <a:lnSpc>
                <a:spcPct val="90000"/>
              </a:lnSpc>
            </a:pPr>
            <a:r>
              <a:rPr lang="en-US" sz="2000" dirty="0" smtClean="0"/>
              <a:t>It falls in the </a:t>
            </a:r>
            <a:r>
              <a:rPr lang="en-US" sz="2000" dirty="0" err="1" smtClean="0"/>
              <a:t>nonrejection</a:t>
            </a:r>
            <a:r>
              <a:rPr lang="en-US" sz="2000" dirty="0" smtClean="0"/>
              <a:t> region</a:t>
            </a:r>
          </a:p>
          <a:p>
            <a:pPr marL="0" indent="0" eaLnBrk="1" hangingPunct="1">
              <a:lnSpc>
                <a:spcPct val="90000"/>
              </a:lnSpc>
              <a:buNone/>
            </a:pPr>
            <a:r>
              <a:rPr lang="en-US" sz="2000" dirty="0" smtClean="0"/>
              <a:t>    We fail to reject the null hypothesis</a:t>
            </a:r>
          </a:p>
          <a:p>
            <a:pPr marL="0" indent="0" eaLnBrk="1" hangingPunct="1">
              <a:lnSpc>
                <a:spcPct val="90000"/>
              </a:lnSpc>
              <a:buNone/>
            </a:pPr>
            <a:r>
              <a:rPr lang="en-US" sz="2000" dirty="0" smtClean="0"/>
              <a:t>    Therefore, we conclude that the proportion of users of </a:t>
            </a:r>
          </a:p>
          <a:p>
            <a:pPr marL="0" indent="0" eaLnBrk="1" hangingPunct="1">
              <a:lnSpc>
                <a:spcPct val="90000"/>
              </a:lnSpc>
              <a:buNone/>
            </a:pPr>
            <a:r>
              <a:rPr lang="en-US" sz="2000" dirty="0"/>
              <a:t> </a:t>
            </a:r>
            <a:r>
              <a:rPr lang="en-US" sz="2000" dirty="0" smtClean="0"/>
              <a:t>   Toothpaste A who will never switch to another toothpaste </a:t>
            </a:r>
          </a:p>
          <a:p>
            <a:pPr marL="0" indent="0" eaLnBrk="1" hangingPunct="1">
              <a:lnSpc>
                <a:spcPct val="90000"/>
              </a:lnSpc>
              <a:buNone/>
            </a:pPr>
            <a:r>
              <a:rPr lang="en-US" sz="2000" dirty="0"/>
              <a:t> </a:t>
            </a:r>
            <a:r>
              <a:rPr lang="en-US" sz="2000" dirty="0" smtClean="0"/>
              <a:t>   is not greater that the proportion of users of Toothpaste B </a:t>
            </a:r>
          </a:p>
          <a:p>
            <a:pPr marL="0" indent="0" eaLnBrk="1" hangingPunct="1">
              <a:lnSpc>
                <a:spcPct val="90000"/>
              </a:lnSpc>
              <a:buNone/>
            </a:pPr>
            <a:r>
              <a:rPr lang="en-US" sz="2000" dirty="0"/>
              <a:t> </a:t>
            </a:r>
            <a:r>
              <a:rPr lang="en-US" sz="2000" dirty="0" smtClean="0"/>
              <a:t>   who will never switch to another toothpaste. </a:t>
            </a:r>
          </a:p>
        </p:txBody>
      </p:sp>
      <p:sp>
        <p:nvSpPr>
          <p:cNvPr id="6" name="Text Box 4"/>
          <p:cNvSpPr txBox="1">
            <a:spLocks noChangeArrowheads="1"/>
          </p:cNvSpPr>
          <p:nvPr/>
        </p:nvSpPr>
        <p:spPr bwMode="auto">
          <a:xfrm>
            <a:off x="4049486" y="6172200"/>
            <a:ext cx="47815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2"/>
          <p:cNvSpPr>
            <a:spLocks noGrp="1" noChangeArrowheads="1"/>
          </p:cNvSpPr>
          <p:nvPr>
            <p:ph type="title"/>
          </p:nvPr>
        </p:nvSpPr>
        <p:spPr/>
        <p:txBody>
          <a:bodyPr/>
          <a:lstStyle/>
          <a:p>
            <a:pPr eaLnBrk="1" hangingPunct="1"/>
            <a:r>
              <a:rPr lang="en-GB" sz="3200" smtClean="0"/>
              <a:t>TI-84</a:t>
            </a:r>
          </a:p>
        </p:txBody>
      </p:sp>
      <p:sp>
        <p:nvSpPr>
          <p:cNvPr id="8" name="Text Box 4"/>
          <p:cNvSpPr txBox="1">
            <a:spLocks noChangeArrowheads="1"/>
          </p:cNvSpPr>
          <p:nvPr/>
        </p:nvSpPr>
        <p:spPr bwMode="auto">
          <a:xfrm>
            <a:off x="4049486" y="6172200"/>
            <a:ext cx="47815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pic>
        <p:nvPicPr>
          <p:cNvPr id="9" name="Picture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6125" y="1524000"/>
            <a:ext cx="2224675" cy="435865"/>
          </a:xfrm>
          <a:prstGeom prst="rect">
            <a:avLst/>
          </a:prstGeom>
        </p:spPr>
      </p:pic>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591194"/>
            <a:ext cx="9144000" cy="780406"/>
          </a:xfrm>
          <a:prstGeom prst="rect">
            <a:avLst/>
          </a:prstGeom>
        </p:spPr>
      </p:pic>
      <p:pic>
        <p:nvPicPr>
          <p:cNvPr id="3" name="Picture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456814" y="2056889"/>
            <a:ext cx="4553586" cy="3658111"/>
          </a:xfrm>
          <a:prstGeom prst="rect">
            <a:avLst/>
          </a:prstGeom>
        </p:spPr>
      </p:pic>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2"/>
          <p:cNvSpPr>
            <a:spLocks noGrp="1" noChangeArrowheads="1"/>
          </p:cNvSpPr>
          <p:nvPr>
            <p:ph type="title"/>
          </p:nvPr>
        </p:nvSpPr>
        <p:spPr/>
        <p:txBody>
          <a:bodyPr/>
          <a:lstStyle/>
          <a:p>
            <a:pPr eaLnBrk="1" hangingPunct="1"/>
            <a:r>
              <a:rPr lang="en-GB" sz="3200" smtClean="0"/>
              <a:t>TI-84</a:t>
            </a:r>
          </a:p>
        </p:txBody>
      </p:sp>
      <p:sp>
        <p:nvSpPr>
          <p:cNvPr id="8" name="Text Box 4"/>
          <p:cNvSpPr txBox="1">
            <a:spLocks noChangeArrowheads="1"/>
          </p:cNvSpPr>
          <p:nvPr/>
        </p:nvSpPr>
        <p:spPr bwMode="auto">
          <a:xfrm>
            <a:off x="4049486" y="6172200"/>
            <a:ext cx="47815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pic>
        <p:nvPicPr>
          <p:cNvPr id="11" name="Picture 1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6125" y="1524000"/>
            <a:ext cx="2224675" cy="435865"/>
          </a:xfrm>
          <a:prstGeom prst="rect">
            <a:avLst/>
          </a:prstGeom>
        </p:spPr>
      </p:pic>
      <p:pic>
        <p:nvPicPr>
          <p:cNvPr id="13" name="Picture 1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591194"/>
            <a:ext cx="9144000" cy="780406"/>
          </a:xfrm>
          <a:prstGeom prst="rect">
            <a:avLst/>
          </a:prstGeom>
        </p:spPr>
      </p:pic>
      <p:pic>
        <p:nvPicPr>
          <p:cNvPr id="2" name="Picture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304404" y="2142594"/>
            <a:ext cx="4629796" cy="3801006"/>
          </a:xfrm>
          <a:prstGeom prst="rect">
            <a:avLst/>
          </a:prstGeom>
        </p:spPr>
      </p:pic>
    </p:spTree>
  </p:cSld>
  <p:clrMapOvr>
    <a:masterClrMapping/>
  </p:clrMapOvr>
</p:sld>
</file>

<file path=ppt/theme/theme1.xml><?xml version="1.0" encoding="utf-8"?>
<a:theme xmlns:a="http://schemas.openxmlformats.org/drawingml/2006/main" name="Level">
  <a:themeElements>
    <a:clrScheme name="Custom 24">
      <a:dk1>
        <a:srgbClr val="000000"/>
      </a:dk1>
      <a:lt1>
        <a:srgbClr val="FFFFFF"/>
      </a:lt1>
      <a:dk2>
        <a:srgbClr val="005392"/>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fontScheme name="Level">
      <a:majorFont>
        <a:latin typeface="Garamond"/>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a:ln>
              <a:noFill/>
            </a:ln>
            <a:solidFill>
              <a:schemeClr val="tx1"/>
            </a:solidFill>
            <a:effectLst/>
            <a:latin typeface="Verdana"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a:ln>
              <a:noFill/>
            </a:ln>
            <a:solidFill>
              <a:schemeClr val="tx1"/>
            </a:solidFill>
            <a:effectLst/>
            <a:latin typeface="Verdana" charset="0"/>
          </a:defRPr>
        </a:defPPr>
      </a:lstStyle>
    </a:lnDef>
  </a:objectDefaults>
  <a:extraClrSchemeLst>
    <a:extraClrScheme>
      <a:clrScheme name="Level 1">
        <a:dk1>
          <a:srgbClr val="006699"/>
        </a:dk1>
        <a:lt1>
          <a:srgbClr val="FFFFFF"/>
        </a:lt1>
        <a:dk2>
          <a:srgbClr val="000000"/>
        </a:dk2>
        <a:lt2>
          <a:srgbClr val="99FF99"/>
        </a:lt2>
        <a:accent1>
          <a:srgbClr val="00CC99"/>
        </a:accent1>
        <a:accent2>
          <a:srgbClr val="009999"/>
        </a:accent2>
        <a:accent3>
          <a:srgbClr val="AAAAAA"/>
        </a:accent3>
        <a:accent4>
          <a:srgbClr val="DADADA"/>
        </a:accent4>
        <a:accent5>
          <a:srgbClr val="AAE2CA"/>
        </a:accent5>
        <a:accent6>
          <a:srgbClr val="008A8A"/>
        </a:accent6>
        <a:hlink>
          <a:srgbClr val="0066FF"/>
        </a:hlink>
        <a:folHlink>
          <a:srgbClr val="989CBA"/>
        </a:folHlink>
      </a:clrScheme>
      <a:clrMap bg1="dk2" tx1="lt1" bg2="dk1" tx2="lt2" accent1="accent1" accent2="accent2" accent3="accent3" accent4="accent4" accent5="accent5" accent6="accent6" hlink="hlink" folHlink="folHlink"/>
    </a:extraClrScheme>
    <a:extraClrScheme>
      <a:clrScheme name="Level 2">
        <a:dk1>
          <a:srgbClr val="808000"/>
        </a:dk1>
        <a:lt1>
          <a:srgbClr val="FFFFFF"/>
        </a:lt1>
        <a:dk2>
          <a:srgbClr val="5C271E"/>
        </a:dk2>
        <a:lt2>
          <a:srgbClr val="FFDD89"/>
        </a:lt2>
        <a:accent1>
          <a:srgbClr val="CC6600"/>
        </a:accent1>
        <a:accent2>
          <a:srgbClr val="CC9900"/>
        </a:accent2>
        <a:accent3>
          <a:srgbClr val="B5ACAB"/>
        </a:accent3>
        <a:accent4>
          <a:srgbClr val="DADADA"/>
        </a:accent4>
        <a:accent5>
          <a:srgbClr val="E2B8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Level 3">
        <a:dk1>
          <a:srgbClr val="763B00"/>
        </a:dk1>
        <a:lt1>
          <a:srgbClr val="FFFFFF"/>
        </a:lt1>
        <a:dk2>
          <a:srgbClr val="330000"/>
        </a:dk2>
        <a:lt2>
          <a:srgbClr val="CC9900"/>
        </a:lt2>
        <a:accent1>
          <a:srgbClr val="FFCC00"/>
        </a:accent1>
        <a:accent2>
          <a:srgbClr val="CC3300"/>
        </a:accent2>
        <a:accent3>
          <a:srgbClr val="ADAAAA"/>
        </a:accent3>
        <a:accent4>
          <a:srgbClr val="DADADA"/>
        </a:accent4>
        <a:accent5>
          <a:srgbClr val="FFE2AA"/>
        </a:accent5>
        <a:accent6>
          <a:srgbClr val="B92D00"/>
        </a:accent6>
        <a:hlink>
          <a:srgbClr val="666699"/>
        </a:hlink>
        <a:folHlink>
          <a:srgbClr val="999966"/>
        </a:folHlink>
      </a:clrScheme>
      <a:clrMap bg1="dk2" tx1="lt1" bg2="dk1" tx2="lt2" accent1="accent1" accent2="accent2" accent3="accent3" accent4="accent4" accent5="accent5" accent6="accent6" hlink="hlink" folHlink="folHlink"/>
    </a:extraClrScheme>
    <a:extraClrScheme>
      <a:clrScheme name="Level 4">
        <a:dk1>
          <a:srgbClr val="6D3696"/>
        </a:dk1>
        <a:lt1>
          <a:srgbClr val="FFFFFF"/>
        </a:lt1>
        <a:dk2>
          <a:srgbClr val="51255D"/>
        </a:dk2>
        <a:lt2>
          <a:srgbClr val="FFFFCC"/>
        </a:lt2>
        <a:accent1>
          <a:srgbClr val="666699"/>
        </a:accent1>
        <a:accent2>
          <a:srgbClr val="800080"/>
        </a:accent2>
        <a:accent3>
          <a:srgbClr val="B3ACB6"/>
        </a:accent3>
        <a:accent4>
          <a:srgbClr val="DADADA"/>
        </a:accent4>
        <a:accent5>
          <a:srgbClr val="B8B8CA"/>
        </a:accent5>
        <a:accent6>
          <a:srgbClr val="730073"/>
        </a:accent6>
        <a:hlink>
          <a:srgbClr val="CCCC00"/>
        </a:hlink>
        <a:folHlink>
          <a:srgbClr val="A3A274"/>
        </a:folHlink>
      </a:clrScheme>
      <a:clrMap bg1="dk2" tx1="lt1" bg2="dk1" tx2="lt2" accent1="accent1" accent2="accent2" accent3="accent3" accent4="accent4" accent5="accent5" accent6="accent6" hlink="hlink" folHlink="folHlink"/>
    </a:extraClrScheme>
    <a:extraClrScheme>
      <a:clrScheme name="Level 5">
        <a:dk1>
          <a:srgbClr val="CC6600"/>
        </a:dk1>
        <a:lt1>
          <a:srgbClr val="FFFFFF"/>
        </a:lt1>
        <a:dk2>
          <a:srgbClr val="4A553B"/>
        </a:dk2>
        <a:lt2>
          <a:srgbClr val="FFBF1F"/>
        </a:lt2>
        <a:accent1>
          <a:srgbClr val="FFCC00"/>
        </a:accent1>
        <a:accent2>
          <a:srgbClr val="CC9900"/>
        </a:accent2>
        <a:accent3>
          <a:srgbClr val="B1B4AF"/>
        </a:accent3>
        <a:accent4>
          <a:srgbClr val="DADADA"/>
        </a:accent4>
        <a:accent5>
          <a:srgbClr val="FFE2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Level 6">
        <a:dk1>
          <a:srgbClr val="000000"/>
        </a:dk1>
        <a:lt1>
          <a:srgbClr val="FFFFFF"/>
        </a:lt1>
        <a:dk2>
          <a:srgbClr val="666699"/>
        </a:dk2>
        <a:lt2>
          <a:srgbClr val="FFCC00"/>
        </a:lt2>
        <a:accent1>
          <a:srgbClr val="FF9900"/>
        </a:accent1>
        <a:accent2>
          <a:srgbClr val="FF0000"/>
        </a:accent2>
        <a:accent3>
          <a:srgbClr val="FFFFFF"/>
        </a:accent3>
        <a:accent4>
          <a:srgbClr val="000000"/>
        </a:accent4>
        <a:accent5>
          <a:srgbClr val="FFCAAA"/>
        </a:accent5>
        <a:accent6>
          <a:srgbClr val="E700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
      <a:clrScheme name="Level 7">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CC9900"/>
        </a:hlink>
        <a:folHlink>
          <a:srgbClr val="996633"/>
        </a:folHlink>
      </a:clrScheme>
      <a:clrMap bg1="lt1" tx1="dk1" bg2="lt2" tx2="dk2" accent1="accent1" accent2="accent2" accent3="accent3" accent4="accent4" accent5="accent5" accent6="accent6" hlink="hlink" folHlink="folHlink"/>
    </a:extraClrScheme>
    <a:extraClrScheme>
      <a:clrScheme name="Level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Level</Template>
  <TotalTime>6955</TotalTime>
  <Words>6461</Words>
  <Application>Microsoft Macintosh PowerPoint</Application>
  <PresentationFormat>On-screen Show (4:3)</PresentationFormat>
  <Paragraphs>540</Paragraphs>
  <Slides>106</Slides>
  <Notes>0</Notes>
  <HiddenSlides>0</HiddenSlides>
  <MMClips>0</MMClips>
  <ScaleCrop>false</ScaleCrop>
  <HeadingPairs>
    <vt:vector size="8" baseType="variant">
      <vt:variant>
        <vt:lpstr>Fonts Used</vt:lpstr>
      </vt:variant>
      <vt:variant>
        <vt:i4>10</vt:i4>
      </vt:variant>
      <vt:variant>
        <vt:lpstr>Theme</vt:lpstr>
      </vt:variant>
      <vt:variant>
        <vt:i4>1</vt:i4>
      </vt:variant>
      <vt:variant>
        <vt:lpstr>Embedded OLE Servers</vt:lpstr>
      </vt:variant>
      <vt:variant>
        <vt:i4>1</vt:i4>
      </vt:variant>
      <vt:variant>
        <vt:lpstr>Slide Titles</vt:lpstr>
      </vt:variant>
      <vt:variant>
        <vt:i4>106</vt:i4>
      </vt:variant>
    </vt:vector>
  </HeadingPairs>
  <TitlesOfParts>
    <vt:vector size="118" baseType="lpstr">
      <vt:lpstr>Calibri</vt:lpstr>
      <vt:lpstr>Cambria Math</vt:lpstr>
      <vt:lpstr>Garamond</vt:lpstr>
      <vt:lpstr>Mathematica1</vt:lpstr>
      <vt:lpstr>ＭＳ Ｐゴシック</vt:lpstr>
      <vt:lpstr>Tahoma</vt:lpstr>
      <vt:lpstr>Times New Roman</vt:lpstr>
      <vt:lpstr>Verdana</vt:lpstr>
      <vt:lpstr>Wingdings</vt:lpstr>
      <vt:lpstr>Arial</vt:lpstr>
      <vt:lpstr>Level</vt:lpstr>
      <vt:lpstr>Equation</vt:lpstr>
      <vt:lpstr>CHAPTER 10</vt:lpstr>
      <vt:lpstr>Testing Hypothesis about Means: Two Sample</vt:lpstr>
      <vt:lpstr>Testing Hypothesis about Means: Two Sample</vt:lpstr>
      <vt:lpstr>PowerPoint Presentation</vt:lpstr>
      <vt:lpstr>INFERENCES ABOUT THE DIFFERENCE BETWEEN TWO POPULATION MEANS FOR INDEPENDENT SAMPLES: σ1 AND σ2 KNOWN</vt:lpstr>
      <vt:lpstr>Independent versus Dependent Samples</vt:lpstr>
      <vt:lpstr>Example 10-1</vt:lpstr>
      <vt:lpstr>Example 10-2</vt:lpstr>
      <vt:lpstr>Mean, Standard Deviation, and Sampling Distribution of  x1 – x2</vt:lpstr>
      <vt:lpstr>Sampling Distribution, Mean, and Standard Deviation of  x1 – x2</vt:lpstr>
      <vt:lpstr>Confidence Interval for μ1 – μ2</vt:lpstr>
      <vt:lpstr>Example 10-3</vt:lpstr>
      <vt:lpstr>Example 10-3</vt:lpstr>
      <vt:lpstr>Example 10-3: Solution</vt:lpstr>
      <vt:lpstr>Example 10-3: Solution</vt:lpstr>
      <vt:lpstr>Example 10-3: Solution</vt:lpstr>
      <vt:lpstr>Hypothesis Testing About μ1 – μ2 </vt:lpstr>
      <vt:lpstr>HYPOTHESIS TESTING ABOUT μ1 – μ2</vt:lpstr>
      <vt:lpstr>HYPOTHESIS TESTING ABOUT μ1 – μ2</vt:lpstr>
      <vt:lpstr>HYPOTHESIS TESTING ABOUT μ1 – μ2</vt:lpstr>
      <vt:lpstr>Example 10-4</vt:lpstr>
      <vt:lpstr>Example 10-4: Solution</vt:lpstr>
      <vt:lpstr>Example 10-4: Solution</vt:lpstr>
      <vt:lpstr>Example 10-4: Solution</vt:lpstr>
      <vt:lpstr>Figure 10.2</vt:lpstr>
      <vt:lpstr>Example 10-4: Solution</vt:lpstr>
      <vt:lpstr>Example 10-4: Solution</vt:lpstr>
      <vt:lpstr>INFERENCES ABOUT THE DIFFERENCE BETWEEN TWO POPULATION MEANS FOR INDEPENDENT SAMPLES: σ1 AND σ2 UNKNOWN BUT EQUAL</vt:lpstr>
      <vt:lpstr>Pooled Standard Deviation for Two Samples</vt:lpstr>
      <vt:lpstr>Estimator of the Standard Deviation of  x1 – x2 </vt:lpstr>
      <vt:lpstr>Interval Estimation of μ1 – μ2</vt:lpstr>
      <vt:lpstr>Example 10-5</vt:lpstr>
      <vt:lpstr>Example 10-5</vt:lpstr>
      <vt:lpstr>Example 10-5: Solution</vt:lpstr>
      <vt:lpstr>Example 10-5: Solution</vt:lpstr>
      <vt:lpstr>Hypothesis Testing About μ1 – μ2</vt:lpstr>
      <vt:lpstr>Example 10-6</vt:lpstr>
      <vt:lpstr>Example 10-6</vt:lpstr>
      <vt:lpstr>Example 10-6: Solution</vt:lpstr>
      <vt:lpstr>Example 10-6: Solution</vt:lpstr>
      <vt:lpstr>Example 10-6: Solution</vt:lpstr>
      <vt:lpstr>Figure 10.3</vt:lpstr>
      <vt:lpstr>Example 10-6: Solution</vt:lpstr>
      <vt:lpstr>Example 10-6: Solution</vt:lpstr>
      <vt:lpstr>INFERENCES ABOUT THE DIFFERENCE BETWEEN TWO POPULATION MEANS FOR INDEPENDENT SAMPLES: σ1 AND σ2 UNKNOWN AND UNEQUAL</vt:lpstr>
      <vt:lpstr>INFERENCES ABOUT THE DIFFERENCE BETWEEN TWO POPULATION MEANS FOR INDEPENDENT SAMPLES: σ1 AND σ2 UNKNOWN AND UNEQUAL</vt:lpstr>
      <vt:lpstr>INFERENCES ABOUT THE DIFFERENCE BETWEEN TWO POPULATION MEANS FOR INDEPENDENT SAMPLES: σ1 AND σ2 UNKNOWN AND UNEQUAL</vt:lpstr>
      <vt:lpstr>INFERENCES ABOUT THE DIFFERENCE BETWEEN TWO POPULATION MEANS FOR INDEPENDENT SAMPLES: σ1 AND σ2 UNKNOWN AND UNEQUAL</vt:lpstr>
      <vt:lpstr>Confidence Interval for μ1 – μ2</vt:lpstr>
      <vt:lpstr>Example 10-8</vt:lpstr>
      <vt:lpstr>Example 10-8: Solution</vt:lpstr>
      <vt:lpstr>Example 10-8: Solution</vt:lpstr>
      <vt:lpstr>Hypothesis Testing About μ1 – μ2</vt:lpstr>
      <vt:lpstr>Example 10-9</vt:lpstr>
      <vt:lpstr>Example 10-9: Solution</vt:lpstr>
      <vt:lpstr>Example 10-9: Solution</vt:lpstr>
      <vt:lpstr>Example 10-9: Solution</vt:lpstr>
      <vt:lpstr>Example 10-9: Solution</vt:lpstr>
      <vt:lpstr>Figure 10.5</vt:lpstr>
      <vt:lpstr>Example 10-9: Solution</vt:lpstr>
      <vt:lpstr>Example 10-9: Solution</vt:lpstr>
      <vt:lpstr>INFERENCES ABOUT THE DIFFERENCE BETWEEN  TWO POPULATION MEANS FOR PAIRED SAMPLES</vt:lpstr>
      <vt:lpstr>INFERENCES ABOUT THE DIFFERENCE BETWEEN TWO POPULATION MEANS FOR PAIRED SAMPLES</vt:lpstr>
      <vt:lpstr>INFERENCES ABOUT THE DIFFERENCE BETWEEN TWO POPULATION MEANS FOR PAIRED SAMPLES</vt:lpstr>
      <vt:lpstr>INFERENCES ABOUT THE DIFFERENCE BETWEEN TWO POPULATION MEANS FOR PAIRED SAMPLES</vt:lpstr>
      <vt:lpstr>INFERENCES ABOUT THE DIFFERENCE BETWEEN TWO POPULATION MEANS FOR PAIRED SAMPLES</vt:lpstr>
      <vt:lpstr>INFERENCES ABOUT THE DIFFERENCE BETWEEN TWO POPULATION MEANS FOR PAIRED SAMPLES</vt:lpstr>
      <vt:lpstr>Interval Estimation of μd</vt:lpstr>
      <vt:lpstr>Example 10-10</vt:lpstr>
      <vt:lpstr>Example 10-10</vt:lpstr>
      <vt:lpstr>Example 10-10: Solution</vt:lpstr>
      <vt:lpstr>Example 10-10: Solution</vt:lpstr>
      <vt:lpstr>Example 10-10: Solution</vt:lpstr>
      <vt:lpstr>Hypothesis Testing About μd</vt:lpstr>
      <vt:lpstr>Example 10-12</vt:lpstr>
      <vt:lpstr>Example 10-12</vt:lpstr>
      <vt:lpstr>Example 10-12: Solution</vt:lpstr>
      <vt:lpstr>Example 10-12: Solution</vt:lpstr>
      <vt:lpstr>Example 10-12: Solution</vt:lpstr>
      <vt:lpstr>Example 10-12: Solution</vt:lpstr>
      <vt:lpstr>Example 10-12: Solution</vt:lpstr>
      <vt:lpstr>Example 10-12: Solution</vt:lpstr>
      <vt:lpstr>Figure 10.7</vt:lpstr>
      <vt:lpstr>Example 10-12: Solution</vt:lpstr>
      <vt:lpstr>INFERENCES ABOUT THE DIFFERENCE BETWEEN TWO POPULATION PROPORTIONS FOR LARGE AND INDEPENDENT SAMPLES</vt:lpstr>
      <vt:lpstr>Mean, Standard Deviation, and Sampling Distribution of</vt:lpstr>
      <vt:lpstr>Interval Estimation of p1 – p2</vt:lpstr>
      <vt:lpstr>Example 10-13</vt:lpstr>
      <vt:lpstr>Example 10-13</vt:lpstr>
      <vt:lpstr>Example 10-13: Solution</vt:lpstr>
      <vt:lpstr>Example 10-13: Solution</vt:lpstr>
      <vt:lpstr>Example 10-13: Solution</vt:lpstr>
      <vt:lpstr>Example 10-13: Solution</vt:lpstr>
      <vt:lpstr>Example 10-13: Solution</vt:lpstr>
      <vt:lpstr>Hypothesis Testing About  p1 – p2</vt:lpstr>
      <vt:lpstr>Hypothesis Testing About p1 – p2</vt:lpstr>
      <vt:lpstr>Example 10-14</vt:lpstr>
      <vt:lpstr>Example 10-14: Solution</vt:lpstr>
      <vt:lpstr>Example 10-14: Solution</vt:lpstr>
      <vt:lpstr>Example 10-14: Solution</vt:lpstr>
      <vt:lpstr>Example 10-14: Solution</vt:lpstr>
      <vt:lpstr>Figure 10.8</vt:lpstr>
      <vt:lpstr>Example 10-14: Solution</vt:lpstr>
      <vt:lpstr>Example 10-14: Solution</vt:lpstr>
      <vt:lpstr>TI-84</vt:lpstr>
      <vt:lpstr>TI-84</vt:lpstr>
    </vt:vector>
  </TitlesOfParts>
  <Company>Cal Poly Pomona</Company>
  <LinksUpToDate>false</LinksUpToDate>
  <SharedDoc>false</SharedDoc>
  <HyperlinksChanged>false</HyperlinksChanged>
  <AppVersion>15.0038</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10:</dc:title>
  <dc:creator>hoonkim</dc:creator>
  <cp:lastModifiedBy>Microsoft Office User</cp:lastModifiedBy>
  <cp:revision>79</cp:revision>
  <dcterms:created xsi:type="dcterms:W3CDTF">2014-10-28T20:23:17Z</dcterms:created>
  <dcterms:modified xsi:type="dcterms:W3CDTF">2017-11-07T16:12:47Z</dcterms:modified>
</cp:coreProperties>
</file>